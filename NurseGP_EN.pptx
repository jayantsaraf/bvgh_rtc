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3"/>
  </p:notesMasterIdLst>
  <p:sldIdLst>
    <p:sldId id="256" r:id="rId2"/>
    <p:sldId id="258" r:id="rId3"/>
    <p:sldId id="259" r:id="rId4"/>
    <p:sldId id="267" r:id="rId5"/>
    <p:sldId id="268" r:id="rId6"/>
    <p:sldId id="269" r:id="rId7"/>
    <p:sldId id="270" r:id="rId8"/>
    <p:sldId id="271" r:id="rId9"/>
    <p:sldId id="272" r:id="rId10"/>
    <p:sldId id="273"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88" r:id="rId26"/>
    <p:sldId id="289" r:id="rId27"/>
    <p:sldId id="290" r:id="rId28"/>
    <p:sldId id="291" r:id="rId29"/>
    <p:sldId id="292" r:id="rId30"/>
    <p:sldId id="293" r:id="rId31"/>
    <p:sldId id="294" r:id="rId32"/>
    <p:sldId id="295" r:id="rId33"/>
    <p:sldId id="296" r:id="rId34"/>
    <p:sldId id="297" r:id="rId35"/>
    <p:sldId id="298" r:id="rId36"/>
    <p:sldId id="299" r:id="rId37"/>
    <p:sldId id="300" r:id="rId38"/>
    <p:sldId id="301" r:id="rId39"/>
    <p:sldId id="302" r:id="rId40"/>
    <p:sldId id="303" r:id="rId41"/>
    <p:sldId id="304" r:id="rId42"/>
    <p:sldId id="305" r:id="rId43"/>
    <p:sldId id="306" r:id="rId44"/>
    <p:sldId id="307" r:id="rId45"/>
    <p:sldId id="308" r:id="rId46"/>
    <p:sldId id="309" r:id="rId47"/>
    <p:sldId id="310" r:id="rId48"/>
    <p:sldId id="311" r:id="rId49"/>
    <p:sldId id="312" r:id="rId50"/>
    <p:sldId id="313" r:id="rId51"/>
    <p:sldId id="314" r:id="rId52"/>
    <p:sldId id="315" r:id="rId53"/>
    <p:sldId id="316" r:id="rId54"/>
    <p:sldId id="317" r:id="rId55"/>
    <p:sldId id="318" r:id="rId56"/>
    <p:sldId id="319" r:id="rId57"/>
    <p:sldId id="320" r:id="rId58"/>
    <p:sldId id="321" r:id="rId59"/>
    <p:sldId id="322" r:id="rId60"/>
    <p:sldId id="323" r:id="rId61"/>
    <p:sldId id="324" r:id="rId62"/>
    <p:sldId id="325" r:id="rId63"/>
    <p:sldId id="326" r:id="rId64"/>
    <p:sldId id="327" r:id="rId65"/>
    <p:sldId id="328" r:id="rId66"/>
    <p:sldId id="329" r:id="rId67"/>
    <p:sldId id="330" r:id="rId68"/>
    <p:sldId id="331" r:id="rId69"/>
    <p:sldId id="332" r:id="rId70"/>
    <p:sldId id="333" r:id="rId71"/>
    <p:sldId id="340" r:id="rId7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f, Jayant" userId="40c6f732-83d8-4108-9173-14559973c353" providerId="ADAL" clId="{19DE7C4A-0CCC-49A5-86FA-BBFB5CCDC804}"/>
    <pc:docChg chg="delSld">
      <pc:chgData name="Saraf, Jayant" userId="40c6f732-83d8-4108-9173-14559973c353" providerId="ADAL" clId="{19DE7C4A-0CCC-49A5-86FA-BBFB5CCDC804}" dt="2026-08-18T13:37:23.848" v="0" actId="2696"/>
      <pc:docMkLst>
        <pc:docMk/>
      </pc:docMkLst>
      <pc:sldChg chg="del">
        <pc:chgData name="Saraf, Jayant" userId="40c6f732-83d8-4108-9173-14559973c353" providerId="ADAL" clId="{19DE7C4A-0CCC-49A5-86FA-BBFB5CCDC804}" dt="2026-08-18T13:37:23.848" v="0" actId="2696"/>
        <pc:sldMkLst>
          <pc:docMk/>
          <pc:sldMk cId="0" sldId="334"/>
        </pc:sldMkLst>
      </pc:sldChg>
      <pc:sldChg chg="del">
        <pc:chgData name="Saraf, Jayant" userId="40c6f732-83d8-4108-9173-14559973c353" providerId="ADAL" clId="{19DE7C4A-0CCC-49A5-86FA-BBFB5CCDC804}" dt="2026-08-18T13:37:23.848" v="0" actId="2696"/>
        <pc:sldMkLst>
          <pc:docMk/>
          <pc:sldMk cId="0" sldId="335"/>
        </pc:sldMkLst>
      </pc:sldChg>
      <pc:sldChg chg="del">
        <pc:chgData name="Saraf, Jayant" userId="40c6f732-83d8-4108-9173-14559973c353" providerId="ADAL" clId="{19DE7C4A-0CCC-49A5-86FA-BBFB5CCDC804}" dt="2026-08-18T13:37:23.848" v="0" actId="2696"/>
        <pc:sldMkLst>
          <pc:docMk/>
          <pc:sldMk cId="0" sldId="336"/>
        </pc:sldMkLst>
      </pc:sldChg>
      <pc:sldChg chg="del">
        <pc:chgData name="Saraf, Jayant" userId="40c6f732-83d8-4108-9173-14559973c353" providerId="ADAL" clId="{19DE7C4A-0CCC-49A5-86FA-BBFB5CCDC804}" dt="2026-08-18T13:37:23.848" v="0" actId="2696"/>
        <pc:sldMkLst>
          <pc:docMk/>
          <pc:sldMk cId="0" sldId="337"/>
        </pc:sldMkLst>
      </pc:sldChg>
      <pc:sldChg chg="del">
        <pc:chgData name="Saraf, Jayant" userId="40c6f732-83d8-4108-9173-14559973c353" providerId="ADAL" clId="{19DE7C4A-0CCC-49A5-86FA-BBFB5CCDC804}" dt="2026-08-18T13:37:23.848" v="0" actId="2696"/>
        <pc:sldMkLst>
          <pc:docMk/>
          <pc:sldMk cId="0" sldId="338"/>
        </pc:sldMkLst>
      </pc:sldChg>
      <pc:sldChg chg="del">
        <pc:chgData name="Saraf, Jayant" userId="40c6f732-83d8-4108-9173-14559973c353" providerId="ADAL" clId="{19DE7C4A-0CCC-49A5-86FA-BBFB5CCDC804}" dt="2026-08-18T13:37:23.848" v="0" actId="2696"/>
        <pc:sldMkLst>
          <pc:docMk/>
          <pc:sldMk cId="0" sldId="33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0651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2606B1-F293-A015-1FCE-1C5698E2E5FC}"/>
              </a:ext>
            </a:extLst>
          </p:cNvPr>
          <p:cNvSpPr txBox="1"/>
          <p:nvPr userDrawn="1">
            <p:extLst>
              <p:ext uri="{1162E1C5-73C7-4A58-AE30-91384D911F3F}">
                <p184:classification xmlns:p184="http://schemas.microsoft.com/office/powerpoint/2018/4/main" val="hdr"/>
              </p:ext>
            </p:extLst>
          </p:nvPr>
        </p:nvSpPr>
        <p:spPr>
          <a:xfrm>
            <a:off x="63500" y="63500"/>
            <a:ext cx="842963" cy="182880"/>
          </a:xfrm>
          <a:prstGeom prst="rect">
            <a:avLst/>
          </a:prstGeom>
        </p:spPr>
        <p:txBody>
          <a:bodyPr horzOverflow="overflow" lIns="0" tIns="0" rIns="0" bIns="0">
            <a:spAutoFit/>
          </a:bodyPr>
          <a:lstStyle/>
          <a:p>
            <a:pPr algn="l"/>
            <a:r>
              <a:rPr lang="en-US" sz="1200">
                <a:solidFill>
                  <a:srgbClr val="8E6A00">
                    <a:alpha val="50000"/>
                  </a:srgbClr>
                </a:solidFill>
                <a:latin typeface="Aptos" panose="020B0004020202020204" pitchFamily="34" charset="0"/>
              </a:rPr>
              <a:t>Confidential</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a:effectLst/>
      </p:bgPr>
    </p:bg>
    <p:spTree>
      <p:nvGrpSpPr>
        <p:cNvPr id="1" name=""/>
        <p:cNvGrpSpPr/>
        <p:nvPr/>
      </p:nvGrpSpPr>
      <p:grpSpPr>
        <a:xfrm>
          <a:off x="0" y="0"/>
          <a:ext cx="0" cy="0"/>
          <a:chOff x="0" y="0"/>
          <a:chExt cx="0" cy="0"/>
        </a:xfrm>
      </p:grpSpPr>
      <p:sp>
        <p:nvSpPr>
          <p:cNvPr id="2" name="Text 0"/>
          <p:cNvSpPr/>
          <p:nvPr/>
        </p:nvSpPr>
        <p:spPr>
          <a:xfrm>
            <a:off x="1005840" y="1371600"/>
            <a:ext cx="10058400" cy="365760"/>
          </a:xfrm>
          <a:prstGeom prst="rect">
            <a:avLst/>
          </a:prstGeom>
          <a:noFill/>
          <a:ln/>
        </p:spPr>
        <p:txBody>
          <a:bodyPr wrap="square" lIns="0" tIns="0" rIns="0" bIns="0" rtlCol="0" anchor="ctr"/>
          <a:lstStyle/>
          <a:p>
            <a:pPr marL="0" indent="0">
              <a:buNone/>
            </a:pPr>
            <a:r>
              <a:rPr lang="en-US" sz="1400" b="1" kern="0" spc="300" dirty="0">
                <a:solidFill>
                  <a:srgbClr val="9FC4E4"/>
                </a:solidFill>
                <a:latin typeface="Calibri" pitchFamily="34" charset="0"/>
                <a:ea typeface="Calibri" pitchFamily="34" charset="-122"/>
                <a:cs typeface="Calibri" pitchFamily="34" charset="-120"/>
              </a:rPr>
              <a:t>INTERACTIVE MOODLE MODULE  ·  FRONTLINE HCP</a:t>
            </a:r>
            <a:endParaRPr lang="en-US" sz="1400" dirty="0"/>
          </a:p>
        </p:txBody>
      </p:sp>
      <p:sp>
        <p:nvSpPr>
          <p:cNvPr id="3" name="Text 1"/>
          <p:cNvSpPr/>
          <p:nvPr/>
        </p:nvSpPr>
        <p:spPr>
          <a:xfrm>
            <a:off x="987552" y="1828800"/>
            <a:ext cx="10515600" cy="109728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Prostate Cancer</a:t>
            </a:r>
            <a:endParaRPr lang="en-US" sz="5400" dirty="0"/>
          </a:p>
        </p:txBody>
      </p:sp>
      <p:sp>
        <p:nvSpPr>
          <p:cNvPr id="4" name="Text 2"/>
          <p:cNvSpPr/>
          <p:nvPr/>
        </p:nvSpPr>
        <p:spPr>
          <a:xfrm>
            <a:off x="1005840" y="2971800"/>
            <a:ext cx="10058400" cy="548640"/>
          </a:xfrm>
          <a:prstGeom prst="rect">
            <a:avLst/>
          </a:prstGeom>
          <a:noFill/>
          <a:ln/>
        </p:spPr>
        <p:txBody>
          <a:bodyPr wrap="square" lIns="0" tIns="0" rIns="0" bIns="0" rtlCol="0" anchor="ctr"/>
          <a:lstStyle/>
          <a:p>
            <a:pPr marL="0" indent="0">
              <a:buNone/>
            </a:pPr>
            <a:r>
              <a:rPr lang="en-US" sz="1800" dirty="0">
                <a:solidFill>
                  <a:srgbClr val="CFE0EF"/>
                </a:solidFill>
                <a:latin typeface="Calibri" pitchFamily="34" charset="0"/>
                <a:ea typeface="Calibri" pitchFamily="34" charset="-122"/>
                <a:cs typeface="Calibri" pitchFamily="34" charset="-120"/>
              </a:rPr>
              <a:t>Recognise · Counsel · Refer · Support, in the Rwandan care pathway</a:t>
            </a:r>
            <a:endParaRPr lang="en-US" sz="1800" dirty="0"/>
          </a:p>
        </p:txBody>
      </p:sp>
      <p:sp>
        <p:nvSpPr>
          <p:cNvPr id="5" name="Shape 3"/>
          <p:cNvSpPr/>
          <p:nvPr/>
        </p:nvSpPr>
        <p:spPr>
          <a:xfrm>
            <a:off x="1005840" y="4206240"/>
            <a:ext cx="1920240" cy="502920"/>
          </a:xfrm>
          <a:prstGeom prst="roundRect">
            <a:avLst>
              <a:gd name="adj" fmla="val 18182"/>
            </a:avLst>
          </a:prstGeom>
          <a:solidFill>
            <a:srgbClr val="2C4E74"/>
          </a:solidFill>
          <a:ln w="12700">
            <a:solidFill>
              <a:srgbClr val="3E6491"/>
            </a:solidFill>
            <a:prstDash val="solid"/>
          </a:ln>
        </p:spPr>
        <p:txBody>
          <a:bodyPr/>
          <a:lstStyle/>
          <a:p>
            <a:endParaRPr lang="es-CO"/>
          </a:p>
        </p:txBody>
      </p:sp>
      <p:sp>
        <p:nvSpPr>
          <p:cNvPr id="6" name="Text 4"/>
          <p:cNvSpPr/>
          <p:nvPr/>
        </p:nvSpPr>
        <p:spPr>
          <a:xfrm>
            <a:off x="1005840" y="4206240"/>
            <a:ext cx="1920240"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Syllabus</a:t>
            </a:r>
            <a:endParaRPr lang="en-US" sz="1250" dirty="0"/>
          </a:p>
        </p:txBody>
      </p:sp>
      <p:sp>
        <p:nvSpPr>
          <p:cNvPr id="7" name="Shape 5"/>
          <p:cNvSpPr/>
          <p:nvPr/>
        </p:nvSpPr>
        <p:spPr>
          <a:xfrm>
            <a:off x="3090672" y="4206240"/>
            <a:ext cx="1920240" cy="502920"/>
          </a:xfrm>
          <a:prstGeom prst="roundRect">
            <a:avLst>
              <a:gd name="adj" fmla="val 18182"/>
            </a:avLst>
          </a:prstGeom>
          <a:solidFill>
            <a:srgbClr val="2C4E74"/>
          </a:solidFill>
          <a:ln w="12700">
            <a:solidFill>
              <a:srgbClr val="3E6491"/>
            </a:solidFill>
            <a:prstDash val="solid"/>
          </a:ln>
        </p:spPr>
        <p:txBody>
          <a:bodyPr/>
          <a:lstStyle/>
          <a:p>
            <a:endParaRPr lang="es-CO"/>
          </a:p>
        </p:txBody>
      </p:sp>
      <p:sp>
        <p:nvSpPr>
          <p:cNvPr id="8" name="Text 6"/>
          <p:cNvSpPr/>
          <p:nvPr/>
        </p:nvSpPr>
        <p:spPr>
          <a:xfrm>
            <a:off x="3090672" y="4206240"/>
            <a:ext cx="1920240"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Pre-test (20)</a:t>
            </a:r>
            <a:endParaRPr lang="en-US" sz="1250" dirty="0"/>
          </a:p>
        </p:txBody>
      </p:sp>
      <p:sp>
        <p:nvSpPr>
          <p:cNvPr id="9" name="Shape 7"/>
          <p:cNvSpPr/>
          <p:nvPr/>
        </p:nvSpPr>
        <p:spPr>
          <a:xfrm>
            <a:off x="5175504" y="4206240"/>
            <a:ext cx="1920240" cy="502920"/>
          </a:xfrm>
          <a:prstGeom prst="roundRect">
            <a:avLst>
              <a:gd name="adj" fmla="val 18182"/>
            </a:avLst>
          </a:prstGeom>
          <a:solidFill>
            <a:srgbClr val="2C4E74"/>
          </a:solidFill>
          <a:ln w="12700">
            <a:solidFill>
              <a:srgbClr val="3E6491"/>
            </a:solidFill>
            <a:prstDash val="solid"/>
          </a:ln>
        </p:spPr>
        <p:txBody>
          <a:bodyPr/>
          <a:lstStyle/>
          <a:p>
            <a:endParaRPr lang="es-CO"/>
          </a:p>
        </p:txBody>
      </p:sp>
      <p:sp>
        <p:nvSpPr>
          <p:cNvPr id="10" name="Text 8"/>
          <p:cNvSpPr/>
          <p:nvPr/>
        </p:nvSpPr>
        <p:spPr>
          <a:xfrm>
            <a:off x="5175504" y="4206240"/>
            <a:ext cx="1920240"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5 Sessions</a:t>
            </a:r>
            <a:endParaRPr lang="en-US" sz="1250" dirty="0"/>
          </a:p>
        </p:txBody>
      </p:sp>
      <p:sp>
        <p:nvSpPr>
          <p:cNvPr id="11" name="Shape 9"/>
          <p:cNvSpPr/>
          <p:nvPr/>
        </p:nvSpPr>
        <p:spPr>
          <a:xfrm>
            <a:off x="7260336" y="4206240"/>
            <a:ext cx="1920240" cy="502920"/>
          </a:xfrm>
          <a:prstGeom prst="roundRect">
            <a:avLst>
              <a:gd name="adj" fmla="val 18182"/>
            </a:avLst>
          </a:prstGeom>
          <a:solidFill>
            <a:srgbClr val="2C4E74"/>
          </a:solidFill>
          <a:ln w="12700">
            <a:solidFill>
              <a:srgbClr val="3E6491"/>
            </a:solidFill>
            <a:prstDash val="solid"/>
          </a:ln>
        </p:spPr>
        <p:txBody>
          <a:bodyPr/>
          <a:lstStyle/>
          <a:p>
            <a:endParaRPr lang="es-CO"/>
          </a:p>
        </p:txBody>
      </p:sp>
      <p:sp>
        <p:nvSpPr>
          <p:cNvPr id="12" name="Text 10"/>
          <p:cNvSpPr/>
          <p:nvPr/>
        </p:nvSpPr>
        <p:spPr>
          <a:xfrm>
            <a:off x="7260336" y="4206240"/>
            <a:ext cx="1920240"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Post-test</a:t>
            </a:r>
            <a:endParaRPr lang="en-US" sz="1250" dirty="0"/>
          </a:p>
        </p:txBody>
      </p:sp>
      <p:sp>
        <p:nvSpPr>
          <p:cNvPr id="13" name="Shape 11"/>
          <p:cNvSpPr/>
          <p:nvPr/>
        </p:nvSpPr>
        <p:spPr>
          <a:xfrm>
            <a:off x="9345168" y="4206240"/>
            <a:ext cx="1920240" cy="502920"/>
          </a:xfrm>
          <a:prstGeom prst="roundRect">
            <a:avLst>
              <a:gd name="adj" fmla="val 18182"/>
            </a:avLst>
          </a:prstGeom>
          <a:solidFill>
            <a:srgbClr val="2C4E74"/>
          </a:solidFill>
          <a:ln w="12700">
            <a:solidFill>
              <a:srgbClr val="3E6491"/>
            </a:solidFill>
            <a:prstDash val="solid"/>
          </a:ln>
        </p:spPr>
        <p:txBody>
          <a:bodyPr/>
          <a:lstStyle/>
          <a:p>
            <a:endParaRPr lang="es-CO"/>
          </a:p>
        </p:txBody>
      </p:sp>
      <p:sp>
        <p:nvSpPr>
          <p:cNvPr id="14" name="Text 12"/>
          <p:cNvSpPr/>
          <p:nvPr/>
        </p:nvSpPr>
        <p:spPr>
          <a:xfrm>
            <a:off x="9345168" y="4206240"/>
            <a:ext cx="1920240"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References</a:t>
            </a:r>
            <a:endParaRPr lang="en-US" sz="1250" dirty="0"/>
          </a:p>
        </p:txBody>
      </p:sp>
      <p:sp>
        <p:nvSpPr>
          <p:cNvPr id="15" name="Text 13"/>
          <p:cNvSpPr/>
          <p:nvPr/>
        </p:nvSpPr>
        <p:spPr>
          <a:xfrm>
            <a:off x="1005840" y="5212080"/>
            <a:ext cx="10058400" cy="365760"/>
          </a:xfrm>
          <a:prstGeom prst="rect">
            <a:avLst/>
          </a:prstGeom>
          <a:noFill/>
          <a:ln/>
        </p:spPr>
        <p:txBody>
          <a:bodyPr wrap="square" lIns="0" tIns="0" rIns="0" bIns="0" rtlCol="0" anchor="ctr"/>
          <a:lstStyle/>
          <a:p>
            <a:pPr marL="0" indent="0">
              <a:buNone/>
            </a:pPr>
            <a:r>
              <a:rPr lang="en-US" sz="1250" dirty="0">
                <a:solidFill>
                  <a:srgbClr val="9FC4E4"/>
                </a:solidFill>
                <a:latin typeface="Calibri" pitchFamily="34" charset="0"/>
                <a:ea typeface="Calibri" pitchFamily="34" charset="-122"/>
                <a:cs typeface="Calibri" pitchFamily="34" charset="-120"/>
              </a:rPr>
              <a:t>Language: English (French translation to follow)   ·   Delivery: Moodle, mobile-first, self-contained</a:t>
            </a:r>
            <a:endParaRPr lang="en-US" sz="1250" dirty="0"/>
          </a:p>
        </p:txBody>
      </p:sp>
      <p:sp>
        <p:nvSpPr>
          <p:cNvPr id="16" name="Text 14"/>
          <p:cNvSpPr/>
          <p:nvPr/>
        </p:nvSpPr>
        <p:spPr>
          <a:xfrm>
            <a:off x="1005840" y="5623560"/>
            <a:ext cx="10058400" cy="457200"/>
          </a:xfrm>
          <a:prstGeom prst="rect">
            <a:avLst/>
          </a:prstGeom>
          <a:noFill/>
          <a:ln/>
        </p:spPr>
        <p:txBody>
          <a:bodyPr wrap="square" lIns="0" tIns="0" rIns="0" bIns="0" rtlCol="0" anchor="ctr"/>
          <a:lstStyle/>
          <a:p>
            <a:pPr marL="0" indent="0">
              <a:buNone/>
            </a:pPr>
            <a:r>
              <a:rPr lang="en-US" sz="1100" b="1" dirty="0">
                <a:solidFill>
                  <a:srgbClr val="FF6B6B"/>
                </a:solidFill>
                <a:latin typeface="Calibri" pitchFamily="34" charset="0"/>
                <a:ea typeface="Calibri" pitchFamily="34" charset="-122"/>
                <a:cs typeface="Calibri" pitchFamily="34" charset="-120"/>
              </a:rPr>
              <a:t>TO BE CONFIRMED BY RBC (shown in red throughout): local epidemiology figures, national screening position, referral facility names, and locally available diagnostics and treatments.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MODULE SYLLABUS</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About this module</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Syllabus · 1</a:t>
            </a:r>
            <a:endParaRPr lang="en-US" sz="900" dirty="0"/>
          </a:p>
        </p:txBody>
      </p:sp>
      <p:sp>
        <p:nvSpPr>
          <p:cNvPr id="6" name="Text 4"/>
          <p:cNvSpPr/>
          <p:nvPr/>
        </p:nvSpPr>
        <p:spPr>
          <a:xfrm>
            <a:off x="566928" y="1481328"/>
            <a:ext cx="11055096" cy="91440"/>
          </a:xfrm>
          <a:prstGeom prst="rect">
            <a:avLst/>
          </a:prstGeom>
          <a:noFill/>
          <a:ln/>
        </p:spPr>
        <p:txBody>
          <a:bodyPr wrap="square" lIns="0" tIns="0" rIns="0" bIns="0" rtlCol="0" anchor="t"/>
          <a:lstStyle/>
          <a:p>
            <a:pPr marL="0" indent="0" algn="l">
              <a:buNone/>
            </a:pPr>
            <a:r>
              <a:rPr lang="en-US" dirty="0">
                <a:solidFill>
                  <a:srgbClr val="223240"/>
                </a:solidFill>
                <a:latin typeface="Calibri" pitchFamily="34" charset="0"/>
                <a:ea typeface="Calibri" pitchFamily="34" charset="-122"/>
                <a:cs typeface="Calibri" pitchFamily="34" charset="-120"/>
              </a:rPr>
              <a:t>Prostate cancer is the most common cancer in men in Rwanda, and men often reach care when the disease is already advanced. You are often the first point of contact, the person who can recognise it early, guide the patient, and connect them to the right care.</a:t>
            </a:r>
          </a:p>
          <a:p>
            <a:pPr marL="0" indent="0" algn="l">
              <a:buNone/>
            </a:pPr>
            <a:endParaRPr lang="en-US" dirty="0">
              <a:solidFill>
                <a:srgbClr val="223240"/>
              </a:solidFill>
              <a:latin typeface="Calibri" pitchFamily="34" charset="0"/>
              <a:cs typeface="Calibri" pitchFamily="34" charset="-120"/>
            </a:endParaRPr>
          </a:p>
          <a:p>
            <a:r>
              <a:rPr lang="en-US" dirty="0">
                <a:solidFill>
                  <a:srgbClr val="223240"/>
                </a:solidFill>
                <a:latin typeface="Calibri" pitchFamily="34" charset="0"/>
                <a:ea typeface="Calibri" pitchFamily="34" charset="-122"/>
                <a:cs typeface="Calibri" pitchFamily="34" charset="-120"/>
              </a:rPr>
              <a:t>This module prepares you to recognise, assess, counsel, refer, and follow up men with suspected or confirmed prostate cancer, using what is available in Rwandan health centres and district hospitals.</a:t>
            </a:r>
            <a:endParaRPr lang="en-US" dirty="0"/>
          </a:p>
        </p:txBody>
      </p:sp>
      <p:sp>
        <p:nvSpPr>
          <p:cNvPr id="7" name="Text 5"/>
          <p:cNvSpPr/>
          <p:nvPr/>
        </p:nvSpPr>
        <p:spPr>
          <a:xfrm>
            <a:off x="566928" y="2487168"/>
            <a:ext cx="11055096" cy="91440"/>
          </a:xfrm>
          <a:prstGeom prst="rect">
            <a:avLst/>
          </a:prstGeom>
          <a:noFill/>
          <a:ln/>
        </p:spPr>
        <p:txBody>
          <a:bodyPr wrap="square" lIns="0" tIns="0" rIns="0" bIns="0" rtlCol="0" anchor="t"/>
          <a:lstStyle/>
          <a:p>
            <a:pPr marL="0" indent="0" algn="l">
              <a:buNone/>
            </a:pPr>
            <a:endParaRPr lang="en-US" dirty="0"/>
          </a:p>
        </p:txBody>
      </p:sp>
      <p:sp>
        <p:nvSpPr>
          <p:cNvPr id="8" name="Shape 6"/>
          <p:cNvSpPr/>
          <p:nvPr/>
        </p:nvSpPr>
        <p:spPr>
          <a:xfrm>
            <a:off x="566928" y="3767328"/>
            <a:ext cx="11055096" cy="914400"/>
          </a:xfrm>
          <a:prstGeom prst="roundRect">
            <a:avLst>
              <a:gd name="adj" fmla="val 6000"/>
            </a:avLst>
          </a:prstGeom>
          <a:solidFill>
            <a:srgbClr val="E9F1FA"/>
          </a:solidFill>
          <a:ln w="12700">
            <a:solidFill>
              <a:srgbClr val="E9F1FA"/>
            </a:solidFill>
            <a:prstDash val="solid"/>
          </a:ln>
        </p:spPr>
        <p:txBody>
          <a:bodyPr/>
          <a:lstStyle/>
          <a:p>
            <a:endParaRPr lang="es-CO"/>
          </a:p>
        </p:txBody>
      </p:sp>
      <p:sp>
        <p:nvSpPr>
          <p:cNvPr id="9" name="Text 7"/>
          <p:cNvSpPr/>
          <p:nvPr/>
        </p:nvSpPr>
        <p:spPr>
          <a:xfrm>
            <a:off x="731520" y="3858768"/>
            <a:ext cx="10725912" cy="731520"/>
          </a:xfrm>
          <a:prstGeom prst="rect">
            <a:avLst/>
          </a:prstGeom>
          <a:noFill/>
          <a:ln/>
        </p:spPr>
        <p:txBody>
          <a:bodyPr wrap="square" lIns="0" tIns="0" rIns="0" bIns="0" rtlCol="0" anchor="t"/>
          <a:lstStyle/>
          <a:p>
            <a:pPr marL="0" indent="0" algn="l">
              <a:buNone/>
            </a:pPr>
            <a:r>
              <a:rPr lang="en-US" b="1" dirty="0">
                <a:solidFill>
                  <a:srgbClr val="1A6FB0"/>
                </a:solidFill>
                <a:latin typeface="Calibri" pitchFamily="34" charset="0"/>
                <a:ea typeface="Calibri" pitchFamily="34" charset="-122"/>
                <a:cs typeface="Calibri" pitchFamily="34" charset="-120"/>
              </a:rPr>
              <a:t>Your role:  </a:t>
            </a:r>
            <a:r>
              <a:rPr lang="en-US" dirty="0">
                <a:solidFill>
                  <a:srgbClr val="223240"/>
                </a:solidFill>
                <a:latin typeface="Calibri" pitchFamily="34" charset="0"/>
                <a:ea typeface="Calibri" pitchFamily="34" charset="-122"/>
                <a:cs typeface="Calibri" pitchFamily="34" charset="-120"/>
              </a:rPr>
              <a:t>not to perform specialist diagnosis or choose definitive treatment, but to recognise the problem early, counsel clearly, refer correctly, and support the patient through care.</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MODULE SYLLABUS</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you will be able to do</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Syllabus · 2</a:t>
            </a:r>
            <a:endParaRPr lang="en-US" sz="900" dirty="0"/>
          </a:p>
        </p:txBody>
      </p:sp>
      <p:sp>
        <p:nvSpPr>
          <p:cNvPr id="6" name="Shape 4"/>
          <p:cNvSpPr/>
          <p:nvPr/>
        </p:nvSpPr>
        <p:spPr>
          <a:xfrm>
            <a:off x="566928" y="1481327"/>
            <a:ext cx="11055096" cy="1354753"/>
          </a:xfrm>
          <a:prstGeom prst="roundRect">
            <a:avLst>
              <a:gd name="adj" fmla="val 5217"/>
            </a:avLst>
          </a:prstGeom>
          <a:solidFill>
            <a:srgbClr val="EAF1F8"/>
          </a:solidFill>
          <a:ln w="15875">
            <a:solidFill>
              <a:srgbClr val="D9E6F2"/>
            </a:solidFill>
            <a:prstDash val="solid"/>
          </a:ln>
        </p:spPr>
        <p:txBody>
          <a:bodyPr/>
          <a:lstStyle/>
          <a:p>
            <a:endParaRPr lang="es-CO"/>
          </a:p>
        </p:txBody>
      </p:sp>
      <p:sp>
        <p:nvSpPr>
          <p:cNvPr id="7" name="Text 5"/>
          <p:cNvSpPr/>
          <p:nvPr/>
        </p:nvSpPr>
        <p:spPr>
          <a:xfrm>
            <a:off x="786384" y="1609344"/>
            <a:ext cx="10616184" cy="8229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Course competency
</a:t>
            </a:r>
            <a:r>
              <a:rPr lang="en-US" dirty="0">
                <a:solidFill>
                  <a:srgbClr val="223240"/>
                </a:solidFill>
                <a:latin typeface="Calibri" pitchFamily="34" charset="0"/>
                <a:ea typeface="Calibri" pitchFamily="34" charset="-122"/>
                <a:cs typeface="Calibri" pitchFamily="34" charset="-120"/>
              </a:rPr>
              <a:t>After this module, learners will be able to identify men who warrant a prostate-cancer early-detection discussion, counsel them on the benefits and limits of PSA testing, recognise features that require referral, and refer and support patients through the Rwandan cancer-care pathway.</a:t>
            </a:r>
            <a:endParaRPr lang="en-US" dirty="0"/>
          </a:p>
        </p:txBody>
      </p:sp>
      <p:sp>
        <p:nvSpPr>
          <p:cNvPr id="8" name="Shape 6"/>
          <p:cNvSpPr/>
          <p:nvPr/>
        </p:nvSpPr>
        <p:spPr>
          <a:xfrm>
            <a:off x="2896362" y="3108477"/>
            <a:ext cx="5390388" cy="1155244"/>
          </a:xfrm>
          <a:prstGeom prst="roundRect">
            <a:avLst>
              <a:gd name="adj" fmla="val 4372"/>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9" name="Shape 7"/>
          <p:cNvSpPr/>
          <p:nvPr/>
        </p:nvSpPr>
        <p:spPr>
          <a:xfrm>
            <a:off x="3115818" y="3327933"/>
            <a:ext cx="164592" cy="113631"/>
          </a:xfrm>
          <a:prstGeom prst="ellipse">
            <a:avLst/>
          </a:prstGeom>
          <a:solidFill>
            <a:srgbClr val="1A6FB0"/>
          </a:solidFill>
          <a:ln w="12700">
            <a:solidFill>
              <a:srgbClr val="1A6FB0"/>
            </a:solidFill>
            <a:prstDash val="solid"/>
          </a:ln>
        </p:spPr>
        <p:txBody>
          <a:bodyPr/>
          <a:lstStyle/>
          <a:p>
            <a:endParaRPr lang="es-CO"/>
          </a:p>
        </p:txBody>
      </p:sp>
      <p:sp>
        <p:nvSpPr>
          <p:cNvPr id="10" name="Text 8"/>
          <p:cNvSpPr/>
          <p:nvPr/>
        </p:nvSpPr>
        <p:spPr>
          <a:xfrm>
            <a:off x="3390138" y="3236493"/>
            <a:ext cx="4732020" cy="252512"/>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Audience</a:t>
            </a:r>
            <a:endParaRPr lang="en-US" dirty="0"/>
          </a:p>
        </p:txBody>
      </p:sp>
      <p:sp>
        <p:nvSpPr>
          <p:cNvPr id="11" name="Text 9"/>
          <p:cNvSpPr/>
          <p:nvPr/>
        </p:nvSpPr>
        <p:spPr>
          <a:xfrm>
            <a:off x="3115818" y="3657117"/>
            <a:ext cx="4988052" cy="700722"/>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Frontline healthcare professionals who see men at health centre, district hospital and referral level.</a:t>
            </a:r>
            <a:endParaRPr lang="en-US" dirty="0"/>
          </a:p>
        </p:txBody>
      </p:sp>
      <p:sp>
        <p:nvSpPr>
          <p:cNvPr id="12" name="Shape 10"/>
          <p:cNvSpPr/>
          <p:nvPr/>
        </p:nvSpPr>
        <p:spPr>
          <a:xfrm>
            <a:off x="2914650" y="4610017"/>
            <a:ext cx="5390388" cy="1155244"/>
          </a:xfrm>
          <a:prstGeom prst="roundRect">
            <a:avLst>
              <a:gd name="adj" fmla="val 4372"/>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3" name="Shape 11"/>
          <p:cNvSpPr/>
          <p:nvPr/>
        </p:nvSpPr>
        <p:spPr>
          <a:xfrm>
            <a:off x="3134106" y="4829473"/>
            <a:ext cx="164592" cy="113631"/>
          </a:xfrm>
          <a:prstGeom prst="ellipse">
            <a:avLst/>
          </a:prstGeom>
          <a:solidFill>
            <a:srgbClr val="1A6FB0"/>
          </a:solidFill>
          <a:ln w="12700">
            <a:solidFill>
              <a:srgbClr val="1A6FB0"/>
            </a:solidFill>
            <a:prstDash val="solid"/>
          </a:ln>
        </p:spPr>
        <p:txBody>
          <a:bodyPr/>
          <a:lstStyle/>
          <a:p>
            <a:endParaRPr lang="es-CO"/>
          </a:p>
        </p:txBody>
      </p:sp>
      <p:sp>
        <p:nvSpPr>
          <p:cNvPr id="14" name="Text 12"/>
          <p:cNvSpPr/>
          <p:nvPr/>
        </p:nvSpPr>
        <p:spPr>
          <a:xfrm>
            <a:off x="3408426" y="4738033"/>
            <a:ext cx="4732020" cy="252512"/>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Prior knowledge assumed</a:t>
            </a:r>
            <a:endParaRPr lang="en-US" dirty="0"/>
          </a:p>
        </p:txBody>
      </p:sp>
      <p:sp>
        <p:nvSpPr>
          <p:cNvPr id="15" name="Text 13"/>
          <p:cNvSpPr/>
          <p:nvPr/>
        </p:nvSpPr>
        <p:spPr>
          <a:xfrm>
            <a:off x="3134106" y="5158657"/>
            <a:ext cx="4988052" cy="700722"/>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Basic anatomy/physiology and clinical training; general consultation and referral skills.</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2">
    <p:bg>
      <p:bgPr>
        <a:solidFill>
          <a:srgbClr val="1F3A5F"/>
        </a:solidFill>
        <a:effectLst/>
      </p:bgPr>
    </p:bg>
    <p:spTree>
      <p:nvGrpSpPr>
        <p:cNvPr id="1" name=""/>
        <p:cNvGrpSpPr/>
        <p:nvPr/>
      </p:nvGrpSpPr>
      <p:grpSpPr>
        <a:xfrm>
          <a:off x="0" y="0"/>
          <a:ext cx="0" cy="0"/>
          <a:chOff x="0" y="0"/>
          <a:chExt cx="0" cy="0"/>
        </a:xfrm>
      </p:grpSpPr>
      <p:sp>
        <p:nvSpPr>
          <p:cNvPr id="2" name="Text 0"/>
          <p:cNvSpPr/>
          <p:nvPr/>
        </p:nvSpPr>
        <p:spPr>
          <a:xfrm>
            <a:off x="1005840" y="2377440"/>
            <a:ext cx="10058400" cy="365760"/>
          </a:xfrm>
          <a:prstGeom prst="rect">
            <a:avLst/>
          </a:prstGeom>
          <a:noFill/>
          <a:ln/>
        </p:spPr>
        <p:txBody>
          <a:bodyPr wrap="square" lIns="0" tIns="0" rIns="0" bIns="0" rtlCol="0" anchor="ctr"/>
          <a:lstStyle/>
          <a:p>
            <a:pPr marL="0" indent="0">
              <a:buNone/>
            </a:pPr>
            <a:r>
              <a:rPr lang="en-US" sz="1500" b="1" kern="0" spc="300" dirty="0">
                <a:solidFill>
                  <a:srgbClr val="9FC4E4"/>
                </a:solidFill>
                <a:latin typeface="Calibri" pitchFamily="34" charset="0"/>
                <a:ea typeface="Calibri" pitchFamily="34" charset="-122"/>
                <a:cs typeface="Calibri" pitchFamily="34" charset="-120"/>
              </a:rPr>
              <a:t>SESSION 1</a:t>
            </a:r>
            <a:endParaRPr lang="en-US" sz="1500" dirty="0"/>
          </a:p>
        </p:txBody>
      </p:sp>
      <p:sp>
        <p:nvSpPr>
          <p:cNvPr id="3" name="Text 1"/>
          <p:cNvSpPr/>
          <p:nvPr/>
        </p:nvSpPr>
        <p:spPr>
          <a:xfrm>
            <a:off x="1005840" y="2788920"/>
            <a:ext cx="10058400" cy="118872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Understanding prostate cancer</a:t>
            </a:r>
            <a:endParaRPr lang="en-US" sz="4000" dirty="0"/>
          </a:p>
        </p:txBody>
      </p:sp>
      <p:sp>
        <p:nvSpPr>
          <p:cNvPr id="4" name="Text 2"/>
          <p:cNvSpPr/>
          <p:nvPr/>
        </p:nvSpPr>
        <p:spPr>
          <a:xfrm>
            <a:off x="1024128" y="3977640"/>
            <a:ext cx="9601200" cy="822960"/>
          </a:xfrm>
          <a:prstGeom prst="rect">
            <a:avLst/>
          </a:prstGeom>
          <a:noFill/>
          <a:ln/>
        </p:spPr>
        <p:txBody>
          <a:bodyPr wrap="square" lIns="0" tIns="0" rIns="0" bIns="0" rtlCol="0" anchor="t"/>
          <a:lstStyle/>
          <a:p>
            <a:pPr marL="0" indent="0">
              <a:buNone/>
            </a:pPr>
            <a:r>
              <a:rPr lang="en-US" sz="1500" dirty="0">
                <a:solidFill>
                  <a:srgbClr val="CFE0EF"/>
                </a:solidFill>
                <a:latin typeface="Calibri" pitchFamily="34" charset="0"/>
                <a:ea typeface="Calibri" pitchFamily="34" charset="-122"/>
                <a:cs typeface="Calibri" pitchFamily="34" charset="-120"/>
              </a:rPr>
              <a:t>What prostate cancer is, who it affects in Rwanda, and how it behaves, so you can explain it simply.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UNDERSTANDING</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this session gives you</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566928" y="1481328"/>
            <a:ext cx="11055096" cy="914400"/>
          </a:xfrm>
          <a:prstGeom prst="roundRect">
            <a:avLst>
              <a:gd name="adj" fmla="val 6000"/>
            </a:avLst>
          </a:prstGeom>
          <a:solidFill>
            <a:srgbClr val="EAF1F8"/>
          </a:solidFill>
          <a:ln w="12700">
            <a:solidFill>
              <a:srgbClr val="EAF1F8"/>
            </a:solidFill>
            <a:prstDash val="solid"/>
          </a:ln>
        </p:spPr>
        <p:txBody>
          <a:bodyPr/>
          <a:lstStyle/>
          <a:p>
            <a:endParaRPr lang="es-CO"/>
          </a:p>
        </p:txBody>
      </p:sp>
      <p:sp>
        <p:nvSpPr>
          <p:cNvPr id="7" name="Text 5"/>
          <p:cNvSpPr/>
          <p:nvPr/>
        </p:nvSpPr>
        <p:spPr>
          <a:xfrm>
            <a:off x="731520" y="1572768"/>
            <a:ext cx="10725912" cy="731520"/>
          </a:xfrm>
          <a:prstGeom prst="rect">
            <a:avLst/>
          </a:prstGeom>
          <a:noFill/>
          <a:ln/>
        </p:spPr>
        <p:txBody>
          <a:bodyPr wrap="square" lIns="0" tIns="0" rIns="0" bIns="0" rtlCol="0" anchor="t"/>
          <a:lstStyle/>
          <a:p>
            <a:pPr marL="0" indent="0" algn="l">
              <a:buNone/>
            </a:pPr>
            <a:r>
              <a:rPr lang="en-US" b="1" dirty="0">
                <a:solidFill>
                  <a:srgbClr val="1A6FB0"/>
                </a:solidFill>
                <a:latin typeface="Calibri" pitchFamily="34" charset="0"/>
                <a:ea typeface="Calibri" pitchFamily="34" charset="-122"/>
                <a:cs typeface="Calibri" pitchFamily="34" charset="-120"/>
              </a:rPr>
              <a:t>By the end you will be able to:  </a:t>
            </a:r>
            <a:r>
              <a:rPr lang="en-US" dirty="0">
                <a:solidFill>
                  <a:srgbClr val="223240"/>
                </a:solidFill>
                <a:latin typeface="Calibri" pitchFamily="34" charset="0"/>
                <a:ea typeface="Calibri" pitchFamily="34" charset="-122"/>
                <a:cs typeface="Calibri" pitchFamily="34" charset="-120"/>
              </a:rPr>
              <a:t>explain in plain words what prostate cancer is, who is most at risk in Rwanda, and why the disease behaves as it does, the foundation for counselling and referral.</a:t>
            </a:r>
            <a:endParaRPr lang="en-US" dirty="0"/>
          </a:p>
        </p:txBody>
      </p:sp>
      <p:sp>
        <p:nvSpPr>
          <p:cNvPr id="8" name="Shape 6"/>
          <p:cNvSpPr/>
          <p:nvPr/>
        </p:nvSpPr>
        <p:spPr>
          <a:xfrm>
            <a:off x="566928" y="2624328"/>
            <a:ext cx="5390388" cy="1741932"/>
          </a:xfrm>
          <a:prstGeom prst="roundRect">
            <a:avLst>
              <a:gd name="adj" fmla="val 419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9" name="Shape 7"/>
          <p:cNvSpPr/>
          <p:nvPr/>
        </p:nvSpPr>
        <p:spPr>
          <a:xfrm>
            <a:off x="786384" y="2843784"/>
            <a:ext cx="164592" cy="164592"/>
          </a:xfrm>
          <a:prstGeom prst="ellipse">
            <a:avLst/>
          </a:prstGeom>
          <a:solidFill>
            <a:srgbClr val="1A6FB0"/>
          </a:solidFill>
          <a:ln w="12700">
            <a:solidFill>
              <a:srgbClr val="1A6FB0"/>
            </a:solidFill>
            <a:prstDash val="solid"/>
          </a:ln>
        </p:spPr>
        <p:txBody>
          <a:bodyPr/>
          <a:lstStyle/>
          <a:p>
            <a:endParaRPr lang="es-CO"/>
          </a:p>
        </p:txBody>
      </p:sp>
      <p:sp>
        <p:nvSpPr>
          <p:cNvPr id="10" name="Text 8"/>
          <p:cNvSpPr/>
          <p:nvPr/>
        </p:nvSpPr>
        <p:spPr>
          <a:xfrm>
            <a:off x="1060704" y="27523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What it is</a:t>
            </a:r>
            <a:endParaRPr lang="en-US" dirty="0"/>
          </a:p>
        </p:txBody>
      </p:sp>
      <p:sp>
        <p:nvSpPr>
          <p:cNvPr id="11" name="Text 9"/>
          <p:cNvSpPr/>
          <p:nvPr/>
        </p:nvSpPr>
        <p:spPr>
          <a:xfrm>
            <a:off x="786384" y="3172968"/>
            <a:ext cx="4988052" cy="10835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 cancer of the prostate, a small gland below the bladder that only men have.</a:t>
            </a:r>
            <a:endParaRPr lang="en-US" dirty="0"/>
          </a:p>
        </p:txBody>
      </p:sp>
      <p:sp>
        <p:nvSpPr>
          <p:cNvPr id="12" name="Shape 10"/>
          <p:cNvSpPr/>
          <p:nvPr/>
        </p:nvSpPr>
        <p:spPr>
          <a:xfrm>
            <a:off x="6231636" y="2624328"/>
            <a:ext cx="5390388" cy="1741932"/>
          </a:xfrm>
          <a:prstGeom prst="roundRect">
            <a:avLst>
              <a:gd name="adj" fmla="val 419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3" name="Shape 11"/>
          <p:cNvSpPr/>
          <p:nvPr/>
        </p:nvSpPr>
        <p:spPr>
          <a:xfrm>
            <a:off x="6451092" y="2843784"/>
            <a:ext cx="164592" cy="164592"/>
          </a:xfrm>
          <a:prstGeom prst="ellipse">
            <a:avLst/>
          </a:prstGeom>
          <a:solidFill>
            <a:srgbClr val="1A6FB0"/>
          </a:solidFill>
          <a:ln w="12700">
            <a:solidFill>
              <a:srgbClr val="1A6FB0"/>
            </a:solidFill>
            <a:prstDash val="solid"/>
          </a:ln>
        </p:spPr>
        <p:txBody>
          <a:bodyPr/>
          <a:lstStyle/>
          <a:p>
            <a:endParaRPr lang="es-CO"/>
          </a:p>
        </p:txBody>
      </p:sp>
      <p:sp>
        <p:nvSpPr>
          <p:cNvPr id="14" name="Text 12"/>
          <p:cNvSpPr/>
          <p:nvPr/>
        </p:nvSpPr>
        <p:spPr>
          <a:xfrm>
            <a:off x="6725412" y="27523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Who it affects</a:t>
            </a:r>
            <a:endParaRPr lang="en-US" dirty="0"/>
          </a:p>
        </p:txBody>
      </p:sp>
      <p:sp>
        <p:nvSpPr>
          <p:cNvPr id="15" name="Text 13"/>
          <p:cNvSpPr/>
          <p:nvPr/>
        </p:nvSpPr>
        <p:spPr>
          <a:xfrm>
            <a:off x="6451092" y="3172968"/>
            <a:ext cx="4988052" cy="10835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Mostly older men. It is the most common cancer in men in Rwanda.</a:t>
            </a:r>
            <a:endParaRPr lang="en-US" dirty="0"/>
          </a:p>
        </p:txBody>
      </p:sp>
      <p:sp>
        <p:nvSpPr>
          <p:cNvPr id="16" name="Shape 14"/>
          <p:cNvSpPr/>
          <p:nvPr/>
        </p:nvSpPr>
        <p:spPr>
          <a:xfrm>
            <a:off x="566928" y="4640580"/>
            <a:ext cx="5390388" cy="1741932"/>
          </a:xfrm>
          <a:prstGeom prst="roundRect">
            <a:avLst>
              <a:gd name="adj" fmla="val 419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7" name="Shape 15"/>
          <p:cNvSpPr/>
          <p:nvPr/>
        </p:nvSpPr>
        <p:spPr>
          <a:xfrm>
            <a:off x="786384" y="4860036"/>
            <a:ext cx="164592" cy="164592"/>
          </a:xfrm>
          <a:prstGeom prst="ellipse">
            <a:avLst/>
          </a:prstGeom>
          <a:solidFill>
            <a:srgbClr val="1A6FB0"/>
          </a:solidFill>
          <a:ln w="12700">
            <a:solidFill>
              <a:srgbClr val="1A6FB0"/>
            </a:solidFill>
            <a:prstDash val="solid"/>
          </a:ln>
        </p:spPr>
        <p:txBody>
          <a:bodyPr/>
          <a:lstStyle/>
          <a:p>
            <a:endParaRPr lang="es-CO"/>
          </a:p>
        </p:txBody>
      </p:sp>
      <p:sp>
        <p:nvSpPr>
          <p:cNvPr id="18" name="Text 16"/>
          <p:cNvSpPr/>
          <p:nvPr/>
        </p:nvSpPr>
        <p:spPr>
          <a:xfrm>
            <a:off x="1060704" y="4768596"/>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How it grows</a:t>
            </a:r>
            <a:endParaRPr lang="en-US" dirty="0"/>
          </a:p>
        </p:txBody>
      </p:sp>
      <p:sp>
        <p:nvSpPr>
          <p:cNvPr id="19" name="Text 17"/>
          <p:cNvSpPr/>
          <p:nvPr/>
        </p:nvSpPr>
        <p:spPr>
          <a:xfrm>
            <a:off x="786384" y="5189220"/>
            <a:ext cx="4988052" cy="10835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Slowly in many men, and driven by male hormones, which shapes treatment.</a:t>
            </a:r>
            <a:endParaRPr lang="en-US" dirty="0"/>
          </a:p>
        </p:txBody>
      </p:sp>
      <p:sp>
        <p:nvSpPr>
          <p:cNvPr id="20" name="Shape 18"/>
          <p:cNvSpPr/>
          <p:nvPr/>
        </p:nvSpPr>
        <p:spPr>
          <a:xfrm>
            <a:off x="6231636" y="4640580"/>
            <a:ext cx="5390388" cy="1741932"/>
          </a:xfrm>
          <a:prstGeom prst="roundRect">
            <a:avLst>
              <a:gd name="adj" fmla="val 4199"/>
            </a:avLst>
          </a:prstGeom>
          <a:solidFill>
            <a:srgbClr val="FFFFFF"/>
          </a:solidFill>
          <a:ln w="19050">
            <a:solidFill>
              <a:srgbClr val="B26A00"/>
            </a:solidFill>
            <a:prstDash val="solid"/>
          </a:ln>
          <a:effectLst>
            <a:outerShdw blurRad="50800" dist="25400" dir="5400000" algn="bl" rotWithShape="0">
              <a:srgbClr val="BFCEDD">
                <a:alpha val="50000"/>
              </a:srgbClr>
            </a:outerShdw>
          </a:effectLst>
        </p:spPr>
        <p:txBody>
          <a:bodyPr/>
          <a:lstStyle/>
          <a:p>
            <a:endParaRPr lang="es-CO"/>
          </a:p>
        </p:txBody>
      </p:sp>
      <p:sp>
        <p:nvSpPr>
          <p:cNvPr id="21" name="Shape 19"/>
          <p:cNvSpPr/>
          <p:nvPr/>
        </p:nvSpPr>
        <p:spPr>
          <a:xfrm>
            <a:off x="6451092" y="4860036"/>
            <a:ext cx="164592" cy="164592"/>
          </a:xfrm>
          <a:prstGeom prst="ellipse">
            <a:avLst/>
          </a:prstGeom>
          <a:solidFill>
            <a:srgbClr val="B26A00"/>
          </a:solidFill>
          <a:ln w="12700">
            <a:solidFill>
              <a:srgbClr val="B26A00"/>
            </a:solidFill>
            <a:prstDash val="solid"/>
          </a:ln>
        </p:spPr>
        <p:txBody>
          <a:bodyPr/>
          <a:lstStyle/>
          <a:p>
            <a:endParaRPr lang="es-CO"/>
          </a:p>
        </p:txBody>
      </p:sp>
      <p:sp>
        <p:nvSpPr>
          <p:cNvPr id="22" name="Text 20"/>
          <p:cNvSpPr/>
          <p:nvPr/>
        </p:nvSpPr>
        <p:spPr>
          <a:xfrm>
            <a:off x="6725412" y="4768596"/>
            <a:ext cx="4732020" cy="36576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Why it matters here</a:t>
            </a:r>
            <a:endParaRPr lang="en-US" dirty="0"/>
          </a:p>
        </p:txBody>
      </p:sp>
      <p:sp>
        <p:nvSpPr>
          <p:cNvPr id="23" name="Text 21"/>
          <p:cNvSpPr/>
          <p:nvPr/>
        </p:nvSpPr>
        <p:spPr>
          <a:xfrm>
            <a:off x="6451092" y="5189220"/>
            <a:ext cx="4988052" cy="10835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Men often present late, when the cancer has already spread. Early recognition saves lives.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CLINICAL CASE</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Meet Jean</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566928" y="1481328"/>
            <a:ext cx="11055096" cy="4901184"/>
          </a:xfrm>
          <a:prstGeom prst="roundRect">
            <a:avLst>
              <a:gd name="adj" fmla="val 1119"/>
            </a:avLst>
          </a:prstGeom>
          <a:solidFill>
            <a:srgbClr val="FFF7E8"/>
          </a:solidFill>
          <a:ln w="15875">
            <a:solidFill>
              <a:srgbClr val="EAD8AE"/>
            </a:solidFill>
            <a:prstDash val="solid"/>
          </a:ln>
        </p:spPr>
        <p:txBody>
          <a:bodyPr/>
          <a:lstStyle/>
          <a:p>
            <a:endParaRPr lang="es-CO"/>
          </a:p>
        </p:txBody>
      </p:sp>
      <p:sp>
        <p:nvSpPr>
          <p:cNvPr id="7" name="Text 5"/>
          <p:cNvSpPr/>
          <p:nvPr/>
        </p:nvSpPr>
        <p:spPr>
          <a:xfrm>
            <a:off x="822960" y="1627632"/>
            <a:ext cx="10543032" cy="310896"/>
          </a:xfrm>
          <a:prstGeom prst="rect">
            <a:avLst/>
          </a:prstGeom>
          <a:noFill/>
          <a:ln/>
        </p:spPr>
        <p:txBody>
          <a:bodyPr wrap="square" lIns="0" tIns="0" rIns="0" bIns="0" rtlCol="0" anchor="t"/>
          <a:lstStyle/>
          <a:p>
            <a:pPr marL="0" indent="0">
              <a:buNone/>
            </a:pPr>
            <a:r>
              <a:rPr lang="en-US" b="1" dirty="0">
                <a:solidFill>
                  <a:srgbClr val="B26A00"/>
                </a:solidFill>
                <a:latin typeface="Cambria" pitchFamily="34" charset="0"/>
                <a:ea typeface="Cambria" pitchFamily="34" charset="-122"/>
                <a:cs typeface="Cambria" pitchFamily="34" charset="-120"/>
              </a:rPr>
              <a:t>🩺  Clinical case:  </a:t>
            </a:r>
            <a:r>
              <a:rPr lang="en-US" b="1" dirty="0">
                <a:solidFill>
                  <a:srgbClr val="1F3A5F"/>
                </a:solidFill>
                <a:latin typeface="Cambria" pitchFamily="34" charset="0"/>
                <a:ea typeface="Cambria" pitchFamily="34" charset="-122"/>
                <a:cs typeface="Cambria" pitchFamily="34" charset="-120"/>
              </a:rPr>
              <a:t>Jean, 68</a:t>
            </a:r>
            <a:endParaRPr lang="en-US" dirty="0"/>
          </a:p>
        </p:txBody>
      </p:sp>
      <p:sp>
        <p:nvSpPr>
          <p:cNvPr id="8" name="Text 6"/>
          <p:cNvSpPr/>
          <p:nvPr/>
        </p:nvSpPr>
        <p:spPr>
          <a:xfrm>
            <a:off x="822960" y="2180608"/>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Patient:   </a:t>
            </a:r>
            <a:r>
              <a:rPr lang="en-US" dirty="0">
                <a:solidFill>
                  <a:srgbClr val="223240"/>
                </a:solidFill>
                <a:latin typeface="Calibri" pitchFamily="34" charset="0"/>
                <a:ea typeface="Calibri" pitchFamily="34" charset="-122"/>
                <a:cs typeface="Calibri" pitchFamily="34" charset="-120"/>
              </a:rPr>
              <a:t>Jean, a 68-year-old retired teacher. Generally well; takes no regular medicines.</a:t>
            </a:r>
            <a:endParaRPr lang="en-US" dirty="0"/>
          </a:p>
        </p:txBody>
      </p:sp>
      <p:sp>
        <p:nvSpPr>
          <p:cNvPr id="9" name="Text 7"/>
          <p:cNvSpPr/>
          <p:nvPr/>
        </p:nvSpPr>
        <p:spPr>
          <a:xfrm>
            <a:off x="822960" y="2758122"/>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Setting:   </a:t>
            </a:r>
            <a:r>
              <a:rPr lang="en-US" dirty="0">
                <a:solidFill>
                  <a:srgbClr val="223240"/>
                </a:solidFill>
                <a:latin typeface="Calibri" pitchFamily="34" charset="0"/>
                <a:ea typeface="Calibri" pitchFamily="34" charset="-122"/>
                <a:cs typeface="Calibri" pitchFamily="34" charset="-120"/>
              </a:rPr>
              <a:t>Your health centre in a rural district. He has come with his son.</a:t>
            </a:r>
            <a:endParaRPr lang="en-US" dirty="0"/>
          </a:p>
        </p:txBody>
      </p:sp>
      <p:sp>
        <p:nvSpPr>
          <p:cNvPr id="10" name="Text 8"/>
          <p:cNvSpPr/>
          <p:nvPr/>
        </p:nvSpPr>
        <p:spPr>
          <a:xfrm>
            <a:off x="822960" y="3382800"/>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Why he is here:   </a:t>
            </a:r>
            <a:r>
              <a:rPr lang="en-US" dirty="0">
                <a:solidFill>
                  <a:srgbClr val="223240"/>
                </a:solidFill>
                <a:latin typeface="Calibri" pitchFamily="34" charset="0"/>
                <a:ea typeface="Calibri" pitchFamily="34" charset="-122"/>
                <a:cs typeface="Calibri" pitchFamily="34" charset="-120"/>
              </a:rPr>
              <a:t>For several months he has had a weak urine stream, trouble starting, and gets up 3-4 times a night to pass urine. Lately he feels more tired.</a:t>
            </a:r>
            <a:endParaRPr lang="en-US" dirty="0"/>
          </a:p>
        </p:txBody>
      </p:sp>
      <p:sp>
        <p:nvSpPr>
          <p:cNvPr id="11" name="Text 9"/>
          <p:cNvSpPr/>
          <p:nvPr/>
        </p:nvSpPr>
        <p:spPr>
          <a:xfrm>
            <a:off x="822960" y="4154264"/>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What you know so far:   </a:t>
            </a:r>
            <a:r>
              <a:rPr lang="en-US" dirty="0">
                <a:solidFill>
                  <a:srgbClr val="223240"/>
                </a:solidFill>
                <a:latin typeface="Calibri" pitchFamily="34" charset="0"/>
                <a:ea typeface="Calibri" pitchFamily="34" charset="-122"/>
                <a:cs typeface="Calibri" pitchFamily="34" charset="-120"/>
              </a:rPr>
              <a:t>No fever. No blood seen in urine reported. He has not seen anyone about this before.</a:t>
            </a:r>
            <a:endParaRPr lang="en-US" dirty="0"/>
          </a:p>
        </p:txBody>
      </p:sp>
      <p:sp>
        <p:nvSpPr>
          <p:cNvPr id="12" name="Shape 10"/>
          <p:cNvSpPr/>
          <p:nvPr/>
        </p:nvSpPr>
        <p:spPr>
          <a:xfrm>
            <a:off x="822960" y="4873753"/>
            <a:ext cx="10543032" cy="769059"/>
          </a:xfrm>
          <a:prstGeom prst="roundRect">
            <a:avLst>
              <a:gd name="adj" fmla="val 7576"/>
            </a:avLst>
          </a:prstGeom>
          <a:solidFill>
            <a:srgbClr val="FBE6C6"/>
          </a:solidFill>
          <a:ln w="12700">
            <a:solidFill>
              <a:srgbClr val="FBE6C6"/>
            </a:solidFill>
            <a:prstDash val="solid"/>
          </a:ln>
        </p:spPr>
        <p:txBody>
          <a:bodyPr/>
          <a:lstStyle/>
          <a:p>
            <a:endParaRPr lang="es-CO"/>
          </a:p>
        </p:txBody>
      </p:sp>
      <p:sp>
        <p:nvSpPr>
          <p:cNvPr id="13" name="Text 11"/>
          <p:cNvSpPr/>
          <p:nvPr/>
        </p:nvSpPr>
        <p:spPr>
          <a:xfrm>
            <a:off x="987552" y="4946906"/>
            <a:ext cx="10213848" cy="45720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  Your task:  </a:t>
            </a:r>
            <a:r>
              <a:rPr lang="en-US" dirty="0">
                <a:solidFill>
                  <a:srgbClr val="223240"/>
                </a:solidFill>
                <a:latin typeface="Calibri" pitchFamily="34" charset="0"/>
                <a:ea typeface="Calibri" pitchFamily="34" charset="-122"/>
                <a:cs typeface="Calibri" pitchFamily="34" charset="-120"/>
              </a:rPr>
              <a:t>keep Jean in mind, he returns throughout the module as you learn to recognise, refer and support him.</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REFLECTION</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do you think?</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1.3</a:t>
            </a:r>
            <a:endParaRPr lang="en-US" sz="900" dirty="0"/>
          </a:p>
        </p:txBody>
      </p:sp>
      <p:sp>
        <p:nvSpPr>
          <p:cNvPr id="6" name="Text 4"/>
          <p:cNvSpPr/>
          <p:nvPr/>
        </p:nvSpPr>
        <p:spPr>
          <a:xfrm>
            <a:off x="566928" y="1481328"/>
            <a:ext cx="11055096" cy="54864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Jean has a weak stream and passes urine often at night. What is the MOST reasonable first thought?</a:t>
            </a:r>
            <a:endParaRPr lang="en-US" dirty="0"/>
          </a:p>
        </p:txBody>
      </p:sp>
      <p:sp>
        <p:nvSpPr>
          <p:cNvPr id="7" name="Shape 5"/>
          <p:cNvSpPr/>
          <p:nvPr/>
        </p:nvSpPr>
        <p:spPr>
          <a:xfrm>
            <a:off x="566928" y="2044690"/>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76656" y="2126986"/>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76656" y="2126986"/>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A</a:t>
            </a:r>
            <a:endParaRPr lang="en-US" dirty="0"/>
          </a:p>
        </p:txBody>
      </p:sp>
      <p:sp>
        <p:nvSpPr>
          <p:cNvPr id="10" name="Text 8"/>
          <p:cNvSpPr/>
          <p:nvPr/>
        </p:nvSpPr>
        <p:spPr>
          <a:xfrm>
            <a:off x="1097280" y="2044690"/>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This is certainly cancer</a:t>
            </a:r>
            <a:endParaRPr lang="en-US" dirty="0"/>
          </a:p>
        </p:txBody>
      </p:sp>
      <p:sp>
        <p:nvSpPr>
          <p:cNvPr id="11" name="Shape 9"/>
          <p:cNvSpPr/>
          <p:nvPr/>
        </p:nvSpPr>
        <p:spPr>
          <a:xfrm>
            <a:off x="566928" y="2596454"/>
            <a:ext cx="11055096" cy="591903"/>
          </a:xfrm>
          <a:prstGeom prst="roundRect">
            <a:avLst>
              <a:gd name="adj" fmla="val 10000"/>
            </a:avLst>
          </a:prstGeom>
          <a:solidFill>
            <a:srgbClr val="E7F4EC"/>
          </a:solidFill>
          <a:ln w="19050">
            <a:solidFill>
              <a:srgbClr val="1E7A46"/>
            </a:solidFill>
            <a:prstDash val="solid"/>
          </a:ln>
        </p:spPr>
        <p:txBody>
          <a:bodyPr/>
          <a:lstStyle/>
          <a:p>
            <a:endParaRPr lang="es-CO"/>
          </a:p>
        </p:txBody>
      </p:sp>
      <p:sp>
        <p:nvSpPr>
          <p:cNvPr id="12" name="Shape 10"/>
          <p:cNvSpPr/>
          <p:nvPr/>
        </p:nvSpPr>
        <p:spPr>
          <a:xfrm>
            <a:off x="676656" y="2745657"/>
            <a:ext cx="292608" cy="292608"/>
          </a:xfrm>
          <a:prstGeom prst="ellipse">
            <a:avLst/>
          </a:prstGeom>
          <a:solidFill>
            <a:srgbClr val="1E7A46"/>
          </a:solidFill>
          <a:ln w="12700">
            <a:solidFill>
              <a:srgbClr val="1E7A46"/>
            </a:solidFill>
            <a:prstDash val="solid"/>
          </a:ln>
        </p:spPr>
        <p:txBody>
          <a:bodyPr/>
          <a:lstStyle/>
          <a:p>
            <a:endParaRPr lang="es-CO"/>
          </a:p>
        </p:txBody>
      </p:sp>
      <p:sp>
        <p:nvSpPr>
          <p:cNvPr id="13" name="Text 11"/>
          <p:cNvSpPr/>
          <p:nvPr/>
        </p:nvSpPr>
        <p:spPr>
          <a:xfrm>
            <a:off x="676656" y="2745657"/>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B</a:t>
            </a:r>
            <a:endParaRPr lang="en-US" dirty="0"/>
          </a:p>
        </p:txBody>
      </p:sp>
      <p:sp>
        <p:nvSpPr>
          <p:cNvPr id="14" name="Text 12"/>
          <p:cNvSpPr/>
          <p:nvPr/>
        </p:nvSpPr>
        <p:spPr>
          <a:xfrm>
            <a:off x="1097280" y="2663361"/>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These urinary symptoms are common in older men and have several possible causes, including a non-cancer enlarged prostate or cancer</a:t>
            </a:r>
            <a:endParaRPr lang="en-US" dirty="0"/>
          </a:p>
        </p:txBody>
      </p:sp>
      <p:sp>
        <p:nvSpPr>
          <p:cNvPr id="15" name="Shape 13"/>
          <p:cNvSpPr/>
          <p:nvPr/>
        </p:nvSpPr>
        <p:spPr>
          <a:xfrm>
            <a:off x="566928" y="3348936"/>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16" name="Shape 14"/>
          <p:cNvSpPr/>
          <p:nvPr/>
        </p:nvSpPr>
        <p:spPr>
          <a:xfrm>
            <a:off x="676656" y="3431232"/>
            <a:ext cx="292608" cy="292608"/>
          </a:xfrm>
          <a:prstGeom prst="ellipse">
            <a:avLst/>
          </a:prstGeom>
          <a:solidFill>
            <a:srgbClr val="1A6FB0"/>
          </a:solidFill>
          <a:ln w="12700">
            <a:solidFill>
              <a:srgbClr val="1A6FB0"/>
            </a:solidFill>
            <a:prstDash val="solid"/>
          </a:ln>
        </p:spPr>
        <p:txBody>
          <a:bodyPr/>
          <a:lstStyle/>
          <a:p>
            <a:endParaRPr lang="es-CO"/>
          </a:p>
        </p:txBody>
      </p:sp>
      <p:sp>
        <p:nvSpPr>
          <p:cNvPr id="17" name="Text 15"/>
          <p:cNvSpPr/>
          <p:nvPr/>
        </p:nvSpPr>
        <p:spPr>
          <a:xfrm>
            <a:off x="676656" y="3431232"/>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C</a:t>
            </a:r>
            <a:endParaRPr lang="en-US" dirty="0"/>
          </a:p>
        </p:txBody>
      </p:sp>
      <p:sp>
        <p:nvSpPr>
          <p:cNvPr id="18" name="Text 16"/>
          <p:cNvSpPr/>
          <p:nvPr/>
        </p:nvSpPr>
        <p:spPr>
          <a:xfrm>
            <a:off x="1097280" y="3348936"/>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This is only ageing and needs nothing</a:t>
            </a:r>
            <a:endParaRPr lang="en-US" dirty="0"/>
          </a:p>
        </p:txBody>
      </p:sp>
      <p:sp>
        <p:nvSpPr>
          <p:cNvPr id="19" name="Shape 17"/>
          <p:cNvSpPr/>
          <p:nvPr/>
        </p:nvSpPr>
        <p:spPr>
          <a:xfrm>
            <a:off x="566928" y="3989907"/>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76656" y="4072203"/>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76656" y="4072203"/>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D</a:t>
            </a:r>
            <a:endParaRPr lang="en-US" dirty="0"/>
          </a:p>
        </p:txBody>
      </p:sp>
      <p:sp>
        <p:nvSpPr>
          <p:cNvPr id="22" name="Text 20"/>
          <p:cNvSpPr/>
          <p:nvPr/>
        </p:nvSpPr>
        <p:spPr>
          <a:xfrm>
            <a:off x="1097280" y="3989907"/>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He needs surgery today</a:t>
            </a:r>
            <a:endParaRPr lang="en-US" dirty="0"/>
          </a:p>
        </p:txBody>
      </p:sp>
      <p:sp>
        <p:nvSpPr>
          <p:cNvPr id="23" name="Shape 21"/>
          <p:cNvSpPr/>
          <p:nvPr/>
        </p:nvSpPr>
        <p:spPr>
          <a:xfrm>
            <a:off x="566928" y="4663440"/>
            <a:ext cx="11055096" cy="1719072"/>
          </a:xfrm>
          <a:prstGeom prst="roundRect">
            <a:avLst>
              <a:gd name="adj" fmla="val 2660"/>
            </a:avLst>
          </a:prstGeom>
          <a:solidFill>
            <a:srgbClr val="E7F4EC"/>
          </a:solidFill>
          <a:ln w="12700">
            <a:solidFill>
              <a:srgbClr val="BFE3CD"/>
            </a:solidFill>
            <a:prstDash val="solid"/>
          </a:ln>
        </p:spPr>
        <p:txBody>
          <a:bodyPr/>
          <a:lstStyle/>
          <a:p>
            <a:endParaRPr lang="es-CO"/>
          </a:p>
        </p:txBody>
      </p:sp>
      <p:sp>
        <p:nvSpPr>
          <p:cNvPr id="24" name="Text 22"/>
          <p:cNvSpPr/>
          <p:nvPr/>
        </p:nvSpPr>
        <p:spPr>
          <a:xfrm>
            <a:off x="749808" y="4754880"/>
            <a:ext cx="10689336" cy="153619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Urinary symptoms in older men are common and non-specific. They do not confirm cancer, but they are a reason to assess properly and consider referral, not to dismiss.</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UNDERSTANDING</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is prostate cancer?</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1.4</a:t>
            </a:r>
            <a:endParaRPr lang="en-US" sz="900" dirty="0"/>
          </a:p>
        </p:txBody>
      </p:sp>
      <p:sp>
        <p:nvSpPr>
          <p:cNvPr id="6" name="Text 4"/>
          <p:cNvSpPr/>
          <p:nvPr/>
        </p:nvSpPr>
        <p:spPr>
          <a:xfrm>
            <a:off x="566928" y="1481328"/>
            <a:ext cx="5969752" cy="91440"/>
          </a:xfrm>
          <a:prstGeom prst="rect">
            <a:avLst/>
          </a:prstGeom>
          <a:noFill/>
          <a:ln/>
        </p:spPr>
        <p:txBody>
          <a:bodyPr wrap="square" lIns="0" tIns="0" rIns="0" bIns="0" rtlCol="0" anchor="t"/>
          <a:lstStyle/>
          <a:p>
            <a:pPr marL="0" indent="0" algn="l">
              <a:buNone/>
            </a:pPr>
            <a:r>
              <a:rPr lang="en-US" dirty="0">
                <a:solidFill>
                  <a:srgbClr val="223240"/>
                </a:solidFill>
                <a:latin typeface="Calibri" pitchFamily="34" charset="0"/>
                <a:ea typeface="Calibri" pitchFamily="34" charset="-122"/>
                <a:cs typeface="Calibri" pitchFamily="34" charset="-120"/>
              </a:rPr>
              <a:t>The prostate is a small gland below the bladder, around the tube that carries urine (the urethra). It helps make fluid for semen. Only men have one.</a:t>
            </a:r>
            <a:endParaRPr lang="en-US" dirty="0"/>
          </a:p>
        </p:txBody>
      </p:sp>
      <p:sp>
        <p:nvSpPr>
          <p:cNvPr id="7" name="Text 5"/>
          <p:cNvSpPr/>
          <p:nvPr/>
        </p:nvSpPr>
        <p:spPr>
          <a:xfrm>
            <a:off x="566928" y="2441448"/>
            <a:ext cx="5969752" cy="91440"/>
          </a:xfrm>
          <a:prstGeom prst="rect">
            <a:avLst/>
          </a:prstGeom>
          <a:noFill/>
          <a:ln/>
        </p:spPr>
        <p:txBody>
          <a:bodyPr wrap="square" lIns="0" tIns="0" rIns="0" bIns="0" rtlCol="0" anchor="t"/>
          <a:lstStyle/>
          <a:p>
            <a:pPr marL="0" indent="0" algn="l">
              <a:buNone/>
            </a:pPr>
            <a:r>
              <a:rPr lang="en-US" dirty="0">
                <a:solidFill>
                  <a:srgbClr val="223240"/>
                </a:solidFill>
                <a:latin typeface="Calibri" pitchFamily="34" charset="0"/>
                <a:ea typeface="Calibri" pitchFamily="34" charset="-122"/>
                <a:cs typeface="Calibri" pitchFamily="34" charset="-120"/>
              </a:rPr>
              <a:t>Prostate cancer is when cells in this gland grow out of control. In many men it grows </a:t>
            </a:r>
            <a:r>
              <a:rPr lang="en-US" b="1" dirty="0">
                <a:solidFill>
                  <a:srgbClr val="223240"/>
                </a:solidFill>
                <a:latin typeface="Calibri" pitchFamily="34" charset="0"/>
                <a:ea typeface="Calibri" pitchFamily="34" charset="-122"/>
                <a:cs typeface="Calibri" pitchFamily="34" charset="-120"/>
              </a:rPr>
              <a:t>slowly</a:t>
            </a:r>
            <a:r>
              <a:rPr lang="en-US" dirty="0">
                <a:solidFill>
                  <a:srgbClr val="223240"/>
                </a:solidFill>
                <a:latin typeface="Calibri" pitchFamily="34" charset="0"/>
                <a:ea typeface="Calibri" pitchFamily="34" charset="-122"/>
                <a:cs typeface="Calibri" pitchFamily="34" charset="-120"/>
              </a:rPr>
              <a:t> and stays inside the gland for years. In some men it grows faster and can </a:t>
            </a:r>
            <a:r>
              <a:rPr lang="en-US" b="1" dirty="0">
                <a:solidFill>
                  <a:srgbClr val="223240"/>
                </a:solidFill>
                <a:latin typeface="Calibri" pitchFamily="34" charset="0"/>
                <a:ea typeface="Calibri" pitchFamily="34" charset="-122"/>
                <a:cs typeface="Calibri" pitchFamily="34" charset="-120"/>
              </a:rPr>
              <a:t>spread</a:t>
            </a:r>
            <a:r>
              <a:rPr lang="en-US" dirty="0">
                <a:solidFill>
                  <a:srgbClr val="223240"/>
                </a:solidFill>
                <a:latin typeface="Calibri" pitchFamily="34" charset="0"/>
                <a:ea typeface="Calibri" pitchFamily="34" charset="-122"/>
                <a:cs typeface="Calibri" pitchFamily="34" charset="-120"/>
              </a:rPr>
              <a:t>, often to the bones.</a:t>
            </a:r>
            <a:endParaRPr lang="en-US" dirty="0"/>
          </a:p>
        </p:txBody>
      </p:sp>
      <p:sp>
        <p:nvSpPr>
          <p:cNvPr id="8" name="Shape 6"/>
          <p:cNvSpPr/>
          <p:nvPr/>
        </p:nvSpPr>
        <p:spPr>
          <a:xfrm>
            <a:off x="566928" y="3950208"/>
            <a:ext cx="5969752" cy="914400"/>
          </a:xfrm>
          <a:prstGeom prst="roundRect">
            <a:avLst>
              <a:gd name="adj" fmla="val 6000"/>
            </a:avLst>
          </a:prstGeom>
          <a:solidFill>
            <a:srgbClr val="E7F4EC"/>
          </a:solidFill>
          <a:ln w="12700">
            <a:solidFill>
              <a:srgbClr val="E7F4EC"/>
            </a:solidFill>
            <a:prstDash val="solid"/>
          </a:ln>
        </p:spPr>
        <p:txBody>
          <a:bodyPr/>
          <a:lstStyle/>
          <a:p>
            <a:endParaRPr lang="es-CO"/>
          </a:p>
        </p:txBody>
      </p:sp>
      <p:sp>
        <p:nvSpPr>
          <p:cNvPr id="9" name="Text 7"/>
          <p:cNvSpPr/>
          <p:nvPr/>
        </p:nvSpPr>
        <p:spPr>
          <a:xfrm>
            <a:off x="731520" y="4041648"/>
            <a:ext cx="5640568" cy="731520"/>
          </a:xfrm>
          <a:prstGeom prst="rect">
            <a:avLst/>
          </a:prstGeom>
          <a:noFill/>
          <a:ln/>
        </p:spPr>
        <p:txBody>
          <a:bodyPr wrap="square" lIns="0" tIns="0" rIns="0" bIns="0" rtlCol="0" anchor="t"/>
          <a:lstStyle/>
          <a:p>
            <a:pPr marL="0" indent="0" algn="l">
              <a:buNone/>
            </a:pPr>
            <a:r>
              <a:rPr lang="en-US" b="1" dirty="0">
                <a:solidFill>
                  <a:srgbClr val="1E7A46"/>
                </a:solidFill>
                <a:latin typeface="Calibri" pitchFamily="34" charset="0"/>
                <a:ea typeface="Calibri" pitchFamily="34" charset="-122"/>
                <a:cs typeface="Calibri" pitchFamily="34" charset="-120"/>
              </a:rPr>
              <a:t>💡  Key point:  </a:t>
            </a:r>
            <a:r>
              <a:rPr lang="en-US" dirty="0">
                <a:solidFill>
                  <a:srgbClr val="223240"/>
                </a:solidFill>
                <a:latin typeface="Calibri" pitchFamily="34" charset="0"/>
                <a:ea typeface="Calibri" pitchFamily="34" charset="-122"/>
                <a:cs typeface="Calibri" pitchFamily="34" charset="-120"/>
              </a:rPr>
              <a:t>because it often grows slowly, early cancer usually causes no symptoms, which is why recognising risk matters.</a:t>
            </a:r>
            <a:endParaRPr lang="en-US" dirty="0"/>
          </a:p>
        </p:txBody>
      </p:sp>
      <p:sp>
        <p:nvSpPr>
          <p:cNvPr id="10" name="Shape 8"/>
          <p:cNvSpPr/>
          <p:nvPr/>
        </p:nvSpPr>
        <p:spPr>
          <a:xfrm>
            <a:off x="6978884" y="1481328"/>
            <a:ext cx="4643140" cy="4901184"/>
          </a:xfrm>
          <a:prstGeom prst="roundRect">
            <a:avLst>
              <a:gd name="adj" fmla="val 1182"/>
            </a:avLst>
          </a:prstGeom>
          <a:solidFill>
            <a:srgbClr val="F0F4F8"/>
          </a:solidFill>
          <a:ln w="15875">
            <a:solidFill>
              <a:srgbClr val="1A6FB0"/>
            </a:solidFill>
            <a:prstDash val="dash"/>
          </a:ln>
        </p:spPr>
        <p:txBody>
          <a:bodyPr/>
          <a:lstStyle/>
          <a:p>
            <a:endParaRPr lang="es-CO"/>
          </a:p>
        </p:txBody>
      </p:sp>
      <p:sp>
        <p:nvSpPr>
          <p:cNvPr id="11" name="Text 9"/>
          <p:cNvSpPr/>
          <p:nvPr/>
        </p:nvSpPr>
        <p:spPr>
          <a:xfrm>
            <a:off x="7116044" y="1572768"/>
            <a:ext cx="4368820" cy="4718304"/>
          </a:xfrm>
          <a:prstGeom prst="rect">
            <a:avLst/>
          </a:prstGeom>
          <a:noFill/>
          <a:ln/>
        </p:spPr>
        <p:txBody>
          <a:bodyPr wrap="square" lIns="0" tIns="0" rIns="0" bIns="0" rtlCol="0" anchor="ctr"/>
          <a:lstStyle/>
          <a:p>
            <a:pPr marL="0" indent="0" algn="ctr">
              <a:buNone/>
            </a:pPr>
            <a:r>
              <a:rPr lang="en-US" sz="1200" b="1" dirty="0">
                <a:solidFill>
                  <a:srgbClr val="1A6FB0"/>
                </a:solidFill>
                <a:latin typeface="Calibri" pitchFamily="34" charset="0"/>
                <a:ea typeface="Calibri" pitchFamily="34" charset="-122"/>
                <a:cs typeface="Calibri" pitchFamily="34" charset="-120"/>
              </a:rPr>
              <a:t>IMAGE
</a:t>
            </a:r>
            <a:r>
              <a:rPr lang="en-US" sz="1050" i="1" dirty="0">
                <a:solidFill>
                  <a:srgbClr val="6B7A88"/>
                </a:solidFill>
                <a:latin typeface="Calibri" pitchFamily="34" charset="0"/>
                <a:ea typeface="Calibri" pitchFamily="34" charset="-122"/>
                <a:cs typeface="Calibri" pitchFamily="34" charset="-120"/>
              </a:rPr>
              <a:t>Simple side-view illustration: bladder, prostate gland surrounding the urethra, rectum behind. Clear labels, no graphic detail.</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ANATOMY</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Why the prostate causes these symptoms</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1.5</a:t>
            </a:r>
            <a:endParaRPr lang="en-US" sz="900" dirty="0"/>
          </a:p>
        </p:txBody>
      </p:sp>
      <p:sp>
        <p:nvSpPr>
          <p:cNvPr id="6" name="Text 4"/>
          <p:cNvSpPr/>
          <p:nvPr/>
        </p:nvSpPr>
        <p:spPr>
          <a:xfrm>
            <a:off x="566928" y="1481328"/>
            <a:ext cx="11055096" cy="310896"/>
          </a:xfrm>
          <a:prstGeom prst="rect">
            <a:avLst/>
          </a:prstGeom>
          <a:noFill/>
          <a:ln/>
        </p:spPr>
        <p:txBody>
          <a:bodyPr wrap="square" lIns="0" tIns="0" rIns="0" bIns="0" rtlCol="0" anchor="t"/>
          <a:lstStyle/>
          <a:p>
            <a:pPr marL="0" indent="0">
              <a:buNone/>
            </a:pPr>
            <a:r>
              <a:rPr lang="en-US" sz="1300" i="1" dirty="0">
                <a:solidFill>
                  <a:srgbClr val="1A6FB0"/>
                </a:solidFill>
                <a:latin typeface="Calibri" pitchFamily="34" charset="0"/>
                <a:ea typeface="Calibri" pitchFamily="34" charset="-122"/>
                <a:cs typeface="Calibri" pitchFamily="34" charset="-120"/>
              </a:rPr>
              <a:t>Select each labelled part to see why it matters.</a:t>
            </a:r>
            <a:endParaRPr lang="en-US" sz="1300" dirty="0"/>
          </a:p>
        </p:txBody>
      </p:sp>
      <p:sp>
        <p:nvSpPr>
          <p:cNvPr id="7" name="Shape 5"/>
          <p:cNvSpPr/>
          <p:nvPr/>
        </p:nvSpPr>
        <p:spPr>
          <a:xfrm>
            <a:off x="566928" y="1938528"/>
            <a:ext cx="4643140" cy="4443984"/>
          </a:xfrm>
          <a:prstGeom prst="roundRect">
            <a:avLst>
              <a:gd name="adj" fmla="val 1235"/>
            </a:avLst>
          </a:prstGeom>
          <a:solidFill>
            <a:srgbClr val="F0F4F8"/>
          </a:solidFill>
          <a:ln w="15875">
            <a:solidFill>
              <a:srgbClr val="1A6FB0"/>
            </a:solidFill>
            <a:prstDash val="dash"/>
          </a:ln>
        </p:spPr>
        <p:txBody>
          <a:bodyPr/>
          <a:lstStyle/>
          <a:p>
            <a:endParaRPr lang="es-CO"/>
          </a:p>
        </p:txBody>
      </p:sp>
      <p:sp>
        <p:nvSpPr>
          <p:cNvPr id="8" name="Text 6"/>
          <p:cNvSpPr/>
          <p:nvPr/>
        </p:nvSpPr>
        <p:spPr>
          <a:xfrm>
            <a:off x="704088" y="2029968"/>
            <a:ext cx="4368820" cy="4261104"/>
          </a:xfrm>
          <a:prstGeom prst="rect">
            <a:avLst/>
          </a:prstGeom>
          <a:noFill/>
          <a:ln/>
        </p:spPr>
        <p:txBody>
          <a:bodyPr wrap="square" lIns="0" tIns="0" rIns="0" bIns="0" rtlCol="0" anchor="ctr"/>
          <a:lstStyle/>
          <a:p>
            <a:pPr marL="0" indent="0" algn="ctr">
              <a:buNone/>
            </a:pPr>
            <a:r>
              <a:rPr lang="en-US" sz="1200" b="1" dirty="0">
                <a:solidFill>
                  <a:srgbClr val="1A6FB0"/>
                </a:solidFill>
                <a:latin typeface="Calibri" pitchFamily="34" charset="0"/>
                <a:ea typeface="Calibri" pitchFamily="34" charset="-122"/>
                <a:cs typeface="Calibri" pitchFamily="34" charset="-120"/>
              </a:rPr>
              <a:t>IMAGE
</a:t>
            </a:r>
            <a:r>
              <a:rPr lang="en-US" sz="1050" i="1" dirty="0">
                <a:solidFill>
                  <a:srgbClr val="6B7A88"/>
                </a:solidFill>
                <a:latin typeface="Calibri" pitchFamily="34" charset="0"/>
                <a:ea typeface="Calibri" pitchFamily="34" charset="-122"/>
                <a:cs typeface="Calibri" pitchFamily="34" charset="-120"/>
              </a:rPr>
              <a:t>Labelled anatomy: bladder above, prostate wrapped around the urethra, rectum behind (felt during DRE).</a:t>
            </a:r>
            <a:endParaRPr lang="en-US" sz="1200" dirty="0"/>
          </a:p>
        </p:txBody>
      </p:sp>
      <p:sp>
        <p:nvSpPr>
          <p:cNvPr id="9" name="Shape 7"/>
          <p:cNvSpPr/>
          <p:nvPr/>
        </p:nvSpPr>
        <p:spPr>
          <a:xfrm>
            <a:off x="5652272" y="1938528"/>
            <a:ext cx="5969752" cy="1335024"/>
          </a:xfrm>
          <a:prstGeom prst="roundRect">
            <a:avLst>
              <a:gd name="adj" fmla="val 547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0" name="Shape 8"/>
          <p:cNvSpPr/>
          <p:nvPr/>
        </p:nvSpPr>
        <p:spPr>
          <a:xfrm>
            <a:off x="5853440" y="2121408"/>
            <a:ext cx="146304" cy="146304"/>
          </a:xfrm>
          <a:prstGeom prst="ellipse">
            <a:avLst/>
          </a:prstGeom>
          <a:solidFill>
            <a:srgbClr val="1A6FB0"/>
          </a:solidFill>
          <a:ln w="12700">
            <a:solidFill>
              <a:srgbClr val="1A6FB0"/>
            </a:solidFill>
            <a:prstDash val="solid"/>
          </a:ln>
        </p:spPr>
        <p:txBody>
          <a:bodyPr/>
          <a:lstStyle/>
          <a:p>
            <a:endParaRPr lang="es-CO"/>
          </a:p>
        </p:txBody>
      </p:sp>
      <p:sp>
        <p:nvSpPr>
          <p:cNvPr id="11" name="Text 9"/>
          <p:cNvSpPr/>
          <p:nvPr/>
        </p:nvSpPr>
        <p:spPr>
          <a:xfrm>
            <a:off x="6091184" y="2029968"/>
            <a:ext cx="5366248" cy="329184"/>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Prostate around the urine tube</a:t>
            </a:r>
            <a:endParaRPr lang="en-US" dirty="0"/>
          </a:p>
        </p:txBody>
      </p:sp>
      <p:sp>
        <p:nvSpPr>
          <p:cNvPr id="12" name="Text 10"/>
          <p:cNvSpPr/>
          <p:nvPr/>
        </p:nvSpPr>
        <p:spPr>
          <a:xfrm>
            <a:off x="5853440" y="2395728"/>
            <a:ext cx="5603992" cy="7863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When the gland enlarges it squeezes the flow, weak stream, trouble starting, dribbling.</a:t>
            </a:r>
            <a:endParaRPr lang="en-US" dirty="0"/>
          </a:p>
        </p:txBody>
      </p:sp>
      <p:sp>
        <p:nvSpPr>
          <p:cNvPr id="13" name="Shape 11"/>
          <p:cNvSpPr/>
          <p:nvPr/>
        </p:nvSpPr>
        <p:spPr>
          <a:xfrm>
            <a:off x="5652272" y="3493008"/>
            <a:ext cx="5969752" cy="1335024"/>
          </a:xfrm>
          <a:prstGeom prst="roundRect">
            <a:avLst>
              <a:gd name="adj" fmla="val 547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4" name="Shape 12"/>
          <p:cNvSpPr/>
          <p:nvPr/>
        </p:nvSpPr>
        <p:spPr>
          <a:xfrm>
            <a:off x="5853440" y="3675888"/>
            <a:ext cx="146304" cy="146304"/>
          </a:xfrm>
          <a:prstGeom prst="ellipse">
            <a:avLst/>
          </a:prstGeom>
          <a:solidFill>
            <a:srgbClr val="1A6FB0"/>
          </a:solidFill>
          <a:ln w="12700">
            <a:solidFill>
              <a:srgbClr val="1A6FB0"/>
            </a:solidFill>
            <a:prstDash val="solid"/>
          </a:ln>
        </p:spPr>
        <p:txBody>
          <a:bodyPr/>
          <a:lstStyle/>
          <a:p>
            <a:endParaRPr lang="es-CO"/>
          </a:p>
        </p:txBody>
      </p:sp>
      <p:sp>
        <p:nvSpPr>
          <p:cNvPr id="15" name="Text 13"/>
          <p:cNvSpPr/>
          <p:nvPr/>
        </p:nvSpPr>
        <p:spPr>
          <a:xfrm>
            <a:off x="6091184" y="3584448"/>
            <a:ext cx="5366248" cy="329184"/>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Close to the bladder</a:t>
            </a:r>
            <a:endParaRPr lang="en-US" dirty="0"/>
          </a:p>
        </p:txBody>
      </p:sp>
      <p:sp>
        <p:nvSpPr>
          <p:cNvPr id="16" name="Text 14"/>
          <p:cNvSpPr/>
          <p:nvPr/>
        </p:nvSpPr>
        <p:spPr>
          <a:xfrm>
            <a:off x="5853440" y="3950208"/>
            <a:ext cx="5603992" cy="7863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Irritation causes frequent and night-time urination and a feeling the bladder is not empty.</a:t>
            </a:r>
            <a:endParaRPr lang="en-US" dirty="0"/>
          </a:p>
        </p:txBody>
      </p:sp>
      <p:sp>
        <p:nvSpPr>
          <p:cNvPr id="17" name="Shape 15"/>
          <p:cNvSpPr/>
          <p:nvPr/>
        </p:nvSpPr>
        <p:spPr>
          <a:xfrm>
            <a:off x="5652272" y="5047488"/>
            <a:ext cx="5969752" cy="1335024"/>
          </a:xfrm>
          <a:prstGeom prst="roundRect">
            <a:avLst>
              <a:gd name="adj" fmla="val 547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8" name="Shape 16"/>
          <p:cNvSpPr/>
          <p:nvPr/>
        </p:nvSpPr>
        <p:spPr>
          <a:xfrm>
            <a:off x="5853440" y="5230368"/>
            <a:ext cx="146304" cy="146304"/>
          </a:xfrm>
          <a:prstGeom prst="ellipse">
            <a:avLst/>
          </a:prstGeom>
          <a:solidFill>
            <a:srgbClr val="1A6FB0"/>
          </a:solidFill>
          <a:ln w="12700">
            <a:solidFill>
              <a:srgbClr val="1A6FB0"/>
            </a:solidFill>
            <a:prstDash val="solid"/>
          </a:ln>
        </p:spPr>
        <p:txBody>
          <a:bodyPr/>
          <a:lstStyle/>
          <a:p>
            <a:endParaRPr lang="es-CO"/>
          </a:p>
        </p:txBody>
      </p:sp>
      <p:sp>
        <p:nvSpPr>
          <p:cNvPr id="19" name="Text 17"/>
          <p:cNvSpPr/>
          <p:nvPr/>
        </p:nvSpPr>
        <p:spPr>
          <a:xfrm>
            <a:off x="6091184" y="5138928"/>
            <a:ext cx="5366248" cy="329184"/>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Felt through the rectum</a:t>
            </a:r>
            <a:endParaRPr lang="en-US" dirty="0"/>
          </a:p>
        </p:txBody>
      </p:sp>
      <p:sp>
        <p:nvSpPr>
          <p:cNvPr id="20" name="Text 18"/>
          <p:cNvSpPr/>
          <p:nvPr/>
        </p:nvSpPr>
        <p:spPr>
          <a:xfrm>
            <a:off x="5853440" y="5504688"/>
            <a:ext cx="5603992" cy="7863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The back of the gland can be felt on a digital rectal exam (DRE), hard or lumpy areas raise concern.</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HOW IT GROWS</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drives prostate cancer</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1.6</a:t>
            </a:r>
            <a:endParaRPr lang="en-US" sz="900" dirty="0"/>
          </a:p>
        </p:txBody>
      </p:sp>
      <p:sp>
        <p:nvSpPr>
          <p:cNvPr id="6" name="Text 4"/>
          <p:cNvSpPr/>
          <p:nvPr/>
        </p:nvSpPr>
        <p:spPr>
          <a:xfrm>
            <a:off x="566928" y="1481328"/>
            <a:ext cx="11055096" cy="91440"/>
          </a:xfrm>
          <a:prstGeom prst="rect">
            <a:avLst/>
          </a:prstGeom>
          <a:noFill/>
          <a:ln/>
        </p:spPr>
        <p:txBody>
          <a:bodyPr wrap="square" lIns="0" tIns="0" rIns="0" bIns="0" rtlCol="0" anchor="t"/>
          <a:lstStyle/>
          <a:p>
            <a:pPr marL="0" indent="0" algn="l">
              <a:buNone/>
            </a:pPr>
            <a:r>
              <a:rPr lang="en-US" dirty="0">
                <a:solidFill>
                  <a:srgbClr val="223240"/>
                </a:solidFill>
                <a:latin typeface="Calibri" pitchFamily="34" charset="0"/>
                <a:ea typeface="Calibri" pitchFamily="34" charset="-122"/>
                <a:cs typeface="Calibri" pitchFamily="34" charset="-120"/>
              </a:rPr>
              <a:t>Prostate cells are fed by </a:t>
            </a:r>
            <a:r>
              <a:rPr lang="en-US" b="1" dirty="0">
                <a:solidFill>
                  <a:srgbClr val="223240"/>
                </a:solidFill>
                <a:latin typeface="Calibri" pitchFamily="34" charset="0"/>
                <a:ea typeface="Calibri" pitchFamily="34" charset="-122"/>
                <a:cs typeface="Calibri" pitchFamily="34" charset="-120"/>
              </a:rPr>
              <a:t>male hormones (androgens, mainly testosterone)</a:t>
            </a:r>
            <a:r>
              <a:rPr lang="en-US" dirty="0">
                <a:solidFill>
                  <a:srgbClr val="223240"/>
                </a:solidFill>
                <a:latin typeface="Calibri" pitchFamily="34" charset="0"/>
                <a:ea typeface="Calibri" pitchFamily="34" charset="-122"/>
                <a:cs typeface="Calibri" pitchFamily="34" charset="-120"/>
              </a:rPr>
              <a:t>. Prostate cancer usually depends on these hormones to grow.</a:t>
            </a:r>
            <a:endParaRPr lang="en-US" dirty="0"/>
          </a:p>
        </p:txBody>
      </p:sp>
      <p:sp>
        <p:nvSpPr>
          <p:cNvPr id="7" name="Shape 5"/>
          <p:cNvSpPr/>
          <p:nvPr/>
        </p:nvSpPr>
        <p:spPr>
          <a:xfrm>
            <a:off x="566928" y="2395728"/>
            <a:ext cx="11055096" cy="1005840"/>
          </a:xfrm>
          <a:prstGeom prst="roundRect">
            <a:avLst>
              <a:gd name="adj" fmla="val 5455"/>
            </a:avLst>
          </a:prstGeom>
          <a:solidFill>
            <a:srgbClr val="E7F4EC"/>
          </a:solidFill>
          <a:ln w="12700">
            <a:solidFill>
              <a:srgbClr val="E7F4EC"/>
            </a:solidFill>
            <a:prstDash val="solid"/>
          </a:ln>
        </p:spPr>
        <p:txBody>
          <a:bodyPr/>
          <a:lstStyle/>
          <a:p>
            <a:endParaRPr lang="es-CO"/>
          </a:p>
        </p:txBody>
      </p:sp>
      <p:sp>
        <p:nvSpPr>
          <p:cNvPr id="8" name="Text 6"/>
          <p:cNvSpPr/>
          <p:nvPr/>
        </p:nvSpPr>
        <p:spPr>
          <a:xfrm>
            <a:off x="731520" y="2487168"/>
            <a:ext cx="10725912" cy="822960"/>
          </a:xfrm>
          <a:prstGeom prst="rect">
            <a:avLst/>
          </a:prstGeom>
          <a:noFill/>
          <a:ln/>
        </p:spPr>
        <p:txBody>
          <a:bodyPr wrap="square" lIns="0" tIns="0" rIns="0" bIns="0" rtlCol="0" anchor="t"/>
          <a:lstStyle/>
          <a:p>
            <a:pPr marL="0" indent="0" algn="l">
              <a:buNone/>
            </a:pPr>
            <a:r>
              <a:rPr lang="en-US" b="1" dirty="0">
                <a:solidFill>
                  <a:srgbClr val="1E7A46"/>
                </a:solidFill>
                <a:latin typeface="Calibri" pitchFamily="34" charset="0"/>
                <a:ea typeface="Calibri" pitchFamily="34" charset="-122"/>
                <a:cs typeface="Calibri" pitchFamily="34" charset="-120"/>
              </a:rPr>
              <a:t>💡  Why this matters:  </a:t>
            </a:r>
            <a:r>
              <a:rPr lang="en-US" dirty="0">
                <a:solidFill>
                  <a:srgbClr val="223240"/>
                </a:solidFill>
                <a:latin typeface="Calibri" pitchFamily="34" charset="0"/>
                <a:ea typeface="Calibri" pitchFamily="34" charset="-122"/>
                <a:cs typeface="Calibri" pitchFamily="34" charset="-120"/>
              </a:rPr>
              <a:t>if male hormones drive the cancer, then lowering them slows it. This is exactly how hormone therapy works, a central treatment, especially once the cancer has spread. Remember this for Session 4.</a:t>
            </a:r>
            <a:endParaRPr lang="en-US" dirty="0"/>
          </a:p>
        </p:txBody>
      </p:sp>
      <p:sp>
        <p:nvSpPr>
          <p:cNvPr id="9" name="Shape 7"/>
          <p:cNvSpPr/>
          <p:nvPr/>
        </p:nvSpPr>
        <p:spPr>
          <a:xfrm>
            <a:off x="566928" y="3630168"/>
            <a:ext cx="3502152" cy="2752344"/>
          </a:xfrm>
          <a:prstGeom prst="roundRect">
            <a:avLst>
              <a:gd name="adj" fmla="val 2658"/>
            </a:avLst>
          </a:prstGeom>
          <a:solidFill>
            <a:srgbClr val="FFFFFF"/>
          </a:solidFill>
          <a:ln w="19050">
            <a:solidFill>
              <a:srgbClr val="1E7A46"/>
            </a:solidFill>
            <a:prstDash val="solid"/>
          </a:ln>
          <a:effectLst>
            <a:outerShdw blurRad="50800" dist="25400" dir="5400000" algn="bl" rotWithShape="0">
              <a:srgbClr val="BFCEDD">
                <a:alpha val="50000"/>
              </a:srgbClr>
            </a:outerShdw>
          </a:effectLst>
        </p:spPr>
        <p:txBody>
          <a:bodyPr/>
          <a:lstStyle/>
          <a:p>
            <a:endParaRPr lang="es-CO"/>
          </a:p>
        </p:txBody>
      </p:sp>
      <p:sp>
        <p:nvSpPr>
          <p:cNvPr id="10" name="Shape 8"/>
          <p:cNvSpPr/>
          <p:nvPr/>
        </p:nvSpPr>
        <p:spPr>
          <a:xfrm>
            <a:off x="786384" y="3849624"/>
            <a:ext cx="164592" cy="164592"/>
          </a:xfrm>
          <a:prstGeom prst="ellipse">
            <a:avLst/>
          </a:prstGeom>
          <a:solidFill>
            <a:srgbClr val="1E7A46"/>
          </a:solidFill>
          <a:ln w="12700">
            <a:solidFill>
              <a:srgbClr val="1E7A46"/>
            </a:solidFill>
            <a:prstDash val="solid"/>
          </a:ln>
        </p:spPr>
        <p:txBody>
          <a:bodyPr/>
          <a:lstStyle/>
          <a:p>
            <a:endParaRPr lang="es-CO"/>
          </a:p>
        </p:txBody>
      </p:sp>
      <p:sp>
        <p:nvSpPr>
          <p:cNvPr id="11" name="Text 9"/>
          <p:cNvSpPr/>
          <p:nvPr/>
        </p:nvSpPr>
        <p:spPr>
          <a:xfrm>
            <a:off x="1060704" y="3758184"/>
            <a:ext cx="2843784" cy="36576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Hormone-driven</a:t>
            </a:r>
            <a:endParaRPr lang="en-US" dirty="0"/>
          </a:p>
        </p:txBody>
      </p:sp>
      <p:sp>
        <p:nvSpPr>
          <p:cNvPr id="12" name="Text 10"/>
          <p:cNvSpPr/>
          <p:nvPr/>
        </p:nvSpPr>
        <p:spPr>
          <a:xfrm>
            <a:off x="786384" y="4178808"/>
            <a:ext cx="3099816" cy="209397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Male hormones fuel growth, so removing or blocking them is a key treatment.</a:t>
            </a:r>
            <a:endParaRPr lang="en-US" dirty="0"/>
          </a:p>
        </p:txBody>
      </p:sp>
      <p:sp>
        <p:nvSpPr>
          <p:cNvPr id="13" name="Shape 11"/>
          <p:cNvSpPr/>
          <p:nvPr/>
        </p:nvSpPr>
        <p:spPr>
          <a:xfrm>
            <a:off x="4343400" y="3630168"/>
            <a:ext cx="3502152" cy="2752344"/>
          </a:xfrm>
          <a:prstGeom prst="roundRect">
            <a:avLst>
              <a:gd name="adj" fmla="val 2658"/>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4" name="Shape 12"/>
          <p:cNvSpPr/>
          <p:nvPr/>
        </p:nvSpPr>
        <p:spPr>
          <a:xfrm>
            <a:off x="4562856" y="3849624"/>
            <a:ext cx="164592" cy="164592"/>
          </a:xfrm>
          <a:prstGeom prst="ellipse">
            <a:avLst/>
          </a:prstGeom>
          <a:solidFill>
            <a:srgbClr val="1A6FB0"/>
          </a:solidFill>
          <a:ln w="12700">
            <a:solidFill>
              <a:srgbClr val="1A6FB0"/>
            </a:solidFill>
            <a:prstDash val="solid"/>
          </a:ln>
        </p:spPr>
        <p:txBody>
          <a:bodyPr/>
          <a:lstStyle/>
          <a:p>
            <a:endParaRPr lang="es-CO"/>
          </a:p>
        </p:txBody>
      </p:sp>
      <p:sp>
        <p:nvSpPr>
          <p:cNvPr id="15" name="Text 13"/>
          <p:cNvSpPr/>
          <p:nvPr/>
        </p:nvSpPr>
        <p:spPr>
          <a:xfrm>
            <a:off x="4837176" y="3758184"/>
            <a:ext cx="2843784"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Often slow</a:t>
            </a:r>
            <a:endParaRPr lang="en-US" dirty="0"/>
          </a:p>
        </p:txBody>
      </p:sp>
      <p:sp>
        <p:nvSpPr>
          <p:cNvPr id="16" name="Text 14"/>
          <p:cNvSpPr/>
          <p:nvPr/>
        </p:nvSpPr>
        <p:spPr>
          <a:xfrm>
            <a:off x="4562856" y="4178808"/>
            <a:ext cx="3099816" cy="209397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Many prostate cancers grow over years, allowing time to detect and treat.</a:t>
            </a:r>
            <a:endParaRPr lang="en-US" dirty="0"/>
          </a:p>
        </p:txBody>
      </p:sp>
      <p:sp>
        <p:nvSpPr>
          <p:cNvPr id="17" name="Shape 15"/>
          <p:cNvSpPr/>
          <p:nvPr/>
        </p:nvSpPr>
        <p:spPr>
          <a:xfrm>
            <a:off x="8119872" y="3630168"/>
            <a:ext cx="3502152" cy="2752344"/>
          </a:xfrm>
          <a:prstGeom prst="roundRect">
            <a:avLst>
              <a:gd name="adj" fmla="val 2658"/>
            </a:avLst>
          </a:prstGeom>
          <a:solidFill>
            <a:srgbClr val="FFFFFF"/>
          </a:solidFill>
          <a:ln w="19050">
            <a:solidFill>
              <a:srgbClr val="B26A00"/>
            </a:solidFill>
            <a:prstDash val="solid"/>
          </a:ln>
          <a:effectLst>
            <a:outerShdw blurRad="50800" dist="25400" dir="5400000" algn="bl" rotWithShape="0">
              <a:srgbClr val="BFCEDD">
                <a:alpha val="50000"/>
              </a:srgbClr>
            </a:outerShdw>
          </a:effectLst>
        </p:spPr>
        <p:txBody>
          <a:bodyPr/>
          <a:lstStyle/>
          <a:p>
            <a:endParaRPr lang="es-CO"/>
          </a:p>
        </p:txBody>
      </p:sp>
      <p:sp>
        <p:nvSpPr>
          <p:cNvPr id="18" name="Shape 16"/>
          <p:cNvSpPr/>
          <p:nvPr/>
        </p:nvSpPr>
        <p:spPr>
          <a:xfrm>
            <a:off x="8339328" y="3849624"/>
            <a:ext cx="164592" cy="164592"/>
          </a:xfrm>
          <a:prstGeom prst="ellipse">
            <a:avLst/>
          </a:prstGeom>
          <a:solidFill>
            <a:srgbClr val="B26A00"/>
          </a:solidFill>
          <a:ln w="12700">
            <a:solidFill>
              <a:srgbClr val="B26A00"/>
            </a:solidFill>
            <a:prstDash val="solid"/>
          </a:ln>
        </p:spPr>
        <p:txBody>
          <a:bodyPr/>
          <a:lstStyle/>
          <a:p>
            <a:endParaRPr lang="es-CO"/>
          </a:p>
        </p:txBody>
      </p:sp>
      <p:sp>
        <p:nvSpPr>
          <p:cNvPr id="19" name="Text 17"/>
          <p:cNvSpPr/>
          <p:nvPr/>
        </p:nvSpPr>
        <p:spPr>
          <a:xfrm>
            <a:off x="8613648" y="3758184"/>
            <a:ext cx="2843784" cy="36576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Can spread to bone</a:t>
            </a:r>
            <a:endParaRPr lang="en-US" dirty="0"/>
          </a:p>
        </p:txBody>
      </p:sp>
      <p:sp>
        <p:nvSpPr>
          <p:cNvPr id="20" name="Text 18"/>
          <p:cNvSpPr/>
          <p:nvPr/>
        </p:nvSpPr>
        <p:spPr>
          <a:xfrm>
            <a:off x="8339328" y="4178808"/>
            <a:ext cx="3099816" cy="209397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When advanced, it commonly spreads to bones, causing pain and fracture risk.</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INTERPRET</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Check your understanding</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1.7</a:t>
            </a:r>
            <a:endParaRPr lang="en-US" sz="900" dirty="0"/>
          </a:p>
        </p:txBody>
      </p:sp>
      <p:sp>
        <p:nvSpPr>
          <p:cNvPr id="6" name="Text 4"/>
          <p:cNvSpPr/>
          <p:nvPr/>
        </p:nvSpPr>
        <p:spPr>
          <a:xfrm>
            <a:off x="566928" y="1481328"/>
            <a:ext cx="11055096" cy="54864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A colleague asks why hormone therapy is used for prostate cancer. Your best explanation:</a:t>
            </a:r>
            <a:endParaRPr lang="en-US" dirty="0"/>
          </a:p>
        </p:txBody>
      </p:sp>
      <p:sp>
        <p:nvSpPr>
          <p:cNvPr id="7" name="Shape 5"/>
          <p:cNvSpPr/>
          <p:nvPr/>
        </p:nvSpPr>
        <p:spPr>
          <a:xfrm>
            <a:off x="566928" y="2011680"/>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76656" y="2093976"/>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76656" y="2093976"/>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A</a:t>
            </a:r>
            <a:endParaRPr lang="en-US" dirty="0"/>
          </a:p>
        </p:txBody>
      </p:sp>
      <p:sp>
        <p:nvSpPr>
          <p:cNvPr id="10" name="Text 8"/>
          <p:cNvSpPr/>
          <p:nvPr/>
        </p:nvSpPr>
        <p:spPr>
          <a:xfrm>
            <a:off x="1097280" y="2011680"/>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It adds male hormones to strengthen the patient</a:t>
            </a:r>
            <a:endParaRPr lang="en-US" dirty="0"/>
          </a:p>
        </p:txBody>
      </p:sp>
      <p:sp>
        <p:nvSpPr>
          <p:cNvPr id="11" name="Shape 9"/>
          <p:cNvSpPr/>
          <p:nvPr/>
        </p:nvSpPr>
        <p:spPr>
          <a:xfrm>
            <a:off x="566928" y="2596896"/>
            <a:ext cx="11055096" cy="457200"/>
          </a:xfrm>
          <a:prstGeom prst="roundRect">
            <a:avLst>
              <a:gd name="adj" fmla="val 10000"/>
            </a:avLst>
          </a:prstGeom>
          <a:solidFill>
            <a:srgbClr val="E7F4EC"/>
          </a:solidFill>
          <a:ln w="19050">
            <a:solidFill>
              <a:srgbClr val="1E7A46"/>
            </a:solidFill>
            <a:prstDash val="solid"/>
          </a:ln>
        </p:spPr>
        <p:txBody>
          <a:bodyPr/>
          <a:lstStyle/>
          <a:p>
            <a:endParaRPr lang="es-CO"/>
          </a:p>
        </p:txBody>
      </p:sp>
      <p:sp>
        <p:nvSpPr>
          <p:cNvPr id="12" name="Shape 10"/>
          <p:cNvSpPr/>
          <p:nvPr/>
        </p:nvSpPr>
        <p:spPr>
          <a:xfrm>
            <a:off x="676656" y="2679192"/>
            <a:ext cx="292608" cy="292608"/>
          </a:xfrm>
          <a:prstGeom prst="ellipse">
            <a:avLst/>
          </a:prstGeom>
          <a:solidFill>
            <a:srgbClr val="1E7A46"/>
          </a:solidFill>
          <a:ln w="12700">
            <a:solidFill>
              <a:srgbClr val="1E7A46"/>
            </a:solidFill>
            <a:prstDash val="solid"/>
          </a:ln>
        </p:spPr>
        <p:txBody>
          <a:bodyPr/>
          <a:lstStyle/>
          <a:p>
            <a:endParaRPr lang="es-CO"/>
          </a:p>
        </p:txBody>
      </p:sp>
      <p:sp>
        <p:nvSpPr>
          <p:cNvPr id="13" name="Text 11"/>
          <p:cNvSpPr/>
          <p:nvPr/>
        </p:nvSpPr>
        <p:spPr>
          <a:xfrm>
            <a:off x="676656" y="2679192"/>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B</a:t>
            </a:r>
            <a:endParaRPr lang="en-US" dirty="0"/>
          </a:p>
        </p:txBody>
      </p:sp>
      <p:sp>
        <p:nvSpPr>
          <p:cNvPr id="14" name="Text 12"/>
          <p:cNvSpPr/>
          <p:nvPr/>
        </p:nvSpPr>
        <p:spPr>
          <a:xfrm>
            <a:off x="1097280" y="2596896"/>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It lowers the male hormones that the cancer needs to grow, which slows it down</a:t>
            </a:r>
            <a:endParaRPr lang="en-US" dirty="0"/>
          </a:p>
        </p:txBody>
      </p:sp>
      <p:sp>
        <p:nvSpPr>
          <p:cNvPr id="15" name="Shape 13"/>
          <p:cNvSpPr/>
          <p:nvPr/>
        </p:nvSpPr>
        <p:spPr>
          <a:xfrm>
            <a:off x="566928" y="3182112"/>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16" name="Shape 14"/>
          <p:cNvSpPr/>
          <p:nvPr/>
        </p:nvSpPr>
        <p:spPr>
          <a:xfrm>
            <a:off x="676656" y="3264408"/>
            <a:ext cx="292608" cy="292608"/>
          </a:xfrm>
          <a:prstGeom prst="ellipse">
            <a:avLst/>
          </a:prstGeom>
          <a:solidFill>
            <a:srgbClr val="1A6FB0"/>
          </a:solidFill>
          <a:ln w="12700">
            <a:solidFill>
              <a:srgbClr val="1A6FB0"/>
            </a:solidFill>
            <a:prstDash val="solid"/>
          </a:ln>
        </p:spPr>
        <p:txBody>
          <a:bodyPr/>
          <a:lstStyle/>
          <a:p>
            <a:endParaRPr lang="es-CO"/>
          </a:p>
        </p:txBody>
      </p:sp>
      <p:sp>
        <p:nvSpPr>
          <p:cNvPr id="17" name="Text 15"/>
          <p:cNvSpPr/>
          <p:nvPr/>
        </p:nvSpPr>
        <p:spPr>
          <a:xfrm>
            <a:off x="676656" y="3264408"/>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C</a:t>
            </a:r>
            <a:endParaRPr lang="en-US" dirty="0"/>
          </a:p>
        </p:txBody>
      </p:sp>
      <p:sp>
        <p:nvSpPr>
          <p:cNvPr id="18" name="Text 16"/>
          <p:cNvSpPr/>
          <p:nvPr/>
        </p:nvSpPr>
        <p:spPr>
          <a:xfrm>
            <a:off x="1097280" y="3182112"/>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It cures the cancer instantly</a:t>
            </a:r>
            <a:endParaRPr lang="en-US" dirty="0"/>
          </a:p>
        </p:txBody>
      </p:sp>
      <p:sp>
        <p:nvSpPr>
          <p:cNvPr id="19" name="Shape 17"/>
          <p:cNvSpPr/>
          <p:nvPr/>
        </p:nvSpPr>
        <p:spPr>
          <a:xfrm>
            <a:off x="566928" y="3767328"/>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76656" y="3849624"/>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76656" y="3849624"/>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D</a:t>
            </a:r>
            <a:endParaRPr lang="en-US" dirty="0"/>
          </a:p>
        </p:txBody>
      </p:sp>
      <p:sp>
        <p:nvSpPr>
          <p:cNvPr id="22" name="Text 20"/>
          <p:cNvSpPr/>
          <p:nvPr/>
        </p:nvSpPr>
        <p:spPr>
          <a:xfrm>
            <a:off x="1097280" y="3767328"/>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It only treats pain</a:t>
            </a:r>
            <a:endParaRPr lang="en-US" dirty="0"/>
          </a:p>
        </p:txBody>
      </p:sp>
      <p:sp>
        <p:nvSpPr>
          <p:cNvPr id="23" name="Shape 21"/>
          <p:cNvSpPr/>
          <p:nvPr/>
        </p:nvSpPr>
        <p:spPr>
          <a:xfrm>
            <a:off x="566928" y="4407408"/>
            <a:ext cx="11055096" cy="1975104"/>
          </a:xfrm>
          <a:prstGeom prst="roundRect">
            <a:avLst>
              <a:gd name="adj" fmla="val 2315"/>
            </a:avLst>
          </a:prstGeom>
          <a:solidFill>
            <a:srgbClr val="E7F4EC"/>
          </a:solidFill>
          <a:ln w="12700">
            <a:solidFill>
              <a:srgbClr val="BFE3CD"/>
            </a:solidFill>
            <a:prstDash val="solid"/>
          </a:ln>
        </p:spPr>
        <p:txBody>
          <a:bodyPr/>
          <a:lstStyle/>
          <a:p>
            <a:endParaRPr lang="es-CO"/>
          </a:p>
        </p:txBody>
      </p:sp>
      <p:sp>
        <p:nvSpPr>
          <p:cNvPr id="24" name="Text 22"/>
          <p:cNvSpPr/>
          <p:nvPr/>
        </p:nvSpPr>
        <p:spPr>
          <a:xfrm>
            <a:off x="749808" y="4498848"/>
            <a:ext cx="10689336" cy="1792224"/>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Prostate cancer is hormone-driven. Lowering male hormones removes the fuel and slows the cancer, most useful when it has spread.</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EPIDEMIOLOGY</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Prostate cancer in Rwanda</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1.8</a:t>
            </a:r>
            <a:endParaRPr lang="en-US" sz="900" dirty="0"/>
          </a:p>
        </p:txBody>
      </p:sp>
      <p:sp>
        <p:nvSpPr>
          <p:cNvPr id="6" name="Text 4"/>
          <p:cNvSpPr/>
          <p:nvPr/>
        </p:nvSpPr>
        <p:spPr>
          <a:xfrm>
            <a:off x="566928" y="1481328"/>
            <a:ext cx="11055096" cy="310896"/>
          </a:xfrm>
          <a:prstGeom prst="rect">
            <a:avLst/>
          </a:prstGeom>
          <a:noFill/>
          <a:ln/>
        </p:spPr>
        <p:txBody>
          <a:bodyPr wrap="square" lIns="0" tIns="0" rIns="0" bIns="0" rtlCol="0" anchor="t"/>
          <a:lstStyle/>
          <a:p>
            <a:pPr marL="0" indent="0">
              <a:buNone/>
            </a:pPr>
            <a:r>
              <a:rPr lang="en-US" sz="1300" i="1" dirty="0">
                <a:solidFill>
                  <a:srgbClr val="1A6FB0"/>
                </a:solidFill>
                <a:latin typeface="Calibri" pitchFamily="34" charset="0"/>
                <a:ea typeface="Calibri" pitchFamily="34" charset="-122"/>
                <a:cs typeface="Calibri" pitchFamily="34" charset="-120"/>
              </a:rPr>
              <a:t>The picture that shapes your practice.</a:t>
            </a:r>
            <a:endParaRPr lang="en-US" sz="1300" dirty="0"/>
          </a:p>
        </p:txBody>
      </p:sp>
      <p:sp>
        <p:nvSpPr>
          <p:cNvPr id="7" name="Shape 5"/>
          <p:cNvSpPr/>
          <p:nvPr/>
        </p:nvSpPr>
        <p:spPr>
          <a:xfrm>
            <a:off x="566928" y="1938528"/>
            <a:ext cx="3502152" cy="1737360"/>
          </a:xfrm>
          <a:prstGeom prst="roundRect">
            <a:avLst>
              <a:gd name="adj" fmla="val 4211"/>
            </a:avLst>
          </a:prstGeom>
          <a:solidFill>
            <a:srgbClr val="EAF1F8"/>
          </a:solidFill>
          <a:ln w="15875">
            <a:solidFill>
              <a:srgbClr val="D9E6F2"/>
            </a:solidFill>
            <a:prstDash val="solid"/>
          </a:ln>
        </p:spPr>
        <p:txBody>
          <a:bodyPr/>
          <a:lstStyle/>
          <a:p>
            <a:endParaRPr lang="es-CO"/>
          </a:p>
        </p:txBody>
      </p:sp>
      <p:sp>
        <p:nvSpPr>
          <p:cNvPr id="8" name="Text 6"/>
          <p:cNvSpPr/>
          <p:nvPr/>
        </p:nvSpPr>
        <p:spPr>
          <a:xfrm>
            <a:off x="566928" y="2048256"/>
            <a:ext cx="3502152" cy="731520"/>
          </a:xfrm>
          <a:prstGeom prst="rect">
            <a:avLst/>
          </a:prstGeom>
          <a:noFill/>
          <a:ln/>
        </p:spPr>
        <p:txBody>
          <a:bodyPr wrap="square" lIns="0" tIns="0" rIns="0" bIns="0" rtlCol="0" anchor="ctr"/>
          <a:lstStyle/>
          <a:p>
            <a:pPr marL="0" indent="0" algn="ctr">
              <a:buNone/>
            </a:pPr>
            <a:r>
              <a:rPr lang="en-US" sz="4000" b="1" dirty="0">
                <a:solidFill>
                  <a:srgbClr val="1A6FB0"/>
                </a:solidFill>
                <a:latin typeface="Cambria" pitchFamily="34" charset="0"/>
                <a:ea typeface="Cambria" pitchFamily="34" charset="-122"/>
                <a:cs typeface="Cambria" pitchFamily="34" charset="-120"/>
              </a:rPr>
              <a:t>#1</a:t>
            </a:r>
            <a:endParaRPr lang="en-US" sz="4000" dirty="0"/>
          </a:p>
        </p:txBody>
      </p:sp>
      <p:sp>
        <p:nvSpPr>
          <p:cNvPr id="9" name="Text 7"/>
          <p:cNvSpPr/>
          <p:nvPr/>
        </p:nvSpPr>
        <p:spPr>
          <a:xfrm>
            <a:off x="749808" y="2807208"/>
            <a:ext cx="3136392" cy="822960"/>
          </a:xfrm>
          <a:prstGeom prst="rect">
            <a:avLst/>
          </a:prstGeom>
          <a:noFill/>
          <a:ln/>
        </p:spPr>
        <p:txBody>
          <a:bodyPr wrap="square" lIns="0" tIns="0" rIns="0" bIns="0" rtlCol="0" anchor="t"/>
          <a:lstStyle/>
          <a:p>
            <a:pPr marL="0" indent="0" algn="ctr">
              <a:buNone/>
            </a:pPr>
            <a:r>
              <a:rPr lang="en-US" dirty="0">
                <a:solidFill>
                  <a:srgbClr val="223240"/>
                </a:solidFill>
                <a:latin typeface="Calibri" pitchFamily="34" charset="0"/>
                <a:ea typeface="Calibri" pitchFamily="34" charset="-122"/>
                <a:cs typeface="Calibri" pitchFamily="34" charset="-120"/>
              </a:rPr>
              <a:t>Most common cancer in men in Rwanda</a:t>
            </a:r>
            <a:endParaRPr lang="en-US" dirty="0"/>
          </a:p>
        </p:txBody>
      </p:sp>
      <p:sp>
        <p:nvSpPr>
          <p:cNvPr id="10" name="Shape 8"/>
          <p:cNvSpPr/>
          <p:nvPr/>
        </p:nvSpPr>
        <p:spPr>
          <a:xfrm>
            <a:off x="4343400" y="1938528"/>
            <a:ext cx="3502152" cy="1737360"/>
          </a:xfrm>
          <a:prstGeom prst="roundRect">
            <a:avLst>
              <a:gd name="adj" fmla="val 4211"/>
            </a:avLst>
          </a:prstGeom>
          <a:solidFill>
            <a:srgbClr val="EAF1F8"/>
          </a:solidFill>
          <a:ln w="15875">
            <a:solidFill>
              <a:srgbClr val="D9E6F2"/>
            </a:solidFill>
            <a:prstDash val="solid"/>
          </a:ln>
        </p:spPr>
        <p:txBody>
          <a:bodyPr/>
          <a:lstStyle/>
          <a:p>
            <a:endParaRPr lang="es-CO"/>
          </a:p>
        </p:txBody>
      </p:sp>
      <p:sp>
        <p:nvSpPr>
          <p:cNvPr id="11" name="Text 9"/>
          <p:cNvSpPr/>
          <p:nvPr/>
        </p:nvSpPr>
        <p:spPr>
          <a:xfrm>
            <a:off x="4343400" y="2048256"/>
            <a:ext cx="3502152" cy="731520"/>
          </a:xfrm>
          <a:prstGeom prst="rect">
            <a:avLst/>
          </a:prstGeom>
          <a:noFill/>
          <a:ln/>
        </p:spPr>
        <p:txBody>
          <a:bodyPr wrap="square" lIns="0" tIns="0" rIns="0" bIns="0" rtlCol="0" anchor="ctr"/>
          <a:lstStyle/>
          <a:p>
            <a:pPr marL="0" indent="0" algn="ctr">
              <a:buNone/>
            </a:pPr>
            <a:r>
              <a:rPr lang="en-US" sz="4000" b="1" dirty="0">
                <a:solidFill>
                  <a:srgbClr val="1A6FB0"/>
                </a:solidFill>
                <a:latin typeface="Cambria" pitchFamily="34" charset="0"/>
                <a:ea typeface="Cambria" pitchFamily="34" charset="-122"/>
                <a:cs typeface="Cambria" pitchFamily="34" charset="-120"/>
              </a:rPr>
              <a:t>50+</a:t>
            </a:r>
            <a:endParaRPr lang="en-US" sz="4000" dirty="0"/>
          </a:p>
        </p:txBody>
      </p:sp>
      <p:sp>
        <p:nvSpPr>
          <p:cNvPr id="12" name="Text 10"/>
          <p:cNvSpPr/>
          <p:nvPr/>
        </p:nvSpPr>
        <p:spPr>
          <a:xfrm>
            <a:off x="4526280" y="2807208"/>
            <a:ext cx="3136392" cy="822960"/>
          </a:xfrm>
          <a:prstGeom prst="rect">
            <a:avLst/>
          </a:prstGeom>
          <a:noFill/>
          <a:ln/>
        </p:spPr>
        <p:txBody>
          <a:bodyPr wrap="square" lIns="0" tIns="0" rIns="0" bIns="0" rtlCol="0" anchor="t"/>
          <a:lstStyle/>
          <a:p>
            <a:pPr marL="0" indent="0" algn="ctr">
              <a:buNone/>
            </a:pPr>
            <a:r>
              <a:rPr lang="en-US" dirty="0">
                <a:solidFill>
                  <a:srgbClr val="223240"/>
                </a:solidFill>
                <a:latin typeface="Calibri" pitchFamily="34" charset="0"/>
                <a:ea typeface="Calibri" pitchFamily="34" charset="-122"/>
                <a:cs typeface="Calibri" pitchFamily="34" charset="-120"/>
              </a:rPr>
              <a:t>Risk rises with age, most men are older, often in their 70s</a:t>
            </a:r>
            <a:endParaRPr lang="en-US" dirty="0"/>
          </a:p>
        </p:txBody>
      </p:sp>
      <p:sp>
        <p:nvSpPr>
          <p:cNvPr id="13" name="Shape 11"/>
          <p:cNvSpPr/>
          <p:nvPr/>
        </p:nvSpPr>
        <p:spPr>
          <a:xfrm>
            <a:off x="8119872" y="1938528"/>
            <a:ext cx="3502152" cy="1737360"/>
          </a:xfrm>
          <a:prstGeom prst="roundRect">
            <a:avLst>
              <a:gd name="adj" fmla="val 4211"/>
            </a:avLst>
          </a:prstGeom>
          <a:solidFill>
            <a:srgbClr val="FCF1DE"/>
          </a:solidFill>
          <a:ln w="15875">
            <a:solidFill>
              <a:srgbClr val="E8C9A0"/>
            </a:solidFill>
            <a:prstDash val="solid"/>
          </a:ln>
        </p:spPr>
        <p:txBody>
          <a:bodyPr/>
          <a:lstStyle/>
          <a:p>
            <a:endParaRPr lang="es-CO"/>
          </a:p>
        </p:txBody>
      </p:sp>
      <p:sp>
        <p:nvSpPr>
          <p:cNvPr id="14" name="Text 12"/>
          <p:cNvSpPr/>
          <p:nvPr/>
        </p:nvSpPr>
        <p:spPr>
          <a:xfrm>
            <a:off x="8119872" y="2048256"/>
            <a:ext cx="3502152" cy="731520"/>
          </a:xfrm>
          <a:prstGeom prst="rect">
            <a:avLst/>
          </a:prstGeom>
          <a:noFill/>
          <a:ln/>
        </p:spPr>
        <p:txBody>
          <a:bodyPr wrap="square" lIns="0" tIns="0" rIns="0" bIns="0" rtlCol="0" anchor="ctr"/>
          <a:lstStyle/>
          <a:p>
            <a:pPr marL="0" indent="0" algn="ctr">
              <a:buNone/>
            </a:pPr>
            <a:r>
              <a:rPr lang="en-US" sz="4000" b="1" dirty="0">
                <a:solidFill>
                  <a:srgbClr val="B26A00"/>
                </a:solidFill>
                <a:latin typeface="Cambria" pitchFamily="34" charset="0"/>
                <a:ea typeface="Cambria" pitchFamily="34" charset="-122"/>
                <a:cs typeface="Cambria" pitchFamily="34" charset="-120"/>
              </a:rPr>
              <a:t>Late</a:t>
            </a:r>
            <a:endParaRPr lang="en-US" sz="4000" dirty="0"/>
          </a:p>
        </p:txBody>
      </p:sp>
      <p:sp>
        <p:nvSpPr>
          <p:cNvPr id="15" name="Text 13"/>
          <p:cNvSpPr/>
          <p:nvPr/>
        </p:nvSpPr>
        <p:spPr>
          <a:xfrm>
            <a:off x="8302752" y="2807208"/>
            <a:ext cx="3136392" cy="822960"/>
          </a:xfrm>
          <a:prstGeom prst="rect">
            <a:avLst/>
          </a:prstGeom>
          <a:noFill/>
          <a:ln/>
        </p:spPr>
        <p:txBody>
          <a:bodyPr wrap="square" lIns="0" tIns="0" rIns="0" bIns="0" rtlCol="0" anchor="t"/>
          <a:lstStyle/>
          <a:p>
            <a:pPr marL="0" indent="0" algn="ctr">
              <a:buNone/>
            </a:pPr>
            <a:r>
              <a:rPr lang="en-US" dirty="0">
                <a:solidFill>
                  <a:srgbClr val="223240"/>
                </a:solidFill>
                <a:latin typeface="Calibri" pitchFamily="34" charset="0"/>
                <a:ea typeface="Calibri" pitchFamily="34" charset="-122"/>
                <a:cs typeface="Calibri" pitchFamily="34" charset="-120"/>
              </a:rPr>
              <a:t>Many men are diagnosed once the cancer has already spread</a:t>
            </a:r>
            <a:endParaRPr lang="en-US" dirty="0"/>
          </a:p>
        </p:txBody>
      </p:sp>
      <p:sp>
        <p:nvSpPr>
          <p:cNvPr id="16" name="Shape 14"/>
          <p:cNvSpPr/>
          <p:nvPr/>
        </p:nvSpPr>
        <p:spPr>
          <a:xfrm>
            <a:off x="566928" y="4227871"/>
            <a:ext cx="11055096" cy="1097280"/>
          </a:xfrm>
          <a:prstGeom prst="roundRect">
            <a:avLst>
              <a:gd name="adj" fmla="val 5000"/>
            </a:avLst>
          </a:prstGeom>
          <a:solidFill>
            <a:srgbClr val="FCF1DE"/>
          </a:solidFill>
          <a:ln w="12700">
            <a:solidFill>
              <a:srgbClr val="FCF1DE"/>
            </a:solidFill>
            <a:prstDash val="solid"/>
          </a:ln>
        </p:spPr>
        <p:txBody>
          <a:bodyPr/>
          <a:lstStyle/>
          <a:p>
            <a:endParaRPr lang="es-CO"/>
          </a:p>
        </p:txBody>
      </p:sp>
      <p:sp>
        <p:nvSpPr>
          <p:cNvPr id="17" name="Text 15"/>
          <p:cNvSpPr/>
          <p:nvPr/>
        </p:nvSpPr>
        <p:spPr>
          <a:xfrm>
            <a:off x="731520" y="4319311"/>
            <a:ext cx="10725912" cy="914400"/>
          </a:xfrm>
          <a:prstGeom prst="rect">
            <a:avLst/>
          </a:prstGeom>
          <a:noFill/>
          <a:ln/>
        </p:spPr>
        <p:txBody>
          <a:bodyPr wrap="square" lIns="0" tIns="0" rIns="0" bIns="0" rtlCol="0" anchor="t"/>
          <a:lstStyle/>
          <a:p>
            <a:pPr marL="0" indent="0" algn="l">
              <a:buNone/>
            </a:pPr>
            <a:r>
              <a:rPr lang="en-US" b="1" dirty="0">
                <a:solidFill>
                  <a:srgbClr val="B26A00"/>
                </a:solidFill>
                <a:latin typeface="Calibri" pitchFamily="34" charset="0"/>
                <a:ea typeface="Calibri" pitchFamily="34" charset="-122"/>
                <a:cs typeface="Calibri" pitchFamily="34" charset="-120"/>
              </a:rPr>
              <a:t>📌  Why late presentation happens:  </a:t>
            </a:r>
            <a:r>
              <a:rPr lang="en-US" dirty="0">
                <a:solidFill>
                  <a:srgbClr val="223240"/>
                </a:solidFill>
                <a:latin typeface="Calibri" pitchFamily="34" charset="0"/>
                <a:ea typeface="Calibri" pitchFamily="34" charset="-122"/>
                <a:cs typeface="Calibri" pitchFamily="34" charset="-120"/>
              </a:rPr>
              <a:t>early cancer has no symptoms, awareness is limited, and men may reach care only when pain or urinary problems are severe. Your recognition can change this.</a:t>
            </a:r>
            <a:r>
              <a:rPr lang="en-US" b="1" dirty="0">
                <a:solidFill>
                  <a:srgbClr val="CC0000"/>
                </a:solidFill>
                <a:latin typeface="Calibri" pitchFamily="34" charset="0"/>
                <a:ea typeface="Calibri" pitchFamily="34" charset="-122"/>
                <a:cs typeface="Calibri" pitchFamily="34" charset="-120"/>
              </a:rPr>
              <a:t>  Figures above to be confirmed by RBC.</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EPIDEMIOLOGY</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The burden, now and ahead</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1.8b</a:t>
            </a:r>
            <a:endParaRPr lang="en-US" sz="900" dirty="0"/>
          </a:p>
        </p:txBody>
      </p:sp>
      <p:sp>
        <p:nvSpPr>
          <p:cNvPr id="6" name="Text 4"/>
          <p:cNvSpPr/>
          <p:nvPr/>
        </p:nvSpPr>
        <p:spPr>
          <a:xfrm>
            <a:off x="566928" y="1481328"/>
            <a:ext cx="11055096" cy="310896"/>
          </a:xfrm>
          <a:prstGeom prst="rect">
            <a:avLst/>
          </a:prstGeom>
          <a:noFill/>
          <a:ln/>
        </p:spPr>
        <p:txBody>
          <a:bodyPr wrap="square" lIns="0" tIns="0" rIns="0" bIns="0" rtlCol="0" anchor="t"/>
          <a:lstStyle/>
          <a:p>
            <a:pPr marL="0" indent="0">
              <a:buNone/>
            </a:pPr>
            <a:r>
              <a:rPr lang="en-US" sz="1300" i="1" dirty="0">
                <a:solidFill>
                  <a:srgbClr val="1A6FB0"/>
                </a:solidFill>
                <a:latin typeface="Calibri" pitchFamily="34" charset="0"/>
                <a:ea typeface="Calibri" pitchFamily="34" charset="-122"/>
                <a:cs typeface="Calibri" pitchFamily="34" charset="-120"/>
              </a:rPr>
              <a:t>Two pictures: how common it is now, and where the numbers are heading.</a:t>
            </a:r>
            <a:endParaRPr lang="en-US" sz="1300" dirty="0"/>
          </a:p>
        </p:txBody>
      </p:sp>
      <p:sp>
        <p:nvSpPr>
          <p:cNvPr id="7" name="Shape 5"/>
          <p:cNvSpPr/>
          <p:nvPr/>
        </p:nvSpPr>
        <p:spPr>
          <a:xfrm>
            <a:off x="566928" y="1938528"/>
            <a:ext cx="5344668" cy="4078224"/>
          </a:xfrm>
          <a:prstGeom prst="roundRect">
            <a:avLst>
              <a:gd name="adj" fmla="val 1345"/>
            </a:avLst>
          </a:prstGeom>
          <a:solidFill>
            <a:srgbClr val="F0F4F8"/>
          </a:solidFill>
          <a:ln w="15875">
            <a:solidFill>
              <a:srgbClr val="1A6FB0"/>
            </a:solidFill>
            <a:prstDash val="dash"/>
          </a:ln>
        </p:spPr>
        <p:txBody>
          <a:bodyPr/>
          <a:lstStyle/>
          <a:p>
            <a:endParaRPr lang="es-CO"/>
          </a:p>
        </p:txBody>
      </p:sp>
      <p:sp>
        <p:nvSpPr>
          <p:cNvPr id="8" name="Text 6"/>
          <p:cNvSpPr/>
          <p:nvPr/>
        </p:nvSpPr>
        <p:spPr>
          <a:xfrm>
            <a:off x="704088" y="2029968"/>
            <a:ext cx="5070348" cy="3895344"/>
          </a:xfrm>
          <a:prstGeom prst="rect">
            <a:avLst/>
          </a:prstGeom>
          <a:noFill/>
          <a:ln/>
        </p:spPr>
        <p:txBody>
          <a:bodyPr wrap="square" lIns="0" tIns="0" rIns="0" bIns="0" rtlCol="0" anchor="ctr"/>
          <a:lstStyle/>
          <a:p>
            <a:pPr marL="0" indent="0" algn="ctr">
              <a:buNone/>
            </a:pPr>
            <a:r>
              <a:rPr lang="en-US" sz="1200" b="1" dirty="0">
                <a:solidFill>
                  <a:srgbClr val="1A6FB0"/>
                </a:solidFill>
                <a:latin typeface="Calibri" pitchFamily="34" charset="0"/>
                <a:ea typeface="Calibri" pitchFamily="34" charset="-122"/>
                <a:cs typeface="Calibri" pitchFamily="34" charset="-120"/>
              </a:rPr>
              <a:t>IMAGE
</a:t>
            </a:r>
            <a:r>
              <a:rPr lang="en-US" sz="1050" i="1" dirty="0">
                <a:solidFill>
                  <a:srgbClr val="6B7A88"/>
                </a:solidFill>
                <a:latin typeface="Calibri" pitchFamily="34" charset="0"/>
                <a:ea typeface="Calibri" pitchFamily="34" charset="-122"/>
                <a:cs typeface="Calibri" pitchFamily="34" charset="-120"/>
              </a:rPr>
              <a:t>Bar chart, current prostate-cancer burden in Rwanda: new cases per year and share of male cancers, with a bar showing the proportion diagnosed at an advanced stage. Clean, few bars, large labels, colour-blind-friendly. Use placeholder values clearly labelled as provisional.</a:t>
            </a:r>
            <a:endParaRPr lang="en-US" sz="1200" dirty="0"/>
          </a:p>
        </p:txBody>
      </p:sp>
      <p:sp>
        <p:nvSpPr>
          <p:cNvPr id="9" name="Shape 7"/>
          <p:cNvSpPr/>
          <p:nvPr/>
        </p:nvSpPr>
        <p:spPr>
          <a:xfrm>
            <a:off x="6277356" y="1938528"/>
            <a:ext cx="5344668" cy="4078224"/>
          </a:xfrm>
          <a:prstGeom prst="roundRect">
            <a:avLst>
              <a:gd name="adj" fmla="val 1345"/>
            </a:avLst>
          </a:prstGeom>
          <a:solidFill>
            <a:srgbClr val="F0F4F8"/>
          </a:solidFill>
          <a:ln w="15875">
            <a:solidFill>
              <a:srgbClr val="1A6FB0"/>
            </a:solidFill>
            <a:prstDash val="dash"/>
          </a:ln>
        </p:spPr>
        <p:txBody>
          <a:bodyPr/>
          <a:lstStyle/>
          <a:p>
            <a:endParaRPr lang="es-CO"/>
          </a:p>
        </p:txBody>
      </p:sp>
      <p:sp>
        <p:nvSpPr>
          <p:cNvPr id="10" name="Text 8"/>
          <p:cNvSpPr/>
          <p:nvPr/>
        </p:nvSpPr>
        <p:spPr>
          <a:xfrm>
            <a:off x="6414516" y="2029968"/>
            <a:ext cx="5070348" cy="3895344"/>
          </a:xfrm>
          <a:prstGeom prst="rect">
            <a:avLst/>
          </a:prstGeom>
          <a:noFill/>
          <a:ln/>
        </p:spPr>
        <p:txBody>
          <a:bodyPr wrap="square" lIns="0" tIns="0" rIns="0" bIns="0" rtlCol="0" anchor="ctr"/>
          <a:lstStyle/>
          <a:p>
            <a:pPr marL="0" indent="0" algn="ctr">
              <a:buNone/>
            </a:pPr>
            <a:r>
              <a:rPr lang="en-US" sz="1200" b="1" dirty="0">
                <a:solidFill>
                  <a:srgbClr val="1A6FB0"/>
                </a:solidFill>
                <a:latin typeface="Calibri" pitchFamily="34" charset="0"/>
                <a:ea typeface="Calibri" pitchFamily="34" charset="-122"/>
                <a:cs typeface="Calibri" pitchFamily="34" charset="-120"/>
              </a:rPr>
              <a:t>IMAGE
</a:t>
            </a:r>
            <a:r>
              <a:rPr lang="en-US" sz="1050" i="1" dirty="0">
                <a:solidFill>
                  <a:srgbClr val="6B7A88"/>
                </a:solidFill>
                <a:latin typeface="Calibri" pitchFamily="34" charset="0"/>
                <a:ea typeface="Calibri" pitchFamily="34" charset="-122"/>
                <a:cs typeface="Calibri" pitchFamily="34" charset="-120"/>
              </a:rPr>
              <a:t>Line/projection chart, expected new prostate-cancer cases in Rwanda over the next 10 to 20 years, showing a rising trend as the population ages. Single clear upward line with a shaded projection band. Use placeholder values clearly labelled as provisional.</a:t>
            </a:r>
            <a:endParaRPr lang="en-US" sz="1200" dirty="0"/>
          </a:p>
        </p:txBody>
      </p:sp>
      <p:sp>
        <p:nvSpPr>
          <p:cNvPr id="11" name="Text 9"/>
          <p:cNvSpPr/>
          <p:nvPr/>
        </p:nvSpPr>
        <p:spPr>
          <a:xfrm>
            <a:off x="566928" y="6089904"/>
            <a:ext cx="11055096" cy="274320"/>
          </a:xfrm>
          <a:prstGeom prst="rect">
            <a:avLst/>
          </a:prstGeom>
          <a:noFill/>
          <a:ln/>
        </p:spPr>
        <p:txBody>
          <a:bodyPr wrap="square" lIns="0" tIns="0" rIns="0" bIns="0" rtlCol="0" anchor="ctr"/>
          <a:lstStyle/>
          <a:p>
            <a:pPr marL="0" indent="0" algn="ctr">
              <a:buNone/>
            </a:pPr>
            <a:r>
              <a:rPr lang="en-US" sz="1100" b="1" dirty="0">
                <a:solidFill>
                  <a:srgbClr val="CC0000"/>
                </a:solidFill>
                <a:latin typeface="Calibri" pitchFamily="34" charset="0"/>
                <a:ea typeface="Calibri" pitchFamily="34" charset="-122"/>
                <a:cs typeface="Calibri" pitchFamily="34" charset="-120"/>
              </a:rPr>
              <a:t>Both graphs use provisional values. To be confirmed by RBC before build.</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INTERPRET THE BURDEN</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does this mean for you?</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1.9</a:t>
            </a:r>
            <a:endParaRPr lang="en-US" sz="900" dirty="0"/>
          </a:p>
        </p:txBody>
      </p:sp>
      <p:sp>
        <p:nvSpPr>
          <p:cNvPr id="6" name="Text 4"/>
          <p:cNvSpPr/>
          <p:nvPr/>
        </p:nvSpPr>
        <p:spPr>
          <a:xfrm>
            <a:off x="566928" y="1481328"/>
            <a:ext cx="11055096" cy="548640"/>
          </a:xfrm>
          <a:prstGeom prst="rect">
            <a:avLst/>
          </a:prstGeom>
          <a:noFill/>
          <a:ln/>
        </p:spPr>
        <p:txBody>
          <a:bodyPr wrap="square" lIns="0" tIns="0" rIns="0" bIns="0" rtlCol="0" anchor="t"/>
          <a:lstStyle/>
          <a:p>
            <a:pPr marL="0" indent="0">
              <a:buNone/>
            </a:pPr>
            <a:r>
              <a:rPr lang="en-US" sz="1450" b="1" dirty="0">
                <a:solidFill>
                  <a:srgbClr val="1F3A5F"/>
                </a:solidFill>
                <a:latin typeface="Calibri" pitchFamily="34" charset="0"/>
                <a:ea typeface="Calibri" pitchFamily="34" charset="-122"/>
                <a:cs typeface="Calibri" pitchFamily="34" charset="-120"/>
              </a:rPr>
              <a:t>Given that many Rwandan men present late with prostate cancer, your biggest opportunity is to:</a:t>
            </a:r>
            <a:endParaRPr lang="en-US" sz="1450" dirty="0"/>
          </a:p>
        </p:txBody>
      </p:sp>
      <p:sp>
        <p:nvSpPr>
          <p:cNvPr id="7" name="Shape 5"/>
          <p:cNvSpPr/>
          <p:nvPr/>
        </p:nvSpPr>
        <p:spPr>
          <a:xfrm>
            <a:off x="566928" y="2267712"/>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76656" y="2350008"/>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76656" y="2350008"/>
            <a:ext cx="292608"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a:t>
            </a:r>
            <a:endParaRPr lang="en-US" sz="1250" dirty="0"/>
          </a:p>
        </p:txBody>
      </p:sp>
      <p:sp>
        <p:nvSpPr>
          <p:cNvPr id="10" name="Text 8"/>
          <p:cNvSpPr/>
          <p:nvPr/>
        </p:nvSpPr>
        <p:spPr>
          <a:xfrm>
            <a:off x="1097280" y="2267712"/>
            <a:ext cx="10323576" cy="457200"/>
          </a:xfrm>
          <a:prstGeom prst="rect">
            <a:avLst/>
          </a:prstGeom>
          <a:noFill/>
          <a:ln/>
        </p:spPr>
        <p:txBody>
          <a:bodyPr wrap="square" lIns="0" tIns="0" rIns="0" bIns="0" rtlCol="0" anchor="ctr"/>
          <a:lstStyle/>
          <a:p>
            <a:pPr marL="0" indent="0" algn="l">
              <a:buNone/>
            </a:pPr>
            <a:r>
              <a:rPr lang="en-US" sz="1250" dirty="0">
                <a:solidFill>
                  <a:srgbClr val="223240"/>
                </a:solidFill>
                <a:latin typeface="Calibri" pitchFamily="34" charset="0"/>
                <a:ea typeface="Calibri" pitchFamily="34" charset="-122"/>
                <a:cs typeface="Calibri" pitchFamily="34" charset="-120"/>
              </a:rPr>
              <a:t>Wait until men have severe symptoms</a:t>
            </a:r>
            <a:endParaRPr lang="en-US" sz="1250" dirty="0"/>
          </a:p>
        </p:txBody>
      </p:sp>
      <p:sp>
        <p:nvSpPr>
          <p:cNvPr id="11" name="Shape 9"/>
          <p:cNvSpPr/>
          <p:nvPr/>
        </p:nvSpPr>
        <p:spPr>
          <a:xfrm>
            <a:off x="566928" y="2852928"/>
            <a:ext cx="11055096" cy="457200"/>
          </a:xfrm>
          <a:prstGeom prst="roundRect">
            <a:avLst>
              <a:gd name="adj" fmla="val 10000"/>
            </a:avLst>
          </a:prstGeom>
          <a:solidFill>
            <a:srgbClr val="E7F4EC"/>
          </a:solidFill>
          <a:ln w="19050">
            <a:solidFill>
              <a:srgbClr val="1E7A46"/>
            </a:solidFill>
            <a:prstDash val="solid"/>
          </a:ln>
        </p:spPr>
        <p:txBody>
          <a:bodyPr/>
          <a:lstStyle/>
          <a:p>
            <a:endParaRPr lang="es-CO"/>
          </a:p>
        </p:txBody>
      </p:sp>
      <p:sp>
        <p:nvSpPr>
          <p:cNvPr id="12" name="Shape 10"/>
          <p:cNvSpPr/>
          <p:nvPr/>
        </p:nvSpPr>
        <p:spPr>
          <a:xfrm>
            <a:off x="676656" y="2935224"/>
            <a:ext cx="292608" cy="292608"/>
          </a:xfrm>
          <a:prstGeom prst="ellipse">
            <a:avLst/>
          </a:prstGeom>
          <a:solidFill>
            <a:srgbClr val="1E7A46"/>
          </a:solidFill>
          <a:ln w="12700">
            <a:solidFill>
              <a:srgbClr val="1E7A46"/>
            </a:solidFill>
            <a:prstDash val="solid"/>
          </a:ln>
        </p:spPr>
        <p:txBody>
          <a:bodyPr/>
          <a:lstStyle/>
          <a:p>
            <a:endParaRPr lang="es-CO"/>
          </a:p>
        </p:txBody>
      </p:sp>
      <p:sp>
        <p:nvSpPr>
          <p:cNvPr id="13" name="Text 11"/>
          <p:cNvSpPr/>
          <p:nvPr/>
        </p:nvSpPr>
        <p:spPr>
          <a:xfrm>
            <a:off x="676656" y="2935224"/>
            <a:ext cx="292608"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B</a:t>
            </a:r>
            <a:endParaRPr lang="en-US" sz="1250" dirty="0"/>
          </a:p>
        </p:txBody>
      </p:sp>
      <p:sp>
        <p:nvSpPr>
          <p:cNvPr id="14" name="Text 12"/>
          <p:cNvSpPr/>
          <p:nvPr/>
        </p:nvSpPr>
        <p:spPr>
          <a:xfrm>
            <a:off x="1097280" y="2852928"/>
            <a:ext cx="10323576" cy="457200"/>
          </a:xfrm>
          <a:prstGeom prst="rect">
            <a:avLst/>
          </a:prstGeom>
          <a:noFill/>
          <a:ln/>
        </p:spPr>
        <p:txBody>
          <a:bodyPr wrap="square" lIns="0" tIns="0" rIns="0" bIns="0" rtlCol="0" anchor="ctr"/>
          <a:lstStyle/>
          <a:p>
            <a:pPr marL="0" indent="0" algn="l">
              <a:buNone/>
            </a:pPr>
            <a:r>
              <a:rPr lang="en-US" sz="1250" dirty="0">
                <a:solidFill>
                  <a:srgbClr val="223240"/>
                </a:solidFill>
                <a:latin typeface="Calibri" pitchFamily="34" charset="0"/>
                <a:ea typeface="Calibri" pitchFamily="34" charset="-122"/>
                <a:cs typeface="Calibri" pitchFamily="34" charset="-120"/>
              </a:rPr>
              <a:t>Recognise risk and early features, counsel about testing, and refer promptly</a:t>
            </a:r>
            <a:endParaRPr lang="en-US" sz="1250" dirty="0"/>
          </a:p>
        </p:txBody>
      </p:sp>
      <p:sp>
        <p:nvSpPr>
          <p:cNvPr id="15" name="Shape 13"/>
          <p:cNvSpPr/>
          <p:nvPr/>
        </p:nvSpPr>
        <p:spPr>
          <a:xfrm>
            <a:off x="566928" y="3438144"/>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16" name="Shape 14"/>
          <p:cNvSpPr/>
          <p:nvPr/>
        </p:nvSpPr>
        <p:spPr>
          <a:xfrm>
            <a:off x="676656" y="3520440"/>
            <a:ext cx="292608" cy="292608"/>
          </a:xfrm>
          <a:prstGeom prst="ellipse">
            <a:avLst/>
          </a:prstGeom>
          <a:solidFill>
            <a:srgbClr val="1A6FB0"/>
          </a:solidFill>
          <a:ln w="12700">
            <a:solidFill>
              <a:srgbClr val="1A6FB0"/>
            </a:solidFill>
            <a:prstDash val="solid"/>
          </a:ln>
        </p:spPr>
        <p:txBody>
          <a:bodyPr/>
          <a:lstStyle/>
          <a:p>
            <a:endParaRPr lang="es-CO"/>
          </a:p>
        </p:txBody>
      </p:sp>
      <p:sp>
        <p:nvSpPr>
          <p:cNvPr id="17" name="Text 15"/>
          <p:cNvSpPr/>
          <p:nvPr/>
        </p:nvSpPr>
        <p:spPr>
          <a:xfrm>
            <a:off x="676656" y="3520440"/>
            <a:ext cx="292608"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a:t>
            </a:r>
            <a:endParaRPr lang="en-US" sz="1250" dirty="0"/>
          </a:p>
        </p:txBody>
      </p:sp>
      <p:sp>
        <p:nvSpPr>
          <p:cNvPr id="18" name="Text 16"/>
          <p:cNvSpPr/>
          <p:nvPr/>
        </p:nvSpPr>
        <p:spPr>
          <a:xfrm>
            <a:off x="1097280" y="3438144"/>
            <a:ext cx="10323576" cy="457200"/>
          </a:xfrm>
          <a:prstGeom prst="rect">
            <a:avLst/>
          </a:prstGeom>
          <a:noFill/>
          <a:ln/>
        </p:spPr>
        <p:txBody>
          <a:bodyPr wrap="square" lIns="0" tIns="0" rIns="0" bIns="0" rtlCol="0" anchor="ctr"/>
          <a:lstStyle/>
          <a:p>
            <a:pPr marL="0" indent="0" algn="l">
              <a:buNone/>
            </a:pPr>
            <a:r>
              <a:rPr lang="en-US" sz="1250" dirty="0">
                <a:solidFill>
                  <a:srgbClr val="223240"/>
                </a:solidFill>
                <a:latin typeface="Calibri" pitchFamily="34" charset="0"/>
                <a:ea typeface="Calibri" pitchFamily="34" charset="-122"/>
                <a:cs typeface="Calibri" pitchFamily="34" charset="-120"/>
              </a:rPr>
              <a:t>Focus only on treatment</a:t>
            </a:r>
            <a:endParaRPr lang="en-US" sz="1250" dirty="0"/>
          </a:p>
        </p:txBody>
      </p:sp>
      <p:sp>
        <p:nvSpPr>
          <p:cNvPr id="19" name="Shape 17"/>
          <p:cNvSpPr/>
          <p:nvPr/>
        </p:nvSpPr>
        <p:spPr>
          <a:xfrm>
            <a:off x="566928" y="4023360"/>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76656" y="4105656"/>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76656" y="4105656"/>
            <a:ext cx="292608"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a:t>
            </a:r>
            <a:endParaRPr lang="en-US" sz="1250" dirty="0"/>
          </a:p>
        </p:txBody>
      </p:sp>
      <p:sp>
        <p:nvSpPr>
          <p:cNvPr id="22" name="Text 20"/>
          <p:cNvSpPr/>
          <p:nvPr/>
        </p:nvSpPr>
        <p:spPr>
          <a:xfrm>
            <a:off x="1097280" y="4023360"/>
            <a:ext cx="10323576" cy="457200"/>
          </a:xfrm>
          <a:prstGeom prst="rect">
            <a:avLst/>
          </a:prstGeom>
          <a:noFill/>
          <a:ln/>
        </p:spPr>
        <p:txBody>
          <a:bodyPr wrap="square" lIns="0" tIns="0" rIns="0" bIns="0" rtlCol="0" anchor="ctr"/>
          <a:lstStyle/>
          <a:p>
            <a:pPr marL="0" indent="0" algn="l">
              <a:buNone/>
            </a:pPr>
            <a:r>
              <a:rPr lang="en-US" sz="1250" dirty="0">
                <a:solidFill>
                  <a:srgbClr val="223240"/>
                </a:solidFill>
                <a:latin typeface="Calibri" pitchFamily="34" charset="0"/>
                <a:ea typeface="Calibri" pitchFamily="34" charset="-122"/>
                <a:cs typeface="Calibri" pitchFamily="34" charset="-120"/>
              </a:rPr>
              <a:t>Assume all older men have cancer</a:t>
            </a:r>
            <a:endParaRPr lang="en-US" sz="1250" dirty="0"/>
          </a:p>
        </p:txBody>
      </p:sp>
      <p:sp>
        <p:nvSpPr>
          <p:cNvPr id="23" name="Shape 21"/>
          <p:cNvSpPr/>
          <p:nvPr/>
        </p:nvSpPr>
        <p:spPr>
          <a:xfrm>
            <a:off x="566928" y="4663440"/>
            <a:ext cx="11055096" cy="1719072"/>
          </a:xfrm>
          <a:prstGeom prst="roundRect">
            <a:avLst>
              <a:gd name="adj" fmla="val 2660"/>
            </a:avLst>
          </a:prstGeom>
          <a:solidFill>
            <a:srgbClr val="E7F4EC"/>
          </a:solidFill>
          <a:ln w="12700">
            <a:solidFill>
              <a:srgbClr val="BFE3CD"/>
            </a:solidFill>
            <a:prstDash val="solid"/>
          </a:ln>
        </p:spPr>
        <p:txBody>
          <a:bodyPr/>
          <a:lstStyle/>
          <a:p>
            <a:endParaRPr lang="es-CO"/>
          </a:p>
        </p:txBody>
      </p:sp>
      <p:sp>
        <p:nvSpPr>
          <p:cNvPr id="24" name="Text 22"/>
          <p:cNvSpPr/>
          <p:nvPr/>
        </p:nvSpPr>
        <p:spPr>
          <a:xfrm>
            <a:off x="749808" y="4754880"/>
            <a:ext cx="10689336" cy="1536192"/>
          </a:xfrm>
          <a:prstGeom prst="rect">
            <a:avLst/>
          </a:prstGeom>
          <a:noFill/>
          <a:ln/>
        </p:spPr>
        <p:txBody>
          <a:bodyPr wrap="square" lIns="0" tIns="0" rIns="0" bIns="0" rtlCol="0" anchor="t"/>
          <a:lstStyle/>
          <a:p>
            <a:pPr marL="0" indent="0">
              <a:buNone/>
            </a:pPr>
            <a:r>
              <a:rPr lang="en-US" sz="1250" b="1" dirty="0">
                <a:solidFill>
                  <a:srgbClr val="1E7A46"/>
                </a:solidFill>
                <a:latin typeface="Calibri" pitchFamily="34" charset="0"/>
                <a:ea typeface="Calibri" pitchFamily="34" charset="-122"/>
                <a:cs typeface="Calibri" pitchFamily="34" charset="-120"/>
              </a:rPr>
              <a:t>✅  Correct: B.  </a:t>
            </a:r>
            <a:r>
              <a:rPr lang="en-US" sz="1250" dirty="0">
                <a:solidFill>
                  <a:srgbClr val="223240"/>
                </a:solidFill>
                <a:latin typeface="Calibri" pitchFamily="34" charset="0"/>
                <a:ea typeface="Calibri" pitchFamily="34" charset="-122"/>
                <a:cs typeface="Calibri" pitchFamily="34" charset="-120"/>
              </a:rPr>
              <a:t>Late presentation means earlier recognition and prompt referral by frontline staff is where the greatest difference is made.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STAGING</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Localised or spread? The idea that matters</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1.10</a:t>
            </a:r>
            <a:endParaRPr lang="en-US" sz="900" dirty="0"/>
          </a:p>
        </p:txBody>
      </p:sp>
      <p:sp>
        <p:nvSpPr>
          <p:cNvPr id="6" name="Text 4"/>
          <p:cNvSpPr/>
          <p:nvPr/>
        </p:nvSpPr>
        <p:spPr>
          <a:xfrm>
            <a:off x="566928" y="1481328"/>
            <a:ext cx="11055096" cy="310896"/>
          </a:xfrm>
          <a:prstGeom prst="rect">
            <a:avLst/>
          </a:prstGeom>
          <a:noFill/>
          <a:ln/>
        </p:spPr>
        <p:txBody>
          <a:bodyPr wrap="square" lIns="0" tIns="0" rIns="0" bIns="0" rtlCol="0" anchor="t"/>
          <a:lstStyle/>
          <a:p>
            <a:pPr marL="0" indent="0">
              <a:buNone/>
            </a:pPr>
            <a:r>
              <a:rPr lang="en-US" sz="1300" i="1" dirty="0">
                <a:solidFill>
                  <a:srgbClr val="1A6FB0"/>
                </a:solidFill>
                <a:latin typeface="Calibri" pitchFamily="34" charset="0"/>
                <a:ea typeface="Calibri" pitchFamily="34" charset="-122"/>
                <a:cs typeface="Calibri" pitchFamily="34" charset="-120"/>
              </a:rPr>
              <a:t>You do not stage cancer yourself, but understanding this helps you explain the plan.</a:t>
            </a:r>
            <a:endParaRPr lang="en-US" sz="1300" dirty="0"/>
          </a:p>
        </p:txBody>
      </p:sp>
      <p:sp>
        <p:nvSpPr>
          <p:cNvPr id="7" name="Shape 5"/>
          <p:cNvSpPr/>
          <p:nvPr/>
        </p:nvSpPr>
        <p:spPr>
          <a:xfrm>
            <a:off x="566928" y="1938528"/>
            <a:ext cx="3502152" cy="4443984"/>
          </a:xfrm>
          <a:prstGeom prst="roundRect">
            <a:avLst>
              <a:gd name="adj" fmla="val 2089"/>
            </a:avLst>
          </a:prstGeom>
          <a:solidFill>
            <a:srgbClr val="FFFFFF"/>
          </a:solidFill>
          <a:ln w="19050">
            <a:solidFill>
              <a:srgbClr val="1E7A46"/>
            </a:solidFill>
            <a:prstDash val="solid"/>
          </a:ln>
          <a:effectLst>
            <a:outerShdw blurRad="50800" dist="25400" dir="5400000" algn="bl" rotWithShape="0">
              <a:srgbClr val="BFCEDD">
                <a:alpha val="50000"/>
              </a:srgbClr>
            </a:outerShdw>
          </a:effectLst>
        </p:spPr>
        <p:txBody>
          <a:bodyPr/>
          <a:lstStyle/>
          <a:p>
            <a:endParaRPr lang="es-CO"/>
          </a:p>
        </p:txBody>
      </p:sp>
      <p:sp>
        <p:nvSpPr>
          <p:cNvPr id="8" name="Shape 6"/>
          <p:cNvSpPr/>
          <p:nvPr/>
        </p:nvSpPr>
        <p:spPr>
          <a:xfrm>
            <a:off x="786384" y="2157984"/>
            <a:ext cx="164592" cy="164592"/>
          </a:xfrm>
          <a:prstGeom prst="ellipse">
            <a:avLst/>
          </a:prstGeom>
          <a:solidFill>
            <a:srgbClr val="1E7A46"/>
          </a:solidFill>
          <a:ln w="12700">
            <a:solidFill>
              <a:srgbClr val="1E7A46"/>
            </a:solidFill>
            <a:prstDash val="solid"/>
          </a:ln>
        </p:spPr>
        <p:txBody>
          <a:bodyPr/>
          <a:lstStyle/>
          <a:p>
            <a:endParaRPr lang="es-CO"/>
          </a:p>
        </p:txBody>
      </p:sp>
      <p:sp>
        <p:nvSpPr>
          <p:cNvPr id="9" name="Text 7"/>
          <p:cNvSpPr/>
          <p:nvPr/>
        </p:nvSpPr>
        <p:spPr>
          <a:xfrm>
            <a:off x="1060704" y="2066544"/>
            <a:ext cx="2843784" cy="36576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Localised</a:t>
            </a:r>
            <a:endParaRPr lang="en-US" dirty="0"/>
          </a:p>
        </p:txBody>
      </p:sp>
      <p:sp>
        <p:nvSpPr>
          <p:cNvPr id="10" name="Text 8"/>
          <p:cNvSpPr/>
          <p:nvPr/>
        </p:nvSpPr>
        <p:spPr>
          <a:xfrm>
            <a:off x="786384" y="2487168"/>
            <a:ext cx="3099816" cy="378561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Cancer is only inside the prostate gland. Often slow. May be cured or safely monitored.</a:t>
            </a:r>
            <a:endParaRPr lang="en-US" dirty="0"/>
          </a:p>
        </p:txBody>
      </p:sp>
      <p:sp>
        <p:nvSpPr>
          <p:cNvPr id="11" name="Shape 9"/>
          <p:cNvSpPr/>
          <p:nvPr/>
        </p:nvSpPr>
        <p:spPr>
          <a:xfrm>
            <a:off x="4343400" y="1938528"/>
            <a:ext cx="3502152" cy="4443984"/>
          </a:xfrm>
          <a:prstGeom prst="roundRect">
            <a:avLst>
              <a:gd name="adj" fmla="val 2089"/>
            </a:avLst>
          </a:prstGeom>
          <a:solidFill>
            <a:srgbClr val="FFFFFF"/>
          </a:solidFill>
          <a:ln w="19050">
            <a:solidFill>
              <a:srgbClr val="B26A00"/>
            </a:solidFill>
            <a:prstDash val="solid"/>
          </a:ln>
          <a:effectLst>
            <a:outerShdw blurRad="50800" dist="25400" dir="5400000" algn="bl" rotWithShape="0">
              <a:srgbClr val="BFCEDD">
                <a:alpha val="50000"/>
              </a:srgbClr>
            </a:outerShdw>
          </a:effectLst>
        </p:spPr>
        <p:txBody>
          <a:bodyPr/>
          <a:lstStyle/>
          <a:p>
            <a:endParaRPr lang="es-CO"/>
          </a:p>
        </p:txBody>
      </p:sp>
      <p:sp>
        <p:nvSpPr>
          <p:cNvPr id="12" name="Shape 10"/>
          <p:cNvSpPr/>
          <p:nvPr/>
        </p:nvSpPr>
        <p:spPr>
          <a:xfrm>
            <a:off x="4562856" y="2157984"/>
            <a:ext cx="164592" cy="164592"/>
          </a:xfrm>
          <a:prstGeom prst="ellipse">
            <a:avLst/>
          </a:prstGeom>
          <a:solidFill>
            <a:srgbClr val="B26A00"/>
          </a:solidFill>
          <a:ln w="12700">
            <a:solidFill>
              <a:srgbClr val="B26A00"/>
            </a:solidFill>
            <a:prstDash val="solid"/>
          </a:ln>
        </p:spPr>
        <p:txBody>
          <a:bodyPr/>
          <a:lstStyle/>
          <a:p>
            <a:endParaRPr lang="es-CO"/>
          </a:p>
        </p:txBody>
      </p:sp>
      <p:sp>
        <p:nvSpPr>
          <p:cNvPr id="13" name="Text 11"/>
          <p:cNvSpPr/>
          <p:nvPr/>
        </p:nvSpPr>
        <p:spPr>
          <a:xfrm>
            <a:off x="4837176" y="2066544"/>
            <a:ext cx="2843784" cy="36576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Locally advanced</a:t>
            </a:r>
            <a:endParaRPr lang="en-US" dirty="0"/>
          </a:p>
        </p:txBody>
      </p:sp>
      <p:sp>
        <p:nvSpPr>
          <p:cNvPr id="14" name="Text 12"/>
          <p:cNvSpPr/>
          <p:nvPr/>
        </p:nvSpPr>
        <p:spPr>
          <a:xfrm>
            <a:off x="4562856" y="2487168"/>
            <a:ext cx="3099816" cy="378561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Cancer has grown just outside the gland or to nearby tissue. Treated by specialists, often with several methods.</a:t>
            </a:r>
            <a:endParaRPr lang="en-US" dirty="0"/>
          </a:p>
        </p:txBody>
      </p:sp>
      <p:sp>
        <p:nvSpPr>
          <p:cNvPr id="15" name="Shape 13"/>
          <p:cNvSpPr/>
          <p:nvPr/>
        </p:nvSpPr>
        <p:spPr>
          <a:xfrm>
            <a:off x="8119872" y="1938528"/>
            <a:ext cx="3502152" cy="4443984"/>
          </a:xfrm>
          <a:prstGeom prst="roundRect">
            <a:avLst>
              <a:gd name="adj" fmla="val 2089"/>
            </a:avLst>
          </a:prstGeom>
          <a:solidFill>
            <a:srgbClr val="FFFFFF"/>
          </a:solidFill>
          <a:ln w="19050">
            <a:solidFill>
              <a:srgbClr val="B23A2E"/>
            </a:solidFill>
            <a:prstDash val="solid"/>
          </a:ln>
          <a:effectLst>
            <a:outerShdw blurRad="50800" dist="25400" dir="5400000" algn="bl" rotWithShape="0">
              <a:srgbClr val="BFCEDD">
                <a:alpha val="50000"/>
              </a:srgbClr>
            </a:outerShdw>
          </a:effectLst>
        </p:spPr>
        <p:txBody>
          <a:bodyPr/>
          <a:lstStyle/>
          <a:p>
            <a:endParaRPr lang="es-CO"/>
          </a:p>
        </p:txBody>
      </p:sp>
      <p:sp>
        <p:nvSpPr>
          <p:cNvPr id="16" name="Shape 14"/>
          <p:cNvSpPr/>
          <p:nvPr/>
        </p:nvSpPr>
        <p:spPr>
          <a:xfrm>
            <a:off x="8339328" y="2157984"/>
            <a:ext cx="164592" cy="164592"/>
          </a:xfrm>
          <a:prstGeom prst="ellipse">
            <a:avLst/>
          </a:prstGeom>
          <a:solidFill>
            <a:srgbClr val="B23A2E"/>
          </a:solidFill>
          <a:ln w="12700">
            <a:solidFill>
              <a:srgbClr val="B23A2E"/>
            </a:solidFill>
            <a:prstDash val="solid"/>
          </a:ln>
        </p:spPr>
        <p:txBody>
          <a:bodyPr/>
          <a:lstStyle/>
          <a:p>
            <a:endParaRPr lang="es-CO"/>
          </a:p>
        </p:txBody>
      </p:sp>
      <p:sp>
        <p:nvSpPr>
          <p:cNvPr id="17" name="Text 15"/>
          <p:cNvSpPr/>
          <p:nvPr/>
        </p:nvSpPr>
        <p:spPr>
          <a:xfrm>
            <a:off x="8613648" y="2066544"/>
            <a:ext cx="2843784" cy="365760"/>
          </a:xfrm>
          <a:prstGeom prst="rect">
            <a:avLst/>
          </a:prstGeom>
          <a:noFill/>
          <a:ln/>
        </p:spPr>
        <p:txBody>
          <a:bodyPr wrap="square" lIns="0" tIns="0" rIns="0" bIns="0" rtlCol="0" anchor="t"/>
          <a:lstStyle/>
          <a:p>
            <a:pPr marL="0" indent="0">
              <a:buNone/>
            </a:pPr>
            <a:r>
              <a:rPr lang="en-US" b="1" dirty="0">
                <a:solidFill>
                  <a:srgbClr val="B23A2E"/>
                </a:solidFill>
                <a:latin typeface="Calibri" pitchFamily="34" charset="0"/>
                <a:ea typeface="Calibri" pitchFamily="34" charset="-122"/>
                <a:cs typeface="Calibri" pitchFamily="34" charset="-120"/>
              </a:rPr>
              <a:t>Advanced / spread (metastatic)</a:t>
            </a:r>
            <a:endParaRPr lang="en-US" dirty="0"/>
          </a:p>
        </p:txBody>
      </p:sp>
      <p:sp>
        <p:nvSpPr>
          <p:cNvPr id="18" name="Text 16"/>
          <p:cNvSpPr/>
          <p:nvPr/>
        </p:nvSpPr>
        <p:spPr>
          <a:xfrm>
            <a:off x="8339328" y="2487168"/>
            <a:ext cx="3099816" cy="3785616"/>
          </a:xfrm>
          <a:prstGeom prst="rect">
            <a:avLst/>
          </a:prstGeom>
          <a:noFill/>
          <a:ln/>
        </p:spPr>
        <p:txBody>
          <a:bodyPr wrap="square" lIns="0" tIns="0" rIns="0" bIns="0" rtlCol="0" anchor="t"/>
          <a:lstStyle/>
          <a:p>
            <a:pPr marL="0" indent="0">
              <a:buNone/>
            </a:pPr>
            <a:endParaRPr lang="en-US" dirty="0">
              <a:solidFill>
                <a:srgbClr val="223240"/>
              </a:solidFill>
              <a:latin typeface="Calibri" pitchFamily="34" charset="0"/>
              <a:ea typeface="Calibri" pitchFamily="34" charset="-122"/>
              <a:cs typeface="Calibri" pitchFamily="34" charset="-120"/>
            </a:endParaRPr>
          </a:p>
          <a:p>
            <a:pPr marL="0" indent="0">
              <a:buNone/>
            </a:pPr>
            <a:r>
              <a:rPr lang="en-US" dirty="0">
                <a:solidFill>
                  <a:srgbClr val="223240"/>
                </a:solidFill>
                <a:latin typeface="Calibri" pitchFamily="34" charset="0"/>
                <a:ea typeface="Calibri" pitchFamily="34" charset="-122"/>
                <a:cs typeface="Calibri" pitchFamily="34" charset="-120"/>
              </a:rPr>
              <a:t>Cancer has spread further, commonly to bone. Hormone therapy is central; care focuses on control and comfort.</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SORT IT OUT</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Match the man to the stage</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1.11</a:t>
            </a:r>
            <a:endParaRPr lang="en-US" sz="900" dirty="0"/>
          </a:p>
        </p:txBody>
      </p:sp>
      <p:sp>
        <p:nvSpPr>
          <p:cNvPr id="6" name="Text 4"/>
          <p:cNvSpPr/>
          <p:nvPr/>
        </p:nvSpPr>
        <p:spPr>
          <a:xfrm>
            <a:off x="566928" y="1481328"/>
            <a:ext cx="11055096" cy="310896"/>
          </a:xfrm>
          <a:prstGeom prst="rect">
            <a:avLst/>
          </a:prstGeom>
          <a:noFill/>
          <a:ln/>
        </p:spPr>
        <p:txBody>
          <a:bodyPr wrap="square" lIns="0" tIns="0" rIns="0" bIns="0" rtlCol="0" anchor="t"/>
          <a:lstStyle/>
          <a:p>
            <a:pPr marL="0" indent="0">
              <a:buNone/>
            </a:pPr>
            <a:r>
              <a:rPr lang="en-US" sz="1300" i="1" dirty="0">
                <a:solidFill>
                  <a:srgbClr val="1A6FB0"/>
                </a:solidFill>
                <a:latin typeface="Calibri" pitchFamily="34" charset="0"/>
                <a:ea typeface="Calibri" pitchFamily="34" charset="-122"/>
                <a:cs typeface="Calibri" pitchFamily="34" charset="-120"/>
              </a:rPr>
              <a:t>Sort each situation into the stage it best describes.</a:t>
            </a:r>
            <a:endParaRPr lang="en-US" sz="1300" dirty="0"/>
          </a:p>
        </p:txBody>
      </p:sp>
      <p:sp>
        <p:nvSpPr>
          <p:cNvPr id="7" name="Shape 5"/>
          <p:cNvSpPr/>
          <p:nvPr/>
        </p:nvSpPr>
        <p:spPr>
          <a:xfrm>
            <a:off x="566928" y="1901952"/>
            <a:ext cx="3502152" cy="4480560"/>
          </a:xfrm>
          <a:prstGeom prst="roundRect">
            <a:avLst>
              <a:gd name="adj" fmla="val 1567"/>
            </a:avLst>
          </a:prstGeom>
          <a:solidFill>
            <a:srgbClr val="FFFFFF"/>
          </a:solidFill>
          <a:ln w="19050">
            <a:solidFill>
              <a:srgbClr val="1E7A46"/>
            </a:solidFill>
            <a:prstDash val="solid"/>
          </a:ln>
        </p:spPr>
        <p:txBody>
          <a:bodyPr/>
          <a:lstStyle/>
          <a:p>
            <a:endParaRPr lang="es-CO"/>
          </a:p>
        </p:txBody>
      </p:sp>
      <p:sp>
        <p:nvSpPr>
          <p:cNvPr id="8" name="Shape 6"/>
          <p:cNvSpPr/>
          <p:nvPr/>
        </p:nvSpPr>
        <p:spPr>
          <a:xfrm>
            <a:off x="566928" y="1901952"/>
            <a:ext cx="3502152" cy="457200"/>
          </a:xfrm>
          <a:prstGeom prst="roundRect">
            <a:avLst>
              <a:gd name="adj" fmla="val 12000"/>
            </a:avLst>
          </a:prstGeom>
          <a:solidFill>
            <a:srgbClr val="1E7A46"/>
          </a:solidFill>
          <a:ln w="12700">
            <a:solidFill>
              <a:srgbClr val="1E7A46"/>
            </a:solidFill>
            <a:prstDash val="solid"/>
          </a:ln>
        </p:spPr>
        <p:txBody>
          <a:bodyPr/>
          <a:lstStyle/>
          <a:p>
            <a:endParaRPr lang="es-CO"/>
          </a:p>
        </p:txBody>
      </p:sp>
      <p:sp>
        <p:nvSpPr>
          <p:cNvPr id="9" name="Text 7"/>
          <p:cNvSpPr/>
          <p:nvPr/>
        </p:nvSpPr>
        <p:spPr>
          <a:xfrm>
            <a:off x="566928" y="1901952"/>
            <a:ext cx="3502152" cy="45720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  Localised</a:t>
            </a:r>
            <a:endParaRPr lang="en-US" dirty="0"/>
          </a:p>
        </p:txBody>
      </p:sp>
      <p:sp>
        <p:nvSpPr>
          <p:cNvPr id="10" name="Text 8"/>
          <p:cNvSpPr/>
          <p:nvPr/>
        </p:nvSpPr>
        <p:spPr>
          <a:xfrm>
            <a:off x="713232" y="2468880"/>
            <a:ext cx="3209544" cy="3785616"/>
          </a:xfrm>
          <a:prstGeom prst="rect">
            <a:avLst/>
          </a:prstGeom>
          <a:noFill/>
          <a:ln/>
        </p:spPr>
        <p:txBody>
          <a:bodyPr wrap="square" lIns="0" tIns="0" rIns="0" bIns="0" rtlCol="0" anchor="t"/>
          <a:lstStyle/>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Cancer found only inside the gland on biopsy</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No symptoms; picked up after a raised PSA and referral</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Specialist may offer monitoring or treatment to cure</a:t>
            </a:r>
            <a:endParaRPr lang="en-US" dirty="0"/>
          </a:p>
        </p:txBody>
      </p:sp>
      <p:sp>
        <p:nvSpPr>
          <p:cNvPr id="11" name="Shape 9"/>
          <p:cNvSpPr/>
          <p:nvPr/>
        </p:nvSpPr>
        <p:spPr>
          <a:xfrm>
            <a:off x="4343400" y="1901952"/>
            <a:ext cx="3502152" cy="4480560"/>
          </a:xfrm>
          <a:prstGeom prst="roundRect">
            <a:avLst>
              <a:gd name="adj" fmla="val 1567"/>
            </a:avLst>
          </a:prstGeom>
          <a:solidFill>
            <a:srgbClr val="FFFFFF"/>
          </a:solidFill>
          <a:ln w="19050">
            <a:solidFill>
              <a:srgbClr val="B26A00"/>
            </a:solidFill>
            <a:prstDash val="solid"/>
          </a:ln>
        </p:spPr>
        <p:txBody>
          <a:bodyPr/>
          <a:lstStyle/>
          <a:p>
            <a:endParaRPr lang="es-CO"/>
          </a:p>
        </p:txBody>
      </p:sp>
      <p:sp>
        <p:nvSpPr>
          <p:cNvPr id="12" name="Shape 10"/>
          <p:cNvSpPr/>
          <p:nvPr/>
        </p:nvSpPr>
        <p:spPr>
          <a:xfrm>
            <a:off x="4343400" y="1901952"/>
            <a:ext cx="3502152" cy="457200"/>
          </a:xfrm>
          <a:prstGeom prst="roundRect">
            <a:avLst>
              <a:gd name="adj" fmla="val 12000"/>
            </a:avLst>
          </a:prstGeom>
          <a:solidFill>
            <a:srgbClr val="B26A00"/>
          </a:solidFill>
          <a:ln w="12700">
            <a:solidFill>
              <a:srgbClr val="B26A00"/>
            </a:solidFill>
            <a:prstDash val="solid"/>
          </a:ln>
        </p:spPr>
        <p:txBody>
          <a:bodyPr/>
          <a:lstStyle/>
          <a:p>
            <a:endParaRPr lang="es-CO"/>
          </a:p>
        </p:txBody>
      </p:sp>
      <p:sp>
        <p:nvSpPr>
          <p:cNvPr id="13" name="Text 11"/>
          <p:cNvSpPr/>
          <p:nvPr/>
        </p:nvSpPr>
        <p:spPr>
          <a:xfrm>
            <a:off x="4343400" y="1901952"/>
            <a:ext cx="3502152" cy="45720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Locally advanced</a:t>
            </a:r>
            <a:endParaRPr lang="en-US" dirty="0"/>
          </a:p>
        </p:txBody>
      </p:sp>
      <p:sp>
        <p:nvSpPr>
          <p:cNvPr id="14" name="Text 12"/>
          <p:cNvSpPr/>
          <p:nvPr/>
        </p:nvSpPr>
        <p:spPr>
          <a:xfrm>
            <a:off x="4489704" y="2468880"/>
            <a:ext cx="3209544" cy="3785616"/>
          </a:xfrm>
          <a:prstGeom prst="rect">
            <a:avLst/>
          </a:prstGeom>
          <a:noFill/>
          <a:ln/>
        </p:spPr>
        <p:txBody>
          <a:bodyPr wrap="square" lIns="0" tIns="0" rIns="0" bIns="0" rtlCol="0" anchor="t"/>
          <a:lstStyle/>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Cancer felt to extend just beyond the gland</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Often treated with more than one method</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Still no spread to distant organs</a:t>
            </a:r>
            <a:endParaRPr lang="en-US" dirty="0"/>
          </a:p>
        </p:txBody>
      </p:sp>
      <p:sp>
        <p:nvSpPr>
          <p:cNvPr id="15" name="Shape 13"/>
          <p:cNvSpPr/>
          <p:nvPr/>
        </p:nvSpPr>
        <p:spPr>
          <a:xfrm>
            <a:off x="8119872" y="1901952"/>
            <a:ext cx="3502152" cy="4480560"/>
          </a:xfrm>
          <a:prstGeom prst="roundRect">
            <a:avLst>
              <a:gd name="adj" fmla="val 1567"/>
            </a:avLst>
          </a:prstGeom>
          <a:solidFill>
            <a:srgbClr val="FFFFFF"/>
          </a:solidFill>
          <a:ln w="19050">
            <a:solidFill>
              <a:srgbClr val="B23A2E"/>
            </a:solidFill>
            <a:prstDash val="solid"/>
          </a:ln>
        </p:spPr>
        <p:txBody>
          <a:bodyPr/>
          <a:lstStyle/>
          <a:p>
            <a:endParaRPr lang="es-CO"/>
          </a:p>
        </p:txBody>
      </p:sp>
      <p:sp>
        <p:nvSpPr>
          <p:cNvPr id="16" name="Shape 14"/>
          <p:cNvSpPr/>
          <p:nvPr/>
        </p:nvSpPr>
        <p:spPr>
          <a:xfrm>
            <a:off x="8119872" y="1901952"/>
            <a:ext cx="3502152" cy="457200"/>
          </a:xfrm>
          <a:prstGeom prst="roundRect">
            <a:avLst>
              <a:gd name="adj" fmla="val 12000"/>
            </a:avLst>
          </a:prstGeom>
          <a:solidFill>
            <a:srgbClr val="B23A2E"/>
          </a:solidFill>
          <a:ln w="12700">
            <a:solidFill>
              <a:srgbClr val="B23A2E"/>
            </a:solidFill>
            <a:prstDash val="solid"/>
          </a:ln>
        </p:spPr>
        <p:txBody>
          <a:bodyPr/>
          <a:lstStyle/>
          <a:p>
            <a:endParaRPr lang="es-CO"/>
          </a:p>
        </p:txBody>
      </p:sp>
      <p:sp>
        <p:nvSpPr>
          <p:cNvPr id="17" name="Text 15"/>
          <p:cNvSpPr/>
          <p:nvPr/>
        </p:nvSpPr>
        <p:spPr>
          <a:xfrm>
            <a:off x="8119872" y="1901952"/>
            <a:ext cx="3502152" cy="45720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  Advanced / spread</a:t>
            </a:r>
            <a:endParaRPr lang="en-US" dirty="0"/>
          </a:p>
        </p:txBody>
      </p:sp>
      <p:sp>
        <p:nvSpPr>
          <p:cNvPr id="18" name="Text 16"/>
          <p:cNvSpPr/>
          <p:nvPr/>
        </p:nvSpPr>
        <p:spPr>
          <a:xfrm>
            <a:off x="8266176" y="2468880"/>
            <a:ext cx="3209544" cy="3785616"/>
          </a:xfrm>
          <a:prstGeom prst="rect">
            <a:avLst/>
          </a:prstGeom>
          <a:noFill/>
          <a:ln/>
        </p:spPr>
        <p:txBody>
          <a:bodyPr wrap="square" lIns="0" tIns="0" rIns="0" bIns="0" rtlCol="0" anchor="t"/>
          <a:lstStyle/>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New bone pain from spread to the spine</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Hormone therapy is the mainstay</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Care focuses on control, comfort and quality of life</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CASE PROGRESSION</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Jean, first findings</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1.12</a:t>
            </a:r>
            <a:endParaRPr lang="en-US" sz="900" dirty="0"/>
          </a:p>
        </p:txBody>
      </p:sp>
      <p:sp>
        <p:nvSpPr>
          <p:cNvPr id="6" name="Shape 4"/>
          <p:cNvSpPr/>
          <p:nvPr/>
        </p:nvSpPr>
        <p:spPr>
          <a:xfrm>
            <a:off x="566928" y="1481328"/>
            <a:ext cx="11055096" cy="4901184"/>
          </a:xfrm>
          <a:prstGeom prst="roundRect">
            <a:avLst>
              <a:gd name="adj" fmla="val 1119"/>
            </a:avLst>
          </a:prstGeom>
          <a:solidFill>
            <a:srgbClr val="FFF7E8"/>
          </a:solidFill>
          <a:ln w="15875">
            <a:solidFill>
              <a:srgbClr val="EAD8AE"/>
            </a:solidFill>
            <a:prstDash val="solid"/>
          </a:ln>
        </p:spPr>
        <p:txBody>
          <a:bodyPr/>
          <a:lstStyle/>
          <a:p>
            <a:endParaRPr lang="es-CO"/>
          </a:p>
        </p:txBody>
      </p:sp>
      <p:sp>
        <p:nvSpPr>
          <p:cNvPr id="7" name="Text 5"/>
          <p:cNvSpPr/>
          <p:nvPr/>
        </p:nvSpPr>
        <p:spPr>
          <a:xfrm>
            <a:off x="822960" y="1772016"/>
            <a:ext cx="10543032" cy="310896"/>
          </a:xfrm>
          <a:prstGeom prst="rect">
            <a:avLst/>
          </a:prstGeom>
          <a:noFill/>
          <a:ln/>
        </p:spPr>
        <p:txBody>
          <a:bodyPr wrap="square" lIns="0" tIns="0" rIns="0" bIns="0" rtlCol="0" anchor="t"/>
          <a:lstStyle/>
          <a:p>
            <a:pPr marL="0" indent="0">
              <a:buNone/>
            </a:pPr>
            <a:r>
              <a:rPr lang="en-US" b="1" dirty="0">
                <a:solidFill>
                  <a:srgbClr val="B26A00"/>
                </a:solidFill>
                <a:latin typeface="Cambria" pitchFamily="34" charset="0"/>
                <a:ea typeface="Cambria" pitchFamily="34" charset="-122"/>
                <a:cs typeface="Cambria" pitchFamily="34" charset="-120"/>
              </a:rPr>
              <a:t>🩺  Clinical case:  </a:t>
            </a:r>
            <a:r>
              <a:rPr lang="en-US" b="1" dirty="0">
                <a:solidFill>
                  <a:srgbClr val="1F3A5F"/>
                </a:solidFill>
                <a:latin typeface="Cambria" pitchFamily="34" charset="0"/>
                <a:ea typeface="Cambria" pitchFamily="34" charset="-122"/>
                <a:cs typeface="Cambria" pitchFamily="34" charset="-120"/>
              </a:rPr>
              <a:t>Jean, 68, progression</a:t>
            </a:r>
            <a:endParaRPr lang="en-US" dirty="0"/>
          </a:p>
        </p:txBody>
      </p:sp>
      <p:sp>
        <p:nvSpPr>
          <p:cNvPr id="8" name="Text 6"/>
          <p:cNvSpPr/>
          <p:nvPr/>
        </p:nvSpPr>
        <p:spPr>
          <a:xfrm>
            <a:off x="822960" y="2192640"/>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What you already know:   </a:t>
            </a:r>
            <a:r>
              <a:rPr lang="en-US" dirty="0">
                <a:solidFill>
                  <a:srgbClr val="223240"/>
                </a:solidFill>
                <a:latin typeface="Calibri" pitchFamily="34" charset="0"/>
                <a:ea typeface="Calibri" pitchFamily="34" charset="-122"/>
                <a:cs typeface="Calibri" pitchFamily="34" charset="-120"/>
              </a:rPr>
              <a:t>Several months of weak stream, night-time urination and tiredness.</a:t>
            </a:r>
            <a:endParaRPr lang="en-US" dirty="0"/>
          </a:p>
        </p:txBody>
      </p:sp>
      <p:sp>
        <p:nvSpPr>
          <p:cNvPr id="9" name="Text 7"/>
          <p:cNvSpPr/>
          <p:nvPr/>
        </p:nvSpPr>
        <p:spPr>
          <a:xfrm>
            <a:off x="822960" y="2825020"/>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New information:   </a:t>
            </a:r>
            <a:r>
              <a:rPr lang="en-US" dirty="0">
                <a:solidFill>
                  <a:srgbClr val="223240"/>
                </a:solidFill>
                <a:latin typeface="Calibri" pitchFamily="34" charset="0"/>
                <a:ea typeface="Calibri" pitchFamily="34" charset="-122"/>
                <a:cs typeface="Calibri" pitchFamily="34" charset="-120"/>
              </a:rPr>
              <a:t>On gentle finger examination (DRE) the prostate feels enlarged with a firm, hard area on one side. Jean also mentions mild lower back ache for a few weeks.</a:t>
            </a:r>
            <a:endParaRPr lang="en-US" dirty="0"/>
          </a:p>
        </p:txBody>
      </p:sp>
      <p:sp>
        <p:nvSpPr>
          <p:cNvPr id="10" name="Text 8"/>
          <p:cNvSpPr/>
          <p:nvPr/>
        </p:nvSpPr>
        <p:spPr>
          <a:xfrm>
            <a:off x="822960" y="3673968"/>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What this suggests:   </a:t>
            </a:r>
            <a:r>
              <a:rPr lang="en-US" dirty="0">
                <a:solidFill>
                  <a:srgbClr val="223240"/>
                </a:solidFill>
                <a:latin typeface="Calibri" pitchFamily="34" charset="0"/>
                <a:ea typeface="Calibri" pitchFamily="34" charset="-122"/>
                <a:cs typeface="Calibri" pitchFamily="34" charset="-120"/>
              </a:rPr>
              <a:t>A hard, irregular area is a warning sign for cancer. New back ache in this setting must not be ignored.</a:t>
            </a:r>
            <a:endParaRPr lang="en-US" dirty="0"/>
          </a:p>
        </p:txBody>
      </p:sp>
      <p:sp>
        <p:nvSpPr>
          <p:cNvPr id="11" name="Shape 9"/>
          <p:cNvSpPr/>
          <p:nvPr/>
        </p:nvSpPr>
        <p:spPr>
          <a:xfrm>
            <a:off x="822960" y="4597988"/>
            <a:ext cx="10543032" cy="603504"/>
          </a:xfrm>
          <a:prstGeom prst="roundRect">
            <a:avLst>
              <a:gd name="adj" fmla="val 7576"/>
            </a:avLst>
          </a:prstGeom>
          <a:solidFill>
            <a:srgbClr val="FBE6C6"/>
          </a:solidFill>
          <a:ln w="12700">
            <a:solidFill>
              <a:srgbClr val="FBE6C6"/>
            </a:solidFill>
            <a:prstDash val="solid"/>
          </a:ln>
        </p:spPr>
        <p:txBody>
          <a:bodyPr/>
          <a:lstStyle/>
          <a:p>
            <a:endParaRPr lang="es-CO"/>
          </a:p>
        </p:txBody>
      </p:sp>
      <p:sp>
        <p:nvSpPr>
          <p:cNvPr id="12" name="Text 10"/>
          <p:cNvSpPr/>
          <p:nvPr/>
        </p:nvSpPr>
        <p:spPr>
          <a:xfrm>
            <a:off x="987552" y="4773168"/>
            <a:ext cx="10213848" cy="45720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  Your task:  </a:t>
            </a:r>
            <a:r>
              <a:rPr lang="en-US" dirty="0">
                <a:solidFill>
                  <a:srgbClr val="223240"/>
                </a:solidFill>
                <a:latin typeface="Calibri" pitchFamily="34" charset="0"/>
                <a:ea typeface="Calibri" pitchFamily="34" charset="-122"/>
                <a:cs typeface="Calibri" pitchFamily="34" charset="-120"/>
              </a:rPr>
              <a:t>decide what Jean needs next, before we move on.</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DECIDE</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would you do next for Jean?</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1.13</a:t>
            </a:r>
            <a:endParaRPr lang="en-US" sz="900" dirty="0"/>
          </a:p>
        </p:txBody>
      </p:sp>
      <p:sp>
        <p:nvSpPr>
          <p:cNvPr id="6" name="Text 4"/>
          <p:cNvSpPr/>
          <p:nvPr/>
        </p:nvSpPr>
        <p:spPr>
          <a:xfrm>
            <a:off x="566928" y="1481328"/>
            <a:ext cx="11055096" cy="54864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Jean has urinary symptoms, a hard irregular prostate on exam, and new back ache. The best next step is to:</a:t>
            </a:r>
            <a:endParaRPr lang="en-US" dirty="0"/>
          </a:p>
        </p:txBody>
      </p:sp>
      <p:sp>
        <p:nvSpPr>
          <p:cNvPr id="7" name="Shape 5"/>
          <p:cNvSpPr/>
          <p:nvPr/>
        </p:nvSpPr>
        <p:spPr>
          <a:xfrm>
            <a:off x="566928" y="2267712"/>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76656" y="2350008"/>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76656" y="2350008"/>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A</a:t>
            </a:r>
            <a:endParaRPr lang="en-US" dirty="0"/>
          </a:p>
        </p:txBody>
      </p:sp>
      <p:sp>
        <p:nvSpPr>
          <p:cNvPr id="10" name="Text 8"/>
          <p:cNvSpPr/>
          <p:nvPr/>
        </p:nvSpPr>
        <p:spPr>
          <a:xfrm>
            <a:off x="1097280" y="2267712"/>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Reassure him it is just ageing and review in a year</a:t>
            </a:r>
            <a:endParaRPr lang="en-US" dirty="0"/>
          </a:p>
        </p:txBody>
      </p:sp>
      <p:sp>
        <p:nvSpPr>
          <p:cNvPr id="11" name="Shape 9"/>
          <p:cNvSpPr/>
          <p:nvPr/>
        </p:nvSpPr>
        <p:spPr>
          <a:xfrm>
            <a:off x="566928" y="2852928"/>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12" name="Shape 10"/>
          <p:cNvSpPr/>
          <p:nvPr/>
        </p:nvSpPr>
        <p:spPr>
          <a:xfrm>
            <a:off x="676656" y="2935224"/>
            <a:ext cx="292608" cy="292608"/>
          </a:xfrm>
          <a:prstGeom prst="ellipse">
            <a:avLst/>
          </a:prstGeom>
          <a:solidFill>
            <a:srgbClr val="1A6FB0"/>
          </a:solidFill>
          <a:ln w="12700">
            <a:solidFill>
              <a:srgbClr val="1A6FB0"/>
            </a:solidFill>
            <a:prstDash val="solid"/>
          </a:ln>
        </p:spPr>
        <p:txBody>
          <a:bodyPr/>
          <a:lstStyle/>
          <a:p>
            <a:endParaRPr lang="es-CO"/>
          </a:p>
        </p:txBody>
      </p:sp>
      <p:sp>
        <p:nvSpPr>
          <p:cNvPr id="13" name="Text 11"/>
          <p:cNvSpPr/>
          <p:nvPr/>
        </p:nvSpPr>
        <p:spPr>
          <a:xfrm>
            <a:off x="676656" y="2935224"/>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B</a:t>
            </a:r>
            <a:endParaRPr lang="en-US" dirty="0"/>
          </a:p>
        </p:txBody>
      </p:sp>
      <p:sp>
        <p:nvSpPr>
          <p:cNvPr id="14" name="Text 12"/>
          <p:cNvSpPr/>
          <p:nvPr/>
        </p:nvSpPr>
        <p:spPr>
          <a:xfrm>
            <a:off x="1097280" y="2852928"/>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Start antibiotics and send him home</a:t>
            </a:r>
            <a:endParaRPr lang="en-US" dirty="0"/>
          </a:p>
        </p:txBody>
      </p:sp>
      <p:sp>
        <p:nvSpPr>
          <p:cNvPr id="15" name="Shape 13"/>
          <p:cNvSpPr/>
          <p:nvPr/>
        </p:nvSpPr>
        <p:spPr>
          <a:xfrm>
            <a:off x="566928" y="3438144"/>
            <a:ext cx="11055096" cy="457200"/>
          </a:xfrm>
          <a:prstGeom prst="roundRect">
            <a:avLst>
              <a:gd name="adj" fmla="val 10000"/>
            </a:avLst>
          </a:prstGeom>
          <a:solidFill>
            <a:srgbClr val="E7F4EC"/>
          </a:solidFill>
          <a:ln w="19050">
            <a:solidFill>
              <a:srgbClr val="1E7A46"/>
            </a:solidFill>
            <a:prstDash val="solid"/>
          </a:ln>
        </p:spPr>
        <p:txBody>
          <a:bodyPr/>
          <a:lstStyle/>
          <a:p>
            <a:endParaRPr lang="es-CO"/>
          </a:p>
        </p:txBody>
      </p:sp>
      <p:sp>
        <p:nvSpPr>
          <p:cNvPr id="16" name="Shape 14"/>
          <p:cNvSpPr/>
          <p:nvPr/>
        </p:nvSpPr>
        <p:spPr>
          <a:xfrm>
            <a:off x="676656" y="3520440"/>
            <a:ext cx="292608" cy="292608"/>
          </a:xfrm>
          <a:prstGeom prst="ellipse">
            <a:avLst/>
          </a:prstGeom>
          <a:solidFill>
            <a:srgbClr val="1E7A46"/>
          </a:solidFill>
          <a:ln w="12700">
            <a:solidFill>
              <a:srgbClr val="1E7A46"/>
            </a:solidFill>
            <a:prstDash val="solid"/>
          </a:ln>
        </p:spPr>
        <p:txBody>
          <a:bodyPr/>
          <a:lstStyle/>
          <a:p>
            <a:endParaRPr lang="es-CO"/>
          </a:p>
        </p:txBody>
      </p:sp>
      <p:sp>
        <p:nvSpPr>
          <p:cNvPr id="17" name="Text 15"/>
          <p:cNvSpPr/>
          <p:nvPr/>
        </p:nvSpPr>
        <p:spPr>
          <a:xfrm>
            <a:off x="676656" y="3520440"/>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C</a:t>
            </a:r>
            <a:endParaRPr lang="en-US" dirty="0"/>
          </a:p>
        </p:txBody>
      </p:sp>
      <p:sp>
        <p:nvSpPr>
          <p:cNvPr id="18" name="Text 16"/>
          <p:cNvSpPr/>
          <p:nvPr/>
        </p:nvSpPr>
        <p:spPr>
          <a:xfrm>
            <a:off x="1097280" y="3438144"/>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Refer him along the cancer pathway for assessment, and explain clearly why</a:t>
            </a:r>
            <a:endParaRPr lang="en-US" dirty="0"/>
          </a:p>
        </p:txBody>
      </p:sp>
      <p:sp>
        <p:nvSpPr>
          <p:cNvPr id="19" name="Shape 17"/>
          <p:cNvSpPr/>
          <p:nvPr/>
        </p:nvSpPr>
        <p:spPr>
          <a:xfrm>
            <a:off x="566928" y="4023360"/>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76656" y="4105656"/>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76656" y="4105656"/>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D</a:t>
            </a:r>
            <a:endParaRPr lang="en-US" dirty="0"/>
          </a:p>
        </p:txBody>
      </p:sp>
      <p:sp>
        <p:nvSpPr>
          <p:cNvPr id="22" name="Text 20"/>
          <p:cNvSpPr/>
          <p:nvPr/>
        </p:nvSpPr>
        <p:spPr>
          <a:xfrm>
            <a:off x="1097280" y="4023360"/>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Perform a biopsy yourself at the health centre</a:t>
            </a:r>
            <a:endParaRPr lang="en-US" dirty="0"/>
          </a:p>
        </p:txBody>
      </p:sp>
      <p:sp>
        <p:nvSpPr>
          <p:cNvPr id="23" name="Shape 21"/>
          <p:cNvSpPr/>
          <p:nvPr/>
        </p:nvSpPr>
        <p:spPr>
          <a:xfrm>
            <a:off x="566928" y="4663440"/>
            <a:ext cx="11055096" cy="1719072"/>
          </a:xfrm>
          <a:prstGeom prst="roundRect">
            <a:avLst>
              <a:gd name="adj" fmla="val 2660"/>
            </a:avLst>
          </a:prstGeom>
          <a:solidFill>
            <a:srgbClr val="E7F4EC"/>
          </a:solidFill>
          <a:ln w="12700">
            <a:solidFill>
              <a:srgbClr val="BFE3CD"/>
            </a:solidFill>
            <a:prstDash val="solid"/>
          </a:ln>
        </p:spPr>
        <p:txBody>
          <a:bodyPr/>
          <a:lstStyle/>
          <a:p>
            <a:endParaRPr lang="es-CO"/>
          </a:p>
        </p:txBody>
      </p:sp>
      <p:sp>
        <p:nvSpPr>
          <p:cNvPr id="24" name="Text 22"/>
          <p:cNvSpPr/>
          <p:nvPr/>
        </p:nvSpPr>
        <p:spPr>
          <a:xfrm>
            <a:off x="749808" y="4754880"/>
            <a:ext cx="10689336" cy="153619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C.  </a:t>
            </a:r>
            <a:r>
              <a:rPr lang="en-US" dirty="0">
                <a:solidFill>
                  <a:srgbClr val="223240"/>
                </a:solidFill>
                <a:latin typeface="Calibri" pitchFamily="34" charset="0"/>
                <a:ea typeface="Calibri" pitchFamily="34" charset="-122"/>
                <a:cs typeface="Calibri" pitchFamily="34" charset="-120"/>
              </a:rPr>
              <a:t>A hard, irregular prostate with symptoms warrants referral for assessment (PSA, specialist review, and biopsy if indicated). Frontline staff recognise and refer, they do not biopsy. Reassurance or antibiotics alone would delay a possible cancer.</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HIGHLIGHTS</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Session 1 key points</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1.14</a:t>
            </a:r>
            <a:endParaRPr lang="en-US" sz="900" dirty="0"/>
          </a:p>
        </p:txBody>
      </p:sp>
      <p:sp>
        <p:nvSpPr>
          <p:cNvPr id="6" name="Shape 4"/>
          <p:cNvSpPr/>
          <p:nvPr/>
        </p:nvSpPr>
        <p:spPr>
          <a:xfrm>
            <a:off x="566928" y="1481328"/>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7" name="Shape 5"/>
          <p:cNvSpPr/>
          <p:nvPr/>
        </p:nvSpPr>
        <p:spPr>
          <a:xfrm>
            <a:off x="713232" y="2029968"/>
            <a:ext cx="365760" cy="365760"/>
          </a:xfrm>
          <a:prstGeom prst="ellipse">
            <a:avLst/>
          </a:prstGeom>
          <a:solidFill>
            <a:srgbClr val="1A6FB0"/>
          </a:solidFill>
          <a:ln w="12700">
            <a:solidFill>
              <a:srgbClr val="1A6FB0"/>
            </a:solidFill>
            <a:prstDash val="solid"/>
          </a:ln>
        </p:spPr>
        <p:txBody>
          <a:bodyPr/>
          <a:lstStyle/>
          <a:p>
            <a:endParaRPr lang="es-CO"/>
          </a:p>
        </p:txBody>
      </p:sp>
      <p:sp>
        <p:nvSpPr>
          <p:cNvPr id="8" name="Text 6"/>
          <p:cNvSpPr/>
          <p:nvPr/>
        </p:nvSpPr>
        <p:spPr>
          <a:xfrm>
            <a:off x="713232" y="2029968"/>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9" name="Text 7"/>
          <p:cNvSpPr/>
          <p:nvPr/>
        </p:nvSpPr>
        <p:spPr>
          <a:xfrm>
            <a:off x="1207008" y="1481328"/>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Prostate cancer is a cancer of the gland below the bladder; only men have a prostate.</a:t>
            </a:r>
            <a:endParaRPr lang="en-US" dirty="0"/>
          </a:p>
        </p:txBody>
      </p:sp>
      <p:sp>
        <p:nvSpPr>
          <p:cNvPr id="10" name="Shape 8"/>
          <p:cNvSpPr/>
          <p:nvPr/>
        </p:nvSpPr>
        <p:spPr>
          <a:xfrm>
            <a:off x="6222492" y="1481328"/>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11" name="Shape 9"/>
          <p:cNvSpPr/>
          <p:nvPr/>
        </p:nvSpPr>
        <p:spPr>
          <a:xfrm>
            <a:off x="6368796" y="2029968"/>
            <a:ext cx="365760" cy="365760"/>
          </a:xfrm>
          <a:prstGeom prst="ellipse">
            <a:avLst/>
          </a:prstGeom>
          <a:solidFill>
            <a:srgbClr val="1A6FB0"/>
          </a:solidFill>
          <a:ln w="12700">
            <a:solidFill>
              <a:srgbClr val="1A6FB0"/>
            </a:solidFill>
            <a:prstDash val="solid"/>
          </a:ln>
        </p:spPr>
        <p:txBody>
          <a:bodyPr/>
          <a:lstStyle/>
          <a:p>
            <a:endParaRPr lang="es-CO"/>
          </a:p>
        </p:txBody>
      </p:sp>
      <p:sp>
        <p:nvSpPr>
          <p:cNvPr id="12" name="Text 10"/>
          <p:cNvSpPr/>
          <p:nvPr/>
        </p:nvSpPr>
        <p:spPr>
          <a:xfrm>
            <a:off x="6368796" y="2029968"/>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3" name="Text 11"/>
          <p:cNvSpPr/>
          <p:nvPr/>
        </p:nvSpPr>
        <p:spPr>
          <a:xfrm>
            <a:off x="6862572" y="1481328"/>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It is the most common cancer in men in Rwanda, mostly in older men.</a:t>
            </a:r>
            <a:endParaRPr lang="en-US" dirty="0"/>
          </a:p>
        </p:txBody>
      </p:sp>
      <p:sp>
        <p:nvSpPr>
          <p:cNvPr id="14" name="Shape 12"/>
          <p:cNvSpPr/>
          <p:nvPr/>
        </p:nvSpPr>
        <p:spPr>
          <a:xfrm>
            <a:off x="566928" y="3200400"/>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15" name="Shape 13"/>
          <p:cNvSpPr/>
          <p:nvPr/>
        </p:nvSpPr>
        <p:spPr>
          <a:xfrm>
            <a:off x="713232" y="3749040"/>
            <a:ext cx="365760" cy="365760"/>
          </a:xfrm>
          <a:prstGeom prst="ellipse">
            <a:avLst/>
          </a:prstGeom>
          <a:solidFill>
            <a:srgbClr val="1A6FB0"/>
          </a:solidFill>
          <a:ln w="12700">
            <a:solidFill>
              <a:srgbClr val="1A6FB0"/>
            </a:solidFill>
            <a:prstDash val="solid"/>
          </a:ln>
        </p:spPr>
        <p:txBody>
          <a:bodyPr/>
          <a:lstStyle/>
          <a:p>
            <a:endParaRPr lang="es-CO"/>
          </a:p>
        </p:txBody>
      </p:sp>
      <p:sp>
        <p:nvSpPr>
          <p:cNvPr id="16" name="Text 14"/>
          <p:cNvSpPr/>
          <p:nvPr/>
        </p:nvSpPr>
        <p:spPr>
          <a:xfrm>
            <a:off x="713232" y="3749040"/>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17" name="Text 15"/>
          <p:cNvSpPr/>
          <p:nvPr/>
        </p:nvSpPr>
        <p:spPr>
          <a:xfrm>
            <a:off x="1207008" y="3200400"/>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It is driven by male hormones, the basis of hormone therapy later.</a:t>
            </a:r>
            <a:endParaRPr lang="en-US" dirty="0"/>
          </a:p>
        </p:txBody>
      </p:sp>
      <p:sp>
        <p:nvSpPr>
          <p:cNvPr id="18" name="Shape 16"/>
          <p:cNvSpPr/>
          <p:nvPr/>
        </p:nvSpPr>
        <p:spPr>
          <a:xfrm>
            <a:off x="6222492" y="3200400"/>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19" name="Shape 17"/>
          <p:cNvSpPr/>
          <p:nvPr/>
        </p:nvSpPr>
        <p:spPr>
          <a:xfrm>
            <a:off x="6368796" y="3749040"/>
            <a:ext cx="365760" cy="365760"/>
          </a:xfrm>
          <a:prstGeom prst="ellipse">
            <a:avLst/>
          </a:prstGeom>
          <a:solidFill>
            <a:srgbClr val="1A6FB0"/>
          </a:solidFill>
          <a:ln w="12700">
            <a:solidFill>
              <a:srgbClr val="1A6FB0"/>
            </a:solidFill>
            <a:prstDash val="solid"/>
          </a:ln>
        </p:spPr>
        <p:txBody>
          <a:bodyPr/>
          <a:lstStyle/>
          <a:p>
            <a:endParaRPr lang="es-CO"/>
          </a:p>
        </p:txBody>
      </p:sp>
      <p:sp>
        <p:nvSpPr>
          <p:cNvPr id="20" name="Text 18"/>
          <p:cNvSpPr/>
          <p:nvPr/>
        </p:nvSpPr>
        <p:spPr>
          <a:xfrm>
            <a:off x="6368796" y="3749040"/>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21" name="Text 19"/>
          <p:cNvSpPr/>
          <p:nvPr/>
        </p:nvSpPr>
        <p:spPr>
          <a:xfrm>
            <a:off x="6862572" y="3200400"/>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Early cancer usually causes no symptoms; many men here present late.</a:t>
            </a:r>
            <a:endParaRPr lang="en-US" dirty="0"/>
          </a:p>
        </p:txBody>
      </p:sp>
      <p:sp>
        <p:nvSpPr>
          <p:cNvPr id="22" name="Shape 20"/>
          <p:cNvSpPr/>
          <p:nvPr/>
        </p:nvSpPr>
        <p:spPr>
          <a:xfrm>
            <a:off x="566928" y="4919472"/>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23" name="Shape 21"/>
          <p:cNvSpPr/>
          <p:nvPr/>
        </p:nvSpPr>
        <p:spPr>
          <a:xfrm>
            <a:off x="713232" y="5468112"/>
            <a:ext cx="365760" cy="365760"/>
          </a:xfrm>
          <a:prstGeom prst="ellipse">
            <a:avLst/>
          </a:prstGeom>
          <a:solidFill>
            <a:srgbClr val="1A6FB0"/>
          </a:solidFill>
          <a:ln w="12700">
            <a:solidFill>
              <a:srgbClr val="1A6FB0"/>
            </a:solidFill>
            <a:prstDash val="solid"/>
          </a:ln>
        </p:spPr>
        <p:txBody>
          <a:bodyPr/>
          <a:lstStyle/>
          <a:p>
            <a:endParaRPr lang="es-CO"/>
          </a:p>
        </p:txBody>
      </p:sp>
      <p:sp>
        <p:nvSpPr>
          <p:cNvPr id="24" name="Text 22"/>
          <p:cNvSpPr/>
          <p:nvPr/>
        </p:nvSpPr>
        <p:spPr>
          <a:xfrm>
            <a:off x="713232" y="5468112"/>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5</a:t>
            </a:r>
            <a:endParaRPr lang="en-US" dirty="0"/>
          </a:p>
        </p:txBody>
      </p:sp>
      <p:sp>
        <p:nvSpPr>
          <p:cNvPr id="25" name="Text 23"/>
          <p:cNvSpPr/>
          <p:nvPr/>
        </p:nvSpPr>
        <p:spPr>
          <a:xfrm>
            <a:off x="1207008" y="4919472"/>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Think localised vs spread: this shapes what treatment can achieve.</a:t>
            </a:r>
            <a:endParaRPr lang="en-US" dirty="0"/>
          </a:p>
        </p:txBody>
      </p:sp>
      <p:sp>
        <p:nvSpPr>
          <p:cNvPr id="26" name="Shape 24"/>
          <p:cNvSpPr/>
          <p:nvPr/>
        </p:nvSpPr>
        <p:spPr>
          <a:xfrm>
            <a:off x="6222492" y="4919472"/>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27" name="Shape 25"/>
          <p:cNvSpPr/>
          <p:nvPr/>
        </p:nvSpPr>
        <p:spPr>
          <a:xfrm>
            <a:off x="6368796" y="5468112"/>
            <a:ext cx="365760" cy="365760"/>
          </a:xfrm>
          <a:prstGeom prst="ellipse">
            <a:avLst/>
          </a:prstGeom>
          <a:solidFill>
            <a:srgbClr val="1A6FB0"/>
          </a:solidFill>
          <a:ln w="12700">
            <a:solidFill>
              <a:srgbClr val="1A6FB0"/>
            </a:solidFill>
            <a:prstDash val="solid"/>
          </a:ln>
        </p:spPr>
        <p:txBody>
          <a:bodyPr/>
          <a:lstStyle/>
          <a:p>
            <a:endParaRPr lang="es-CO"/>
          </a:p>
        </p:txBody>
      </p:sp>
      <p:sp>
        <p:nvSpPr>
          <p:cNvPr id="28" name="Text 26"/>
          <p:cNvSpPr/>
          <p:nvPr/>
        </p:nvSpPr>
        <p:spPr>
          <a:xfrm>
            <a:off x="6368796" y="5468112"/>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6</a:t>
            </a:r>
            <a:endParaRPr lang="en-US" dirty="0"/>
          </a:p>
        </p:txBody>
      </p:sp>
      <p:sp>
        <p:nvSpPr>
          <p:cNvPr id="29" name="Text 27"/>
          <p:cNvSpPr/>
          <p:nvPr/>
        </p:nvSpPr>
        <p:spPr>
          <a:xfrm>
            <a:off x="6862572" y="4919472"/>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Your job: recognise risk and warning signs, then refer and explain.</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1 · KNOWLEDGE CHECK</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Knowledge Check</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1.15</a:t>
            </a:r>
            <a:endParaRPr lang="en-US" sz="900" dirty="0"/>
          </a:p>
        </p:txBody>
      </p:sp>
      <p:sp>
        <p:nvSpPr>
          <p:cNvPr id="6" name="Text 4"/>
          <p:cNvSpPr/>
          <p:nvPr/>
        </p:nvSpPr>
        <p:spPr>
          <a:xfrm>
            <a:off x="566928" y="1048190"/>
            <a:ext cx="11055096" cy="310896"/>
          </a:xfrm>
          <a:prstGeom prst="rect">
            <a:avLst/>
          </a:prstGeom>
          <a:noFill/>
          <a:ln/>
        </p:spPr>
        <p:txBody>
          <a:bodyPr wrap="square" lIns="0" tIns="0" rIns="0" bIns="0" rtlCol="0" anchor="t"/>
          <a:lstStyle/>
          <a:p>
            <a:pPr marL="0" indent="0">
              <a:buNone/>
            </a:pPr>
            <a:r>
              <a:rPr lang="en-US" sz="1300" i="1" dirty="0">
                <a:solidFill>
                  <a:srgbClr val="1A6FB0"/>
                </a:solidFill>
                <a:latin typeface="Calibri" pitchFamily="34" charset="0"/>
                <a:ea typeface="Calibri" pitchFamily="34" charset="-122"/>
                <a:cs typeface="Calibri" pitchFamily="34" charset="-120"/>
              </a:rPr>
              <a:t>Five questions. Each shows every option, the correct answer, and why.</a:t>
            </a:r>
            <a:endParaRPr lang="en-US" sz="1300" dirty="0"/>
          </a:p>
        </p:txBody>
      </p:sp>
      <p:sp>
        <p:nvSpPr>
          <p:cNvPr id="7" name="Shape 5"/>
          <p:cNvSpPr/>
          <p:nvPr/>
        </p:nvSpPr>
        <p:spPr>
          <a:xfrm>
            <a:off x="566928" y="1299876"/>
            <a:ext cx="11055096" cy="1003923"/>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94944" y="1409605"/>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94944" y="1409605"/>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10" name="Text 8"/>
          <p:cNvSpPr/>
          <p:nvPr/>
        </p:nvSpPr>
        <p:spPr>
          <a:xfrm>
            <a:off x="1115568" y="1373029"/>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Where is the prostate?</a:t>
            </a:r>
            <a:endParaRPr lang="en-US" dirty="0"/>
          </a:p>
        </p:txBody>
      </p:sp>
      <p:sp>
        <p:nvSpPr>
          <p:cNvPr id="11" name="Text 9"/>
          <p:cNvSpPr/>
          <p:nvPr/>
        </p:nvSpPr>
        <p:spPr>
          <a:xfrm>
            <a:off x="1115568" y="1638205"/>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Above the kidneys     B. Below the bladder, around the urine tube (men only)     C. Inside the rectum     D. In the lower chest</a:t>
            </a:r>
            <a:endParaRPr lang="en-US" dirty="0"/>
          </a:p>
        </p:txBody>
      </p:sp>
      <p:sp>
        <p:nvSpPr>
          <p:cNvPr id="12" name="Text 10"/>
          <p:cNvSpPr/>
          <p:nvPr/>
        </p:nvSpPr>
        <p:spPr>
          <a:xfrm>
            <a:off x="3064683" y="1991534"/>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A small gland below the bladder, around the urine tube, found only in men.</a:t>
            </a:r>
            <a:endParaRPr lang="en-US" dirty="0"/>
          </a:p>
        </p:txBody>
      </p:sp>
      <p:sp>
        <p:nvSpPr>
          <p:cNvPr id="13" name="Shape 11"/>
          <p:cNvSpPr/>
          <p:nvPr/>
        </p:nvSpPr>
        <p:spPr>
          <a:xfrm>
            <a:off x="566928" y="2407559"/>
            <a:ext cx="11055096" cy="933170"/>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14" name="Shape 12"/>
          <p:cNvSpPr/>
          <p:nvPr/>
        </p:nvSpPr>
        <p:spPr>
          <a:xfrm>
            <a:off x="694944" y="2517287"/>
            <a:ext cx="292608" cy="292608"/>
          </a:xfrm>
          <a:prstGeom prst="ellipse">
            <a:avLst/>
          </a:prstGeom>
          <a:solidFill>
            <a:srgbClr val="1A6FB0"/>
          </a:solidFill>
          <a:ln w="12700">
            <a:solidFill>
              <a:srgbClr val="1A6FB0"/>
            </a:solidFill>
            <a:prstDash val="solid"/>
          </a:ln>
        </p:spPr>
        <p:txBody>
          <a:bodyPr/>
          <a:lstStyle/>
          <a:p>
            <a:endParaRPr lang="es-CO"/>
          </a:p>
        </p:txBody>
      </p:sp>
      <p:sp>
        <p:nvSpPr>
          <p:cNvPr id="15" name="Text 13"/>
          <p:cNvSpPr/>
          <p:nvPr/>
        </p:nvSpPr>
        <p:spPr>
          <a:xfrm>
            <a:off x="694944" y="2517287"/>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6" name="Text 14"/>
          <p:cNvSpPr/>
          <p:nvPr/>
        </p:nvSpPr>
        <p:spPr>
          <a:xfrm>
            <a:off x="1115568" y="2480711"/>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Prostate cancer is mainly driven by:</a:t>
            </a:r>
            <a:endParaRPr lang="en-US" dirty="0"/>
          </a:p>
        </p:txBody>
      </p:sp>
      <p:sp>
        <p:nvSpPr>
          <p:cNvPr id="17" name="Text 15"/>
          <p:cNvSpPr/>
          <p:nvPr/>
        </p:nvSpPr>
        <p:spPr>
          <a:xfrm>
            <a:off x="1115568" y="2745887"/>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Infections     B. Male hormones (androgens)     C. Diet alone     D. Cold weather</a:t>
            </a:r>
            <a:endParaRPr lang="en-US" dirty="0"/>
          </a:p>
        </p:txBody>
      </p:sp>
      <p:sp>
        <p:nvSpPr>
          <p:cNvPr id="18" name="Text 16"/>
          <p:cNvSpPr/>
          <p:nvPr/>
        </p:nvSpPr>
        <p:spPr>
          <a:xfrm>
            <a:off x="1115568" y="3049854"/>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Male hormones (androgens), which is why hormone therapy works.</a:t>
            </a:r>
            <a:endParaRPr lang="en-US" dirty="0"/>
          </a:p>
        </p:txBody>
      </p:sp>
      <p:sp>
        <p:nvSpPr>
          <p:cNvPr id="19" name="Shape 17"/>
          <p:cNvSpPr/>
          <p:nvPr/>
        </p:nvSpPr>
        <p:spPr>
          <a:xfrm>
            <a:off x="566928" y="3431011"/>
            <a:ext cx="11055096" cy="910072"/>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94944" y="3540739"/>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94944" y="3540739"/>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22" name="Text 20"/>
          <p:cNvSpPr/>
          <p:nvPr/>
        </p:nvSpPr>
        <p:spPr>
          <a:xfrm>
            <a:off x="1115568" y="3504163"/>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Most men with prostate cancer in Rwanda are:</a:t>
            </a:r>
            <a:endParaRPr lang="en-US" dirty="0"/>
          </a:p>
        </p:txBody>
      </p:sp>
      <p:sp>
        <p:nvSpPr>
          <p:cNvPr id="23" name="Text 21"/>
          <p:cNvSpPr/>
          <p:nvPr/>
        </p:nvSpPr>
        <p:spPr>
          <a:xfrm>
            <a:off x="1115568" y="3769339"/>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Young men under 30     B. Older, and often diagnosed late     C. Equal at all ages     D. Only smokers</a:t>
            </a:r>
            <a:endParaRPr lang="en-US" dirty="0"/>
          </a:p>
        </p:txBody>
      </p:sp>
      <p:sp>
        <p:nvSpPr>
          <p:cNvPr id="24" name="Text 22"/>
          <p:cNvSpPr/>
          <p:nvPr/>
        </p:nvSpPr>
        <p:spPr>
          <a:xfrm>
            <a:off x="1115568" y="4085341"/>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Older, and often diagnosed late once it has spread.</a:t>
            </a:r>
            <a:endParaRPr lang="en-US" dirty="0"/>
          </a:p>
        </p:txBody>
      </p:sp>
      <p:sp>
        <p:nvSpPr>
          <p:cNvPr id="25" name="Shape 23"/>
          <p:cNvSpPr/>
          <p:nvPr/>
        </p:nvSpPr>
        <p:spPr>
          <a:xfrm>
            <a:off x="566928" y="4430405"/>
            <a:ext cx="11055096" cy="983036"/>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26" name="Shape 24"/>
          <p:cNvSpPr/>
          <p:nvPr/>
        </p:nvSpPr>
        <p:spPr>
          <a:xfrm>
            <a:off x="694944" y="4540133"/>
            <a:ext cx="292608" cy="292608"/>
          </a:xfrm>
          <a:prstGeom prst="ellipse">
            <a:avLst/>
          </a:prstGeom>
          <a:solidFill>
            <a:srgbClr val="1A6FB0"/>
          </a:solidFill>
          <a:ln w="12700">
            <a:solidFill>
              <a:srgbClr val="1A6FB0"/>
            </a:solidFill>
            <a:prstDash val="solid"/>
          </a:ln>
        </p:spPr>
        <p:txBody>
          <a:bodyPr/>
          <a:lstStyle/>
          <a:p>
            <a:endParaRPr lang="es-CO"/>
          </a:p>
        </p:txBody>
      </p:sp>
      <p:sp>
        <p:nvSpPr>
          <p:cNvPr id="27" name="Text 25"/>
          <p:cNvSpPr/>
          <p:nvPr/>
        </p:nvSpPr>
        <p:spPr>
          <a:xfrm>
            <a:off x="694944" y="4540133"/>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28" name="Text 26"/>
          <p:cNvSpPr/>
          <p:nvPr/>
        </p:nvSpPr>
        <p:spPr>
          <a:xfrm>
            <a:off x="1115568" y="4503557"/>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A hard, irregular prostate on exam should prompt:</a:t>
            </a:r>
            <a:endParaRPr lang="en-US" dirty="0"/>
          </a:p>
        </p:txBody>
      </p:sp>
      <p:sp>
        <p:nvSpPr>
          <p:cNvPr id="29" name="Text 27"/>
          <p:cNvSpPr/>
          <p:nvPr/>
        </p:nvSpPr>
        <p:spPr>
          <a:xfrm>
            <a:off x="1115568" y="4768733"/>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Reassurance and review in a year     B. Antibiotics and discharge     C. Referral for assessment     D. A biopsy at the health centre</a:t>
            </a:r>
            <a:endParaRPr lang="en-US" dirty="0"/>
          </a:p>
        </p:txBody>
      </p:sp>
      <p:sp>
        <p:nvSpPr>
          <p:cNvPr id="30" name="Text 28"/>
          <p:cNvSpPr/>
          <p:nvPr/>
        </p:nvSpPr>
        <p:spPr>
          <a:xfrm>
            <a:off x="3942989" y="5085696"/>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C.  </a:t>
            </a:r>
            <a:r>
              <a:rPr lang="en-US" dirty="0">
                <a:solidFill>
                  <a:srgbClr val="223240"/>
                </a:solidFill>
                <a:latin typeface="Calibri" pitchFamily="34" charset="0"/>
                <a:ea typeface="Calibri" pitchFamily="34" charset="-122"/>
                <a:cs typeface="Calibri" pitchFamily="34" charset="-120"/>
              </a:rPr>
              <a:t>Referral for assessment, not reassurance or antibiotics alone.</a:t>
            </a:r>
            <a:endParaRPr lang="en-US" dirty="0"/>
          </a:p>
        </p:txBody>
      </p:sp>
      <p:sp>
        <p:nvSpPr>
          <p:cNvPr id="31" name="Shape 29"/>
          <p:cNvSpPr/>
          <p:nvPr/>
        </p:nvSpPr>
        <p:spPr>
          <a:xfrm>
            <a:off x="566928" y="5501989"/>
            <a:ext cx="11055096" cy="983036"/>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32" name="Shape 30"/>
          <p:cNvSpPr/>
          <p:nvPr/>
        </p:nvSpPr>
        <p:spPr>
          <a:xfrm>
            <a:off x="694944" y="5611718"/>
            <a:ext cx="292608" cy="292608"/>
          </a:xfrm>
          <a:prstGeom prst="ellipse">
            <a:avLst/>
          </a:prstGeom>
          <a:solidFill>
            <a:srgbClr val="1A6FB0"/>
          </a:solidFill>
          <a:ln w="12700">
            <a:solidFill>
              <a:srgbClr val="1A6FB0"/>
            </a:solidFill>
            <a:prstDash val="solid"/>
          </a:ln>
        </p:spPr>
        <p:txBody>
          <a:bodyPr/>
          <a:lstStyle/>
          <a:p>
            <a:endParaRPr lang="es-CO"/>
          </a:p>
        </p:txBody>
      </p:sp>
      <p:sp>
        <p:nvSpPr>
          <p:cNvPr id="33" name="Text 31"/>
          <p:cNvSpPr/>
          <p:nvPr/>
        </p:nvSpPr>
        <p:spPr>
          <a:xfrm>
            <a:off x="694944" y="5611718"/>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5</a:t>
            </a:r>
            <a:endParaRPr lang="en-US" dirty="0"/>
          </a:p>
        </p:txBody>
      </p:sp>
      <p:sp>
        <p:nvSpPr>
          <p:cNvPr id="34" name="Text 32"/>
          <p:cNvSpPr/>
          <p:nvPr/>
        </p:nvSpPr>
        <p:spPr>
          <a:xfrm>
            <a:off x="1115568" y="5575142"/>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"Localised" cancer means:</a:t>
            </a:r>
            <a:endParaRPr lang="en-US" dirty="0"/>
          </a:p>
        </p:txBody>
      </p:sp>
      <p:sp>
        <p:nvSpPr>
          <p:cNvPr id="35" name="Text 33"/>
          <p:cNvSpPr/>
          <p:nvPr/>
        </p:nvSpPr>
        <p:spPr>
          <a:xfrm>
            <a:off x="1115568" y="5840318"/>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Cancer still inside the gland     B. Cancer spread to bone     C. Cancer in distant organs     D. Cancer that cannot be treated</a:t>
            </a:r>
            <a:endParaRPr lang="en-US" dirty="0"/>
          </a:p>
        </p:txBody>
      </p:sp>
      <p:sp>
        <p:nvSpPr>
          <p:cNvPr id="36" name="Text 34"/>
          <p:cNvSpPr/>
          <p:nvPr/>
        </p:nvSpPr>
        <p:spPr>
          <a:xfrm>
            <a:off x="3613967" y="6169985"/>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A.  </a:t>
            </a:r>
            <a:r>
              <a:rPr lang="en-US" dirty="0">
                <a:solidFill>
                  <a:srgbClr val="223240"/>
                </a:solidFill>
                <a:latin typeface="Calibri" pitchFamily="34" charset="0"/>
                <a:ea typeface="Calibri" pitchFamily="34" charset="-122"/>
                <a:cs typeface="Calibri" pitchFamily="34" charset="-120"/>
              </a:rPr>
              <a:t>Cancer still inside the gland, often curable or safe to monitor.</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9">
    <p:bg>
      <p:bgPr>
        <a:solidFill>
          <a:srgbClr val="1F3A5F"/>
        </a:solidFill>
        <a:effectLst/>
      </p:bgPr>
    </p:bg>
    <p:spTree>
      <p:nvGrpSpPr>
        <p:cNvPr id="1" name=""/>
        <p:cNvGrpSpPr/>
        <p:nvPr/>
      </p:nvGrpSpPr>
      <p:grpSpPr>
        <a:xfrm>
          <a:off x="0" y="0"/>
          <a:ext cx="0" cy="0"/>
          <a:chOff x="0" y="0"/>
          <a:chExt cx="0" cy="0"/>
        </a:xfrm>
      </p:grpSpPr>
      <p:sp>
        <p:nvSpPr>
          <p:cNvPr id="2" name="Text 0"/>
          <p:cNvSpPr/>
          <p:nvPr/>
        </p:nvSpPr>
        <p:spPr>
          <a:xfrm>
            <a:off x="1005840" y="2377440"/>
            <a:ext cx="10058400" cy="365760"/>
          </a:xfrm>
          <a:prstGeom prst="rect">
            <a:avLst/>
          </a:prstGeom>
          <a:noFill/>
          <a:ln/>
        </p:spPr>
        <p:txBody>
          <a:bodyPr wrap="square" lIns="0" tIns="0" rIns="0" bIns="0" rtlCol="0" anchor="ctr"/>
          <a:lstStyle/>
          <a:p>
            <a:pPr marL="0" indent="0">
              <a:buNone/>
            </a:pPr>
            <a:r>
              <a:rPr lang="en-US" sz="1500" b="1" kern="0" spc="300" dirty="0">
                <a:solidFill>
                  <a:srgbClr val="9FC4E4"/>
                </a:solidFill>
                <a:latin typeface="Calibri" pitchFamily="34" charset="0"/>
                <a:ea typeface="Calibri" pitchFamily="34" charset="-122"/>
                <a:cs typeface="Calibri" pitchFamily="34" charset="-120"/>
              </a:rPr>
              <a:t>SESSION 2</a:t>
            </a:r>
            <a:endParaRPr lang="en-US" sz="1500" dirty="0"/>
          </a:p>
        </p:txBody>
      </p:sp>
      <p:sp>
        <p:nvSpPr>
          <p:cNvPr id="3" name="Text 1"/>
          <p:cNvSpPr/>
          <p:nvPr/>
        </p:nvSpPr>
        <p:spPr>
          <a:xfrm>
            <a:off x="1005840" y="2788920"/>
            <a:ext cx="10058400" cy="118872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Screening &amp; Early Detection</a:t>
            </a:r>
            <a:endParaRPr lang="en-US" sz="4000" dirty="0"/>
          </a:p>
        </p:txBody>
      </p:sp>
      <p:sp>
        <p:nvSpPr>
          <p:cNvPr id="4" name="Text 2"/>
          <p:cNvSpPr/>
          <p:nvPr/>
        </p:nvSpPr>
        <p:spPr>
          <a:xfrm>
            <a:off x="1024128" y="3977640"/>
            <a:ext cx="9601200" cy="822960"/>
          </a:xfrm>
          <a:prstGeom prst="rect">
            <a:avLst/>
          </a:prstGeom>
          <a:noFill/>
          <a:ln/>
        </p:spPr>
        <p:txBody>
          <a:bodyPr wrap="square" lIns="0" tIns="0" rIns="0" bIns="0" rtlCol="0" anchor="t"/>
          <a:lstStyle/>
          <a:p>
            <a:pPr marL="0" indent="0">
              <a:buNone/>
            </a:pPr>
            <a:r>
              <a:rPr lang="en-US" sz="1500" dirty="0">
                <a:solidFill>
                  <a:srgbClr val="CFE0EF"/>
                </a:solidFill>
                <a:latin typeface="Calibri" pitchFamily="34" charset="0"/>
                <a:ea typeface="Calibri" pitchFamily="34" charset="-122"/>
                <a:cs typeface="Calibri" pitchFamily="34" charset="-120"/>
              </a:rPr>
              <a:t>Who is at risk, what to look for, and how to guide men about testing in Rwanda.</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2 · SCREENING</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this session gives you</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2.1</a:t>
            </a:r>
            <a:endParaRPr lang="en-US" sz="900" dirty="0"/>
          </a:p>
        </p:txBody>
      </p:sp>
      <p:sp>
        <p:nvSpPr>
          <p:cNvPr id="6" name="Shape 4"/>
          <p:cNvSpPr/>
          <p:nvPr/>
        </p:nvSpPr>
        <p:spPr>
          <a:xfrm>
            <a:off x="566928" y="1481328"/>
            <a:ext cx="11055096" cy="914400"/>
          </a:xfrm>
          <a:prstGeom prst="roundRect">
            <a:avLst>
              <a:gd name="adj" fmla="val 6000"/>
            </a:avLst>
          </a:prstGeom>
          <a:solidFill>
            <a:srgbClr val="EAF1F8"/>
          </a:solidFill>
          <a:ln w="12700">
            <a:solidFill>
              <a:srgbClr val="EAF1F8"/>
            </a:solidFill>
            <a:prstDash val="solid"/>
          </a:ln>
        </p:spPr>
        <p:txBody>
          <a:bodyPr/>
          <a:lstStyle/>
          <a:p>
            <a:endParaRPr lang="es-CO"/>
          </a:p>
        </p:txBody>
      </p:sp>
      <p:sp>
        <p:nvSpPr>
          <p:cNvPr id="7" name="Text 5"/>
          <p:cNvSpPr/>
          <p:nvPr/>
        </p:nvSpPr>
        <p:spPr>
          <a:xfrm>
            <a:off x="731520" y="1572768"/>
            <a:ext cx="10725912" cy="731520"/>
          </a:xfrm>
          <a:prstGeom prst="rect">
            <a:avLst/>
          </a:prstGeom>
          <a:noFill/>
          <a:ln/>
        </p:spPr>
        <p:txBody>
          <a:bodyPr wrap="square" lIns="0" tIns="0" rIns="0" bIns="0" rtlCol="0" anchor="t"/>
          <a:lstStyle/>
          <a:p>
            <a:pPr marL="0" indent="0" algn="l">
              <a:buNone/>
            </a:pPr>
            <a:r>
              <a:rPr lang="en-US" b="1" dirty="0">
                <a:solidFill>
                  <a:srgbClr val="1A6FB0"/>
                </a:solidFill>
                <a:latin typeface="Calibri" pitchFamily="34" charset="0"/>
                <a:ea typeface="Calibri" pitchFamily="34" charset="-122"/>
                <a:cs typeface="Calibri" pitchFamily="34" charset="-120"/>
              </a:rPr>
              <a:t>By the end you will be able to:  </a:t>
            </a:r>
            <a:r>
              <a:rPr lang="en-US" dirty="0">
                <a:solidFill>
                  <a:srgbClr val="223240"/>
                </a:solidFill>
                <a:latin typeface="Calibri" pitchFamily="34" charset="0"/>
                <a:ea typeface="Calibri" pitchFamily="34" charset="-122"/>
                <a:cs typeface="Calibri" pitchFamily="34" charset="-120"/>
              </a:rPr>
              <a:t>identify men at higher risk, recognise the symptoms that matter (including red flags), and counsel a man about the benefits and limits of prostate testing.</a:t>
            </a:r>
            <a:endParaRPr lang="en-US" dirty="0"/>
          </a:p>
        </p:txBody>
      </p:sp>
      <p:sp>
        <p:nvSpPr>
          <p:cNvPr id="8" name="Shape 6"/>
          <p:cNvSpPr/>
          <p:nvPr/>
        </p:nvSpPr>
        <p:spPr>
          <a:xfrm>
            <a:off x="566928" y="2624328"/>
            <a:ext cx="5390388" cy="1741932"/>
          </a:xfrm>
          <a:prstGeom prst="roundRect">
            <a:avLst>
              <a:gd name="adj" fmla="val 419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9" name="Shape 7"/>
          <p:cNvSpPr/>
          <p:nvPr/>
        </p:nvSpPr>
        <p:spPr>
          <a:xfrm>
            <a:off x="786384" y="2843784"/>
            <a:ext cx="164592" cy="164592"/>
          </a:xfrm>
          <a:prstGeom prst="ellipse">
            <a:avLst/>
          </a:prstGeom>
          <a:solidFill>
            <a:srgbClr val="1A6FB0"/>
          </a:solidFill>
          <a:ln w="12700">
            <a:solidFill>
              <a:srgbClr val="1A6FB0"/>
            </a:solidFill>
            <a:prstDash val="solid"/>
          </a:ln>
        </p:spPr>
        <p:txBody>
          <a:bodyPr/>
          <a:lstStyle/>
          <a:p>
            <a:endParaRPr lang="es-CO"/>
          </a:p>
        </p:txBody>
      </p:sp>
      <p:sp>
        <p:nvSpPr>
          <p:cNvPr id="10" name="Text 8"/>
          <p:cNvSpPr/>
          <p:nvPr/>
        </p:nvSpPr>
        <p:spPr>
          <a:xfrm>
            <a:off x="1060704" y="27523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Early detection vs screening</a:t>
            </a:r>
            <a:endParaRPr lang="en-US" dirty="0"/>
          </a:p>
        </p:txBody>
      </p:sp>
      <p:sp>
        <p:nvSpPr>
          <p:cNvPr id="11" name="Text 9"/>
          <p:cNvSpPr/>
          <p:nvPr/>
        </p:nvSpPr>
        <p:spPr>
          <a:xfrm>
            <a:off x="786384" y="3172968"/>
            <a:ext cx="4988052" cy="10835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Understand testing men who are well vs assessing men with symptoms.</a:t>
            </a:r>
            <a:endParaRPr lang="en-US" dirty="0"/>
          </a:p>
        </p:txBody>
      </p:sp>
      <p:sp>
        <p:nvSpPr>
          <p:cNvPr id="12" name="Shape 10"/>
          <p:cNvSpPr/>
          <p:nvPr/>
        </p:nvSpPr>
        <p:spPr>
          <a:xfrm>
            <a:off x="6231636" y="2624328"/>
            <a:ext cx="5390388" cy="1741932"/>
          </a:xfrm>
          <a:prstGeom prst="roundRect">
            <a:avLst>
              <a:gd name="adj" fmla="val 419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3" name="Shape 11"/>
          <p:cNvSpPr/>
          <p:nvPr/>
        </p:nvSpPr>
        <p:spPr>
          <a:xfrm>
            <a:off x="6451092" y="2843784"/>
            <a:ext cx="164592" cy="164592"/>
          </a:xfrm>
          <a:prstGeom prst="ellipse">
            <a:avLst/>
          </a:prstGeom>
          <a:solidFill>
            <a:srgbClr val="1A6FB0"/>
          </a:solidFill>
          <a:ln w="12700">
            <a:solidFill>
              <a:srgbClr val="1A6FB0"/>
            </a:solidFill>
            <a:prstDash val="solid"/>
          </a:ln>
        </p:spPr>
        <p:txBody>
          <a:bodyPr/>
          <a:lstStyle/>
          <a:p>
            <a:endParaRPr lang="es-CO"/>
          </a:p>
        </p:txBody>
      </p:sp>
      <p:sp>
        <p:nvSpPr>
          <p:cNvPr id="14" name="Text 12"/>
          <p:cNvSpPr/>
          <p:nvPr/>
        </p:nvSpPr>
        <p:spPr>
          <a:xfrm>
            <a:off x="6725412" y="27523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Risk factors</a:t>
            </a:r>
            <a:endParaRPr lang="en-US" dirty="0"/>
          </a:p>
        </p:txBody>
      </p:sp>
      <p:sp>
        <p:nvSpPr>
          <p:cNvPr id="15" name="Text 13"/>
          <p:cNvSpPr/>
          <p:nvPr/>
        </p:nvSpPr>
        <p:spPr>
          <a:xfrm>
            <a:off x="6451092" y="3172968"/>
            <a:ext cx="4988052" cy="10835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Age, family history, and ancestry, who to think about.</a:t>
            </a:r>
            <a:endParaRPr lang="en-US" dirty="0"/>
          </a:p>
        </p:txBody>
      </p:sp>
      <p:sp>
        <p:nvSpPr>
          <p:cNvPr id="16" name="Shape 14"/>
          <p:cNvSpPr/>
          <p:nvPr/>
        </p:nvSpPr>
        <p:spPr>
          <a:xfrm>
            <a:off x="566928" y="4640580"/>
            <a:ext cx="5390388" cy="1741932"/>
          </a:xfrm>
          <a:prstGeom prst="roundRect">
            <a:avLst>
              <a:gd name="adj" fmla="val 4199"/>
            </a:avLst>
          </a:prstGeom>
          <a:solidFill>
            <a:srgbClr val="FFFFFF"/>
          </a:solidFill>
          <a:ln w="19050">
            <a:solidFill>
              <a:srgbClr val="B23A2E"/>
            </a:solidFill>
            <a:prstDash val="solid"/>
          </a:ln>
          <a:effectLst>
            <a:outerShdw blurRad="50800" dist="25400" dir="5400000" algn="bl" rotWithShape="0">
              <a:srgbClr val="BFCEDD">
                <a:alpha val="50000"/>
              </a:srgbClr>
            </a:outerShdw>
          </a:effectLst>
        </p:spPr>
        <p:txBody>
          <a:bodyPr/>
          <a:lstStyle/>
          <a:p>
            <a:endParaRPr lang="es-CO"/>
          </a:p>
        </p:txBody>
      </p:sp>
      <p:sp>
        <p:nvSpPr>
          <p:cNvPr id="17" name="Shape 15"/>
          <p:cNvSpPr/>
          <p:nvPr/>
        </p:nvSpPr>
        <p:spPr>
          <a:xfrm>
            <a:off x="786384" y="4860036"/>
            <a:ext cx="164592" cy="164592"/>
          </a:xfrm>
          <a:prstGeom prst="ellipse">
            <a:avLst/>
          </a:prstGeom>
          <a:solidFill>
            <a:srgbClr val="B23A2E"/>
          </a:solidFill>
          <a:ln w="12700">
            <a:solidFill>
              <a:srgbClr val="B23A2E"/>
            </a:solidFill>
            <a:prstDash val="solid"/>
          </a:ln>
        </p:spPr>
        <p:txBody>
          <a:bodyPr/>
          <a:lstStyle/>
          <a:p>
            <a:endParaRPr lang="es-CO"/>
          </a:p>
        </p:txBody>
      </p:sp>
      <p:sp>
        <p:nvSpPr>
          <p:cNvPr id="18" name="Text 16"/>
          <p:cNvSpPr/>
          <p:nvPr/>
        </p:nvSpPr>
        <p:spPr>
          <a:xfrm>
            <a:off x="1060704" y="4768596"/>
            <a:ext cx="4732020" cy="365760"/>
          </a:xfrm>
          <a:prstGeom prst="rect">
            <a:avLst/>
          </a:prstGeom>
          <a:noFill/>
          <a:ln/>
        </p:spPr>
        <p:txBody>
          <a:bodyPr wrap="square" lIns="0" tIns="0" rIns="0" bIns="0" rtlCol="0" anchor="t"/>
          <a:lstStyle/>
          <a:p>
            <a:pPr marL="0" indent="0">
              <a:buNone/>
            </a:pPr>
            <a:r>
              <a:rPr lang="en-US" b="1" dirty="0">
                <a:solidFill>
                  <a:srgbClr val="B23A2E"/>
                </a:solidFill>
                <a:latin typeface="Calibri" pitchFamily="34" charset="0"/>
                <a:ea typeface="Calibri" pitchFamily="34" charset="-122"/>
                <a:cs typeface="Calibri" pitchFamily="34" charset="-120"/>
              </a:rPr>
              <a:t>Symptoms &amp; red flags</a:t>
            </a:r>
            <a:endParaRPr lang="en-US" dirty="0"/>
          </a:p>
        </p:txBody>
      </p:sp>
      <p:sp>
        <p:nvSpPr>
          <p:cNvPr id="19" name="Text 17"/>
          <p:cNvSpPr/>
          <p:nvPr/>
        </p:nvSpPr>
        <p:spPr>
          <a:xfrm>
            <a:off x="786384" y="5189220"/>
            <a:ext cx="4988052" cy="10835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What is common, what is worrying, and what needs urgent action.</a:t>
            </a:r>
            <a:endParaRPr lang="en-US" dirty="0"/>
          </a:p>
        </p:txBody>
      </p:sp>
      <p:sp>
        <p:nvSpPr>
          <p:cNvPr id="20" name="Shape 18"/>
          <p:cNvSpPr/>
          <p:nvPr/>
        </p:nvSpPr>
        <p:spPr>
          <a:xfrm>
            <a:off x="6231636" y="4640580"/>
            <a:ext cx="5390388" cy="1741932"/>
          </a:xfrm>
          <a:prstGeom prst="roundRect">
            <a:avLst>
              <a:gd name="adj" fmla="val 419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21" name="Shape 19"/>
          <p:cNvSpPr/>
          <p:nvPr/>
        </p:nvSpPr>
        <p:spPr>
          <a:xfrm>
            <a:off x="6451092" y="4860036"/>
            <a:ext cx="164592" cy="164592"/>
          </a:xfrm>
          <a:prstGeom prst="ellipse">
            <a:avLst/>
          </a:prstGeom>
          <a:solidFill>
            <a:srgbClr val="1A6FB0"/>
          </a:solidFill>
          <a:ln w="12700">
            <a:solidFill>
              <a:srgbClr val="1A6FB0"/>
            </a:solidFill>
            <a:prstDash val="solid"/>
          </a:ln>
        </p:spPr>
        <p:txBody>
          <a:bodyPr/>
          <a:lstStyle/>
          <a:p>
            <a:endParaRPr lang="es-CO"/>
          </a:p>
        </p:txBody>
      </p:sp>
      <p:sp>
        <p:nvSpPr>
          <p:cNvPr id="22" name="Text 20"/>
          <p:cNvSpPr/>
          <p:nvPr/>
        </p:nvSpPr>
        <p:spPr>
          <a:xfrm>
            <a:off x="6725412" y="4768596"/>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Counselling before testing</a:t>
            </a:r>
            <a:endParaRPr lang="en-US" dirty="0"/>
          </a:p>
        </p:txBody>
      </p:sp>
      <p:sp>
        <p:nvSpPr>
          <p:cNvPr id="23" name="Text 21"/>
          <p:cNvSpPr/>
          <p:nvPr/>
        </p:nvSpPr>
        <p:spPr>
          <a:xfrm>
            <a:off x="6451092" y="5189220"/>
            <a:ext cx="4988052" cy="10835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How to explain the PSA test simply and support the man’s choice.</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2 · CONCEPT</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is early detection?</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2.2</a:t>
            </a:r>
            <a:endParaRPr lang="en-US" sz="900" dirty="0"/>
          </a:p>
        </p:txBody>
      </p:sp>
      <p:sp>
        <p:nvSpPr>
          <p:cNvPr id="6" name="Text 4"/>
          <p:cNvSpPr/>
          <p:nvPr/>
        </p:nvSpPr>
        <p:spPr>
          <a:xfrm>
            <a:off x="566928" y="1481328"/>
            <a:ext cx="11055096" cy="91440"/>
          </a:xfrm>
          <a:prstGeom prst="rect">
            <a:avLst/>
          </a:prstGeom>
          <a:noFill/>
          <a:ln/>
        </p:spPr>
        <p:txBody>
          <a:bodyPr wrap="square" lIns="0" tIns="0" rIns="0" bIns="0" rtlCol="0" anchor="t"/>
          <a:lstStyle/>
          <a:p>
            <a:pPr marL="0" indent="0" algn="l">
              <a:buNone/>
            </a:pPr>
            <a:r>
              <a:rPr lang="en-US" dirty="0">
                <a:solidFill>
                  <a:srgbClr val="223240"/>
                </a:solidFill>
                <a:latin typeface="Calibri" pitchFamily="34" charset="0"/>
                <a:ea typeface="Calibri" pitchFamily="34" charset="-122"/>
                <a:cs typeface="Calibri" pitchFamily="34" charset="-120"/>
              </a:rPr>
              <a:t>"Early detection" means finding cancer before it causes serious problems, either by </a:t>
            </a:r>
            <a:r>
              <a:rPr lang="en-US" b="1" dirty="0">
                <a:solidFill>
                  <a:srgbClr val="223240"/>
                </a:solidFill>
                <a:latin typeface="Calibri" pitchFamily="34" charset="0"/>
                <a:ea typeface="Calibri" pitchFamily="34" charset="-122"/>
                <a:cs typeface="Calibri" pitchFamily="34" charset="-120"/>
              </a:rPr>
              <a:t>testing a man who feels well</a:t>
            </a:r>
            <a:r>
              <a:rPr lang="en-US" dirty="0">
                <a:solidFill>
                  <a:srgbClr val="223240"/>
                </a:solidFill>
                <a:latin typeface="Calibri" pitchFamily="34" charset="0"/>
                <a:ea typeface="Calibri" pitchFamily="34" charset="-122"/>
                <a:cs typeface="Calibri" pitchFamily="34" charset="-120"/>
              </a:rPr>
              <a:t>, or by </a:t>
            </a:r>
            <a:r>
              <a:rPr lang="en-US" b="1" dirty="0">
                <a:solidFill>
                  <a:srgbClr val="223240"/>
                </a:solidFill>
                <a:latin typeface="Calibri" pitchFamily="34" charset="0"/>
                <a:ea typeface="Calibri" pitchFamily="34" charset="-122"/>
                <a:cs typeface="Calibri" pitchFamily="34" charset="-120"/>
              </a:rPr>
              <a:t>assessing a man who has symptoms</a:t>
            </a:r>
            <a:r>
              <a:rPr lang="en-US" dirty="0">
                <a:solidFill>
                  <a:srgbClr val="223240"/>
                </a:solidFill>
                <a:latin typeface="Calibri" pitchFamily="34" charset="0"/>
                <a:ea typeface="Calibri" pitchFamily="34" charset="-122"/>
                <a:cs typeface="Calibri" pitchFamily="34" charset="-120"/>
              </a:rPr>
              <a:t>. The main test is a blood test called </a:t>
            </a:r>
            <a:r>
              <a:rPr lang="en-US" b="1" dirty="0">
                <a:solidFill>
                  <a:srgbClr val="223240"/>
                </a:solidFill>
                <a:latin typeface="Calibri" pitchFamily="34" charset="0"/>
                <a:ea typeface="Calibri" pitchFamily="34" charset="-122"/>
                <a:cs typeface="Calibri" pitchFamily="34" charset="-120"/>
              </a:rPr>
              <a:t>PSA</a:t>
            </a:r>
            <a:r>
              <a:rPr lang="en-US" dirty="0">
                <a:solidFill>
                  <a:srgbClr val="223240"/>
                </a:solidFill>
                <a:latin typeface="Calibri" pitchFamily="34" charset="0"/>
                <a:ea typeface="Calibri" pitchFamily="34" charset="-122"/>
                <a:cs typeface="Calibri" pitchFamily="34" charset="-120"/>
              </a:rPr>
              <a:t>, usually with a prostate exam (DRE).</a:t>
            </a:r>
            <a:endParaRPr lang="en-US" dirty="0"/>
          </a:p>
        </p:txBody>
      </p:sp>
      <p:sp>
        <p:nvSpPr>
          <p:cNvPr id="7" name="Shape 5"/>
          <p:cNvSpPr/>
          <p:nvPr/>
        </p:nvSpPr>
        <p:spPr>
          <a:xfrm>
            <a:off x="566928" y="2174344"/>
            <a:ext cx="3502152" cy="3666744"/>
          </a:xfrm>
          <a:prstGeom prst="roundRect">
            <a:avLst>
              <a:gd name="adj" fmla="val 208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8" name="Shape 6"/>
          <p:cNvSpPr/>
          <p:nvPr/>
        </p:nvSpPr>
        <p:spPr>
          <a:xfrm>
            <a:off x="786384" y="2393800"/>
            <a:ext cx="164592" cy="164592"/>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1060704" y="2302360"/>
            <a:ext cx="2843784"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Testing a well man</a:t>
            </a:r>
            <a:endParaRPr lang="en-US" dirty="0"/>
          </a:p>
        </p:txBody>
      </p:sp>
      <p:sp>
        <p:nvSpPr>
          <p:cNvPr id="10" name="Text 8"/>
          <p:cNvSpPr/>
          <p:nvPr/>
        </p:nvSpPr>
        <p:spPr>
          <a:xfrm>
            <a:off x="786384" y="2722984"/>
            <a:ext cx="3099816" cy="300837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Offered after a shared, informed discussion, it has real benefits and real limits. Not automatic.</a:t>
            </a:r>
            <a:endParaRPr lang="en-US" dirty="0"/>
          </a:p>
        </p:txBody>
      </p:sp>
      <p:sp>
        <p:nvSpPr>
          <p:cNvPr id="11" name="Shape 9"/>
          <p:cNvSpPr/>
          <p:nvPr/>
        </p:nvSpPr>
        <p:spPr>
          <a:xfrm>
            <a:off x="4343400" y="2174344"/>
            <a:ext cx="3502152" cy="3666744"/>
          </a:xfrm>
          <a:prstGeom prst="roundRect">
            <a:avLst>
              <a:gd name="adj" fmla="val 2089"/>
            </a:avLst>
          </a:prstGeom>
          <a:solidFill>
            <a:srgbClr val="FFFFFF"/>
          </a:solidFill>
          <a:ln w="19050">
            <a:solidFill>
              <a:srgbClr val="B26A00"/>
            </a:solidFill>
            <a:prstDash val="solid"/>
          </a:ln>
          <a:effectLst>
            <a:outerShdw blurRad="50800" dist="25400" dir="5400000" algn="bl" rotWithShape="0">
              <a:srgbClr val="BFCEDD">
                <a:alpha val="50000"/>
              </a:srgbClr>
            </a:outerShdw>
          </a:effectLst>
        </p:spPr>
        <p:txBody>
          <a:bodyPr/>
          <a:lstStyle/>
          <a:p>
            <a:endParaRPr lang="es-CO"/>
          </a:p>
        </p:txBody>
      </p:sp>
      <p:sp>
        <p:nvSpPr>
          <p:cNvPr id="12" name="Shape 10"/>
          <p:cNvSpPr/>
          <p:nvPr/>
        </p:nvSpPr>
        <p:spPr>
          <a:xfrm>
            <a:off x="4562856" y="2393800"/>
            <a:ext cx="164592" cy="164592"/>
          </a:xfrm>
          <a:prstGeom prst="ellipse">
            <a:avLst/>
          </a:prstGeom>
          <a:solidFill>
            <a:srgbClr val="B26A00"/>
          </a:solidFill>
          <a:ln w="12700">
            <a:solidFill>
              <a:srgbClr val="B26A00"/>
            </a:solidFill>
            <a:prstDash val="solid"/>
          </a:ln>
        </p:spPr>
        <p:txBody>
          <a:bodyPr/>
          <a:lstStyle/>
          <a:p>
            <a:endParaRPr lang="es-CO"/>
          </a:p>
        </p:txBody>
      </p:sp>
      <p:sp>
        <p:nvSpPr>
          <p:cNvPr id="13" name="Text 11"/>
          <p:cNvSpPr/>
          <p:nvPr/>
        </p:nvSpPr>
        <p:spPr>
          <a:xfrm>
            <a:off x="4837176" y="2302360"/>
            <a:ext cx="2843784" cy="36576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Assessing a man with symptoms</a:t>
            </a:r>
            <a:endParaRPr lang="en-US" dirty="0"/>
          </a:p>
        </p:txBody>
      </p:sp>
      <p:sp>
        <p:nvSpPr>
          <p:cNvPr id="14" name="Text 12"/>
          <p:cNvSpPr/>
          <p:nvPr/>
        </p:nvSpPr>
        <p:spPr>
          <a:xfrm>
            <a:off x="4562856" y="2987680"/>
            <a:ext cx="3099816" cy="22941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Urinary changes, bone pain, or a hard prostate, assess and refer as needed. This is not "screening".</a:t>
            </a:r>
            <a:endParaRPr lang="en-US" dirty="0"/>
          </a:p>
        </p:txBody>
      </p:sp>
      <p:sp>
        <p:nvSpPr>
          <p:cNvPr id="15" name="Shape 13"/>
          <p:cNvSpPr/>
          <p:nvPr/>
        </p:nvSpPr>
        <p:spPr>
          <a:xfrm>
            <a:off x="8119872" y="2174344"/>
            <a:ext cx="3502152" cy="3666744"/>
          </a:xfrm>
          <a:prstGeom prst="roundRect">
            <a:avLst>
              <a:gd name="adj" fmla="val 208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6" name="Shape 14"/>
          <p:cNvSpPr/>
          <p:nvPr/>
        </p:nvSpPr>
        <p:spPr>
          <a:xfrm>
            <a:off x="8339328" y="2393800"/>
            <a:ext cx="164592" cy="164592"/>
          </a:xfrm>
          <a:prstGeom prst="ellipse">
            <a:avLst/>
          </a:prstGeom>
          <a:solidFill>
            <a:srgbClr val="1A6FB0"/>
          </a:solidFill>
          <a:ln w="12700">
            <a:solidFill>
              <a:srgbClr val="1A6FB0"/>
            </a:solidFill>
            <a:prstDash val="solid"/>
          </a:ln>
        </p:spPr>
        <p:txBody>
          <a:bodyPr/>
          <a:lstStyle/>
          <a:p>
            <a:endParaRPr lang="es-CO"/>
          </a:p>
        </p:txBody>
      </p:sp>
      <p:sp>
        <p:nvSpPr>
          <p:cNvPr id="17" name="Text 15"/>
          <p:cNvSpPr/>
          <p:nvPr/>
        </p:nvSpPr>
        <p:spPr>
          <a:xfrm>
            <a:off x="8613648" y="2302360"/>
            <a:ext cx="2843784"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The tools</a:t>
            </a:r>
            <a:endParaRPr lang="en-US" dirty="0"/>
          </a:p>
        </p:txBody>
      </p:sp>
      <p:sp>
        <p:nvSpPr>
          <p:cNvPr id="18" name="Text 16"/>
          <p:cNvSpPr/>
          <p:nvPr/>
        </p:nvSpPr>
        <p:spPr>
          <a:xfrm>
            <a:off x="8339328" y="2722984"/>
            <a:ext cx="3099816" cy="300837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PSA blood test + finger exam (DRE). Neither confirms cancer, only a biopsy does.</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2 · CLINICAL CASE</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Emmanuel asks a question</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2.3</a:t>
            </a:r>
            <a:endParaRPr lang="en-US" sz="900" dirty="0"/>
          </a:p>
        </p:txBody>
      </p:sp>
      <p:sp>
        <p:nvSpPr>
          <p:cNvPr id="6" name="Shape 4"/>
          <p:cNvSpPr/>
          <p:nvPr/>
        </p:nvSpPr>
        <p:spPr>
          <a:xfrm>
            <a:off x="566928" y="1481328"/>
            <a:ext cx="11055096" cy="4901184"/>
          </a:xfrm>
          <a:prstGeom prst="roundRect">
            <a:avLst>
              <a:gd name="adj" fmla="val 1119"/>
            </a:avLst>
          </a:prstGeom>
          <a:solidFill>
            <a:srgbClr val="FFF7E8"/>
          </a:solidFill>
          <a:ln w="15875">
            <a:solidFill>
              <a:srgbClr val="EAD8AE"/>
            </a:solidFill>
            <a:prstDash val="solid"/>
          </a:ln>
        </p:spPr>
        <p:txBody>
          <a:bodyPr/>
          <a:lstStyle/>
          <a:p>
            <a:endParaRPr lang="es-CO"/>
          </a:p>
        </p:txBody>
      </p:sp>
      <p:sp>
        <p:nvSpPr>
          <p:cNvPr id="7" name="Text 5"/>
          <p:cNvSpPr/>
          <p:nvPr/>
        </p:nvSpPr>
        <p:spPr>
          <a:xfrm>
            <a:off x="822960" y="1627632"/>
            <a:ext cx="10543032" cy="310896"/>
          </a:xfrm>
          <a:prstGeom prst="rect">
            <a:avLst/>
          </a:prstGeom>
          <a:noFill/>
          <a:ln/>
        </p:spPr>
        <p:txBody>
          <a:bodyPr wrap="square" lIns="0" tIns="0" rIns="0" bIns="0" rtlCol="0" anchor="t"/>
          <a:lstStyle/>
          <a:p>
            <a:pPr marL="0" indent="0">
              <a:buNone/>
            </a:pPr>
            <a:r>
              <a:rPr lang="en-US" b="1" dirty="0">
                <a:solidFill>
                  <a:srgbClr val="B26A00"/>
                </a:solidFill>
                <a:latin typeface="Cambria" pitchFamily="34" charset="0"/>
                <a:ea typeface="Cambria" pitchFamily="34" charset="-122"/>
                <a:cs typeface="Cambria" pitchFamily="34" charset="-120"/>
              </a:rPr>
              <a:t>🩺  Clinical case:  </a:t>
            </a:r>
            <a:r>
              <a:rPr lang="en-US" b="1" dirty="0">
                <a:solidFill>
                  <a:srgbClr val="1F3A5F"/>
                </a:solidFill>
                <a:latin typeface="Cambria" pitchFamily="34" charset="0"/>
                <a:ea typeface="Cambria" pitchFamily="34" charset="-122"/>
                <a:cs typeface="Cambria" pitchFamily="34" charset="-120"/>
              </a:rPr>
              <a:t>Emmanuel, 52</a:t>
            </a:r>
            <a:endParaRPr lang="en-US" dirty="0"/>
          </a:p>
        </p:txBody>
      </p:sp>
      <p:sp>
        <p:nvSpPr>
          <p:cNvPr id="8" name="Text 6"/>
          <p:cNvSpPr/>
          <p:nvPr/>
        </p:nvSpPr>
        <p:spPr>
          <a:xfrm>
            <a:off x="822960" y="2192640"/>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Patient:   </a:t>
            </a:r>
            <a:r>
              <a:rPr lang="en-US" dirty="0">
                <a:solidFill>
                  <a:srgbClr val="223240"/>
                </a:solidFill>
                <a:latin typeface="Calibri" pitchFamily="34" charset="0"/>
                <a:ea typeface="Calibri" pitchFamily="34" charset="-122"/>
                <a:cs typeface="Calibri" pitchFamily="34" charset="-120"/>
              </a:rPr>
              <a:t>Emmanuel, 52, feels completely well. No urinary or other symptoms.</a:t>
            </a:r>
            <a:endParaRPr lang="en-US" dirty="0"/>
          </a:p>
        </p:txBody>
      </p:sp>
      <p:sp>
        <p:nvSpPr>
          <p:cNvPr id="9" name="Text 7"/>
          <p:cNvSpPr/>
          <p:nvPr/>
        </p:nvSpPr>
        <p:spPr>
          <a:xfrm>
            <a:off x="822960" y="2938116"/>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Setting:   </a:t>
            </a:r>
            <a:r>
              <a:rPr lang="en-US" dirty="0">
                <a:solidFill>
                  <a:srgbClr val="223240"/>
                </a:solidFill>
                <a:latin typeface="Calibri" pitchFamily="34" charset="0"/>
                <a:ea typeface="Calibri" pitchFamily="34" charset="-122"/>
                <a:cs typeface="Calibri" pitchFamily="34" charset="-120"/>
              </a:rPr>
              <a:t>He comes to your outpatient clinic after a radio programme about men’s health.</a:t>
            </a:r>
            <a:endParaRPr lang="en-US" dirty="0"/>
          </a:p>
        </p:txBody>
      </p:sp>
      <p:sp>
        <p:nvSpPr>
          <p:cNvPr id="10" name="Text 8"/>
          <p:cNvSpPr/>
          <p:nvPr/>
        </p:nvSpPr>
        <p:spPr>
          <a:xfrm>
            <a:off x="822960" y="3611394"/>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His question:   </a:t>
            </a:r>
            <a:r>
              <a:rPr lang="en-US" dirty="0">
                <a:solidFill>
                  <a:srgbClr val="223240"/>
                </a:solidFill>
                <a:latin typeface="Calibri" pitchFamily="34" charset="0"/>
                <a:ea typeface="Calibri" pitchFamily="34" charset="-122"/>
                <a:cs typeface="Calibri" pitchFamily="34" charset="-120"/>
              </a:rPr>
              <a:t>"Should I have the prostate cancer test?" His older brother had prostate cancer.</a:t>
            </a:r>
            <a:endParaRPr lang="en-US" dirty="0"/>
          </a:p>
        </p:txBody>
      </p:sp>
      <p:sp>
        <p:nvSpPr>
          <p:cNvPr id="11" name="Shape 9"/>
          <p:cNvSpPr/>
          <p:nvPr/>
        </p:nvSpPr>
        <p:spPr>
          <a:xfrm>
            <a:off x="822960" y="4944503"/>
            <a:ext cx="10543032" cy="603504"/>
          </a:xfrm>
          <a:prstGeom prst="roundRect">
            <a:avLst>
              <a:gd name="adj" fmla="val 7576"/>
            </a:avLst>
          </a:prstGeom>
          <a:solidFill>
            <a:srgbClr val="FBE6C6"/>
          </a:solidFill>
          <a:ln w="12700">
            <a:solidFill>
              <a:srgbClr val="FBE6C6"/>
            </a:solidFill>
            <a:prstDash val="solid"/>
          </a:ln>
        </p:spPr>
        <p:txBody>
          <a:bodyPr/>
          <a:lstStyle/>
          <a:p>
            <a:endParaRPr lang="es-CO"/>
          </a:p>
        </p:txBody>
      </p:sp>
      <p:sp>
        <p:nvSpPr>
          <p:cNvPr id="12" name="Text 10"/>
          <p:cNvSpPr/>
          <p:nvPr/>
        </p:nvSpPr>
        <p:spPr>
          <a:xfrm>
            <a:off x="987552" y="5017655"/>
            <a:ext cx="10213848" cy="45720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  Your task:  </a:t>
            </a:r>
            <a:r>
              <a:rPr lang="en-US" dirty="0">
                <a:solidFill>
                  <a:srgbClr val="223240"/>
                </a:solidFill>
                <a:latin typeface="Calibri" pitchFamily="34" charset="0"/>
                <a:ea typeface="Calibri" pitchFamily="34" charset="-122"/>
                <a:cs typeface="Calibri" pitchFamily="34" charset="-120"/>
              </a:rPr>
              <a:t>decide what to assess and discuss before any test, you will answer at the end of the session.</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2 · RISK FACTORS</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Who is at higher risk?</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2.4</a:t>
            </a:r>
            <a:endParaRPr lang="en-US" sz="900" dirty="0"/>
          </a:p>
        </p:txBody>
      </p:sp>
      <p:sp>
        <p:nvSpPr>
          <p:cNvPr id="6" name="Text 4"/>
          <p:cNvSpPr/>
          <p:nvPr/>
        </p:nvSpPr>
        <p:spPr>
          <a:xfrm>
            <a:off x="566928" y="1481328"/>
            <a:ext cx="11055096" cy="310896"/>
          </a:xfrm>
          <a:prstGeom prst="rect">
            <a:avLst/>
          </a:prstGeom>
          <a:noFill/>
          <a:ln/>
        </p:spPr>
        <p:txBody>
          <a:bodyPr wrap="square" lIns="0" tIns="0" rIns="0" bIns="0" rtlCol="0" anchor="t"/>
          <a:lstStyle/>
          <a:p>
            <a:pPr marL="0" indent="0">
              <a:buNone/>
            </a:pPr>
            <a:r>
              <a:rPr lang="en-US" sz="1300" i="1" dirty="0">
                <a:solidFill>
                  <a:srgbClr val="1A6FB0"/>
                </a:solidFill>
                <a:latin typeface="Calibri" pitchFamily="34" charset="0"/>
                <a:ea typeface="Calibri" pitchFamily="34" charset="-122"/>
                <a:cs typeface="Calibri" pitchFamily="34" charset="-120"/>
              </a:rPr>
              <a:t>Select each card to reveal why it raises risk.</a:t>
            </a:r>
            <a:endParaRPr lang="en-US" sz="1300" dirty="0"/>
          </a:p>
        </p:txBody>
      </p:sp>
      <p:sp>
        <p:nvSpPr>
          <p:cNvPr id="7" name="Shape 5"/>
          <p:cNvSpPr/>
          <p:nvPr/>
        </p:nvSpPr>
        <p:spPr>
          <a:xfrm>
            <a:off x="566928" y="1938528"/>
            <a:ext cx="5390388"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8" name="Shape 6"/>
          <p:cNvSpPr/>
          <p:nvPr/>
        </p:nvSpPr>
        <p:spPr>
          <a:xfrm>
            <a:off x="786384" y="2157984"/>
            <a:ext cx="164592" cy="164592"/>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1060704" y="20665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Older age</a:t>
            </a:r>
            <a:endParaRPr lang="en-US" dirty="0"/>
          </a:p>
        </p:txBody>
      </p:sp>
      <p:sp>
        <p:nvSpPr>
          <p:cNvPr id="10" name="Text 8"/>
          <p:cNvSpPr/>
          <p:nvPr/>
        </p:nvSpPr>
        <p:spPr>
          <a:xfrm>
            <a:off x="786384" y="2487168"/>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The strongest factor. Risk rises with age, mostly after 50.</a:t>
            </a:r>
            <a:endParaRPr lang="en-US" dirty="0"/>
          </a:p>
        </p:txBody>
      </p:sp>
      <p:sp>
        <p:nvSpPr>
          <p:cNvPr id="11" name="Shape 9"/>
          <p:cNvSpPr/>
          <p:nvPr/>
        </p:nvSpPr>
        <p:spPr>
          <a:xfrm>
            <a:off x="6231636" y="1938528"/>
            <a:ext cx="5390388"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2" name="Shape 10"/>
          <p:cNvSpPr/>
          <p:nvPr/>
        </p:nvSpPr>
        <p:spPr>
          <a:xfrm>
            <a:off x="6451092" y="2157984"/>
            <a:ext cx="164592" cy="164592"/>
          </a:xfrm>
          <a:prstGeom prst="ellipse">
            <a:avLst/>
          </a:prstGeom>
          <a:solidFill>
            <a:srgbClr val="1A6FB0"/>
          </a:solidFill>
          <a:ln w="12700">
            <a:solidFill>
              <a:srgbClr val="1A6FB0"/>
            </a:solidFill>
            <a:prstDash val="solid"/>
          </a:ln>
        </p:spPr>
        <p:txBody>
          <a:bodyPr/>
          <a:lstStyle/>
          <a:p>
            <a:endParaRPr lang="es-CO"/>
          </a:p>
        </p:txBody>
      </p:sp>
      <p:sp>
        <p:nvSpPr>
          <p:cNvPr id="13" name="Text 11"/>
          <p:cNvSpPr/>
          <p:nvPr/>
        </p:nvSpPr>
        <p:spPr>
          <a:xfrm>
            <a:off x="6725412" y="20665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Family history</a:t>
            </a:r>
            <a:endParaRPr lang="en-US" dirty="0"/>
          </a:p>
        </p:txBody>
      </p:sp>
      <p:sp>
        <p:nvSpPr>
          <p:cNvPr id="14" name="Text 12"/>
          <p:cNvSpPr/>
          <p:nvPr/>
        </p:nvSpPr>
        <p:spPr>
          <a:xfrm>
            <a:off x="6451092" y="2487168"/>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 father or brother with prostate cancer raises risk, especially if young at diagnosis.</a:t>
            </a:r>
            <a:endParaRPr lang="en-US" dirty="0"/>
          </a:p>
        </p:txBody>
      </p:sp>
      <p:sp>
        <p:nvSpPr>
          <p:cNvPr id="15" name="Shape 13"/>
          <p:cNvSpPr/>
          <p:nvPr/>
        </p:nvSpPr>
        <p:spPr>
          <a:xfrm>
            <a:off x="566928" y="4297680"/>
            <a:ext cx="5390388" cy="2084832"/>
          </a:xfrm>
          <a:prstGeom prst="roundRect">
            <a:avLst>
              <a:gd name="adj" fmla="val 3509"/>
            </a:avLst>
          </a:prstGeom>
          <a:solidFill>
            <a:srgbClr val="FFFFFF"/>
          </a:solidFill>
          <a:ln w="19050">
            <a:solidFill>
              <a:srgbClr val="B26A00"/>
            </a:solidFill>
            <a:prstDash val="solid"/>
          </a:ln>
          <a:effectLst>
            <a:outerShdw blurRad="50800" dist="25400" dir="5400000" algn="bl" rotWithShape="0">
              <a:srgbClr val="BFCEDD">
                <a:alpha val="50000"/>
              </a:srgbClr>
            </a:outerShdw>
          </a:effectLst>
        </p:spPr>
        <p:txBody>
          <a:bodyPr/>
          <a:lstStyle/>
          <a:p>
            <a:endParaRPr lang="es-CO"/>
          </a:p>
        </p:txBody>
      </p:sp>
      <p:sp>
        <p:nvSpPr>
          <p:cNvPr id="16" name="Shape 14"/>
          <p:cNvSpPr/>
          <p:nvPr/>
        </p:nvSpPr>
        <p:spPr>
          <a:xfrm>
            <a:off x="786384" y="4517136"/>
            <a:ext cx="164592" cy="164592"/>
          </a:xfrm>
          <a:prstGeom prst="ellipse">
            <a:avLst/>
          </a:prstGeom>
          <a:solidFill>
            <a:srgbClr val="B26A00"/>
          </a:solidFill>
          <a:ln w="12700">
            <a:solidFill>
              <a:srgbClr val="B26A00"/>
            </a:solidFill>
            <a:prstDash val="solid"/>
          </a:ln>
        </p:spPr>
        <p:txBody>
          <a:bodyPr/>
          <a:lstStyle/>
          <a:p>
            <a:endParaRPr lang="es-CO"/>
          </a:p>
        </p:txBody>
      </p:sp>
      <p:sp>
        <p:nvSpPr>
          <p:cNvPr id="17" name="Text 15"/>
          <p:cNvSpPr/>
          <p:nvPr/>
        </p:nvSpPr>
        <p:spPr>
          <a:xfrm>
            <a:off x="1060704" y="4425696"/>
            <a:ext cx="4732020" cy="36576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African ancestry</a:t>
            </a:r>
            <a:endParaRPr lang="en-US" dirty="0"/>
          </a:p>
        </p:txBody>
      </p:sp>
      <p:sp>
        <p:nvSpPr>
          <p:cNvPr id="18" name="Text 16"/>
          <p:cNvSpPr/>
          <p:nvPr/>
        </p:nvSpPr>
        <p:spPr>
          <a:xfrm>
            <a:off x="786384" y="4846320"/>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Men of African descent have higher risk and can develop it younger, relevant across Rwanda.</a:t>
            </a:r>
            <a:endParaRPr lang="en-US" dirty="0"/>
          </a:p>
        </p:txBody>
      </p:sp>
      <p:sp>
        <p:nvSpPr>
          <p:cNvPr id="19" name="Shape 17"/>
          <p:cNvSpPr/>
          <p:nvPr/>
        </p:nvSpPr>
        <p:spPr>
          <a:xfrm>
            <a:off x="6231636" y="4297680"/>
            <a:ext cx="5390388" cy="2084832"/>
          </a:xfrm>
          <a:prstGeom prst="roundRect">
            <a:avLst>
              <a:gd name="adj" fmla="val 3509"/>
            </a:avLst>
          </a:prstGeom>
          <a:solidFill>
            <a:srgbClr val="FFFFFF"/>
          </a:solidFill>
          <a:ln w="19050">
            <a:solidFill>
              <a:srgbClr val="6B7A88"/>
            </a:solidFill>
            <a:prstDash val="solid"/>
          </a:ln>
          <a:effectLst>
            <a:outerShdw blurRad="50800" dist="25400" dir="5400000" algn="bl" rotWithShape="0">
              <a:srgbClr val="BFCEDD">
                <a:alpha val="50000"/>
              </a:srgbClr>
            </a:outerShdw>
          </a:effectLst>
        </p:spPr>
        <p:txBody>
          <a:bodyPr/>
          <a:lstStyle/>
          <a:p>
            <a:endParaRPr lang="es-CO"/>
          </a:p>
        </p:txBody>
      </p:sp>
      <p:sp>
        <p:nvSpPr>
          <p:cNvPr id="20" name="Shape 18"/>
          <p:cNvSpPr/>
          <p:nvPr/>
        </p:nvSpPr>
        <p:spPr>
          <a:xfrm>
            <a:off x="6451092" y="4517136"/>
            <a:ext cx="164592" cy="164592"/>
          </a:xfrm>
          <a:prstGeom prst="ellipse">
            <a:avLst/>
          </a:prstGeom>
          <a:solidFill>
            <a:srgbClr val="6B7A88"/>
          </a:solidFill>
          <a:ln w="12700">
            <a:solidFill>
              <a:srgbClr val="6B7A88"/>
            </a:solidFill>
            <a:prstDash val="solid"/>
          </a:ln>
        </p:spPr>
        <p:txBody>
          <a:bodyPr/>
          <a:lstStyle/>
          <a:p>
            <a:endParaRPr lang="es-CO"/>
          </a:p>
        </p:txBody>
      </p:sp>
      <p:sp>
        <p:nvSpPr>
          <p:cNvPr id="21" name="Text 19"/>
          <p:cNvSpPr/>
          <p:nvPr/>
        </p:nvSpPr>
        <p:spPr>
          <a:xfrm>
            <a:off x="6725412" y="4425696"/>
            <a:ext cx="4732020" cy="365760"/>
          </a:xfrm>
          <a:prstGeom prst="rect">
            <a:avLst/>
          </a:prstGeom>
          <a:noFill/>
          <a:ln/>
        </p:spPr>
        <p:txBody>
          <a:bodyPr wrap="square" lIns="0" tIns="0" rIns="0" bIns="0" rtlCol="0" anchor="t"/>
          <a:lstStyle/>
          <a:p>
            <a:pPr marL="0" indent="0">
              <a:buNone/>
            </a:pPr>
            <a:r>
              <a:rPr lang="en-US" b="1" dirty="0">
                <a:solidFill>
                  <a:srgbClr val="6B7A88"/>
                </a:solidFill>
                <a:latin typeface="Calibri" pitchFamily="34" charset="0"/>
                <a:ea typeface="Calibri" pitchFamily="34" charset="-122"/>
                <a:cs typeface="Calibri" pitchFamily="34" charset="-120"/>
              </a:rPr>
              <a:t>Not proven to cause it</a:t>
            </a:r>
            <a:endParaRPr lang="en-US" dirty="0"/>
          </a:p>
        </p:txBody>
      </p:sp>
      <p:sp>
        <p:nvSpPr>
          <p:cNvPr id="22" name="Text 20"/>
          <p:cNvSpPr/>
          <p:nvPr/>
        </p:nvSpPr>
        <p:spPr>
          <a:xfrm>
            <a:off x="6451092" y="4846320"/>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Diet and lifestyle have small, unclear effects. Do not reassure a man based on a "healthy" lifestyle alone.</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2 · SELECT ALL</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Which men warrant a testing discussion?</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2.5</a:t>
            </a:r>
            <a:endParaRPr lang="en-US" sz="900" dirty="0"/>
          </a:p>
        </p:txBody>
      </p:sp>
      <p:sp>
        <p:nvSpPr>
          <p:cNvPr id="6" name="Text 4"/>
          <p:cNvSpPr/>
          <p:nvPr/>
        </p:nvSpPr>
        <p:spPr>
          <a:xfrm>
            <a:off x="566928" y="1481328"/>
            <a:ext cx="11055096" cy="54864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Who should you PRIORITISE for an informed discussion about prostate testing? (best single answer)</a:t>
            </a:r>
            <a:endParaRPr lang="en-US" dirty="0"/>
          </a:p>
        </p:txBody>
      </p:sp>
      <p:sp>
        <p:nvSpPr>
          <p:cNvPr id="7" name="Shape 5"/>
          <p:cNvSpPr/>
          <p:nvPr/>
        </p:nvSpPr>
        <p:spPr>
          <a:xfrm>
            <a:off x="566928" y="2267712"/>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76656" y="2350008"/>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76656" y="2350008"/>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A</a:t>
            </a:r>
            <a:endParaRPr lang="en-US" dirty="0"/>
          </a:p>
        </p:txBody>
      </p:sp>
      <p:sp>
        <p:nvSpPr>
          <p:cNvPr id="10" name="Text 8"/>
          <p:cNvSpPr/>
          <p:nvPr/>
        </p:nvSpPr>
        <p:spPr>
          <a:xfrm>
            <a:off x="1097280" y="2267712"/>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Only men with urinary symptoms</a:t>
            </a:r>
            <a:endParaRPr lang="en-US" dirty="0"/>
          </a:p>
        </p:txBody>
      </p:sp>
      <p:sp>
        <p:nvSpPr>
          <p:cNvPr id="11" name="Shape 9"/>
          <p:cNvSpPr/>
          <p:nvPr/>
        </p:nvSpPr>
        <p:spPr>
          <a:xfrm>
            <a:off x="566928" y="2852928"/>
            <a:ext cx="11055096" cy="457200"/>
          </a:xfrm>
          <a:prstGeom prst="roundRect">
            <a:avLst>
              <a:gd name="adj" fmla="val 10000"/>
            </a:avLst>
          </a:prstGeom>
          <a:solidFill>
            <a:srgbClr val="E7F4EC"/>
          </a:solidFill>
          <a:ln w="19050">
            <a:solidFill>
              <a:srgbClr val="1E7A46"/>
            </a:solidFill>
            <a:prstDash val="solid"/>
          </a:ln>
        </p:spPr>
        <p:txBody>
          <a:bodyPr/>
          <a:lstStyle/>
          <a:p>
            <a:endParaRPr lang="es-CO"/>
          </a:p>
        </p:txBody>
      </p:sp>
      <p:sp>
        <p:nvSpPr>
          <p:cNvPr id="12" name="Shape 10"/>
          <p:cNvSpPr/>
          <p:nvPr/>
        </p:nvSpPr>
        <p:spPr>
          <a:xfrm>
            <a:off x="676656" y="2935224"/>
            <a:ext cx="292608" cy="292608"/>
          </a:xfrm>
          <a:prstGeom prst="ellipse">
            <a:avLst/>
          </a:prstGeom>
          <a:solidFill>
            <a:srgbClr val="1E7A46"/>
          </a:solidFill>
          <a:ln w="12700">
            <a:solidFill>
              <a:srgbClr val="1E7A46"/>
            </a:solidFill>
            <a:prstDash val="solid"/>
          </a:ln>
        </p:spPr>
        <p:txBody>
          <a:bodyPr/>
          <a:lstStyle/>
          <a:p>
            <a:endParaRPr lang="es-CO"/>
          </a:p>
        </p:txBody>
      </p:sp>
      <p:sp>
        <p:nvSpPr>
          <p:cNvPr id="13" name="Text 11"/>
          <p:cNvSpPr/>
          <p:nvPr/>
        </p:nvSpPr>
        <p:spPr>
          <a:xfrm>
            <a:off x="676656" y="2935224"/>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B</a:t>
            </a:r>
            <a:endParaRPr lang="en-US" dirty="0"/>
          </a:p>
        </p:txBody>
      </p:sp>
      <p:sp>
        <p:nvSpPr>
          <p:cNvPr id="14" name="Text 12"/>
          <p:cNvSpPr/>
          <p:nvPr/>
        </p:nvSpPr>
        <p:spPr>
          <a:xfrm>
            <a:off x="1097280" y="2852928"/>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Older men, and men with a family history or African ancestry, even without symptoms</a:t>
            </a:r>
            <a:endParaRPr lang="en-US" dirty="0"/>
          </a:p>
        </p:txBody>
      </p:sp>
      <p:sp>
        <p:nvSpPr>
          <p:cNvPr id="15" name="Shape 13"/>
          <p:cNvSpPr/>
          <p:nvPr/>
        </p:nvSpPr>
        <p:spPr>
          <a:xfrm>
            <a:off x="566928" y="3438144"/>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16" name="Shape 14"/>
          <p:cNvSpPr/>
          <p:nvPr/>
        </p:nvSpPr>
        <p:spPr>
          <a:xfrm>
            <a:off x="676656" y="3520440"/>
            <a:ext cx="292608" cy="292608"/>
          </a:xfrm>
          <a:prstGeom prst="ellipse">
            <a:avLst/>
          </a:prstGeom>
          <a:solidFill>
            <a:srgbClr val="1A6FB0"/>
          </a:solidFill>
          <a:ln w="12700">
            <a:solidFill>
              <a:srgbClr val="1A6FB0"/>
            </a:solidFill>
            <a:prstDash val="solid"/>
          </a:ln>
        </p:spPr>
        <p:txBody>
          <a:bodyPr/>
          <a:lstStyle/>
          <a:p>
            <a:endParaRPr lang="es-CO"/>
          </a:p>
        </p:txBody>
      </p:sp>
      <p:sp>
        <p:nvSpPr>
          <p:cNvPr id="17" name="Text 15"/>
          <p:cNvSpPr/>
          <p:nvPr/>
        </p:nvSpPr>
        <p:spPr>
          <a:xfrm>
            <a:off x="676656" y="3520440"/>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C</a:t>
            </a:r>
            <a:endParaRPr lang="en-US" dirty="0"/>
          </a:p>
        </p:txBody>
      </p:sp>
      <p:sp>
        <p:nvSpPr>
          <p:cNvPr id="18" name="Text 16"/>
          <p:cNvSpPr/>
          <p:nvPr/>
        </p:nvSpPr>
        <p:spPr>
          <a:xfrm>
            <a:off x="1097280" y="3438144"/>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Only men over 90</a:t>
            </a:r>
            <a:endParaRPr lang="en-US" dirty="0"/>
          </a:p>
        </p:txBody>
      </p:sp>
      <p:sp>
        <p:nvSpPr>
          <p:cNvPr id="19" name="Shape 17"/>
          <p:cNvSpPr/>
          <p:nvPr/>
        </p:nvSpPr>
        <p:spPr>
          <a:xfrm>
            <a:off x="566928" y="4023360"/>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76656" y="4105656"/>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76656" y="4105656"/>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D</a:t>
            </a:r>
            <a:endParaRPr lang="en-US" dirty="0"/>
          </a:p>
        </p:txBody>
      </p:sp>
      <p:sp>
        <p:nvSpPr>
          <p:cNvPr id="22" name="Text 20"/>
          <p:cNvSpPr/>
          <p:nvPr/>
        </p:nvSpPr>
        <p:spPr>
          <a:xfrm>
            <a:off x="1097280" y="4023360"/>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No man unless he insists</a:t>
            </a:r>
            <a:endParaRPr lang="en-US" dirty="0"/>
          </a:p>
        </p:txBody>
      </p:sp>
      <p:sp>
        <p:nvSpPr>
          <p:cNvPr id="23" name="Shape 21"/>
          <p:cNvSpPr/>
          <p:nvPr/>
        </p:nvSpPr>
        <p:spPr>
          <a:xfrm>
            <a:off x="566928" y="4663440"/>
            <a:ext cx="11055096" cy="1719072"/>
          </a:xfrm>
          <a:prstGeom prst="roundRect">
            <a:avLst>
              <a:gd name="adj" fmla="val 2660"/>
            </a:avLst>
          </a:prstGeom>
          <a:solidFill>
            <a:srgbClr val="E7F4EC"/>
          </a:solidFill>
          <a:ln w="12700">
            <a:solidFill>
              <a:srgbClr val="BFE3CD"/>
            </a:solidFill>
            <a:prstDash val="solid"/>
          </a:ln>
        </p:spPr>
        <p:txBody>
          <a:bodyPr/>
          <a:lstStyle/>
          <a:p>
            <a:endParaRPr lang="es-CO"/>
          </a:p>
        </p:txBody>
      </p:sp>
      <p:sp>
        <p:nvSpPr>
          <p:cNvPr id="24" name="Text 22"/>
          <p:cNvSpPr/>
          <p:nvPr/>
        </p:nvSpPr>
        <p:spPr>
          <a:xfrm>
            <a:off x="749808" y="4754880"/>
            <a:ext cx="10689336" cy="153619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Higher-risk men (older age, family history, African ancestry) benefit most from a discussion about testing, even when they feel well. Symptoms are a separate reason to assess.</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2 · SYMPTOMS</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might a man notice?</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2.6</a:t>
            </a:r>
            <a:endParaRPr lang="en-US" sz="900" dirty="0"/>
          </a:p>
        </p:txBody>
      </p:sp>
      <p:sp>
        <p:nvSpPr>
          <p:cNvPr id="6" name="Shape 4"/>
          <p:cNvSpPr/>
          <p:nvPr/>
        </p:nvSpPr>
        <p:spPr>
          <a:xfrm>
            <a:off x="566928" y="1481328"/>
            <a:ext cx="3502152" cy="4764024"/>
          </a:xfrm>
          <a:prstGeom prst="roundRect">
            <a:avLst>
              <a:gd name="adj" fmla="val 2089"/>
            </a:avLst>
          </a:prstGeom>
          <a:solidFill>
            <a:srgbClr val="FFFFFF"/>
          </a:solidFill>
          <a:ln w="19050">
            <a:solidFill>
              <a:srgbClr val="6B7A88"/>
            </a:solidFill>
            <a:prstDash val="solid"/>
          </a:ln>
          <a:effectLst>
            <a:outerShdw blurRad="50800" dist="25400" dir="5400000" algn="bl" rotWithShape="0">
              <a:srgbClr val="BFCEDD">
                <a:alpha val="50000"/>
              </a:srgbClr>
            </a:outerShdw>
          </a:effectLst>
        </p:spPr>
        <p:txBody>
          <a:bodyPr/>
          <a:lstStyle/>
          <a:p>
            <a:endParaRPr lang="es-CO"/>
          </a:p>
        </p:txBody>
      </p:sp>
      <p:sp>
        <p:nvSpPr>
          <p:cNvPr id="7" name="Shape 5"/>
          <p:cNvSpPr/>
          <p:nvPr/>
        </p:nvSpPr>
        <p:spPr>
          <a:xfrm>
            <a:off x="786384" y="1700784"/>
            <a:ext cx="164592" cy="164592"/>
          </a:xfrm>
          <a:prstGeom prst="ellipse">
            <a:avLst/>
          </a:prstGeom>
          <a:solidFill>
            <a:srgbClr val="6B7A88"/>
          </a:solidFill>
          <a:ln w="12700">
            <a:solidFill>
              <a:srgbClr val="6B7A88"/>
            </a:solidFill>
            <a:prstDash val="solid"/>
          </a:ln>
        </p:spPr>
        <p:txBody>
          <a:bodyPr/>
          <a:lstStyle/>
          <a:p>
            <a:endParaRPr lang="es-CO"/>
          </a:p>
        </p:txBody>
      </p:sp>
      <p:sp>
        <p:nvSpPr>
          <p:cNvPr id="8" name="Text 6"/>
          <p:cNvSpPr/>
          <p:nvPr/>
        </p:nvSpPr>
        <p:spPr>
          <a:xfrm>
            <a:off x="1060704" y="1609344"/>
            <a:ext cx="2843784" cy="365760"/>
          </a:xfrm>
          <a:prstGeom prst="rect">
            <a:avLst/>
          </a:prstGeom>
          <a:noFill/>
          <a:ln/>
        </p:spPr>
        <p:txBody>
          <a:bodyPr wrap="square" lIns="0" tIns="0" rIns="0" bIns="0" rtlCol="0" anchor="t"/>
          <a:lstStyle/>
          <a:p>
            <a:pPr marL="0" indent="0">
              <a:buNone/>
            </a:pPr>
            <a:r>
              <a:rPr lang="en-US" b="1" dirty="0">
                <a:solidFill>
                  <a:srgbClr val="6B7A88"/>
                </a:solidFill>
                <a:latin typeface="Calibri" pitchFamily="34" charset="0"/>
                <a:ea typeface="Calibri" pitchFamily="34" charset="-122"/>
                <a:cs typeface="Calibri" pitchFamily="34" charset="-120"/>
              </a:rPr>
              <a:t>Often nothing (early)</a:t>
            </a:r>
            <a:endParaRPr lang="en-US" dirty="0"/>
          </a:p>
        </p:txBody>
      </p:sp>
      <p:sp>
        <p:nvSpPr>
          <p:cNvPr id="9" name="Text 7"/>
          <p:cNvSpPr/>
          <p:nvPr/>
        </p:nvSpPr>
        <p:spPr>
          <a:xfrm>
            <a:off x="786384" y="2029968"/>
            <a:ext cx="3099816" cy="410565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Early cancer usually causes no symptoms. A normal feeling does not rule it out.</a:t>
            </a:r>
            <a:endParaRPr lang="en-US" dirty="0"/>
          </a:p>
        </p:txBody>
      </p:sp>
      <p:sp>
        <p:nvSpPr>
          <p:cNvPr id="10" name="Shape 8"/>
          <p:cNvSpPr/>
          <p:nvPr/>
        </p:nvSpPr>
        <p:spPr>
          <a:xfrm>
            <a:off x="4343400" y="1481328"/>
            <a:ext cx="3502152" cy="4764024"/>
          </a:xfrm>
          <a:prstGeom prst="roundRect">
            <a:avLst>
              <a:gd name="adj" fmla="val 208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1" name="Shape 9"/>
          <p:cNvSpPr/>
          <p:nvPr/>
        </p:nvSpPr>
        <p:spPr>
          <a:xfrm>
            <a:off x="4562856" y="1700784"/>
            <a:ext cx="164592" cy="164592"/>
          </a:xfrm>
          <a:prstGeom prst="ellipse">
            <a:avLst/>
          </a:prstGeom>
          <a:solidFill>
            <a:srgbClr val="1A6FB0"/>
          </a:solidFill>
          <a:ln w="12700">
            <a:solidFill>
              <a:srgbClr val="1A6FB0"/>
            </a:solidFill>
            <a:prstDash val="solid"/>
          </a:ln>
        </p:spPr>
        <p:txBody>
          <a:bodyPr/>
          <a:lstStyle/>
          <a:p>
            <a:endParaRPr lang="es-CO"/>
          </a:p>
        </p:txBody>
      </p:sp>
      <p:sp>
        <p:nvSpPr>
          <p:cNvPr id="12" name="Text 10"/>
          <p:cNvSpPr/>
          <p:nvPr/>
        </p:nvSpPr>
        <p:spPr>
          <a:xfrm>
            <a:off x="4837176" y="1609344"/>
            <a:ext cx="2843784"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Urinary changes</a:t>
            </a:r>
            <a:endParaRPr lang="en-US" dirty="0"/>
          </a:p>
        </p:txBody>
      </p:sp>
      <p:sp>
        <p:nvSpPr>
          <p:cNvPr id="13" name="Text 11"/>
          <p:cNvSpPr/>
          <p:nvPr/>
        </p:nvSpPr>
        <p:spPr>
          <a:xfrm>
            <a:off x="4562856" y="2029968"/>
            <a:ext cx="3099816" cy="410565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Weak stream, trouble starting, dribbling, frequency, night-time urination. Common, and often not cancer.</a:t>
            </a:r>
            <a:endParaRPr lang="en-US" dirty="0"/>
          </a:p>
        </p:txBody>
      </p:sp>
      <p:sp>
        <p:nvSpPr>
          <p:cNvPr id="14" name="Shape 12"/>
          <p:cNvSpPr/>
          <p:nvPr/>
        </p:nvSpPr>
        <p:spPr>
          <a:xfrm>
            <a:off x="8119872" y="1481328"/>
            <a:ext cx="3502152" cy="4764024"/>
          </a:xfrm>
          <a:prstGeom prst="roundRect">
            <a:avLst>
              <a:gd name="adj" fmla="val 2089"/>
            </a:avLst>
          </a:prstGeom>
          <a:solidFill>
            <a:srgbClr val="FFFFFF"/>
          </a:solidFill>
          <a:ln w="19050">
            <a:solidFill>
              <a:srgbClr val="B23A2E"/>
            </a:solidFill>
            <a:prstDash val="solid"/>
          </a:ln>
          <a:effectLst>
            <a:outerShdw blurRad="50800" dist="25400" dir="5400000" algn="bl" rotWithShape="0">
              <a:srgbClr val="BFCEDD">
                <a:alpha val="50000"/>
              </a:srgbClr>
            </a:outerShdw>
          </a:effectLst>
        </p:spPr>
        <p:txBody>
          <a:bodyPr/>
          <a:lstStyle/>
          <a:p>
            <a:endParaRPr lang="es-CO"/>
          </a:p>
        </p:txBody>
      </p:sp>
      <p:sp>
        <p:nvSpPr>
          <p:cNvPr id="15" name="Shape 13"/>
          <p:cNvSpPr/>
          <p:nvPr/>
        </p:nvSpPr>
        <p:spPr>
          <a:xfrm>
            <a:off x="8339328" y="1700784"/>
            <a:ext cx="164592" cy="164592"/>
          </a:xfrm>
          <a:prstGeom prst="ellipse">
            <a:avLst/>
          </a:prstGeom>
          <a:solidFill>
            <a:srgbClr val="B23A2E"/>
          </a:solidFill>
          <a:ln w="12700">
            <a:solidFill>
              <a:srgbClr val="B23A2E"/>
            </a:solidFill>
            <a:prstDash val="solid"/>
          </a:ln>
        </p:spPr>
        <p:txBody>
          <a:bodyPr/>
          <a:lstStyle/>
          <a:p>
            <a:endParaRPr lang="es-CO"/>
          </a:p>
        </p:txBody>
      </p:sp>
      <p:sp>
        <p:nvSpPr>
          <p:cNvPr id="16" name="Text 14"/>
          <p:cNvSpPr/>
          <p:nvPr/>
        </p:nvSpPr>
        <p:spPr>
          <a:xfrm>
            <a:off x="8613648" y="1609344"/>
            <a:ext cx="2843784" cy="365760"/>
          </a:xfrm>
          <a:prstGeom prst="rect">
            <a:avLst/>
          </a:prstGeom>
          <a:noFill/>
          <a:ln/>
        </p:spPr>
        <p:txBody>
          <a:bodyPr wrap="square" lIns="0" tIns="0" rIns="0" bIns="0" rtlCol="0" anchor="t"/>
          <a:lstStyle/>
          <a:p>
            <a:pPr marL="0" indent="0">
              <a:buNone/>
            </a:pPr>
            <a:r>
              <a:rPr lang="en-US" b="1" dirty="0">
                <a:solidFill>
                  <a:srgbClr val="B23A2E"/>
                </a:solidFill>
                <a:latin typeface="Calibri" pitchFamily="34" charset="0"/>
                <a:ea typeface="Calibri" pitchFamily="34" charset="-122"/>
                <a:cs typeface="Calibri" pitchFamily="34" charset="-120"/>
              </a:rPr>
              <a:t>Warning features</a:t>
            </a:r>
            <a:endParaRPr lang="en-US" dirty="0"/>
          </a:p>
        </p:txBody>
      </p:sp>
      <p:sp>
        <p:nvSpPr>
          <p:cNvPr id="17" name="Text 15"/>
          <p:cNvSpPr/>
          <p:nvPr/>
        </p:nvSpPr>
        <p:spPr>
          <a:xfrm>
            <a:off x="8339328" y="2029968"/>
            <a:ext cx="3099816" cy="410565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Blood in urine or semen, ongoing bone or back pain, unexplained weight loss, or being unable to pass urine.</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2 · SORT</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Common or concerning?</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2.7</a:t>
            </a:r>
            <a:endParaRPr lang="en-US" sz="900" dirty="0"/>
          </a:p>
        </p:txBody>
      </p:sp>
      <p:sp>
        <p:nvSpPr>
          <p:cNvPr id="6" name="Text 4"/>
          <p:cNvSpPr/>
          <p:nvPr/>
        </p:nvSpPr>
        <p:spPr>
          <a:xfrm>
            <a:off x="566928" y="1481328"/>
            <a:ext cx="11055096" cy="310896"/>
          </a:xfrm>
          <a:prstGeom prst="rect">
            <a:avLst/>
          </a:prstGeom>
          <a:noFill/>
          <a:ln/>
        </p:spPr>
        <p:txBody>
          <a:bodyPr wrap="square" lIns="0" tIns="0" rIns="0" bIns="0" rtlCol="0" anchor="t"/>
          <a:lstStyle/>
          <a:p>
            <a:pPr marL="0" indent="0">
              <a:buNone/>
            </a:pPr>
            <a:r>
              <a:rPr lang="en-US" sz="1300" i="1" dirty="0">
                <a:solidFill>
                  <a:srgbClr val="1A6FB0"/>
                </a:solidFill>
                <a:latin typeface="Calibri" pitchFamily="34" charset="0"/>
                <a:ea typeface="Calibri" pitchFamily="34" charset="-122"/>
                <a:cs typeface="Calibri" pitchFamily="34" charset="-120"/>
              </a:rPr>
              <a:t>Sort each finding: common/often non-cancer, or a warning feature needing prompt action.</a:t>
            </a:r>
            <a:endParaRPr lang="en-US" sz="1300" dirty="0"/>
          </a:p>
        </p:txBody>
      </p:sp>
      <p:sp>
        <p:nvSpPr>
          <p:cNvPr id="7" name="Shape 5"/>
          <p:cNvSpPr/>
          <p:nvPr/>
        </p:nvSpPr>
        <p:spPr>
          <a:xfrm>
            <a:off x="566928" y="1901952"/>
            <a:ext cx="5390388" cy="4480560"/>
          </a:xfrm>
          <a:prstGeom prst="roundRect">
            <a:avLst>
              <a:gd name="adj" fmla="val 1224"/>
            </a:avLst>
          </a:prstGeom>
          <a:solidFill>
            <a:srgbClr val="FFFFFF"/>
          </a:solidFill>
          <a:ln w="19050">
            <a:solidFill>
              <a:srgbClr val="1A6FB0"/>
            </a:solidFill>
            <a:prstDash val="solid"/>
          </a:ln>
        </p:spPr>
        <p:txBody>
          <a:bodyPr/>
          <a:lstStyle/>
          <a:p>
            <a:endParaRPr lang="es-CO"/>
          </a:p>
        </p:txBody>
      </p:sp>
      <p:sp>
        <p:nvSpPr>
          <p:cNvPr id="8" name="Shape 6"/>
          <p:cNvSpPr/>
          <p:nvPr/>
        </p:nvSpPr>
        <p:spPr>
          <a:xfrm>
            <a:off x="566928" y="1901952"/>
            <a:ext cx="5390388" cy="457200"/>
          </a:xfrm>
          <a:prstGeom prst="roundRect">
            <a:avLst>
              <a:gd name="adj" fmla="val 12000"/>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566928" y="1901952"/>
            <a:ext cx="5390388" cy="45720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Common, assess</a:t>
            </a:r>
            <a:endParaRPr lang="en-US" dirty="0"/>
          </a:p>
        </p:txBody>
      </p:sp>
      <p:sp>
        <p:nvSpPr>
          <p:cNvPr id="10" name="Text 8"/>
          <p:cNvSpPr/>
          <p:nvPr/>
        </p:nvSpPr>
        <p:spPr>
          <a:xfrm>
            <a:off x="713232" y="2468880"/>
            <a:ext cx="5097780" cy="3785616"/>
          </a:xfrm>
          <a:prstGeom prst="rect">
            <a:avLst/>
          </a:prstGeom>
          <a:noFill/>
          <a:ln/>
        </p:spPr>
        <p:txBody>
          <a:bodyPr wrap="square" lIns="0" tIns="0" rIns="0" bIns="0" rtlCol="0" anchor="t"/>
          <a:lstStyle/>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Weak or slow urine stream</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Getting up at night to pass urine</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Trouble starting the stream</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Mild dribbling at the end</a:t>
            </a:r>
            <a:endParaRPr lang="en-US" dirty="0"/>
          </a:p>
        </p:txBody>
      </p:sp>
      <p:sp>
        <p:nvSpPr>
          <p:cNvPr id="11" name="Shape 9"/>
          <p:cNvSpPr/>
          <p:nvPr/>
        </p:nvSpPr>
        <p:spPr>
          <a:xfrm>
            <a:off x="6231636" y="1901952"/>
            <a:ext cx="5390388" cy="4480560"/>
          </a:xfrm>
          <a:prstGeom prst="roundRect">
            <a:avLst>
              <a:gd name="adj" fmla="val 1224"/>
            </a:avLst>
          </a:prstGeom>
          <a:solidFill>
            <a:srgbClr val="FFFFFF"/>
          </a:solidFill>
          <a:ln w="19050">
            <a:solidFill>
              <a:srgbClr val="B23A2E"/>
            </a:solidFill>
            <a:prstDash val="solid"/>
          </a:ln>
        </p:spPr>
        <p:txBody>
          <a:bodyPr/>
          <a:lstStyle/>
          <a:p>
            <a:endParaRPr lang="es-CO"/>
          </a:p>
        </p:txBody>
      </p:sp>
      <p:sp>
        <p:nvSpPr>
          <p:cNvPr id="12" name="Shape 10"/>
          <p:cNvSpPr/>
          <p:nvPr/>
        </p:nvSpPr>
        <p:spPr>
          <a:xfrm>
            <a:off x="6231636" y="1901952"/>
            <a:ext cx="5390388" cy="457200"/>
          </a:xfrm>
          <a:prstGeom prst="roundRect">
            <a:avLst>
              <a:gd name="adj" fmla="val 12000"/>
            </a:avLst>
          </a:prstGeom>
          <a:solidFill>
            <a:srgbClr val="B23A2E"/>
          </a:solidFill>
          <a:ln w="12700">
            <a:solidFill>
              <a:srgbClr val="B23A2E"/>
            </a:solidFill>
            <a:prstDash val="solid"/>
          </a:ln>
        </p:spPr>
        <p:txBody>
          <a:bodyPr/>
          <a:lstStyle/>
          <a:p>
            <a:endParaRPr lang="es-CO"/>
          </a:p>
        </p:txBody>
      </p:sp>
      <p:sp>
        <p:nvSpPr>
          <p:cNvPr id="13" name="Text 11"/>
          <p:cNvSpPr/>
          <p:nvPr/>
        </p:nvSpPr>
        <p:spPr>
          <a:xfrm>
            <a:off x="6231636" y="1901952"/>
            <a:ext cx="5390388" cy="45720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  Warning, act promptly</a:t>
            </a:r>
            <a:endParaRPr lang="en-US" dirty="0"/>
          </a:p>
        </p:txBody>
      </p:sp>
      <p:sp>
        <p:nvSpPr>
          <p:cNvPr id="14" name="Text 12"/>
          <p:cNvSpPr/>
          <p:nvPr/>
        </p:nvSpPr>
        <p:spPr>
          <a:xfrm>
            <a:off x="6377940" y="2468880"/>
            <a:ext cx="5097780" cy="3785616"/>
          </a:xfrm>
          <a:prstGeom prst="rect">
            <a:avLst/>
          </a:prstGeom>
          <a:noFill/>
          <a:ln/>
        </p:spPr>
        <p:txBody>
          <a:bodyPr wrap="square" lIns="0" tIns="0" rIns="0" bIns="0" rtlCol="0" anchor="t"/>
          <a:lstStyle/>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Blood in urine or semen</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Ongoing bone or back pain</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Unexplained weight loss</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Unable to pass urine at all (retention)</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2 · RED FLAGS</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Emergencies you must not miss</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2.8</a:t>
            </a:r>
            <a:endParaRPr lang="en-US" sz="900" dirty="0"/>
          </a:p>
        </p:txBody>
      </p:sp>
      <p:sp>
        <p:nvSpPr>
          <p:cNvPr id="6" name="Shape 4"/>
          <p:cNvSpPr/>
          <p:nvPr/>
        </p:nvSpPr>
        <p:spPr>
          <a:xfrm>
            <a:off x="566928" y="1481328"/>
            <a:ext cx="11055096" cy="1234440"/>
          </a:xfrm>
          <a:prstGeom prst="roundRect">
            <a:avLst>
              <a:gd name="adj" fmla="val 4444"/>
            </a:avLst>
          </a:prstGeom>
          <a:solidFill>
            <a:srgbClr val="FBEBE8"/>
          </a:solidFill>
          <a:ln w="12700">
            <a:solidFill>
              <a:srgbClr val="FBEBE8"/>
            </a:solidFill>
            <a:prstDash val="solid"/>
          </a:ln>
        </p:spPr>
        <p:txBody>
          <a:bodyPr/>
          <a:lstStyle/>
          <a:p>
            <a:endParaRPr lang="es-CO"/>
          </a:p>
        </p:txBody>
      </p:sp>
      <p:sp>
        <p:nvSpPr>
          <p:cNvPr id="7" name="Text 5"/>
          <p:cNvSpPr/>
          <p:nvPr/>
        </p:nvSpPr>
        <p:spPr>
          <a:xfrm>
            <a:off x="731520" y="1572768"/>
            <a:ext cx="10725912" cy="1051560"/>
          </a:xfrm>
          <a:prstGeom prst="rect">
            <a:avLst/>
          </a:prstGeom>
          <a:noFill/>
          <a:ln/>
        </p:spPr>
        <p:txBody>
          <a:bodyPr wrap="square" lIns="0" tIns="0" rIns="0" bIns="0" rtlCol="0" anchor="t"/>
          <a:lstStyle/>
          <a:p>
            <a:pPr marL="0" indent="0" algn="l">
              <a:buNone/>
            </a:pPr>
            <a:r>
              <a:rPr lang="en-US" b="1" dirty="0">
                <a:solidFill>
                  <a:srgbClr val="B23A2E"/>
                </a:solidFill>
                <a:latin typeface="Calibri" pitchFamily="34" charset="0"/>
                <a:ea typeface="Calibri" pitchFamily="34" charset="-122"/>
                <a:cs typeface="Calibri" pitchFamily="34" charset="-120"/>
              </a:rPr>
              <a:t>⚠️  Same-day action:  </a:t>
            </a:r>
            <a:r>
              <a:rPr lang="en-US" dirty="0">
                <a:solidFill>
                  <a:srgbClr val="223240"/>
                </a:solidFill>
                <a:latin typeface="Calibri" pitchFamily="34" charset="0"/>
                <a:ea typeface="Calibri" pitchFamily="34" charset="-122"/>
                <a:cs typeface="Calibri" pitchFamily="34" charset="-120"/>
              </a:rPr>
              <a:t>a man with known or suspected prostate cancer who develops NEW severe back pain with leg weakness, numbness, difficulty walking, or loss of bladder/bowel control may have the spine pressing on the spinal cord (cord compression). This is an emergency, arrange urgent same-day referral.</a:t>
            </a:r>
            <a:endParaRPr lang="en-US" dirty="0"/>
          </a:p>
        </p:txBody>
      </p:sp>
      <p:sp>
        <p:nvSpPr>
          <p:cNvPr id="8" name="Shape 6"/>
          <p:cNvSpPr/>
          <p:nvPr/>
        </p:nvSpPr>
        <p:spPr>
          <a:xfrm>
            <a:off x="566928" y="2944368"/>
            <a:ext cx="11055096" cy="914400"/>
          </a:xfrm>
          <a:prstGeom prst="roundRect">
            <a:avLst>
              <a:gd name="adj" fmla="val 6000"/>
            </a:avLst>
          </a:prstGeom>
          <a:solidFill>
            <a:srgbClr val="FBEBE8"/>
          </a:solidFill>
          <a:ln w="12700">
            <a:solidFill>
              <a:srgbClr val="FBEBE8"/>
            </a:solidFill>
            <a:prstDash val="solid"/>
          </a:ln>
        </p:spPr>
        <p:txBody>
          <a:bodyPr/>
          <a:lstStyle/>
          <a:p>
            <a:endParaRPr lang="es-CO"/>
          </a:p>
        </p:txBody>
      </p:sp>
      <p:sp>
        <p:nvSpPr>
          <p:cNvPr id="9" name="Text 7"/>
          <p:cNvSpPr/>
          <p:nvPr/>
        </p:nvSpPr>
        <p:spPr>
          <a:xfrm>
            <a:off x="731520" y="3071904"/>
            <a:ext cx="10725912" cy="731520"/>
          </a:xfrm>
          <a:prstGeom prst="rect">
            <a:avLst/>
          </a:prstGeom>
          <a:noFill/>
          <a:ln/>
        </p:spPr>
        <p:txBody>
          <a:bodyPr wrap="square" lIns="0" tIns="0" rIns="0" bIns="0" rtlCol="0" anchor="t"/>
          <a:lstStyle/>
          <a:p>
            <a:pPr marL="0" indent="0" algn="l">
              <a:buNone/>
            </a:pPr>
            <a:r>
              <a:rPr lang="en-US" b="1" dirty="0">
                <a:solidFill>
                  <a:srgbClr val="B23A2E"/>
                </a:solidFill>
                <a:latin typeface="Calibri" pitchFamily="34" charset="0"/>
                <a:ea typeface="Calibri" pitchFamily="34" charset="-122"/>
                <a:cs typeface="Calibri" pitchFamily="34" charset="-120"/>
              </a:rPr>
              <a:t>⚠️  Also urgent:  </a:t>
            </a:r>
            <a:r>
              <a:rPr lang="en-US" dirty="0">
                <a:solidFill>
                  <a:srgbClr val="223240"/>
                </a:solidFill>
                <a:latin typeface="Calibri" pitchFamily="34" charset="0"/>
                <a:ea typeface="Calibri" pitchFamily="34" charset="-122"/>
                <a:cs typeface="Calibri" pitchFamily="34" charset="-120"/>
              </a:rPr>
              <a:t>complete inability to pass urine (retention), needs prompt relief and referral. Feeling very unwell or feverish while on chemotherapy needs same-day emergency assessment.</a:t>
            </a:r>
            <a:endParaRPr lang="en-US" dirty="0"/>
          </a:p>
        </p:txBody>
      </p:sp>
      <p:sp>
        <p:nvSpPr>
          <p:cNvPr id="10" name="Shape 8"/>
          <p:cNvSpPr/>
          <p:nvPr/>
        </p:nvSpPr>
        <p:spPr>
          <a:xfrm>
            <a:off x="566928" y="4087368"/>
            <a:ext cx="11055096" cy="822960"/>
          </a:xfrm>
          <a:prstGeom prst="roundRect">
            <a:avLst>
              <a:gd name="adj" fmla="val 6667"/>
            </a:avLst>
          </a:prstGeom>
          <a:solidFill>
            <a:srgbClr val="E7F4EC"/>
          </a:solidFill>
          <a:ln w="12700">
            <a:solidFill>
              <a:srgbClr val="E7F4EC"/>
            </a:solidFill>
            <a:prstDash val="solid"/>
          </a:ln>
        </p:spPr>
        <p:txBody>
          <a:bodyPr/>
          <a:lstStyle/>
          <a:p>
            <a:endParaRPr lang="es-CO"/>
          </a:p>
        </p:txBody>
      </p:sp>
      <p:sp>
        <p:nvSpPr>
          <p:cNvPr id="11" name="Text 9"/>
          <p:cNvSpPr/>
          <p:nvPr/>
        </p:nvSpPr>
        <p:spPr>
          <a:xfrm>
            <a:off x="731520" y="4178808"/>
            <a:ext cx="10725912" cy="640080"/>
          </a:xfrm>
          <a:prstGeom prst="rect">
            <a:avLst/>
          </a:prstGeom>
          <a:noFill/>
          <a:ln/>
        </p:spPr>
        <p:txBody>
          <a:bodyPr wrap="square" lIns="0" tIns="0" rIns="0" bIns="0" rtlCol="0" anchor="t"/>
          <a:lstStyle/>
          <a:p>
            <a:pPr marL="0" indent="0" algn="l">
              <a:buNone/>
            </a:pPr>
            <a:r>
              <a:rPr lang="en-US" b="1" dirty="0">
                <a:solidFill>
                  <a:srgbClr val="1E7A46"/>
                </a:solidFill>
                <a:latin typeface="Calibri" pitchFamily="34" charset="0"/>
                <a:ea typeface="Calibri" pitchFamily="34" charset="-122"/>
                <a:cs typeface="Calibri" pitchFamily="34" charset="-120"/>
              </a:rPr>
              <a:t>💡  Remember:  </a:t>
            </a:r>
            <a:r>
              <a:rPr lang="en-US" dirty="0">
                <a:solidFill>
                  <a:srgbClr val="223240"/>
                </a:solidFill>
                <a:latin typeface="Calibri" pitchFamily="34" charset="0"/>
                <a:ea typeface="Calibri" pitchFamily="34" charset="-122"/>
                <a:cs typeface="Calibri" pitchFamily="34" charset="-120"/>
              </a:rPr>
              <a:t>you do not need a diagnosis to act on a red flag. Recognise it, refer urgently, and explain to the patient and family why speed matters.</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2 · THE PSA TEST</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PSA can and cannot tell you</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2.9</a:t>
            </a:r>
            <a:endParaRPr lang="en-US" sz="900" dirty="0"/>
          </a:p>
        </p:txBody>
      </p:sp>
      <p:sp>
        <p:nvSpPr>
          <p:cNvPr id="6" name="Text 4"/>
          <p:cNvSpPr/>
          <p:nvPr/>
        </p:nvSpPr>
        <p:spPr>
          <a:xfrm>
            <a:off x="566928" y="1481328"/>
            <a:ext cx="11055096" cy="91440"/>
          </a:xfrm>
          <a:prstGeom prst="rect">
            <a:avLst/>
          </a:prstGeom>
          <a:noFill/>
          <a:ln/>
        </p:spPr>
        <p:txBody>
          <a:bodyPr wrap="square" lIns="0" tIns="0" rIns="0" bIns="0" rtlCol="0" anchor="t"/>
          <a:lstStyle/>
          <a:p>
            <a:pPr marL="0" indent="0" algn="l">
              <a:buNone/>
            </a:pPr>
            <a:r>
              <a:rPr lang="en-US" dirty="0">
                <a:solidFill>
                  <a:srgbClr val="223240"/>
                </a:solidFill>
                <a:latin typeface="Calibri" pitchFamily="34" charset="0"/>
                <a:ea typeface="Calibri" pitchFamily="34" charset="-122"/>
                <a:cs typeface="Calibri" pitchFamily="34" charset="-120"/>
              </a:rPr>
              <a:t>PSA is a protein measured in a blood sample. A higher level </a:t>
            </a:r>
            <a:r>
              <a:rPr lang="en-US" b="1" dirty="0">
                <a:solidFill>
                  <a:srgbClr val="223240"/>
                </a:solidFill>
                <a:latin typeface="Calibri" pitchFamily="34" charset="0"/>
                <a:ea typeface="Calibri" pitchFamily="34" charset="-122"/>
                <a:cs typeface="Calibri" pitchFamily="34" charset="-120"/>
              </a:rPr>
              <a:t>can</a:t>
            </a:r>
            <a:r>
              <a:rPr lang="en-US" dirty="0">
                <a:solidFill>
                  <a:srgbClr val="223240"/>
                </a:solidFill>
                <a:latin typeface="Calibri" pitchFamily="34" charset="0"/>
                <a:ea typeface="Calibri" pitchFamily="34" charset="-122"/>
                <a:cs typeface="Calibri" pitchFamily="34" charset="-120"/>
              </a:rPr>
              <a:t> point to prostate cancer, but it is a </a:t>
            </a:r>
            <a:r>
              <a:rPr lang="en-US" b="1" dirty="0">
                <a:solidFill>
                  <a:srgbClr val="223240"/>
                </a:solidFill>
                <a:latin typeface="Calibri" pitchFamily="34" charset="0"/>
                <a:ea typeface="Calibri" pitchFamily="34" charset="-122"/>
                <a:cs typeface="Calibri" pitchFamily="34" charset="-120"/>
              </a:rPr>
              <a:t>signpost, not proof</a:t>
            </a:r>
            <a:r>
              <a:rPr lang="en-US" dirty="0">
                <a:solidFill>
                  <a:srgbClr val="223240"/>
                </a:solidFill>
                <a:latin typeface="Calibri" pitchFamily="34" charset="0"/>
                <a:ea typeface="Calibri" pitchFamily="34" charset="-122"/>
                <a:cs typeface="Calibri" pitchFamily="34" charset="-120"/>
              </a:rPr>
              <a:t>.</a:t>
            </a:r>
            <a:endParaRPr lang="en-US" dirty="0"/>
          </a:p>
        </p:txBody>
      </p:sp>
      <p:sp>
        <p:nvSpPr>
          <p:cNvPr id="7" name="Shape 5"/>
          <p:cNvSpPr/>
          <p:nvPr/>
        </p:nvSpPr>
        <p:spPr>
          <a:xfrm>
            <a:off x="566928" y="2304288"/>
            <a:ext cx="5390388" cy="1901952"/>
          </a:xfrm>
          <a:prstGeom prst="roundRect">
            <a:avLst>
              <a:gd name="adj" fmla="val 3846"/>
            </a:avLst>
          </a:prstGeom>
          <a:solidFill>
            <a:srgbClr val="FFFFFF"/>
          </a:solidFill>
          <a:ln w="19050">
            <a:solidFill>
              <a:srgbClr val="B26A00"/>
            </a:solidFill>
            <a:prstDash val="solid"/>
          </a:ln>
          <a:effectLst>
            <a:outerShdw blurRad="50800" dist="25400" dir="5400000" algn="bl" rotWithShape="0">
              <a:srgbClr val="BFCEDD">
                <a:alpha val="50000"/>
              </a:srgbClr>
            </a:outerShdw>
          </a:effectLst>
        </p:spPr>
        <p:txBody>
          <a:bodyPr/>
          <a:lstStyle/>
          <a:p>
            <a:endParaRPr lang="es-CO"/>
          </a:p>
        </p:txBody>
      </p:sp>
      <p:sp>
        <p:nvSpPr>
          <p:cNvPr id="8" name="Shape 6"/>
          <p:cNvSpPr/>
          <p:nvPr/>
        </p:nvSpPr>
        <p:spPr>
          <a:xfrm>
            <a:off x="786384" y="2523744"/>
            <a:ext cx="164592" cy="164592"/>
          </a:xfrm>
          <a:prstGeom prst="ellipse">
            <a:avLst/>
          </a:prstGeom>
          <a:solidFill>
            <a:srgbClr val="B26A00"/>
          </a:solidFill>
          <a:ln w="12700">
            <a:solidFill>
              <a:srgbClr val="B26A00"/>
            </a:solidFill>
            <a:prstDash val="solid"/>
          </a:ln>
        </p:spPr>
        <p:txBody>
          <a:bodyPr/>
          <a:lstStyle/>
          <a:p>
            <a:endParaRPr lang="es-CO"/>
          </a:p>
        </p:txBody>
      </p:sp>
      <p:sp>
        <p:nvSpPr>
          <p:cNvPr id="9" name="Text 7"/>
          <p:cNvSpPr/>
          <p:nvPr/>
        </p:nvSpPr>
        <p:spPr>
          <a:xfrm>
            <a:off x="1060704" y="2432304"/>
            <a:ext cx="4732020" cy="36576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A raised PSA can mean</a:t>
            </a:r>
            <a:endParaRPr lang="en-US" dirty="0"/>
          </a:p>
        </p:txBody>
      </p:sp>
      <p:sp>
        <p:nvSpPr>
          <p:cNvPr id="10" name="Text 8"/>
          <p:cNvSpPr/>
          <p:nvPr/>
        </p:nvSpPr>
        <p:spPr>
          <a:xfrm>
            <a:off x="786384" y="2852928"/>
            <a:ext cx="4988052" cy="12435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Cancer, but also a simple enlarged prostate, infection, or recent activity. It needs interpretation and often referral.</a:t>
            </a:r>
            <a:endParaRPr lang="en-US" dirty="0"/>
          </a:p>
        </p:txBody>
      </p:sp>
      <p:sp>
        <p:nvSpPr>
          <p:cNvPr id="11" name="Shape 9"/>
          <p:cNvSpPr/>
          <p:nvPr/>
        </p:nvSpPr>
        <p:spPr>
          <a:xfrm>
            <a:off x="6231636" y="2304288"/>
            <a:ext cx="5390388" cy="1901952"/>
          </a:xfrm>
          <a:prstGeom prst="roundRect">
            <a:avLst>
              <a:gd name="adj" fmla="val 3846"/>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2" name="Shape 10"/>
          <p:cNvSpPr/>
          <p:nvPr/>
        </p:nvSpPr>
        <p:spPr>
          <a:xfrm>
            <a:off x="6451092" y="2523744"/>
            <a:ext cx="164592" cy="164592"/>
          </a:xfrm>
          <a:prstGeom prst="ellipse">
            <a:avLst/>
          </a:prstGeom>
          <a:solidFill>
            <a:srgbClr val="1A6FB0"/>
          </a:solidFill>
          <a:ln w="12700">
            <a:solidFill>
              <a:srgbClr val="1A6FB0"/>
            </a:solidFill>
            <a:prstDash val="solid"/>
          </a:ln>
        </p:spPr>
        <p:txBody>
          <a:bodyPr/>
          <a:lstStyle/>
          <a:p>
            <a:endParaRPr lang="es-CO"/>
          </a:p>
        </p:txBody>
      </p:sp>
      <p:sp>
        <p:nvSpPr>
          <p:cNvPr id="13" name="Text 11"/>
          <p:cNvSpPr/>
          <p:nvPr/>
        </p:nvSpPr>
        <p:spPr>
          <a:xfrm>
            <a:off x="6725412" y="243230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A normal PSA</a:t>
            </a:r>
            <a:endParaRPr lang="en-US" dirty="0"/>
          </a:p>
        </p:txBody>
      </p:sp>
      <p:sp>
        <p:nvSpPr>
          <p:cNvPr id="14" name="Text 12"/>
          <p:cNvSpPr/>
          <p:nvPr/>
        </p:nvSpPr>
        <p:spPr>
          <a:xfrm>
            <a:off x="6451092" y="2852928"/>
            <a:ext cx="4988052" cy="12435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Lowers the chance of cancer but does not rule it out. Symptoms or an abnormal exam still matter.</a:t>
            </a:r>
            <a:endParaRPr lang="en-US" dirty="0"/>
          </a:p>
        </p:txBody>
      </p:sp>
      <p:sp>
        <p:nvSpPr>
          <p:cNvPr id="15" name="Shape 13"/>
          <p:cNvSpPr/>
          <p:nvPr/>
        </p:nvSpPr>
        <p:spPr>
          <a:xfrm>
            <a:off x="566928" y="4480560"/>
            <a:ext cx="5390388" cy="1901952"/>
          </a:xfrm>
          <a:prstGeom prst="roundRect">
            <a:avLst>
              <a:gd name="adj" fmla="val 3846"/>
            </a:avLst>
          </a:prstGeom>
          <a:solidFill>
            <a:srgbClr val="FFFFFF"/>
          </a:solidFill>
          <a:ln w="19050">
            <a:solidFill>
              <a:srgbClr val="1E7A46"/>
            </a:solidFill>
            <a:prstDash val="solid"/>
          </a:ln>
          <a:effectLst>
            <a:outerShdw blurRad="50800" dist="25400" dir="5400000" algn="bl" rotWithShape="0">
              <a:srgbClr val="BFCEDD">
                <a:alpha val="50000"/>
              </a:srgbClr>
            </a:outerShdw>
          </a:effectLst>
        </p:spPr>
        <p:txBody>
          <a:bodyPr/>
          <a:lstStyle/>
          <a:p>
            <a:endParaRPr lang="es-CO"/>
          </a:p>
        </p:txBody>
      </p:sp>
      <p:sp>
        <p:nvSpPr>
          <p:cNvPr id="16" name="Shape 14"/>
          <p:cNvSpPr/>
          <p:nvPr/>
        </p:nvSpPr>
        <p:spPr>
          <a:xfrm>
            <a:off x="786384" y="4700016"/>
            <a:ext cx="164592" cy="164592"/>
          </a:xfrm>
          <a:prstGeom prst="ellipse">
            <a:avLst/>
          </a:prstGeom>
          <a:solidFill>
            <a:srgbClr val="1E7A46"/>
          </a:solidFill>
          <a:ln w="12700">
            <a:solidFill>
              <a:srgbClr val="1E7A46"/>
            </a:solidFill>
            <a:prstDash val="solid"/>
          </a:ln>
        </p:spPr>
        <p:txBody>
          <a:bodyPr/>
          <a:lstStyle/>
          <a:p>
            <a:endParaRPr lang="es-CO"/>
          </a:p>
        </p:txBody>
      </p:sp>
      <p:sp>
        <p:nvSpPr>
          <p:cNvPr id="17" name="Text 15"/>
          <p:cNvSpPr/>
          <p:nvPr/>
        </p:nvSpPr>
        <p:spPr>
          <a:xfrm>
            <a:off x="1060704" y="4608576"/>
            <a:ext cx="4732020" cy="36576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What confirms cancer</a:t>
            </a:r>
            <a:endParaRPr lang="en-US" dirty="0"/>
          </a:p>
        </p:txBody>
      </p:sp>
      <p:sp>
        <p:nvSpPr>
          <p:cNvPr id="18" name="Text 16"/>
          <p:cNvSpPr/>
          <p:nvPr/>
        </p:nvSpPr>
        <p:spPr>
          <a:xfrm>
            <a:off x="786384" y="5029200"/>
            <a:ext cx="4988052" cy="12435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Only a biopsy (tissue under the microscope). PSA and DRE guide who needs one.</a:t>
            </a:r>
            <a:endParaRPr lang="en-US" dirty="0"/>
          </a:p>
        </p:txBody>
      </p:sp>
      <p:sp>
        <p:nvSpPr>
          <p:cNvPr id="19" name="Shape 17"/>
          <p:cNvSpPr/>
          <p:nvPr/>
        </p:nvSpPr>
        <p:spPr>
          <a:xfrm>
            <a:off x="6231636" y="4480560"/>
            <a:ext cx="5390388" cy="1901952"/>
          </a:xfrm>
          <a:prstGeom prst="roundRect">
            <a:avLst>
              <a:gd name="adj" fmla="val 3846"/>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20" name="Shape 18"/>
          <p:cNvSpPr/>
          <p:nvPr/>
        </p:nvSpPr>
        <p:spPr>
          <a:xfrm>
            <a:off x="6451092" y="4700016"/>
            <a:ext cx="164592" cy="164592"/>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725412" y="4608576"/>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The honest message</a:t>
            </a:r>
            <a:endParaRPr lang="en-US" dirty="0"/>
          </a:p>
        </p:txBody>
      </p:sp>
      <p:sp>
        <p:nvSpPr>
          <p:cNvPr id="22" name="Text 20"/>
          <p:cNvSpPr/>
          <p:nvPr/>
        </p:nvSpPr>
        <p:spPr>
          <a:xfrm>
            <a:off x="6451092" y="5029200"/>
            <a:ext cx="4988052" cy="12435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Testing can find cancer early and save lives, but can also lead to further tests and treatment a man may not have needed.</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2 · COUNSEL</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to explain before testing</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2.10</a:t>
            </a:r>
            <a:endParaRPr lang="en-US" sz="900" dirty="0"/>
          </a:p>
        </p:txBody>
      </p:sp>
      <p:sp>
        <p:nvSpPr>
          <p:cNvPr id="6" name="Text 4"/>
          <p:cNvSpPr/>
          <p:nvPr/>
        </p:nvSpPr>
        <p:spPr>
          <a:xfrm>
            <a:off x="566928" y="1481328"/>
            <a:ext cx="11055096" cy="310896"/>
          </a:xfrm>
          <a:prstGeom prst="rect">
            <a:avLst/>
          </a:prstGeom>
          <a:noFill/>
          <a:ln/>
        </p:spPr>
        <p:txBody>
          <a:bodyPr wrap="square" lIns="0" tIns="0" rIns="0" bIns="0" rtlCol="0" anchor="t"/>
          <a:lstStyle/>
          <a:p>
            <a:pPr marL="0" indent="0">
              <a:buNone/>
            </a:pPr>
            <a:r>
              <a:rPr lang="en-US" sz="1300" i="1" dirty="0">
                <a:solidFill>
                  <a:srgbClr val="1A6FB0"/>
                </a:solidFill>
                <a:latin typeface="Calibri" pitchFamily="34" charset="0"/>
                <a:ea typeface="Calibri" pitchFamily="34" charset="-122"/>
                <a:cs typeface="Calibri" pitchFamily="34" charset="-120"/>
              </a:rPr>
              <a:t>Shared decision-making: give the man what he needs to choose.</a:t>
            </a:r>
            <a:endParaRPr lang="en-US" sz="1300" dirty="0"/>
          </a:p>
        </p:txBody>
      </p:sp>
      <p:sp>
        <p:nvSpPr>
          <p:cNvPr id="7" name="Shape 5"/>
          <p:cNvSpPr/>
          <p:nvPr/>
        </p:nvSpPr>
        <p:spPr>
          <a:xfrm>
            <a:off x="566928" y="1938528"/>
            <a:ext cx="5390388"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8" name="Shape 6"/>
          <p:cNvSpPr/>
          <p:nvPr/>
        </p:nvSpPr>
        <p:spPr>
          <a:xfrm>
            <a:off x="786384" y="2157984"/>
            <a:ext cx="164592" cy="164592"/>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1060704" y="20665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Why it is offered</a:t>
            </a:r>
            <a:endParaRPr lang="en-US" dirty="0"/>
          </a:p>
        </p:txBody>
      </p:sp>
      <p:sp>
        <p:nvSpPr>
          <p:cNvPr id="10" name="Text 8"/>
          <p:cNvSpPr/>
          <p:nvPr/>
        </p:nvSpPr>
        <p:spPr>
          <a:xfrm>
            <a:off x="786384" y="2487168"/>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His risk (age, family history, ancestry) and what the test looks for.</a:t>
            </a:r>
            <a:endParaRPr lang="en-US" dirty="0"/>
          </a:p>
        </p:txBody>
      </p:sp>
      <p:sp>
        <p:nvSpPr>
          <p:cNvPr id="11" name="Shape 9"/>
          <p:cNvSpPr/>
          <p:nvPr/>
        </p:nvSpPr>
        <p:spPr>
          <a:xfrm>
            <a:off x="6231636" y="1938528"/>
            <a:ext cx="5390388" cy="2084832"/>
          </a:xfrm>
          <a:prstGeom prst="roundRect">
            <a:avLst>
              <a:gd name="adj" fmla="val 3509"/>
            </a:avLst>
          </a:prstGeom>
          <a:solidFill>
            <a:srgbClr val="FFFFFF"/>
          </a:solidFill>
          <a:ln w="19050">
            <a:solidFill>
              <a:srgbClr val="1E7A46"/>
            </a:solidFill>
            <a:prstDash val="solid"/>
          </a:ln>
          <a:effectLst>
            <a:outerShdw blurRad="50800" dist="25400" dir="5400000" algn="bl" rotWithShape="0">
              <a:srgbClr val="BFCEDD">
                <a:alpha val="50000"/>
              </a:srgbClr>
            </a:outerShdw>
          </a:effectLst>
        </p:spPr>
        <p:txBody>
          <a:bodyPr/>
          <a:lstStyle/>
          <a:p>
            <a:endParaRPr lang="es-CO"/>
          </a:p>
        </p:txBody>
      </p:sp>
      <p:sp>
        <p:nvSpPr>
          <p:cNvPr id="12" name="Shape 10"/>
          <p:cNvSpPr/>
          <p:nvPr/>
        </p:nvSpPr>
        <p:spPr>
          <a:xfrm>
            <a:off x="6451092" y="2157984"/>
            <a:ext cx="164592" cy="164592"/>
          </a:xfrm>
          <a:prstGeom prst="ellipse">
            <a:avLst/>
          </a:prstGeom>
          <a:solidFill>
            <a:srgbClr val="1E7A46"/>
          </a:solidFill>
          <a:ln w="12700">
            <a:solidFill>
              <a:srgbClr val="1E7A46"/>
            </a:solidFill>
            <a:prstDash val="solid"/>
          </a:ln>
        </p:spPr>
        <p:txBody>
          <a:bodyPr/>
          <a:lstStyle/>
          <a:p>
            <a:endParaRPr lang="es-CO"/>
          </a:p>
        </p:txBody>
      </p:sp>
      <p:sp>
        <p:nvSpPr>
          <p:cNvPr id="13" name="Text 11"/>
          <p:cNvSpPr/>
          <p:nvPr/>
        </p:nvSpPr>
        <p:spPr>
          <a:xfrm>
            <a:off x="6725412" y="2066544"/>
            <a:ext cx="4732020" cy="36576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The benefit</a:t>
            </a:r>
            <a:endParaRPr lang="en-US" dirty="0"/>
          </a:p>
        </p:txBody>
      </p:sp>
      <p:sp>
        <p:nvSpPr>
          <p:cNvPr id="14" name="Text 12"/>
          <p:cNvSpPr/>
          <p:nvPr/>
        </p:nvSpPr>
        <p:spPr>
          <a:xfrm>
            <a:off x="6451092" y="2487168"/>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It can find cancer early, when treatment works best.</a:t>
            </a:r>
            <a:endParaRPr lang="en-US" dirty="0"/>
          </a:p>
        </p:txBody>
      </p:sp>
      <p:sp>
        <p:nvSpPr>
          <p:cNvPr id="15" name="Shape 13"/>
          <p:cNvSpPr/>
          <p:nvPr/>
        </p:nvSpPr>
        <p:spPr>
          <a:xfrm>
            <a:off x="566928" y="4297680"/>
            <a:ext cx="5390388" cy="2084832"/>
          </a:xfrm>
          <a:prstGeom prst="roundRect">
            <a:avLst>
              <a:gd name="adj" fmla="val 3509"/>
            </a:avLst>
          </a:prstGeom>
          <a:solidFill>
            <a:srgbClr val="FFFFFF"/>
          </a:solidFill>
          <a:ln w="19050">
            <a:solidFill>
              <a:srgbClr val="B26A00"/>
            </a:solidFill>
            <a:prstDash val="solid"/>
          </a:ln>
          <a:effectLst>
            <a:outerShdw blurRad="50800" dist="25400" dir="5400000" algn="bl" rotWithShape="0">
              <a:srgbClr val="BFCEDD">
                <a:alpha val="50000"/>
              </a:srgbClr>
            </a:outerShdw>
          </a:effectLst>
        </p:spPr>
        <p:txBody>
          <a:bodyPr/>
          <a:lstStyle/>
          <a:p>
            <a:endParaRPr lang="es-CO"/>
          </a:p>
        </p:txBody>
      </p:sp>
      <p:sp>
        <p:nvSpPr>
          <p:cNvPr id="16" name="Shape 14"/>
          <p:cNvSpPr/>
          <p:nvPr/>
        </p:nvSpPr>
        <p:spPr>
          <a:xfrm>
            <a:off x="786384" y="4517136"/>
            <a:ext cx="164592" cy="164592"/>
          </a:xfrm>
          <a:prstGeom prst="ellipse">
            <a:avLst/>
          </a:prstGeom>
          <a:solidFill>
            <a:srgbClr val="B26A00"/>
          </a:solidFill>
          <a:ln w="12700">
            <a:solidFill>
              <a:srgbClr val="B26A00"/>
            </a:solidFill>
            <a:prstDash val="solid"/>
          </a:ln>
        </p:spPr>
        <p:txBody>
          <a:bodyPr/>
          <a:lstStyle/>
          <a:p>
            <a:endParaRPr lang="es-CO"/>
          </a:p>
        </p:txBody>
      </p:sp>
      <p:sp>
        <p:nvSpPr>
          <p:cNvPr id="17" name="Text 15"/>
          <p:cNvSpPr/>
          <p:nvPr/>
        </p:nvSpPr>
        <p:spPr>
          <a:xfrm>
            <a:off x="1060704" y="4425696"/>
            <a:ext cx="4732020" cy="36576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The limits</a:t>
            </a:r>
            <a:endParaRPr lang="en-US" dirty="0"/>
          </a:p>
        </p:txBody>
      </p:sp>
      <p:sp>
        <p:nvSpPr>
          <p:cNvPr id="18" name="Text 16"/>
          <p:cNvSpPr/>
          <p:nvPr/>
        </p:nvSpPr>
        <p:spPr>
          <a:xfrm>
            <a:off x="786384" y="4846320"/>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It is not perfect: it can miss cancer, or lead to more tests and treatment he might not have needed.</a:t>
            </a:r>
            <a:endParaRPr lang="en-US" dirty="0"/>
          </a:p>
        </p:txBody>
      </p:sp>
      <p:sp>
        <p:nvSpPr>
          <p:cNvPr id="19" name="Shape 17"/>
          <p:cNvSpPr/>
          <p:nvPr/>
        </p:nvSpPr>
        <p:spPr>
          <a:xfrm>
            <a:off x="6231636" y="4297680"/>
            <a:ext cx="5390388"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20" name="Shape 18"/>
          <p:cNvSpPr/>
          <p:nvPr/>
        </p:nvSpPr>
        <p:spPr>
          <a:xfrm>
            <a:off x="6451092" y="4517136"/>
            <a:ext cx="164592" cy="164592"/>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725412" y="4425696"/>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What happens next</a:t>
            </a:r>
            <a:endParaRPr lang="en-US" dirty="0"/>
          </a:p>
        </p:txBody>
      </p:sp>
      <p:sp>
        <p:nvSpPr>
          <p:cNvPr id="22" name="Text 20"/>
          <p:cNvSpPr/>
          <p:nvPr/>
        </p:nvSpPr>
        <p:spPr>
          <a:xfrm>
            <a:off x="6451092" y="4846320"/>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 raised result means referral for assessment, not an immediate diagnosis. Then check he understands (teach-back).</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2 · RWANDA</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Guiding early detection in Rwanda</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2.11</a:t>
            </a:r>
            <a:endParaRPr lang="en-US" sz="900" dirty="0"/>
          </a:p>
        </p:txBody>
      </p:sp>
      <p:sp>
        <p:nvSpPr>
          <p:cNvPr id="6" name="Shape 4"/>
          <p:cNvSpPr/>
          <p:nvPr/>
        </p:nvSpPr>
        <p:spPr>
          <a:xfrm>
            <a:off x="566928" y="1481328"/>
            <a:ext cx="11055096" cy="1554480"/>
          </a:xfrm>
          <a:prstGeom prst="roundRect">
            <a:avLst>
              <a:gd name="adj" fmla="val 3529"/>
            </a:avLst>
          </a:prstGeom>
          <a:solidFill>
            <a:srgbClr val="FCF1DE"/>
          </a:solidFill>
          <a:ln w="12700">
            <a:solidFill>
              <a:srgbClr val="FCF1DE"/>
            </a:solidFill>
            <a:prstDash val="solid"/>
          </a:ln>
        </p:spPr>
        <p:txBody>
          <a:bodyPr/>
          <a:lstStyle/>
          <a:p>
            <a:endParaRPr lang="es-CO"/>
          </a:p>
        </p:txBody>
      </p:sp>
      <p:sp>
        <p:nvSpPr>
          <p:cNvPr id="7" name="Text 5"/>
          <p:cNvSpPr/>
          <p:nvPr/>
        </p:nvSpPr>
        <p:spPr>
          <a:xfrm>
            <a:off x="731520" y="1572768"/>
            <a:ext cx="10725912" cy="1371600"/>
          </a:xfrm>
          <a:prstGeom prst="rect">
            <a:avLst/>
          </a:prstGeom>
          <a:noFill/>
          <a:ln/>
        </p:spPr>
        <p:txBody>
          <a:bodyPr wrap="square" lIns="0" tIns="0" rIns="0" bIns="0" rtlCol="0" anchor="t"/>
          <a:lstStyle/>
          <a:p>
            <a:pPr marL="0" indent="0" algn="l">
              <a:buNone/>
            </a:pPr>
            <a:r>
              <a:rPr lang="en-US" b="1" dirty="0">
                <a:solidFill>
                  <a:srgbClr val="B26A00"/>
                </a:solidFill>
                <a:latin typeface="Calibri" pitchFamily="34" charset="0"/>
                <a:ea typeface="Calibri" pitchFamily="34" charset="-122"/>
                <a:cs typeface="Calibri" pitchFamily="34" charset="-120"/>
              </a:rPr>
              <a:t>📌  Practical approach:  </a:t>
            </a:r>
            <a:r>
              <a:rPr lang="en-US" dirty="0">
                <a:solidFill>
                  <a:srgbClr val="223240"/>
                </a:solidFill>
                <a:latin typeface="Calibri" pitchFamily="34" charset="0"/>
                <a:ea typeface="Calibri" pitchFamily="34" charset="-122"/>
                <a:cs typeface="Calibri" pitchFamily="34" charset="-120"/>
              </a:rPr>
              <a:t>there is no blanket "test every man" programme. Offer an informed, shared discussion, especially to higher-risk men (older age, family history, African ancestry). Consider the man’s age, health and wishes. Do not test a man who would not want or benefit from what follows.</a:t>
            </a:r>
            <a:r>
              <a:rPr lang="en-US" b="1" dirty="0">
                <a:solidFill>
                  <a:srgbClr val="CC0000"/>
                </a:solidFill>
                <a:latin typeface="Calibri" pitchFamily="34" charset="0"/>
                <a:ea typeface="Calibri" pitchFamily="34" charset="-122"/>
                <a:cs typeface="Calibri" pitchFamily="34" charset="-120"/>
              </a:rPr>
              <a:t>  National screening position to be confirmed by RBC.</a:t>
            </a:r>
            <a:endParaRPr lang="en-US" dirty="0"/>
          </a:p>
        </p:txBody>
      </p:sp>
      <p:sp>
        <p:nvSpPr>
          <p:cNvPr id="8" name="Shape 6"/>
          <p:cNvSpPr/>
          <p:nvPr/>
        </p:nvSpPr>
        <p:spPr>
          <a:xfrm>
            <a:off x="566928" y="3225912"/>
            <a:ext cx="11055096" cy="914400"/>
          </a:xfrm>
          <a:prstGeom prst="roundRect">
            <a:avLst>
              <a:gd name="adj" fmla="val 6000"/>
            </a:avLst>
          </a:prstGeom>
          <a:solidFill>
            <a:srgbClr val="E7F4EC"/>
          </a:solidFill>
          <a:ln w="12700">
            <a:solidFill>
              <a:srgbClr val="E7F4EC"/>
            </a:solidFill>
            <a:prstDash val="solid"/>
          </a:ln>
        </p:spPr>
        <p:txBody>
          <a:bodyPr/>
          <a:lstStyle/>
          <a:p>
            <a:endParaRPr lang="es-CO"/>
          </a:p>
        </p:txBody>
      </p:sp>
      <p:sp>
        <p:nvSpPr>
          <p:cNvPr id="9" name="Text 7"/>
          <p:cNvSpPr/>
          <p:nvPr/>
        </p:nvSpPr>
        <p:spPr>
          <a:xfrm>
            <a:off x="731520" y="3317352"/>
            <a:ext cx="10725912" cy="731520"/>
          </a:xfrm>
          <a:prstGeom prst="rect">
            <a:avLst/>
          </a:prstGeom>
          <a:noFill/>
          <a:ln/>
        </p:spPr>
        <p:txBody>
          <a:bodyPr wrap="square" lIns="0" tIns="0" rIns="0" bIns="0" rtlCol="0" anchor="t"/>
          <a:lstStyle/>
          <a:p>
            <a:pPr marL="0" indent="0" algn="l">
              <a:buNone/>
            </a:pPr>
            <a:r>
              <a:rPr lang="en-US" b="1" dirty="0">
                <a:solidFill>
                  <a:srgbClr val="1E7A46"/>
                </a:solidFill>
                <a:latin typeface="Calibri" pitchFamily="34" charset="0"/>
                <a:ea typeface="Calibri" pitchFamily="34" charset="-122"/>
                <a:cs typeface="Calibri" pitchFamily="34" charset="-120"/>
              </a:rPr>
              <a:t>💡  For men with symptoms:  </a:t>
            </a:r>
            <a:r>
              <a:rPr lang="en-US" dirty="0">
                <a:solidFill>
                  <a:srgbClr val="223240"/>
                </a:solidFill>
                <a:latin typeface="Calibri" pitchFamily="34" charset="0"/>
                <a:ea typeface="Calibri" pitchFamily="34" charset="-122"/>
                <a:cs typeface="Calibri" pitchFamily="34" charset="-120"/>
              </a:rPr>
              <a:t>this is not screening, assess, examine, and refer along the pathway when features suggest cancer. Manage what you can locally while awaiting referral.</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2 · DECIDE</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Back to Emmanuel</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2.12</a:t>
            </a:r>
            <a:endParaRPr lang="en-US" sz="900" dirty="0"/>
          </a:p>
        </p:txBody>
      </p:sp>
      <p:sp>
        <p:nvSpPr>
          <p:cNvPr id="6" name="Text 4"/>
          <p:cNvSpPr/>
          <p:nvPr/>
        </p:nvSpPr>
        <p:spPr>
          <a:xfrm>
            <a:off x="566928" y="1481328"/>
            <a:ext cx="11055096" cy="54864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Emmanuel (52, well, brother had prostate cancer) asks if he should be tested. Your best response:</a:t>
            </a:r>
            <a:endParaRPr lang="en-US" dirty="0"/>
          </a:p>
        </p:txBody>
      </p:sp>
      <p:sp>
        <p:nvSpPr>
          <p:cNvPr id="7" name="Shape 5"/>
          <p:cNvSpPr/>
          <p:nvPr/>
        </p:nvSpPr>
        <p:spPr>
          <a:xfrm>
            <a:off x="566928" y="2267712"/>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76656" y="2350008"/>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76656" y="2350008"/>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A</a:t>
            </a:r>
            <a:endParaRPr lang="en-US" dirty="0"/>
          </a:p>
        </p:txBody>
      </p:sp>
      <p:sp>
        <p:nvSpPr>
          <p:cNvPr id="10" name="Text 8"/>
          <p:cNvSpPr/>
          <p:nvPr/>
        </p:nvSpPr>
        <p:spPr>
          <a:xfrm>
            <a:off x="1097280" y="2267712"/>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"No, you are too young, come back at 70."</a:t>
            </a:r>
            <a:endParaRPr lang="en-US" dirty="0"/>
          </a:p>
        </p:txBody>
      </p:sp>
      <p:sp>
        <p:nvSpPr>
          <p:cNvPr id="11" name="Shape 9"/>
          <p:cNvSpPr/>
          <p:nvPr/>
        </p:nvSpPr>
        <p:spPr>
          <a:xfrm>
            <a:off x="566928" y="2852928"/>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12" name="Shape 10"/>
          <p:cNvSpPr/>
          <p:nvPr/>
        </p:nvSpPr>
        <p:spPr>
          <a:xfrm>
            <a:off x="676656" y="2935224"/>
            <a:ext cx="292608" cy="292608"/>
          </a:xfrm>
          <a:prstGeom prst="ellipse">
            <a:avLst/>
          </a:prstGeom>
          <a:solidFill>
            <a:srgbClr val="1A6FB0"/>
          </a:solidFill>
          <a:ln w="12700">
            <a:solidFill>
              <a:srgbClr val="1A6FB0"/>
            </a:solidFill>
            <a:prstDash val="solid"/>
          </a:ln>
        </p:spPr>
        <p:txBody>
          <a:bodyPr/>
          <a:lstStyle/>
          <a:p>
            <a:endParaRPr lang="es-CO"/>
          </a:p>
        </p:txBody>
      </p:sp>
      <p:sp>
        <p:nvSpPr>
          <p:cNvPr id="13" name="Text 11"/>
          <p:cNvSpPr/>
          <p:nvPr/>
        </p:nvSpPr>
        <p:spPr>
          <a:xfrm>
            <a:off x="676656" y="2935224"/>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B</a:t>
            </a:r>
            <a:endParaRPr lang="en-US" dirty="0"/>
          </a:p>
        </p:txBody>
      </p:sp>
      <p:sp>
        <p:nvSpPr>
          <p:cNvPr id="14" name="Text 12"/>
          <p:cNvSpPr/>
          <p:nvPr/>
        </p:nvSpPr>
        <p:spPr>
          <a:xfrm>
            <a:off x="1097280" y="2852928"/>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"Yes, let’s test today without discussion."</a:t>
            </a:r>
            <a:endParaRPr lang="en-US" dirty="0"/>
          </a:p>
        </p:txBody>
      </p:sp>
      <p:sp>
        <p:nvSpPr>
          <p:cNvPr id="15" name="Shape 13"/>
          <p:cNvSpPr/>
          <p:nvPr/>
        </p:nvSpPr>
        <p:spPr>
          <a:xfrm>
            <a:off x="566928" y="3438144"/>
            <a:ext cx="11055096" cy="457200"/>
          </a:xfrm>
          <a:prstGeom prst="roundRect">
            <a:avLst>
              <a:gd name="adj" fmla="val 10000"/>
            </a:avLst>
          </a:prstGeom>
          <a:solidFill>
            <a:srgbClr val="E7F4EC"/>
          </a:solidFill>
          <a:ln w="19050">
            <a:solidFill>
              <a:srgbClr val="1E7A46"/>
            </a:solidFill>
            <a:prstDash val="solid"/>
          </a:ln>
        </p:spPr>
        <p:txBody>
          <a:bodyPr/>
          <a:lstStyle/>
          <a:p>
            <a:endParaRPr lang="es-CO"/>
          </a:p>
        </p:txBody>
      </p:sp>
      <p:sp>
        <p:nvSpPr>
          <p:cNvPr id="16" name="Shape 14"/>
          <p:cNvSpPr/>
          <p:nvPr/>
        </p:nvSpPr>
        <p:spPr>
          <a:xfrm>
            <a:off x="676656" y="3520440"/>
            <a:ext cx="292608" cy="292608"/>
          </a:xfrm>
          <a:prstGeom prst="ellipse">
            <a:avLst/>
          </a:prstGeom>
          <a:solidFill>
            <a:srgbClr val="1E7A46"/>
          </a:solidFill>
          <a:ln w="12700">
            <a:solidFill>
              <a:srgbClr val="1E7A46"/>
            </a:solidFill>
            <a:prstDash val="solid"/>
          </a:ln>
        </p:spPr>
        <p:txBody>
          <a:bodyPr/>
          <a:lstStyle/>
          <a:p>
            <a:endParaRPr lang="es-CO"/>
          </a:p>
        </p:txBody>
      </p:sp>
      <p:sp>
        <p:nvSpPr>
          <p:cNvPr id="17" name="Text 15"/>
          <p:cNvSpPr/>
          <p:nvPr/>
        </p:nvSpPr>
        <p:spPr>
          <a:xfrm>
            <a:off x="676656" y="3520440"/>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C</a:t>
            </a:r>
            <a:endParaRPr lang="en-US" dirty="0"/>
          </a:p>
        </p:txBody>
      </p:sp>
      <p:sp>
        <p:nvSpPr>
          <p:cNvPr id="18" name="Text 16"/>
          <p:cNvSpPr/>
          <p:nvPr/>
        </p:nvSpPr>
        <p:spPr>
          <a:xfrm>
            <a:off x="1097280" y="3438144"/>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Explain his higher risk from family history, discuss the benefits and limits of PSA, and support his decision</a:t>
            </a:r>
            <a:endParaRPr lang="en-US" dirty="0"/>
          </a:p>
        </p:txBody>
      </p:sp>
      <p:sp>
        <p:nvSpPr>
          <p:cNvPr id="19" name="Shape 17"/>
          <p:cNvSpPr/>
          <p:nvPr/>
        </p:nvSpPr>
        <p:spPr>
          <a:xfrm>
            <a:off x="566928" y="4023360"/>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76656" y="4105656"/>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76656" y="4105656"/>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D</a:t>
            </a:r>
            <a:endParaRPr lang="en-US" dirty="0"/>
          </a:p>
        </p:txBody>
      </p:sp>
      <p:sp>
        <p:nvSpPr>
          <p:cNvPr id="22" name="Text 20"/>
          <p:cNvSpPr/>
          <p:nvPr/>
        </p:nvSpPr>
        <p:spPr>
          <a:xfrm>
            <a:off x="1097280" y="4023360"/>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Tell him not to worry because he feels well</a:t>
            </a:r>
            <a:endParaRPr lang="en-US" dirty="0"/>
          </a:p>
        </p:txBody>
      </p:sp>
      <p:sp>
        <p:nvSpPr>
          <p:cNvPr id="23" name="Shape 21"/>
          <p:cNvSpPr/>
          <p:nvPr/>
        </p:nvSpPr>
        <p:spPr>
          <a:xfrm>
            <a:off x="566928" y="4663440"/>
            <a:ext cx="11055096" cy="1719072"/>
          </a:xfrm>
          <a:prstGeom prst="roundRect">
            <a:avLst>
              <a:gd name="adj" fmla="val 2660"/>
            </a:avLst>
          </a:prstGeom>
          <a:solidFill>
            <a:srgbClr val="E7F4EC"/>
          </a:solidFill>
          <a:ln w="12700">
            <a:solidFill>
              <a:srgbClr val="BFE3CD"/>
            </a:solidFill>
            <a:prstDash val="solid"/>
          </a:ln>
        </p:spPr>
        <p:txBody>
          <a:bodyPr/>
          <a:lstStyle/>
          <a:p>
            <a:endParaRPr lang="es-CO"/>
          </a:p>
        </p:txBody>
      </p:sp>
      <p:sp>
        <p:nvSpPr>
          <p:cNvPr id="24" name="Text 22"/>
          <p:cNvSpPr/>
          <p:nvPr/>
        </p:nvSpPr>
        <p:spPr>
          <a:xfrm>
            <a:off x="749808" y="4754880"/>
            <a:ext cx="10689336" cy="153619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C.  </a:t>
            </a:r>
            <a:r>
              <a:rPr lang="en-US" dirty="0">
                <a:solidFill>
                  <a:srgbClr val="223240"/>
                </a:solidFill>
                <a:latin typeface="Calibri" pitchFamily="34" charset="0"/>
                <a:ea typeface="Calibri" pitchFamily="34" charset="-122"/>
                <a:cs typeface="Calibri" pitchFamily="34" charset="-120"/>
              </a:rPr>
              <a:t>A family history raises Emmanuel’s risk. The right step is an informed, shared discussion, not automatic testing and not dismissal. Feeling well does not rule out early cancer.</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2 · HIGHLIGHTS</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Session 2 key points</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2.13</a:t>
            </a:r>
            <a:endParaRPr lang="en-US" sz="900" dirty="0"/>
          </a:p>
        </p:txBody>
      </p:sp>
      <p:sp>
        <p:nvSpPr>
          <p:cNvPr id="6" name="Shape 4"/>
          <p:cNvSpPr/>
          <p:nvPr/>
        </p:nvSpPr>
        <p:spPr>
          <a:xfrm>
            <a:off x="566928" y="1481328"/>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7" name="Shape 5"/>
          <p:cNvSpPr/>
          <p:nvPr/>
        </p:nvSpPr>
        <p:spPr>
          <a:xfrm>
            <a:off x="713232" y="2029968"/>
            <a:ext cx="365760" cy="365760"/>
          </a:xfrm>
          <a:prstGeom prst="ellipse">
            <a:avLst/>
          </a:prstGeom>
          <a:solidFill>
            <a:srgbClr val="1A6FB0"/>
          </a:solidFill>
          <a:ln w="12700">
            <a:solidFill>
              <a:srgbClr val="1A6FB0"/>
            </a:solidFill>
            <a:prstDash val="solid"/>
          </a:ln>
        </p:spPr>
        <p:txBody>
          <a:bodyPr/>
          <a:lstStyle/>
          <a:p>
            <a:endParaRPr lang="es-CO"/>
          </a:p>
        </p:txBody>
      </p:sp>
      <p:sp>
        <p:nvSpPr>
          <p:cNvPr id="8" name="Text 6"/>
          <p:cNvSpPr/>
          <p:nvPr/>
        </p:nvSpPr>
        <p:spPr>
          <a:xfrm>
            <a:off x="713232" y="2029968"/>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9" name="Text 7"/>
          <p:cNvSpPr/>
          <p:nvPr/>
        </p:nvSpPr>
        <p:spPr>
          <a:xfrm>
            <a:off x="1207008" y="1481328"/>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Higher risk: older age, family history, and African ancestry.</a:t>
            </a:r>
            <a:endParaRPr lang="en-US" dirty="0"/>
          </a:p>
        </p:txBody>
      </p:sp>
      <p:sp>
        <p:nvSpPr>
          <p:cNvPr id="10" name="Shape 8"/>
          <p:cNvSpPr/>
          <p:nvPr/>
        </p:nvSpPr>
        <p:spPr>
          <a:xfrm>
            <a:off x="6222492" y="1481328"/>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11" name="Shape 9"/>
          <p:cNvSpPr/>
          <p:nvPr/>
        </p:nvSpPr>
        <p:spPr>
          <a:xfrm>
            <a:off x="6368796" y="2029968"/>
            <a:ext cx="365760" cy="365760"/>
          </a:xfrm>
          <a:prstGeom prst="ellipse">
            <a:avLst/>
          </a:prstGeom>
          <a:solidFill>
            <a:srgbClr val="1A6FB0"/>
          </a:solidFill>
          <a:ln w="12700">
            <a:solidFill>
              <a:srgbClr val="1A6FB0"/>
            </a:solidFill>
            <a:prstDash val="solid"/>
          </a:ln>
        </p:spPr>
        <p:txBody>
          <a:bodyPr/>
          <a:lstStyle/>
          <a:p>
            <a:endParaRPr lang="es-CO"/>
          </a:p>
        </p:txBody>
      </p:sp>
      <p:sp>
        <p:nvSpPr>
          <p:cNvPr id="12" name="Text 10"/>
          <p:cNvSpPr/>
          <p:nvPr/>
        </p:nvSpPr>
        <p:spPr>
          <a:xfrm>
            <a:off x="6368796" y="2029968"/>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3" name="Text 11"/>
          <p:cNvSpPr/>
          <p:nvPr/>
        </p:nvSpPr>
        <p:spPr>
          <a:xfrm>
            <a:off x="6862572" y="1481328"/>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Early cancer often has no symptoms, feeling well does not rule it out.</a:t>
            </a:r>
            <a:endParaRPr lang="en-US" dirty="0"/>
          </a:p>
        </p:txBody>
      </p:sp>
      <p:sp>
        <p:nvSpPr>
          <p:cNvPr id="14" name="Shape 12"/>
          <p:cNvSpPr/>
          <p:nvPr/>
        </p:nvSpPr>
        <p:spPr>
          <a:xfrm>
            <a:off x="566928" y="3200400"/>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15" name="Shape 13"/>
          <p:cNvSpPr/>
          <p:nvPr/>
        </p:nvSpPr>
        <p:spPr>
          <a:xfrm>
            <a:off x="713232" y="3749040"/>
            <a:ext cx="365760" cy="365760"/>
          </a:xfrm>
          <a:prstGeom prst="ellipse">
            <a:avLst/>
          </a:prstGeom>
          <a:solidFill>
            <a:srgbClr val="1A6FB0"/>
          </a:solidFill>
          <a:ln w="12700">
            <a:solidFill>
              <a:srgbClr val="1A6FB0"/>
            </a:solidFill>
            <a:prstDash val="solid"/>
          </a:ln>
        </p:spPr>
        <p:txBody>
          <a:bodyPr/>
          <a:lstStyle/>
          <a:p>
            <a:endParaRPr lang="es-CO"/>
          </a:p>
        </p:txBody>
      </p:sp>
      <p:sp>
        <p:nvSpPr>
          <p:cNvPr id="16" name="Text 14"/>
          <p:cNvSpPr/>
          <p:nvPr/>
        </p:nvSpPr>
        <p:spPr>
          <a:xfrm>
            <a:off x="713232" y="3749040"/>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17" name="Text 15"/>
          <p:cNvSpPr/>
          <p:nvPr/>
        </p:nvSpPr>
        <p:spPr>
          <a:xfrm>
            <a:off x="1207008" y="3200400"/>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Urinary symptoms are common and often not cancer, but still assess.</a:t>
            </a:r>
            <a:endParaRPr lang="en-US" dirty="0"/>
          </a:p>
        </p:txBody>
      </p:sp>
      <p:sp>
        <p:nvSpPr>
          <p:cNvPr id="18" name="Shape 16"/>
          <p:cNvSpPr/>
          <p:nvPr/>
        </p:nvSpPr>
        <p:spPr>
          <a:xfrm>
            <a:off x="6222492" y="3200400"/>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19" name="Shape 17"/>
          <p:cNvSpPr/>
          <p:nvPr/>
        </p:nvSpPr>
        <p:spPr>
          <a:xfrm>
            <a:off x="6368796" y="3749040"/>
            <a:ext cx="365760" cy="365760"/>
          </a:xfrm>
          <a:prstGeom prst="ellipse">
            <a:avLst/>
          </a:prstGeom>
          <a:solidFill>
            <a:srgbClr val="1A6FB0"/>
          </a:solidFill>
          <a:ln w="12700">
            <a:solidFill>
              <a:srgbClr val="1A6FB0"/>
            </a:solidFill>
            <a:prstDash val="solid"/>
          </a:ln>
        </p:spPr>
        <p:txBody>
          <a:bodyPr/>
          <a:lstStyle/>
          <a:p>
            <a:endParaRPr lang="es-CO"/>
          </a:p>
        </p:txBody>
      </p:sp>
      <p:sp>
        <p:nvSpPr>
          <p:cNvPr id="20" name="Text 18"/>
          <p:cNvSpPr/>
          <p:nvPr/>
        </p:nvSpPr>
        <p:spPr>
          <a:xfrm>
            <a:off x="6368796" y="3749040"/>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21" name="Text 19"/>
          <p:cNvSpPr/>
          <p:nvPr/>
        </p:nvSpPr>
        <p:spPr>
          <a:xfrm>
            <a:off x="6862572" y="3200400"/>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Red flags (cord compression, retention) need urgent, same-day action.</a:t>
            </a:r>
            <a:endParaRPr lang="en-US" dirty="0"/>
          </a:p>
        </p:txBody>
      </p:sp>
      <p:sp>
        <p:nvSpPr>
          <p:cNvPr id="22" name="Shape 20"/>
          <p:cNvSpPr/>
          <p:nvPr/>
        </p:nvSpPr>
        <p:spPr>
          <a:xfrm>
            <a:off x="566928" y="4919472"/>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23" name="Shape 21"/>
          <p:cNvSpPr/>
          <p:nvPr/>
        </p:nvSpPr>
        <p:spPr>
          <a:xfrm>
            <a:off x="713232" y="5468112"/>
            <a:ext cx="365760" cy="365760"/>
          </a:xfrm>
          <a:prstGeom prst="ellipse">
            <a:avLst/>
          </a:prstGeom>
          <a:solidFill>
            <a:srgbClr val="1A6FB0"/>
          </a:solidFill>
          <a:ln w="12700">
            <a:solidFill>
              <a:srgbClr val="1A6FB0"/>
            </a:solidFill>
            <a:prstDash val="solid"/>
          </a:ln>
        </p:spPr>
        <p:txBody>
          <a:bodyPr/>
          <a:lstStyle/>
          <a:p>
            <a:endParaRPr lang="es-CO"/>
          </a:p>
        </p:txBody>
      </p:sp>
      <p:sp>
        <p:nvSpPr>
          <p:cNvPr id="24" name="Text 22"/>
          <p:cNvSpPr/>
          <p:nvPr/>
        </p:nvSpPr>
        <p:spPr>
          <a:xfrm>
            <a:off x="713232" y="5468112"/>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5</a:t>
            </a:r>
            <a:endParaRPr lang="en-US" dirty="0"/>
          </a:p>
        </p:txBody>
      </p:sp>
      <p:sp>
        <p:nvSpPr>
          <p:cNvPr id="25" name="Text 23"/>
          <p:cNvSpPr/>
          <p:nvPr/>
        </p:nvSpPr>
        <p:spPr>
          <a:xfrm>
            <a:off x="1207008" y="4919472"/>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PSA is a signpost, not proof; only a biopsy confirms cancer.</a:t>
            </a:r>
            <a:endParaRPr lang="en-US" dirty="0"/>
          </a:p>
        </p:txBody>
      </p:sp>
      <p:sp>
        <p:nvSpPr>
          <p:cNvPr id="26" name="Shape 24"/>
          <p:cNvSpPr/>
          <p:nvPr/>
        </p:nvSpPr>
        <p:spPr>
          <a:xfrm>
            <a:off x="6222492" y="4919472"/>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27" name="Shape 25"/>
          <p:cNvSpPr/>
          <p:nvPr/>
        </p:nvSpPr>
        <p:spPr>
          <a:xfrm>
            <a:off x="6368796" y="5468112"/>
            <a:ext cx="365760" cy="365760"/>
          </a:xfrm>
          <a:prstGeom prst="ellipse">
            <a:avLst/>
          </a:prstGeom>
          <a:solidFill>
            <a:srgbClr val="1A6FB0"/>
          </a:solidFill>
          <a:ln w="12700">
            <a:solidFill>
              <a:srgbClr val="1A6FB0"/>
            </a:solidFill>
            <a:prstDash val="solid"/>
          </a:ln>
        </p:spPr>
        <p:txBody>
          <a:bodyPr/>
          <a:lstStyle/>
          <a:p>
            <a:endParaRPr lang="es-CO"/>
          </a:p>
        </p:txBody>
      </p:sp>
      <p:sp>
        <p:nvSpPr>
          <p:cNvPr id="28" name="Text 26"/>
          <p:cNvSpPr/>
          <p:nvPr/>
        </p:nvSpPr>
        <p:spPr>
          <a:xfrm>
            <a:off x="6368796" y="5468112"/>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6</a:t>
            </a:r>
            <a:endParaRPr lang="en-US" dirty="0"/>
          </a:p>
        </p:txBody>
      </p:sp>
      <p:sp>
        <p:nvSpPr>
          <p:cNvPr id="29" name="Text 27"/>
          <p:cNvSpPr/>
          <p:nvPr/>
        </p:nvSpPr>
        <p:spPr>
          <a:xfrm>
            <a:off x="6862572" y="4919472"/>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Offer testing after an informed, shared discussion, not blanket screening.</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2 · KNOWLEDGE CHECK</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Knowledge Check</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2.14</a:t>
            </a:r>
            <a:endParaRPr lang="en-US" sz="900" dirty="0"/>
          </a:p>
        </p:txBody>
      </p:sp>
      <p:sp>
        <p:nvSpPr>
          <p:cNvPr id="6" name="Text 4"/>
          <p:cNvSpPr/>
          <p:nvPr/>
        </p:nvSpPr>
        <p:spPr>
          <a:xfrm>
            <a:off x="566928" y="1084286"/>
            <a:ext cx="11055096" cy="310896"/>
          </a:xfrm>
          <a:prstGeom prst="rect">
            <a:avLst/>
          </a:prstGeom>
          <a:noFill/>
          <a:ln/>
        </p:spPr>
        <p:txBody>
          <a:bodyPr wrap="square" lIns="0" tIns="0" rIns="0" bIns="0" rtlCol="0" anchor="t"/>
          <a:lstStyle/>
          <a:p>
            <a:pPr marL="0" indent="0">
              <a:buNone/>
            </a:pPr>
            <a:r>
              <a:rPr lang="en-US" sz="1300" i="1" dirty="0">
                <a:solidFill>
                  <a:srgbClr val="1A6FB0"/>
                </a:solidFill>
                <a:latin typeface="Calibri" pitchFamily="34" charset="0"/>
                <a:ea typeface="Calibri" pitchFamily="34" charset="-122"/>
                <a:cs typeface="Calibri" pitchFamily="34" charset="-120"/>
              </a:rPr>
              <a:t>Five questions. Each shows every option, the correct answer, and why.</a:t>
            </a:r>
            <a:endParaRPr lang="en-US" sz="1300" dirty="0"/>
          </a:p>
        </p:txBody>
      </p:sp>
      <p:sp>
        <p:nvSpPr>
          <p:cNvPr id="7" name="Shape 5"/>
          <p:cNvSpPr/>
          <p:nvPr/>
        </p:nvSpPr>
        <p:spPr>
          <a:xfrm>
            <a:off x="566928" y="1468334"/>
            <a:ext cx="11055096" cy="808330"/>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94944" y="1493838"/>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94944" y="1493838"/>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10" name="Text 8"/>
          <p:cNvSpPr/>
          <p:nvPr/>
        </p:nvSpPr>
        <p:spPr>
          <a:xfrm>
            <a:off x="1115568" y="1457262"/>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Strongest risk factor for prostate cancer:</a:t>
            </a:r>
            <a:endParaRPr lang="en-US" dirty="0"/>
          </a:p>
        </p:txBody>
      </p:sp>
      <p:sp>
        <p:nvSpPr>
          <p:cNvPr id="11" name="Text 9"/>
          <p:cNvSpPr/>
          <p:nvPr/>
        </p:nvSpPr>
        <p:spPr>
          <a:xfrm>
            <a:off x="1115568" y="1722438"/>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Being under 40     B. Older age     C. A healthy diet     D. Regular exercise</a:t>
            </a:r>
            <a:endParaRPr lang="en-US" dirty="0"/>
          </a:p>
        </p:txBody>
      </p:sp>
      <p:sp>
        <p:nvSpPr>
          <p:cNvPr id="12" name="Text 10"/>
          <p:cNvSpPr/>
          <p:nvPr/>
        </p:nvSpPr>
        <p:spPr>
          <a:xfrm>
            <a:off x="1115568" y="2014376"/>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Older age; family history and African ancestry add to it.</a:t>
            </a:r>
            <a:endParaRPr lang="en-US" dirty="0"/>
          </a:p>
        </p:txBody>
      </p:sp>
      <p:sp>
        <p:nvSpPr>
          <p:cNvPr id="13" name="Shape 11"/>
          <p:cNvSpPr/>
          <p:nvPr/>
        </p:nvSpPr>
        <p:spPr>
          <a:xfrm>
            <a:off x="566928" y="2330377"/>
            <a:ext cx="11055096" cy="944421"/>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14" name="Shape 12"/>
          <p:cNvSpPr/>
          <p:nvPr/>
        </p:nvSpPr>
        <p:spPr>
          <a:xfrm>
            <a:off x="694944" y="2505264"/>
            <a:ext cx="292608" cy="292608"/>
          </a:xfrm>
          <a:prstGeom prst="ellipse">
            <a:avLst/>
          </a:prstGeom>
          <a:solidFill>
            <a:srgbClr val="1A6FB0"/>
          </a:solidFill>
          <a:ln w="12700">
            <a:solidFill>
              <a:srgbClr val="1A6FB0"/>
            </a:solidFill>
            <a:prstDash val="solid"/>
          </a:ln>
        </p:spPr>
        <p:txBody>
          <a:bodyPr/>
          <a:lstStyle/>
          <a:p>
            <a:endParaRPr lang="es-CO"/>
          </a:p>
        </p:txBody>
      </p:sp>
      <p:sp>
        <p:nvSpPr>
          <p:cNvPr id="15" name="Text 13"/>
          <p:cNvSpPr/>
          <p:nvPr/>
        </p:nvSpPr>
        <p:spPr>
          <a:xfrm>
            <a:off x="694944" y="2505264"/>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6" name="Text 14"/>
          <p:cNvSpPr/>
          <p:nvPr/>
        </p:nvSpPr>
        <p:spPr>
          <a:xfrm>
            <a:off x="1115568" y="2468688"/>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A raised PSA means:</a:t>
            </a:r>
            <a:endParaRPr lang="en-US" dirty="0"/>
          </a:p>
        </p:txBody>
      </p:sp>
      <p:sp>
        <p:nvSpPr>
          <p:cNvPr id="17" name="Text 15"/>
          <p:cNvSpPr/>
          <p:nvPr/>
        </p:nvSpPr>
        <p:spPr>
          <a:xfrm>
            <a:off x="1115568" y="2733864"/>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Cancer is certain     B. A signpost that needs assessment     C. Kidney disease     D. No further action</a:t>
            </a:r>
            <a:endParaRPr lang="en-US" dirty="0"/>
          </a:p>
        </p:txBody>
      </p:sp>
      <p:sp>
        <p:nvSpPr>
          <p:cNvPr id="18" name="Text 16"/>
          <p:cNvSpPr/>
          <p:nvPr/>
        </p:nvSpPr>
        <p:spPr>
          <a:xfrm>
            <a:off x="1115568" y="3013769"/>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A signpost; could be cancer, enlargement or infection, so it needs assessment.</a:t>
            </a:r>
            <a:endParaRPr lang="en-US" dirty="0"/>
          </a:p>
        </p:txBody>
      </p:sp>
      <p:sp>
        <p:nvSpPr>
          <p:cNvPr id="19" name="Shape 17"/>
          <p:cNvSpPr/>
          <p:nvPr/>
        </p:nvSpPr>
        <p:spPr>
          <a:xfrm>
            <a:off x="566928" y="3322737"/>
            <a:ext cx="11055096" cy="970232"/>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94944" y="3432465"/>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94944" y="3432465"/>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22" name="Text 20"/>
          <p:cNvSpPr/>
          <p:nvPr/>
        </p:nvSpPr>
        <p:spPr>
          <a:xfrm>
            <a:off x="1115568" y="3395889"/>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Which needs urgent same-day referral?</a:t>
            </a:r>
            <a:endParaRPr lang="en-US" dirty="0"/>
          </a:p>
        </p:txBody>
      </p:sp>
      <p:sp>
        <p:nvSpPr>
          <p:cNvPr id="23" name="Text 21"/>
          <p:cNvSpPr/>
          <p:nvPr/>
        </p:nvSpPr>
        <p:spPr>
          <a:xfrm>
            <a:off x="1115568" y="3661065"/>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Mild tiredness     B. Occasional hot flushes     C. New back pain with leg weakness or bladder/bowel changes     D. Dry skin</a:t>
            </a:r>
            <a:endParaRPr lang="en-US" dirty="0"/>
          </a:p>
        </p:txBody>
      </p:sp>
      <p:sp>
        <p:nvSpPr>
          <p:cNvPr id="24" name="Text 22"/>
          <p:cNvSpPr/>
          <p:nvPr/>
        </p:nvSpPr>
        <p:spPr>
          <a:xfrm>
            <a:off x="2150296" y="3977067"/>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C.  </a:t>
            </a:r>
            <a:r>
              <a:rPr lang="en-US" dirty="0">
                <a:solidFill>
                  <a:srgbClr val="223240"/>
                </a:solidFill>
                <a:latin typeface="Calibri" pitchFamily="34" charset="0"/>
                <a:ea typeface="Calibri" pitchFamily="34" charset="-122"/>
                <a:cs typeface="Calibri" pitchFamily="34" charset="-120"/>
              </a:rPr>
              <a:t>New back pain with leg weakness or bladder/bowel changes suggests cord compression.</a:t>
            </a:r>
            <a:endParaRPr lang="en-US" dirty="0"/>
          </a:p>
        </p:txBody>
      </p:sp>
      <p:sp>
        <p:nvSpPr>
          <p:cNvPr id="25" name="Shape 23"/>
          <p:cNvSpPr/>
          <p:nvPr/>
        </p:nvSpPr>
        <p:spPr>
          <a:xfrm>
            <a:off x="566928" y="4406354"/>
            <a:ext cx="11055096" cy="980145"/>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26" name="Shape 24"/>
          <p:cNvSpPr/>
          <p:nvPr/>
        </p:nvSpPr>
        <p:spPr>
          <a:xfrm>
            <a:off x="694944" y="4516083"/>
            <a:ext cx="292608" cy="292608"/>
          </a:xfrm>
          <a:prstGeom prst="ellipse">
            <a:avLst/>
          </a:prstGeom>
          <a:solidFill>
            <a:srgbClr val="1A6FB0"/>
          </a:solidFill>
          <a:ln w="12700">
            <a:solidFill>
              <a:srgbClr val="1A6FB0"/>
            </a:solidFill>
            <a:prstDash val="solid"/>
          </a:ln>
        </p:spPr>
        <p:txBody>
          <a:bodyPr/>
          <a:lstStyle/>
          <a:p>
            <a:endParaRPr lang="es-CO"/>
          </a:p>
        </p:txBody>
      </p:sp>
      <p:sp>
        <p:nvSpPr>
          <p:cNvPr id="27" name="Text 25"/>
          <p:cNvSpPr/>
          <p:nvPr/>
        </p:nvSpPr>
        <p:spPr>
          <a:xfrm>
            <a:off x="694944" y="4516083"/>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28" name="Text 26"/>
          <p:cNvSpPr/>
          <p:nvPr/>
        </p:nvSpPr>
        <p:spPr>
          <a:xfrm>
            <a:off x="1115568" y="4479507"/>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Before testing a well man you should:</a:t>
            </a:r>
            <a:endParaRPr lang="en-US" dirty="0"/>
          </a:p>
        </p:txBody>
      </p:sp>
      <p:sp>
        <p:nvSpPr>
          <p:cNvPr id="29" name="Text 27"/>
          <p:cNvSpPr/>
          <p:nvPr/>
        </p:nvSpPr>
        <p:spPr>
          <a:xfrm>
            <a:off x="1115568" y="4744683"/>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Just do the test     B. Have an informed, shared discussion     C. Refuse the test     D. Promise a normal result</a:t>
            </a:r>
            <a:endParaRPr lang="en-US" dirty="0"/>
          </a:p>
        </p:txBody>
      </p:sp>
      <p:sp>
        <p:nvSpPr>
          <p:cNvPr id="30" name="Text 28"/>
          <p:cNvSpPr/>
          <p:nvPr/>
        </p:nvSpPr>
        <p:spPr>
          <a:xfrm>
            <a:off x="1115568" y="5072716"/>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Have an informed, shared discussion of the benefits and limits first.</a:t>
            </a:r>
            <a:endParaRPr lang="en-US" dirty="0"/>
          </a:p>
        </p:txBody>
      </p:sp>
      <p:sp>
        <p:nvSpPr>
          <p:cNvPr id="31" name="Shape 29"/>
          <p:cNvSpPr/>
          <p:nvPr/>
        </p:nvSpPr>
        <p:spPr>
          <a:xfrm>
            <a:off x="566928" y="5489972"/>
            <a:ext cx="11055096" cy="898796"/>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32" name="Shape 30"/>
          <p:cNvSpPr/>
          <p:nvPr/>
        </p:nvSpPr>
        <p:spPr>
          <a:xfrm>
            <a:off x="694944" y="5599700"/>
            <a:ext cx="292608" cy="292608"/>
          </a:xfrm>
          <a:prstGeom prst="ellipse">
            <a:avLst/>
          </a:prstGeom>
          <a:solidFill>
            <a:srgbClr val="1A6FB0"/>
          </a:solidFill>
          <a:ln w="12700">
            <a:solidFill>
              <a:srgbClr val="1A6FB0"/>
            </a:solidFill>
            <a:prstDash val="solid"/>
          </a:ln>
        </p:spPr>
        <p:txBody>
          <a:bodyPr/>
          <a:lstStyle/>
          <a:p>
            <a:endParaRPr lang="es-CO"/>
          </a:p>
        </p:txBody>
      </p:sp>
      <p:sp>
        <p:nvSpPr>
          <p:cNvPr id="33" name="Text 31"/>
          <p:cNvSpPr/>
          <p:nvPr/>
        </p:nvSpPr>
        <p:spPr>
          <a:xfrm>
            <a:off x="694944" y="5599700"/>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5</a:t>
            </a:r>
            <a:endParaRPr lang="en-US" dirty="0"/>
          </a:p>
        </p:txBody>
      </p:sp>
      <p:sp>
        <p:nvSpPr>
          <p:cNvPr id="34" name="Text 32"/>
          <p:cNvSpPr/>
          <p:nvPr/>
        </p:nvSpPr>
        <p:spPr>
          <a:xfrm>
            <a:off x="1115568" y="5563124"/>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A normal PSA in a man with a hard prostate means:</a:t>
            </a:r>
            <a:endParaRPr lang="en-US" dirty="0"/>
          </a:p>
        </p:txBody>
      </p:sp>
      <p:sp>
        <p:nvSpPr>
          <p:cNvPr id="35" name="Text 33"/>
          <p:cNvSpPr/>
          <p:nvPr/>
        </p:nvSpPr>
        <p:spPr>
          <a:xfrm>
            <a:off x="1115568" y="5828300"/>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Cancer is ruled out     B. Still refer; cancer is not ruled out     C. Repeat PSA in five years     D. No exam needed</a:t>
            </a:r>
            <a:endParaRPr lang="en-US" dirty="0"/>
          </a:p>
        </p:txBody>
      </p:sp>
      <p:sp>
        <p:nvSpPr>
          <p:cNvPr id="36" name="Text 34"/>
          <p:cNvSpPr/>
          <p:nvPr/>
        </p:nvSpPr>
        <p:spPr>
          <a:xfrm>
            <a:off x="1103536" y="6132270"/>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Still refer; a normal PSA does not rule out cancer.</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4">
    <p:bg>
      <p:bgPr>
        <a:solidFill>
          <a:srgbClr val="1F3A5F"/>
        </a:solidFill>
        <a:effectLst/>
      </p:bgPr>
    </p:bg>
    <p:spTree>
      <p:nvGrpSpPr>
        <p:cNvPr id="1" name=""/>
        <p:cNvGrpSpPr/>
        <p:nvPr/>
      </p:nvGrpSpPr>
      <p:grpSpPr>
        <a:xfrm>
          <a:off x="0" y="0"/>
          <a:ext cx="0" cy="0"/>
          <a:chOff x="0" y="0"/>
          <a:chExt cx="0" cy="0"/>
        </a:xfrm>
      </p:grpSpPr>
      <p:sp>
        <p:nvSpPr>
          <p:cNvPr id="2" name="Text 0"/>
          <p:cNvSpPr/>
          <p:nvPr/>
        </p:nvSpPr>
        <p:spPr>
          <a:xfrm>
            <a:off x="1005840" y="2377440"/>
            <a:ext cx="10058400" cy="365760"/>
          </a:xfrm>
          <a:prstGeom prst="rect">
            <a:avLst/>
          </a:prstGeom>
          <a:noFill/>
          <a:ln/>
        </p:spPr>
        <p:txBody>
          <a:bodyPr wrap="square" lIns="0" tIns="0" rIns="0" bIns="0" rtlCol="0" anchor="ctr"/>
          <a:lstStyle/>
          <a:p>
            <a:pPr marL="0" indent="0">
              <a:buNone/>
            </a:pPr>
            <a:r>
              <a:rPr lang="en-US" sz="1500" b="1" kern="0" spc="300" dirty="0">
                <a:solidFill>
                  <a:srgbClr val="9FC4E4"/>
                </a:solidFill>
                <a:latin typeface="Calibri" pitchFamily="34" charset="0"/>
                <a:ea typeface="Calibri" pitchFamily="34" charset="-122"/>
                <a:cs typeface="Calibri" pitchFamily="34" charset="-120"/>
              </a:rPr>
              <a:t>SESSION 3</a:t>
            </a:r>
            <a:endParaRPr lang="en-US" sz="1500" dirty="0"/>
          </a:p>
        </p:txBody>
      </p:sp>
      <p:sp>
        <p:nvSpPr>
          <p:cNvPr id="3" name="Text 1"/>
          <p:cNvSpPr/>
          <p:nvPr/>
        </p:nvSpPr>
        <p:spPr>
          <a:xfrm>
            <a:off x="1005840" y="2788920"/>
            <a:ext cx="10058400" cy="118872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Referral &amp; Counselling</a:t>
            </a:r>
            <a:endParaRPr lang="en-US" sz="4000" dirty="0"/>
          </a:p>
        </p:txBody>
      </p:sp>
      <p:sp>
        <p:nvSpPr>
          <p:cNvPr id="4" name="Text 2"/>
          <p:cNvSpPr/>
          <p:nvPr/>
        </p:nvSpPr>
        <p:spPr>
          <a:xfrm>
            <a:off x="1024128" y="3977640"/>
            <a:ext cx="9601200" cy="822960"/>
          </a:xfrm>
          <a:prstGeom prst="rect">
            <a:avLst/>
          </a:prstGeom>
          <a:noFill/>
          <a:ln/>
        </p:spPr>
        <p:txBody>
          <a:bodyPr wrap="square" lIns="0" tIns="0" rIns="0" bIns="0" rtlCol="0" anchor="t"/>
          <a:lstStyle/>
          <a:p>
            <a:pPr marL="0" indent="0">
              <a:buNone/>
            </a:pPr>
            <a:r>
              <a:rPr lang="en-US" sz="1500" dirty="0">
                <a:solidFill>
                  <a:srgbClr val="CFE0EF"/>
                </a:solidFill>
                <a:latin typeface="Calibri" pitchFamily="34" charset="0"/>
                <a:ea typeface="Calibri" pitchFamily="34" charset="-122"/>
                <a:cs typeface="Calibri" pitchFamily="34" charset="-120"/>
              </a:rPr>
              <a:t>Getting the man to the right care, and supporting him through fear and uncertainty.</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3 · REFERRAL &amp; COUNSELLING</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this session gives you</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3.1</a:t>
            </a:r>
            <a:endParaRPr lang="en-US" sz="900" dirty="0"/>
          </a:p>
        </p:txBody>
      </p:sp>
      <p:sp>
        <p:nvSpPr>
          <p:cNvPr id="6" name="Shape 4"/>
          <p:cNvSpPr/>
          <p:nvPr/>
        </p:nvSpPr>
        <p:spPr>
          <a:xfrm>
            <a:off x="566928" y="1192563"/>
            <a:ext cx="11055096" cy="960120"/>
          </a:xfrm>
          <a:prstGeom prst="roundRect">
            <a:avLst>
              <a:gd name="adj" fmla="val 5714"/>
            </a:avLst>
          </a:prstGeom>
          <a:solidFill>
            <a:srgbClr val="EAF1F8"/>
          </a:solidFill>
          <a:ln w="12700">
            <a:solidFill>
              <a:srgbClr val="EAF1F8"/>
            </a:solidFill>
            <a:prstDash val="solid"/>
          </a:ln>
        </p:spPr>
        <p:txBody>
          <a:bodyPr/>
          <a:lstStyle/>
          <a:p>
            <a:endParaRPr lang="es-CO"/>
          </a:p>
        </p:txBody>
      </p:sp>
      <p:sp>
        <p:nvSpPr>
          <p:cNvPr id="7" name="Text 5"/>
          <p:cNvSpPr/>
          <p:nvPr/>
        </p:nvSpPr>
        <p:spPr>
          <a:xfrm>
            <a:off x="731520" y="1284003"/>
            <a:ext cx="10725912" cy="777240"/>
          </a:xfrm>
          <a:prstGeom prst="rect">
            <a:avLst/>
          </a:prstGeom>
          <a:noFill/>
          <a:ln/>
        </p:spPr>
        <p:txBody>
          <a:bodyPr wrap="square" lIns="0" tIns="0" rIns="0" bIns="0" rtlCol="0" anchor="t"/>
          <a:lstStyle/>
          <a:p>
            <a:pPr marL="0" indent="0" algn="l">
              <a:buNone/>
            </a:pPr>
            <a:r>
              <a:rPr lang="en-US" b="1" dirty="0">
                <a:solidFill>
                  <a:srgbClr val="1A6FB0"/>
                </a:solidFill>
                <a:latin typeface="Calibri" pitchFamily="34" charset="0"/>
                <a:ea typeface="Calibri" pitchFamily="34" charset="-122"/>
                <a:cs typeface="Calibri" pitchFamily="34" charset="-120"/>
              </a:rPr>
              <a:t>By the end you will be able to:  </a:t>
            </a:r>
            <a:r>
              <a:rPr lang="en-US" dirty="0">
                <a:solidFill>
                  <a:srgbClr val="223240"/>
                </a:solidFill>
                <a:latin typeface="Calibri" pitchFamily="34" charset="0"/>
                <a:ea typeface="Calibri" pitchFamily="34" charset="-122"/>
                <a:cs typeface="Calibri" pitchFamily="34" charset="-120"/>
              </a:rPr>
              <a:t>refer a man correctly and at the right speed through the Rwandan pathway, counsel him clearly about a possible or confirmed diagnosis, and give basic psychological support to him and his family.</a:t>
            </a:r>
            <a:endParaRPr lang="en-US" dirty="0"/>
          </a:p>
        </p:txBody>
      </p:sp>
      <p:sp>
        <p:nvSpPr>
          <p:cNvPr id="8" name="Shape 6"/>
          <p:cNvSpPr/>
          <p:nvPr/>
        </p:nvSpPr>
        <p:spPr>
          <a:xfrm>
            <a:off x="566928" y="2381283"/>
            <a:ext cx="5390388" cy="1719072"/>
          </a:xfrm>
          <a:prstGeom prst="roundRect">
            <a:avLst>
              <a:gd name="adj" fmla="val 4255"/>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9" name="Shape 7"/>
          <p:cNvSpPr/>
          <p:nvPr/>
        </p:nvSpPr>
        <p:spPr>
          <a:xfrm>
            <a:off x="786384" y="2600739"/>
            <a:ext cx="164592" cy="164592"/>
          </a:xfrm>
          <a:prstGeom prst="ellipse">
            <a:avLst/>
          </a:prstGeom>
          <a:solidFill>
            <a:srgbClr val="1A6FB0"/>
          </a:solidFill>
          <a:ln w="12700">
            <a:solidFill>
              <a:srgbClr val="1A6FB0"/>
            </a:solidFill>
            <a:prstDash val="solid"/>
          </a:ln>
        </p:spPr>
        <p:txBody>
          <a:bodyPr/>
          <a:lstStyle/>
          <a:p>
            <a:endParaRPr lang="es-CO"/>
          </a:p>
        </p:txBody>
      </p:sp>
      <p:sp>
        <p:nvSpPr>
          <p:cNvPr id="10" name="Text 8"/>
          <p:cNvSpPr/>
          <p:nvPr/>
        </p:nvSpPr>
        <p:spPr>
          <a:xfrm>
            <a:off x="1060704" y="2509299"/>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Refer correctly</a:t>
            </a:r>
            <a:endParaRPr lang="en-US" dirty="0"/>
          </a:p>
        </p:txBody>
      </p:sp>
      <p:sp>
        <p:nvSpPr>
          <p:cNvPr id="11" name="Text 9"/>
          <p:cNvSpPr/>
          <p:nvPr/>
        </p:nvSpPr>
        <p:spPr>
          <a:xfrm>
            <a:off x="786384" y="2929923"/>
            <a:ext cx="4988052" cy="106070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Know the pathway and what to do before and while referring.</a:t>
            </a:r>
            <a:endParaRPr lang="en-US" dirty="0"/>
          </a:p>
        </p:txBody>
      </p:sp>
      <p:sp>
        <p:nvSpPr>
          <p:cNvPr id="12" name="Shape 10"/>
          <p:cNvSpPr/>
          <p:nvPr/>
        </p:nvSpPr>
        <p:spPr>
          <a:xfrm>
            <a:off x="6231636" y="2381283"/>
            <a:ext cx="5390388" cy="1719072"/>
          </a:xfrm>
          <a:prstGeom prst="roundRect">
            <a:avLst>
              <a:gd name="adj" fmla="val 4255"/>
            </a:avLst>
          </a:prstGeom>
          <a:solidFill>
            <a:srgbClr val="FFFFFF"/>
          </a:solidFill>
          <a:ln w="19050">
            <a:solidFill>
              <a:srgbClr val="B23A2E"/>
            </a:solidFill>
            <a:prstDash val="solid"/>
          </a:ln>
          <a:effectLst>
            <a:outerShdw blurRad="50800" dist="25400" dir="5400000" algn="bl" rotWithShape="0">
              <a:srgbClr val="BFCEDD">
                <a:alpha val="50000"/>
              </a:srgbClr>
            </a:outerShdw>
          </a:effectLst>
        </p:spPr>
        <p:txBody>
          <a:bodyPr/>
          <a:lstStyle/>
          <a:p>
            <a:endParaRPr lang="es-CO"/>
          </a:p>
        </p:txBody>
      </p:sp>
      <p:sp>
        <p:nvSpPr>
          <p:cNvPr id="13" name="Shape 11"/>
          <p:cNvSpPr/>
          <p:nvPr/>
        </p:nvSpPr>
        <p:spPr>
          <a:xfrm>
            <a:off x="6451092" y="2600739"/>
            <a:ext cx="164592" cy="164592"/>
          </a:xfrm>
          <a:prstGeom prst="ellipse">
            <a:avLst/>
          </a:prstGeom>
          <a:solidFill>
            <a:srgbClr val="B23A2E"/>
          </a:solidFill>
          <a:ln w="12700">
            <a:solidFill>
              <a:srgbClr val="B23A2E"/>
            </a:solidFill>
            <a:prstDash val="solid"/>
          </a:ln>
        </p:spPr>
        <p:txBody>
          <a:bodyPr/>
          <a:lstStyle/>
          <a:p>
            <a:endParaRPr lang="es-CO"/>
          </a:p>
        </p:txBody>
      </p:sp>
      <p:sp>
        <p:nvSpPr>
          <p:cNvPr id="14" name="Text 12"/>
          <p:cNvSpPr/>
          <p:nvPr/>
        </p:nvSpPr>
        <p:spPr>
          <a:xfrm>
            <a:off x="6725412" y="2509299"/>
            <a:ext cx="4732020" cy="365760"/>
          </a:xfrm>
          <a:prstGeom prst="rect">
            <a:avLst/>
          </a:prstGeom>
          <a:noFill/>
          <a:ln/>
        </p:spPr>
        <p:txBody>
          <a:bodyPr wrap="square" lIns="0" tIns="0" rIns="0" bIns="0" rtlCol="0" anchor="t"/>
          <a:lstStyle/>
          <a:p>
            <a:pPr marL="0" indent="0">
              <a:buNone/>
            </a:pPr>
            <a:r>
              <a:rPr lang="en-US" b="1" dirty="0">
                <a:solidFill>
                  <a:srgbClr val="B23A2E"/>
                </a:solidFill>
                <a:latin typeface="Calibri" pitchFamily="34" charset="0"/>
                <a:ea typeface="Calibri" pitchFamily="34" charset="-122"/>
                <a:cs typeface="Calibri" pitchFamily="34" charset="-120"/>
              </a:rPr>
              <a:t>Judge urgency</a:t>
            </a:r>
            <a:endParaRPr lang="en-US" dirty="0"/>
          </a:p>
        </p:txBody>
      </p:sp>
      <p:sp>
        <p:nvSpPr>
          <p:cNvPr id="15" name="Text 13"/>
          <p:cNvSpPr/>
          <p:nvPr/>
        </p:nvSpPr>
        <p:spPr>
          <a:xfrm>
            <a:off x="6451092" y="2929923"/>
            <a:ext cx="4988052" cy="106070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Tell urgent (same-day) from routine referrals.</a:t>
            </a:r>
            <a:endParaRPr lang="en-US" dirty="0"/>
          </a:p>
        </p:txBody>
      </p:sp>
      <p:sp>
        <p:nvSpPr>
          <p:cNvPr id="16" name="Shape 14"/>
          <p:cNvSpPr/>
          <p:nvPr/>
        </p:nvSpPr>
        <p:spPr>
          <a:xfrm>
            <a:off x="566928" y="4374675"/>
            <a:ext cx="5390388" cy="1719072"/>
          </a:xfrm>
          <a:prstGeom prst="roundRect">
            <a:avLst>
              <a:gd name="adj" fmla="val 4255"/>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7" name="Shape 15"/>
          <p:cNvSpPr/>
          <p:nvPr/>
        </p:nvSpPr>
        <p:spPr>
          <a:xfrm>
            <a:off x="786384" y="4594131"/>
            <a:ext cx="164592" cy="164592"/>
          </a:xfrm>
          <a:prstGeom prst="ellipse">
            <a:avLst/>
          </a:prstGeom>
          <a:solidFill>
            <a:srgbClr val="1A6FB0"/>
          </a:solidFill>
          <a:ln w="12700">
            <a:solidFill>
              <a:srgbClr val="1A6FB0"/>
            </a:solidFill>
            <a:prstDash val="solid"/>
          </a:ln>
        </p:spPr>
        <p:txBody>
          <a:bodyPr/>
          <a:lstStyle/>
          <a:p>
            <a:endParaRPr lang="es-CO"/>
          </a:p>
        </p:txBody>
      </p:sp>
      <p:sp>
        <p:nvSpPr>
          <p:cNvPr id="18" name="Text 16"/>
          <p:cNvSpPr/>
          <p:nvPr/>
        </p:nvSpPr>
        <p:spPr>
          <a:xfrm>
            <a:off x="1060704" y="4502691"/>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Counsel clearly</a:t>
            </a:r>
            <a:endParaRPr lang="en-US" dirty="0"/>
          </a:p>
        </p:txBody>
      </p:sp>
      <p:sp>
        <p:nvSpPr>
          <p:cNvPr id="19" name="Text 17"/>
          <p:cNvSpPr/>
          <p:nvPr/>
        </p:nvSpPr>
        <p:spPr>
          <a:xfrm>
            <a:off x="786384" y="4923315"/>
            <a:ext cx="4988052" cy="106070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Break difficult news simply and check understanding.</a:t>
            </a:r>
            <a:endParaRPr lang="en-US" dirty="0"/>
          </a:p>
        </p:txBody>
      </p:sp>
      <p:sp>
        <p:nvSpPr>
          <p:cNvPr id="20" name="Shape 18"/>
          <p:cNvSpPr/>
          <p:nvPr/>
        </p:nvSpPr>
        <p:spPr>
          <a:xfrm>
            <a:off x="6231636" y="4374675"/>
            <a:ext cx="5390388" cy="1719072"/>
          </a:xfrm>
          <a:prstGeom prst="roundRect">
            <a:avLst>
              <a:gd name="adj" fmla="val 4255"/>
            </a:avLst>
          </a:prstGeom>
          <a:solidFill>
            <a:srgbClr val="FFFFFF"/>
          </a:solidFill>
          <a:ln w="19050">
            <a:solidFill>
              <a:srgbClr val="1E7A46"/>
            </a:solidFill>
            <a:prstDash val="solid"/>
          </a:ln>
          <a:effectLst>
            <a:outerShdw blurRad="50800" dist="25400" dir="5400000" algn="bl" rotWithShape="0">
              <a:srgbClr val="BFCEDD">
                <a:alpha val="50000"/>
              </a:srgbClr>
            </a:outerShdw>
          </a:effectLst>
        </p:spPr>
        <p:txBody>
          <a:bodyPr/>
          <a:lstStyle/>
          <a:p>
            <a:endParaRPr lang="es-CO"/>
          </a:p>
        </p:txBody>
      </p:sp>
      <p:sp>
        <p:nvSpPr>
          <p:cNvPr id="21" name="Shape 19"/>
          <p:cNvSpPr/>
          <p:nvPr/>
        </p:nvSpPr>
        <p:spPr>
          <a:xfrm>
            <a:off x="6451092" y="4594131"/>
            <a:ext cx="164592" cy="164592"/>
          </a:xfrm>
          <a:prstGeom prst="ellipse">
            <a:avLst/>
          </a:prstGeom>
          <a:solidFill>
            <a:srgbClr val="1E7A46"/>
          </a:solidFill>
          <a:ln w="12700">
            <a:solidFill>
              <a:srgbClr val="1E7A46"/>
            </a:solidFill>
            <a:prstDash val="solid"/>
          </a:ln>
        </p:spPr>
        <p:txBody>
          <a:bodyPr/>
          <a:lstStyle/>
          <a:p>
            <a:endParaRPr lang="es-CO"/>
          </a:p>
        </p:txBody>
      </p:sp>
      <p:sp>
        <p:nvSpPr>
          <p:cNvPr id="22" name="Text 20"/>
          <p:cNvSpPr/>
          <p:nvPr/>
        </p:nvSpPr>
        <p:spPr>
          <a:xfrm>
            <a:off x="6725412" y="4502691"/>
            <a:ext cx="4732020" cy="36576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Support</a:t>
            </a:r>
            <a:endParaRPr lang="en-US" dirty="0"/>
          </a:p>
        </p:txBody>
      </p:sp>
      <p:sp>
        <p:nvSpPr>
          <p:cNvPr id="23" name="Text 21"/>
          <p:cNvSpPr/>
          <p:nvPr/>
        </p:nvSpPr>
        <p:spPr>
          <a:xfrm>
            <a:off x="6451092" y="4923315"/>
            <a:ext cx="4988052" cy="106070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Address fear, stigma, family and practical barriers to staying in care.</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3 · REFERRAL PATHWAY</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The pathway in Rwanda</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3.2</a:t>
            </a:r>
            <a:endParaRPr lang="en-US" sz="900" dirty="0"/>
          </a:p>
        </p:txBody>
      </p:sp>
      <p:sp>
        <p:nvSpPr>
          <p:cNvPr id="6" name="Text 4"/>
          <p:cNvSpPr/>
          <p:nvPr/>
        </p:nvSpPr>
        <p:spPr>
          <a:xfrm>
            <a:off x="566928" y="1481328"/>
            <a:ext cx="11055096" cy="310896"/>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Most men start with you and move up only as needed.</a:t>
            </a:r>
            <a:endParaRPr lang="en-US" b="1" dirty="0"/>
          </a:p>
        </p:txBody>
      </p:sp>
      <p:sp>
        <p:nvSpPr>
          <p:cNvPr id="7" name="Shape 5"/>
          <p:cNvSpPr/>
          <p:nvPr/>
        </p:nvSpPr>
        <p:spPr>
          <a:xfrm>
            <a:off x="566928" y="2217664"/>
            <a:ext cx="3349752" cy="2194560"/>
          </a:xfrm>
          <a:prstGeom prst="roundRect">
            <a:avLst>
              <a:gd name="adj" fmla="val 3333"/>
            </a:avLst>
          </a:prstGeom>
          <a:solidFill>
            <a:srgbClr val="EAF1F8"/>
          </a:solidFill>
          <a:ln w="15875">
            <a:solidFill>
              <a:srgbClr val="D9E6F2"/>
            </a:solidFill>
            <a:prstDash val="solid"/>
          </a:ln>
        </p:spPr>
        <p:txBody>
          <a:bodyPr/>
          <a:lstStyle/>
          <a:p>
            <a:endParaRPr lang="es-CO"/>
          </a:p>
        </p:txBody>
      </p:sp>
      <p:sp>
        <p:nvSpPr>
          <p:cNvPr id="8" name="Shape 6"/>
          <p:cNvSpPr/>
          <p:nvPr/>
        </p:nvSpPr>
        <p:spPr>
          <a:xfrm>
            <a:off x="1985772" y="2400544"/>
            <a:ext cx="512064" cy="512064"/>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1985772" y="2400544"/>
            <a:ext cx="512064" cy="512064"/>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10" name="Text 8"/>
          <p:cNvSpPr/>
          <p:nvPr/>
        </p:nvSpPr>
        <p:spPr>
          <a:xfrm>
            <a:off x="713232" y="2994904"/>
            <a:ext cx="3057144" cy="457200"/>
          </a:xfrm>
          <a:prstGeom prst="rect">
            <a:avLst/>
          </a:prstGeom>
          <a:noFill/>
          <a:ln/>
        </p:spPr>
        <p:txBody>
          <a:bodyPr wrap="square" lIns="0" tIns="0" rIns="0" bIns="0" rtlCol="0" anchor="t"/>
          <a:lstStyle/>
          <a:p>
            <a:pPr marL="0" indent="0" algn="ctr">
              <a:buNone/>
            </a:pPr>
            <a:r>
              <a:rPr lang="en-US" b="1" dirty="0">
                <a:solidFill>
                  <a:srgbClr val="1F3A5F"/>
                </a:solidFill>
                <a:latin typeface="Calibri" pitchFamily="34" charset="0"/>
                <a:ea typeface="Calibri" pitchFamily="34" charset="-122"/>
                <a:cs typeface="Calibri" pitchFamily="34" charset="-120"/>
              </a:rPr>
              <a:t>Community / Health centre</a:t>
            </a:r>
            <a:endParaRPr lang="en-US" dirty="0"/>
          </a:p>
        </p:txBody>
      </p:sp>
      <p:sp>
        <p:nvSpPr>
          <p:cNvPr id="11" name="Text 9"/>
          <p:cNvSpPr/>
          <p:nvPr/>
        </p:nvSpPr>
        <p:spPr>
          <a:xfrm>
            <a:off x="713232" y="3452104"/>
            <a:ext cx="3057144" cy="868680"/>
          </a:xfrm>
          <a:prstGeom prst="rect">
            <a:avLst/>
          </a:prstGeom>
          <a:noFill/>
          <a:ln/>
        </p:spPr>
        <p:txBody>
          <a:bodyPr wrap="square" lIns="0" tIns="0" rIns="0" bIns="0" rtlCol="0" anchor="t"/>
          <a:lstStyle/>
          <a:p>
            <a:pPr marL="0" indent="0" algn="ctr">
              <a:buNone/>
            </a:pPr>
            <a:r>
              <a:rPr lang="en-US" dirty="0">
                <a:solidFill>
                  <a:srgbClr val="223240"/>
                </a:solidFill>
                <a:latin typeface="Calibri" pitchFamily="34" charset="0"/>
                <a:ea typeface="Calibri" pitchFamily="34" charset="-122"/>
                <a:cs typeface="Calibri" pitchFamily="34" charset="-120"/>
              </a:rPr>
              <a:t>You recognise risk or symptoms, assess, do a DRE, and start the referral. First point of contact.</a:t>
            </a:r>
            <a:endParaRPr lang="en-US" dirty="0"/>
          </a:p>
        </p:txBody>
      </p:sp>
      <p:sp>
        <p:nvSpPr>
          <p:cNvPr id="12" name="Text 10"/>
          <p:cNvSpPr/>
          <p:nvPr/>
        </p:nvSpPr>
        <p:spPr>
          <a:xfrm>
            <a:off x="3962400" y="2949184"/>
            <a:ext cx="411480" cy="548640"/>
          </a:xfrm>
          <a:prstGeom prst="rect">
            <a:avLst/>
          </a:prstGeom>
          <a:noFill/>
          <a:ln/>
        </p:spPr>
        <p:txBody>
          <a:bodyPr wrap="square" lIns="0" tIns="0" rIns="0" bIns="0" rtlCol="0" anchor="ctr"/>
          <a:lstStyle/>
          <a:p>
            <a:pPr marL="0" indent="0" algn="ctr">
              <a:buNone/>
            </a:pPr>
            <a:r>
              <a:rPr lang="en-US" b="1" dirty="0">
                <a:solidFill>
                  <a:srgbClr val="1A6FB0"/>
                </a:solidFill>
                <a:latin typeface="Calibri" pitchFamily="34" charset="0"/>
                <a:ea typeface="Calibri" pitchFamily="34" charset="-122"/>
                <a:cs typeface="Calibri" pitchFamily="34" charset="-120"/>
              </a:rPr>
              <a:t>→</a:t>
            </a:r>
            <a:endParaRPr lang="en-US" dirty="0"/>
          </a:p>
        </p:txBody>
      </p:sp>
      <p:sp>
        <p:nvSpPr>
          <p:cNvPr id="13" name="Shape 11"/>
          <p:cNvSpPr/>
          <p:nvPr/>
        </p:nvSpPr>
        <p:spPr>
          <a:xfrm>
            <a:off x="4419600" y="2217664"/>
            <a:ext cx="3349752" cy="2194560"/>
          </a:xfrm>
          <a:prstGeom prst="roundRect">
            <a:avLst>
              <a:gd name="adj" fmla="val 3333"/>
            </a:avLst>
          </a:prstGeom>
          <a:solidFill>
            <a:srgbClr val="EAF1F8"/>
          </a:solidFill>
          <a:ln w="15875">
            <a:solidFill>
              <a:srgbClr val="D9E6F2"/>
            </a:solidFill>
            <a:prstDash val="solid"/>
          </a:ln>
        </p:spPr>
        <p:txBody>
          <a:bodyPr/>
          <a:lstStyle/>
          <a:p>
            <a:endParaRPr lang="es-CO"/>
          </a:p>
        </p:txBody>
      </p:sp>
      <p:sp>
        <p:nvSpPr>
          <p:cNvPr id="14" name="Shape 12"/>
          <p:cNvSpPr/>
          <p:nvPr/>
        </p:nvSpPr>
        <p:spPr>
          <a:xfrm>
            <a:off x="5838444" y="2400544"/>
            <a:ext cx="512064" cy="512064"/>
          </a:xfrm>
          <a:prstGeom prst="ellipse">
            <a:avLst/>
          </a:prstGeom>
          <a:solidFill>
            <a:srgbClr val="1A6FB0"/>
          </a:solidFill>
          <a:ln w="12700">
            <a:solidFill>
              <a:srgbClr val="1A6FB0"/>
            </a:solidFill>
            <a:prstDash val="solid"/>
          </a:ln>
        </p:spPr>
        <p:txBody>
          <a:bodyPr/>
          <a:lstStyle/>
          <a:p>
            <a:endParaRPr lang="es-CO"/>
          </a:p>
        </p:txBody>
      </p:sp>
      <p:sp>
        <p:nvSpPr>
          <p:cNvPr id="15" name="Text 13"/>
          <p:cNvSpPr/>
          <p:nvPr/>
        </p:nvSpPr>
        <p:spPr>
          <a:xfrm>
            <a:off x="5838444" y="2400544"/>
            <a:ext cx="512064" cy="512064"/>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6" name="Text 14"/>
          <p:cNvSpPr/>
          <p:nvPr/>
        </p:nvSpPr>
        <p:spPr>
          <a:xfrm>
            <a:off x="4565904" y="2994904"/>
            <a:ext cx="3057144" cy="457200"/>
          </a:xfrm>
          <a:prstGeom prst="rect">
            <a:avLst/>
          </a:prstGeom>
          <a:noFill/>
          <a:ln/>
        </p:spPr>
        <p:txBody>
          <a:bodyPr wrap="square" lIns="0" tIns="0" rIns="0" bIns="0" rtlCol="0" anchor="t"/>
          <a:lstStyle/>
          <a:p>
            <a:pPr marL="0" indent="0" algn="ctr">
              <a:buNone/>
            </a:pPr>
            <a:r>
              <a:rPr lang="en-US" b="1" dirty="0">
                <a:solidFill>
                  <a:srgbClr val="1F3A5F"/>
                </a:solidFill>
                <a:latin typeface="Calibri" pitchFamily="34" charset="0"/>
                <a:ea typeface="Calibri" pitchFamily="34" charset="-122"/>
                <a:cs typeface="Calibri" pitchFamily="34" charset="-120"/>
              </a:rPr>
              <a:t>District hospital</a:t>
            </a:r>
            <a:endParaRPr lang="en-US" dirty="0"/>
          </a:p>
        </p:txBody>
      </p:sp>
      <p:sp>
        <p:nvSpPr>
          <p:cNvPr id="17" name="Text 15"/>
          <p:cNvSpPr/>
          <p:nvPr/>
        </p:nvSpPr>
        <p:spPr>
          <a:xfrm>
            <a:off x="4565904" y="3452104"/>
            <a:ext cx="3057144" cy="868680"/>
          </a:xfrm>
          <a:prstGeom prst="rect">
            <a:avLst/>
          </a:prstGeom>
          <a:noFill/>
          <a:ln/>
        </p:spPr>
        <p:txBody>
          <a:bodyPr wrap="square" lIns="0" tIns="0" rIns="0" bIns="0" rtlCol="0" anchor="t"/>
          <a:lstStyle/>
          <a:p>
            <a:pPr marL="0" indent="0" algn="ctr">
              <a:buNone/>
            </a:pPr>
            <a:r>
              <a:rPr lang="en-US" dirty="0">
                <a:solidFill>
                  <a:srgbClr val="223240"/>
                </a:solidFill>
                <a:latin typeface="Calibri" pitchFamily="34" charset="0"/>
                <a:ea typeface="Calibri" pitchFamily="34" charset="-122"/>
                <a:cs typeface="Calibri" pitchFamily="34" charset="-120"/>
              </a:rPr>
              <a:t>Further assessment, PSA, and referral for biopsy and specialist review.</a:t>
            </a:r>
            <a:endParaRPr lang="en-US" dirty="0"/>
          </a:p>
        </p:txBody>
      </p:sp>
      <p:sp>
        <p:nvSpPr>
          <p:cNvPr id="18" name="Text 16"/>
          <p:cNvSpPr/>
          <p:nvPr/>
        </p:nvSpPr>
        <p:spPr>
          <a:xfrm>
            <a:off x="7815072" y="2949184"/>
            <a:ext cx="411480" cy="548640"/>
          </a:xfrm>
          <a:prstGeom prst="rect">
            <a:avLst/>
          </a:prstGeom>
          <a:noFill/>
          <a:ln/>
        </p:spPr>
        <p:txBody>
          <a:bodyPr wrap="square" lIns="0" tIns="0" rIns="0" bIns="0" rtlCol="0" anchor="ctr"/>
          <a:lstStyle/>
          <a:p>
            <a:pPr marL="0" indent="0" algn="ctr">
              <a:buNone/>
            </a:pPr>
            <a:r>
              <a:rPr lang="en-US" b="1" dirty="0">
                <a:solidFill>
                  <a:srgbClr val="1A6FB0"/>
                </a:solidFill>
                <a:latin typeface="Calibri" pitchFamily="34" charset="0"/>
                <a:ea typeface="Calibri" pitchFamily="34" charset="-122"/>
                <a:cs typeface="Calibri" pitchFamily="34" charset="-120"/>
              </a:rPr>
              <a:t>→</a:t>
            </a:r>
            <a:endParaRPr lang="en-US" dirty="0"/>
          </a:p>
        </p:txBody>
      </p:sp>
      <p:sp>
        <p:nvSpPr>
          <p:cNvPr id="19" name="Shape 17"/>
          <p:cNvSpPr/>
          <p:nvPr/>
        </p:nvSpPr>
        <p:spPr>
          <a:xfrm>
            <a:off x="8272272" y="2217664"/>
            <a:ext cx="3349752" cy="2526642"/>
          </a:xfrm>
          <a:prstGeom prst="roundRect">
            <a:avLst>
              <a:gd name="adj" fmla="val 3333"/>
            </a:avLst>
          </a:prstGeom>
          <a:solidFill>
            <a:srgbClr val="FCF1DE"/>
          </a:solidFill>
          <a:ln w="15875">
            <a:solidFill>
              <a:srgbClr val="E8C9A0"/>
            </a:solidFill>
            <a:prstDash val="solid"/>
          </a:ln>
        </p:spPr>
        <p:txBody>
          <a:bodyPr/>
          <a:lstStyle/>
          <a:p>
            <a:endParaRPr lang="es-CO"/>
          </a:p>
        </p:txBody>
      </p:sp>
      <p:sp>
        <p:nvSpPr>
          <p:cNvPr id="20" name="Shape 18"/>
          <p:cNvSpPr/>
          <p:nvPr/>
        </p:nvSpPr>
        <p:spPr>
          <a:xfrm>
            <a:off x="9691116" y="2400544"/>
            <a:ext cx="512064" cy="512064"/>
          </a:xfrm>
          <a:prstGeom prst="ellipse">
            <a:avLst/>
          </a:prstGeom>
          <a:solidFill>
            <a:srgbClr val="B26A00"/>
          </a:solidFill>
          <a:ln w="12700">
            <a:solidFill>
              <a:srgbClr val="B26A00"/>
            </a:solidFill>
            <a:prstDash val="solid"/>
          </a:ln>
        </p:spPr>
        <p:txBody>
          <a:bodyPr/>
          <a:lstStyle/>
          <a:p>
            <a:endParaRPr lang="es-CO"/>
          </a:p>
        </p:txBody>
      </p:sp>
      <p:sp>
        <p:nvSpPr>
          <p:cNvPr id="21" name="Text 19"/>
          <p:cNvSpPr/>
          <p:nvPr/>
        </p:nvSpPr>
        <p:spPr>
          <a:xfrm>
            <a:off x="9691116" y="2400544"/>
            <a:ext cx="512064" cy="512064"/>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22" name="Text 20"/>
          <p:cNvSpPr/>
          <p:nvPr/>
        </p:nvSpPr>
        <p:spPr>
          <a:xfrm>
            <a:off x="8418576" y="2994904"/>
            <a:ext cx="3057144" cy="457200"/>
          </a:xfrm>
          <a:prstGeom prst="rect">
            <a:avLst/>
          </a:prstGeom>
          <a:noFill/>
          <a:ln/>
        </p:spPr>
        <p:txBody>
          <a:bodyPr wrap="square" lIns="0" tIns="0" rIns="0" bIns="0" rtlCol="0" anchor="t"/>
          <a:lstStyle/>
          <a:p>
            <a:pPr marL="0" indent="0" algn="ctr">
              <a:buNone/>
            </a:pPr>
            <a:r>
              <a:rPr lang="en-US" b="1" dirty="0">
                <a:solidFill>
                  <a:srgbClr val="1F3A5F"/>
                </a:solidFill>
                <a:latin typeface="Calibri" pitchFamily="34" charset="0"/>
                <a:ea typeface="Calibri" pitchFamily="34" charset="-122"/>
                <a:cs typeface="Calibri" pitchFamily="34" charset="-120"/>
              </a:rPr>
              <a:t>Cancer referral centre</a:t>
            </a:r>
            <a:endParaRPr lang="en-US" dirty="0"/>
          </a:p>
        </p:txBody>
      </p:sp>
      <p:sp>
        <p:nvSpPr>
          <p:cNvPr id="23" name="Text 21"/>
          <p:cNvSpPr/>
          <p:nvPr/>
        </p:nvSpPr>
        <p:spPr>
          <a:xfrm>
            <a:off x="8418576" y="3452104"/>
            <a:ext cx="3057144" cy="868680"/>
          </a:xfrm>
          <a:prstGeom prst="rect">
            <a:avLst/>
          </a:prstGeom>
          <a:noFill/>
          <a:ln/>
        </p:spPr>
        <p:txBody>
          <a:bodyPr wrap="square" lIns="0" tIns="0" rIns="0" bIns="0" rtlCol="0" anchor="t"/>
          <a:lstStyle/>
          <a:p>
            <a:pPr marL="0" indent="0" algn="ctr">
              <a:buNone/>
            </a:pPr>
            <a:r>
              <a:rPr lang="en-US" dirty="0">
                <a:solidFill>
                  <a:srgbClr val="223240"/>
                </a:solidFill>
                <a:latin typeface="Calibri" pitchFamily="34" charset="0"/>
                <a:ea typeface="Calibri" pitchFamily="34" charset="-122"/>
                <a:cs typeface="Calibri" pitchFamily="34" charset="-120"/>
              </a:rPr>
              <a:t>Diagnosis confirmed and treatment planned by specialists at the national cancer referral service.</a:t>
            </a:r>
            <a:endParaRPr lang="en-US" dirty="0"/>
          </a:p>
        </p:txBody>
      </p:sp>
      <p:sp>
        <p:nvSpPr>
          <p:cNvPr id="24" name="Shape 22"/>
          <p:cNvSpPr/>
          <p:nvPr/>
        </p:nvSpPr>
        <p:spPr>
          <a:xfrm>
            <a:off x="566928" y="5110066"/>
            <a:ext cx="11055096" cy="777240"/>
          </a:xfrm>
          <a:prstGeom prst="roundRect">
            <a:avLst>
              <a:gd name="adj" fmla="val 7059"/>
            </a:avLst>
          </a:prstGeom>
          <a:solidFill>
            <a:srgbClr val="E7F4EC"/>
          </a:solidFill>
          <a:ln w="12700">
            <a:solidFill>
              <a:srgbClr val="E7F4EC"/>
            </a:solidFill>
            <a:prstDash val="solid"/>
          </a:ln>
        </p:spPr>
        <p:txBody>
          <a:bodyPr/>
          <a:lstStyle/>
          <a:p>
            <a:endParaRPr lang="es-CO"/>
          </a:p>
        </p:txBody>
      </p:sp>
      <p:sp>
        <p:nvSpPr>
          <p:cNvPr id="25" name="Text 23"/>
          <p:cNvSpPr/>
          <p:nvPr/>
        </p:nvSpPr>
        <p:spPr>
          <a:xfrm>
            <a:off x="731520" y="5201506"/>
            <a:ext cx="10725912" cy="594360"/>
          </a:xfrm>
          <a:prstGeom prst="rect">
            <a:avLst/>
          </a:prstGeom>
          <a:noFill/>
          <a:ln/>
        </p:spPr>
        <p:txBody>
          <a:bodyPr wrap="square" lIns="0" tIns="0" rIns="0" bIns="0" rtlCol="0" anchor="t"/>
          <a:lstStyle/>
          <a:p>
            <a:pPr marL="0" indent="0" algn="l">
              <a:buNone/>
            </a:pPr>
            <a:r>
              <a:rPr lang="en-US" b="1" dirty="0">
                <a:solidFill>
                  <a:srgbClr val="1E7A46"/>
                </a:solidFill>
                <a:latin typeface="Calibri" pitchFamily="34" charset="0"/>
                <a:ea typeface="Calibri" pitchFamily="34" charset="-122"/>
                <a:cs typeface="Calibri" pitchFamily="34" charset="-120"/>
              </a:rPr>
              <a:t>💡  Your job at every level:  </a:t>
            </a:r>
            <a:r>
              <a:rPr lang="en-US" dirty="0">
                <a:solidFill>
                  <a:srgbClr val="223240"/>
                </a:solidFill>
                <a:latin typeface="Calibri" pitchFamily="34" charset="0"/>
                <a:ea typeface="Calibri" pitchFamily="34" charset="-122"/>
                <a:cs typeface="Calibri" pitchFamily="34" charset="-120"/>
              </a:rPr>
              <a:t>give a clear reason for referral, tell the man where to go and when, and make sure he is not lost between levels.</a:t>
            </a:r>
            <a:endParaRPr lang="en-US" dirty="0"/>
          </a:p>
        </p:txBody>
      </p:sp>
      <p:sp>
        <p:nvSpPr>
          <p:cNvPr id="26" name="Text 24"/>
          <p:cNvSpPr/>
          <p:nvPr/>
        </p:nvSpPr>
        <p:spPr>
          <a:xfrm>
            <a:off x="566928" y="6126480"/>
            <a:ext cx="11055096" cy="237744"/>
          </a:xfrm>
          <a:prstGeom prst="rect">
            <a:avLst/>
          </a:prstGeom>
          <a:noFill/>
          <a:ln/>
        </p:spPr>
        <p:txBody>
          <a:bodyPr wrap="square" lIns="0" tIns="0" rIns="0" bIns="0" rtlCol="0" anchor="ctr"/>
          <a:lstStyle/>
          <a:p>
            <a:pPr marL="0" indent="0">
              <a:buNone/>
            </a:pPr>
            <a:r>
              <a:rPr lang="en-US" sz="1050" b="1" dirty="0">
                <a:solidFill>
                  <a:srgbClr val="CC0000"/>
                </a:solidFill>
                <a:latin typeface="Calibri" pitchFamily="34" charset="0"/>
                <a:ea typeface="Calibri" pitchFamily="34" charset="-122"/>
                <a:cs typeface="Calibri" pitchFamily="34" charset="-120"/>
              </a:rPr>
              <a:t>Current referral facility names to be confirmed by RBC.</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3 · BEFORE REFERRAL</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to do before and while you refer</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3.3</a:t>
            </a:r>
            <a:endParaRPr lang="en-US" sz="900" dirty="0"/>
          </a:p>
        </p:txBody>
      </p:sp>
      <p:sp>
        <p:nvSpPr>
          <p:cNvPr id="6" name="Text 4"/>
          <p:cNvSpPr/>
          <p:nvPr/>
        </p:nvSpPr>
        <p:spPr>
          <a:xfrm>
            <a:off x="566928" y="1481328"/>
            <a:ext cx="11055096" cy="310896"/>
          </a:xfrm>
          <a:prstGeom prst="rect">
            <a:avLst/>
          </a:prstGeom>
          <a:noFill/>
          <a:ln/>
        </p:spPr>
        <p:txBody>
          <a:bodyPr wrap="square" lIns="0" tIns="0" rIns="0" bIns="0" rtlCol="0" anchor="t"/>
          <a:lstStyle/>
          <a:p>
            <a:pPr marL="0" indent="0">
              <a:buNone/>
            </a:pPr>
            <a:r>
              <a:rPr lang="en-US" i="1" dirty="0">
                <a:solidFill>
                  <a:srgbClr val="1A6FB0"/>
                </a:solidFill>
                <a:latin typeface="Calibri" pitchFamily="34" charset="0"/>
                <a:ea typeface="Calibri" pitchFamily="34" charset="-122"/>
                <a:cs typeface="Calibri" pitchFamily="34" charset="-120"/>
              </a:rPr>
              <a:t>Recognise → Assess → Act → Refer.</a:t>
            </a:r>
            <a:endParaRPr lang="en-US" dirty="0"/>
          </a:p>
        </p:txBody>
      </p:sp>
      <p:sp>
        <p:nvSpPr>
          <p:cNvPr id="7" name="Shape 5"/>
          <p:cNvSpPr/>
          <p:nvPr/>
        </p:nvSpPr>
        <p:spPr>
          <a:xfrm>
            <a:off x="566928" y="1938528"/>
            <a:ext cx="5390388"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8" name="Shape 6"/>
          <p:cNvSpPr/>
          <p:nvPr/>
        </p:nvSpPr>
        <p:spPr>
          <a:xfrm>
            <a:off x="786384" y="2157984"/>
            <a:ext cx="164592" cy="164592"/>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1060704" y="20665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Assess &amp; document</a:t>
            </a:r>
            <a:endParaRPr lang="en-US" dirty="0"/>
          </a:p>
        </p:txBody>
      </p:sp>
      <p:sp>
        <p:nvSpPr>
          <p:cNvPr id="10" name="Text 8"/>
          <p:cNvSpPr/>
          <p:nvPr/>
        </p:nvSpPr>
        <p:spPr>
          <a:xfrm>
            <a:off x="786384" y="2487168"/>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Symptoms, DRE findings, PSA if available. Write a clear referral note with the reason.</a:t>
            </a:r>
            <a:endParaRPr lang="en-US" dirty="0"/>
          </a:p>
        </p:txBody>
      </p:sp>
      <p:sp>
        <p:nvSpPr>
          <p:cNvPr id="11" name="Shape 9"/>
          <p:cNvSpPr/>
          <p:nvPr/>
        </p:nvSpPr>
        <p:spPr>
          <a:xfrm>
            <a:off x="6231636" y="1938528"/>
            <a:ext cx="5390388"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2" name="Shape 10"/>
          <p:cNvSpPr/>
          <p:nvPr/>
        </p:nvSpPr>
        <p:spPr>
          <a:xfrm>
            <a:off x="6451092" y="2157984"/>
            <a:ext cx="164592" cy="164592"/>
          </a:xfrm>
          <a:prstGeom prst="ellipse">
            <a:avLst/>
          </a:prstGeom>
          <a:solidFill>
            <a:srgbClr val="1A6FB0"/>
          </a:solidFill>
          <a:ln w="12700">
            <a:solidFill>
              <a:srgbClr val="1A6FB0"/>
            </a:solidFill>
            <a:prstDash val="solid"/>
          </a:ln>
        </p:spPr>
        <p:txBody>
          <a:bodyPr/>
          <a:lstStyle/>
          <a:p>
            <a:endParaRPr lang="es-CO"/>
          </a:p>
        </p:txBody>
      </p:sp>
      <p:sp>
        <p:nvSpPr>
          <p:cNvPr id="13" name="Text 11"/>
          <p:cNvSpPr/>
          <p:nvPr/>
        </p:nvSpPr>
        <p:spPr>
          <a:xfrm>
            <a:off x="6725412" y="20665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Manage locally</a:t>
            </a:r>
            <a:endParaRPr lang="en-US" dirty="0"/>
          </a:p>
        </p:txBody>
      </p:sp>
      <p:sp>
        <p:nvSpPr>
          <p:cNvPr id="14" name="Text 12"/>
          <p:cNvSpPr/>
          <p:nvPr/>
        </p:nvSpPr>
        <p:spPr>
          <a:xfrm>
            <a:off x="6451092" y="2487168"/>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Relieve what you safely can, e.g. pain, or urinary retention needing catheter, while awaiting referral.</a:t>
            </a:r>
            <a:endParaRPr lang="en-US" dirty="0"/>
          </a:p>
        </p:txBody>
      </p:sp>
      <p:sp>
        <p:nvSpPr>
          <p:cNvPr id="15" name="Shape 13"/>
          <p:cNvSpPr/>
          <p:nvPr/>
        </p:nvSpPr>
        <p:spPr>
          <a:xfrm>
            <a:off x="566928" y="4297680"/>
            <a:ext cx="5390388" cy="2084832"/>
          </a:xfrm>
          <a:prstGeom prst="roundRect">
            <a:avLst>
              <a:gd name="adj" fmla="val 3509"/>
            </a:avLst>
          </a:prstGeom>
          <a:solidFill>
            <a:srgbClr val="FFFFFF"/>
          </a:solidFill>
          <a:ln w="19050">
            <a:solidFill>
              <a:srgbClr val="1E7A46"/>
            </a:solidFill>
            <a:prstDash val="solid"/>
          </a:ln>
          <a:effectLst>
            <a:outerShdw blurRad="50800" dist="25400" dir="5400000" algn="bl" rotWithShape="0">
              <a:srgbClr val="BFCEDD">
                <a:alpha val="50000"/>
              </a:srgbClr>
            </a:outerShdw>
          </a:effectLst>
        </p:spPr>
        <p:txBody>
          <a:bodyPr/>
          <a:lstStyle/>
          <a:p>
            <a:endParaRPr lang="es-CO"/>
          </a:p>
        </p:txBody>
      </p:sp>
      <p:sp>
        <p:nvSpPr>
          <p:cNvPr id="16" name="Shape 14"/>
          <p:cNvSpPr/>
          <p:nvPr/>
        </p:nvSpPr>
        <p:spPr>
          <a:xfrm>
            <a:off x="786384" y="4517136"/>
            <a:ext cx="164592" cy="164592"/>
          </a:xfrm>
          <a:prstGeom prst="ellipse">
            <a:avLst/>
          </a:prstGeom>
          <a:solidFill>
            <a:srgbClr val="1E7A46"/>
          </a:solidFill>
          <a:ln w="12700">
            <a:solidFill>
              <a:srgbClr val="1E7A46"/>
            </a:solidFill>
            <a:prstDash val="solid"/>
          </a:ln>
        </p:spPr>
        <p:txBody>
          <a:bodyPr/>
          <a:lstStyle/>
          <a:p>
            <a:endParaRPr lang="es-CO"/>
          </a:p>
        </p:txBody>
      </p:sp>
      <p:sp>
        <p:nvSpPr>
          <p:cNvPr id="17" name="Text 15"/>
          <p:cNvSpPr/>
          <p:nvPr/>
        </p:nvSpPr>
        <p:spPr>
          <a:xfrm>
            <a:off x="1060704" y="4425696"/>
            <a:ext cx="4732020" cy="36576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Explain</a:t>
            </a:r>
            <a:endParaRPr lang="en-US" dirty="0"/>
          </a:p>
        </p:txBody>
      </p:sp>
      <p:sp>
        <p:nvSpPr>
          <p:cNvPr id="18" name="Text 16"/>
          <p:cNvSpPr/>
          <p:nvPr/>
        </p:nvSpPr>
        <p:spPr>
          <a:xfrm>
            <a:off x="786384" y="4846320"/>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Tell the man why he is being referred, where to go, and when. Answer his questions simply.</a:t>
            </a:r>
            <a:endParaRPr lang="en-US" dirty="0"/>
          </a:p>
        </p:txBody>
      </p:sp>
      <p:sp>
        <p:nvSpPr>
          <p:cNvPr id="19" name="Shape 17"/>
          <p:cNvSpPr/>
          <p:nvPr/>
        </p:nvSpPr>
        <p:spPr>
          <a:xfrm>
            <a:off x="6231636" y="4297680"/>
            <a:ext cx="5390388" cy="2084832"/>
          </a:xfrm>
          <a:prstGeom prst="roundRect">
            <a:avLst>
              <a:gd name="adj" fmla="val 3509"/>
            </a:avLst>
          </a:prstGeom>
          <a:solidFill>
            <a:srgbClr val="FFFFFF"/>
          </a:solidFill>
          <a:ln w="19050">
            <a:solidFill>
              <a:srgbClr val="B23A2E"/>
            </a:solidFill>
            <a:prstDash val="solid"/>
          </a:ln>
          <a:effectLst>
            <a:outerShdw blurRad="50800" dist="25400" dir="5400000" algn="bl" rotWithShape="0">
              <a:srgbClr val="BFCEDD">
                <a:alpha val="50000"/>
              </a:srgbClr>
            </a:outerShdw>
          </a:effectLst>
        </p:spPr>
        <p:txBody>
          <a:bodyPr/>
          <a:lstStyle/>
          <a:p>
            <a:endParaRPr lang="es-CO"/>
          </a:p>
        </p:txBody>
      </p:sp>
      <p:sp>
        <p:nvSpPr>
          <p:cNvPr id="20" name="Shape 18"/>
          <p:cNvSpPr/>
          <p:nvPr/>
        </p:nvSpPr>
        <p:spPr>
          <a:xfrm>
            <a:off x="6451092" y="4517136"/>
            <a:ext cx="164592" cy="164592"/>
          </a:xfrm>
          <a:prstGeom prst="ellipse">
            <a:avLst/>
          </a:prstGeom>
          <a:solidFill>
            <a:srgbClr val="B23A2E"/>
          </a:solidFill>
          <a:ln w="12700">
            <a:solidFill>
              <a:srgbClr val="B23A2E"/>
            </a:solidFill>
            <a:prstDash val="solid"/>
          </a:ln>
        </p:spPr>
        <p:txBody>
          <a:bodyPr/>
          <a:lstStyle/>
          <a:p>
            <a:endParaRPr lang="es-CO"/>
          </a:p>
        </p:txBody>
      </p:sp>
      <p:sp>
        <p:nvSpPr>
          <p:cNvPr id="21" name="Text 19"/>
          <p:cNvSpPr/>
          <p:nvPr/>
        </p:nvSpPr>
        <p:spPr>
          <a:xfrm>
            <a:off x="6725412" y="4425696"/>
            <a:ext cx="4732020" cy="365760"/>
          </a:xfrm>
          <a:prstGeom prst="rect">
            <a:avLst/>
          </a:prstGeom>
          <a:noFill/>
          <a:ln/>
        </p:spPr>
        <p:txBody>
          <a:bodyPr wrap="square" lIns="0" tIns="0" rIns="0" bIns="0" rtlCol="0" anchor="t"/>
          <a:lstStyle/>
          <a:p>
            <a:pPr marL="0" indent="0">
              <a:buNone/>
            </a:pPr>
            <a:r>
              <a:rPr lang="en-US" b="1" dirty="0">
                <a:solidFill>
                  <a:srgbClr val="B23A2E"/>
                </a:solidFill>
                <a:latin typeface="Calibri" pitchFamily="34" charset="0"/>
                <a:ea typeface="Calibri" pitchFamily="34" charset="-122"/>
                <a:cs typeface="Calibri" pitchFamily="34" charset="-120"/>
              </a:rPr>
              <a:t>Safety-net</a:t>
            </a:r>
            <a:endParaRPr lang="en-US" dirty="0"/>
          </a:p>
        </p:txBody>
      </p:sp>
      <p:sp>
        <p:nvSpPr>
          <p:cNvPr id="22" name="Text 20"/>
          <p:cNvSpPr/>
          <p:nvPr/>
        </p:nvSpPr>
        <p:spPr>
          <a:xfrm>
            <a:off x="6451092" y="4846320"/>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Tell him which warning signs mean he must return or go straight to hospital, and confirm he can get there.</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3 · SORT</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Urgent or routine?</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3.4</a:t>
            </a:r>
            <a:endParaRPr lang="en-US" sz="900" dirty="0"/>
          </a:p>
        </p:txBody>
      </p:sp>
      <p:sp>
        <p:nvSpPr>
          <p:cNvPr id="6" name="Text 4"/>
          <p:cNvSpPr/>
          <p:nvPr/>
        </p:nvSpPr>
        <p:spPr>
          <a:xfrm>
            <a:off x="566928" y="1481328"/>
            <a:ext cx="11055096" cy="310896"/>
          </a:xfrm>
          <a:prstGeom prst="rect">
            <a:avLst/>
          </a:prstGeom>
          <a:noFill/>
          <a:ln/>
        </p:spPr>
        <p:txBody>
          <a:bodyPr wrap="square" lIns="0" tIns="0" rIns="0" bIns="0" rtlCol="0" anchor="t"/>
          <a:lstStyle/>
          <a:p>
            <a:pPr marL="0" indent="0">
              <a:buNone/>
            </a:pPr>
            <a:r>
              <a:rPr lang="en-US" i="1" dirty="0">
                <a:solidFill>
                  <a:srgbClr val="1A6FB0"/>
                </a:solidFill>
                <a:latin typeface="Calibri" pitchFamily="34" charset="0"/>
                <a:ea typeface="Calibri" pitchFamily="34" charset="-122"/>
                <a:cs typeface="Calibri" pitchFamily="34" charset="-120"/>
              </a:rPr>
              <a:t>Sort each situation into how quickly the man needs to be seen.</a:t>
            </a:r>
            <a:endParaRPr lang="en-US" dirty="0"/>
          </a:p>
        </p:txBody>
      </p:sp>
      <p:sp>
        <p:nvSpPr>
          <p:cNvPr id="7" name="Shape 5"/>
          <p:cNvSpPr/>
          <p:nvPr/>
        </p:nvSpPr>
        <p:spPr>
          <a:xfrm>
            <a:off x="566928" y="1901952"/>
            <a:ext cx="5390388" cy="4480560"/>
          </a:xfrm>
          <a:prstGeom prst="roundRect">
            <a:avLst>
              <a:gd name="adj" fmla="val 1224"/>
            </a:avLst>
          </a:prstGeom>
          <a:solidFill>
            <a:srgbClr val="FFFFFF"/>
          </a:solidFill>
          <a:ln w="19050">
            <a:solidFill>
              <a:srgbClr val="B23A2E"/>
            </a:solidFill>
            <a:prstDash val="solid"/>
          </a:ln>
        </p:spPr>
        <p:txBody>
          <a:bodyPr/>
          <a:lstStyle/>
          <a:p>
            <a:endParaRPr lang="es-CO"/>
          </a:p>
        </p:txBody>
      </p:sp>
      <p:sp>
        <p:nvSpPr>
          <p:cNvPr id="8" name="Shape 6"/>
          <p:cNvSpPr/>
          <p:nvPr/>
        </p:nvSpPr>
        <p:spPr>
          <a:xfrm>
            <a:off x="566928" y="1901952"/>
            <a:ext cx="5390388" cy="457200"/>
          </a:xfrm>
          <a:prstGeom prst="roundRect">
            <a:avLst>
              <a:gd name="adj" fmla="val 12000"/>
            </a:avLst>
          </a:prstGeom>
          <a:solidFill>
            <a:srgbClr val="B23A2E"/>
          </a:solidFill>
          <a:ln w="12700">
            <a:solidFill>
              <a:srgbClr val="B23A2E"/>
            </a:solidFill>
            <a:prstDash val="solid"/>
          </a:ln>
        </p:spPr>
        <p:txBody>
          <a:bodyPr/>
          <a:lstStyle/>
          <a:p>
            <a:endParaRPr lang="es-CO"/>
          </a:p>
        </p:txBody>
      </p:sp>
      <p:sp>
        <p:nvSpPr>
          <p:cNvPr id="9" name="Text 7"/>
          <p:cNvSpPr/>
          <p:nvPr/>
        </p:nvSpPr>
        <p:spPr>
          <a:xfrm>
            <a:off x="566928" y="1901952"/>
            <a:ext cx="5390388" cy="45720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  Urgent, same day</a:t>
            </a:r>
            <a:endParaRPr lang="en-US" dirty="0"/>
          </a:p>
        </p:txBody>
      </p:sp>
      <p:sp>
        <p:nvSpPr>
          <p:cNvPr id="10" name="Text 8"/>
          <p:cNvSpPr/>
          <p:nvPr/>
        </p:nvSpPr>
        <p:spPr>
          <a:xfrm>
            <a:off x="713232" y="2468880"/>
            <a:ext cx="5097780" cy="3785616"/>
          </a:xfrm>
          <a:prstGeom prst="rect">
            <a:avLst/>
          </a:prstGeom>
          <a:noFill/>
          <a:ln/>
        </p:spPr>
        <p:txBody>
          <a:bodyPr wrap="square" lIns="0" tIns="0" rIns="0" bIns="0" rtlCol="0" anchor="t"/>
          <a:lstStyle/>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New back pain with leg weakness or numbness</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Cannot pass urine at all (retention)</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Loss of bladder or bowel control</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Very unwell / feverish on chemotherapy</a:t>
            </a:r>
            <a:endParaRPr lang="en-US" dirty="0"/>
          </a:p>
        </p:txBody>
      </p:sp>
      <p:sp>
        <p:nvSpPr>
          <p:cNvPr id="11" name="Shape 9"/>
          <p:cNvSpPr/>
          <p:nvPr/>
        </p:nvSpPr>
        <p:spPr>
          <a:xfrm>
            <a:off x="6231636" y="1901952"/>
            <a:ext cx="5390388" cy="4480560"/>
          </a:xfrm>
          <a:prstGeom prst="roundRect">
            <a:avLst>
              <a:gd name="adj" fmla="val 1224"/>
            </a:avLst>
          </a:prstGeom>
          <a:solidFill>
            <a:srgbClr val="FFFFFF"/>
          </a:solidFill>
          <a:ln w="19050">
            <a:solidFill>
              <a:srgbClr val="1A6FB0"/>
            </a:solidFill>
            <a:prstDash val="solid"/>
          </a:ln>
        </p:spPr>
        <p:txBody>
          <a:bodyPr/>
          <a:lstStyle/>
          <a:p>
            <a:endParaRPr lang="es-CO"/>
          </a:p>
        </p:txBody>
      </p:sp>
      <p:sp>
        <p:nvSpPr>
          <p:cNvPr id="12" name="Shape 10"/>
          <p:cNvSpPr/>
          <p:nvPr/>
        </p:nvSpPr>
        <p:spPr>
          <a:xfrm>
            <a:off x="6231636" y="1901952"/>
            <a:ext cx="5390388" cy="457200"/>
          </a:xfrm>
          <a:prstGeom prst="roundRect">
            <a:avLst>
              <a:gd name="adj" fmla="val 12000"/>
            </a:avLst>
          </a:prstGeom>
          <a:solidFill>
            <a:srgbClr val="1A6FB0"/>
          </a:solidFill>
          <a:ln w="12700">
            <a:solidFill>
              <a:srgbClr val="1A6FB0"/>
            </a:solidFill>
            <a:prstDash val="solid"/>
          </a:ln>
        </p:spPr>
        <p:txBody>
          <a:bodyPr/>
          <a:lstStyle/>
          <a:p>
            <a:endParaRPr lang="es-CO"/>
          </a:p>
        </p:txBody>
      </p:sp>
      <p:sp>
        <p:nvSpPr>
          <p:cNvPr id="13" name="Text 11"/>
          <p:cNvSpPr/>
          <p:nvPr/>
        </p:nvSpPr>
        <p:spPr>
          <a:xfrm>
            <a:off x="6231636" y="1901952"/>
            <a:ext cx="5390388" cy="45720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Routine referral</a:t>
            </a:r>
            <a:endParaRPr lang="en-US" dirty="0"/>
          </a:p>
        </p:txBody>
      </p:sp>
      <p:sp>
        <p:nvSpPr>
          <p:cNvPr id="14" name="Text 12"/>
          <p:cNvSpPr/>
          <p:nvPr/>
        </p:nvSpPr>
        <p:spPr>
          <a:xfrm>
            <a:off x="6377940" y="2468880"/>
            <a:ext cx="5097780" cy="3785616"/>
          </a:xfrm>
          <a:prstGeom prst="rect">
            <a:avLst/>
          </a:prstGeom>
          <a:noFill/>
          <a:ln/>
        </p:spPr>
        <p:txBody>
          <a:bodyPr wrap="square" lIns="0" tIns="0" rIns="0" bIns="0" rtlCol="0" anchor="t"/>
          <a:lstStyle/>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Hard prostate on exam, otherwise stable</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Ongoing urinary symptoms, no red flags</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Raised PSA in a well man</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Family history, for a testing discussion</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3 · CASE PROGRESSION</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Jean is referred</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3.5</a:t>
            </a:r>
            <a:endParaRPr lang="en-US" sz="900" dirty="0"/>
          </a:p>
        </p:txBody>
      </p:sp>
      <p:sp>
        <p:nvSpPr>
          <p:cNvPr id="6" name="Shape 4"/>
          <p:cNvSpPr/>
          <p:nvPr/>
        </p:nvSpPr>
        <p:spPr>
          <a:xfrm>
            <a:off x="566928" y="1481328"/>
            <a:ext cx="11055096" cy="4901184"/>
          </a:xfrm>
          <a:prstGeom prst="roundRect">
            <a:avLst>
              <a:gd name="adj" fmla="val 1119"/>
            </a:avLst>
          </a:prstGeom>
          <a:solidFill>
            <a:srgbClr val="FFF7E8"/>
          </a:solidFill>
          <a:ln w="15875">
            <a:solidFill>
              <a:srgbClr val="EAD8AE"/>
            </a:solidFill>
            <a:prstDash val="solid"/>
          </a:ln>
        </p:spPr>
        <p:txBody>
          <a:bodyPr/>
          <a:lstStyle/>
          <a:p>
            <a:endParaRPr lang="es-CO"/>
          </a:p>
        </p:txBody>
      </p:sp>
      <p:sp>
        <p:nvSpPr>
          <p:cNvPr id="7" name="Text 5"/>
          <p:cNvSpPr/>
          <p:nvPr/>
        </p:nvSpPr>
        <p:spPr>
          <a:xfrm>
            <a:off x="822960" y="1627632"/>
            <a:ext cx="10543032" cy="310896"/>
          </a:xfrm>
          <a:prstGeom prst="rect">
            <a:avLst/>
          </a:prstGeom>
          <a:noFill/>
          <a:ln/>
        </p:spPr>
        <p:txBody>
          <a:bodyPr wrap="square" lIns="0" tIns="0" rIns="0" bIns="0" rtlCol="0" anchor="t"/>
          <a:lstStyle/>
          <a:p>
            <a:pPr marL="0" indent="0">
              <a:buNone/>
            </a:pPr>
            <a:r>
              <a:rPr lang="en-US" b="1" dirty="0">
                <a:solidFill>
                  <a:srgbClr val="B26A00"/>
                </a:solidFill>
                <a:latin typeface="Cambria" pitchFamily="34" charset="0"/>
                <a:ea typeface="Cambria" pitchFamily="34" charset="-122"/>
                <a:cs typeface="Cambria" pitchFamily="34" charset="-120"/>
              </a:rPr>
              <a:t>🩺  Clinical case:  </a:t>
            </a:r>
            <a:r>
              <a:rPr lang="en-US" b="1" dirty="0">
                <a:solidFill>
                  <a:srgbClr val="1F3A5F"/>
                </a:solidFill>
                <a:latin typeface="Cambria" pitchFamily="34" charset="0"/>
                <a:ea typeface="Cambria" pitchFamily="34" charset="-122"/>
                <a:cs typeface="Cambria" pitchFamily="34" charset="-120"/>
              </a:rPr>
              <a:t>Jean, 68, progression</a:t>
            </a:r>
            <a:endParaRPr lang="en-US" dirty="0"/>
          </a:p>
        </p:txBody>
      </p:sp>
      <p:sp>
        <p:nvSpPr>
          <p:cNvPr id="8" name="Text 6"/>
          <p:cNvSpPr/>
          <p:nvPr/>
        </p:nvSpPr>
        <p:spPr>
          <a:xfrm>
            <a:off x="822960" y="2048256"/>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What you already know:   </a:t>
            </a:r>
            <a:r>
              <a:rPr lang="en-US" dirty="0">
                <a:solidFill>
                  <a:srgbClr val="223240"/>
                </a:solidFill>
                <a:latin typeface="Calibri" pitchFamily="34" charset="0"/>
                <a:ea typeface="Calibri" pitchFamily="34" charset="-122"/>
                <a:cs typeface="Calibri" pitchFamily="34" charset="-120"/>
              </a:rPr>
              <a:t>Urinary symptoms, a hard irregular prostate, and mild back ache. You referred him.</a:t>
            </a:r>
            <a:endParaRPr lang="en-US" dirty="0"/>
          </a:p>
        </p:txBody>
      </p:sp>
      <p:sp>
        <p:nvSpPr>
          <p:cNvPr id="9" name="Text 7"/>
          <p:cNvSpPr/>
          <p:nvPr/>
        </p:nvSpPr>
        <p:spPr>
          <a:xfrm>
            <a:off x="822960" y="2637808"/>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New information:   </a:t>
            </a:r>
            <a:r>
              <a:rPr lang="en-US" dirty="0">
                <a:solidFill>
                  <a:srgbClr val="223240"/>
                </a:solidFill>
                <a:latin typeface="Calibri" pitchFamily="34" charset="0"/>
                <a:ea typeface="Calibri" pitchFamily="34" charset="-122"/>
                <a:cs typeface="Calibri" pitchFamily="34" charset="-120"/>
              </a:rPr>
              <a:t>At the district hospital his PSA is high. A biopsy confirms prostate cancer. A scan shows it has spread to bone in the spine. He is referred to the cancer centre and started on hormone therapy.</a:t>
            </a:r>
            <a:endParaRPr lang="en-US" dirty="0"/>
          </a:p>
        </p:txBody>
      </p:sp>
      <p:sp>
        <p:nvSpPr>
          <p:cNvPr id="10" name="Text 8"/>
          <p:cNvSpPr/>
          <p:nvPr/>
        </p:nvSpPr>
        <p:spPr>
          <a:xfrm>
            <a:off x="822960" y="3534393"/>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Now:   </a:t>
            </a:r>
            <a:r>
              <a:rPr lang="en-US" dirty="0">
                <a:solidFill>
                  <a:srgbClr val="223240"/>
                </a:solidFill>
                <a:latin typeface="Calibri" pitchFamily="34" charset="0"/>
                <a:ea typeface="Calibri" pitchFamily="34" charset="-122"/>
                <a:cs typeface="Calibri" pitchFamily="34" charset="-120"/>
              </a:rPr>
              <a:t>Jean and his son return to you, frightened and unsure what it all means.</a:t>
            </a:r>
            <a:endParaRPr lang="en-US" dirty="0"/>
          </a:p>
        </p:txBody>
      </p:sp>
      <p:sp>
        <p:nvSpPr>
          <p:cNvPr id="11" name="Shape 9"/>
          <p:cNvSpPr/>
          <p:nvPr/>
        </p:nvSpPr>
        <p:spPr>
          <a:xfrm>
            <a:off x="822960" y="4664879"/>
            <a:ext cx="10543032" cy="603504"/>
          </a:xfrm>
          <a:prstGeom prst="roundRect">
            <a:avLst>
              <a:gd name="adj" fmla="val 7576"/>
            </a:avLst>
          </a:prstGeom>
          <a:solidFill>
            <a:srgbClr val="FBE6C6"/>
          </a:solidFill>
          <a:ln w="12700">
            <a:solidFill>
              <a:srgbClr val="FBE6C6"/>
            </a:solidFill>
            <a:prstDash val="solid"/>
          </a:ln>
        </p:spPr>
        <p:txBody>
          <a:bodyPr/>
          <a:lstStyle/>
          <a:p>
            <a:endParaRPr lang="es-CO"/>
          </a:p>
        </p:txBody>
      </p:sp>
      <p:sp>
        <p:nvSpPr>
          <p:cNvPr id="12" name="Text 10"/>
          <p:cNvSpPr/>
          <p:nvPr/>
        </p:nvSpPr>
        <p:spPr>
          <a:xfrm>
            <a:off x="987552" y="4738031"/>
            <a:ext cx="10213848" cy="45720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  Your task:  </a:t>
            </a:r>
            <a:r>
              <a:rPr lang="en-US" dirty="0">
                <a:solidFill>
                  <a:srgbClr val="223240"/>
                </a:solidFill>
                <a:latin typeface="Calibri" pitchFamily="34" charset="0"/>
                <a:ea typeface="Calibri" pitchFamily="34" charset="-122"/>
                <a:cs typeface="Calibri" pitchFamily="34" charset="-120"/>
              </a:rPr>
              <a:t>how will you counsel Jean now that he has a confirmed, advanced diagnosis?</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3 · COUNSEL</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Breaking difficult news, the approach</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3.6</a:t>
            </a:r>
            <a:endParaRPr lang="en-US" sz="900" dirty="0"/>
          </a:p>
        </p:txBody>
      </p:sp>
      <p:sp>
        <p:nvSpPr>
          <p:cNvPr id="6" name="Text 4"/>
          <p:cNvSpPr/>
          <p:nvPr/>
        </p:nvSpPr>
        <p:spPr>
          <a:xfrm>
            <a:off x="566928" y="1481328"/>
            <a:ext cx="11055096" cy="310896"/>
          </a:xfrm>
          <a:prstGeom prst="rect">
            <a:avLst/>
          </a:prstGeom>
          <a:noFill/>
          <a:ln/>
        </p:spPr>
        <p:txBody>
          <a:bodyPr wrap="square" lIns="0" tIns="0" rIns="0" bIns="0" rtlCol="0" anchor="t"/>
          <a:lstStyle/>
          <a:p>
            <a:pPr marL="0" indent="0">
              <a:buNone/>
            </a:pPr>
            <a:r>
              <a:rPr lang="en-US" i="1" dirty="0">
                <a:solidFill>
                  <a:srgbClr val="1A6FB0"/>
                </a:solidFill>
                <a:latin typeface="Calibri" pitchFamily="34" charset="0"/>
                <a:ea typeface="Calibri" pitchFamily="34" charset="-122"/>
                <a:cs typeface="Calibri" pitchFamily="34" charset="-120"/>
              </a:rPr>
              <a:t>A simple, humane structure you can use in any setting.</a:t>
            </a:r>
            <a:endParaRPr lang="en-US" dirty="0"/>
          </a:p>
        </p:txBody>
      </p:sp>
      <p:sp>
        <p:nvSpPr>
          <p:cNvPr id="7" name="Shape 5"/>
          <p:cNvSpPr/>
          <p:nvPr/>
        </p:nvSpPr>
        <p:spPr>
          <a:xfrm>
            <a:off x="566928" y="1938528"/>
            <a:ext cx="3502152"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8" name="Shape 6"/>
          <p:cNvSpPr/>
          <p:nvPr/>
        </p:nvSpPr>
        <p:spPr>
          <a:xfrm>
            <a:off x="786384" y="2157984"/>
            <a:ext cx="164592" cy="164592"/>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1060704" y="2066544"/>
            <a:ext cx="2843784"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1 · Prepare &amp; make it private</a:t>
            </a:r>
            <a:endParaRPr lang="en-US" dirty="0"/>
          </a:p>
        </p:txBody>
      </p:sp>
      <p:sp>
        <p:nvSpPr>
          <p:cNvPr id="10" name="Text 8"/>
          <p:cNvSpPr/>
          <p:nvPr/>
        </p:nvSpPr>
        <p:spPr>
          <a:xfrm>
            <a:off x="786384" y="2487168"/>
            <a:ext cx="3099816"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 quiet space, enough time, and family present if the man wishes.</a:t>
            </a:r>
            <a:endParaRPr lang="en-US" dirty="0"/>
          </a:p>
        </p:txBody>
      </p:sp>
      <p:sp>
        <p:nvSpPr>
          <p:cNvPr id="11" name="Shape 9"/>
          <p:cNvSpPr/>
          <p:nvPr/>
        </p:nvSpPr>
        <p:spPr>
          <a:xfrm>
            <a:off x="4343400" y="1938528"/>
            <a:ext cx="3502152"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2" name="Shape 10"/>
          <p:cNvSpPr/>
          <p:nvPr/>
        </p:nvSpPr>
        <p:spPr>
          <a:xfrm>
            <a:off x="4562856" y="2157984"/>
            <a:ext cx="164592" cy="164592"/>
          </a:xfrm>
          <a:prstGeom prst="ellipse">
            <a:avLst/>
          </a:prstGeom>
          <a:solidFill>
            <a:srgbClr val="1A6FB0"/>
          </a:solidFill>
          <a:ln w="12700">
            <a:solidFill>
              <a:srgbClr val="1A6FB0"/>
            </a:solidFill>
            <a:prstDash val="solid"/>
          </a:ln>
        </p:spPr>
        <p:txBody>
          <a:bodyPr/>
          <a:lstStyle/>
          <a:p>
            <a:endParaRPr lang="es-CO"/>
          </a:p>
        </p:txBody>
      </p:sp>
      <p:sp>
        <p:nvSpPr>
          <p:cNvPr id="13" name="Text 11"/>
          <p:cNvSpPr/>
          <p:nvPr/>
        </p:nvSpPr>
        <p:spPr>
          <a:xfrm>
            <a:off x="4837176" y="2066544"/>
            <a:ext cx="2843784"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2 · Ask what he knows</a:t>
            </a:r>
            <a:endParaRPr lang="en-US" dirty="0"/>
          </a:p>
        </p:txBody>
      </p:sp>
      <p:sp>
        <p:nvSpPr>
          <p:cNvPr id="14" name="Text 12"/>
          <p:cNvSpPr/>
          <p:nvPr/>
        </p:nvSpPr>
        <p:spPr>
          <a:xfrm>
            <a:off x="4562856" y="2487168"/>
            <a:ext cx="3099816"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Start from his understanding: "What have the doctors told you so far?"</a:t>
            </a:r>
            <a:endParaRPr lang="en-US" dirty="0"/>
          </a:p>
        </p:txBody>
      </p:sp>
      <p:sp>
        <p:nvSpPr>
          <p:cNvPr id="15" name="Shape 13"/>
          <p:cNvSpPr/>
          <p:nvPr/>
        </p:nvSpPr>
        <p:spPr>
          <a:xfrm>
            <a:off x="8119872" y="1938528"/>
            <a:ext cx="3502152"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6" name="Shape 14"/>
          <p:cNvSpPr/>
          <p:nvPr/>
        </p:nvSpPr>
        <p:spPr>
          <a:xfrm>
            <a:off x="8339328" y="2157984"/>
            <a:ext cx="164592" cy="164592"/>
          </a:xfrm>
          <a:prstGeom prst="ellipse">
            <a:avLst/>
          </a:prstGeom>
          <a:solidFill>
            <a:srgbClr val="1A6FB0"/>
          </a:solidFill>
          <a:ln w="12700">
            <a:solidFill>
              <a:srgbClr val="1A6FB0"/>
            </a:solidFill>
            <a:prstDash val="solid"/>
          </a:ln>
        </p:spPr>
        <p:txBody>
          <a:bodyPr/>
          <a:lstStyle/>
          <a:p>
            <a:endParaRPr lang="es-CO"/>
          </a:p>
        </p:txBody>
      </p:sp>
      <p:sp>
        <p:nvSpPr>
          <p:cNvPr id="17" name="Text 15"/>
          <p:cNvSpPr/>
          <p:nvPr/>
        </p:nvSpPr>
        <p:spPr>
          <a:xfrm>
            <a:off x="8613648" y="2066544"/>
            <a:ext cx="2843784"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3 · Give news simply</a:t>
            </a:r>
            <a:endParaRPr lang="en-US" dirty="0"/>
          </a:p>
        </p:txBody>
      </p:sp>
      <p:sp>
        <p:nvSpPr>
          <p:cNvPr id="18" name="Text 16"/>
          <p:cNvSpPr/>
          <p:nvPr/>
        </p:nvSpPr>
        <p:spPr>
          <a:xfrm>
            <a:off x="8339328" y="2487168"/>
            <a:ext cx="3099816"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Small chunks, plain words. Pause. Avoid jargon. Warn gently before the hard part.</a:t>
            </a:r>
            <a:endParaRPr lang="en-US" dirty="0"/>
          </a:p>
        </p:txBody>
      </p:sp>
      <p:sp>
        <p:nvSpPr>
          <p:cNvPr id="19" name="Shape 17"/>
          <p:cNvSpPr/>
          <p:nvPr/>
        </p:nvSpPr>
        <p:spPr>
          <a:xfrm>
            <a:off x="566928" y="4297680"/>
            <a:ext cx="3502152" cy="2084832"/>
          </a:xfrm>
          <a:prstGeom prst="roundRect">
            <a:avLst>
              <a:gd name="adj" fmla="val 3509"/>
            </a:avLst>
          </a:prstGeom>
          <a:solidFill>
            <a:srgbClr val="FFFFFF"/>
          </a:solidFill>
          <a:ln w="19050">
            <a:solidFill>
              <a:srgbClr val="1E7A46"/>
            </a:solidFill>
            <a:prstDash val="solid"/>
          </a:ln>
          <a:effectLst>
            <a:outerShdw blurRad="50800" dist="25400" dir="5400000" algn="bl" rotWithShape="0">
              <a:srgbClr val="BFCEDD">
                <a:alpha val="50000"/>
              </a:srgbClr>
            </a:outerShdw>
          </a:effectLst>
        </p:spPr>
        <p:txBody>
          <a:bodyPr/>
          <a:lstStyle/>
          <a:p>
            <a:endParaRPr lang="es-CO"/>
          </a:p>
        </p:txBody>
      </p:sp>
      <p:sp>
        <p:nvSpPr>
          <p:cNvPr id="20" name="Shape 18"/>
          <p:cNvSpPr/>
          <p:nvPr/>
        </p:nvSpPr>
        <p:spPr>
          <a:xfrm>
            <a:off x="786384" y="4517136"/>
            <a:ext cx="164592" cy="164592"/>
          </a:xfrm>
          <a:prstGeom prst="ellipse">
            <a:avLst/>
          </a:prstGeom>
          <a:solidFill>
            <a:srgbClr val="1E7A46"/>
          </a:solidFill>
          <a:ln w="12700">
            <a:solidFill>
              <a:srgbClr val="1E7A46"/>
            </a:solidFill>
            <a:prstDash val="solid"/>
          </a:ln>
        </p:spPr>
        <p:txBody>
          <a:bodyPr/>
          <a:lstStyle/>
          <a:p>
            <a:endParaRPr lang="es-CO"/>
          </a:p>
        </p:txBody>
      </p:sp>
      <p:sp>
        <p:nvSpPr>
          <p:cNvPr id="21" name="Text 19"/>
          <p:cNvSpPr/>
          <p:nvPr/>
        </p:nvSpPr>
        <p:spPr>
          <a:xfrm>
            <a:off x="1060704" y="4425696"/>
            <a:ext cx="2843784" cy="36576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4 · Respond to feelings</a:t>
            </a:r>
            <a:endParaRPr lang="en-US" dirty="0"/>
          </a:p>
        </p:txBody>
      </p:sp>
      <p:sp>
        <p:nvSpPr>
          <p:cNvPr id="22" name="Text 20"/>
          <p:cNvSpPr/>
          <p:nvPr/>
        </p:nvSpPr>
        <p:spPr>
          <a:xfrm>
            <a:off x="786384" y="4846320"/>
            <a:ext cx="3099816"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Allow silence and emotion. Acknowledge fear. Do not rush to fix it.</a:t>
            </a:r>
            <a:endParaRPr lang="en-US" dirty="0"/>
          </a:p>
        </p:txBody>
      </p:sp>
      <p:sp>
        <p:nvSpPr>
          <p:cNvPr id="23" name="Shape 21"/>
          <p:cNvSpPr/>
          <p:nvPr/>
        </p:nvSpPr>
        <p:spPr>
          <a:xfrm>
            <a:off x="4343400" y="4297680"/>
            <a:ext cx="3502152"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24" name="Shape 22"/>
          <p:cNvSpPr/>
          <p:nvPr/>
        </p:nvSpPr>
        <p:spPr>
          <a:xfrm>
            <a:off x="4562856" y="4517136"/>
            <a:ext cx="164592" cy="164592"/>
          </a:xfrm>
          <a:prstGeom prst="ellipse">
            <a:avLst/>
          </a:prstGeom>
          <a:solidFill>
            <a:srgbClr val="1A6FB0"/>
          </a:solidFill>
          <a:ln w="12700">
            <a:solidFill>
              <a:srgbClr val="1A6FB0"/>
            </a:solidFill>
            <a:prstDash val="solid"/>
          </a:ln>
        </p:spPr>
        <p:txBody>
          <a:bodyPr/>
          <a:lstStyle/>
          <a:p>
            <a:endParaRPr lang="es-CO"/>
          </a:p>
        </p:txBody>
      </p:sp>
      <p:sp>
        <p:nvSpPr>
          <p:cNvPr id="25" name="Text 23"/>
          <p:cNvSpPr/>
          <p:nvPr/>
        </p:nvSpPr>
        <p:spPr>
          <a:xfrm>
            <a:off x="4837176" y="4425696"/>
            <a:ext cx="2843784"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5 · Agree next steps</a:t>
            </a:r>
            <a:endParaRPr lang="en-US" dirty="0"/>
          </a:p>
        </p:txBody>
      </p:sp>
      <p:sp>
        <p:nvSpPr>
          <p:cNvPr id="26" name="Text 24"/>
          <p:cNvSpPr/>
          <p:nvPr/>
        </p:nvSpPr>
        <p:spPr>
          <a:xfrm>
            <a:off x="4562856" y="4846320"/>
            <a:ext cx="3099816"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What happens now, who to contact, when to return. Check understanding (teach-back).</a:t>
            </a:r>
            <a:endParaRPr lang="en-US" dirty="0"/>
          </a:p>
        </p:txBody>
      </p:sp>
      <p:sp>
        <p:nvSpPr>
          <p:cNvPr id="27" name="Shape 25"/>
          <p:cNvSpPr/>
          <p:nvPr/>
        </p:nvSpPr>
        <p:spPr>
          <a:xfrm>
            <a:off x="8119872" y="4297680"/>
            <a:ext cx="3502152" cy="2084832"/>
          </a:xfrm>
          <a:prstGeom prst="roundRect">
            <a:avLst>
              <a:gd name="adj" fmla="val 3509"/>
            </a:avLst>
          </a:prstGeom>
          <a:solidFill>
            <a:srgbClr val="FFFFFF"/>
          </a:solidFill>
          <a:ln w="19050">
            <a:solidFill>
              <a:srgbClr val="B26A00"/>
            </a:solidFill>
            <a:prstDash val="solid"/>
          </a:ln>
          <a:effectLst>
            <a:outerShdw blurRad="50800" dist="25400" dir="5400000" algn="bl" rotWithShape="0">
              <a:srgbClr val="BFCEDD">
                <a:alpha val="50000"/>
              </a:srgbClr>
            </a:outerShdw>
          </a:effectLst>
        </p:spPr>
        <p:txBody>
          <a:bodyPr/>
          <a:lstStyle/>
          <a:p>
            <a:endParaRPr lang="es-CO"/>
          </a:p>
        </p:txBody>
      </p:sp>
      <p:sp>
        <p:nvSpPr>
          <p:cNvPr id="28" name="Shape 26"/>
          <p:cNvSpPr/>
          <p:nvPr/>
        </p:nvSpPr>
        <p:spPr>
          <a:xfrm>
            <a:off x="8339328" y="4517136"/>
            <a:ext cx="164592" cy="164592"/>
          </a:xfrm>
          <a:prstGeom prst="ellipse">
            <a:avLst/>
          </a:prstGeom>
          <a:solidFill>
            <a:srgbClr val="B26A00"/>
          </a:solidFill>
          <a:ln w="12700">
            <a:solidFill>
              <a:srgbClr val="B26A00"/>
            </a:solidFill>
            <a:prstDash val="solid"/>
          </a:ln>
        </p:spPr>
        <p:txBody>
          <a:bodyPr/>
          <a:lstStyle/>
          <a:p>
            <a:endParaRPr lang="es-CO"/>
          </a:p>
        </p:txBody>
      </p:sp>
      <p:sp>
        <p:nvSpPr>
          <p:cNvPr id="29" name="Text 27"/>
          <p:cNvSpPr/>
          <p:nvPr/>
        </p:nvSpPr>
        <p:spPr>
          <a:xfrm>
            <a:off x="8613648" y="4425696"/>
            <a:ext cx="2843784" cy="36576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Throughout</a:t>
            </a:r>
            <a:endParaRPr lang="en-US" dirty="0"/>
          </a:p>
        </p:txBody>
      </p:sp>
      <p:sp>
        <p:nvSpPr>
          <p:cNvPr id="30" name="Text 28"/>
          <p:cNvSpPr/>
          <p:nvPr/>
        </p:nvSpPr>
        <p:spPr>
          <a:xfrm>
            <a:off x="8339328" y="4846320"/>
            <a:ext cx="3099816"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Be honest but kind. Do not remove hope, focus on what can be done.</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3 · COUNSELLING CHOICE</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would you say to Jean?</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3.7</a:t>
            </a:r>
            <a:endParaRPr lang="en-US" sz="900" dirty="0"/>
          </a:p>
        </p:txBody>
      </p:sp>
      <p:sp>
        <p:nvSpPr>
          <p:cNvPr id="6" name="Text 4"/>
          <p:cNvSpPr/>
          <p:nvPr/>
        </p:nvSpPr>
        <p:spPr>
          <a:xfrm>
            <a:off x="566928" y="1481328"/>
            <a:ext cx="11055096" cy="54864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Jean asks, tearfully, "Is this the end for me?" Which response is best?</a:t>
            </a:r>
            <a:endParaRPr lang="en-US" dirty="0"/>
          </a:p>
        </p:txBody>
      </p:sp>
      <p:sp>
        <p:nvSpPr>
          <p:cNvPr id="7" name="Shape 5"/>
          <p:cNvSpPr/>
          <p:nvPr/>
        </p:nvSpPr>
        <p:spPr>
          <a:xfrm>
            <a:off x="566928" y="1843232"/>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76656" y="1925528"/>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76656" y="1925528"/>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A</a:t>
            </a:r>
            <a:endParaRPr lang="en-US" dirty="0"/>
          </a:p>
        </p:txBody>
      </p:sp>
      <p:sp>
        <p:nvSpPr>
          <p:cNvPr id="10" name="Text 8"/>
          <p:cNvSpPr/>
          <p:nvPr/>
        </p:nvSpPr>
        <p:spPr>
          <a:xfrm>
            <a:off x="1097280" y="1843232"/>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"Yes, once it spreads there is nothing to do."</a:t>
            </a:r>
            <a:endParaRPr lang="en-US" dirty="0"/>
          </a:p>
        </p:txBody>
      </p:sp>
      <p:sp>
        <p:nvSpPr>
          <p:cNvPr id="11" name="Shape 9"/>
          <p:cNvSpPr/>
          <p:nvPr/>
        </p:nvSpPr>
        <p:spPr>
          <a:xfrm>
            <a:off x="566928" y="2428448"/>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12" name="Shape 10"/>
          <p:cNvSpPr/>
          <p:nvPr/>
        </p:nvSpPr>
        <p:spPr>
          <a:xfrm>
            <a:off x="676656" y="2510744"/>
            <a:ext cx="292608" cy="292608"/>
          </a:xfrm>
          <a:prstGeom prst="ellipse">
            <a:avLst/>
          </a:prstGeom>
          <a:solidFill>
            <a:srgbClr val="1A6FB0"/>
          </a:solidFill>
          <a:ln w="12700">
            <a:solidFill>
              <a:srgbClr val="1A6FB0"/>
            </a:solidFill>
            <a:prstDash val="solid"/>
          </a:ln>
        </p:spPr>
        <p:txBody>
          <a:bodyPr/>
          <a:lstStyle/>
          <a:p>
            <a:endParaRPr lang="es-CO"/>
          </a:p>
        </p:txBody>
      </p:sp>
      <p:sp>
        <p:nvSpPr>
          <p:cNvPr id="13" name="Text 11"/>
          <p:cNvSpPr/>
          <p:nvPr/>
        </p:nvSpPr>
        <p:spPr>
          <a:xfrm>
            <a:off x="676656" y="2510744"/>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B</a:t>
            </a:r>
            <a:endParaRPr lang="en-US" dirty="0"/>
          </a:p>
        </p:txBody>
      </p:sp>
      <p:sp>
        <p:nvSpPr>
          <p:cNvPr id="14" name="Text 12"/>
          <p:cNvSpPr/>
          <p:nvPr/>
        </p:nvSpPr>
        <p:spPr>
          <a:xfrm>
            <a:off x="1097280" y="2428448"/>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"Don’t worry, it is nothing serious."</a:t>
            </a:r>
            <a:endParaRPr lang="en-US" dirty="0"/>
          </a:p>
        </p:txBody>
      </p:sp>
      <p:sp>
        <p:nvSpPr>
          <p:cNvPr id="15" name="Shape 13"/>
          <p:cNvSpPr/>
          <p:nvPr/>
        </p:nvSpPr>
        <p:spPr>
          <a:xfrm>
            <a:off x="566928" y="2967944"/>
            <a:ext cx="11055096" cy="689656"/>
          </a:xfrm>
          <a:prstGeom prst="roundRect">
            <a:avLst>
              <a:gd name="adj" fmla="val 10000"/>
            </a:avLst>
          </a:prstGeom>
          <a:solidFill>
            <a:srgbClr val="E7F4EC"/>
          </a:solidFill>
          <a:ln w="19050">
            <a:solidFill>
              <a:srgbClr val="1E7A46"/>
            </a:solidFill>
            <a:prstDash val="solid"/>
          </a:ln>
        </p:spPr>
        <p:txBody>
          <a:bodyPr/>
          <a:lstStyle/>
          <a:p>
            <a:endParaRPr lang="es-CO"/>
          </a:p>
        </p:txBody>
      </p:sp>
      <p:sp>
        <p:nvSpPr>
          <p:cNvPr id="16" name="Shape 14"/>
          <p:cNvSpPr/>
          <p:nvPr/>
        </p:nvSpPr>
        <p:spPr>
          <a:xfrm>
            <a:off x="676656" y="3120024"/>
            <a:ext cx="292608" cy="292608"/>
          </a:xfrm>
          <a:prstGeom prst="ellipse">
            <a:avLst/>
          </a:prstGeom>
          <a:solidFill>
            <a:srgbClr val="1E7A46"/>
          </a:solidFill>
          <a:ln w="12700">
            <a:solidFill>
              <a:srgbClr val="1E7A46"/>
            </a:solidFill>
            <a:prstDash val="solid"/>
          </a:ln>
        </p:spPr>
        <p:txBody>
          <a:bodyPr/>
          <a:lstStyle/>
          <a:p>
            <a:endParaRPr lang="es-CO"/>
          </a:p>
        </p:txBody>
      </p:sp>
      <p:sp>
        <p:nvSpPr>
          <p:cNvPr id="17" name="Text 15"/>
          <p:cNvSpPr/>
          <p:nvPr/>
        </p:nvSpPr>
        <p:spPr>
          <a:xfrm>
            <a:off x="676656" y="3120024"/>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C</a:t>
            </a:r>
            <a:endParaRPr lang="en-US" dirty="0"/>
          </a:p>
        </p:txBody>
      </p:sp>
      <p:sp>
        <p:nvSpPr>
          <p:cNvPr id="18" name="Text 16"/>
          <p:cNvSpPr/>
          <p:nvPr/>
        </p:nvSpPr>
        <p:spPr>
          <a:xfrm>
            <a:off x="1097280" y="3037728"/>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"This is serious, and I understand your fear. The cancer has spread, but there is treatment that can control it and keep you comfortable, let’s go through what happens next."</a:t>
            </a:r>
            <a:endParaRPr lang="en-US" dirty="0"/>
          </a:p>
        </p:txBody>
      </p:sp>
      <p:sp>
        <p:nvSpPr>
          <p:cNvPr id="19" name="Shape 17"/>
          <p:cNvSpPr/>
          <p:nvPr/>
        </p:nvSpPr>
        <p:spPr>
          <a:xfrm>
            <a:off x="566928" y="3767328"/>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76656" y="3849624"/>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76656" y="3849624"/>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D</a:t>
            </a:r>
            <a:endParaRPr lang="en-US" dirty="0"/>
          </a:p>
        </p:txBody>
      </p:sp>
      <p:sp>
        <p:nvSpPr>
          <p:cNvPr id="22" name="Text 20"/>
          <p:cNvSpPr/>
          <p:nvPr/>
        </p:nvSpPr>
        <p:spPr>
          <a:xfrm>
            <a:off x="1097280" y="3767328"/>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"You should have come earlier."</a:t>
            </a:r>
            <a:endParaRPr lang="en-US" dirty="0"/>
          </a:p>
        </p:txBody>
      </p:sp>
      <p:sp>
        <p:nvSpPr>
          <p:cNvPr id="23" name="Shape 21"/>
          <p:cNvSpPr/>
          <p:nvPr/>
        </p:nvSpPr>
        <p:spPr>
          <a:xfrm>
            <a:off x="566928" y="4407408"/>
            <a:ext cx="11055096" cy="1975104"/>
          </a:xfrm>
          <a:prstGeom prst="roundRect">
            <a:avLst>
              <a:gd name="adj" fmla="val 2315"/>
            </a:avLst>
          </a:prstGeom>
          <a:solidFill>
            <a:srgbClr val="E7F4EC"/>
          </a:solidFill>
          <a:ln w="12700">
            <a:solidFill>
              <a:srgbClr val="BFE3CD"/>
            </a:solidFill>
            <a:prstDash val="solid"/>
          </a:ln>
        </p:spPr>
        <p:txBody>
          <a:bodyPr/>
          <a:lstStyle/>
          <a:p>
            <a:endParaRPr lang="es-CO"/>
          </a:p>
        </p:txBody>
      </p:sp>
      <p:sp>
        <p:nvSpPr>
          <p:cNvPr id="24" name="Text 22"/>
          <p:cNvSpPr/>
          <p:nvPr/>
        </p:nvSpPr>
        <p:spPr>
          <a:xfrm>
            <a:off x="749808" y="4498848"/>
            <a:ext cx="10689336" cy="1792224"/>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C.  </a:t>
            </a:r>
            <a:r>
              <a:rPr lang="en-US" dirty="0">
                <a:solidFill>
                  <a:srgbClr val="223240"/>
                </a:solidFill>
                <a:latin typeface="Calibri" pitchFamily="34" charset="0"/>
                <a:ea typeface="Calibri" pitchFamily="34" charset="-122"/>
                <a:cs typeface="Calibri" pitchFamily="34" charset="-120"/>
              </a:rPr>
              <a:t>Be honest and kind. Acknowledge the emotion, give truthful information in plain words, and offer realistic hope by focusing on control and comfort. False reassurance and blame both damage trust and care.</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3 · PSYCHOLOGICAL SUPPORT</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Supporting the man and his family</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3.8</a:t>
            </a:r>
            <a:endParaRPr lang="en-US" sz="900" dirty="0"/>
          </a:p>
        </p:txBody>
      </p:sp>
      <p:sp>
        <p:nvSpPr>
          <p:cNvPr id="6" name="Shape 4"/>
          <p:cNvSpPr/>
          <p:nvPr/>
        </p:nvSpPr>
        <p:spPr>
          <a:xfrm>
            <a:off x="566928" y="1481328"/>
            <a:ext cx="5390388" cy="2244852"/>
          </a:xfrm>
          <a:prstGeom prst="roundRect">
            <a:avLst>
              <a:gd name="adj" fmla="val 325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7" name="Shape 5"/>
          <p:cNvSpPr/>
          <p:nvPr/>
        </p:nvSpPr>
        <p:spPr>
          <a:xfrm>
            <a:off x="786384" y="1700784"/>
            <a:ext cx="164592" cy="164592"/>
          </a:xfrm>
          <a:prstGeom prst="ellipse">
            <a:avLst/>
          </a:prstGeom>
          <a:solidFill>
            <a:srgbClr val="1A6FB0"/>
          </a:solidFill>
          <a:ln w="12700">
            <a:solidFill>
              <a:srgbClr val="1A6FB0"/>
            </a:solidFill>
            <a:prstDash val="solid"/>
          </a:ln>
        </p:spPr>
        <p:txBody>
          <a:bodyPr/>
          <a:lstStyle/>
          <a:p>
            <a:endParaRPr lang="es-CO"/>
          </a:p>
        </p:txBody>
      </p:sp>
      <p:sp>
        <p:nvSpPr>
          <p:cNvPr id="8" name="Text 6"/>
          <p:cNvSpPr/>
          <p:nvPr/>
        </p:nvSpPr>
        <p:spPr>
          <a:xfrm>
            <a:off x="1060704" y="16093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Acknowledge fear</a:t>
            </a:r>
            <a:endParaRPr lang="en-US" dirty="0"/>
          </a:p>
        </p:txBody>
      </p:sp>
      <p:sp>
        <p:nvSpPr>
          <p:cNvPr id="9" name="Text 7"/>
          <p:cNvSpPr/>
          <p:nvPr/>
        </p:nvSpPr>
        <p:spPr>
          <a:xfrm>
            <a:off x="786384" y="2029968"/>
            <a:ext cx="4988052" cy="15864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 cancer diagnosis brings fear of death, pain, and being a burden. Naming it helps.</a:t>
            </a:r>
            <a:endParaRPr lang="en-US" dirty="0"/>
          </a:p>
        </p:txBody>
      </p:sp>
      <p:sp>
        <p:nvSpPr>
          <p:cNvPr id="10" name="Shape 8"/>
          <p:cNvSpPr/>
          <p:nvPr/>
        </p:nvSpPr>
        <p:spPr>
          <a:xfrm>
            <a:off x="6231636" y="1481328"/>
            <a:ext cx="5390388" cy="2244852"/>
          </a:xfrm>
          <a:prstGeom prst="roundRect">
            <a:avLst>
              <a:gd name="adj" fmla="val 3259"/>
            </a:avLst>
          </a:prstGeom>
          <a:solidFill>
            <a:srgbClr val="FFFFFF"/>
          </a:solidFill>
          <a:ln w="19050">
            <a:solidFill>
              <a:srgbClr val="B26A00"/>
            </a:solidFill>
            <a:prstDash val="solid"/>
          </a:ln>
          <a:effectLst>
            <a:outerShdw blurRad="50800" dist="25400" dir="5400000" algn="bl" rotWithShape="0">
              <a:srgbClr val="BFCEDD">
                <a:alpha val="50000"/>
              </a:srgbClr>
            </a:outerShdw>
          </a:effectLst>
        </p:spPr>
        <p:txBody>
          <a:bodyPr/>
          <a:lstStyle/>
          <a:p>
            <a:endParaRPr lang="es-CO"/>
          </a:p>
        </p:txBody>
      </p:sp>
      <p:sp>
        <p:nvSpPr>
          <p:cNvPr id="11" name="Shape 9"/>
          <p:cNvSpPr/>
          <p:nvPr/>
        </p:nvSpPr>
        <p:spPr>
          <a:xfrm>
            <a:off x="6451092" y="1700784"/>
            <a:ext cx="164592" cy="164592"/>
          </a:xfrm>
          <a:prstGeom prst="ellipse">
            <a:avLst/>
          </a:prstGeom>
          <a:solidFill>
            <a:srgbClr val="B26A00"/>
          </a:solidFill>
          <a:ln w="12700">
            <a:solidFill>
              <a:srgbClr val="B26A00"/>
            </a:solidFill>
            <a:prstDash val="solid"/>
          </a:ln>
        </p:spPr>
        <p:txBody>
          <a:bodyPr/>
          <a:lstStyle/>
          <a:p>
            <a:endParaRPr lang="es-CO"/>
          </a:p>
        </p:txBody>
      </p:sp>
      <p:sp>
        <p:nvSpPr>
          <p:cNvPr id="12" name="Text 10"/>
          <p:cNvSpPr/>
          <p:nvPr/>
        </p:nvSpPr>
        <p:spPr>
          <a:xfrm>
            <a:off x="6725412" y="1609344"/>
            <a:ext cx="4732020" cy="36576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Address stigma &amp; silence</a:t>
            </a:r>
            <a:endParaRPr lang="en-US" dirty="0"/>
          </a:p>
        </p:txBody>
      </p:sp>
      <p:sp>
        <p:nvSpPr>
          <p:cNvPr id="13" name="Text 11"/>
          <p:cNvSpPr/>
          <p:nvPr/>
        </p:nvSpPr>
        <p:spPr>
          <a:xfrm>
            <a:off x="6451092" y="2029968"/>
            <a:ext cx="4988052" cy="15864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Men may feel shame about urinary or sexual problems. Ask gently and normalise talking about them.</a:t>
            </a:r>
            <a:endParaRPr lang="en-US" dirty="0"/>
          </a:p>
        </p:txBody>
      </p:sp>
      <p:sp>
        <p:nvSpPr>
          <p:cNvPr id="14" name="Shape 12"/>
          <p:cNvSpPr/>
          <p:nvPr/>
        </p:nvSpPr>
        <p:spPr>
          <a:xfrm>
            <a:off x="566928" y="4000500"/>
            <a:ext cx="5390388" cy="2244852"/>
          </a:xfrm>
          <a:prstGeom prst="roundRect">
            <a:avLst>
              <a:gd name="adj" fmla="val 3259"/>
            </a:avLst>
          </a:prstGeom>
          <a:solidFill>
            <a:srgbClr val="FFFFFF"/>
          </a:solidFill>
          <a:ln w="19050">
            <a:solidFill>
              <a:srgbClr val="1E7A46"/>
            </a:solidFill>
            <a:prstDash val="solid"/>
          </a:ln>
          <a:effectLst>
            <a:outerShdw blurRad="50800" dist="25400" dir="5400000" algn="bl" rotWithShape="0">
              <a:srgbClr val="BFCEDD">
                <a:alpha val="50000"/>
              </a:srgbClr>
            </a:outerShdw>
          </a:effectLst>
        </p:spPr>
        <p:txBody>
          <a:bodyPr/>
          <a:lstStyle/>
          <a:p>
            <a:endParaRPr lang="es-CO"/>
          </a:p>
        </p:txBody>
      </p:sp>
      <p:sp>
        <p:nvSpPr>
          <p:cNvPr id="15" name="Shape 13"/>
          <p:cNvSpPr/>
          <p:nvPr/>
        </p:nvSpPr>
        <p:spPr>
          <a:xfrm>
            <a:off x="786384" y="4219956"/>
            <a:ext cx="164592" cy="164592"/>
          </a:xfrm>
          <a:prstGeom prst="ellipse">
            <a:avLst/>
          </a:prstGeom>
          <a:solidFill>
            <a:srgbClr val="1E7A46"/>
          </a:solidFill>
          <a:ln w="12700">
            <a:solidFill>
              <a:srgbClr val="1E7A46"/>
            </a:solidFill>
            <a:prstDash val="solid"/>
          </a:ln>
        </p:spPr>
        <p:txBody>
          <a:bodyPr/>
          <a:lstStyle/>
          <a:p>
            <a:endParaRPr lang="es-CO"/>
          </a:p>
        </p:txBody>
      </p:sp>
      <p:sp>
        <p:nvSpPr>
          <p:cNvPr id="16" name="Text 14"/>
          <p:cNvSpPr/>
          <p:nvPr/>
        </p:nvSpPr>
        <p:spPr>
          <a:xfrm>
            <a:off x="1060704" y="4128516"/>
            <a:ext cx="4732020" cy="36576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Involve family</a:t>
            </a:r>
            <a:endParaRPr lang="en-US" dirty="0"/>
          </a:p>
        </p:txBody>
      </p:sp>
      <p:sp>
        <p:nvSpPr>
          <p:cNvPr id="17" name="Text 15"/>
          <p:cNvSpPr/>
          <p:nvPr/>
        </p:nvSpPr>
        <p:spPr>
          <a:xfrm>
            <a:off x="786384" y="4549140"/>
            <a:ext cx="4988052" cy="15864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With the man’s consent, involve family, they support treatment, transport and daily care.</a:t>
            </a:r>
            <a:endParaRPr lang="en-US" dirty="0"/>
          </a:p>
        </p:txBody>
      </p:sp>
      <p:sp>
        <p:nvSpPr>
          <p:cNvPr id="18" name="Shape 16"/>
          <p:cNvSpPr/>
          <p:nvPr/>
        </p:nvSpPr>
        <p:spPr>
          <a:xfrm>
            <a:off x="6231636" y="4000500"/>
            <a:ext cx="5390388" cy="2244852"/>
          </a:xfrm>
          <a:prstGeom prst="roundRect">
            <a:avLst>
              <a:gd name="adj" fmla="val 325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9" name="Shape 17"/>
          <p:cNvSpPr/>
          <p:nvPr/>
        </p:nvSpPr>
        <p:spPr>
          <a:xfrm>
            <a:off x="6451092" y="4219956"/>
            <a:ext cx="164592" cy="164592"/>
          </a:xfrm>
          <a:prstGeom prst="ellipse">
            <a:avLst/>
          </a:prstGeom>
          <a:solidFill>
            <a:srgbClr val="1A6FB0"/>
          </a:solidFill>
          <a:ln w="12700">
            <a:solidFill>
              <a:srgbClr val="1A6FB0"/>
            </a:solidFill>
            <a:prstDash val="solid"/>
          </a:ln>
        </p:spPr>
        <p:txBody>
          <a:bodyPr/>
          <a:lstStyle/>
          <a:p>
            <a:endParaRPr lang="es-CO"/>
          </a:p>
        </p:txBody>
      </p:sp>
      <p:sp>
        <p:nvSpPr>
          <p:cNvPr id="20" name="Text 18"/>
          <p:cNvSpPr/>
          <p:nvPr/>
        </p:nvSpPr>
        <p:spPr>
          <a:xfrm>
            <a:off x="6725412" y="4128516"/>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Practical barriers</a:t>
            </a:r>
            <a:endParaRPr lang="en-US" dirty="0"/>
          </a:p>
        </p:txBody>
      </p:sp>
      <p:sp>
        <p:nvSpPr>
          <p:cNvPr id="21" name="Text 19"/>
          <p:cNvSpPr/>
          <p:nvPr/>
        </p:nvSpPr>
        <p:spPr>
          <a:xfrm>
            <a:off x="6451092" y="4549140"/>
            <a:ext cx="4988052" cy="15864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Transport, cost and insurance (e.g. CBHI) affect whether men stay in care. Help problem-solve and signpost support.</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3 · COUNSEL</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Helping Jean stay in care</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3.9</a:t>
            </a:r>
            <a:endParaRPr lang="en-US" sz="900" dirty="0"/>
          </a:p>
        </p:txBody>
      </p:sp>
      <p:sp>
        <p:nvSpPr>
          <p:cNvPr id="6" name="Text 4"/>
          <p:cNvSpPr/>
          <p:nvPr/>
        </p:nvSpPr>
        <p:spPr>
          <a:xfrm>
            <a:off x="566928" y="1481328"/>
            <a:ext cx="11055096" cy="54864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Jean lives far from the cancer centre and worries about transport and cost. The most helpful action is to:</a:t>
            </a:r>
            <a:endParaRPr lang="en-US" dirty="0"/>
          </a:p>
        </p:txBody>
      </p:sp>
      <p:sp>
        <p:nvSpPr>
          <p:cNvPr id="7" name="Shape 5"/>
          <p:cNvSpPr/>
          <p:nvPr/>
        </p:nvSpPr>
        <p:spPr>
          <a:xfrm>
            <a:off x="566928" y="2267712"/>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76656" y="2350008"/>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76656" y="2350008"/>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A</a:t>
            </a:r>
            <a:endParaRPr lang="en-US" dirty="0"/>
          </a:p>
        </p:txBody>
      </p:sp>
      <p:sp>
        <p:nvSpPr>
          <p:cNvPr id="10" name="Text 8"/>
          <p:cNvSpPr/>
          <p:nvPr/>
        </p:nvSpPr>
        <p:spPr>
          <a:xfrm>
            <a:off x="1097280" y="2267712"/>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Tell him it is his responsibility to find a way</a:t>
            </a:r>
            <a:endParaRPr lang="en-US" dirty="0"/>
          </a:p>
        </p:txBody>
      </p:sp>
      <p:sp>
        <p:nvSpPr>
          <p:cNvPr id="11" name="Shape 9"/>
          <p:cNvSpPr/>
          <p:nvPr/>
        </p:nvSpPr>
        <p:spPr>
          <a:xfrm>
            <a:off x="566928" y="2852928"/>
            <a:ext cx="11055096" cy="457200"/>
          </a:xfrm>
          <a:prstGeom prst="roundRect">
            <a:avLst>
              <a:gd name="adj" fmla="val 10000"/>
            </a:avLst>
          </a:prstGeom>
          <a:solidFill>
            <a:srgbClr val="E7F4EC"/>
          </a:solidFill>
          <a:ln w="19050">
            <a:solidFill>
              <a:srgbClr val="1E7A46"/>
            </a:solidFill>
            <a:prstDash val="solid"/>
          </a:ln>
        </p:spPr>
        <p:txBody>
          <a:bodyPr/>
          <a:lstStyle/>
          <a:p>
            <a:endParaRPr lang="es-CO"/>
          </a:p>
        </p:txBody>
      </p:sp>
      <p:sp>
        <p:nvSpPr>
          <p:cNvPr id="12" name="Shape 10"/>
          <p:cNvSpPr/>
          <p:nvPr/>
        </p:nvSpPr>
        <p:spPr>
          <a:xfrm>
            <a:off x="676656" y="2935224"/>
            <a:ext cx="292608" cy="292608"/>
          </a:xfrm>
          <a:prstGeom prst="ellipse">
            <a:avLst/>
          </a:prstGeom>
          <a:solidFill>
            <a:srgbClr val="1E7A46"/>
          </a:solidFill>
          <a:ln w="12700">
            <a:solidFill>
              <a:srgbClr val="1E7A46"/>
            </a:solidFill>
            <a:prstDash val="solid"/>
          </a:ln>
        </p:spPr>
        <p:txBody>
          <a:bodyPr/>
          <a:lstStyle/>
          <a:p>
            <a:endParaRPr lang="es-CO"/>
          </a:p>
        </p:txBody>
      </p:sp>
      <p:sp>
        <p:nvSpPr>
          <p:cNvPr id="13" name="Text 11"/>
          <p:cNvSpPr/>
          <p:nvPr/>
        </p:nvSpPr>
        <p:spPr>
          <a:xfrm>
            <a:off x="676656" y="2935224"/>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B</a:t>
            </a:r>
            <a:endParaRPr lang="en-US" dirty="0"/>
          </a:p>
        </p:txBody>
      </p:sp>
      <p:sp>
        <p:nvSpPr>
          <p:cNvPr id="14" name="Text 12"/>
          <p:cNvSpPr/>
          <p:nvPr/>
        </p:nvSpPr>
        <p:spPr>
          <a:xfrm>
            <a:off x="1097280" y="2852928"/>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Explore practical solutions, insurance (CBHI), family support, and a clear plan, and agree a point of contact</a:t>
            </a:r>
            <a:endParaRPr lang="en-US" dirty="0"/>
          </a:p>
        </p:txBody>
      </p:sp>
      <p:sp>
        <p:nvSpPr>
          <p:cNvPr id="15" name="Shape 13"/>
          <p:cNvSpPr/>
          <p:nvPr/>
        </p:nvSpPr>
        <p:spPr>
          <a:xfrm>
            <a:off x="566928" y="3438144"/>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16" name="Shape 14"/>
          <p:cNvSpPr/>
          <p:nvPr/>
        </p:nvSpPr>
        <p:spPr>
          <a:xfrm>
            <a:off x="676656" y="3520440"/>
            <a:ext cx="292608" cy="292608"/>
          </a:xfrm>
          <a:prstGeom prst="ellipse">
            <a:avLst/>
          </a:prstGeom>
          <a:solidFill>
            <a:srgbClr val="1A6FB0"/>
          </a:solidFill>
          <a:ln w="12700">
            <a:solidFill>
              <a:srgbClr val="1A6FB0"/>
            </a:solidFill>
            <a:prstDash val="solid"/>
          </a:ln>
        </p:spPr>
        <p:txBody>
          <a:bodyPr/>
          <a:lstStyle/>
          <a:p>
            <a:endParaRPr lang="es-CO"/>
          </a:p>
        </p:txBody>
      </p:sp>
      <p:sp>
        <p:nvSpPr>
          <p:cNvPr id="17" name="Text 15"/>
          <p:cNvSpPr/>
          <p:nvPr/>
        </p:nvSpPr>
        <p:spPr>
          <a:xfrm>
            <a:off x="676656" y="3520440"/>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C</a:t>
            </a:r>
            <a:endParaRPr lang="en-US" dirty="0"/>
          </a:p>
        </p:txBody>
      </p:sp>
      <p:sp>
        <p:nvSpPr>
          <p:cNvPr id="18" name="Text 16"/>
          <p:cNvSpPr/>
          <p:nvPr/>
        </p:nvSpPr>
        <p:spPr>
          <a:xfrm>
            <a:off x="1097280" y="3438144"/>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Advise him to stop treatment to save money</a:t>
            </a:r>
            <a:endParaRPr lang="en-US" dirty="0"/>
          </a:p>
        </p:txBody>
      </p:sp>
      <p:sp>
        <p:nvSpPr>
          <p:cNvPr id="19" name="Shape 17"/>
          <p:cNvSpPr/>
          <p:nvPr/>
        </p:nvSpPr>
        <p:spPr>
          <a:xfrm>
            <a:off x="566928" y="4023360"/>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76656" y="4105656"/>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76656" y="4105656"/>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D</a:t>
            </a:r>
            <a:endParaRPr lang="en-US" dirty="0"/>
          </a:p>
        </p:txBody>
      </p:sp>
      <p:sp>
        <p:nvSpPr>
          <p:cNvPr id="22" name="Text 20"/>
          <p:cNvSpPr/>
          <p:nvPr/>
        </p:nvSpPr>
        <p:spPr>
          <a:xfrm>
            <a:off x="1097280" y="4023360"/>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Ignore it; it is not a clinical issue</a:t>
            </a:r>
            <a:endParaRPr lang="en-US" dirty="0"/>
          </a:p>
        </p:txBody>
      </p:sp>
      <p:sp>
        <p:nvSpPr>
          <p:cNvPr id="23" name="Shape 21"/>
          <p:cNvSpPr/>
          <p:nvPr/>
        </p:nvSpPr>
        <p:spPr>
          <a:xfrm>
            <a:off x="566928" y="4663440"/>
            <a:ext cx="11055096" cy="1719072"/>
          </a:xfrm>
          <a:prstGeom prst="roundRect">
            <a:avLst>
              <a:gd name="adj" fmla="val 2660"/>
            </a:avLst>
          </a:prstGeom>
          <a:solidFill>
            <a:srgbClr val="E7F4EC"/>
          </a:solidFill>
          <a:ln w="12700">
            <a:solidFill>
              <a:srgbClr val="BFE3CD"/>
            </a:solidFill>
            <a:prstDash val="solid"/>
          </a:ln>
        </p:spPr>
        <p:txBody>
          <a:bodyPr/>
          <a:lstStyle/>
          <a:p>
            <a:endParaRPr lang="es-CO"/>
          </a:p>
        </p:txBody>
      </p:sp>
      <p:sp>
        <p:nvSpPr>
          <p:cNvPr id="24" name="Text 22"/>
          <p:cNvSpPr/>
          <p:nvPr/>
        </p:nvSpPr>
        <p:spPr>
          <a:xfrm>
            <a:off x="749808" y="4754880"/>
            <a:ext cx="10689336" cy="153619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Practical barriers cause men to abandon care. Helping him problem-solve transport, cost and support, and giving a named contact, keeps him engaged. This is part of your clinical role.</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3 · HIGHLIGHTS</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Session 3 key points</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3.10</a:t>
            </a:r>
            <a:endParaRPr lang="en-US" sz="900" dirty="0"/>
          </a:p>
        </p:txBody>
      </p:sp>
      <p:sp>
        <p:nvSpPr>
          <p:cNvPr id="6" name="Shape 4"/>
          <p:cNvSpPr/>
          <p:nvPr/>
        </p:nvSpPr>
        <p:spPr>
          <a:xfrm>
            <a:off x="566928" y="1481328"/>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7" name="Shape 5"/>
          <p:cNvSpPr/>
          <p:nvPr/>
        </p:nvSpPr>
        <p:spPr>
          <a:xfrm>
            <a:off x="713232" y="2029968"/>
            <a:ext cx="365760" cy="365760"/>
          </a:xfrm>
          <a:prstGeom prst="ellipse">
            <a:avLst/>
          </a:prstGeom>
          <a:solidFill>
            <a:srgbClr val="1A6FB0"/>
          </a:solidFill>
          <a:ln w="12700">
            <a:solidFill>
              <a:srgbClr val="1A6FB0"/>
            </a:solidFill>
            <a:prstDash val="solid"/>
          </a:ln>
        </p:spPr>
        <p:txBody>
          <a:bodyPr/>
          <a:lstStyle/>
          <a:p>
            <a:endParaRPr lang="es-CO"/>
          </a:p>
        </p:txBody>
      </p:sp>
      <p:sp>
        <p:nvSpPr>
          <p:cNvPr id="8" name="Text 6"/>
          <p:cNvSpPr/>
          <p:nvPr/>
        </p:nvSpPr>
        <p:spPr>
          <a:xfrm>
            <a:off x="713232" y="2029968"/>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9" name="Text 7"/>
          <p:cNvSpPr/>
          <p:nvPr/>
        </p:nvSpPr>
        <p:spPr>
          <a:xfrm>
            <a:off x="1207008" y="1481328"/>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Pathway: health centre → district hospital → cancer referral centre.</a:t>
            </a:r>
            <a:endParaRPr lang="en-US" dirty="0"/>
          </a:p>
        </p:txBody>
      </p:sp>
      <p:sp>
        <p:nvSpPr>
          <p:cNvPr id="10" name="Shape 8"/>
          <p:cNvSpPr/>
          <p:nvPr/>
        </p:nvSpPr>
        <p:spPr>
          <a:xfrm>
            <a:off x="6222492" y="1481328"/>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11" name="Shape 9"/>
          <p:cNvSpPr/>
          <p:nvPr/>
        </p:nvSpPr>
        <p:spPr>
          <a:xfrm>
            <a:off x="6368796" y="2029968"/>
            <a:ext cx="365760" cy="365760"/>
          </a:xfrm>
          <a:prstGeom prst="ellipse">
            <a:avLst/>
          </a:prstGeom>
          <a:solidFill>
            <a:srgbClr val="1A6FB0"/>
          </a:solidFill>
          <a:ln w="12700">
            <a:solidFill>
              <a:srgbClr val="1A6FB0"/>
            </a:solidFill>
            <a:prstDash val="solid"/>
          </a:ln>
        </p:spPr>
        <p:txBody>
          <a:bodyPr/>
          <a:lstStyle/>
          <a:p>
            <a:endParaRPr lang="es-CO"/>
          </a:p>
        </p:txBody>
      </p:sp>
      <p:sp>
        <p:nvSpPr>
          <p:cNvPr id="12" name="Text 10"/>
          <p:cNvSpPr/>
          <p:nvPr/>
        </p:nvSpPr>
        <p:spPr>
          <a:xfrm>
            <a:off x="6368796" y="2029968"/>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3" name="Text 11"/>
          <p:cNvSpPr/>
          <p:nvPr/>
        </p:nvSpPr>
        <p:spPr>
          <a:xfrm>
            <a:off x="6862572" y="1481328"/>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Before referring: assess, document, manage safely, explain, and safety-net.</a:t>
            </a:r>
            <a:endParaRPr lang="en-US" dirty="0"/>
          </a:p>
        </p:txBody>
      </p:sp>
      <p:sp>
        <p:nvSpPr>
          <p:cNvPr id="14" name="Shape 12"/>
          <p:cNvSpPr/>
          <p:nvPr/>
        </p:nvSpPr>
        <p:spPr>
          <a:xfrm>
            <a:off x="566928" y="3200400"/>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15" name="Shape 13"/>
          <p:cNvSpPr/>
          <p:nvPr/>
        </p:nvSpPr>
        <p:spPr>
          <a:xfrm>
            <a:off x="713232" y="3749040"/>
            <a:ext cx="365760" cy="365760"/>
          </a:xfrm>
          <a:prstGeom prst="ellipse">
            <a:avLst/>
          </a:prstGeom>
          <a:solidFill>
            <a:srgbClr val="1A6FB0"/>
          </a:solidFill>
          <a:ln w="12700">
            <a:solidFill>
              <a:srgbClr val="1A6FB0"/>
            </a:solidFill>
            <a:prstDash val="solid"/>
          </a:ln>
        </p:spPr>
        <p:txBody>
          <a:bodyPr/>
          <a:lstStyle/>
          <a:p>
            <a:endParaRPr lang="es-CO"/>
          </a:p>
        </p:txBody>
      </p:sp>
      <p:sp>
        <p:nvSpPr>
          <p:cNvPr id="16" name="Text 14"/>
          <p:cNvSpPr/>
          <p:nvPr/>
        </p:nvSpPr>
        <p:spPr>
          <a:xfrm>
            <a:off x="713232" y="3749040"/>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17" name="Text 15"/>
          <p:cNvSpPr/>
          <p:nvPr/>
        </p:nvSpPr>
        <p:spPr>
          <a:xfrm>
            <a:off x="1207008" y="3200400"/>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Know urgent (same-day) vs routine referrals.</a:t>
            </a:r>
            <a:endParaRPr lang="en-US" dirty="0"/>
          </a:p>
        </p:txBody>
      </p:sp>
      <p:sp>
        <p:nvSpPr>
          <p:cNvPr id="18" name="Shape 16"/>
          <p:cNvSpPr/>
          <p:nvPr/>
        </p:nvSpPr>
        <p:spPr>
          <a:xfrm>
            <a:off x="6222492" y="3200400"/>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19" name="Shape 17"/>
          <p:cNvSpPr/>
          <p:nvPr/>
        </p:nvSpPr>
        <p:spPr>
          <a:xfrm>
            <a:off x="6368796" y="3749040"/>
            <a:ext cx="365760" cy="365760"/>
          </a:xfrm>
          <a:prstGeom prst="ellipse">
            <a:avLst/>
          </a:prstGeom>
          <a:solidFill>
            <a:srgbClr val="1A6FB0"/>
          </a:solidFill>
          <a:ln w="12700">
            <a:solidFill>
              <a:srgbClr val="1A6FB0"/>
            </a:solidFill>
            <a:prstDash val="solid"/>
          </a:ln>
        </p:spPr>
        <p:txBody>
          <a:bodyPr/>
          <a:lstStyle/>
          <a:p>
            <a:endParaRPr lang="es-CO"/>
          </a:p>
        </p:txBody>
      </p:sp>
      <p:sp>
        <p:nvSpPr>
          <p:cNvPr id="20" name="Text 18"/>
          <p:cNvSpPr/>
          <p:nvPr/>
        </p:nvSpPr>
        <p:spPr>
          <a:xfrm>
            <a:off x="6368796" y="3749040"/>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21" name="Text 19"/>
          <p:cNvSpPr/>
          <p:nvPr/>
        </p:nvSpPr>
        <p:spPr>
          <a:xfrm>
            <a:off x="6862572" y="3200400"/>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Break difficult news simply: ask first, give small chunks, respond to emotion.</a:t>
            </a:r>
            <a:endParaRPr lang="en-US" dirty="0"/>
          </a:p>
        </p:txBody>
      </p:sp>
      <p:sp>
        <p:nvSpPr>
          <p:cNvPr id="22" name="Shape 20"/>
          <p:cNvSpPr/>
          <p:nvPr/>
        </p:nvSpPr>
        <p:spPr>
          <a:xfrm>
            <a:off x="566928" y="4919472"/>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23" name="Shape 21"/>
          <p:cNvSpPr/>
          <p:nvPr/>
        </p:nvSpPr>
        <p:spPr>
          <a:xfrm>
            <a:off x="713232" y="5468112"/>
            <a:ext cx="365760" cy="365760"/>
          </a:xfrm>
          <a:prstGeom prst="ellipse">
            <a:avLst/>
          </a:prstGeom>
          <a:solidFill>
            <a:srgbClr val="1A6FB0"/>
          </a:solidFill>
          <a:ln w="12700">
            <a:solidFill>
              <a:srgbClr val="1A6FB0"/>
            </a:solidFill>
            <a:prstDash val="solid"/>
          </a:ln>
        </p:spPr>
        <p:txBody>
          <a:bodyPr/>
          <a:lstStyle/>
          <a:p>
            <a:endParaRPr lang="es-CO"/>
          </a:p>
        </p:txBody>
      </p:sp>
      <p:sp>
        <p:nvSpPr>
          <p:cNvPr id="24" name="Text 22"/>
          <p:cNvSpPr/>
          <p:nvPr/>
        </p:nvSpPr>
        <p:spPr>
          <a:xfrm>
            <a:off x="713232" y="5468112"/>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5</a:t>
            </a:r>
            <a:endParaRPr lang="en-US" dirty="0"/>
          </a:p>
        </p:txBody>
      </p:sp>
      <p:sp>
        <p:nvSpPr>
          <p:cNvPr id="25" name="Text 23"/>
          <p:cNvSpPr/>
          <p:nvPr/>
        </p:nvSpPr>
        <p:spPr>
          <a:xfrm>
            <a:off x="1207008" y="4919472"/>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Be honest but kind, offer realistic hope, never false reassurance or blame.</a:t>
            </a:r>
            <a:endParaRPr lang="en-US" dirty="0"/>
          </a:p>
        </p:txBody>
      </p:sp>
      <p:sp>
        <p:nvSpPr>
          <p:cNvPr id="26" name="Shape 24"/>
          <p:cNvSpPr/>
          <p:nvPr/>
        </p:nvSpPr>
        <p:spPr>
          <a:xfrm>
            <a:off x="6222492" y="4919472"/>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27" name="Shape 25"/>
          <p:cNvSpPr/>
          <p:nvPr/>
        </p:nvSpPr>
        <p:spPr>
          <a:xfrm>
            <a:off x="6368796" y="5468112"/>
            <a:ext cx="365760" cy="365760"/>
          </a:xfrm>
          <a:prstGeom prst="ellipse">
            <a:avLst/>
          </a:prstGeom>
          <a:solidFill>
            <a:srgbClr val="1A6FB0"/>
          </a:solidFill>
          <a:ln w="12700">
            <a:solidFill>
              <a:srgbClr val="1A6FB0"/>
            </a:solidFill>
            <a:prstDash val="solid"/>
          </a:ln>
        </p:spPr>
        <p:txBody>
          <a:bodyPr/>
          <a:lstStyle/>
          <a:p>
            <a:endParaRPr lang="es-CO"/>
          </a:p>
        </p:txBody>
      </p:sp>
      <p:sp>
        <p:nvSpPr>
          <p:cNvPr id="28" name="Text 26"/>
          <p:cNvSpPr/>
          <p:nvPr/>
        </p:nvSpPr>
        <p:spPr>
          <a:xfrm>
            <a:off x="6368796" y="5468112"/>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6</a:t>
            </a:r>
            <a:endParaRPr lang="en-US" dirty="0"/>
          </a:p>
        </p:txBody>
      </p:sp>
      <p:sp>
        <p:nvSpPr>
          <p:cNvPr id="29" name="Text 27"/>
          <p:cNvSpPr/>
          <p:nvPr/>
        </p:nvSpPr>
        <p:spPr>
          <a:xfrm>
            <a:off x="6862572" y="4919472"/>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Address fear, stigma, family and practical barriers so men stay in care.</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3 · KNOWLEDGE CHECK</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Knowledge Check</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3.11</a:t>
            </a:r>
            <a:endParaRPr lang="en-US" sz="900" dirty="0"/>
          </a:p>
        </p:txBody>
      </p:sp>
      <p:sp>
        <p:nvSpPr>
          <p:cNvPr id="6" name="Text 4"/>
          <p:cNvSpPr/>
          <p:nvPr/>
        </p:nvSpPr>
        <p:spPr>
          <a:xfrm>
            <a:off x="568452" y="1024128"/>
            <a:ext cx="11055096" cy="310896"/>
          </a:xfrm>
          <a:prstGeom prst="rect">
            <a:avLst/>
          </a:prstGeom>
          <a:noFill/>
          <a:ln/>
        </p:spPr>
        <p:txBody>
          <a:bodyPr wrap="square" lIns="0" tIns="0" rIns="0" bIns="0" rtlCol="0" anchor="t"/>
          <a:lstStyle/>
          <a:p>
            <a:pPr marL="0" indent="0">
              <a:buNone/>
            </a:pPr>
            <a:r>
              <a:rPr lang="en-US" i="1" dirty="0">
                <a:solidFill>
                  <a:srgbClr val="1A6FB0"/>
                </a:solidFill>
                <a:latin typeface="Calibri" pitchFamily="34" charset="0"/>
                <a:ea typeface="Calibri" pitchFamily="34" charset="-122"/>
                <a:cs typeface="Calibri" pitchFamily="34" charset="-120"/>
              </a:rPr>
              <a:t>Five questions. Each shows every option, the correct answer, and why.</a:t>
            </a:r>
            <a:endParaRPr lang="en-US" dirty="0"/>
          </a:p>
        </p:txBody>
      </p:sp>
      <p:sp>
        <p:nvSpPr>
          <p:cNvPr id="7" name="Shape 5"/>
          <p:cNvSpPr/>
          <p:nvPr/>
        </p:nvSpPr>
        <p:spPr>
          <a:xfrm>
            <a:off x="568452" y="1408175"/>
            <a:ext cx="11055096" cy="886199"/>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96468" y="1517904"/>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96468" y="1517904"/>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10" name="Text 8"/>
          <p:cNvSpPr/>
          <p:nvPr/>
        </p:nvSpPr>
        <p:spPr>
          <a:xfrm>
            <a:off x="1117092" y="1481328"/>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First point of contact in the pathway is usually:</a:t>
            </a:r>
            <a:endParaRPr lang="en-US" dirty="0"/>
          </a:p>
        </p:txBody>
      </p:sp>
      <p:sp>
        <p:nvSpPr>
          <p:cNvPr id="11" name="Text 9"/>
          <p:cNvSpPr/>
          <p:nvPr/>
        </p:nvSpPr>
        <p:spPr>
          <a:xfrm>
            <a:off x="1117092" y="1746504"/>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The cancer referral centre     B. The community or health centre     C. A private pharmacy     D. The national hospital only</a:t>
            </a:r>
            <a:endParaRPr lang="en-US" dirty="0"/>
          </a:p>
        </p:txBody>
      </p:sp>
      <p:sp>
        <p:nvSpPr>
          <p:cNvPr id="12" name="Text 10"/>
          <p:cNvSpPr/>
          <p:nvPr/>
        </p:nvSpPr>
        <p:spPr>
          <a:xfrm>
            <a:off x="2720340" y="2024482"/>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The community or health centre, where you recognise, assess and refer.</a:t>
            </a:r>
            <a:endParaRPr lang="en-US" dirty="0"/>
          </a:p>
        </p:txBody>
      </p:sp>
      <p:sp>
        <p:nvSpPr>
          <p:cNvPr id="13" name="Shape 11"/>
          <p:cNvSpPr/>
          <p:nvPr/>
        </p:nvSpPr>
        <p:spPr>
          <a:xfrm>
            <a:off x="568452" y="2335378"/>
            <a:ext cx="11055096" cy="914400"/>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14" name="Shape 12"/>
          <p:cNvSpPr/>
          <p:nvPr/>
        </p:nvSpPr>
        <p:spPr>
          <a:xfrm>
            <a:off x="696468" y="2445106"/>
            <a:ext cx="292608" cy="292608"/>
          </a:xfrm>
          <a:prstGeom prst="ellipse">
            <a:avLst/>
          </a:prstGeom>
          <a:solidFill>
            <a:srgbClr val="1A6FB0"/>
          </a:solidFill>
          <a:ln w="12700">
            <a:solidFill>
              <a:srgbClr val="1A6FB0"/>
            </a:solidFill>
            <a:prstDash val="solid"/>
          </a:ln>
        </p:spPr>
        <p:txBody>
          <a:bodyPr/>
          <a:lstStyle/>
          <a:p>
            <a:endParaRPr lang="es-CO"/>
          </a:p>
        </p:txBody>
      </p:sp>
      <p:sp>
        <p:nvSpPr>
          <p:cNvPr id="15" name="Text 13"/>
          <p:cNvSpPr/>
          <p:nvPr/>
        </p:nvSpPr>
        <p:spPr>
          <a:xfrm>
            <a:off x="696468" y="2445106"/>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6" name="Text 14"/>
          <p:cNvSpPr/>
          <p:nvPr/>
        </p:nvSpPr>
        <p:spPr>
          <a:xfrm>
            <a:off x="1117092" y="2408530"/>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Before referring, you should:</a:t>
            </a:r>
            <a:endParaRPr lang="en-US" dirty="0"/>
          </a:p>
        </p:txBody>
      </p:sp>
      <p:sp>
        <p:nvSpPr>
          <p:cNvPr id="17" name="Text 15"/>
          <p:cNvSpPr/>
          <p:nvPr/>
        </p:nvSpPr>
        <p:spPr>
          <a:xfrm>
            <a:off x="1117092" y="2673706"/>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Nothing, just send him     B. Only take his phone number     C. Assess, document the reason, explain and safety-net     D. Start cancer treatment</a:t>
            </a:r>
            <a:endParaRPr lang="en-US" dirty="0"/>
          </a:p>
        </p:txBody>
      </p:sp>
      <p:sp>
        <p:nvSpPr>
          <p:cNvPr id="18" name="Text 16"/>
          <p:cNvSpPr/>
          <p:nvPr/>
        </p:nvSpPr>
        <p:spPr>
          <a:xfrm>
            <a:off x="4846882" y="2988741"/>
            <a:ext cx="10323576" cy="256032"/>
          </a:xfrm>
          <a:prstGeom prst="rect">
            <a:avLst/>
          </a:prstGeom>
          <a:noFill/>
          <a:ln/>
        </p:spPr>
        <p:txBody>
          <a:bodyPr wrap="square" lIns="0" tIns="0" rIns="0" bIns="0" rtlCol="0" anchor="t"/>
          <a:lstStyle/>
          <a:p>
            <a:pPr marL="0" indent="0">
              <a:buNone/>
            </a:pPr>
            <a:r>
              <a:rPr lang="en-US" sz="1400" b="1" dirty="0">
                <a:solidFill>
                  <a:srgbClr val="1E7A46"/>
                </a:solidFill>
                <a:latin typeface="Calibri" pitchFamily="34" charset="0"/>
                <a:ea typeface="Calibri" pitchFamily="34" charset="-122"/>
                <a:cs typeface="Calibri" pitchFamily="34" charset="-120"/>
              </a:rPr>
              <a:t>✅ Correct: C.  </a:t>
            </a:r>
            <a:r>
              <a:rPr lang="en-US" sz="1400" dirty="0">
                <a:solidFill>
                  <a:srgbClr val="223240"/>
                </a:solidFill>
                <a:latin typeface="Calibri" pitchFamily="34" charset="0"/>
                <a:ea typeface="Calibri" pitchFamily="34" charset="-122"/>
                <a:cs typeface="Calibri" pitchFamily="34" charset="-120"/>
              </a:rPr>
              <a:t>Assess, document the reason, manage safely, explain and safety-net.</a:t>
            </a:r>
            <a:endParaRPr lang="en-US" sz="1400" dirty="0"/>
          </a:p>
        </p:txBody>
      </p:sp>
      <p:sp>
        <p:nvSpPr>
          <p:cNvPr id="19" name="Shape 17"/>
          <p:cNvSpPr/>
          <p:nvPr/>
        </p:nvSpPr>
        <p:spPr>
          <a:xfrm>
            <a:off x="568452" y="3281541"/>
            <a:ext cx="11055096" cy="1017684"/>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96468" y="3372307"/>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96468" y="3372307"/>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22" name="Text 20"/>
          <p:cNvSpPr/>
          <p:nvPr/>
        </p:nvSpPr>
        <p:spPr>
          <a:xfrm>
            <a:off x="1117092" y="3335731"/>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A man with new leg weakness and back pain should be referred:</a:t>
            </a:r>
            <a:endParaRPr lang="en-US" dirty="0"/>
          </a:p>
        </p:txBody>
      </p:sp>
      <p:sp>
        <p:nvSpPr>
          <p:cNvPr id="23" name="Text 21"/>
          <p:cNvSpPr/>
          <p:nvPr/>
        </p:nvSpPr>
        <p:spPr>
          <a:xfrm>
            <a:off x="1117092" y="3612939"/>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In a few months     B. At the next routine clinic     C. Urgently, the same day     D. Only if the pain worsens</a:t>
            </a:r>
            <a:endParaRPr lang="en-US" dirty="0"/>
          </a:p>
        </p:txBody>
      </p:sp>
      <p:sp>
        <p:nvSpPr>
          <p:cNvPr id="24" name="Text 22"/>
          <p:cNvSpPr/>
          <p:nvPr/>
        </p:nvSpPr>
        <p:spPr>
          <a:xfrm>
            <a:off x="1151342" y="3953816"/>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C.  </a:t>
            </a:r>
            <a:r>
              <a:rPr lang="en-US" dirty="0">
                <a:solidFill>
                  <a:srgbClr val="223240"/>
                </a:solidFill>
                <a:latin typeface="Calibri" pitchFamily="34" charset="0"/>
                <a:ea typeface="Calibri" pitchFamily="34" charset="-122"/>
                <a:cs typeface="Calibri" pitchFamily="34" charset="-120"/>
              </a:rPr>
              <a:t>Urgently, the same day; this may be cord compression.</a:t>
            </a:r>
            <a:endParaRPr lang="en-US" dirty="0"/>
          </a:p>
        </p:txBody>
      </p:sp>
      <p:sp>
        <p:nvSpPr>
          <p:cNvPr id="25" name="Shape 23"/>
          <p:cNvSpPr/>
          <p:nvPr/>
        </p:nvSpPr>
        <p:spPr>
          <a:xfrm>
            <a:off x="568452" y="4358228"/>
            <a:ext cx="11055096" cy="1087939"/>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26" name="Shape 24"/>
          <p:cNvSpPr/>
          <p:nvPr/>
        </p:nvSpPr>
        <p:spPr>
          <a:xfrm>
            <a:off x="696468" y="4467957"/>
            <a:ext cx="292608" cy="292608"/>
          </a:xfrm>
          <a:prstGeom prst="ellipse">
            <a:avLst/>
          </a:prstGeom>
          <a:solidFill>
            <a:srgbClr val="1A6FB0"/>
          </a:solidFill>
          <a:ln w="12700">
            <a:solidFill>
              <a:srgbClr val="1A6FB0"/>
            </a:solidFill>
            <a:prstDash val="solid"/>
          </a:ln>
        </p:spPr>
        <p:txBody>
          <a:bodyPr/>
          <a:lstStyle/>
          <a:p>
            <a:endParaRPr lang="es-CO"/>
          </a:p>
        </p:txBody>
      </p:sp>
      <p:sp>
        <p:nvSpPr>
          <p:cNvPr id="27" name="Text 25"/>
          <p:cNvSpPr/>
          <p:nvPr/>
        </p:nvSpPr>
        <p:spPr>
          <a:xfrm>
            <a:off x="696468" y="4467957"/>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28" name="Text 26"/>
          <p:cNvSpPr/>
          <p:nvPr/>
        </p:nvSpPr>
        <p:spPr>
          <a:xfrm>
            <a:off x="1117092" y="4431381"/>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Best way to break difficult news:</a:t>
            </a:r>
            <a:endParaRPr lang="en-US" dirty="0"/>
          </a:p>
        </p:txBody>
      </p:sp>
      <p:sp>
        <p:nvSpPr>
          <p:cNvPr id="29" name="Text 27"/>
          <p:cNvSpPr/>
          <p:nvPr/>
        </p:nvSpPr>
        <p:spPr>
          <a:xfrm>
            <a:off x="1117092" y="4696557"/>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Avoid the word cancer     B. Ask what he knows, give small chunks in plain words, respond to emotion     C. Give every detail at once     D. Let a relative tell him later</a:t>
            </a:r>
            <a:endParaRPr lang="en-US" dirty="0"/>
          </a:p>
        </p:txBody>
      </p:sp>
      <p:sp>
        <p:nvSpPr>
          <p:cNvPr id="30" name="Text 28"/>
          <p:cNvSpPr/>
          <p:nvPr/>
        </p:nvSpPr>
        <p:spPr>
          <a:xfrm>
            <a:off x="4630313" y="5226807"/>
            <a:ext cx="10323576" cy="256032"/>
          </a:xfrm>
          <a:prstGeom prst="rect">
            <a:avLst/>
          </a:prstGeom>
          <a:noFill/>
          <a:ln/>
        </p:spPr>
        <p:txBody>
          <a:bodyPr wrap="square" lIns="0" tIns="0" rIns="0" bIns="0" rtlCol="0" anchor="t"/>
          <a:lstStyle/>
          <a:p>
            <a:pPr marL="0" indent="0">
              <a:buNone/>
            </a:pPr>
            <a:r>
              <a:rPr lang="en-US" sz="1400" b="1" dirty="0">
                <a:solidFill>
                  <a:srgbClr val="1E7A46"/>
                </a:solidFill>
                <a:latin typeface="Calibri" pitchFamily="34" charset="0"/>
                <a:ea typeface="Calibri" pitchFamily="34" charset="-122"/>
                <a:cs typeface="Calibri" pitchFamily="34" charset="-120"/>
              </a:rPr>
              <a:t>✅ Correct: B.  </a:t>
            </a:r>
            <a:r>
              <a:rPr lang="en-US" sz="1400" dirty="0">
                <a:solidFill>
                  <a:srgbClr val="223240"/>
                </a:solidFill>
                <a:latin typeface="Calibri" pitchFamily="34" charset="0"/>
                <a:ea typeface="Calibri" pitchFamily="34" charset="-122"/>
                <a:cs typeface="Calibri" pitchFamily="34" charset="-120"/>
              </a:rPr>
              <a:t>Ask what he knows, give small chunks in plain words, and respond to emotion.</a:t>
            </a:r>
            <a:endParaRPr lang="en-US" sz="1400" dirty="0"/>
          </a:p>
        </p:txBody>
      </p:sp>
      <p:sp>
        <p:nvSpPr>
          <p:cNvPr id="31" name="Shape 29"/>
          <p:cNvSpPr/>
          <p:nvPr/>
        </p:nvSpPr>
        <p:spPr>
          <a:xfrm>
            <a:off x="568452" y="5477930"/>
            <a:ext cx="11055096" cy="1014310"/>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32" name="Shape 30"/>
          <p:cNvSpPr/>
          <p:nvPr/>
        </p:nvSpPr>
        <p:spPr>
          <a:xfrm>
            <a:off x="696468" y="5587658"/>
            <a:ext cx="292608" cy="292608"/>
          </a:xfrm>
          <a:prstGeom prst="ellipse">
            <a:avLst/>
          </a:prstGeom>
          <a:solidFill>
            <a:srgbClr val="1A6FB0"/>
          </a:solidFill>
          <a:ln w="12700">
            <a:solidFill>
              <a:srgbClr val="1A6FB0"/>
            </a:solidFill>
            <a:prstDash val="solid"/>
          </a:ln>
        </p:spPr>
        <p:txBody>
          <a:bodyPr/>
          <a:lstStyle/>
          <a:p>
            <a:endParaRPr lang="es-CO"/>
          </a:p>
        </p:txBody>
      </p:sp>
      <p:sp>
        <p:nvSpPr>
          <p:cNvPr id="33" name="Text 31"/>
          <p:cNvSpPr/>
          <p:nvPr/>
        </p:nvSpPr>
        <p:spPr>
          <a:xfrm>
            <a:off x="696468" y="5587658"/>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5</a:t>
            </a:r>
            <a:endParaRPr lang="en-US" dirty="0"/>
          </a:p>
        </p:txBody>
      </p:sp>
      <p:sp>
        <p:nvSpPr>
          <p:cNvPr id="34" name="Text 32"/>
          <p:cNvSpPr/>
          <p:nvPr/>
        </p:nvSpPr>
        <p:spPr>
          <a:xfrm>
            <a:off x="1117092" y="5551082"/>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A man worried about transport cost should be:</a:t>
            </a:r>
            <a:endParaRPr lang="en-US" dirty="0"/>
          </a:p>
        </p:txBody>
      </p:sp>
      <p:sp>
        <p:nvSpPr>
          <p:cNvPr id="35" name="Text 33"/>
          <p:cNvSpPr/>
          <p:nvPr/>
        </p:nvSpPr>
        <p:spPr>
          <a:xfrm>
            <a:off x="1117092" y="5816258"/>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Told to manage alone     B. Helped to problem-solve (CBHI, family, a contact)     C. Removed from follow-up     D. Asked to pay upfront</a:t>
            </a:r>
            <a:endParaRPr lang="en-US" dirty="0"/>
          </a:p>
        </p:txBody>
      </p:sp>
      <p:sp>
        <p:nvSpPr>
          <p:cNvPr id="36" name="Text 34"/>
          <p:cNvSpPr/>
          <p:nvPr/>
        </p:nvSpPr>
        <p:spPr>
          <a:xfrm>
            <a:off x="3932482" y="6177205"/>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Helped to problem-solve so he stays in care.</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56">
    <p:bg>
      <p:bgPr>
        <a:solidFill>
          <a:srgbClr val="1F3A5F"/>
        </a:solidFill>
        <a:effectLst/>
      </p:bgPr>
    </p:bg>
    <p:spTree>
      <p:nvGrpSpPr>
        <p:cNvPr id="1" name=""/>
        <p:cNvGrpSpPr/>
        <p:nvPr/>
      </p:nvGrpSpPr>
      <p:grpSpPr>
        <a:xfrm>
          <a:off x="0" y="0"/>
          <a:ext cx="0" cy="0"/>
          <a:chOff x="0" y="0"/>
          <a:chExt cx="0" cy="0"/>
        </a:xfrm>
      </p:grpSpPr>
      <p:sp>
        <p:nvSpPr>
          <p:cNvPr id="2" name="Text 0"/>
          <p:cNvSpPr/>
          <p:nvPr/>
        </p:nvSpPr>
        <p:spPr>
          <a:xfrm>
            <a:off x="1005840" y="2377440"/>
            <a:ext cx="10058400" cy="365760"/>
          </a:xfrm>
          <a:prstGeom prst="rect">
            <a:avLst/>
          </a:prstGeom>
          <a:noFill/>
          <a:ln/>
        </p:spPr>
        <p:txBody>
          <a:bodyPr wrap="square" lIns="0" tIns="0" rIns="0" bIns="0" rtlCol="0" anchor="ctr"/>
          <a:lstStyle/>
          <a:p>
            <a:pPr marL="0" indent="0">
              <a:buNone/>
            </a:pPr>
            <a:r>
              <a:rPr lang="en-US" sz="1500" b="1" kern="0" spc="300" dirty="0">
                <a:solidFill>
                  <a:srgbClr val="9FC4E4"/>
                </a:solidFill>
                <a:latin typeface="Calibri" pitchFamily="34" charset="0"/>
                <a:ea typeface="Calibri" pitchFamily="34" charset="-122"/>
                <a:cs typeface="Calibri" pitchFamily="34" charset="-120"/>
              </a:rPr>
              <a:t>SESSION 4</a:t>
            </a:r>
            <a:endParaRPr lang="en-US" sz="1500" dirty="0"/>
          </a:p>
        </p:txBody>
      </p:sp>
      <p:sp>
        <p:nvSpPr>
          <p:cNvPr id="3" name="Text 1"/>
          <p:cNvSpPr/>
          <p:nvPr/>
        </p:nvSpPr>
        <p:spPr>
          <a:xfrm>
            <a:off x="1005840" y="2788920"/>
            <a:ext cx="10058400" cy="118872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Diagnosis &amp; Treatment</a:t>
            </a:r>
            <a:endParaRPr lang="en-US" sz="4000" dirty="0"/>
          </a:p>
        </p:txBody>
      </p:sp>
      <p:sp>
        <p:nvSpPr>
          <p:cNvPr id="4" name="Text 2"/>
          <p:cNvSpPr/>
          <p:nvPr/>
        </p:nvSpPr>
        <p:spPr>
          <a:xfrm>
            <a:off x="1024128" y="3977640"/>
            <a:ext cx="9601200" cy="822960"/>
          </a:xfrm>
          <a:prstGeom prst="rect">
            <a:avLst/>
          </a:prstGeom>
          <a:noFill/>
          <a:ln/>
        </p:spPr>
        <p:txBody>
          <a:bodyPr wrap="square" lIns="0" tIns="0" rIns="0" bIns="0" rtlCol="0" anchor="t"/>
          <a:lstStyle/>
          <a:p>
            <a:pPr marL="0" indent="0">
              <a:buNone/>
            </a:pPr>
            <a:r>
              <a:rPr lang="en-US" sz="1500" dirty="0">
                <a:solidFill>
                  <a:srgbClr val="CFE0EF"/>
                </a:solidFill>
                <a:latin typeface="Calibri" pitchFamily="34" charset="0"/>
                <a:ea typeface="Calibri" pitchFamily="34" charset="-122"/>
                <a:cs typeface="Calibri" pitchFamily="34" charset="-120"/>
              </a:rPr>
              <a:t>How the diagnosis is confirmed and what the treatment options mean, at the level you need to explain and support.</a:t>
            </a:r>
            <a:endParaRPr lang="en-US" sz="15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4 · DIAGNOSIS &amp; TREATMENT</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this session gives you</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4.1</a:t>
            </a:r>
            <a:endParaRPr lang="en-US" sz="900" dirty="0"/>
          </a:p>
        </p:txBody>
      </p:sp>
      <p:sp>
        <p:nvSpPr>
          <p:cNvPr id="6" name="Shape 4"/>
          <p:cNvSpPr/>
          <p:nvPr/>
        </p:nvSpPr>
        <p:spPr>
          <a:xfrm>
            <a:off x="566928" y="1481328"/>
            <a:ext cx="11055096" cy="914400"/>
          </a:xfrm>
          <a:prstGeom prst="roundRect">
            <a:avLst>
              <a:gd name="adj" fmla="val 6000"/>
            </a:avLst>
          </a:prstGeom>
          <a:solidFill>
            <a:srgbClr val="EAF1F8"/>
          </a:solidFill>
          <a:ln w="12700">
            <a:solidFill>
              <a:srgbClr val="EAF1F8"/>
            </a:solidFill>
            <a:prstDash val="solid"/>
          </a:ln>
        </p:spPr>
        <p:txBody>
          <a:bodyPr/>
          <a:lstStyle/>
          <a:p>
            <a:endParaRPr lang="es-CO"/>
          </a:p>
        </p:txBody>
      </p:sp>
      <p:sp>
        <p:nvSpPr>
          <p:cNvPr id="7" name="Text 5"/>
          <p:cNvSpPr/>
          <p:nvPr/>
        </p:nvSpPr>
        <p:spPr>
          <a:xfrm>
            <a:off x="731520" y="1572768"/>
            <a:ext cx="10725912" cy="731520"/>
          </a:xfrm>
          <a:prstGeom prst="rect">
            <a:avLst/>
          </a:prstGeom>
          <a:noFill/>
          <a:ln/>
        </p:spPr>
        <p:txBody>
          <a:bodyPr wrap="square" lIns="0" tIns="0" rIns="0" bIns="0" rtlCol="0" anchor="t"/>
          <a:lstStyle/>
          <a:p>
            <a:pPr marL="0" indent="0" algn="l">
              <a:buNone/>
            </a:pPr>
            <a:r>
              <a:rPr lang="en-US" b="1" dirty="0">
                <a:solidFill>
                  <a:srgbClr val="1A6FB0"/>
                </a:solidFill>
                <a:latin typeface="Calibri" pitchFamily="34" charset="0"/>
                <a:ea typeface="Calibri" pitchFamily="34" charset="-122"/>
                <a:cs typeface="Calibri" pitchFamily="34" charset="-120"/>
              </a:rPr>
              <a:t>By the end you will be able to:  </a:t>
            </a:r>
            <a:r>
              <a:rPr lang="en-US" dirty="0">
                <a:solidFill>
                  <a:srgbClr val="223240"/>
                </a:solidFill>
                <a:latin typeface="Calibri" pitchFamily="34" charset="0"/>
                <a:ea typeface="Calibri" pitchFamily="34" charset="-122"/>
                <a:cs typeface="Calibri" pitchFamily="34" charset="-120"/>
              </a:rPr>
              <a:t>explain how prostate cancer is confirmed, describe the main treatment options in plain words, and support a man through a plan that specialists lead.</a:t>
            </a:r>
            <a:endParaRPr lang="en-US" dirty="0"/>
          </a:p>
        </p:txBody>
      </p:sp>
      <p:sp>
        <p:nvSpPr>
          <p:cNvPr id="8" name="Shape 6"/>
          <p:cNvSpPr/>
          <p:nvPr/>
        </p:nvSpPr>
        <p:spPr>
          <a:xfrm>
            <a:off x="566928" y="2624328"/>
            <a:ext cx="11055096" cy="914400"/>
          </a:xfrm>
          <a:prstGeom prst="roundRect">
            <a:avLst>
              <a:gd name="adj" fmla="val 6000"/>
            </a:avLst>
          </a:prstGeom>
          <a:solidFill>
            <a:srgbClr val="E9F1FA"/>
          </a:solidFill>
          <a:ln w="12700">
            <a:solidFill>
              <a:srgbClr val="E9F1FA"/>
            </a:solidFill>
            <a:prstDash val="solid"/>
          </a:ln>
        </p:spPr>
        <p:txBody>
          <a:bodyPr/>
          <a:lstStyle/>
          <a:p>
            <a:endParaRPr lang="es-CO"/>
          </a:p>
        </p:txBody>
      </p:sp>
      <p:sp>
        <p:nvSpPr>
          <p:cNvPr id="9" name="Text 7"/>
          <p:cNvSpPr/>
          <p:nvPr/>
        </p:nvSpPr>
        <p:spPr>
          <a:xfrm>
            <a:off x="731520" y="2715768"/>
            <a:ext cx="10725912" cy="731520"/>
          </a:xfrm>
          <a:prstGeom prst="rect">
            <a:avLst/>
          </a:prstGeom>
          <a:noFill/>
          <a:ln/>
        </p:spPr>
        <p:txBody>
          <a:bodyPr wrap="square" lIns="0" tIns="0" rIns="0" bIns="0" rtlCol="0" anchor="t"/>
          <a:lstStyle/>
          <a:p>
            <a:pPr marL="0" indent="0" algn="l">
              <a:buNone/>
            </a:pPr>
            <a:r>
              <a:rPr lang="en-US" b="1" dirty="0">
                <a:solidFill>
                  <a:srgbClr val="1A6FB0"/>
                </a:solidFill>
                <a:latin typeface="Calibri" pitchFamily="34" charset="0"/>
                <a:ea typeface="Calibri" pitchFamily="34" charset="-122"/>
                <a:cs typeface="Calibri" pitchFamily="34" charset="-120"/>
              </a:rPr>
              <a:t>Your role here:  </a:t>
            </a:r>
            <a:r>
              <a:rPr lang="en-US" dirty="0">
                <a:solidFill>
                  <a:srgbClr val="223240"/>
                </a:solidFill>
                <a:latin typeface="Calibri" pitchFamily="34" charset="0"/>
                <a:ea typeface="Calibri" pitchFamily="34" charset="-122"/>
                <a:cs typeface="Calibri" pitchFamily="34" charset="-120"/>
              </a:rPr>
              <a:t>you do not diagnose or choose treatment. You help the man understand the plan, know the next step, recognise important effects, and continue follow-up.</a:t>
            </a:r>
            <a:endParaRPr lang="en-US" dirty="0"/>
          </a:p>
        </p:txBody>
      </p:sp>
      <p:sp>
        <p:nvSpPr>
          <p:cNvPr id="10" name="Shape 8"/>
          <p:cNvSpPr/>
          <p:nvPr/>
        </p:nvSpPr>
        <p:spPr>
          <a:xfrm>
            <a:off x="566928" y="3767328"/>
            <a:ext cx="11055096" cy="1097280"/>
          </a:xfrm>
          <a:prstGeom prst="roundRect">
            <a:avLst>
              <a:gd name="adj" fmla="val 5000"/>
            </a:avLst>
          </a:prstGeom>
          <a:solidFill>
            <a:srgbClr val="FCF1DE"/>
          </a:solidFill>
          <a:ln w="12700">
            <a:solidFill>
              <a:srgbClr val="FCF1DE"/>
            </a:solidFill>
            <a:prstDash val="solid"/>
          </a:ln>
        </p:spPr>
        <p:txBody>
          <a:bodyPr/>
          <a:lstStyle/>
          <a:p>
            <a:endParaRPr lang="es-CO"/>
          </a:p>
        </p:txBody>
      </p:sp>
      <p:sp>
        <p:nvSpPr>
          <p:cNvPr id="11" name="Text 9"/>
          <p:cNvSpPr/>
          <p:nvPr/>
        </p:nvSpPr>
        <p:spPr>
          <a:xfrm>
            <a:off x="731520" y="3858768"/>
            <a:ext cx="10725912" cy="914400"/>
          </a:xfrm>
          <a:prstGeom prst="rect">
            <a:avLst/>
          </a:prstGeom>
          <a:noFill/>
          <a:ln/>
        </p:spPr>
        <p:txBody>
          <a:bodyPr wrap="square" lIns="0" tIns="0" rIns="0" bIns="0" rtlCol="0" anchor="t"/>
          <a:lstStyle/>
          <a:p>
            <a:pPr marL="0" indent="0" algn="l">
              <a:buNone/>
            </a:pPr>
            <a:r>
              <a:rPr lang="en-US" b="1" dirty="0">
                <a:solidFill>
                  <a:srgbClr val="B26A00"/>
                </a:solidFill>
                <a:latin typeface="Calibri" pitchFamily="34" charset="0"/>
                <a:ea typeface="Calibri" pitchFamily="34" charset="-122"/>
                <a:cs typeface="Calibri" pitchFamily="34" charset="-120"/>
              </a:rPr>
              <a:t>📌  In Rwanda:  </a:t>
            </a:r>
            <a:r>
              <a:rPr lang="en-US" dirty="0">
                <a:solidFill>
                  <a:srgbClr val="223240"/>
                </a:solidFill>
                <a:latin typeface="Calibri" pitchFamily="34" charset="0"/>
                <a:ea typeface="Calibri" pitchFamily="34" charset="-122"/>
                <a:cs typeface="Calibri" pitchFamily="34" charset="-120"/>
              </a:rPr>
              <a:t>not every option is available everywhere, and many men present with advanced disease, so hormone therapy and good supportive care are especially important.</a:t>
            </a:r>
            <a:r>
              <a:rPr lang="en-US" b="1" dirty="0">
                <a:solidFill>
                  <a:srgbClr val="CC0000"/>
                </a:solidFill>
                <a:latin typeface="Calibri" pitchFamily="34" charset="0"/>
                <a:ea typeface="Calibri" pitchFamily="34" charset="-122"/>
                <a:cs typeface="Calibri" pitchFamily="34" charset="-120"/>
              </a:rPr>
              <a:t>  Locally available services to be confirmed by RBC.</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4 · DIAGNOSIS</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How the diagnosis is confirmed</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4.2</a:t>
            </a:r>
            <a:endParaRPr lang="en-US" sz="900" dirty="0"/>
          </a:p>
        </p:txBody>
      </p:sp>
      <p:sp>
        <p:nvSpPr>
          <p:cNvPr id="6" name="Text 4"/>
          <p:cNvSpPr/>
          <p:nvPr/>
        </p:nvSpPr>
        <p:spPr>
          <a:xfrm>
            <a:off x="566928" y="1481328"/>
            <a:ext cx="11055096" cy="310896"/>
          </a:xfrm>
          <a:prstGeom prst="rect">
            <a:avLst/>
          </a:prstGeom>
          <a:noFill/>
          <a:ln/>
        </p:spPr>
        <p:txBody>
          <a:bodyPr wrap="square" lIns="0" tIns="0" rIns="0" bIns="0" rtlCol="0" anchor="t"/>
          <a:lstStyle/>
          <a:p>
            <a:pPr marL="0" indent="0">
              <a:buNone/>
            </a:pPr>
            <a:r>
              <a:rPr lang="en-US" sz="1300" i="1" dirty="0">
                <a:solidFill>
                  <a:srgbClr val="1A6FB0"/>
                </a:solidFill>
                <a:latin typeface="Calibri" pitchFamily="34" charset="0"/>
                <a:ea typeface="Calibri" pitchFamily="34" charset="-122"/>
                <a:cs typeface="Calibri" pitchFamily="34" charset="-120"/>
              </a:rPr>
              <a:t>Steps build up, but only the last one confirms cancer.</a:t>
            </a:r>
            <a:endParaRPr lang="en-US" sz="1300" dirty="0"/>
          </a:p>
        </p:txBody>
      </p:sp>
      <p:sp>
        <p:nvSpPr>
          <p:cNvPr id="7" name="Shape 5"/>
          <p:cNvSpPr/>
          <p:nvPr/>
        </p:nvSpPr>
        <p:spPr>
          <a:xfrm>
            <a:off x="566928" y="1938528"/>
            <a:ext cx="5390388"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8" name="Shape 6"/>
          <p:cNvSpPr/>
          <p:nvPr/>
        </p:nvSpPr>
        <p:spPr>
          <a:xfrm>
            <a:off x="786384" y="2157984"/>
            <a:ext cx="164592" cy="164592"/>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1060704" y="20665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Finger exam (DRE)</a:t>
            </a:r>
            <a:endParaRPr lang="en-US" dirty="0"/>
          </a:p>
        </p:txBody>
      </p:sp>
      <p:sp>
        <p:nvSpPr>
          <p:cNvPr id="10" name="Text 8"/>
          <p:cNvSpPr/>
          <p:nvPr/>
        </p:nvSpPr>
        <p:spPr>
          <a:xfrm>
            <a:off x="786384" y="2487168"/>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Feeling the prostate through the rectum. A hard or lumpy gland raises concern.</a:t>
            </a:r>
            <a:endParaRPr lang="en-US" dirty="0"/>
          </a:p>
        </p:txBody>
      </p:sp>
      <p:sp>
        <p:nvSpPr>
          <p:cNvPr id="11" name="Shape 9"/>
          <p:cNvSpPr/>
          <p:nvPr/>
        </p:nvSpPr>
        <p:spPr>
          <a:xfrm>
            <a:off x="6231636" y="1938528"/>
            <a:ext cx="5390388"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2" name="Shape 10"/>
          <p:cNvSpPr/>
          <p:nvPr/>
        </p:nvSpPr>
        <p:spPr>
          <a:xfrm>
            <a:off x="6451092" y="2157984"/>
            <a:ext cx="164592" cy="164592"/>
          </a:xfrm>
          <a:prstGeom prst="ellipse">
            <a:avLst/>
          </a:prstGeom>
          <a:solidFill>
            <a:srgbClr val="1A6FB0"/>
          </a:solidFill>
          <a:ln w="12700">
            <a:solidFill>
              <a:srgbClr val="1A6FB0"/>
            </a:solidFill>
            <a:prstDash val="solid"/>
          </a:ln>
        </p:spPr>
        <p:txBody>
          <a:bodyPr/>
          <a:lstStyle/>
          <a:p>
            <a:endParaRPr lang="es-CO"/>
          </a:p>
        </p:txBody>
      </p:sp>
      <p:sp>
        <p:nvSpPr>
          <p:cNvPr id="13" name="Text 11"/>
          <p:cNvSpPr/>
          <p:nvPr/>
        </p:nvSpPr>
        <p:spPr>
          <a:xfrm>
            <a:off x="6725412" y="20665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PSA blood test</a:t>
            </a:r>
            <a:endParaRPr lang="en-US" dirty="0"/>
          </a:p>
        </p:txBody>
      </p:sp>
      <p:sp>
        <p:nvSpPr>
          <p:cNvPr id="14" name="Text 12"/>
          <p:cNvSpPr/>
          <p:nvPr/>
        </p:nvSpPr>
        <p:spPr>
          <a:xfrm>
            <a:off x="6451092" y="2487168"/>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 signpost. A raised level prompts further assessment, it does not confirm cancer.</a:t>
            </a:r>
            <a:endParaRPr lang="en-US" dirty="0"/>
          </a:p>
        </p:txBody>
      </p:sp>
      <p:sp>
        <p:nvSpPr>
          <p:cNvPr id="15" name="Shape 13"/>
          <p:cNvSpPr/>
          <p:nvPr/>
        </p:nvSpPr>
        <p:spPr>
          <a:xfrm>
            <a:off x="566928" y="4297680"/>
            <a:ext cx="5390388"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6" name="Shape 14"/>
          <p:cNvSpPr/>
          <p:nvPr/>
        </p:nvSpPr>
        <p:spPr>
          <a:xfrm>
            <a:off x="786384" y="4517136"/>
            <a:ext cx="164592" cy="164592"/>
          </a:xfrm>
          <a:prstGeom prst="ellipse">
            <a:avLst/>
          </a:prstGeom>
          <a:solidFill>
            <a:srgbClr val="1A6FB0"/>
          </a:solidFill>
          <a:ln w="12700">
            <a:solidFill>
              <a:srgbClr val="1A6FB0"/>
            </a:solidFill>
            <a:prstDash val="solid"/>
          </a:ln>
        </p:spPr>
        <p:txBody>
          <a:bodyPr/>
          <a:lstStyle/>
          <a:p>
            <a:endParaRPr lang="es-CO"/>
          </a:p>
        </p:txBody>
      </p:sp>
      <p:sp>
        <p:nvSpPr>
          <p:cNvPr id="17" name="Text 15"/>
          <p:cNvSpPr/>
          <p:nvPr/>
        </p:nvSpPr>
        <p:spPr>
          <a:xfrm>
            <a:off x="1060704" y="4425696"/>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Imaging (scans)</a:t>
            </a:r>
            <a:endParaRPr lang="en-US" dirty="0"/>
          </a:p>
        </p:txBody>
      </p:sp>
      <p:sp>
        <p:nvSpPr>
          <p:cNvPr id="18" name="Text 16"/>
          <p:cNvSpPr/>
          <p:nvPr/>
        </p:nvSpPr>
        <p:spPr>
          <a:xfrm>
            <a:off x="786384" y="4846320"/>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Used to look at the prostate and check whether cancer has spread (e.g. to bone).</a:t>
            </a:r>
            <a:endParaRPr lang="en-US" dirty="0"/>
          </a:p>
        </p:txBody>
      </p:sp>
      <p:sp>
        <p:nvSpPr>
          <p:cNvPr id="19" name="Shape 17"/>
          <p:cNvSpPr/>
          <p:nvPr/>
        </p:nvSpPr>
        <p:spPr>
          <a:xfrm>
            <a:off x="6231636" y="4297680"/>
            <a:ext cx="5390388" cy="2084832"/>
          </a:xfrm>
          <a:prstGeom prst="roundRect">
            <a:avLst>
              <a:gd name="adj" fmla="val 3509"/>
            </a:avLst>
          </a:prstGeom>
          <a:solidFill>
            <a:srgbClr val="FFFFFF"/>
          </a:solidFill>
          <a:ln w="19050">
            <a:solidFill>
              <a:srgbClr val="1E7A46"/>
            </a:solidFill>
            <a:prstDash val="solid"/>
          </a:ln>
          <a:effectLst>
            <a:outerShdw blurRad="50800" dist="25400" dir="5400000" algn="bl" rotWithShape="0">
              <a:srgbClr val="BFCEDD">
                <a:alpha val="50000"/>
              </a:srgbClr>
            </a:outerShdw>
          </a:effectLst>
        </p:spPr>
        <p:txBody>
          <a:bodyPr/>
          <a:lstStyle/>
          <a:p>
            <a:endParaRPr lang="es-CO"/>
          </a:p>
        </p:txBody>
      </p:sp>
      <p:sp>
        <p:nvSpPr>
          <p:cNvPr id="20" name="Shape 18"/>
          <p:cNvSpPr/>
          <p:nvPr/>
        </p:nvSpPr>
        <p:spPr>
          <a:xfrm>
            <a:off x="6451092" y="4517136"/>
            <a:ext cx="164592" cy="164592"/>
          </a:xfrm>
          <a:prstGeom prst="ellipse">
            <a:avLst/>
          </a:prstGeom>
          <a:solidFill>
            <a:srgbClr val="1E7A46"/>
          </a:solidFill>
          <a:ln w="12700">
            <a:solidFill>
              <a:srgbClr val="1E7A46"/>
            </a:solidFill>
            <a:prstDash val="solid"/>
          </a:ln>
        </p:spPr>
        <p:txBody>
          <a:bodyPr/>
          <a:lstStyle/>
          <a:p>
            <a:endParaRPr lang="es-CO"/>
          </a:p>
        </p:txBody>
      </p:sp>
      <p:sp>
        <p:nvSpPr>
          <p:cNvPr id="21" name="Text 19"/>
          <p:cNvSpPr/>
          <p:nvPr/>
        </p:nvSpPr>
        <p:spPr>
          <a:xfrm>
            <a:off x="6725412" y="4425696"/>
            <a:ext cx="4732020" cy="36576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Biopsy (histopathology)</a:t>
            </a:r>
            <a:endParaRPr lang="en-US" dirty="0"/>
          </a:p>
        </p:txBody>
      </p:sp>
      <p:sp>
        <p:nvSpPr>
          <p:cNvPr id="22" name="Text 20"/>
          <p:cNvSpPr/>
          <p:nvPr/>
        </p:nvSpPr>
        <p:spPr>
          <a:xfrm>
            <a:off x="6451092" y="4846320"/>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Small tissue samples looked at under the microscope. This is what confirms cancer and its grade.</a:t>
            </a: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4 · INTERPRET</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confirms the diagnosis?</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4.3</a:t>
            </a:r>
            <a:endParaRPr lang="en-US" sz="900" dirty="0"/>
          </a:p>
        </p:txBody>
      </p:sp>
      <p:sp>
        <p:nvSpPr>
          <p:cNvPr id="6" name="Text 4"/>
          <p:cNvSpPr/>
          <p:nvPr/>
        </p:nvSpPr>
        <p:spPr>
          <a:xfrm>
            <a:off x="566928" y="1481328"/>
            <a:ext cx="11055096" cy="54864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A man has a raised PSA and a hard prostate. What is needed to confirm prostate cancer?</a:t>
            </a:r>
            <a:endParaRPr lang="en-US" dirty="0"/>
          </a:p>
        </p:txBody>
      </p:sp>
      <p:sp>
        <p:nvSpPr>
          <p:cNvPr id="7" name="Shape 5"/>
          <p:cNvSpPr/>
          <p:nvPr/>
        </p:nvSpPr>
        <p:spPr>
          <a:xfrm>
            <a:off x="566928" y="2011680"/>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76656" y="2093976"/>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76656" y="2093976"/>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A</a:t>
            </a:r>
            <a:endParaRPr lang="en-US" dirty="0"/>
          </a:p>
        </p:txBody>
      </p:sp>
      <p:sp>
        <p:nvSpPr>
          <p:cNvPr id="10" name="Text 8"/>
          <p:cNvSpPr/>
          <p:nvPr/>
        </p:nvSpPr>
        <p:spPr>
          <a:xfrm>
            <a:off x="1097280" y="2011680"/>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A higher PSA</a:t>
            </a:r>
            <a:endParaRPr lang="en-US" dirty="0"/>
          </a:p>
        </p:txBody>
      </p:sp>
      <p:sp>
        <p:nvSpPr>
          <p:cNvPr id="11" name="Shape 9"/>
          <p:cNvSpPr/>
          <p:nvPr/>
        </p:nvSpPr>
        <p:spPr>
          <a:xfrm>
            <a:off x="566928" y="2596896"/>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12" name="Shape 10"/>
          <p:cNvSpPr/>
          <p:nvPr/>
        </p:nvSpPr>
        <p:spPr>
          <a:xfrm>
            <a:off x="676656" y="2679192"/>
            <a:ext cx="292608" cy="292608"/>
          </a:xfrm>
          <a:prstGeom prst="ellipse">
            <a:avLst/>
          </a:prstGeom>
          <a:solidFill>
            <a:srgbClr val="1A6FB0"/>
          </a:solidFill>
          <a:ln w="12700">
            <a:solidFill>
              <a:srgbClr val="1A6FB0"/>
            </a:solidFill>
            <a:prstDash val="solid"/>
          </a:ln>
        </p:spPr>
        <p:txBody>
          <a:bodyPr/>
          <a:lstStyle/>
          <a:p>
            <a:endParaRPr lang="es-CO"/>
          </a:p>
        </p:txBody>
      </p:sp>
      <p:sp>
        <p:nvSpPr>
          <p:cNvPr id="13" name="Text 11"/>
          <p:cNvSpPr/>
          <p:nvPr/>
        </p:nvSpPr>
        <p:spPr>
          <a:xfrm>
            <a:off x="676656" y="2679192"/>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B</a:t>
            </a:r>
            <a:endParaRPr lang="en-US" dirty="0"/>
          </a:p>
        </p:txBody>
      </p:sp>
      <p:sp>
        <p:nvSpPr>
          <p:cNvPr id="14" name="Text 12"/>
          <p:cNvSpPr/>
          <p:nvPr/>
        </p:nvSpPr>
        <p:spPr>
          <a:xfrm>
            <a:off x="1097280" y="2596896"/>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The finger exam alone</a:t>
            </a:r>
            <a:endParaRPr lang="en-US" dirty="0"/>
          </a:p>
        </p:txBody>
      </p:sp>
      <p:sp>
        <p:nvSpPr>
          <p:cNvPr id="15" name="Shape 13"/>
          <p:cNvSpPr/>
          <p:nvPr/>
        </p:nvSpPr>
        <p:spPr>
          <a:xfrm>
            <a:off x="566928" y="3182112"/>
            <a:ext cx="11055096" cy="457200"/>
          </a:xfrm>
          <a:prstGeom prst="roundRect">
            <a:avLst>
              <a:gd name="adj" fmla="val 10000"/>
            </a:avLst>
          </a:prstGeom>
          <a:solidFill>
            <a:srgbClr val="E7F4EC"/>
          </a:solidFill>
          <a:ln w="19050">
            <a:solidFill>
              <a:srgbClr val="1E7A46"/>
            </a:solidFill>
            <a:prstDash val="solid"/>
          </a:ln>
        </p:spPr>
        <p:txBody>
          <a:bodyPr/>
          <a:lstStyle/>
          <a:p>
            <a:endParaRPr lang="es-CO"/>
          </a:p>
        </p:txBody>
      </p:sp>
      <p:sp>
        <p:nvSpPr>
          <p:cNvPr id="16" name="Shape 14"/>
          <p:cNvSpPr/>
          <p:nvPr/>
        </p:nvSpPr>
        <p:spPr>
          <a:xfrm>
            <a:off x="676656" y="3264408"/>
            <a:ext cx="292608" cy="292608"/>
          </a:xfrm>
          <a:prstGeom prst="ellipse">
            <a:avLst/>
          </a:prstGeom>
          <a:solidFill>
            <a:srgbClr val="1E7A46"/>
          </a:solidFill>
          <a:ln w="12700">
            <a:solidFill>
              <a:srgbClr val="1E7A46"/>
            </a:solidFill>
            <a:prstDash val="solid"/>
          </a:ln>
        </p:spPr>
        <p:txBody>
          <a:bodyPr/>
          <a:lstStyle/>
          <a:p>
            <a:endParaRPr lang="es-CO"/>
          </a:p>
        </p:txBody>
      </p:sp>
      <p:sp>
        <p:nvSpPr>
          <p:cNvPr id="17" name="Text 15"/>
          <p:cNvSpPr/>
          <p:nvPr/>
        </p:nvSpPr>
        <p:spPr>
          <a:xfrm>
            <a:off x="676656" y="3264408"/>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C</a:t>
            </a:r>
            <a:endParaRPr lang="en-US" dirty="0"/>
          </a:p>
        </p:txBody>
      </p:sp>
      <p:sp>
        <p:nvSpPr>
          <p:cNvPr id="18" name="Text 16"/>
          <p:cNvSpPr/>
          <p:nvPr/>
        </p:nvSpPr>
        <p:spPr>
          <a:xfrm>
            <a:off x="1097280" y="3182112"/>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A tissue sample looked at under the microscope (biopsy)</a:t>
            </a:r>
            <a:endParaRPr lang="en-US" dirty="0"/>
          </a:p>
        </p:txBody>
      </p:sp>
      <p:sp>
        <p:nvSpPr>
          <p:cNvPr id="19" name="Shape 17"/>
          <p:cNvSpPr/>
          <p:nvPr/>
        </p:nvSpPr>
        <p:spPr>
          <a:xfrm>
            <a:off x="566928" y="3767328"/>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76656" y="3849624"/>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76656" y="3849624"/>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D</a:t>
            </a:r>
            <a:endParaRPr lang="en-US" dirty="0"/>
          </a:p>
        </p:txBody>
      </p:sp>
      <p:sp>
        <p:nvSpPr>
          <p:cNvPr id="22" name="Text 20"/>
          <p:cNvSpPr/>
          <p:nvPr/>
        </p:nvSpPr>
        <p:spPr>
          <a:xfrm>
            <a:off x="1097280" y="3767328"/>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A bone scan</a:t>
            </a:r>
            <a:endParaRPr lang="en-US" dirty="0"/>
          </a:p>
        </p:txBody>
      </p:sp>
      <p:sp>
        <p:nvSpPr>
          <p:cNvPr id="23" name="Shape 21"/>
          <p:cNvSpPr/>
          <p:nvPr/>
        </p:nvSpPr>
        <p:spPr>
          <a:xfrm>
            <a:off x="566928" y="4407408"/>
            <a:ext cx="11055096" cy="1975104"/>
          </a:xfrm>
          <a:prstGeom prst="roundRect">
            <a:avLst>
              <a:gd name="adj" fmla="val 2315"/>
            </a:avLst>
          </a:prstGeom>
          <a:solidFill>
            <a:srgbClr val="E7F4EC"/>
          </a:solidFill>
          <a:ln w="12700">
            <a:solidFill>
              <a:srgbClr val="BFE3CD"/>
            </a:solidFill>
            <a:prstDash val="solid"/>
          </a:ln>
        </p:spPr>
        <p:txBody>
          <a:bodyPr/>
          <a:lstStyle/>
          <a:p>
            <a:endParaRPr lang="es-CO"/>
          </a:p>
        </p:txBody>
      </p:sp>
      <p:sp>
        <p:nvSpPr>
          <p:cNvPr id="24" name="Text 22"/>
          <p:cNvSpPr/>
          <p:nvPr/>
        </p:nvSpPr>
        <p:spPr>
          <a:xfrm>
            <a:off x="749808" y="4498848"/>
            <a:ext cx="10689336" cy="1792224"/>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C.  </a:t>
            </a:r>
            <a:r>
              <a:rPr lang="en-US" dirty="0">
                <a:solidFill>
                  <a:srgbClr val="223240"/>
                </a:solidFill>
                <a:latin typeface="Calibri" pitchFamily="34" charset="0"/>
                <a:ea typeface="Calibri" pitchFamily="34" charset="-122"/>
                <a:cs typeface="Calibri" pitchFamily="34" charset="-120"/>
              </a:rPr>
              <a:t>PSA and DRE decide who needs a biopsy. Only histopathology (tissue under the microscope) confirms cancer. Scans show spread, not the diagnosis itself.</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4 · THE PLAN</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Understanding the treatment plan</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4.4</a:t>
            </a:r>
            <a:endParaRPr lang="en-US" sz="900" dirty="0"/>
          </a:p>
        </p:txBody>
      </p:sp>
      <p:sp>
        <p:nvSpPr>
          <p:cNvPr id="6" name="Text 4"/>
          <p:cNvSpPr/>
          <p:nvPr/>
        </p:nvSpPr>
        <p:spPr>
          <a:xfrm>
            <a:off x="566928" y="1481328"/>
            <a:ext cx="11055096" cy="91440"/>
          </a:xfrm>
          <a:prstGeom prst="rect">
            <a:avLst/>
          </a:prstGeom>
          <a:noFill/>
          <a:ln/>
        </p:spPr>
        <p:txBody>
          <a:bodyPr wrap="square" lIns="0" tIns="0" rIns="0" bIns="0" rtlCol="0" anchor="t"/>
          <a:lstStyle/>
          <a:p>
            <a:pPr marL="0" indent="0" algn="l">
              <a:buNone/>
            </a:pPr>
            <a:r>
              <a:rPr lang="en-US" dirty="0">
                <a:solidFill>
                  <a:srgbClr val="223240"/>
                </a:solidFill>
                <a:latin typeface="Calibri" pitchFamily="34" charset="0"/>
                <a:ea typeface="Calibri" pitchFamily="34" charset="-122"/>
                <a:cs typeface="Calibri" pitchFamily="34" charset="-120"/>
              </a:rPr>
              <a:t>Specialist teams choose treatment based on the man’s cancer (localised or spread), his age and health, and his wishes. There is often more than one reasonable option.</a:t>
            </a:r>
            <a:endParaRPr lang="en-US" dirty="0"/>
          </a:p>
        </p:txBody>
      </p:sp>
      <p:sp>
        <p:nvSpPr>
          <p:cNvPr id="7" name="Shape 5"/>
          <p:cNvSpPr/>
          <p:nvPr/>
        </p:nvSpPr>
        <p:spPr>
          <a:xfrm>
            <a:off x="566928" y="2487168"/>
            <a:ext cx="11055096" cy="868680"/>
          </a:xfrm>
          <a:prstGeom prst="roundRect">
            <a:avLst>
              <a:gd name="adj" fmla="val 6316"/>
            </a:avLst>
          </a:prstGeom>
          <a:solidFill>
            <a:srgbClr val="E9F1FA"/>
          </a:solidFill>
          <a:ln w="12700">
            <a:solidFill>
              <a:srgbClr val="E9F1FA"/>
            </a:solidFill>
            <a:prstDash val="solid"/>
          </a:ln>
        </p:spPr>
        <p:txBody>
          <a:bodyPr/>
          <a:lstStyle/>
          <a:p>
            <a:endParaRPr lang="es-CO"/>
          </a:p>
        </p:txBody>
      </p:sp>
      <p:sp>
        <p:nvSpPr>
          <p:cNvPr id="8" name="Text 6"/>
          <p:cNvSpPr/>
          <p:nvPr/>
        </p:nvSpPr>
        <p:spPr>
          <a:xfrm>
            <a:off x="731520" y="2578608"/>
            <a:ext cx="10725912" cy="685800"/>
          </a:xfrm>
          <a:prstGeom prst="rect">
            <a:avLst/>
          </a:prstGeom>
          <a:noFill/>
          <a:ln/>
        </p:spPr>
        <p:txBody>
          <a:bodyPr wrap="square" lIns="0" tIns="0" rIns="0" bIns="0" rtlCol="0" anchor="t"/>
          <a:lstStyle/>
          <a:p>
            <a:pPr marL="0" indent="0" algn="l">
              <a:buNone/>
            </a:pPr>
            <a:r>
              <a:rPr lang="en-US" b="1" dirty="0">
                <a:solidFill>
                  <a:srgbClr val="1A6FB0"/>
                </a:solidFill>
                <a:latin typeface="Calibri" pitchFamily="34" charset="0"/>
                <a:ea typeface="Calibri" pitchFamily="34" charset="-122"/>
                <a:cs typeface="Calibri" pitchFamily="34" charset="-120"/>
              </a:rPr>
              <a:t>Your role:  </a:t>
            </a:r>
            <a:r>
              <a:rPr lang="en-US" dirty="0">
                <a:solidFill>
                  <a:srgbClr val="223240"/>
                </a:solidFill>
                <a:latin typeface="Calibri" pitchFamily="34" charset="0"/>
                <a:ea typeface="Calibri" pitchFamily="34" charset="-122"/>
                <a:cs typeface="Calibri" pitchFamily="34" charset="-120"/>
              </a:rPr>
              <a:t>help the patient understand the recommendation, know the next step, recognise important treatment effects, and continue appropriate follow-up.</a:t>
            </a: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4 · OPTIONS</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The main treatment options</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4.5</a:t>
            </a:r>
            <a:endParaRPr lang="en-US" sz="900" dirty="0"/>
          </a:p>
        </p:txBody>
      </p:sp>
      <p:sp>
        <p:nvSpPr>
          <p:cNvPr id="6" name="Text 4"/>
          <p:cNvSpPr/>
          <p:nvPr/>
        </p:nvSpPr>
        <p:spPr>
          <a:xfrm>
            <a:off x="566928" y="1481328"/>
            <a:ext cx="11055096" cy="310896"/>
          </a:xfrm>
          <a:prstGeom prst="rect">
            <a:avLst/>
          </a:prstGeom>
          <a:noFill/>
          <a:ln/>
        </p:spPr>
        <p:txBody>
          <a:bodyPr wrap="square" lIns="0" tIns="0" rIns="0" bIns="0" rtlCol="0" anchor="t"/>
          <a:lstStyle/>
          <a:p>
            <a:pPr marL="0" indent="0">
              <a:buNone/>
            </a:pPr>
            <a:r>
              <a:rPr lang="en-US" i="1" dirty="0">
                <a:solidFill>
                  <a:srgbClr val="1A6FB0"/>
                </a:solidFill>
                <a:latin typeface="Calibri" pitchFamily="34" charset="0"/>
                <a:ea typeface="Calibri" pitchFamily="34" charset="-122"/>
                <a:cs typeface="Calibri" pitchFamily="34" charset="-120"/>
              </a:rPr>
              <a:t>Select each card to learn the option and what it means for the patient.</a:t>
            </a:r>
            <a:endParaRPr lang="en-US" dirty="0"/>
          </a:p>
        </p:txBody>
      </p:sp>
      <p:sp>
        <p:nvSpPr>
          <p:cNvPr id="7" name="Shape 5"/>
          <p:cNvSpPr/>
          <p:nvPr/>
        </p:nvSpPr>
        <p:spPr>
          <a:xfrm>
            <a:off x="566928" y="1938528"/>
            <a:ext cx="5390388" cy="2084832"/>
          </a:xfrm>
          <a:prstGeom prst="roundRect">
            <a:avLst>
              <a:gd name="adj" fmla="val 3509"/>
            </a:avLst>
          </a:prstGeom>
          <a:solidFill>
            <a:srgbClr val="FFFFFF"/>
          </a:solidFill>
          <a:ln w="19050">
            <a:solidFill>
              <a:srgbClr val="1E7A46"/>
            </a:solidFill>
            <a:prstDash val="solid"/>
          </a:ln>
          <a:effectLst>
            <a:outerShdw blurRad="50800" dist="25400" dir="5400000" algn="bl" rotWithShape="0">
              <a:srgbClr val="BFCEDD">
                <a:alpha val="50000"/>
              </a:srgbClr>
            </a:outerShdw>
          </a:effectLst>
        </p:spPr>
        <p:txBody>
          <a:bodyPr/>
          <a:lstStyle/>
          <a:p>
            <a:endParaRPr lang="es-CO"/>
          </a:p>
        </p:txBody>
      </p:sp>
      <p:sp>
        <p:nvSpPr>
          <p:cNvPr id="8" name="Shape 6"/>
          <p:cNvSpPr/>
          <p:nvPr/>
        </p:nvSpPr>
        <p:spPr>
          <a:xfrm>
            <a:off x="786384" y="2157984"/>
            <a:ext cx="164592" cy="164592"/>
          </a:xfrm>
          <a:prstGeom prst="ellipse">
            <a:avLst/>
          </a:prstGeom>
          <a:solidFill>
            <a:srgbClr val="1E7A46"/>
          </a:solidFill>
          <a:ln w="12700">
            <a:solidFill>
              <a:srgbClr val="1E7A46"/>
            </a:solidFill>
            <a:prstDash val="solid"/>
          </a:ln>
        </p:spPr>
        <p:txBody>
          <a:bodyPr/>
          <a:lstStyle/>
          <a:p>
            <a:endParaRPr lang="es-CO"/>
          </a:p>
        </p:txBody>
      </p:sp>
      <p:sp>
        <p:nvSpPr>
          <p:cNvPr id="9" name="Text 7"/>
          <p:cNvSpPr/>
          <p:nvPr/>
        </p:nvSpPr>
        <p:spPr>
          <a:xfrm>
            <a:off x="1060704" y="2066544"/>
            <a:ext cx="4732020" cy="36576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Watch &amp; monitor</a:t>
            </a:r>
            <a:endParaRPr lang="en-US" dirty="0"/>
          </a:p>
        </p:txBody>
      </p:sp>
      <p:sp>
        <p:nvSpPr>
          <p:cNvPr id="10" name="Text 8"/>
          <p:cNvSpPr/>
          <p:nvPr/>
        </p:nvSpPr>
        <p:spPr>
          <a:xfrm>
            <a:off x="786384" y="2487168"/>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Active surveillance closely monitors a low-risk cancer, treating only if it changes. Watchful waiting controls symptoms without aggressive treatment, often in older or frailer men. Avoids needless side effects.</a:t>
            </a:r>
            <a:endParaRPr lang="en-US" dirty="0"/>
          </a:p>
        </p:txBody>
      </p:sp>
      <p:sp>
        <p:nvSpPr>
          <p:cNvPr id="11" name="Shape 9"/>
          <p:cNvSpPr/>
          <p:nvPr/>
        </p:nvSpPr>
        <p:spPr>
          <a:xfrm>
            <a:off x="6231636" y="1938528"/>
            <a:ext cx="5390388"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2" name="Shape 10"/>
          <p:cNvSpPr/>
          <p:nvPr/>
        </p:nvSpPr>
        <p:spPr>
          <a:xfrm>
            <a:off x="6451092" y="2157984"/>
            <a:ext cx="164592" cy="164592"/>
          </a:xfrm>
          <a:prstGeom prst="ellipse">
            <a:avLst/>
          </a:prstGeom>
          <a:solidFill>
            <a:srgbClr val="1A6FB0"/>
          </a:solidFill>
          <a:ln w="12700">
            <a:solidFill>
              <a:srgbClr val="1A6FB0"/>
            </a:solidFill>
            <a:prstDash val="solid"/>
          </a:ln>
        </p:spPr>
        <p:txBody>
          <a:bodyPr/>
          <a:lstStyle/>
          <a:p>
            <a:endParaRPr lang="es-CO"/>
          </a:p>
        </p:txBody>
      </p:sp>
      <p:sp>
        <p:nvSpPr>
          <p:cNvPr id="13" name="Text 11"/>
          <p:cNvSpPr/>
          <p:nvPr/>
        </p:nvSpPr>
        <p:spPr>
          <a:xfrm>
            <a:off x="6725412" y="20665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Surgery</a:t>
            </a:r>
            <a:endParaRPr lang="en-US" dirty="0"/>
          </a:p>
        </p:txBody>
      </p:sp>
      <p:sp>
        <p:nvSpPr>
          <p:cNvPr id="14" name="Text 12"/>
          <p:cNvSpPr/>
          <p:nvPr/>
        </p:nvSpPr>
        <p:spPr>
          <a:xfrm>
            <a:off x="6451092" y="2487168"/>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Removing the prostate for cancer still inside the gland. Main effects: urine leakage and erection problems, which often improve with time.</a:t>
            </a:r>
            <a:endParaRPr lang="en-US" dirty="0"/>
          </a:p>
        </p:txBody>
      </p:sp>
      <p:sp>
        <p:nvSpPr>
          <p:cNvPr id="15" name="Shape 13"/>
          <p:cNvSpPr/>
          <p:nvPr/>
        </p:nvSpPr>
        <p:spPr>
          <a:xfrm>
            <a:off x="566928" y="4297680"/>
            <a:ext cx="5390388"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6" name="Shape 14"/>
          <p:cNvSpPr/>
          <p:nvPr/>
        </p:nvSpPr>
        <p:spPr>
          <a:xfrm>
            <a:off x="786384" y="4517136"/>
            <a:ext cx="164592" cy="164592"/>
          </a:xfrm>
          <a:prstGeom prst="ellipse">
            <a:avLst/>
          </a:prstGeom>
          <a:solidFill>
            <a:srgbClr val="1A6FB0"/>
          </a:solidFill>
          <a:ln w="12700">
            <a:solidFill>
              <a:srgbClr val="1A6FB0"/>
            </a:solidFill>
            <a:prstDash val="solid"/>
          </a:ln>
        </p:spPr>
        <p:txBody>
          <a:bodyPr/>
          <a:lstStyle/>
          <a:p>
            <a:endParaRPr lang="es-CO"/>
          </a:p>
        </p:txBody>
      </p:sp>
      <p:sp>
        <p:nvSpPr>
          <p:cNvPr id="17" name="Text 15"/>
          <p:cNvSpPr/>
          <p:nvPr/>
        </p:nvSpPr>
        <p:spPr>
          <a:xfrm>
            <a:off x="1060704" y="4425696"/>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Radiotherapy</a:t>
            </a:r>
            <a:endParaRPr lang="en-US" dirty="0"/>
          </a:p>
        </p:txBody>
      </p:sp>
      <p:sp>
        <p:nvSpPr>
          <p:cNvPr id="18" name="Text 16"/>
          <p:cNvSpPr/>
          <p:nvPr/>
        </p:nvSpPr>
        <p:spPr>
          <a:xfrm>
            <a:off x="786384" y="4846320"/>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Radiation to kill cancer cells, an alternative to surgery, or used to relieve symptoms. Effects: urinary and bowel irritation, tiredness.</a:t>
            </a:r>
            <a:endParaRPr lang="en-US" dirty="0"/>
          </a:p>
        </p:txBody>
      </p:sp>
      <p:sp>
        <p:nvSpPr>
          <p:cNvPr id="19" name="Shape 17"/>
          <p:cNvSpPr/>
          <p:nvPr/>
        </p:nvSpPr>
        <p:spPr>
          <a:xfrm>
            <a:off x="6231636" y="4297680"/>
            <a:ext cx="5390388" cy="2084832"/>
          </a:xfrm>
          <a:prstGeom prst="roundRect">
            <a:avLst>
              <a:gd name="adj" fmla="val 3509"/>
            </a:avLst>
          </a:prstGeom>
          <a:solidFill>
            <a:srgbClr val="FFFFFF"/>
          </a:solidFill>
          <a:ln w="19050">
            <a:solidFill>
              <a:srgbClr val="B26A00"/>
            </a:solidFill>
            <a:prstDash val="solid"/>
          </a:ln>
          <a:effectLst>
            <a:outerShdw blurRad="50800" dist="25400" dir="5400000" algn="bl" rotWithShape="0">
              <a:srgbClr val="BFCEDD">
                <a:alpha val="50000"/>
              </a:srgbClr>
            </a:outerShdw>
          </a:effectLst>
        </p:spPr>
        <p:txBody>
          <a:bodyPr/>
          <a:lstStyle/>
          <a:p>
            <a:endParaRPr lang="es-CO"/>
          </a:p>
        </p:txBody>
      </p:sp>
      <p:sp>
        <p:nvSpPr>
          <p:cNvPr id="20" name="Shape 18"/>
          <p:cNvSpPr/>
          <p:nvPr/>
        </p:nvSpPr>
        <p:spPr>
          <a:xfrm>
            <a:off x="6451092" y="4517136"/>
            <a:ext cx="164592" cy="164592"/>
          </a:xfrm>
          <a:prstGeom prst="ellipse">
            <a:avLst/>
          </a:prstGeom>
          <a:solidFill>
            <a:srgbClr val="B26A00"/>
          </a:solidFill>
          <a:ln w="12700">
            <a:solidFill>
              <a:srgbClr val="B26A00"/>
            </a:solidFill>
            <a:prstDash val="solid"/>
          </a:ln>
        </p:spPr>
        <p:txBody>
          <a:bodyPr/>
          <a:lstStyle/>
          <a:p>
            <a:endParaRPr lang="es-CO"/>
          </a:p>
        </p:txBody>
      </p:sp>
      <p:sp>
        <p:nvSpPr>
          <p:cNvPr id="21" name="Text 19"/>
          <p:cNvSpPr/>
          <p:nvPr/>
        </p:nvSpPr>
        <p:spPr>
          <a:xfrm>
            <a:off x="6725412" y="4425696"/>
            <a:ext cx="4732020" cy="36576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Systemic therapy</a:t>
            </a:r>
            <a:endParaRPr lang="en-US" dirty="0"/>
          </a:p>
        </p:txBody>
      </p:sp>
      <p:sp>
        <p:nvSpPr>
          <p:cNvPr id="22" name="Text 20"/>
          <p:cNvSpPr/>
          <p:nvPr/>
        </p:nvSpPr>
        <p:spPr>
          <a:xfrm>
            <a:off x="6451092" y="4846320"/>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Hormone therapy lowers male hormones to slow the cancer, central for advanced disease and often available in Rwanda. Chemotherapy is used in some advanced cases.</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4 · MATCH</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Match the situation to the approach</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4.6</a:t>
            </a:r>
            <a:endParaRPr lang="en-US" sz="900" dirty="0"/>
          </a:p>
        </p:txBody>
      </p:sp>
      <p:sp>
        <p:nvSpPr>
          <p:cNvPr id="6" name="Text 4"/>
          <p:cNvSpPr/>
          <p:nvPr/>
        </p:nvSpPr>
        <p:spPr>
          <a:xfrm>
            <a:off x="566928" y="1144433"/>
            <a:ext cx="11055096" cy="310896"/>
          </a:xfrm>
          <a:prstGeom prst="rect">
            <a:avLst/>
          </a:prstGeom>
          <a:noFill/>
          <a:ln/>
        </p:spPr>
        <p:txBody>
          <a:bodyPr wrap="square" lIns="0" tIns="0" rIns="0" bIns="0" rtlCol="0" anchor="t"/>
          <a:lstStyle/>
          <a:p>
            <a:pPr marL="0" indent="0">
              <a:buNone/>
            </a:pPr>
            <a:r>
              <a:rPr lang="en-US" i="1" dirty="0">
                <a:solidFill>
                  <a:srgbClr val="1A6FB0"/>
                </a:solidFill>
                <a:latin typeface="Calibri" pitchFamily="34" charset="0"/>
                <a:ea typeface="Calibri" pitchFamily="34" charset="-122"/>
                <a:cs typeface="Calibri" pitchFamily="34" charset="-120"/>
              </a:rPr>
              <a:t>Match each man to the approach a specialist is most likely to consider. (This builds understanding, the specialist decides.)</a:t>
            </a:r>
            <a:endParaRPr lang="en-US" dirty="0"/>
          </a:p>
        </p:txBody>
      </p:sp>
      <p:sp>
        <p:nvSpPr>
          <p:cNvPr id="7" name="Shape 5"/>
          <p:cNvSpPr/>
          <p:nvPr/>
        </p:nvSpPr>
        <p:spPr>
          <a:xfrm>
            <a:off x="566928" y="1806176"/>
            <a:ext cx="5085344" cy="1001268"/>
          </a:xfrm>
          <a:prstGeom prst="roundRect">
            <a:avLst>
              <a:gd name="adj" fmla="val 4566"/>
            </a:avLst>
          </a:prstGeom>
          <a:solidFill>
            <a:srgbClr val="EAF1F8"/>
          </a:solidFill>
          <a:ln w="12700">
            <a:solidFill>
              <a:srgbClr val="D9E6F2"/>
            </a:solidFill>
            <a:prstDash val="solid"/>
          </a:ln>
        </p:spPr>
        <p:txBody>
          <a:bodyPr/>
          <a:lstStyle/>
          <a:p>
            <a:endParaRPr lang="es-CO"/>
          </a:p>
        </p:txBody>
      </p:sp>
      <p:sp>
        <p:nvSpPr>
          <p:cNvPr id="8" name="Text 6"/>
          <p:cNvSpPr/>
          <p:nvPr/>
        </p:nvSpPr>
        <p:spPr>
          <a:xfrm>
            <a:off x="694944" y="1806176"/>
            <a:ext cx="4829312" cy="1001268"/>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Small, low-grade cancer inside the gland, otherwise well</a:t>
            </a:r>
            <a:endParaRPr lang="en-US" dirty="0"/>
          </a:p>
        </p:txBody>
      </p:sp>
      <p:sp>
        <p:nvSpPr>
          <p:cNvPr id="9" name="Text 7"/>
          <p:cNvSpPr/>
          <p:nvPr/>
        </p:nvSpPr>
        <p:spPr>
          <a:xfrm>
            <a:off x="5652272" y="1806176"/>
            <a:ext cx="884408" cy="1001268"/>
          </a:xfrm>
          <a:prstGeom prst="rect">
            <a:avLst/>
          </a:prstGeom>
          <a:noFill/>
          <a:ln/>
        </p:spPr>
        <p:txBody>
          <a:bodyPr wrap="square" lIns="0" tIns="0" rIns="0" bIns="0" rtlCol="0" anchor="ctr"/>
          <a:lstStyle/>
          <a:p>
            <a:pPr marL="0" indent="0" algn="ctr">
              <a:buNone/>
            </a:pPr>
            <a:r>
              <a:rPr lang="en-US" b="1" dirty="0">
                <a:solidFill>
                  <a:srgbClr val="1A6FB0"/>
                </a:solidFill>
                <a:latin typeface="Calibri" pitchFamily="34" charset="0"/>
                <a:ea typeface="Calibri" pitchFamily="34" charset="-122"/>
                <a:cs typeface="Calibri" pitchFamily="34" charset="-120"/>
              </a:rPr>
              <a:t>→</a:t>
            </a:r>
            <a:endParaRPr lang="en-US" dirty="0"/>
          </a:p>
        </p:txBody>
      </p:sp>
      <p:sp>
        <p:nvSpPr>
          <p:cNvPr id="10" name="Shape 8"/>
          <p:cNvSpPr/>
          <p:nvPr/>
        </p:nvSpPr>
        <p:spPr>
          <a:xfrm>
            <a:off x="6536680" y="1806176"/>
            <a:ext cx="5085344" cy="1001268"/>
          </a:xfrm>
          <a:prstGeom prst="roundRect">
            <a:avLst>
              <a:gd name="adj" fmla="val 4566"/>
            </a:avLst>
          </a:prstGeom>
          <a:solidFill>
            <a:srgbClr val="E7F4EC"/>
          </a:solidFill>
          <a:ln w="12700">
            <a:solidFill>
              <a:srgbClr val="BFE3CD"/>
            </a:solidFill>
            <a:prstDash val="solid"/>
          </a:ln>
        </p:spPr>
        <p:txBody>
          <a:bodyPr/>
          <a:lstStyle/>
          <a:p>
            <a:endParaRPr lang="es-CO"/>
          </a:p>
        </p:txBody>
      </p:sp>
      <p:sp>
        <p:nvSpPr>
          <p:cNvPr id="11" name="Text 9"/>
          <p:cNvSpPr/>
          <p:nvPr/>
        </p:nvSpPr>
        <p:spPr>
          <a:xfrm>
            <a:off x="6664696" y="1806176"/>
            <a:ext cx="4829312" cy="1001268"/>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Active surveillance (monitor closely)</a:t>
            </a:r>
            <a:endParaRPr lang="en-US" dirty="0"/>
          </a:p>
        </p:txBody>
      </p:sp>
      <p:sp>
        <p:nvSpPr>
          <p:cNvPr id="12" name="Shape 10"/>
          <p:cNvSpPr/>
          <p:nvPr/>
        </p:nvSpPr>
        <p:spPr>
          <a:xfrm>
            <a:off x="566928" y="2953748"/>
            <a:ext cx="5085344" cy="1001268"/>
          </a:xfrm>
          <a:prstGeom prst="roundRect">
            <a:avLst>
              <a:gd name="adj" fmla="val 4566"/>
            </a:avLst>
          </a:prstGeom>
          <a:solidFill>
            <a:srgbClr val="EAF1F8"/>
          </a:solidFill>
          <a:ln w="12700">
            <a:solidFill>
              <a:srgbClr val="D9E6F2"/>
            </a:solidFill>
            <a:prstDash val="solid"/>
          </a:ln>
        </p:spPr>
        <p:txBody>
          <a:bodyPr/>
          <a:lstStyle/>
          <a:p>
            <a:endParaRPr lang="es-CO"/>
          </a:p>
        </p:txBody>
      </p:sp>
      <p:sp>
        <p:nvSpPr>
          <p:cNvPr id="13" name="Text 11"/>
          <p:cNvSpPr/>
          <p:nvPr/>
        </p:nvSpPr>
        <p:spPr>
          <a:xfrm>
            <a:off x="694944" y="2953748"/>
            <a:ext cx="4829312" cy="1001268"/>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Cancer confined to the gland in a fit man</a:t>
            </a:r>
            <a:endParaRPr lang="en-US" dirty="0"/>
          </a:p>
        </p:txBody>
      </p:sp>
      <p:sp>
        <p:nvSpPr>
          <p:cNvPr id="14" name="Text 12"/>
          <p:cNvSpPr/>
          <p:nvPr/>
        </p:nvSpPr>
        <p:spPr>
          <a:xfrm>
            <a:off x="5652272" y="2953748"/>
            <a:ext cx="884408" cy="1001268"/>
          </a:xfrm>
          <a:prstGeom prst="rect">
            <a:avLst/>
          </a:prstGeom>
          <a:noFill/>
          <a:ln/>
        </p:spPr>
        <p:txBody>
          <a:bodyPr wrap="square" lIns="0" tIns="0" rIns="0" bIns="0" rtlCol="0" anchor="ctr"/>
          <a:lstStyle/>
          <a:p>
            <a:pPr marL="0" indent="0" algn="ctr">
              <a:buNone/>
            </a:pPr>
            <a:r>
              <a:rPr lang="en-US" b="1" dirty="0">
                <a:solidFill>
                  <a:srgbClr val="1A6FB0"/>
                </a:solidFill>
                <a:latin typeface="Calibri" pitchFamily="34" charset="0"/>
                <a:ea typeface="Calibri" pitchFamily="34" charset="-122"/>
                <a:cs typeface="Calibri" pitchFamily="34" charset="-120"/>
              </a:rPr>
              <a:t>→</a:t>
            </a:r>
            <a:endParaRPr lang="en-US" dirty="0"/>
          </a:p>
        </p:txBody>
      </p:sp>
      <p:sp>
        <p:nvSpPr>
          <p:cNvPr id="15" name="Shape 13"/>
          <p:cNvSpPr/>
          <p:nvPr/>
        </p:nvSpPr>
        <p:spPr>
          <a:xfrm>
            <a:off x="6536680" y="2953748"/>
            <a:ext cx="5085344" cy="1001268"/>
          </a:xfrm>
          <a:prstGeom prst="roundRect">
            <a:avLst>
              <a:gd name="adj" fmla="val 4566"/>
            </a:avLst>
          </a:prstGeom>
          <a:solidFill>
            <a:srgbClr val="E7F4EC"/>
          </a:solidFill>
          <a:ln w="12700">
            <a:solidFill>
              <a:srgbClr val="BFE3CD"/>
            </a:solidFill>
            <a:prstDash val="solid"/>
          </a:ln>
        </p:spPr>
        <p:txBody>
          <a:bodyPr/>
          <a:lstStyle/>
          <a:p>
            <a:endParaRPr lang="es-CO"/>
          </a:p>
        </p:txBody>
      </p:sp>
      <p:sp>
        <p:nvSpPr>
          <p:cNvPr id="16" name="Text 14"/>
          <p:cNvSpPr/>
          <p:nvPr/>
        </p:nvSpPr>
        <p:spPr>
          <a:xfrm>
            <a:off x="6664696" y="2953748"/>
            <a:ext cx="4829312" cy="1001268"/>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Surgery or radiotherapy (treat to cure)</a:t>
            </a:r>
            <a:endParaRPr lang="en-US" dirty="0"/>
          </a:p>
        </p:txBody>
      </p:sp>
      <p:sp>
        <p:nvSpPr>
          <p:cNvPr id="17" name="Shape 15"/>
          <p:cNvSpPr/>
          <p:nvPr/>
        </p:nvSpPr>
        <p:spPr>
          <a:xfrm>
            <a:off x="566928" y="4101320"/>
            <a:ext cx="5085344" cy="1001268"/>
          </a:xfrm>
          <a:prstGeom prst="roundRect">
            <a:avLst>
              <a:gd name="adj" fmla="val 4566"/>
            </a:avLst>
          </a:prstGeom>
          <a:solidFill>
            <a:srgbClr val="EAF1F8"/>
          </a:solidFill>
          <a:ln w="12700">
            <a:solidFill>
              <a:srgbClr val="D9E6F2"/>
            </a:solidFill>
            <a:prstDash val="solid"/>
          </a:ln>
        </p:spPr>
        <p:txBody>
          <a:bodyPr/>
          <a:lstStyle/>
          <a:p>
            <a:endParaRPr lang="es-CO"/>
          </a:p>
        </p:txBody>
      </p:sp>
      <p:sp>
        <p:nvSpPr>
          <p:cNvPr id="18" name="Text 16"/>
          <p:cNvSpPr/>
          <p:nvPr/>
        </p:nvSpPr>
        <p:spPr>
          <a:xfrm>
            <a:off x="694944" y="4101320"/>
            <a:ext cx="4829312" cy="1001268"/>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Cancer that has spread to the bones</a:t>
            </a:r>
            <a:endParaRPr lang="en-US" dirty="0"/>
          </a:p>
        </p:txBody>
      </p:sp>
      <p:sp>
        <p:nvSpPr>
          <p:cNvPr id="19" name="Text 17"/>
          <p:cNvSpPr/>
          <p:nvPr/>
        </p:nvSpPr>
        <p:spPr>
          <a:xfrm>
            <a:off x="5652272" y="4101320"/>
            <a:ext cx="884408" cy="1001268"/>
          </a:xfrm>
          <a:prstGeom prst="rect">
            <a:avLst/>
          </a:prstGeom>
          <a:noFill/>
          <a:ln/>
        </p:spPr>
        <p:txBody>
          <a:bodyPr wrap="square" lIns="0" tIns="0" rIns="0" bIns="0" rtlCol="0" anchor="ctr"/>
          <a:lstStyle/>
          <a:p>
            <a:pPr marL="0" indent="0" algn="ctr">
              <a:buNone/>
            </a:pPr>
            <a:r>
              <a:rPr lang="en-US" b="1" dirty="0">
                <a:solidFill>
                  <a:srgbClr val="1A6FB0"/>
                </a:solidFill>
                <a:latin typeface="Calibri" pitchFamily="34" charset="0"/>
                <a:ea typeface="Calibri" pitchFamily="34" charset="-122"/>
                <a:cs typeface="Calibri" pitchFamily="34" charset="-120"/>
              </a:rPr>
              <a:t>→</a:t>
            </a:r>
            <a:endParaRPr lang="en-US" dirty="0"/>
          </a:p>
        </p:txBody>
      </p:sp>
      <p:sp>
        <p:nvSpPr>
          <p:cNvPr id="20" name="Shape 18"/>
          <p:cNvSpPr/>
          <p:nvPr/>
        </p:nvSpPr>
        <p:spPr>
          <a:xfrm>
            <a:off x="6536680" y="4101320"/>
            <a:ext cx="5085344" cy="1001268"/>
          </a:xfrm>
          <a:prstGeom prst="roundRect">
            <a:avLst>
              <a:gd name="adj" fmla="val 4566"/>
            </a:avLst>
          </a:prstGeom>
          <a:solidFill>
            <a:srgbClr val="E7F4EC"/>
          </a:solidFill>
          <a:ln w="12700">
            <a:solidFill>
              <a:srgbClr val="BFE3CD"/>
            </a:solidFill>
            <a:prstDash val="solid"/>
          </a:ln>
        </p:spPr>
        <p:txBody>
          <a:bodyPr/>
          <a:lstStyle/>
          <a:p>
            <a:endParaRPr lang="es-CO"/>
          </a:p>
        </p:txBody>
      </p:sp>
      <p:sp>
        <p:nvSpPr>
          <p:cNvPr id="21" name="Text 19"/>
          <p:cNvSpPr/>
          <p:nvPr/>
        </p:nvSpPr>
        <p:spPr>
          <a:xfrm>
            <a:off x="6664696" y="4101320"/>
            <a:ext cx="4829312" cy="1001268"/>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Hormone therapy (± other systemic treatment)</a:t>
            </a:r>
            <a:endParaRPr lang="en-US" dirty="0"/>
          </a:p>
        </p:txBody>
      </p:sp>
      <p:sp>
        <p:nvSpPr>
          <p:cNvPr id="22" name="Shape 20"/>
          <p:cNvSpPr/>
          <p:nvPr/>
        </p:nvSpPr>
        <p:spPr>
          <a:xfrm>
            <a:off x="566928" y="5248892"/>
            <a:ext cx="5085344" cy="1001268"/>
          </a:xfrm>
          <a:prstGeom prst="roundRect">
            <a:avLst>
              <a:gd name="adj" fmla="val 4566"/>
            </a:avLst>
          </a:prstGeom>
          <a:solidFill>
            <a:srgbClr val="EAF1F8"/>
          </a:solidFill>
          <a:ln w="12700">
            <a:solidFill>
              <a:srgbClr val="D9E6F2"/>
            </a:solidFill>
            <a:prstDash val="solid"/>
          </a:ln>
        </p:spPr>
        <p:txBody>
          <a:bodyPr/>
          <a:lstStyle/>
          <a:p>
            <a:endParaRPr lang="es-CO"/>
          </a:p>
        </p:txBody>
      </p:sp>
      <p:sp>
        <p:nvSpPr>
          <p:cNvPr id="23" name="Text 21"/>
          <p:cNvSpPr/>
          <p:nvPr/>
        </p:nvSpPr>
        <p:spPr>
          <a:xfrm>
            <a:off x="694944" y="5248892"/>
            <a:ext cx="4829312" cy="1001268"/>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Frail, elderly man with other illnesses and slow cancer</a:t>
            </a:r>
            <a:endParaRPr lang="en-US" dirty="0"/>
          </a:p>
        </p:txBody>
      </p:sp>
      <p:sp>
        <p:nvSpPr>
          <p:cNvPr id="24" name="Text 22"/>
          <p:cNvSpPr/>
          <p:nvPr/>
        </p:nvSpPr>
        <p:spPr>
          <a:xfrm>
            <a:off x="5652272" y="5248892"/>
            <a:ext cx="884408" cy="1001268"/>
          </a:xfrm>
          <a:prstGeom prst="rect">
            <a:avLst/>
          </a:prstGeom>
          <a:noFill/>
          <a:ln/>
        </p:spPr>
        <p:txBody>
          <a:bodyPr wrap="square" lIns="0" tIns="0" rIns="0" bIns="0" rtlCol="0" anchor="ctr"/>
          <a:lstStyle/>
          <a:p>
            <a:pPr marL="0" indent="0" algn="ctr">
              <a:buNone/>
            </a:pPr>
            <a:r>
              <a:rPr lang="en-US" b="1" dirty="0">
                <a:solidFill>
                  <a:srgbClr val="1A6FB0"/>
                </a:solidFill>
                <a:latin typeface="Calibri" pitchFamily="34" charset="0"/>
                <a:ea typeface="Calibri" pitchFamily="34" charset="-122"/>
                <a:cs typeface="Calibri" pitchFamily="34" charset="-120"/>
              </a:rPr>
              <a:t>→</a:t>
            </a:r>
            <a:endParaRPr lang="en-US" dirty="0"/>
          </a:p>
        </p:txBody>
      </p:sp>
      <p:sp>
        <p:nvSpPr>
          <p:cNvPr id="25" name="Shape 23"/>
          <p:cNvSpPr/>
          <p:nvPr/>
        </p:nvSpPr>
        <p:spPr>
          <a:xfrm>
            <a:off x="6536680" y="5248892"/>
            <a:ext cx="5085344" cy="1001268"/>
          </a:xfrm>
          <a:prstGeom prst="roundRect">
            <a:avLst>
              <a:gd name="adj" fmla="val 4566"/>
            </a:avLst>
          </a:prstGeom>
          <a:solidFill>
            <a:srgbClr val="E7F4EC"/>
          </a:solidFill>
          <a:ln w="12700">
            <a:solidFill>
              <a:srgbClr val="BFE3CD"/>
            </a:solidFill>
            <a:prstDash val="solid"/>
          </a:ln>
        </p:spPr>
        <p:txBody>
          <a:bodyPr/>
          <a:lstStyle/>
          <a:p>
            <a:endParaRPr lang="es-CO"/>
          </a:p>
        </p:txBody>
      </p:sp>
      <p:sp>
        <p:nvSpPr>
          <p:cNvPr id="26" name="Text 24"/>
          <p:cNvSpPr/>
          <p:nvPr/>
        </p:nvSpPr>
        <p:spPr>
          <a:xfrm>
            <a:off x="6664696" y="5248892"/>
            <a:ext cx="4829312" cy="1001268"/>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Watchful waiting (control symptoms)</a:t>
            </a:r>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4 · HORMONE THERAPY</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Why hormone therapy matters here</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4.7</a:t>
            </a:r>
            <a:endParaRPr lang="en-US" sz="900" dirty="0"/>
          </a:p>
        </p:txBody>
      </p:sp>
      <p:sp>
        <p:nvSpPr>
          <p:cNvPr id="6" name="Text 4"/>
          <p:cNvSpPr/>
          <p:nvPr/>
        </p:nvSpPr>
        <p:spPr>
          <a:xfrm>
            <a:off x="566928" y="1481328"/>
            <a:ext cx="11055096" cy="91440"/>
          </a:xfrm>
          <a:prstGeom prst="rect">
            <a:avLst/>
          </a:prstGeom>
          <a:noFill/>
          <a:ln/>
        </p:spPr>
        <p:txBody>
          <a:bodyPr wrap="square" lIns="0" tIns="0" rIns="0" bIns="0" rtlCol="0" anchor="t"/>
          <a:lstStyle/>
          <a:p>
            <a:pPr marL="0" indent="0" algn="l">
              <a:buNone/>
            </a:pPr>
            <a:r>
              <a:rPr lang="en-US" dirty="0">
                <a:solidFill>
                  <a:srgbClr val="223240"/>
                </a:solidFill>
                <a:latin typeface="Calibri" pitchFamily="34" charset="0"/>
                <a:ea typeface="Calibri" pitchFamily="34" charset="-122"/>
                <a:cs typeface="Calibri" pitchFamily="34" charset="-120"/>
              </a:rPr>
              <a:t>Remember from Session 1: prostate cancer is driven by </a:t>
            </a:r>
            <a:r>
              <a:rPr lang="en-US" b="1" dirty="0">
                <a:solidFill>
                  <a:srgbClr val="223240"/>
                </a:solidFill>
                <a:latin typeface="Calibri" pitchFamily="34" charset="0"/>
                <a:ea typeface="Calibri" pitchFamily="34" charset="-122"/>
                <a:cs typeface="Calibri" pitchFamily="34" charset="-120"/>
              </a:rPr>
              <a:t>male hormones</a:t>
            </a:r>
            <a:r>
              <a:rPr lang="en-US" dirty="0">
                <a:solidFill>
                  <a:srgbClr val="223240"/>
                </a:solidFill>
                <a:latin typeface="Calibri" pitchFamily="34" charset="0"/>
                <a:ea typeface="Calibri" pitchFamily="34" charset="-122"/>
                <a:cs typeface="Calibri" pitchFamily="34" charset="-120"/>
              </a:rPr>
              <a:t>. Lowering them slows the cancer. This is the </a:t>
            </a:r>
            <a:r>
              <a:rPr lang="en-US" b="1" dirty="0">
                <a:solidFill>
                  <a:srgbClr val="223240"/>
                </a:solidFill>
                <a:latin typeface="Calibri" pitchFamily="34" charset="0"/>
                <a:ea typeface="Calibri" pitchFamily="34" charset="-122"/>
                <a:cs typeface="Calibri" pitchFamily="34" charset="-120"/>
              </a:rPr>
              <a:t>mainstay for advanced disease</a:t>
            </a:r>
            <a:r>
              <a:rPr lang="en-US" dirty="0">
                <a:solidFill>
                  <a:srgbClr val="223240"/>
                </a:solidFill>
                <a:latin typeface="Calibri" pitchFamily="34" charset="0"/>
                <a:ea typeface="Calibri" pitchFamily="34" charset="-122"/>
                <a:cs typeface="Calibri" pitchFamily="34" charset="-120"/>
              </a:rPr>
              <a:t> and is often available in Rwanda, important because many men present with cancer that has already spread.</a:t>
            </a:r>
            <a:endParaRPr lang="en-US" dirty="0"/>
          </a:p>
        </p:txBody>
      </p:sp>
      <p:sp>
        <p:nvSpPr>
          <p:cNvPr id="7" name="Shape 5"/>
          <p:cNvSpPr/>
          <p:nvPr/>
        </p:nvSpPr>
        <p:spPr>
          <a:xfrm>
            <a:off x="566928" y="2655610"/>
            <a:ext cx="3502152" cy="3438144"/>
          </a:xfrm>
          <a:prstGeom prst="roundRect">
            <a:avLst>
              <a:gd name="adj" fmla="val 2128"/>
            </a:avLst>
          </a:prstGeom>
          <a:solidFill>
            <a:srgbClr val="FFFFFF"/>
          </a:solidFill>
          <a:ln w="19050">
            <a:solidFill>
              <a:srgbClr val="1E7A46"/>
            </a:solidFill>
            <a:prstDash val="solid"/>
          </a:ln>
          <a:effectLst>
            <a:outerShdw blurRad="50800" dist="25400" dir="5400000" algn="bl" rotWithShape="0">
              <a:srgbClr val="BFCEDD">
                <a:alpha val="50000"/>
              </a:srgbClr>
            </a:outerShdw>
          </a:effectLst>
        </p:spPr>
        <p:txBody>
          <a:bodyPr/>
          <a:lstStyle/>
          <a:p>
            <a:endParaRPr lang="es-CO"/>
          </a:p>
        </p:txBody>
      </p:sp>
      <p:sp>
        <p:nvSpPr>
          <p:cNvPr id="8" name="Shape 6"/>
          <p:cNvSpPr/>
          <p:nvPr/>
        </p:nvSpPr>
        <p:spPr>
          <a:xfrm>
            <a:off x="786384" y="2875066"/>
            <a:ext cx="164592" cy="164592"/>
          </a:xfrm>
          <a:prstGeom prst="ellipse">
            <a:avLst/>
          </a:prstGeom>
          <a:solidFill>
            <a:srgbClr val="1E7A46"/>
          </a:solidFill>
          <a:ln w="12700">
            <a:solidFill>
              <a:srgbClr val="1E7A46"/>
            </a:solidFill>
            <a:prstDash val="solid"/>
          </a:ln>
        </p:spPr>
        <p:txBody>
          <a:bodyPr/>
          <a:lstStyle/>
          <a:p>
            <a:endParaRPr lang="es-CO"/>
          </a:p>
        </p:txBody>
      </p:sp>
      <p:sp>
        <p:nvSpPr>
          <p:cNvPr id="9" name="Text 7"/>
          <p:cNvSpPr/>
          <p:nvPr/>
        </p:nvSpPr>
        <p:spPr>
          <a:xfrm>
            <a:off x="1060704" y="2783626"/>
            <a:ext cx="2843784" cy="36576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What it does</a:t>
            </a:r>
            <a:endParaRPr lang="en-US" dirty="0"/>
          </a:p>
        </p:txBody>
      </p:sp>
      <p:sp>
        <p:nvSpPr>
          <p:cNvPr id="10" name="Text 8"/>
          <p:cNvSpPr/>
          <p:nvPr/>
        </p:nvSpPr>
        <p:spPr>
          <a:xfrm>
            <a:off x="786384" y="3204250"/>
            <a:ext cx="3099816" cy="277977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Slows cancer that has spread and helps control symptoms such as bone pain.</a:t>
            </a:r>
            <a:endParaRPr lang="en-US" dirty="0"/>
          </a:p>
        </p:txBody>
      </p:sp>
      <p:sp>
        <p:nvSpPr>
          <p:cNvPr id="11" name="Shape 9"/>
          <p:cNvSpPr/>
          <p:nvPr/>
        </p:nvSpPr>
        <p:spPr>
          <a:xfrm>
            <a:off x="4343400" y="2655610"/>
            <a:ext cx="3502152" cy="3438144"/>
          </a:xfrm>
          <a:prstGeom prst="roundRect">
            <a:avLst>
              <a:gd name="adj" fmla="val 2128"/>
            </a:avLst>
          </a:prstGeom>
          <a:solidFill>
            <a:srgbClr val="FFFFFF"/>
          </a:solidFill>
          <a:ln w="19050">
            <a:solidFill>
              <a:srgbClr val="B26A00"/>
            </a:solidFill>
            <a:prstDash val="solid"/>
          </a:ln>
          <a:effectLst>
            <a:outerShdw blurRad="50800" dist="25400" dir="5400000" algn="bl" rotWithShape="0">
              <a:srgbClr val="BFCEDD">
                <a:alpha val="50000"/>
              </a:srgbClr>
            </a:outerShdw>
          </a:effectLst>
        </p:spPr>
        <p:txBody>
          <a:bodyPr/>
          <a:lstStyle/>
          <a:p>
            <a:endParaRPr lang="es-CO"/>
          </a:p>
        </p:txBody>
      </p:sp>
      <p:sp>
        <p:nvSpPr>
          <p:cNvPr id="12" name="Shape 10"/>
          <p:cNvSpPr/>
          <p:nvPr/>
        </p:nvSpPr>
        <p:spPr>
          <a:xfrm>
            <a:off x="4562856" y="2875066"/>
            <a:ext cx="164592" cy="164592"/>
          </a:xfrm>
          <a:prstGeom prst="ellipse">
            <a:avLst/>
          </a:prstGeom>
          <a:solidFill>
            <a:srgbClr val="B26A00"/>
          </a:solidFill>
          <a:ln w="12700">
            <a:solidFill>
              <a:srgbClr val="B26A00"/>
            </a:solidFill>
            <a:prstDash val="solid"/>
          </a:ln>
        </p:spPr>
        <p:txBody>
          <a:bodyPr/>
          <a:lstStyle/>
          <a:p>
            <a:endParaRPr lang="es-CO"/>
          </a:p>
        </p:txBody>
      </p:sp>
      <p:sp>
        <p:nvSpPr>
          <p:cNvPr id="13" name="Text 11"/>
          <p:cNvSpPr/>
          <p:nvPr/>
        </p:nvSpPr>
        <p:spPr>
          <a:xfrm>
            <a:off x="4837176" y="2783626"/>
            <a:ext cx="2843784" cy="36576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Common effects</a:t>
            </a:r>
            <a:endParaRPr lang="en-US" dirty="0"/>
          </a:p>
        </p:txBody>
      </p:sp>
      <p:sp>
        <p:nvSpPr>
          <p:cNvPr id="14" name="Text 12"/>
          <p:cNvSpPr/>
          <p:nvPr/>
        </p:nvSpPr>
        <p:spPr>
          <a:xfrm>
            <a:off x="4562856" y="3204250"/>
            <a:ext cx="3099816" cy="277977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Hot flushes, tiredness, reduced sex drive, and over time weaker bones. Mostly manageable.</a:t>
            </a:r>
            <a:endParaRPr lang="en-US" dirty="0"/>
          </a:p>
        </p:txBody>
      </p:sp>
      <p:sp>
        <p:nvSpPr>
          <p:cNvPr id="15" name="Shape 13"/>
          <p:cNvSpPr/>
          <p:nvPr/>
        </p:nvSpPr>
        <p:spPr>
          <a:xfrm>
            <a:off x="8119872" y="2655610"/>
            <a:ext cx="3502152" cy="3438144"/>
          </a:xfrm>
          <a:prstGeom prst="roundRect">
            <a:avLst>
              <a:gd name="adj" fmla="val 2128"/>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6" name="Shape 14"/>
          <p:cNvSpPr/>
          <p:nvPr/>
        </p:nvSpPr>
        <p:spPr>
          <a:xfrm>
            <a:off x="8339328" y="2875066"/>
            <a:ext cx="164592" cy="164592"/>
          </a:xfrm>
          <a:prstGeom prst="ellipse">
            <a:avLst/>
          </a:prstGeom>
          <a:solidFill>
            <a:srgbClr val="1A6FB0"/>
          </a:solidFill>
          <a:ln w="12700">
            <a:solidFill>
              <a:srgbClr val="1A6FB0"/>
            </a:solidFill>
            <a:prstDash val="solid"/>
          </a:ln>
        </p:spPr>
        <p:txBody>
          <a:bodyPr/>
          <a:lstStyle/>
          <a:p>
            <a:endParaRPr lang="es-CO"/>
          </a:p>
        </p:txBody>
      </p:sp>
      <p:sp>
        <p:nvSpPr>
          <p:cNvPr id="17" name="Text 15"/>
          <p:cNvSpPr/>
          <p:nvPr/>
        </p:nvSpPr>
        <p:spPr>
          <a:xfrm>
            <a:off x="8613648" y="2783626"/>
            <a:ext cx="2843784"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Your part</a:t>
            </a:r>
            <a:endParaRPr lang="en-US" dirty="0"/>
          </a:p>
        </p:txBody>
      </p:sp>
      <p:sp>
        <p:nvSpPr>
          <p:cNvPr id="18" name="Text 16"/>
          <p:cNvSpPr/>
          <p:nvPr/>
        </p:nvSpPr>
        <p:spPr>
          <a:xfrm>
            <a:off x="8339328" y="3204250"/>
            <a:ext cx="3099816" cy="277977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Explain what to expect, support the man through effects, and keep him on treatment and in follow-up.</a:t>
            </a: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4 · DECIDE</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Your role in treatment</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4.8</a:t>
            </a:r>
            <a:endParaRPr lang="en-US" sz="900" dirty="0"/>
          </a:p>
        </p:txBody>
      </p:sp>
      <p:sp>
        <p:nvSpPr>
          <p:cNvPr id="6" name="Text 4"/>
          <p:cNvSpPr/>
          <p:nvPr/>
        </p:nvSpPr>
        <p:spPr>
          <a:xfrm>
            <a:off x="566928" y="1481328"/>
            <a:ext cx="11055096" cy="54864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A man newly started on hormone therapy asks you to explain his treatment. Your role is to:</a:t>
            </a:r>
            <a:endParaRPr lang="en-US" dirty="0"/>
          </a:p>
        </p:txBody>
      </p:sp>
      <p:sp>
        <p:nvSpPr>
          <p:cNvPr id="7" name="Shape 5"/>
          <p:cNvSpPr/>
          <p:nvPr/>
        </p:nvSpPr>
        <p:spPr>
          <a:xfrm>
            <a:off x="566928" y="2011680"/>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76656" y="2093976"/>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76656" y="2093976"/>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A</a:t>
            </a:r>
            <a:endParaRPr lang="en-US" dirty="0"/>
          </a:p>
        </p:txBody>
      </p:sp>
      <p:sp>
        <p:nvSpPr>
          <p:cNvPr id="10" name="Text 8"/>
          <p:cNvSpPr/>
          <p:nvPr/>
        </p:nvSpPr>
        <p:spPr>
          <a:xfrm>
            <a:off x="1097280" y="2011680"/>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Select and change his treatment yourself</a:t>
            </a:r>
            <a:endParaRPr lang="en-US" dirty="0"/>
          </a:p>
        </p:txBody>
      </p:sp>
      <p:sp>
        <p:nvSpPr>
          <p:cNvPr id="11" name="Shape 9"/>
          <p:cNvSpPr/>
          <p:nvPr/>
        </p:nvSpPr>
        <p:spPr>
          <a:xfrm>
            <a:off x="566928" y="2596896"/>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12" name="Shape 10"/>
          <p:cNvSpPr/>
          <p:nvPr/>
        </p:nvSpPr>
        <p:spPr>
          <a:xfrm>
            <a:off x="676656" y="2679192"/>
            <a:ext cx="292608" cy="292608"/>
          </a:xfrm>
          <a:prstGeom prst="ellipse">
            <a:avLst/>
          </a:prstGeom>
          <a:solidFill>
            <a:srgbClr val="1A6FB0"/>
          </a:solidFill>
          <a:ln w="12700">
            <a:solidFill>
              <a:srgbClr val="1A6FB0"/>
            </a:solidFill>
            <a:prstDash val="solid"/>
          </a:ln>
        </p:spPr>
        <p:txBody>
          <a:bodyPr/>
          <a:lstStyle/>
          <a:p>
            <a:endParaRPr lang="es-CO"/>
          </a:p>
        </p:txBody>
      </p:sp>
      <p:sp>
        <p:nvSpPr>
          <p:cNvPr id="13" name="Text 11"/>
          <p:cNvSpPr/>
          <p:nvPr/>
        </p:nvSpPr>
        <p:spPr>
          <a:xfrm>
            <a:off x="676656" y="2679192"/>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B</a:t>
            </a:r>
            <a:endParaRPr lang="en-US" dirty="0"/>
          </a:p>
        </p:txBody>
      </p:sp>
      <p:sp>
        <p:nvSpPr>
          <p:cNvPr id="14" name="Text 12"/>
          <p:cNvSpPr/>
          <p:nvPr/>
        </p:nvSpPr>
        <p:spPr>
          <a:xfrm>
            <a:off x="1097280" y="2596896"/>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Perform the surgery</a:t>
            </a:r>
            <a:endParaRPr lang="en-US" dirty="0"/>
          </a:p>
        </p:txBody>
      </p:sp>
      <p:sp>
        <p:nvSpPr>
          <p:cNvPr id="15" name="Shape 13"/>
          <p:cNvSpPr/>
          <p:nvPr/>
        </p:nvSpPr>
        <p:spPr>
          <a:xfrm>
            <a:off x="566928" y="3182112"/>
            <a:ext cx="11055096" cy="457200"/>
          </a:xfrm>
          <a:prstGeom prst="roundRect">
            <a:avLst>
              <a:gd name="adj" fmla="val 10000"/>
            </a:avLst>
          </a:prstGeom>
          <a:solidFill>
            <a:srgbClr val="E7F4EC"/>
          </a:solidFill>
          <a:ln w="19050">
            <a:solidFill>
              <a:srgbClr val="1E7A46"/>
            </a:solidFill>
            <a:prstDash val="solid"/>
          </a:ln>
        </p:spPr>
        <p:txBody>
          <a:bodyPr/>
          <a:lstStyle/>
          <a:p>
            <a:endParaRPr lang="es-CO"/>
          </a:p>
        </p:txBody>
      </p:sp>
      <p:sp>
        <p:nvSpPr>
          <p:cNvPr id="16" name="Shape 14"/>
          <p:cNvSpPr/>
          <p:nvPr/>
        </p:nvSpPr>
        <p:spPr>
          <a:xfrm>
            <a:off x="676656" y="3264408"/>
            <a:ext cx="292608" cy="292608"/>
          </a:xfrm>
          <a:prstGeom prst="ellipse">
            <a:avLst/>
          </a:prstGeom>
          <a:solidFill>
            <a:srgbClr val="1E7A46"/>
          </a:solidFill>
          <a:ln w="12700">
            <a:solidFill>
              <a:srgbClr val="1E7A46"/>
            </a:solidFill>
            <a:prstDash val="solid"/>
          </a:ln>
        </p:spPr>
        <p:txBody>
          <a:bodyPr/>
          <a:lstStyle/>
          <a:p>
            <a:endParaRPr lang="es-CO"/>
          </a:p>
        </p:txBody>
      </p:sp>
      <p:sp>
        <p:nvSpPr>
          <p:cNvPr id="17" name="Text 15"/>
          <p:cNvSpPr/>
          <p:nvPr/>
        </p:nvSpPr>
        <p:spPr>
          <a:xfrm>
            <a:off x="676656" y="3264408"/>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C</a:t>
            </a:r>
            <a:endParaRPr lang="en-US" dirty="0"/>
          </a:p>
        </p:txBody>
      </p:sp>
      <p:sp>
        <p:nvSpPr>
          <p:cNvPr id="18" name="Text 16"/>
          <p:cNvSpPr/>
          <p:nvPr/>
        </p:nvSpPr>
        <p:spPr>
          <a:xfrm>
            <a:off x="1097280" y="3182112"/>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Explain the plan in plain words, support him through side effects, and keep him in follow-up</a:t>
            </a:r>
            <a:endParaRPr lang="en-US" dirty="0"/>
          </a:p>
        </p:txBody>
      </p:sp>
      <p:sp>
        <p:nvSpPr>
          <p:cNvPr id="19" name="Shape 17"/>
          <p:cNvSpPr/>
          <p:nvPr/>
        </p:nvSpPr>
        <p:spPr>
          <a:xfrm>
            <a:off x="566928" y="3767328"/>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76656" y="3849624"/>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76656" y="3849624"/>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D</a:t>
            </a:r>
            <a:endParaRPr lang="en-US" dirty="0"/>
          </a:p>
        </p:txBody>
      </p:sp>
      <p:sp>
        <p:nvSpPr>
          <p:cNvPr id="22" name="Text 20"/>
          <p:cNvSpPr/>
          <p:nvPr/>
        </p:nvSpPr>
        <p:spPr>
          <a:xfrm>
            <a:off x="1097280" y="3767328"/>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Confirm the diagnosis again</a:t>
            </a:r>
            <a:endParaRPr lang="en-US" dirty="0"/>
          </a:p>
        </p:txBody>
      </p:sp>
      <p:sp>
        <p:nvSpPr>
          <p:cNvPr id="23" name="Shape 21"/>
          <p:cNvSpPr/>
          <p:nvPr/>
        </p:nvSpPr>
        <p:spPr>
          <a:xfrm>
            <a:off x="566928" y="4407408"/>
            <a:ext cx="11055096" cy="1975104"/>
          </a:xfrm>
          <a:prstGeom prst="roundRect">
            <a:avLst>
              <a:gd name="adj" fmla="val 2315"/>
            </a:avLst>
          </a:prstGeom>
          <a:solidFill>
            <a:srgbClr val="E7F4EC"/>
          </a:solidFill>
          <a:ln w="12700">
            <a:solidFill>
              <a:srgbClr val="BFE3CD"/>
            </a:solidFill>
            <a:prstDash val="solid"/>
          </a:ln>
        </p:spPr>
        <p:txBody>
          <a:bodyPr/>
          <a:lstStyle/>
          <a:p>
            <a:endParaRPr lang="es-CO"/>
          </a:p>
        </p:txBody>
      </p:sp>
      <p:sp>
        <p:nvSpPr>
          <p:cNvPr id="24" name="Text 22"/>
          <p:cNvSpPr/>
          <p:nvPr/>
        </p:nvSpPr>
        <p:spPr>
          <a:xfrm>
            <a:off x="749808" y="4498848"/>
            <a:ext cx="10689336" cy="1792224"/>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C.  </a:t>
            </a:r>
            <a:r>
              <a:rPr lang="en-US" dirty="0">
                <a:solidFill>
                  <a:srgbClr val="223240"/>
                </a:solidFill>
                <a:latin typeface="Calibri" pitchFamily="34" charset="0"/>
                <a:ea typeface="Calibri" pitchFamily="34" charset="-122"/>
                <a:cs typeface="Calibri" pitchFamily="34" charset="-120"/>
              </a:rPr>
              <a:t>Specialists select and adjust treatment. The frontline clinician explains, supports, watches for effects and red flags, and keeps the man engaged, which strongly affects how well he does.</a:t>
            </a: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4 · HIGHLIGHTS</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Session 4 key points</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4.9</a:t>
            </a:r>
            <a:endParaRPr lang="en-US" sz="900" dirty="0"/>
          </a:p>
        </p:txBody>
      </p:sp>
      <p:sp>
        <p:nvSpPr>
          <p:cNvPr id="6" name="Shape 4"/>
          <p:cNvSpPr/>
          <p:nvPr/>
        </p:nvSpPr>
        <p:spPr>
          <a:xfrm>
            <a:off x="566928" y="1481328"/>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7" name="Shape 5"/>
          <p:cNvSpPr/>
          <p:nvPr/>
        </p:nvSpPr>
        <p:spPr>
          <a:xfrm>
            <a:off x="713232" y="2029968"/>
            <a:ext cx="365760" cy="365760"/>
          </a:xfrm>
          <a:prstGeom prst="ellipse">
            <a:avLst/>
          </a:prstGeom>
          <a:solidFill>
            <a:srgbClr val="1A6FB0"/>
          </a:solidFill>
          <a:ln w="12700">
            <a:solidFill>
              <a:srgbClr val="1A6FB0"/>
            </a:solidFill>
            <a:prstDash val="solid"/>
          </a:ln>
        </p:spPr>
        <p:txBody>
          <a:bodyPr/>
          <a:lstStyle/>
          <a:p>
            <a:endParaRPr lang="es-CO"/>
          </a:p>
        </p:txBody>
      </p:sp>
      <p:sp>
        <p:nvSpPr>
          <p:cNvPr id="8" name="Text 6"/>
          <p:cNvSpPr/>
          <p:nvPr/>
        </p:nvSpPr>
        <p:spPr>
          <a:xfrm>
            <a:off x="713232" y="2029968"/>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9" name="Text 7"/>
          <p:cNvSpPr/>
          <p:nvPr/>
        </p:nvSpPr>
        <p:spPr>
          <a:xfrm>
            <a:off x="1207008" y="1481328"/>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Only a biopsy (tissue under the microscope) confirms prostate cancer.</a:t>
            </a:r>
            <a:endParaRPr lang="en-US" dirty="0"/>
          </a:p>
        </p:txBody>
      </p:sp>
      <p:sp>
        <p:nvSpPr>
          <p:cNvPr id="10" name="Shape 8"/>
          <p:cNvSpPr/>
          <p:nvPr/>
        </p:nvSpPr>
        <p:spPr>
          <a:xfrm>
            <a:off x="6222492" y="1481328"/>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11" name="Shape 9"/>
          <p:cNvSpPr/>
          <p:nvPr/>
        </p:nvSpPr>
        <p:spPr>
          <a:xfrm>
            <a:off x="6368796" y="2029968"/>
            <a:ext cx="365760" cy="365760"/>
          </a:xfrm>
          <a:prstGeom prst="ellipse">
            <a:avLst/>
          </a:prstGeom>
          <a:solidFill>
            <a:srgbClr val="1A6FB0"/>
          </a:solidFill>
          <a:ln w="12700">
            <a:solidFill>
              <a:srgbClr val="1A6FB0"/>
            </a:solidFill>
            <a:prstDash val="solid"/>
          </a:ln>
        </p:spPr>
        <p:txBody>
          <a:bodyPr/>
          <a:lstStyle/>
          <a:p>
            <a:endParaRPr lang="es-CO"/>
          </a:p>
        </p:txBody>
      </p:sp>
      <p:sp>
        <p:nvSpPr>
          <p:cNvPr id="12" name="Text 10"/>
          <p:cNvSpPr/>
          <p:nvPr/>
        </p:nvSpPr>
        <p:spPr>
          <a:xfrm>
            <a:off x="6368796" y="2029968"/>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3" name="Text 11"/>
          <p:cNvSpPr/>
          <p:nvPr/>
        </p:nvSpPr>
        <p:spPr>
          <a:xfrm>
            <a:off x="6862572" y="1481328"/>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PSA and DRE decide who needs a biopsy; scans check for spread.</a:t>
            </a:r>
            <a:endParaRPr lang="en-US" dirty="0"/>
          </a:p>
        </p:txBody>
      </p:sp>
      <p:sp>
        <p:nvSpPr>
          <p:cNvPr id="14" name="Shape 12"/>
          <p:cNvSpPr/>
          <p:nvPr/>
        </p:nvSpPr>
        <p:spPr>
          <a:xfrm>
            <a:off x="566928" y="3200400"/>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15" name="Shape 13"/>
          <p:cNvSpPr/>
          <p:nvPr/>
        </p:nvSpPr>
        <p:spPr>
          <a:xfrm>
            <a:off x="713232" y="3749040"/>
            <a:ext cx="365760" cy="365760"/>
          </a:xfrm>
          <a:prstGeom prst="ellipse">
            <a:avLst/>
          </a:prstGeom>
          <a:solidFill>
            <a:srgbClr val="1A6FB0"/>
          </a:solidFill>
          <a:ln w="12700">
            <a:solidFill>
              <a:srgbClr val="1A6FB0"/>
            </a:solidFill>
            <a:prstDash val="solid"/>
          </a:ln>
        </p:spPr>
        <p:txBody>
          <a:bodyPr/>
          <a:lstStyle/>
          <a:p>
            <a:endParaRPr lang="es-CO"/>
          </a:p>
        </p:txBody>
      </p:sp>
      <p:sp>
        <p:nvSpPr>
          <p:cNvPr id="16" name="Text 14"/>
          <p:cNvSpPr/>
          <p:nvPr/>
        </p:nvSpPr>
        <p:spPr>
          <a:xfrm>
            <a:off x="713232" y="3749040"/>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17" name="Text 15"/>
          <p:cNvSpPr/>
          <p:nvPr/>
        </p:nvSpPr>
        <p:spPr>
          <a:xfrm>
            <a:off x="1207008" y="3200400"/>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Options: monitor, surgery, radiotherapy, or systemic (hormone/chemo).</a:t>
            </a:r>
            <a:endParaRPr lang="en-US" dirty="0"/>
          </a:p>
        </p:txBody>
      </p:sp>
      <p:sp>
        <p:nvSpPr>
          <p:cNvPr id="18" name="Shape 16"/>
          <p:cNvSpPr/>
          <p:nvPr/>
        </p:nvSpPr>
        <p:spPr>
          <a:xfrm>
            <a:off x="6222492" y="3200400"/>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19" name="Shape 17"/>
          <p:cNvSpPr/>
          <p:nvPr/>
        </p:nvSpPr>
        <p:spPr>
          <a:xfrm>
            <a:off x="6368796" y="3749040"/>
            <a:ext cx="365760" cy="365760"/>
          </a:xfrm>
          <a:prstGeom prst="ellipse">
            <a:avLst/>
          </a:prstGeom>
          <a:solidFill>
            <a:srgbClr val="1A6FB0"/>
          </a:solidFill>
          <a:ln w="12700">
            <a:solidFill>
              <a:srgbClr val="1A6FB0"/>
            </a:solidFill>
            <a:prstDash val="solid"/>
          </a:ln>
        </p:spPr>
        <p:txBody>
          <a:bodyPr/>
          <a:lstStyle/>
          <a:p>
            <a:endParaRPr lang="es-CO"/>
          </a:p>
        </p:txBody>
      </p:sp>
      <p:sp>
        <p:nvSpPr>
          <p:cNvPr id="20" name="Text 18"/>
          <p:cNvSpPr/>
          <p:nvPr/>
        </p:nvSpPr>
        <p:spPr>
          <a:xfrm>
            <a:off x="6368796" y="3749040"/>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21" name="Text 19"/>
          <p:cNvSpPr/>
          <p:nvPr/>
        </p:nvSpPr>
        <p:spPr>
          <a:xfrm>
            <a:off x="6862572" y="3200400"/>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Hormone therapy is central for spread disease, it lowers the driving hormones.</a:t>
            </a:r>
            <a:endParaRPr lang="en-US" dirty="0"/>
          </a:p>
        </p:txBody>
      </p:sp>
      <p:sp>
        <p:nvSpPr>
          <p:cNvPr id="22" name="Shape 20"/>
          <p:cNvSpPr/>
          <p:nvPr/>
        </p:nvSpPr>
        <p:spPr>
          <a:xfrm>
            <a:off x="566928" y="4919472"/>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23" name="Shape 21"/>
          <p:cNvSpPr/>
          <p:nvPr/>
        </p:nvSpPr>
        <p:spPr>
          <a:xfrm>
            <a:off x="713232" y="5468112"/>
            <a:ext cx="365760" cy="365760"/>
          </a:xfrm>
          <a:prstGeom prst="ellipse">
            <a:avLst/>
          </a:prstGeom>
          <a:solidFill>
            <a:srgbClr val="1A6FB0"/>
          </a:solidFill>
          <a:ln w="12700">
            <a:solidFill>
              <a:srgbClr val="1A6FB0"/>
            </a:solidFill>
            <a:prstDash val="solid"/>
          </a:ln>
        </p:spPr>
        <p:txBody>
          <a:bodyPr/>
          <a:lstStyle/>
          <a:p>
            <a:endParaRPr lang="es-CO"/>
          </a:p>
        </p:txBody>
      </p:sp>
      <p:sp>
        <p:nvSpPr>
          <p:cNvPr id="24" name="Text 22"/>
          <p:cNvSpPr/>
          <p:nvPr/>
        </p:nvSpPr>
        <p:spPr>
          <a:xfrm>
            <a:off x="713232" y="5468112"/>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5</a:t>
            </a:r>
            <a:endParaRPr lang="en-US" dirty="0"/>
          </a:p>
        </p:txBody>
      </p:sp>
      <p:sp>
        <p:nvSpPr>
          <p:cNvPr id="25" name="Text 23"/>
          <p:cNvSpPr/>
          <p:nvPr/>
        </p:nvSpPr>
        <p:spPr>
          <a:xfrm>
            <a:off x="1207008" y="4919472"/>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Specialists choose treatment; you explain, support and follow up.</a:t>
            </a:r>
            <a:endParaRPr lang="en-US" dirty="0"/>
          </a:p>
        </p:txBody>
      </p:sp>
      <p:sp>
        <p:nvSpPr>
          <p:cNvPr id="26" name="Shape 24"/>
          <p:cNvSpPr/>
          <p:nvPr/>
        </p:nvSpPr>
        <p:spPr>
          <a:xfrm>
            <a:off x="6222492" y="4919472"/>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27" name="Shape 25"/>
          <p:cNvSpPr/>
          <p:nvPr/>
        </p:nvSpPr>
        <p:spPr>
          <a:xfrm>
            <a:off x="6368796" y="5468112"/>
            <a:ext cx="365760" cy="365760"/>
          </a:xfrm>
          <a:prstGeom prst="ellipse">
            <a:avLst/>
          </a:prstGeom>
          <a:solidFill>
            <a:srgbClr val="1A6FB0"/>
          </a:solidFill>
          <a:ln w="12700">
            <a:solidFill>
              <a:srgbClr val="1A6FB0"/>
            </a:solidFill>
            <a:prstDash val="solid"/>
          </a:ln>
        </p:spPr>
        <p:txBody>
          <a:bodyPr/>
          <a:lstStyle/>
          <a:p>
            <a:endParaRPr lang="es-CO"/>
          </a:p>
        </p:txBody>
      </p:sp>
      <p:sp>
        <p:nvSpPr>
          <p:cNvPr id="28" name="Text 26"/>
          <p:cNvSpPr/>
          <p:nvPr/>
        </p:nvSpPr>
        <p:spPr>
          <a:xfrm>
            <a:off x="6368796" y="5468112"/>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6</a:t>
            </a:r>
            <a:endParaRPr lang="en-US" dirty="0"/>
          </a:p>
        </p:txBody>
      </p:sp>
      <p:sp>
        <p:nvSpPr>
          <p:cNvPr id="29" name="Text 27"/>
          <p:cNvSpPr/>
          <p:nvPr/>
        </p:nvSpPr>
        <p:spPr>
          <a:xfrm>
            <a:off x="6862572" y="4919472"/>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Match logic: localised → cure or monitor; spread → hormone/systemic; frail/slow → symptom control.</a:t>
            </a:r>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4 · KNOWLEDGE CHECK</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Knowledge Check</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4.10</a:t>
            </a:r>
            <a:endParaRPr lang="en-US" sz="900" dirty="0"/>
          </a:p>
        </p:txBody>
      </p:sp>
      <p:sp>
        <p:nvSpPr>
          <p:cNvPr id="6" name="Text 4"/>
          <p:cNvSpPr/>
          <p:nvPr/>
        </p:nvSpPr>
        <p:spPr>
          <a:xfrm>
            <a:off x="566928" y="1132410"/>
            <a:ext cx="11055096" cy="310896"/>
          </a:xfrm>
          <a:prstGeom prst="rect">
            <a:avLst/>
          </a:prstGeom>
          <a:noFill/>
          <a:ln/>
        </p:spPr>
        <p:txBody>
          <a:bodyPr wrap="square" lIns="0" tIns="0" rIns="0" bIns="0" rtlCol="0" anchor="t"/>
          <a:lstStyle/>
          <a:p>
            <a:pPr marL="0" indent="0">
              <a:buNone/>
            </a:pPr>
            <a:r>
              <a:rPr lang="en-US" sz="1300" i="1" dirty="0">
                <a:solidFill>
                  <a:srgbClr val="1A6FB0"/>
                </a:solidFill>
                <a:latin typeface="Calibri" pitchFamily="34" charset="0"/>
                <a:ea typeface="Calibri" pitchFamily="34" charset="-122"/>
                <a:cs typeface="Calibri" pitchFamily="34" charset="-120"/>
              </a:rPr>
              <a:t>Five questions. Each shows every option, the correct answer, and why.</a:t>
            </a:r>
            <a:endParaRPr lang="en-US" sz="1300" dirty="0"/>
          </a:p>
        </p:txBody>
      </p:sp>
      <p:sp>
        <p:nvSpPr>
          <p:cNvPr id="7" name="Shape 5"/>
          <p:cNvSpPr/>
          <p:nvPr/>
        </p:nvSpPr>
        <p:spPr>
          <a:xfrm>
            <a:off x="566928" y="1516458"/>
            <a:ext cx="11055096" cy="995972"/>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94944" y="1626186"/>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94944" y="1626186"/>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10" name="Text 8"/>
          <p:cNvSpPr/>
          <p:nvPr/>
        </p:nvSpPr>
        <p:spPr>
          <a:xfrm>
            <a:off x="1115568" y="1589610"/>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What confirms a diagnosis of prostate cancer?</a:t>
            </a:r>
            <a:endParaRPr lang="en-US" dirty="0"/>
          </a:p>
        </p:txBody>
      </p:sp>
      <p:sp>
        <p:nvSpPr>
          <p:cNvPr id="11" name="Text 9"/>
          <p:cNvSpPr/>
          <p:nvPr/>
        </p:nvSpPr>
        <p:spPr>
          <a:xfrm>
            <a:off x="1115568" y="1854786"/>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A high PSA     B. An abnormal prostate exam     C. A tissue sample under the microscope (biopsy)     D. A bone scan</a:t>
            </a:r>
            <a:endParaRPr lang="en-US" dirty="0"/>
          </a:p>
        </p:txBody>
      </p:sp>
      <p:sp>
        <p:nvSpPr>
          <p:cNvPr id="12" name="Text 10"/>
          <p:cNvSpPr/>
          <p:nvPr/>
        </p:nvSpPr>
        <p:spPr>
          <a:xfrm>
            <a:off x="3052653" y="2204952"/>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C.  </a:t>
            </a:r>
            <a:r>
              <a:rPr lang="en-US" dirty="0">
                <a:solidFill>
                  <a:srgbClr val="223240"/>
                </a:solidFill>
                <a:latin typeface="Calibri" pitchFamily="34" charset="0"/>
                <a:ea typeface="Calibri" pitchFamily="34" charset="-122"/>
                <a:cs typeface="Calibri" pitchFamily="34" charset="-120"/>
              </a:rPr>
              <a:t>Only histopathology, a biopsy, confirms cancer.</a:t>
            </a:r>
            <a:endParaRPr lang="en-US" dirty="0"/>
          </a:p>
        </p:txBody>
      </p:sp>
      <p:sp>
        <p:nvSpPr>
          <p:cNvPr id="13" name="Shape 11"/>
          <p:cNvSpPr/>
          <p:nvPr/>
        </p:nvSpPr>
        <p:spPr>
          <a:xfrm>
            <a:off x="566928" y="2585630"/>
            <a:ext cx="11055096" cy="915414"/>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14" name="Shape 12"/>
          <p:cNvSpPr/>
          <p:nvPr/>
        </p:nvSpPr>
        <p:spPr>
          <a:xfrm>
            <a:off x="694944" y="2637612"/>
            <a:ext cx="292608" cy="292608"/>
          </a:xfrm>
          <a:prstGeom prst="ellipse">
            <a:avLst/>
          </a:prstGeom>
          <a:solidFill>
            <a:srgbClr val="1A6FB0"/>
          </a:solidFill>
          <a:ln w="12700">
            <a:solidFill>
              <a:srgbClr val="1A6FB0"/>
            </a:solidFill>
            <a:prstDash val="solid"/>
          </a:ln>
        </p:spPr>
        <p:txBody>
          <a:bodyPr/>
          <a:lstStyle/>
          <a:p>
            <a:endParaRPr lang="es-CO"/>
          </a:p>
        </p:txBody>
      </p:sp>
      <p:sp>
        <p:nvSpPr>
          <p:cNvPr id="15" name="Text 13"/>
          <p:cNvSpPr/>
          <p:nvPr/>
        </p:nvSpPr>
        <p:spPr>
          <a:xfrm>
            <a:off x="694944" y="2637612"/>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6" name="Text 14"/>
          <p:cNvSpPr/>
          <p:nvPr/>
        </p:nvSpPr>
        <p:spPr>
          <a:xfrm>
            <a:off x="1115568" y="2615057"/>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A normal PSA means:</a:t>
            </a:r>
            <a:endParaRPr lang="en-US" dirty="0"/>
          </a:p>
        </p:txBody>
      </p:sp>
      <p:sp>
        <p:nvSpPr>
          <p:cNvPr id="17" name="Text 15"/>
          <p:cNvSpPr/>
          <p:nvPr/>
        </p:nvSpPr>
        <p:spPr>
          <a:xfrm>
            <a:off x="1115568" y="2913224"/>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Cancer is impossible     B. Cancer is still possible     C. No follow-up is ever needed     D. The man has kidney disease</a:t>
            </a:r>
            <a:endParaRPr lang="en-US" dirty="0"/>
          </a:p>
        </p:txBody>
      </p:sp>
      <p:sp>
        <p:nvSpPr>
          <p:cNvPr id="18" name="Text 16"/>
          <p:cNvSpPr/>
          <p:nvPr/>
        </p:nvSpPr>
        <p:spPr>
          <a:xfrm>
            <a:off x="4224528" y="3205789"/>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Cancer is still possible; PSA is not a perfect test.</a:t>
            </a:r>
            <a:endParaRPr lang="en-US" dirty="0"/>
          </a:p>
        </p:txBody>
      </p:sp>
      <p:sp>
        <p:nvSpPr>
          <p:cNvPr id="19" name="Shape 17"/>
          <p:cNvSpPr/>
          <p:nvPr/>
        </p:nvSpPr>
        <p:spPr>
          <a:xfrm>
            <a:off x="566928" y="3588397"/>
            <a:ext cx="11055096" cy="876576"/>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94944" y="3624973"/>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94944" y="3624973"/>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22" name="Text 20"/>
          <p:cNvSpPr/>
          <p:nvPr/>
        </p:nvSpPr>
        <p:spPr>
          <a:xfrm>
            <a:off x="1115568" y="3588397"/>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Hormone therapy works by:</a:t>
            </a:r>
            <a:endParaRPr lang="en-US" dirty="0"/>
          </a:p>
        </p:txBody>
      </p:sp>
      <p:sp>
        <p:nvSpPr>
          <p:cNvPr id="23" name="Text 21"/>
          <p:cNvSpPr/>
          <p:nvPr/>
        </p:nvSpPr>
        <p:spPr>
          <a:xfrm>
            <a:off x="1115568" y="3842260"/>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Killing all cells directly     B. Lowering the male hormones that fuel the cancer     C. Curing every case     D. Replacing surgery in all men</a:t>
            </a:r>
            <a:endParaRPr lang="en-US" dirty="0"/>
          </a:p>
        </p:txBody>
      </p:sp>
      <p:sp>
        <p:nvSpPr>
          <p:cNvPr id="24" name="Text 22"/>
          <p:cNvSpPr/>
          <p:nvPr/>
        </p:nvSpPr>
        <p:spPr>
          <a:xfrm>
            <a:off x="4388158" y="4145987"/>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Lowering the male hormones that fuel the cancer.</a:t>
            </a:r>
            <a:endParaRPr lang="en-US" dirty="0"/>
          </a:p>
        </p:txBody>
      </p:sp>
      <p:sp>
        <p:nvSpPr>
          <p:cNvPr id="25" name="Shape 23"/>
          <p:cNvSpPr/>
          <p:nvPr/>
        </p:nvSpPr>
        <p:spPr>
          <a:xfrm>
            <a:off x="566928" y="4524459"/>
            <a:ext cx="11055096" cy="954148"/>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26" name="Shape 24"/>
          <p:cNvSpPr/>
          <p:nvPr/>
        </p:nvSpPr>
        <p:spPr>
          <a:xfrm>
            <a:off x="694944" y="4576239"/>
            <a:ext cx="292608" cy="292608"/>
          </a:xfrm>
          <a:prstGeom prst="ellipse">
            <a:avLst/>
          </a:prstGeom>
          <a:solidFill>
            <a:srgbClr val="1A6FB0"/>
          </a:solidFill>
          <a:ln w="12700">
            <a:solidFill>
              <a:srgbClr val="1A6FB0"/>
            </a:solidFill>
            <a:prstDash val="solid"/>
          </a:ln>
        </p:spPr>
        <p:txBody>
          <a:bodyPr/>
          <a:lstStyle/>
          <a:p>
            <a:endParaRPr lang="es-CO"/>
          </a:p>
        </p:txBody>
      </p:sp>
      <p:sp>
        <p:nvSpPr>
          <p:cNvPr id="27" name="Text 25"/>
          <p:cNvSpPr/>
          <p:nvPr/>
        </p:nvSpPr>
        <p:spPr>
          <a:xfrm>
            <a:off x="694944" y="4481426"/>
            <a:ext cx="292608" cy="444694"/>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28" name="Text 26"/>
          <p:cNvSpPr/>
          <p:nvPr/>
        </p:nvSpPr>
        <p:spPr>
          <a:xfrm>
            <a:off x="1115568" y="4539663"/>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"Active surveillance" is best for:</a:t>
            </a:r>
            <a:endParaRPr lang="en-US" dirty="0"/>
          </a:p>
        </p:txBody>
      </p:sp>
      <p:sp>
        <p:nvSpPr>
          <p:cNvPr id="29" name="Text 27"/>
          <p:cNvSpPr/>
          <p:nvPr/>
        </p:nvSpPr>
        <p:spPr>
          <a:xfrm>
            <a:off x="1115568" y="4828899"/>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Advanced cancer with bone spread     B. A small, low-risk, localised cancer     C. Any man who refuses tests     D. Emergencies</a:t>
            </a:r>
            <a:endParaRPr lang="en-US" dirty="0"/>
          </a:p>
        </p:txBody>
      </p:sp>
      <p:sp>
        <p:nvSpPr>
          <p:cNvPr id="30" name="Text 28"/>
          <p:cNvSpPr/>
          <p:nvPr/>
        </p:nvSpPr>
        <p:spPr>
          <a:xfrm>
            <a:off x="4039241" y="5208860"/>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A small, low-risk, localised cancer, to avoid needless side effects.</a:t>
            </a:r>
            <a:endParaRPr lang="en-US" dirty="0"/>
          </a:p>
        </p:txBody>
      </p:sp>
      <p:sp>
        <p:nvSpPr>
          <p:cNvPr id="31" name="Shape 29"/>
          <p:cNvSpPr/>
          <p:nvPr/>
        </p:nvSpPr>
        <p:spPr>
          <a:xfrm>
            <a:off x="566928" y="5538092"/>
            <a:ext cx="11055096" cy="954148"/>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32" name="Shape 30"/>
          <p:cNvSpPr/>
          <p:nvPr/>
        </p:nvSpPr>
        <p:spPr>
          <a:xfrm>
            <a:off x="694944" y="5587660"/>
            <a:ext cx="292608" cy="292608"/>
          </a:xfrm>
          <a:prstGeom prst="ellipse">
            <a:avLst/>
          </a:prstGeom>
          <a:solidFill>
            <a:srgbClr val="1A6FB0"/>
          </a:solidFill>
          <a:ln w="12700">
            <a:solidFill>
              <a:srgbClr val="1A6FB0"/>
            </a:solidFill>
            <a:prstDash val="solid"/>
          </a:ln>
        </p:spPr>
        <p:txBody>
          <a:bodyPr/>
          <a:lstStyle/>
          <a:p>
            <a:endParaRPr lang="es-CO"/>
          </a:p>
        </p:txBody>
      </p:sp>
      <p:sp>
        <p:nvSpPr>
          <p:cNvPr id="33" name="Text 31"/>
          <p:cNvSpPr/>
          <p:nvPr/>
        </p:nvSpPr>
        <p:spPr>
          <a:xfrm>
            <a:off x="694944" y="5587660"/>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5</a:t>
            </a:r>
            <a:endParaRPr lang="en-US" dirty="0"/>
          </a:p>
        </p:txBody>
      </p:sp>
      <p:sp>
        <p:nvSpPr>
          <p:cNvPr id="34" name="Text 32"/>
          <p:cNvSpPr/>
          <p:nvPr/>
        </p:nvSpPr>
        <p:spPr>
          <a:xfrm>
            <a:off x="1115568" y="5551084"/>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Your role in treatment is mainly to:</a:t>
            </a:r>
            <a:endParaRPr lang="en-US" dirty="0"/>
          </a:p>
        </p:txBody>
      </p:sp>
      <p:sp>
        <p:nvSpPr>
          <p:cNvPr id="35" name="Text 33"/>
          <p:cNvSpPr/>
          <p:nvPr/>
        </p:nvSpPr>
        <p:spPr>
          <a:xfrm>
            <a:off x="1115568" y="5816260"/>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Choose and give the treatment     B. Perform the surgery     C. Explain the plan, support the patient and follow up     D. Confirm the diagnosis alone</a:t>
            </a:r>
            <a:endParaRPr lang="en-US" dirty="0"/>
          </a:p>
        </p:txBody>
      </p:sp>
      <p:sp>
        <p:nvSpPr>
          <p:cNvPr id="36" name="Text 34"/>
          <p:cNvSpPr/>
          <p:nvPr/>
        </p:nvSpPr>
        <p:spPr>
          <a:xfrm>
            <a:off x="5266463" y="6181344"/>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C.  </a:t>
            </a:r>
            <a:r>
              <a:rPr lang="en-US" dirty="0">
                <a:solidFill>
                  <a:srgbClr val="223240"/>
                </a:solidFill>
                <a:latin typeface="Calibri" pitchFamily="34" charset="0"/>
                <a:ea typeface="Calibri" pitchFamily="34" charset="-122"/>
                <a:cs typeface="Calibri" pitchFamily="34" charset="-120"/>
              </a:rPr>
              <a:t>Explain the plan, support the patient and follow up.</a:t>
            </a:r>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67">
    <p:bg>
      <p:bgPr>
        <a:solidFill>
          <a:srgbClr val="1F3A5F"/>
        </a:solidFill>
        <a:effectLst/>
      </p:bgPr>
    </p:bg>
    <p:spTree>
      <p:nvGrpSpPr>
        <p:cNvPr id="1" name=""/>
        <p:cNvGrpSpPr/>
        <p:nvPr/>
      </p:nvGrpSpPr>
      <p:grpSpPr>
        <a:xfrm>
          <a:off x="0" y="0"/>
          <a:ext cx="0" cy="0"/>
          <a:chOff x="0" y="0"/>
          <a:chExt cx="0" cy="0"/>
        </a:xfrm>
      </p:grpSpPr>
      <p:sp>
        <p:nvSpPr>
          <p:cNvPr id="2" name="Text 0"/>
          <p:cNvSpPr/>
          <p:nvPr/>
        </p:nvSpPr>
        <p:spPr>
          <a:xfrm>
            <a:off x="1005840" y="2377440"/>
            <a:ext cx="10058400" cy="365760"/>
          </a:xfrm>
          <a:prstGeom prst="rect">
            <a:avLst/>
          </a:prstGeom>
          <a:noFill/>
          <a:ln/>
        </p:spPr>
        <p:txBody>
          <a:bodyPr wrap="square" lIns="0" tIns="0" rIns="0" bIns="0" rtlCol="0" anchor="ctr"/>
          <a:lstStyle/>
          <a:p>
            <a:pPr marL="0" indent="0">
              <a:buNone/>
            </a:pPr>
            <a:r>
              <a:rPr lang="en-US" sz="1500" b="1" kern="0" spc="300" dirty="0">
                <a:solidFill>
                  <a:srgbClr val="9FC4E4"/>
                </a:solidFill>
                <a:latin typeface="Calibri" pitchFamily="34" charset="0"/>
                <a:ea typeface="Calibri" pitchFamily="34" charset="-122"/>
                <a:cs typeface="Calibri" pitchFamily="34" charset="-120"/>
              </a:rPr>
              <a:t>SESSION 5</a:t>
            </a:r>
            <a:endParaRPr lang="en-US" sz="1500" dirty="0"/>
          </a:p>
        </p:txBody>
      </p:sp>
      <p:sp>
        <p:nvSpPr>
          <p:cNvPr id="3" name="Text 1"/>
          <p:cNvSpPr/>
          <p:nvPr/>
        </p:nvSpPr>
        <p:spPr>
          <a:xfrm>
            <a:off x="1005840" y="2788920"/>
            <a:ext cx="10058400" cy="118872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Supportive Treatment</a:t>
            </a:r>
            <a:endParaRPr lang="en-US" sz="4000" dirty="0"/>
          </a:p>
        </p:txBody>
      </p:sp>
      <p:sp>
        <p:nvSpPr>
          <p:cNvPr id="4" name="Text 2"/>
          <p:cNvSpPr/>
          <p:nvPr/>
        </p:nvSpPr>
        <p:spPr>
          <a:xfrm>
            <a:off x="1024128" y="3977640"/>
            <a:ext cx="9601200" cy="822960"/>
          </a:xfrm>
          <a:prstGeom prst="rect">
            <a:avLst/>
          </a:prstGeom>
          <a:noFill/>
          <a:ln/>
        </p:spPr>
        <p:txBody>
          <a:bodyPr wrap="square" lIns="0" tIns="0" rIns="0" bIns="0" rtlCol="0" anchor="t"/>
          <a:lstStyle/>
          <a:p>
            <a:pPr marL="0" indent="0">
              <a:buNone/>
            </a:pPr>
            <a:r>
              <a:rPr lang="en-US" sz="1500" dirty="0">
                <a:solidFill>
                  <a:srgbClr val="CFE0EF"/>
                </a:solidFill>
                <a:latin typeface="Calibri" pitchFamily="34" charset="0"/>
                <a:ea typeface="Calibri" pitchFamily="34" charset="-122"/>
                <a:cs typeface="Calibri" pitchFamily="34" charset="-120"/>
              </a:rPr>
              <a:t>Managing treatment effects, catching emergencies, and supporting comfort, dignity and quality of life.</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5 · SUPPORTIVE TREATMENT</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What this session gives you</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5.1</a:t>
            </a:r>
            <a:endParaRPr lang="en-US" sz="900" dirty="0"/>
          </a:p>
        </p:txBody>
      </p:sp>
      <p:sp>
        <p:nvSpPr>
          <p:cNvPr id="6" name="Shape 4"/>
          <p:cNvSpPr/>
          <p:nvPr/>
        </p:nvSpPr>
        <p:spPr>
          <a:xfrm>
            <a:off x="566928" y="1481328"/>
            <a:ext cx="11055096" cy="960120"/>
          </a:xfrm>
          <a:prstGeom prst="roundRect">
            <a:avLst>
              <a:gd name="adj" fmla="val 5714"/>
            </a:avLst>
          </a:prstGeom>
          <a:solidFill>
            <a:srgbClr val="EAF1F8"/>
          </a:solidFill>
          <a:ln w="12700">
            <a:solidFill>
              <a:srgbClr val="EAF1F8"/>
            </a:solidFill>
            <a:prstDash val="solid"/>
          </a:ln>
        </p:spPr>
        <p:txBody>
          <a:bodyPr/>
          <a:lstStyle/>
          <a:p>
            <a:endParaRPr lang="es-CO"/>
          </a:p>
        </p:txBody>
      </p:sp>
      <p:sp>
        <p:nvSpPr>
          <p:cNvPr id="7" name="Text 5"/>
          <p:cNvSpPr/>
          <p:nvPr/>
        </p:nvSpPr>
        <p:spPr>
          <a:xfrm>
            <a:off x="731520" y="1572768"/>
            <a:ext cx="10725912" cy="777240"/>
          </a:xfrm>
          <a:prstGeom prst="rect">
            <a:avLst/>
          </a:prstGeom>
          <a:noFill/>
          <a:ln/>
        </p:spPr>
        <p:txBody>
          <a:bodyPr wrap="square" lIns="0" tIns="0" rIns="0" bIns="0" rtlCol="0" anchor="t"/>
          <a:lstStyle/>
          <a:p>
            <a:pPr marL="0" indent="0" algn="l">
              <a:buNone/>
            </a:pPr>
            <a:r>
              <a:rPr lang="en-US" b="1" dirty="0">
                <a:solidFill>
                  <a:srgbClr val="1A6FB0"/>
                </a:solidFill>
                <a:latin typeface="Calibri" pitchFamily="34" charset="0"/>
                <a:ea typeface="Calibri" pitchFamily="34" charset="-122"/>
                <a:cs typeface="Calibri" pitchFamily="34" charset="-120"/>
              </a:rPr>
              <a:t>By the end you will be able to:  </a:t>
            </a:r>
            <a:r>
              <a:rPr lang="en-US" dirty="0">
                <a:solidFill>
                  <a:srgbClr val="223240"/>
                </a:solidFill>
                <a:latin typeface="Calibri" pitchFamily="34" charset="0"/>
                <a:ea typeface="Calibri" pitchFamily="34" charset="-122"/>
                <a:cs typeface="Calibri" pitchFamily="34" charset="-120"/>
              </a:rPr>
              <a:t>manage common treatment effects, recognise emergencies (red flags), and support palliative needs and quality of life, the part of care that most often runs through your hands.</a:t>
            </a:r>
            <a:endParaRPr lang="en-US" dirty="0"/>
          </a:p>
        </p:txBody>
      </p:sp>
      <p:sp>
        <p:nvSpPr>
          <p:cNvPr id="8" name="Shape 6"/>
          <p:cNvSpPr/>
          <p:nvPr/>
        </p:nvSpPr>
        <p:spPr>
          <a:xfrm>
            <a:off x="566928" y="2670048"/>
            <a:ext cx="5390388" cy="1719072"/>
          </a:xfrm>
          <a:prstGeom prst="roundRect">
            <a:avLst>
              <a:gd name="adj" fmla="val 4255"/>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9" name="Shape 7"/>
          <p:cNvSpPr/>
          <p:nvPr/>
        </p:nvSpPr>
        <p:spPr>
          <a:xfrm>
            <a:off x="786384" y="2889504"/>
            <a:ext cx="164592" cy="164592"/>
          </a:xfrm>
          <a:prstGeom prst="ellipse">
            <a:avLst/>
          </a:prstGeom>
          <a:solidFill>
            <a:srgbClr val="1A6FB0"/>
          </a:solidFill>
          <a:ln w="12700">
            <a:solidFill>
              <a:srgbClr val="1A6FB0"/>
            </a:solidFill>
            <a:prstDash val="solid"/>
          </a:ln>
        </p:spPr>
        <p:txBody>
          <a:bodyPr/>
          <a:lstStyle/>
          <a:p>
            <a:endParaRPr lang="es-CO"/>
          </a:p>
        </p:txBody>
      </p:sp>
      <p:sp>
        <p:nvSpPr>
          <p:cNvPr id="10" name="Text 8"/>
          <p:cNvSpPr/>
          <p:nvPr/>
        </p:nvSpPr>
        <p:spPr>
          <a:xfrm>
            <a:off x="1060704" y="279806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Treatment effects</a:t>
            </a:r>
            <a:endParaRPr lang="en-US" dirty="0"/>
          </a:p>
        </p:txBody>
      </p:sp>
      <p:sp>
        <p:nvSpPr>
          <p:cNvPr id="11" name="Text 9"/>
          <p:cNvSpPr/>
          <p:nvPr/>
        </p:nvSpPr>
        <p:spPr>
          <a:xfrm>
            <a:off x="786384" y="3218688"/>
            <a:ext cx="4988052" cy="106070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Tell expected effects from problems that need action.</a:t>
            </a:r>
            <a:endParaRPr lang="en-US" dirty="0"/>
          </a:p>
        </p:txBody>
      </p:sp>
      <p:sp>
        <p:nvSpPr>
          <p:cNvPr id="12" name="Shape 10"/>
          <p:cNvSpPr/>
          <p:nvPr/>
        </p:nvSpPr>
        <p:spPr>
          <a:xfrm>
            <a:off x="6231636" y="2670048"/>
            <a:ext cx="5390388" cy="1719072"/>
          </a:xfrm>
          <a:prstGeom prst="roundRect">
            <a:avLst>
              <a:gd name="adj" fmla="val 4255"/>
            </a:avLst>
          </a:prstGeom>
          <a:solidFill>
            <a:srgbClr val="FFFFFF"/>
          </a:solidFill>
          <a:ln w="19050">
            <a:solidFill>
              <a:srgbClr val="B23A2E"/>
            </a:solidFill>
            <a:prstDash val="solid"/>
          </a:ln>
          <a:effectLst>
            <a:outerShdw blurRad="50800" dist="25400" dir="5400000" algn="bl" rotWithShape="0">
              <a:srgbClr val="BFCEDD">
                <a:alpha val="50000"/>
              </a:srgbClr>
            </a:outerShdw>
          </a:effectLst>
        </p:spPr>
        <p:txBody>
          <a:bodyPr/>
          <a:lstStyle/>
          <a:p>
            <a:endParaRPr lang="es-CO"/>
          </a:p>
        </p:txBody>
      </p:sp>
      <p:sp>
        <p:nvSpPr>
          <p:cNvPr id="13" name="Shape 11"/>
          <p:cNvSpPr/>
          <p:nvPr/>
        </p:nvSpPr>
        <p:spPr>
          <a:xfrm>
            <a:off x="6451092" y="2889504"/>
            <a:ext cx="164592" cy="164592"/>
          </a:xfrm>
          <a:prstGeom prst="ellipse">
            <a:avLst/>
          </a:prstGeom>
          <a:solidFill>
            <a:srgbClr val="B23A2E"/>
          </a:solidFill>
          <a:ln w="12700">
            <a:solidFill>
              <a:srgbClr val="B23A2E"/>
            </a:solidFill>
            <a:prstDash val="solid"/>
          </a:ln>
        </p:spPr>
        <p:txBody>
          <a:bodyPr/>
          <a:lstStyle/>
          <a:p>
            <a:endParaRPr lang="es-CO"/>
          </a:p>
        </p:txBody>
      </p:sp>
      <p:sp>
        <p:nvSpPr>
          <p:cNvPr id="14" name="Text 12"/>
          <p:cNvSpPr/>
          <p:nvPr/>
        </p:nvSpPr>
        <p:spPr>
          <a:xfrm>
            <a:off x="6725412" y="2798064"/>
            <a:ext cx="4732020" cy="365760"/>
          </a:xfrm>
          <a:prstGeom prst="rect">
            <a:avLst/>
          </a:prstGeom>
          <a:noFill/>
          <a:ln/>
        </p:spPr>
        <p:txBody>
          <a:bodyPr wrap="square" lIns="0" tIns="0" rIns="0" bIns="0" rtlCol="0" anchor="t"/>
          <a:lstStyle/>
          <a:p>
            <a:pPr marL="0" indent="0">
              <a:buNone/>
            </a:pPr>
            <a:r>
              <a:rPr lang="en-US" b="1" dirty="0">
                <a:solidFill>
                  <a:srgbClr val="B23A2E"/>
                </a:solidFill>
                <a:latin typeface="Calibri" pitchFamily="34" charset="0"/>
                <a:ea typeface="Calibri" pitchFamily="34" charset="-122"/>
                <a:cs typeface="Calibri" pitchFamily="34" charset="-120"/>
              </a:rPr>
              <a:t>Red flags</a:t>
            </a:r>
            <a:endParaRPr lang="en-US" dirty="0"/>
          </a:p>
        </p:txBody>
      </p:sp>
      <p:sp>
        <p:nvSpPr>
          <p:cNvPr id="15" name="Text 13"/>
          <p:cNvSpPr/>
          <p:nvPr/>
        </p:nvSpPr>
        <p:spPr>
          <a:xfrm>
            <a:off x="6451092" y="3218688"/>
            <a:ext cx="4988052" cy="106070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Recognise emergencies and act same-day.</a:t>
            </a:r>
            <a:endParaRPr lang="en-US" dirty="0"/>
          </a:p>
        </p:txBody>
      </p:sp>
      <p:sp>
        <p:nvSpPr>
          <p:cNvPr id="16" name="Shape 14"/>
          <p:cNvSpPr/>
          <p:nvPr/>
        </p:nvSpPr>
        <p:spPr>
          <a:xfrm>
            <a:off x="566928" y="4663440"/>
            <a:ext cx="5390388" cy="1719072"/>
          </a:xfrm>
          <a:prstGeom prst="roundRect">
            <a:avLst>
              <a:gd name="adj" fmla="val 4255"/>
            </a:avLst>
          </a:prstGeom>
          <a:solidFill>
            <a:srgbClr val="FFFFFF"/>
          </a:solidFill>
          <a:ln w="19050">
            <a:solidFill>
              <a:srgbClr val="1E7A46"/>
            </a:solidFill>
            <a:prstDash val="solid"/>
          </a:ln>
          <a:effectLst>
            <a:outerShdw blurRad="50800" dist="25400" dir="5400000" algn="bl" rotWithShape="0">
              <a:srgbClr val="BFCEDD">
                <a:alpha val="50000"/>
              </a:srgbClr>
            </a:outerShdw>
          </a:effectLst>
        </p:spPr>
        <p:txBody>
          <a:bodyPr/>
          <a:lstStyle/>
          <a:p>
            <a:endParaRPr lang="es-CO"/>
          </a:p>
        </p:txBody>
      </p:sp>
      <p:sp>
        <p:nvSpPr>
          <p:cNvPr id="17" name="Shape 15"/>
          <p:cNvSpPr/>
          <p:nvPr/>
        </p:nvSpPr>
        <p:spPr>
          <a:xfrm>
            <a:off x="786384" y="4882896"/>
            <a:ext cx="164592" cy="164592"/>
          </a:xfrm>
          <a:prstGeom prst="ellipse">
            <a:avLst/>
          </a:prstGeom>
          <a:solidFill>
            <a:srgbClr val="1E7A46"/>
          </a:solidFill>
          <a:ln w="12700">
            <a:solidFill>
              <a:srgbClr val="1E7A46"/>
            </a:solidFill>
            <a:prstDash val="solid"/>
          </a:ln>
        </p:spPr>
        <p:txBody>
          <a:bodyPr/>
          <a:lstStyle/>
          <a:p>
            <a:endParaRPr lang="es-CO"/>
          </a:p>
        </p:txBody>
      </p:sp>
      <p:sp>
        <p:nvSpPr>
          <p:cNvPr id="18" name="Text 16"/>
          <p:cNvSpPr/>
          <p:nvPr/>
        </p:nvSpPr>
        <p:spPr>
          <a:xfrm>
            <a:off x="1060704" y="4791456"/>
            <a:ext cx="4732020" cy="36576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Palliative care</a:t>
            </a:r>
            <a:endParaRPr lang="en-US" dirty="0"/>
          </a:p>
        </p:txBody>
      </p:sp>
      <p:sp>
        <p:nvSpPr>
          <p:cNvPr id="19" name="Text 17"/>
          <p:cNvSpPr/>
          <p:nvPr/>
        </p:nvSpPr>
        <p:spPr>
          <a:xfrm>
            <a:off x="786384" y="5212080"/>
            <a:ext cx="4988052" cy="106070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Relieve pain and suffering, from early on, not only at the end.</a:t>
            </a:r>
            <a:endParaRPr lang="en-US" dirty="0"/>
          </a:p>
        </p:txBody>
      </p:sp>
      <p:sp>
        <p:nvSpPr>
          <p:cNvPr id="20" name="Shape 18"/>
          <p:cNvSpPr/>
          <p:nvPr/>
        </p:nvSpPr>
        <p:spPr>
          <a:xfrm>
            <a:off x="6231636" y="4663440"/>
            <a:ext cx="5390388" cy="1719072"/>
          </a:xfrm>
          <a:prstGeom prst="roundRect">
            <a:avLst>
              <a:gd name="adj" fmla="val 4255"/>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21" name="Shape 19"/>
          <p:cNvSpPr/>
          <p:nvPr/>
        </p:nvSpPr>
        <p:spPr>
          <a:xfrm>
            <a:off x="6451092" y="4882896"/>
            <a:ext cx="164592" cy="164592"/>
          </a:xfrm>
          <a:prstGeom prst="ellipse">
            <a:avLst/>
          </a:prstGeom>
          <a:solidFill>
            <a:srgbClr val="1A6FB0"/>
          </a:solidFill>
          <a:ln w="12700">
            <a:solidFill>
              <a:srgbClr val="1A6FB0"/>
            </a:solidFill>
            <a:prstDash val="solid"/>
          </a:ln>
        </p:spPr>
        <p:txBody>
          <a:bodyPr/>
          <a:lstStyle/>
          <a:p>
            <a:endParaRPr lang="es-CO"/>
          </a:p>
        </p:txBody>
      </p:sp>
      <p:sp>
        <p:nvSpPr>
          <p:cNvPr id="22" name="Text 20"/>
          <p:cNvSpPr/>
          <p:nvPr/>
        </p:nvSpPr>
        <p:spPr>
          <a:xfrm>
            <a:off x="6725412" y="4791456"/>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Quality of life</a:t>
            </a:r>
            <a:endParaRPr lang="en-US" dirty="0"/>
          </a:p>
        </p:txBody>
      </p:sp>
      <p:sp>
        <p:nvSpPr>
          <p:cNvPr id="23" name="Text 21"/>
          <p:cNvSpPr/>
          <p:nvPr/>
        </p:nvSpPr>
        <p:spPr>
          <a:xfrm>
            <a:off x="6451092" y="5212080"/>
            <a:ext cx="4988052" cy="106070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Support continence, sexual health, mind, and staying in care.</a:t>
            </a: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5 · CASE PROGRESSION</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Jean, three months later</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5.2</a:t>
            </a:r>
            <a:endParaRPr lang="en-US" sz="900" dirty="0"/>
          </a:p>
        </p:txBody>
      </p:sp>
      <p:sp>
        <p:nvSpPr>
          <p:cNvPr id="6" name="Shape 4"/>
          <p:cNvSpPr/>
          <p:nvPr/>
        </p:nvSpPr>
        <p:spPr>
          <a:xfrm>
            <a:off x="566928" y="1481328"/>
            <a:ext cx="11055096" cy="4901184"/>
          </a:xfrm>
          <a:prstGeom prst="roundRect">
            <a:avLst>
              <a:gd name="adj" fmla="val 1119"/>
            </a:avLst>
          </a:prstGeom>
          <a:solidFill>
            <a:srgbClr val="FFF7E8"/>
          </a:solidFill>
          <a:ln w="15875">
            <a:solidFill>
              <a:srgbClr val="EAD8AE"/>
            </a:solidFill>
            <a:prstDash val="solid"/>
          </a:ln>
        </p:spPr>
        <p:txBody>
          <a:bodyPr/>
          <a:lstStyle/>
          <a:p>
            <a:endParaRPr lang="es-CO"/>
          </a:p>
        </p:txBody>
      </p:sp>
      <p:sp>
        <p:nvSpPr>
          <p:cNvPr id="7" name="Text 5"/>
          <p:cNvSpPr/>
          <p:nvPr/>
        </p:nvSpPr>
        <p:spPr>
          <a:xfrm>
            <a:off x="822960" y="1865376"/>
            <a:ext cx="10543032" cy="310896"/>
          </a:xfrm>
          <a:prstGeom prst="rect">
            <a:avLst/>
          </a:prstGeom>
          <a:noFill/>
          <a:ln/>
        </p:spPr>
        <p:txBody>
          <a:bodyPr wrap="square" lIns="0" tIns="0" rIns="0" bIns="0" rtlCol="0" anchor="t"/>
          <a:lstStyle/>
          <a:p>
            <a:pPr marL="0" indent="0">
              <a:buNone/>
            </a:pPr>
            <a:r>
              <a:rPr lang="en-US" b="1" dirty="0">
                <a:solidFill>
                  <a:srgbClr val="B26A00"/>
                </a:solidFill>
                <a:latin typeface="Cambria" pitchFamily="34" charset="0"/>
                <a:ea typeface="Cambria" pitchFamily="34" charset="-122"/>
                <a:cs typeface="Cambria" pitchFamily="34" charset="-120"/>
              </a:rPr>
              <a:t>🩺  Clinical case:  </a:t>
            </a:r>
            <a:r>
              <a:rPr lang="en-US" b="1" dirty="0">
                <a:solidFill>
                  <a:srgbClr val="1F3A5F"/>
                </a:solidFill>
                <a:latin typeface="Cambria" pitchFamily="34" charset="0"/>
                <a:ea typeface="Cambria" pitchFamily="34" charset="-122"/>
                <a:cs typeface="Cambria" pitchFamily="34" charset="-120"/>
              </a:rPr>
              <a:t>Jean, 68, progression</a:t>
            </a:r>
            <a:endParaRPr lang="en-US" dirty="0"/>
          </a:p>
        </p:txBody>
      </p:sp>
      <p:sp>
        <p:nvSpPr>
          <p:cNvPr id="8" name="Text 6"/>
          <p:cNvSpPr/>
          <p:nvPr/>
        </p:nvSpPr>
        <p:spPr>
          <a:xfrm>
            <a:off x="822960" y="2459736"/>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What you already know:   </a:t>
            </a:r>
            <a:r>
              <a:rPr lang="en-US" dirty="0">
                <a:solidFill>
                  <a:srgbClr val="223240"/>
                </a:solidFill>
                <a:latin typeface="Calibri" pitchFamily="34" charset="0"/>
                <a:ea typeface="Calibri" pitchFamily="34" charset="-122"/>
                <a:cs typeface="Calibri" pitchFamily="34" charset="-120"/>
              </a:rPr>
              <a:t>Jean started hormone therapy for cancer that had spread to bone.</a:t>
            </a:r>
            <a:endParaRPr lang="en-US" dirty="0"/>
          </a:p>
        </p:txBody>
      </p:sp>
      <p:sp>
        <p:nvSpPr>
          <p:cNvPr id="9" name="Text 7"/>
          <p:cNvSpPr/>
          <p:nvPr/>
        </p:nvSpPr>
        <p:spPr>
          <a:xfrm>
            <a:off x="822960" y="3200400"/>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New information:   </a:t>
            </a:r>
            <a:r>
              <a:rPr lang="en-US" dirty="0">
                <a:solidFill>
                  <a:srgbClr val="223240"/>
                </a:solidFill>
                <a:latin typeface="Calibri" pitchFamily="34" charset="0"/>
                <a:ea typeface="Calibri" pitchFamily="34" charset="-122"/>
                <a:cs typeface="Calibri" pitchFamily="34" charset="-120"/>
              </a:rPr>
              <a:t>He returns to your health centre. He mentions hot flushes and tiredness, and, more worryingly, new severe back pain with a "heavy", weak feeling in both legs.</a:t>
            </a:r>
            <a:endParaRPr lang="en-US" dirty="0"/>
          </a:p>
        </p:txBody>
      </p:sp>
      <p:sp>
        <p:nvSpPr>
          <p:cNvPr id="10" name="Text 8"/>
          <p:cNvSpPr/>
          <p:nvPr/>
        </p:nvSpPr>
        <p:spPr>
          <a:xfrm>
            <a:off x="822960" y="4008439"/>
            <a:ext cx="10543032" cy="45720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Also:   </a:t>
            </a:r>
            <a:r>
              <a:rPr lang="en-US" dirty="0">
                <a:solidFill>
                  <a:srgbClr val="223240"/>
                </a:solidFill>
                <a:latin typeface="Calibri" pitchFamily="34" charset="0"/>
                <a:ea typeface="Calibri" pitchFamily="34" charset="-122"/>
                <a:cs typeface="Calibri" pitchFamily="34" charset="-120"/>
              </a:rPr>
              <a:t>He is low in mood and embarrassed to say his sex drive has gone.</a:t>
            </a:r>
            <a:endParaRPr lang="en-US" dirty="0"/>
          </a:p>
        </p:txBody>
      </p:sp>
      <p:sp>
        <p:nvSpPr>
          <p:cNvPr id="11" name="Shape 9"/>
          <p:cNvSpPr/>
          <p:nvPr/>
        </p:nvSpPr>
        <p:spPr>
          <a:xfrm>
            <a:off x="822960" y="4928615"/>
            <a:ext cx="10543032" cy="762321"/>
          </a:xfrm>
          <a:prstGeom prst="roundRect">
            <a:avLst>
              <a:gd name="adj" fmla="val 7576"/>
            </a:avLst>
          </a:prstGeom>
          <a:solidFill>
            <a:srgbClr val="FBE6C6"/>
          </a:solidFill>
          <a:ln w="12700">
            <a:solidFill>
              <a:srgbClr val="FBE6C6"/>
            </a:solidFill>
            <a:prstDash val="solid"/>
          </a:ln>
        </p:spPr>
        <p:txBody>
          <a:bodyPr/>
          <a:lstStyle/>
          <a:p>
            <a:endParaRPr lang="es-CO"/>
          </a:p>
        </p:txBody>
      </p:sp>
      <p:sp>
        <p:nvSpPr>
          <p:cNvPr id="12" name="Text 10"/>
          <p:cNvSpPr/>
          <p:nvPr/>
        </p:nvSpPr>
        <p:spPr>
          <a:xfrm>
            <a:off x="1152144" y="5001768"/>
            <a:ext cx="10213848" cy="45720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  Your task:  </a:t>
            </a:r>
            <a:r>
              <a:rPr lang="en-US" dirty="0">
                <a:solidFill>
                  <a:srgbClr val="223240"/>
                </a:solidFill>
                <a:latin typeface="Calibri" pitchFamily="34" charset="0"/>
                <a:ea typeface="Calibri" pitchFamily="34" charset="-122"/>
                <a:cs typeface="Calibri" pitchFamily="34" charset="-120"/>
              </a:rPr>
              <a:t>sort what is an expected effect from what is an emergency, and support his comfort and dignity.</a:t>
            </a:r>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5 · SORT</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Expected effect or emergency?</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5.3</a:t>
            </a:r>
            <a:endParaRPr lang="en-US" sz="900" dirty="0"/>
          </a:p>
        </p:txBody>
      </p:sp>
      <p:sp>
        <p:nvSpPr>
          <p:cNvPr id="6" name="Text 4"/>
          <p:cNvSpPr/>
          <p:nvPr/>
        </p:nvSpPr>
        <p:spPr>
          <a:xfrm>
            <a:off x="566928" y="1252720"/>
            <a:ext cx="11055096" cy="310896"/>
          </a:xfrm>
          <a:prstGeom prst="rect">
            <a:avLst/>
          </a:prstGeom>
          <a:noFill/>
          <a:ln/>
        </p:spPr>
        <p:txBody>
          <a:bodyPr wrap="square" lIns="0" tIns="0" rIns="0" bIns="0" rtlCol="0" anchor="t"/>
          <a:lstStyle/>
          <a:p>
            <a:pPr marL="0" indent="0">
              <a:buNone/>
            </a:pPr>
            <a:r>
              <a:rPr lang="en-US" i="1" dirty="0">
                <a:solidFill>
                  <a:srgbClr val="1A6FB0"/>
                </a:solidFill>
                <a:latin typeface="Calibri" pitchFamily="34" charset="0"/>
                <a:ea typeface="Calibri" pitchFamily="34" charset="-122"/>
                <a:cs typeface="Calibri" pitchFamily="34" charset="-120"/>
              </a:rPr>
              <a:t>Sort each of Jean’s findings.</a:t>
            </a:r>
            <a:endParaRPr lang="en-US" dirty="0"/>
          </a:p>
        </p:txBody>
      </p:sp>
      <p:sp>
        <p:nvSpPr>
          <p:cNvPr id="7" name="Shape 5"/>
          <p:cNvSpPr/>
          <p:nvPr/>
        </p:nvSpPr>
        <p:spPr>
          <a:xfrm>
            <a:off x="566928" y="1673344"/>
            <a:ext cx="5390388" cy="4480560"/>
          </a:xfrm>
          <a:prstGeom prst="roundRect">
            <a:avLst>
              <a:gd name="adj" fmla="val 1224"/>
            </a:avLst>
          </a:prstGeom>
          <a:solidFill>
            <a:srgbClr val="FFFFFF"/>
          </a:solidFill>
          <a:ln w="19050">
            <a:solidFill>
              <a:srgbClr val="1E7A46"/>
            </a:solidFill>
            <a:prstDash val="solid"/>
          </a:ln>
        </p:spPr>
        <p:txBody>
          <a:bodyPr/>
          <a:lstStyle/>
          <a:p>
            <a:endParaRPr lang="es-CO"/>
          </a:p>
        </p:txBody>
      </p:sp>
      <p:sp>
        <p:nvSpPr>
          <p:cNvPr id="8" name="Shape 6"/>
          <p:cNvSpPr/>
          <p:nvPr/>
        </p:nvSpPr>
        <p:spPr>
          <a:xfrm>
            <a:off x="566928" y="1673344"/>
            <a:ext cx="5390388" cy="457200"/>
          </a:xfrm>
          <a:prstGeom prst="roundRect">
            <a:avLst>
              <a:gd name="adj" fmla="val 12000"/>
            </a:avLst>
          </a:prstGeom>
          <a:solidFill>
            <a:srgbClr val="1E7A46"/>
          </a:solidFill>
          <a:ln w="12700">
            <a:solidFill>
              <a:srgbClr val="1E7A46"/>
            </a:solidFill>
            <a:prstDash val="solid"/>
          </a:ln>
        </p:spPr>
        <p:txBody>
          <a:bodyPr/>
          <a:lstStyle/>
          <a:p>
            <a:endParaRPr lang="es-CO"/>
          </a:p>
        </p:txBody>
      </p:sp>
      <p:sp>
        <p:nvSpPr>
          <p:cNvPr id="9" name="Text 7"/>
          <p:cNvSpPr/>
          <p:nvPr/>
        </p:nvSpPr>
        <p:spPr>
          <a:xfrm>
            <a:off x="566928" y="1673344"/>
            <a:ext cx="5390388" cy="45720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  Expected, support</a:t>
            </a:r>
            <a:endParaRPr lang="en-US" dirty="0"/>
          </a:p>
        </p:txBody>
      </p:sp>
      <p:sp>
        <p:nvSpPr>
          <p:cNvPr id="10" name="Text 8"/>
          <p:cNvSpPr/>
          <p:nvPr/>
        </p:nvSpPr>
        <p:spPr>
          <a:xfrm>
            <a:off x="713232" y="2240272"/>
            <a:ext cx="5097780" cy="3785616"/>
          </a:xfrm>
          <a:prstGeom prst="rect">
            <a:avLst/>
          </a:prstGeom>
          <a:noFill/>
          <a:ln/>
        </p:spPr>
        <p:txBody>
          <a:bodyPr wrap="square" lIns="0" tIns="0" rIns="0" bIns="0" rtlCol="0" anchor="t"/>
          <a:lstStyle/>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Hot flushes</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Tiredness</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Reduced sex drive</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Low mood (needs support, not urgent)</a:t>
            </a:r>
            <a:endParaRPr lang="en-US" dirty="0"/>
          </a:p>
        </p:txBody>
      </p:sp>
      <p:sp>
        <p:nvSpPr>
          <p:cNvPr id="11" name="Shape 9"/>
          <p:cNvSpPr/>
          <p:nvPr/>
        </p:nvSpPr>
        <p:spPr>
          <a:xfrm>
            <a:off x="6231636" y="1673344"/>
            <a:ext cx="5390388" cy="4480560"/>
          </a:xfrm>
          <a:prstGeom prst="roundRect">
            <a:avLst>
              <a:gd name="adj" fmla="val 1224"/>
            </a:avLst>
          </a:prstGeom>
          <a:solidFill>
            <a:srgbClr val="FFFFFF"/>
          </a:solidFill>
          <a:ln w="19050">
            <a:solidFill>
              <a:srgbClr val="B23A2E"/>
            </a:solidFill>
            <a:prstDash val="solid"/>
          </a:ln>
        </p:spPr>
        <p:txBody>
          <a:bodyPr/>
          <a:lstStyle/>
          <a:p>
            <a:endParaRPr lang="es-CO"/>
          </a:p>
        </p:txBody>
      </p:sp>
      <p:sp>
        <p:nvSpPr>
          <p:cNvPr id="12" name="Shape 10"/>
          <p:cNvSpPr/>
          <p:nvPr/>
        </p:nvSpPr>
        <p:spPr>
          <a:xfrm>
            <a:off x="6231636" y="1673344"/>
            <a:ext cx="5390388" cy="457200"/>
          </a:xfrm>
          <a:prstGeom prst="roundRect">
            <a:avLst>
              <a:gd name="adj" fmla="val 12000"/>
            </a:avLst>
          </a:prstGeom>
          <a:solidFill>
            <a:srgbClr val="B23A2E"/>
          </a:solidFill>
          <a:ln w="12700">
            <a:solidFill>
              <a:srgbClr val="B23A2E"/>
            </a:solidFill>
            <a:prstDash val="solid"/>
          </a:ln>
        </p:spPr>
        <p:txBody>
          <a:bodyPr/>
          <a:lstStyle/>
          <a:p>
            <a:endParaRPr lang="es-CO"/>
          </a:p>
        </p:txBody>
      </p:sp>
      <p:sp>
        <p:nvSpPr>
          <p:cNvPr id="13" name="Text 11"/>
          <p:cNvSpPr/>
          <p:nvPr/>
        </p:nvSpPr>
        <p:spPr>
          <a:xfrm>
            <a:off x="6231636" y="1673344"/>
            <a:ext cx="5390388" cy="45720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  Emergency, act same day</a:t>
            </a:r>
            <a:endParaRPr lang="en-US" dirty="0"/>
          </a:p>
        </p:txBody>
      </p:sp>
      <p:sp>
        <p:nvSpPr>
          <p:cNvPr id="14" name="Text 12"/>
          <p:cNvSpPr/>
          <p:nvPr/>
        </p:nvSpPr>
        <p:spPr>
          <a:xfrm>
            <a:off x="6377940" y="2240272"/>
            <a:ext cx="5097780" cy="3785616"/>
          </a:xfrm>
          <a:prstGeom prst="rect">
            <a:avLst/>
          </a:prstGeom>
          <a:noFill/>
          <a:ln/>
        </p:spPr>
        <p:txBody>
          <a:bodyPr wrap="square" lIns="0" tIns="0" rIns="0" bIns="0" rtlCol="0" anchor="t"/>
          <a:lstStyle/>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New severe back pain</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Heavy, weak legs</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Numbness or trouble walking</a:t>
            </a:r>
            <a:endParaRPr lang="en-US" dirty="0"/>
          </a:p>
          <a:p>
            <a:pPr marL="152400" indent="-152400">
              <a:spcAft>
                <a:spcPts val="600"/>
              </a:spcAft>
              <a:buSzPct val="100000"/>
              <a:buChar char="•"/>
            </a:pPr>
            <a:endParaRPr lang="en-US" dirty="0"/>
          </a:p>
          <a:p>
            <a:pPr marL="152400" indent="-152400">
              <a:spcAft>
                <a:spcPts val="600"/>
              </a:spcAft>
              <a:buSzPct val="100000"/>
              <a:buChar char="•"/>
            </a:pPr>
            <a:r>
              <a:rPr lang="en-US" dirty="0">
                <a:solidFill>
                  <a:srgbClr val="223240"/>
                </a:solidFill>
                <a:latin typeface="Calibri" pitchFamily="34" charset="0"/>
                <a:ea typeface="Calibri" pitchFamily="34" charset="-122"/>
                <a:cs typeface="Calibri" pitchFamily="34" charset="-120"/>
              </a:rPr>
              <a:t>Any loss of bladder or bowel control</a:t>
            </a:r>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5 · DECIDE</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Jean’s legs feel heavy and weak</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5.4</a:t>
            </a:r>
            <a:endParaRPr lang="en-US" sz="900" dirty="0"/>
          </a:p>
        </p:txBody>
      </p:sp>
      <p:sp>
        <p:nvSpPr>
          <p:cNvPr id="6" name="Text 4"/>
          <p:cNvSpPr/>
          <p:nvPr/>
        </p:nvSpPr>
        <p:spPr>
          <a:xfrm>
            <a:off x="566928" y="1204600"/>
            <a:ext cx="11055096" cy="54864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Jean has new severe back pain with heavy, weak legs. What must you do?</a:t>
            </a:r>
            <a:endParaRPr lang="en-US" dirty="0"/>
          </a:p>
        </p:txBody>
      </p:sp>
      <p:sp>
        <p:nvSpPr>
          <p:cNvPr id="7" name="Shape 5"/>
          <p:cNvSpPr/>
          <p:nvPr/>
        </p:nvSpPr>
        <p:spPr>
          <a:xfrm>
            <a:off x="566928" y="1734952"/>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76656" y="1817248"/>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76656" y="1817248"/>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A</a:t>
            </a:r>
            <a:endParaRPr lang="en-US" dirty="0"/>
          </a:p>
        </p:txBody>
      </p:sp>
      <p:sp>
        <p:nvSpPr>
          <p:cNvPr id="10" name="Text 8"/>
          <p:cNvSpPr/>
          <p:nvPr/>
        </p:nvSpPr>
        <p:spPr>
          <a:xfrm>
            <a:off x="1097280" y="1734952"/>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Reassure him it is a side effect of hormone therapy</a:t>
            </a:r>
            <a:endParaRPr lang="en-US" dirty="0"/>
          </a:p>
        </p:txBody>
      </p:sp>
      <p:sp>
        <p:nvSpPr>
          <p:cNvPr id="11" name="Shape 9"/>
          <p:cNvSpPr/>
          <p:nvPr/>
        </p:nvSpPr>
        <p:spPr>
          <a:xfrm>
            <a:off x="566928" y="2320168"/>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12" name="Shape 10"/>
          <p:cNvSpPr/>
          <p:nvPr/>
        </p:nvSpPr>
        <p:spPr>
          <a:xfrm>
            <a:off x="676656" y="2402464"/>
            <a:ext cx="292608" cy="292608"/>
          </a:xfrm>
          <a:prstGeom prst="ellipse">
            <a:avLst/>
          </a:prstGeom>
          <a:solidFill>
            <a:srgbClr val="1A6FB0"/>
          </a:solidFill>
          <a:ln w="12700">
            <a:solidFill>
              <a:srgbClr val="1A6FB0"/>
            </a:solidFill>
            <a:prstDash val="solid"/>
          </a:ln>
        </p:spPr>
        <p:txBody>
          <a:bodyPr/>
          <a:lstStyle/>
          <a:p>
            <a:endParaRPr lang="es-CO"/>
          </a:p>
        </p:txBody>
      </p:sp>
      <p:sp>
        <p:nvSpPr>
          <p:cNvPr id="13" name="Text 11"/>
          <p:cNvSpPr/>
          <p:nvPr/>
        </p:nvSpPr>
        <p:spPr>
          <a:xfrm>
            <a:off x="676656" y="2402464"/>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B</a:t>
            </a:r>
            <a:endParaRPr lang="en-US" dirty="0"/>
          </a:p>
        </p:txBody>
      </p:sp>
      <p:sp>
        <p:nvSpPr>
          <p:cNvPr id="14" name="Text 12"/>
          <p:cNvSpPr/>
          <p:nvPr/>
        </p:nvSpPr>
        <p:spPr>
          <a:xfrm>
            <a:off x="1097280" y="2320168"/>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Give pain relief and review next week</a:t>
            </a:r>
            <a:endParaRPr lang="en-US" dirty="0"/>
          </a:p>
        </p:txBody>
      </p:sp>
      <p:sp>
        <p:nvSpPr>
          <p:cNvPr id="15" name="Shape 13"/>
          <p:cNvSpPr/>
          <p:nvPr/>
        </p:nvSpPr>
        <p:spPr>
          <a:xfrm>
            <a:off x="566928" y="2905384"/>
            <a:ext cx="11055096" cy="457200"/>
          </a:xfrm>
          <a:prstGeom prst="roundRect">
            <a:avLst>
              <a:gd name="adj" fmla="val 10000"/>
            </a:avLst>
          </a:prstGeom>
          <a:solidFill>
            <a:srgbClr val="E7F4EC"/>
          </a:solidFill>
          <a:ln w="19050">
            <a:solidFill>
              <a:srgbClr val="1E7A46"/>
            </a:solidFill>
            <a:prstDash val="solid"/>
          </a:ln>
        </p:spPr>
        <p:txBody>
          <a:bodyPr/>
          <a:lstStyle/>
          <a:p>
            <a:endParaRPr lang="es-CO"/>
          </a:p>
        </p:txBody>
      </p:sp>
      <p:sp>
        <p:nvSpPr>
          <p:cNvPr id="16" name="Shape 14"/>
          <p:cNvSpPr/>
          <p:nvPr/>
        </p:nvSpPr>
        <p:spPr>
          <a:xfrm>
            <a:off x="676656" y="2987680"/>
            <a:ext cx="292608" cy="292608"/>
          </a:xfrm>
          <a:prstGeom prst="ellipse">
            <a:avLst/>
          </a:prstGeom>
          <a:solidFill>
            <a:srgbClr val="1E7A46"/>
          </a:solidFill>
          <a:ln w="12700">
            <a:solidFill>
              <a:srgbClr val="1E7A46"/>
            </a:solidFill>
            <a:prstDash val="solid"/>
          </a:ln>
        </p:spPr>
        <p:txBody>
          <a:bodyPr/>
          <a:lstStyle/>
          <a:p>
            <a:endParaRPr lang="es-CO"/>
          </a:p>
        </p:txBody>
      </p:sp>
      <p:sp>
        <p:nvSpPr>
          <p:cNvPr id="17" name="Text 15"/>
          <p:cNvSpPr/>
          <p:nvPr/>
        </p:nvSpPr>
        <p:spPr>
          <a:xfrm>
            <a:off x="676656" y="2987680"/>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C</a:t>
            </a:r>
            <a:endParaRPr lang="en-US" dirty="0"/>
          </a:p>
        </p:txBody>
      </p:sp>
      <p:sp>
        <p:nvSpPr>
          <p:cNvPr id="18" name="Text 16"/>
          <p:cNvSpPr/>
          <p:nvPr/>
        </p:nvSpPr>
        <p:spPr>
          <a:xfrm>
            <a:off x="1097280" y="2905384"/>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Arrange urgent same-day referral, this may be the spine pressing on the spinal cord</a:t>
            </a:r>
            <a:endParaRPr lang="en-US" dirty="0"/>
          </a:p>
        </p:txBody>
      </p:sp>
      <p:sp>
        <p:nvSpPr>
          <p:cNvPr id="19" name="Shape 17"/>
          <p:cNvSpPr/>
          <p:nvPr/>
        </p:nvSpPr>
        <p:spPr>
          <a:xfrm>
            <a:off x="566928" y="3490600"/>
            <a:ext cx="11055096" cy="457200"/>
          </a:xfrm>
          <a:prstGeom prst="roundRect">
            <a:avLst>
              <a:gd name="adj" fmla="val 10000"/>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76656" y="3572896"/>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76656" y="3572896"/>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D</a:t>
            </a:r>
            <a:endParaRPr lang="en-US" dirty="0"/>
          </a:p>
        </p:txBody>
      </p:sp>
      <p:sp>
        <p:nvSpPr>
          <p:cNvPr id="22" name="Text 20"/>
          <p:cNvSpPr/>
          <p:nvPr/>
        </p:nvSpPr>
        <p:spPr>
          <a:xfrm>
            <a:off x="1097280" y="3490600"/>
            <a:ext cx="10323576" cy="457200"/>
          </a:xfrm>
          <a:prstGeom prst="rect">
            <a:avLst/>
          </a:prstGeom>
          <a:noFill/>
          <a:ln/>
        </p:spPr>
        <p:txBody>
          <a:bodyPr wrap="square" lIns="0" tIns="0" rIns="0" bIns="0" rtlCol="0" anchor="ctr"/>
          <a:lstStyle/>
          <a:p>
            <a:pPr marL="0" indent="0" algn="l">
              <a:buNone/>
            </a:pPr>
            <a:r>
              <a:rPr lang="en-US" dirty="0">
                <a:solidFill>
                  <a:srgbClr val="223240"/>
                </a:solidFill>
                <a:latin typeface="Calibri" pitchFamily="34" charset="0"/>
                <a:ea typeface="Calibri" pitchFamily="34" charset="-122"/>
                <a:cs typeface="Calibri" pitchFamily="34" charset="-120"/>
              </a:rPr>
              <a:t>Stop his hormone therapy</a:t>
            </a:r>
            <a:endParaRPr lang="en-US" dirty="0"/>
          </a:p>
        </p:txBody>
      </p:sp>
      <p:sp>
        <p:nvSpPr>
          <p:cNvPr id="23" name="Shape 21"/>
          <p:cNvSpPr/>
          <p:nvPr/>
        </p:nvSpPr>
        <p:spPr>
          <a:xfrm>
            <a:off x="566928" y="4130680"/>
            <a:ext cx="11055096" cy="1975104"/>
          </a:xfrm>
          <a:prstGeom prst="roundRect">
            <a:avLst>
              <a:gd name="adj" fmla="val 2315"/>
            </a:avLst>
          </a:prstGeom>
          <a:solidFill>
            <a:srgbClr val="E7F4EC"/>
          </a:solidFill>
          <a:ln w="12700">
            <a:solidFill>
              <a:srgbClr val="BFE3CD"/>
            </a:solidFill>
            <a:prstDash val="solid"/>
          </a:ln>
        </p:spPr>
        <p:txBody>
          <a:bodyPr/>
          <a:lstStyle/>
          <a:p>
            <a:endParaRPr lang="es-CO"/>
          </a:p>
        </p:txBody>
      </p:sp>
      <p:sp>
        <p:nvSpPr>
          <p:cNvPr id="24" name="Text 22"/>
          <p:cNvSpPr/>
          <p:nvPr/>
        </p:nvSpPr>
        <p:spPr>
          <a:xfrm>
            <a:off x="749808" y="4222120"/>
            <a:ext cx="10689336" cy="1792224"/>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C.  </a:t>
            </a:r>
            <a:r>
              <a:rPr lang="en-US" dirty="0">
                <a:solidFill>
                  <a:srgbClr val="223240"/>
                </a:solidFill>
                <a:latin typeface="Calibri" pitchFamily="34" charset="0"/>
                <a:ea typeface="Calibri" pitchFamily="34" charset="-122"/>
                <a:cs typeface="Calibri" pitchFamily="34" charset="-120"/>
              </a:rPr>
              <a:t>New back pain with leg weakness in a man with bone spread suggests spinal cord compression, an emergency. Urgent same-day referral can prevent permanent paralysis. Hot flushes and tiredness are the expected effects; this is not.</a:t>
            </a:r>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5 · EFFECTS</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Managing common treatment effects</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5.5</a:t>
            </a:r>
            <a:endParaRPr lang="en-US" sz="900" dirty="0"/>
          </a:p>
        </p:txBody>
      </p:sp>
      <p:sp>
        <p:nvSpPr>
          <p:cNvPr id="6" name="Shape 4"/>
          <p:cNvSpPr/>
          <p:nvPr/>
        </p:nvSpPr>
        <p:spPr>
          <a:xfrm>
            <a:off x="566928" y="1481328"/>
            <a:ext cx="5390388" cy="2244852"/>
          </a:xfrm>
          <a:prstGeom prst="roundRect">
            <a:avLst>
              <a:gd name="adj" fmla="val 325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7" name="Shape 5"/>
          <p:cNvSpPr/>
          <p:nvPr/>
        </p:nvSpPr>
        <p:spPr>
          <a:xfrm>
            <a:off x="786384" y="1700784"/>
            <a:ext cx="164592" cy="164592"/>
          </a:xfrm>
          <a:prstGeom prst="ellipse">
            <a:avLst/>
          </a:prstGeom>
          <a:solidFill>
            <a:srgbClr val="1A6FB0"/>
          </a:solidFill>
          <a:ln w="12700">
            <a:solidFill>
              <a:srgbClr val="1A6FB0"/>
            </a:solidFill>
            <a:prstDash val="solid"/>
          </a:ln>
        </p:spPr>
        <p:txBody>
          <a:bodyPr/>
          <a:lstStyle/>
          <a:p>
            <a:endParaRPr lang="es-CO"/>
          </a:p>
        </p:txBody>
      </p:sp>
      <p:sp>
        <p:nvSpPr>
          <p:cNvPr id="8" name="Text 6"/>
          <p:cNvSpPr/>
          <p:nvPr/>
        </p:nvSpPr>
        <p:spPr>
          <a:xfrm>
            <a:off x="1060704" y="16093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Hot flushes &amp; tiredness</a:t>
            </a:r>
            <a:endParaRPr lang="en-US" dirty="0"/>
          </a:p>
        </p:txBody>
      </p:sp>
      <p:sp>
        <p:nvSpPr>
          <p:cNvPr id="9" name="Text 7"/>
          <p:cNvSpPr/>
          <p:nvPr/>
        </p:nvSpPr>
        <p:spPr>
          <a:xfrm>
            <a:off x="786384" y="2029968"/>
            <a:ext cx="4988052" cy="15864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From hormone therapy. Reassure, advise simple measures, and check he keeps taking treatment.</a:t>
            </a:r>
            <a:endParaRPr lang="en-US" dirty="0"/>
          </a:p>
        </p:txBody>
      </p:sp>
      <p:sp>
        <p:nvSpPr>
          <p:cNvPr id="10" name="Shape 8"/>
          <p:cNvSpPr/>
          <p:nvPr/>
        </p:nvSpPr>
        <p:spPr>
          <a:xfrm>
            <a:off x="6231636" y="1481328"/>
            <a:ext cx="5390388" cy="2244852"/>
          </a:xfrm>
          <a:prstGeom prst="roundRect">
            <a:avLst>
              <a:gd name="adj" fmla="val 325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1" name="Shape 9"/>
          <p:cNvSpPr/>
          <p:nvPr/>
        </p:nvSpPr>
        <p:spPr>
          <a:xfrm>
            <a:off x="6451092" y="1700784"/>
            <a:ext cx="164592" cy="164592"/>
          </a:xfrm>
          <a:prstGeom prst="ellipse">
            <a:avLst/>
          </a:prstGeom>
          <a:solidFill>
            <a:srgbClr val="1A6FB0"/>
          </a:solidFill>
          <a:ln w="12700">
            <a:solidFill>
              <a:srgbClr val="1A6FB0"/>
            </a:solidFill>
            <a:prstDash val="solid"/>
          </a:ln>
        </p:spPr>
        <p:txBody>
          <a:bodyPr/>
          <a:lstStyle/>
          <a:p>
            <a:endParaRPr lang="es-CO"/>
          </a:p>
        </p:txBody>
      </p:sp>
      <p:sp>
        <p:nvSpPr>
          <p:cNvPr id="12" name="Text 10"/>
          <p:cNvSpPr/>
          <p:nvPr/>
        </p:nvSpPr>
        <p:spPr>
          <a:xfrm>
            <a:off x="6725412" y="16093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Urinary leakage</a:t>
            </a:r>
            <a:endParaRPr lang="en-US" dirty="0"/>
          </a:p>
        </p:txBody>
      </p:sp>
      <p:sp>
        <p:nvSpPr>
          <p:cNvPr id="13" name="Text 11"/>
          <p:cNvSpPr/>
          <p:nvPr/>
        </p:nvSpPr>
        <p:spPr>
          <a:xfrm>
            <a:off x="6451092" y="2029968"/>
            <a:ext cx="4988052" cy="15864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After surgery or radiotherapy. Pelvic-floor exercises help; provide practical aids and preserve dignity.</a:t>
            </a:r>
            <a:endParaRPr lang="en-US" dirty="0"/>
          </a:p>
        </p:txBody>
      </p:sp>
      <p:sp>
        <p:nvSpPr>
          <p:cNvPr id="14" name="Shape 12"/>
          <p:cNvSpPr/>
          <p:nvPr/>
        </p:nvSpPr>
        <p:spPr>
          <a:xfrm>
            <a:off x="566928" y="4000500"/>
            <a:ext cx="5390388" cy="2244852"/>
          </a:xfrm>
          <a:prstGeom prst="roundRect">
            <a:avLst>
              <a:gd name="adj" fmla="val 325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5" name="Shape 13"/>
          <p:cNvSpPr/>
          <p:nvPr/>
        </p:nvSpPr>
        <p:spPr>
          <a:xfrm>
            <a:off x="786384" y="4219956"/>
            <a:ext cx="164592" cy="164592"/>
          </a:xfrm>
          <a:prstGeom prst="ellipse">
            <a:avLst/>
          </a:prstGeom>
          <a:solidFill>
            <a:srgbClr val="1A6FB0"/>
          </a:solidFill>
          <a:ln w="12700">
            <a:solidFill>
              <a:srgbClr val="1A6FB0"/>
            </a:solidFill>
            <a:prstDash val="solid"/>
          </a:ln>
        </p:spPr>
        <p:txBody>
          <a:bodyPr/>
          <a:lstStyle/>
          <a:p>
            <a:endParaRPr lang="es-CO"/>
          </a:p>
        </p:txBody>
      </p:sp>
      <p:sp>
        <p:nvSpPr>
          <p:cNvPr id="16" name="Text 14"/>
          <p:cNvSpPr/>
          <p:nvPr/>
        </p:nvSpPr>
        <p:spPr>
          <a:xfrm>
            <a:off x="1060704" y="4128516"/>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Bowel/urinary irritation</a:t>
            </a:r>
            <a:endParaRPr lang="en-US" dirty="0"/>
          </a:p>
        </p:txBody>
      </p:sp>
      <p:sp>
        <p:nvSpPr>
          <p:cNvPr id="17" name="Text 15"/>
          <p:cNvSpPr/>
          <p:nvPr/>
        </p:nvSpPr>
        <p:spPr>
          <a:xfrm>
            <a:off x="786384" y="4549140"/>
            <a:ext cx="4988052" cy="15864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After radiotherapy. Usually settles; manage symptoms and refer if severe or persistent.</a:t>
            </a:r>
            <a:endParaRPr lang="en-US" dirty="0"/>
          </a:p>
        </p:txBody>
      </p:sp>
      <p:sp>
        <p:nvSpPr>
          <p:cNvPr id="18" name="Shape 16"/>
          <p:cNvSpPr/>
          <p:nvPr/>
        </p:nvSpPr>
        <p:spPr>
          <a:xfrm>
            <a:off x="6231636" y="4000500"/>
            <a:ext cx="5390388" cy="2244852"/>
          </a:xfrm>
          <a:prstGeom prst="roundRect">
            <a:avLst>
              <a:gd name="adj" fmla="val 3259"/>
            </a:avLst>
          </a:prstGeom>
          <a:solidFill>
            <a:srgbClr val="FFFFFF"/>
          </a:solidFill>
          <a:ln w="19050">
            <a:solidFill>
              <a:srgbClr val="B26A00"/>
            </a:solidFill>
            <a:prstDash val="solid"/>
          </a:ln>
          <a:effectLst>
            <a:outerShdw blurRad="50800" dist="25400" dir="5400000" algn="bl" rotWithShape="0">
              <a:srgbClr val="BFCEDD">
                <a:alpha val="50000"/>
              </a:srgbClr>
            </a:outerShdw>
          </a:effectLst>
        </p:spPr>
        <p:txBody>
          <a:bodyPr/>
          <a:lstStyle/>
          <a:p>
            <a:endParaRPr lang="es-CO"/>
          </a:p>
        </p:txBody>
      </p:sp>
      <p:sp>
        <p:nvSpPr>
          <p:cNvPr id="19" name="Shape 17"/>
          <p:cNvSpPr/>
          <p:nvPr/>
        </p:nvSpPr>
        <p:spPr>
          <a:xfrm>
            <a:off x="6451092" y="4219956"/>
            <a:ext cx="164592" cy="164592"/>
          </a:xfrm>
          <a:prstGeom prst="ellipse">
            <a:avLst/>
          </a:prstGeom>
          <a:solidFill>
            <a:srgbClr val="B26A00"/>
          </a:solidFill>
          <a:ln w="12700">
            <a:solidFill>
              <a:srgbClr val="B26A00"/>
            </a:solidFill>
            <a:prstDash val="solid"/>
          </a:ln>
        </p:spPr>
        <p:txBody>
          <a:bodyPr/>
          <a:lstStyle/>
          <a:p>
            <a:endParaRPr lang="es-CO"/>
          </a:p>
        </p:txBody>
      </p:sp>
      <p:sp>
        <p:nvSpPr>
          <p:cNvPr id="20" name="Text 18"/>
          <p:cNvSpPr/>
          <p:nvPr/>
        </p:nvSpPr>
        <p:spPr>
          <a:xfrm>
            <a:off x="6725412" y="4128516"/>
            <a:ext cx="4732020" cy="36576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Sexual difficulties</a:t>
            </a:r>
            <a:endParaRPr lang="en-US" dirty="0"/>
          </a:p>
        </p:txBody>
      </p:sp>
      <p:sp>
        <p:nvSpPr>
          <p:cNvPr id="21" name="Text 19"/>
          <p:cNvSpPr/>
          <p:nvPr/>
        </p:nvSpPr>
        <p:spPr>
          <a:xfrm>
            <a:off x="6451092" y="4549140"/>
            <a:ext cx="4988052" cy="15864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Common and distressing. Raise it openly, normalise it, and offer support or referral, do not ignore.</a:t>
            </a:r>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5 · PALLIATIVE CARE</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Comfort is central, not optional</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5.6</a:t>
            </a:r>
            <a:endParaRPr lang="en-US" sz="900" dirty="0"/>
          </a:p>
        </p:txBody>
      </p:sp>
      <p:sp>
        <p:nvSpPr>
          <p:cNvPr id="6" name="Text 4"/>
          <p:cNvSpPr/>
          <p:nvPr/>
        </p:nvSpPr>
        <p:spPr>
          <a:xfrm>
            <a:off x="566928" y="1481328"/>
            <a:ext cx="11055096" cy="91440"/>
          </a:xfrm>
          <a:prstGeom prst="rect">
            <a:avLst/>
          </a:prstGeom>
          <a:noFill/>
          <a:ln/>
        </p:spPr>
        <p:txBody>
          <a:bodyPr wrap="square" lIns="0" tIns="0" rIns="0" bIns="0" rtlCol="0" anchor="t"/>
          <a:lstStyle/>
          <a:p>
            <a:pPr marL="0" indent="0" algn="l">
              <a:buNone/>
            </a:pPr>
            <a:r>
              <a:rPr lang="en-US" dirty="0">
                <a:solidFill>
                  <a:srgbClr val="223240"/>
                </a:solidFill>
                <a:latin typeface="Calibri" pitchFamily="34" charset="0"/>
                <a:ea typeface="Calibri" pitchFamily="34" charset="-122"/>
                <a:cs typeface="Calibri" pitchFamily="34" charset="-120"/>
              </a:rPr>
              <a:t>Because many Rwandan men present with advanced disease, </a:t>
            </a:r>
            <a:r>
              <a:rPr lang="en-US" b="1" dirty="0">
                <a:solidFill>
                  <a:srgbClr val="223240"/>
                </a:solidFill>
                <a:latin typeface="Calibri" pitchFamily="34" charset="0"/>
                <a:ea typeface="Calibri" pitchFamily="34" charset="-122"/>
                <a:cs typeface="Calibri" pitchFamily="34" charset="-120"/>
              </a:rPr>
              <a:t>palliative care matters throughout</a:t>
            </a:r>
            <a:r>
              <a:rPr lang="en-US" dirty="0">
                <a:solidFill>
                  <a:srgbClr val="223240"/>
                </a:solidFill>
                <a:latin typeface="Calibri" pitchFamily="34" charset="0"/>
                <a:ea typeface="Calibri" pitchFamily="34" charset="-122"/>
                <a:cs typeface="Calibri" pitchFamily="34" charset="-120"/>
              </a:rPr>
              <a:t>, not only at the end of life. It means actively relieving pain and suffering and improving quality of life, alongside other treatment. Rwanda has made palliative care and access to oral morphine a priority, and much can be delivered close to home.</a:t>
            </a:r>
            <a:endParaRPr lang="en-US" dirty="0"/>
          </a:p>
        </p:txBody>
      </p:sp>
      <p:sp>
        <p:nvSpPr>
          <p:cNvPr id="7" name="Shape 5"/>
          <p:cNvSpPr/>
          <p:nvPr/>
        </p:nvSpPr>
        <p:spPr>
          <a:xfrm>
            <a:off x="566928" y="2898648"/>
            <a:ext cx="3502152" cy="3483864"/>
          </a:xfrm>
          <a:prstGeom prst="roundRect">
            <a:avLst>
              <a:gd name="adj" fmla="val 2100"/>
            </a:avLst>
          </a:prstGeom>
          <a:solidFill>
            <a:srgbClr val="FFFFFF"/>
          </a:solidFill>
          <a:ln w="19050">
            <a:solidFill>
              <a:srgbClr val="1E7A46"/>
            </a:solidFill>
            <a:prstDash val="solid"/>
          </a:ln>
          <a:effectLst>
            <a:outerShdw blurRad="50800" dist="25400" dir="5400000" algn="bl" rotWithShape="0">
              <a:srgbClr val="BFCEDD">
                <a:alpha val="50000"/>
              </a:srgbClr>
            </a:outerShdw>
          </a:effectLst>
        </p:spPr>
        <p:txBody>
          <a:bodyPr/>
          <a:lstStyle/>
          <a:p>
            <a:endParaRPr lang="es-CO"/>
          </a:p>
        </p:txBody>
      </p:sp>
      <p:sp>
        <p:nvSpPr>
          <p:cNvPr id="8" name="Shape 6"/>
          <p:cNvSpPr/>
          <p:nvPr/>
        </p:nvSpPr>
        <p:spPr>
          <a:xfrm>
            <a:off x="786384" y="3118104"/>
            <a:ext cx="164592" cy="164592"/>
          </a:xfrm>
          <a:prstGeom prst="ellipse">
            <a:avLst/>
          </a:prstGeom>
          <a:solidFill>
            <a:srgbClr val="1E7A46"/>
          </a:solidFill>
          <a:ln w="12700">
            <a:solidFill>
              <a:srgbClr val="1E7A46"/>
            </a:solidFill>
            <a:prstDash val="solid"/>
          </a:ln>
        </p:spPr>
        <p:txBody>
          <a:bodyPr/>
          <a:lstStyle/>
          <a:p>
            <a:endParaRPr lang="es-CO"/>
          </a:p>
        </p:txBody>
      </p:sp>
      <p:sp>
        <p:nvSpPr>
          <p:cNvPr id="9" name="Text 7"/>
          <p:cNvSpPr/>
          <p:nvPr/>
        </p:nvSpPr>
        <p:spPr>
          <a:xfrm>
            <a:off x="1060704" y="3026664"/>
            <a:ext cx="2843784" cy="36576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Control pain</a:t>
            </a:r>
            <a:endParaRPr lang="en-US" dirty="0"/>
          </a:p>
        </p:txBody>
      </p:sp>
      <p:sp>
        <p:nvSpPr>
          <p:cNvPr id="10" name="Text 8"/>
          <p:cNvSpPr/>
          <p:nvPr/>
        </p:nvSpPr>
        <p:spPr>
          <a:xfrm>
            <a:off x="786384" y="3447288"/>
            <a:ext cx="3099816" cy="282549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Match pain relief to severity; step up to strong pain medicine (e.g. oral morphine) for moderate-to-severe cancer pain.</a:t>
            </a:r>
            <a:endParaRPr lang="en-US" dirty="0"/>
          </a:p>
        </p:txBody>
      </p:sp>
      <p:sp>
        <p:nvSpPr>
          <p:cNvPr id="11" name="Shape 9"/>
          <p:cNvSpPr/>
          <p:nvPr/>
        </p:nvSpPr>
        <p:spPr>
          <a:xfrm>
            <a:off x="4343400" y="2898648"/>
            <a:ext cx="3502152" cy="3483864"/>
          </a:xfrm>
          <a:prstGeom prst="roundRect">
            <a:avLst>
              <a:gd name="adj" fmla="val 2100"/>
            </a:avLst>
          </a:prstGeom>
          <a:solidFill>
            <a:srgbClr val="FFFFFF"/>
          </a:solidFill>
          <a:ln w="19050">
            <a:solidFill>
              <a:srgbClr val="B26A00"/>
            </a:solidFill>
            <a:prstDash val="solid"/>
          </a:ln>
          <a:effectLst>
            <a:outerShdw blurRad="50800" dist="25400" dir="5400000" algn="bl" rotWithShape="0">
              <a:srgbClr val="BFCEDD">
                <a:alpha val="50000"/>
              </a:srgbClr>
            </a:outerShdw>
          </a:effectLst>
        </p:spPr>
        <p:txBody>
          <a:bodyPr/>
          <a:lstStyle/>
          <a:p>
            <a:endParaRPr lang="es-CO"/>
          </a:p>
        </p:txBody>
      </p:sp>
      <p:sp>
        <p:nvSpPr>
          <p:cNvPr id="12" name="Shape 10"/>
          <p:cNvSpPr/>
          <p:nvPr/>
        </p:nvSpPr>
        <p:spPr>
          <a:xfrm>
            <a:off x="4562856" y="3118104"/>
            <a:ext cx="164592" cy="164592"/>
          </a:xfrm>
          <a:prstGeom prst="ellipse">
            <a:avLst/>
          </a:prstGeom>
          <a:solidFill>
            <a:srgbClr val="B26A00"/>
          </a:solidFill>
          <a:ln w="12700">
            <a:solidFill>
              <a:srgbClr val="B26A00"/>
            </a:solidFill>
            <a:prstDash val="solid"/>
          </a:ln>
        </p:spPr>
        <p:txBody>
          <a:bodyPr/>
          <a:lstStyle/>
          <a:p>
            <a:endParaRPr lang="es-CO"/>
          </a:p>
        </p:txBody>
      </p:sp>
      <p:sp>
        <p:nvSpPr>
          <p:cNvPr id="13" name="Text 11"/>
          <p:cNvSpPr/>
          <p:nvPr/>
        </p:nvSpPr>
        <p:spPr>
          <a:xfrm>
            <a:off x="4837176" y="3026664"/>
            <a:ext cx="2843784" cy="36576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Anticipate side effects</a:t>
            </a:r>
            <a:endParaRPr lang="en-US" dirty="0"/>
          </a:p>
        </p:txBody>
      </p:sp>
      <p:sp>
        <p:nvSpPr>
          <p:cNvPr id="14" name="Text 12"/>
          <p:cNvSpPr/>
          <p:nvPr/>
        </p:nvSpPr>
        <p:spPr>
          <a:xfrm>
            <a:off x="4562856" y="3447288"/>
            <a:ext cx="3099816" cy="282549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Opioids cause constipation, prevent it. Manage nausea, tiredness and other symptoms proactively.</a:t>
            </a:r>
            <a:endParaRPr lang="en-US" dirty="0"/>
          </a:p>
        </p:txBody>
      </p:sp>
      <p:sp>
        <p:nvSpPr>
          <p:cNvPr id="15" name="Shape 13"/>
          <p:cNvSpPr/>
          <p:nvPr/>
        </p:nvSpPr>
        <p:spPr>
          <a:xfrm>
            <a:off x="8119872" y="2898648"/>
            <a:ext cx="3502152" cy="3483864"/>
          </a:xfrm>
          <a:prstGeom prst="roundRect">
            <a:avLst>
              <a:gd name="adj" fmla="val 2100"/>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6" name="Shape 14"/>
          <p:cNvSpPr/>
          <p:nvPr/>
        </p:nvSpPr>
        <p:spPr>
          <a:xfrm>
            <a:off x="8339328" y="3118104"/>
            <a:ext cx="164592" cy="164592"/>
          </a:xfrm>
          <a:prstGeom prst="ellipse">
            <a:avLst/>
          </a:prstGeom>
          <a:solidFill>
            <a:srgbClr val="1A6FB0"/>
          </a:solidFill>
          <a:ln w="12700">
            <a:solidFill>
              <a:srgbClr val="1A6FB0"/>
            </a:solidFill>
            <a:prstDash val="solid"/>
          </a:ln>
        </p:spPr>
        <p:txBody>
          <a:bodyPr/>
          <a:lstStyle/>
          <a:p>
            <a:endParaRPr lang="es-CO"/>
          </a:p>
        </p:txBody>
      </p:sp>
      <p:sp>
        <p:nvSpPr>
          <p:cNvPr id="17" name="Text 15"/>
          <p:cNvSpPr/>
          <p:nvPr/>
        </p:nvSpPr>
        <p:spPr>
          <a:xfrm>
            <a:off x="8613648" y="3026664"/>
            <a:ext cx="2843784"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Whole-person &amp; family</a:t>
            </a:r>
            <a:endParaRPr lang="en-US" dirty="0"/>
          </a:p>
        </p:txBody>
      </p:sp>
      <p:sp>
        <p:nvSpPr>
          <p:cNvPr id="18" name="Text 16"/>
          <p:cNvSpPr/>
          <p:nvPr/>
        </p:nvSpPr>
        <p:spPr>
          <a:xfrm>
            <a:off x="8339328" y="3447288"/>
            <a:ext cx="3099816" cy="2825496"/>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Attend to emotional, social, spiritual and money worries; support carers; coordinate home and referral care.</a:t>
            </a:r>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5 · PAIN</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A practical approach to cancer pain</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5.7</a:t>
            </a:r>
            <a:endParaRPr lang="en-US" sz="900" dirty="0"/>
          </a:p>
        </p:txBody>
      </p:sp>
      <p:sp>
        <p:nvSpPr>
          <p:cNvPr id="6" name="Text 4"/>
          <p:cNvSpPr/>
          <p:nvPr/>
        </p:nvSpPr>
        <p:spPr>
          <a:xfrm>
            <a:off x="568452" y="1271016"/>
            <a:ext cx="11055096" cy="310896"/>
          </a:xfrm>
          <a:prstGeom prst="rect">
            <a:avLst/>
          </a:prstGeom>
          <a:noFill/>
          <a:ln/>
        </p:spPr>
        <p:txBody>
          <a:bodyPr wrap="square" lIns="0" tIns="0" rIns="0" bIns="0" rtlCol="0" anchor="t"/>
          <a:lstStyle/>
          <a:p>
            <a:pPr marL="0" indent="0">
              <a:buNone/>
            </a:pPr>
            <a:r>
              <a:rPr lang="en-US" i="1" dirty="0">
                <a:solidFill>
                  <a:srgbClr val="1A6FB0"/>
                </a:solidFill>
                <a:latin typeface="Calibri" pitchFamily="34" charset="0"/>
                <a:ea typeface="Calibri" pitchFamily="34" charset="-122"/>
                <a:cs typeface="Calibri" pitchFamily="34" charset="-120"/>
              </a:rPr>
              <a:t>You can state and start this yourself, within your role.</a:t>
            </a:r>
            <a:endParaRPr lang="en-US" dirty="0"/>
          </a:p>
        </p:txBody>
      </p:sp>
      <p:sp>
        <p:nvSpPr>
          <p:cNvPr id="7" name="Shape 5"/>
          <p:cNvSpPr/>
          <p:nvPr/>
        </p:nvSpPr>
        <p:spPr>
          <a:xfrm>
            <a:off x="568452" y="1728216"/>
            <a:ext cx="5390388" cy="2084832"/>
          </a:xfrm>
          <a:prstGeom prst="roundRect">
            <a:avLst>
              <a:gd name="adj" fmla="val 350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8" name="Shape 6"/>
          <p:cNvSpPr/>
          <p:nvPr/>
        </p:nvSpPr>
        <p:spPr>
          <a:xfrm>
            <a:off x="787908" y="1947672"/>
            <a:ext cx="164592" cy="164592"/>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1062228" y="1856232"/>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Assess &amp; match</a:t>
            </a:r>
            <a:endParaRPr lang="en-US" dirty="0"/>
          </a:p>
        </p:txBody>
      </p:sp>
      <p:sp>
        <p:nvSpPr>
          <p:cNvPr id="10" name="Text 8"/>
          <p:cNvSpPr/>
          <p:nvPr/>
        </p:nvSpPr>
        <p:spPr>
          <a:xfrm>
            <a:off x="787908" y="2276856"/>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Start with pain relief appropriate to how severe the pain is. Reassess regularly.</a:t>
            </a:r>
            <a:endParaRPr lang="en-US" dirty="0"/>
          </a:p>
        </p:txBody>
      </p:sp>
      <p:sp>
        <p:nvSpPr>
          <p:cNvPr id="11" name="Shape 9"/>
          <p:cNvSpPr/>
          <p:nvPr/>
        </p:nvSpPr>
        <p:spPr>
          <a:xfrm>
            <a:off x="6233160" y="1728216"/>
            <a:ext cx="5390388" cy="2084832"/>
          </a:xfrm>
          <a:prstGeom prst="roundRect">
            <a:avLst>
              <a:gd name="adj" fmla="val 3509"/>
            </a:avLst>
          </a:prstGeom>
          <a:solidFill>
            <a:srgbClr val="FFFFFF"/>
          </a:solidFill>
          <a:ln w="19050">
            <a:solidFill>
              <a:srgbClr val="1E7A46"/>
            </a:solidFill>
            <a:prstDash val="solid"/>
          </a:ln>
          <a:effectLst>
            <a:outerShdw blurRad="50800" dist="25400" dir="5400000" algn="bl" rotWithShape="0">
              <a:srgbClr val="BFCEDD">
                <a:alpha val="50000"/>
              </a:srgbClr>
            </a:outerShdw>
          </a:effectLst>
        </p:spPr>
        <p:txBody>
          <a:bodyPr/>
          <a:lstStyle/>
          <a:p>
            <a:endParaRPr lang="es-CO"/>
          </a:p>
        </p:txBody>
      </p:sp>
      <p:sp>
        <p:nvSpPr>
          <p:cNvPr id="12" name="Shape 10"/>
          <p:cNvSpPr/>
          <p:nvPr/>
        </p:nvSpPr>
        <p:spPr>
          <a:xfrm>
            <a:off x="6452616" y="1947672"/>
            <a:ext cx="164592" cy="164592"/>
          </a:xfrm>
          <a:prstGeom prst="ellipse">
            <a:avLst/>
          </a:prstGeom>
          <a:solidFill>
            <a:srgbClr val="1E7A46"/>
          </a:solidFill>
          <a:ln w="12700">
            <a:solidFill>
              <a:srgbClr val="1E7A46"/>
            </a:solidFill>
            <a:prstDash val="solid"/>
          </a:ln>
        </p:spPr>
        <p:txBody>
          <a:bodyPr/>
          <a:lstStyle/>
          <a:p>
            <a:endParaRPr lang="es-CO"/>
          </a:p>
        </p:txBody>
      </p:sp>
      <p:sp>
        <p:nvSpPr>
          <p:cNvPr id="13" name="Text 11"/>
          <p:cNvSpPr/>
          <p:nvPr/>
        </p:nvSpPr>
        <p:spPr>
          <a:xfrm>
            <a:off x="6726936" y="1856232"/>
            <a:ext cx="4732020" cy="36576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Step up if needed</a:t>
            </a:r>
            <a:endParaRPr lang="en-US" dirty="0"/>
          </a:p>
        </p:txBody>
      </p:sp>
      <p:sp>
        <p:nvSpPr>
          <p:cNvPr id="14" name="Text 12"/>
          <p:cNvSpPr/>
          <p:nvPr/>
        </p:nvSpPr>
        <p:spPr>
          <a:xfrm>
            <a:off x="6452616" y="2276856"/>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If pain stays uncontrolled, increase treatment. For moderate-to-severe cancer pain, strong pain medicine (e.g. oral morphine) may be needed.</a:t>
            </a:r>
            <a:endParaRPr lang="en-US" dirty="0"/>
          </a:p>
        </p:txBody>
      </p:sp>
      <p:sp>
        <p:nvSpPr>
          <p:cNvPr id="15" name="Shape 13"/>
          <p:cNvSpPr/>
          <p:nvPr/>
        </p:nvSpPr>
        <p:spPr>
          <a:xfrm>
            <a:off x="568452" y="4087368"/>
            <a:ext cx="5390388" cy="2084832"/>
          </a:xfrm>
          <a:prstGeom prst="roundRect">
            <a:avLst>
              <a:gd name="adj" fmla="val 3509"/>
            </a:avLst>
          </a:prstGeom>
          <a:solidFill>
            <a:srgbClr val="FFFFFF"/>
          </a:solidFill>
          <a:ln w="19050">
            <a:solidFill>
              <a:srgbClr val="B26A00"/>
            </a:solidFill>
            <a:prstDash val="solid"/>
          </a:ln>
          <a:effectLst>
            <a:outerShdw blurRad="50800" dist="25400" dir="5400000" algn="bl" rotWithShape="0">
              <a:srgbClr val="BFCEDD">
                <a:alpha val="50000"/>
              </a:srgbClr>
            </a:outerShdw>
          </a:effectLst>
        </p:spPr>
        <p:txBody>
          <a:bodyPr/>
          <a:lstStyle/>
          <a:p>
            <a:endParaRPr lang="es-CO"/>
          </a:p>
        </p:txBody>
      </p:sp>
      <p:sp>
        <p:nvSpPr>
          <p:cNvPr id="16" name="Shape 14"/>
          <p:cNvSpPr/>
          <p:nvPr/>
        </p:nvSpPr>
        <p:spPr>
          <a:xfrm>
            <a:off x="787908" y="4306824"/>
            <a:ext cx="164592" cy="164592"/>
          </a:xfrm>
          <a:prstGeom prst="ellipse">
            <a:avLst/>
          </a:prstGeom>
          <a:solidFill>
            <a:srgbClr val="B26A00"/>
          </a:solidFill>
          <a:ln w="12700">
            <a:solidFill>
              <a:srgbClr val="B26A00"/>
            </a:solidFill>
            <a:prstDash val="solid"/>
          </a:ln>
        </p:spPr>
        <p:txBody>
          <a:bodyPr/>
          <a:lstStyle/>
          <a:p>
            <a:endParaRPr lang="es-CO"/>
          </a:p>
        </p:txBody>
      </p:sp>
      <p:sp>
        <p:nvSpPr>
          <p:cNvPr id="17" name="Text 15"/>
          <p:cNvSpPr/>
          <p:nvPr/>
        </p:nvSpPr>
        <p:spPr>
          <a:xfrm>
            <a:off x="1062228" y="4215384"/>
            <a:ext cx="4732020" cy="36576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Prevent constipation</a:t>
            </a:r>
            <a:endParaRPr lang="en-US" dirty="0"/>
          </a:p>
        </p:txBody>
      </p:sp>
      <p:sp>
        <p:nvSpPr>
          <p:cNvPr id="18" name="Text 16"/>
          <p:cNvSpPr/>
          <p:nvPr/>
        </p:nvSpPr>
        <p:spPr>
          <a:xfrm>
            <a:off x="787908" y="4636008"/>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Always anticipate constipation with opioids, start measures early rather than waiting.</a:t>
            </a:r>
            <a:endParaRPr lang="en-US" dirty="0"/>
          </a:p>
        </p:txBody>
      </p:sp>
      <p:sp>
        <p:nvSpPr>
          <p:cNvPr id="19" name="Shape 17"/>
          <p:cNvSpPr/>
          <p:nvPr/>
        </p:nvSpPr>
        <p:spPr>
          <a:xfrm>
            <a:off x="6233160" y="4087368"/>
            <a:ext cx="5390388" cy="2084832"/>
          </a:xfrm>
          <a:prstGeom prst="roundRect">
            <a:avLst>
              <a:gd name="adj" fmla="val 3509"/>
            </a:avLst>
          </a:prstGeom>
          <a:solidFill>
            <a:srgbClr val="FFFFFF"/>
          </a:solidFill>
          <a:ln w="19050">
            <a:solidFill>
              <a:srgbClr val="B23A2E"/>
            </a:solidFill>
            <a:prstDash val="solid"/>
          </a:ln>
          <a:effectLst>
            <a:outerShdw blurRad="50800" dist="25400" dir="5400000" algn="bl" rotWithShape="0">
              <a:srgbClr val="BFCEDD">
                <a:alpha val="50000"/>
              </a:srgbClr>
            </a:outerShdw>
          </a:effectLst>
        </p:spPr>
        <p:txBody>
          <a:bodyPr/>
          <a:lstStyle/>
          <a:p>
            <a:endParaRPr lang="es-CO"/>
          </a:p>
        </p:txBody>
      </p:sp>
      <p:sp>
        <p:nvSpPr>
          <p:cNvPr id="20" name="Shape 18"/>
          <p:cNvSpPr/>
          <p:nvPr/>
        </p:nvSpPr>
        <p:spPr>
          <a:xfrm>
            <a:off x="6452616" y="4306824"/>
            <a:ext cx="164592" cy="164592"/>
          </a:xfrm>
          <a:prstGeom prst="ellipse">
            <a:avLst/>
          </a:prstGeom>
          <a:solidFill>
            <a:srgbClr val="B23A2E"/>
          </a:solidFill>
          <a:ln w="12700">
            <a:solidFill>
              <a:srgbClr val="B23A2E"/>
            </a:solidFill>
            <a:prstDash val="solid"/>
          </a:ln>
        </p:spPr>
        <p:txBody>
          <a:bodyPr/>
          <a:lstStyle/>
          <a:p>
            <a:endParaRPr lang="es-CO"/>
          </a:p>
        </p:txBody>
      </p:sp>
      <p:sp>
        <p:nvSpPr>
          <p:cNvPr id="21" name="Text 19"/>
          <p:cNvSpPr/>
          <p:nvPr/>
        </p:nvSpPr>
        <p:spPr>
          <a:xfrm>
            <a:off x="6726936" y="4215384"/>
            <a:ext cx="4732020" cy="365760"/>
          </a:xfrm>
          <a:prstGeom prst="rect">
            <a:avLst/>
          </a:prstGeom>
          <a:noFill/>
          <a:ln/>
        </p:spPr>
        <p:txBody>
          <a:bodyPr wrap="square" lIns="0" tIns="0" rIns="0" bIns="0" rtlCol="0" anchor="t"/>
          <a:lstStyle/>
          <a:p>
            <a:pPr marL="0" indent="0">
              <a:buNone/>
            </a:pPr>
            <a:r>
              <a:rPr lang="en-US" b="1" dirty="0">
                <a:solidFill>
                  <a:srgbClr val="B23A2E"/>
                </a:solidFill>
                <a:latin typeface="Calibri" pitchFamily="34" charset="0"/>
                <a:ea typeface="Calibri" pitchFamily="34" charset="-122"/>
                <a:cs typeface="Calibri" pitchFamily="34" charset="-120"/>
              </a:rPr>
              <a:t>Watch for harm</a:t>
            </a:r>
            <a:endParaRPr lang="en-US" dirty="0"/>
          </a:p>
        </p:txBody>
      </p:sp>
      <p:sp>
        <p:nvSpPr>
          <p:cNvPr id="22" name="Text 20"/>
          <p:cNvSpPr/>
          <p:nvPr/>
        </p:nvSpPr>
        <p:spPr>
          <a:xfrm>
            <a:off x="6452616" y="4636008"/>
            <a:ext cx="4988052" cy="142646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Monitor for too much sedation, nausea, or slowed breathing, and for bone-pain red flags, refer when needed.</a:t>
            </a:r>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5 · QUALITY OF LIFE</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Quality of life is a real goal</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5.8</a:t>
            </a:r>
            <a:endParaRPr lang="en-US" sz="900" dirty="0"/>
          </a:p>
        </p:txBody>
      </p:sp>
      <p:sp>
        <p:nvSpPr>
          <p:cNvPr id="6" name="Shape 4"/>
          <p:cNvSpPr/>
          <p:nvPr/>
        </p:nvSpPr>
        <p:spPr>
          <a:xfrm>
            <a:off x="566928" y="1481328"/>
            <a:ext cx="5390388" cy="2244852"/>
          </a:xfrm>
          <a:prstGeom prst="roundRect">
            <a:avLst>
              <a:gd name="adj" fmla="val 325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7" name="Shape 5"/>
          <p:cNvSpPr/>
          <p:nvPr/>
        </p:nvSpPr>
        <p:spPr>
          <a:xfrm>
            <a:off x="786384" y="1700784"/>
            <a:ext cx="164592" cy="164592"/>
          </a:xfrm>
          <a:prstGeom prst="ellipse">
            <a:avLst/>
          </a:prstGeom>
          <a:solidFill>
            <a:srgbClr val="1A6FB0"/>
          </a:solidFill>
          <a:ln w="12700">
            <a:solidFill>
              <a:srgbClr val="1A6FB0"/>
            </a:solidFill>
            <a:prstDash val="solid"/>
          </a:ln>
        </p:spPr>
        <p:txBody>
          <a:bodyPr/>
          <a:lstStyle/>
          <a:p>
            <a:endParaRPr lang="es-CO"/>
          </a:p>
        </p:txBody>
      </p:sp>
      <p:sp>
        <p:nvSpPr>
          <p:cNvPr id="8" name="Text 6"/>
          <p:cNvSpPr/>
          <p:nvPr/>
        </p:nvSpPr>
        <p:spPr>
          <a:xfrm>
            <a:off x="1060704" y="1609344"/>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Continence &amp; dignity</a:t>
            </a:r>
            <a:endParaRPr lang="en-US" dirty="0"/>
          </a:p>
        </p:txBody>
      </p:sp>
      <p:sp>
        <p:nvSpPr>
          <p:cNvPr id="9" name="Text 7"/>
          <p:cNvSpPr/>
          <p:nvPr/>
        </p:nvSpPr>
        <p:spPr>
          <a:xfrm>
            <a:off x="786384" y="2029968"/>
            <a:ext cx="4988052" cy="15864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Practical aids and pelvic-floor support; protect the man’s dignity.</a:t>
            </a:r>
            <a:endParaRPr lang="en-US" dirty="0"/>
          </a:p>
        </p:txBody>
      </p:sp>
      <p:sp>
        <p:nvSpPr>
          <p:cNvPr id="10" name="Shape 8"/>
          <p:cNvSpPr/>
          <p:nvPr/>
        </p:nvSpPr>
        <p:spPr>
          <a:xfrm>
            <a:off x="6231636" y="1481328"/>
            <a:ext cx="5390388" cy="2244852"/>
          </a:xfrm>
          <a:prstGeom prst="roundRect">
            <a:avLst>
              <a:gd name="adj" fmla="val 3259"/>
            </a:avLst>
          </a:prstGeom>
          <a:solidFill>
            <a:srgbClr val="FFFFFF"/>
          </a:solidFill>
          <a:ln w="19050">
            <a:solidFill>
              <a:srgbClr val="B26A00"/>
            </a:solidFill>
            <a:prstDash val="solid"/>
          </a:ln>
          <a:effectLst>
            <a:outerShdw blurRad="50800" dist="25400" dir="5400000" algn="bl" rotWithShape="0">
              <a:srgbClr val="BFCEDD">
                <a:alpha val="50000"/>
              </a:srgbClr>
            </a:outerShdw>
          </a:effectLst>
        </p:spPr>
        <p:txBody>
          <a:bodyPr/>
          <a:lstStyle/>
          <a:p>
            <a:endParaRPr lang="es-CO"/>
          </a:p>
        </p:txBody>
      </p:sp>
      <p:sp>
        <p:nvSpPr>
          <p:cNvPr id="11" name="Shape 9"/>
          <p:cNvSpPr/>
          <p:nvPr/>
        </p:nvSpPr>
        <p:spPr>
          <a:xfrm>
            <a:off x="6451092" y="1700784"/>
            <a:ext cx="164592" cy="164592"/>
          </a:xfrm>
          <a:prstGeom prst="ellipse">
            <a:avLst/>
          </a:prstGeom>
          <a:solidFill>
            <a:srgbClr val="B26A00"/>
          </a:solidFill>
          <a:ln w="12700">
            <a:solidFill>
              <a:srgbClr val="B26A00"/>
            </a:solidFill>
            <a:prstDash val="solid"/>
          </a:ln>
        </p:spPr>
        <p:txBody>
          <a:bodyPr/>
          <a:lstStyle/>
          <a:p>
            <a:endParaRPr lang="es-CO"/>
          </a:p>
        </p:txBody>
      </p:sp>
      <p:sp>
        <p:nvSpPr>
          <p:cNvPr id="12" name="Text 10"/>
          <p:cNvSpPr/>
          <p:nvPr/>
        </p:nvSpPr>
        <p:spPr>
          <a:xfrm>
            <a:off x="6725412" y="1609344"/>
            <a:ext cx="4732020" cy="365760"/>
          </a:xfrm>
          <a:prstGeom prst="rect">
            <a:avLst/>
          </a:prstGeom>
          <a:noFill/>
          <a:ln/>
        </p:spPr>
        <p:txBody>
          <a:bodyPr wrap="square" lIns="0" tIns="0" rIns="0" bIns="0" rtlCol="0" anchor="t"/>
          <a:lstStyle/>
          <a:p>
            <a:pPr marL="0" indent="0">
              <a:buNone/>
            </a:pPr>
            <a:r>
              <a:rPr lang="en-US" b="1" dirty="0">
                <a:solidFill>
                  <a:srgbClr val="B26A00"/>
                </a:solidFill>
                <a:latin typeface="Calibri" pitchFamily="34" charset="0"/>
                <a:ea typeface="Calibri" pitchFamily="34" charset="-122"/>
                <a:cs typeface="Calibri" pitchFamily="34" charset="-120"/>
              </a:rPr>
              <a:t>Sexual health</a:t>
            </a:r>
            <a:endParaRPr lang="en-US" dirty="0"/>
          </a:p>
        </p:txBody>
      </p:sp>
      <p:sp>
        <p:nvSpPr>
          <p:cNvPr id="13" name="Text 11"/>
          <p:cNvSpPr/>
          <p:nvPr/>
        </p:nvSpPr>
        <p:spPr>
          <a:xfrm>
            <a:off x="6451092" y="2029968"/>
            <a:ext cx="4988052" cy="15864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Acknowledge openly, it matters to identity and relationships and is often neglected.</a:t>
            </a:r>
            <a:endParaRPr lang="en-US" dirty="0"/>
          </a:p>
        </p:txBody>
      </p:sp>
      <p:sp>
        <p:nvSpPr>
          <p:cNvPr id="14" name="Shape 12"/>
          <p:cNvSpPr/>
          <p:nvPr/>
        </p:nvSpPr>
        <p:spPr>
          <a:xfrm>
            <a:off x="566928" y="4000500"/>
            <a:ext cx="5390388" cy="2244852"/>
          </a:xfrm>
          <a:prstGeom prst="roundRect">
            <a:avLst>
              <a:gd name="adj" fmla="val 3259"/>
            </a:avLst>
          </a:prstGeom>
          <a:solidFill>
            <a:srgbClr val="FFFFFF"/>
          </a:solidFill>
          <a:ln w="19050">
            <a:solidFill>
              <a:srgbClr val="1E7A46"/>
            </a:solidFill>
            <a:prstDash val="solid"/>
          </a:ln>
          <a:effectLst>
            <a:outerShdw blurRad="50800" dist="25400" dir="5400000" algn="bl" rotWithShape="0">
              <a:srgbClr val="BFCEDD">
                <a:alpha val="50000"/>
              </a:srgbClr>
            </a:outerShdw>
          </a:effectLst>
        </p:spPr>
        <p:txBody>
          <a:bodyPr/>
          <a:lstStyle/>
          <a:p>
            <a:endParaRPr lang="es-CO"/>
          </a:p>
        </p:txBody>
      </p:sp>
      <p:sp>
        <p:nvSpPr>
          <p:cNvPr id="15" name="Shape 13"/>
          <p:cNvSpPr/>
          <p:nvPr/>
        </p:nvSpPr>
        <p:spPr>
          <a:xfrm>
            <a:off x="786384" y="4219956"/>
            <a:ext cx="164592" cy="164592"/>
          </a:xfrm>
          <a:prstGeom prst="ellipse">
            <a:avLst/>
          </a:prstGeom>
          <a:solidFill>
            <a:srgbClr val="1E7A46"/>
          </a:solidFill>
          <a:ln w="12700">
            <a:solidFill>
              <a:srgbClr val="1E7A46"/>
            </a:solidFill>
            <a:prstDash val="solid"/>
          </a:ln>
        </p:spPr>
        <p:txBody>
          <a:bodyPr/>
          <a:lstStyle/>
          <a:p>
            <a:endParaRPr lang="es-CO"/>
          </a:p>
        </p:txBody>
      </p:sp>
      <p:sp>
        <p:nvSpPr>
          <p:cNvPr id="16" name="Text 14"/>
          <p:cNvSpPr/>
          <p:nvPr/>
        </p:nvSpPr>
        <p:spPr>
          <a:xfrm>
            <a:off x="1060704" y="4128516"/>
            <a:ext cx="4732020" cy="36576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Mind</a:t>
            </a:r>
            <a:endParaRPr lang="en-US" dirty="0"/>
          </a:p>
        </p:txBody>
      </p:sp>
      <p:sp>
        <p:nvSpPr>
          <p:cNvPr id="17" name="Text 15"/>
          <p:cNvSpPr/>
          <p:nvPr/>
        </p:nvSpPr>
        <p:spPr>
          <a:xfrm>
            <a:off x="786384" y="4549140"/>
            <a:ext cx="4988052" cy="15864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Watch for anxiety and depression; provide or refer for support.</a:t>
            </a:r>
            <a:endParaRPr lang="en-US" dirty="0"/>
          </a:p>
        </p:txBody>
      </p:sp>
      <p:sp>
        <p:nvSpPr>
          <p:cNvPr id="18" name="Shape 16"/>
          <p:cNvSpPr/>
          <p:nvPr/>
        </p:nvSpPr>
        <p:spPr>
          <a:xfrm>
            <a:off x="6231636" y="4000500"/>
            <a:ext cx="5390388" cy="2244852"/>
          </a:xfrm>
          <a:prstGeom prst="roundRect">
            <a:avLst>
              <a:gd name="adj" fmla="val 3259"/>
            </a:avLst>
          </a:prstGeom>
          <a:solidFill>
            <a:srgbClr val="FFFFFF"/>
          </a:solidFill>
          <a:ln w="19050">
            <a:solidFill>
              <a:srgbClr val="1A6FB0"/>
            </a:solidFill>
            <a:prstDash val="solid"/>
          </a:ln>
          <a:effectLst>
            <a:outerShdw blurRad="50800" dist="25400" dir="5400000" algn="bl" rotWithShape="0">
              <a:srgbClr val="BFCEDD">
                <a:alpha val="50000"/>
              </a:srgbClr>
            </a:outerShdw>
          </a:effectLst>
        </p:spPr>
        <p:txBody>
          <a:bodyPr/>
          <a:lstStyle/>
          <a:p>
            <a:endParaRPr lang="es-CO"/>
          </a:p>
        </p:txBody>
      </p:sp>
      <p:sp>
        <p:nvSpPr>
          <p:cNvPr id="19" name="Shape 17"/>
          <p:cNvSpPr/>
          <p:nvPr/>
        </p:nvSpPr>
        <p:spPr>
          <a:xfrm>
            <a:off x="6451092" y="4219956"/>
            <a:ext cx="164592" cy="164592"/>
          </a:xfrm>
          <a:prstGeom prst="ellipse">
            <a:avLst/>
          </a:prstGeom>
          <a:solidFill>
            <a:srgbClr val="1A6FB0"/>
          </a:solidFill>
          <a:ln w="12700">
            <a:solidFill>
              <a:srgbClr val="1A6FB0"/>
            </a:solidFill>
            <a:prstDash val="solid"/>
          </a:ln>
        </p:spPr>
        <p:txBody>
          <a:bodyPr/>
          <a:lstStyle/>
          <a:p>
            <a:endParaRPr lang="es-CO"/>
          </a:p>
        </p:txBody>
      </p:sp>
      <p:sp>
        <p:nvSpPr>
          <p:cNvPr id="20" name="Text 18"/>
          <p:cNvSpPr/>
          <p:nvPr/>
        </p:nvSpPr>
        <p:spPr>
          <a:xfrm>
            <a:off x="6725412" y="4128516"/>
            <a:ext cx="4732020" cy="36576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Staying in care</a:t>
            </a:r>
            <a:endParaRPr lang="en-US" dirty="0"/>
          </a:p>
        </p:txBody>
      </p:sp>
      <p:sp>
        <p:nvSpPr>
          <p:cNvPr id="21" name="Text 19"/>
          <p:cNvSpPr/>
          <p:nvPr/>
        </p:nvSpPr>
        <p:spPr>
          <a:xfrm>
            <a:off x="6451092" y="4549140"/>
            <a:ext cx="4988052" cy="1586484"/>
          </a:xfrm>
          <a:prstGeom prst="rect">
            <a:avLst/>
          </a:prstGeom>
          <a:noFill/>
          <a:ln/>
        </p:spPr>
        <p:txBody>
          <a:bodyPr wrap="square" lIns="0" tIns="0" rIns="0" bIns="0" rtlCol="0" anchor="t"/>
          <a:lstStyle/>
          <a:p>
            <a:pPr marL="0" indent="0">
              <a:buNone/>
            </a:pPr>
            <a:r>
              <a:rPr lang="en-US" dirty="0">
                <a:solidFill>
                  <a:srgbClr val="223240"/>
                </a:solidFill>
                <a:latin typeface="Calibri" pitchFamily="34" charset="0"/>
                <a:ea typeface="Calibri" pitchFamily="34" charset="-122"/>
                <a:cs typeface="Calibri" pitchFamily="34" charset="-120"/>
              </a:rPr>
              <a:t>A named contact, clear follow-up, and help with transport/cost reduce fear and dropout.</a:t>
            </a:r>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5 · CASE CLOSURE</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Jean, what happened next</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5.9</a:t>
            </a:r>
            <a:endParaRPr lang="en-US" sz="900" dirty="0"/>
          </a:p>
        </p:txBody>
      </p:sp>
      <p:sp>
        <p:nvSpPr>
          <p:cNvPr id="6" name="Shape 4"/>
          <p:cNvSpPr/>
          <p:nvPr/>
        </p:nvSpPr>
        <p:spPr>
          <a:xfrm>
            <a:off x="566928" y="1481328"/>
            <a:ext cx="11055096" cy="4901184"/>
          </a:xfrm>
          <a:prstGeom prst="roundRect">
            <a:avLst>
              <a:gd name="adj" fmla="val 1119"/>
            </a:avLst>
          </a:prstGeom>
          <a:solidFill>
            <a:srgbClr val="FFF7E8"/>
          </a:solidFill>
          <a:ln w="15875">
            <a:solidFill>
              <a:srgbClr val="EAD8AE"/>
            </a:solidFill>
            <a:prstDash val="solid"/>
          </a:ln>
        </p:spPr>
        <p:txBody>
          <a:bodyPr/>
          <a:lstStyle/>
          <a:p>
            <a:endParaRPr lang="es-CO"/>
          </a:p>
        </p:txBody>
      </p:sp>
      <p:sp>
        <p:nvSpPr>
          <p:cNvPr id="7" name="Text 5"/>
          <p:cNvSpPr/>
          <p:nvPr/>
        </p:nvSpPr>
        <p:spPr>
          <a:xfrm>
            <a:off x="822960" y="1759984"/>
            <a:ext cx="10543032" cy="310896"/>
          </a:xfrm>
          <a:prstGeom prst="rect">
            <a:avLst/>
          </a:prstGeom>
          <a:noFill/>
          <a:ln/>
        </p:spPr>
        <p:txBody>
          <a:bodyPr wrap="square" lIns="0" tIns="0" rIns="0" bIns="0" rtlCol="0" anchor="t"/>
          <a:lstStyle/>
          <a:p>
            <a:pPr marL="0" indent="0">
              <a:buNone/>
            </a:pPr>
            <a:r>
              <a:rPr lang="en-US" b="1" dirty="0">
                <a:solidFill>
                  <a:srgbClr val="B26A00"/>
                </a:solidFill>
                <a:latin typeface="Cambria" pitchFamily="34" charset="0"/>
                <a:ea typeface="Cambria" pitchFamily="34" charset="-122"/>
                <a:cs typeface="Cambria" pitchFamily="34" charset="-120"/>
              </a:rPr>
              <a:t>Clinical case closure:  </a:t>
            </a:r>
            <a:r>
              <a:rPr lang="en-US" b="1" dirty="0">
                <a:solidFill>
                  <a:srgbClr val="1F3A5F"/>
                </a:solidFill>
                <a:latin typeface="Cambria" pitchFamily="34" charset="0"/>
                <a:ea typeface="Cambria" pitchFamily="34" charset="-122"/>
                <a:cs typeface="Cambria" pitchFamily="34" charset="-120"/>
              </a:rPr>
              <a:t>Jean, 68</a:t>
            </a:r>
            <a:endParaRPr lang="en-US" dirty="0"/>
          </a:p>
        </p:txBody>
      </p:sp>
      <p:sp>
        <p:nvSpPr>
          <p:cNvPr id="8" name="Text 6"/>
          <p:cNvSpPr/>
          <p:nvPr/>
        </p:nvSpPr>
        <p:spPr>
          <a:xfrm>
            <a:off x="822960" y="2342795"/>
            <a:ext cx="10543032" cy="64008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What happened:  </a:t>
            </a:r>
            <a:r>
              <a:rPr lang="en-US" dirty="0">
                <a:solidFill>
                  <a:srgbClr val="223240"/>
                </a:solidFill>
                <a:latin typeface="Calibri" pitchFamily="34" charset="0"/>
                <a:ea typeface="Calibri" pitchFamily="34" charset="-122"/>
                <a:cs typeface="Calibri" pitchFamily="34" charset="-120"/>
              </a:rPr>
              <a:t>You recognised the leg weakness as an emergency and referred Jean the same day. He was treated for cord compression in time and kept walking.</a:t>
            </a:r>
            <a:endParaRPr lang="en-US" dirty="0"/>
          </a:p>
        </p:txBody>
      </p:sp>
      <p:sp>
        <p:nvSpPr>
          <p:cNvPr id="9" name="Text 7"/>
          <p:cNvSpPr/>
          <p:nvPr/>
        </p:nvSpPr>
        <p:spPr>
          <a:xfrm>
            <a:off x="822960" y="3200404"/>
            <a:ext cx="10543032" cy="64008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Ongoing care:  </a:t>
            </a:r>
            <a:r>
              <a:rPr lang="en-US" dirty="0">
                <a:solidFill>
                  <a:srgbClr val="223240"/>
                </a:solidFill>
                <a:latin typeface="Calibri" pitchFamily="34" charset="0"/>
                <a:ea typeface="Calibri" pitchFamily="34" charset="-122"/>
                <a:cs typeface="Calibri" pitchFamily="34" charset="-120"/>
              </a:rPr>
              <a:t>His hormone therapy continues to control the cancer. You manage his pain, prevent constipation, support his mood and sexual concerns, and keep him in follow-up close to home.</a:t>
            </a:r>
            <a:endParaRPr lang="en-US" dirty="0"/>
          </a:p>
        </p:txBody>
      </p:sp>
      <p:sp>
        <p:nvSpPr>
          <p:cNvPr id="10" name="Text 8"/>
          <p:cNvSpPr/>
          <p:nvPr/>
        </p:nvSpPr>
        <p:spPr>
          <a:xfrm>
            <a:off x="822960" y="3973792"/>
            <a:ext cx="10543032" cy="640080"/>
          </a:xfrm>
          <a:prstGeom prst="rect">
            <a:avLst/>
          </a:prstGeom>
          <a:noFill/>
          <a:ln/>
        </p:spPr>
        <p:txBody>
          <a:bodyPr wrap="square" lIns="0" tIns="0" rIns="0" bIns="0" rtlCol="0" anchor="t"/>
          <a:lstStyle/>
          <a:p>
            <a:pPr marL="0" indent="0">
              <a:buNone/>
            </a:pPr>
            <a:r>
              <a:rPr lang="en-US" b="1" dirty="0">
                <a:solidFill>
                  <a:srgbClr val="1A6FB0"/>
                </a:solidFill>
                <a:latin typeface="Calibri" pitchFamily="34" charset="0"/>
                <a:ea typeface="Calibri" pitchFamily="34" charset="-122"/>
                <a:cs typeface="Calibri" pitchFamily="34" charset="-120"/>
              </a:rPr>
              <a:t>Outcome:  </a:t>
            </a:r>
            <a:r>
              <a:rPr lang="en-US" dirty="0">
                <a:solidFill>
                  <a:srgbClr val="223240"/>
                </a:solidFill>
                <a:latin typeface="Calibri" pitchFamily="34" charset="0"/>
                <a:ea typeface="Calibri" pitchFamily="34" charset="-122"/>
                <a:cs typeface="Calibri" pitchFamily="34" charset="-120"/>
              </a:rPr>
              <a:t>Jean is living with advanced cancer, comfortable, supported, and still active in his family life.</a:t>
            </a:r>
            <a:endParaRPr lang="en-US" dirty="0"/>
          </a:p>
        </p:txBody>
      </p:sp>
      <p:sp>
        <p:nvSpPr>
          <p:cNvPr id="11" name="Shape 9"/>
          <p:cNvSpPr/>
          <p:nvPr/>
        </p:nvSpPr>
        <p:spPr>
          <a:xfrm>
            <a:off x="822960" y="4584998"/>
            <a:ext cx="10543032" cy="1051560"/>
          </a:xfrm>
          <a:prstGeom prst="roundRect">
            <a:avLst>
              <a:gd name="adj" fmla="val 4348"/>
            </a:avLst>
          </a:prstGeom>
          <a:solidFill>
            <a:srgbClr val="E7F4EC"/>
          </a:solidFill>
          <a:ln w="12700">
            <a:solidFill>
              <a:srgbClr val="BFE3CD"/>
            </a:solidFill>
            <a:prstDash val="solid"/>
          </a:ln>
        </p:spPr>
        <p:txBody>
          <a:bodyPr/>
          <a:lstStyle/>
          <a:p>
            <a:endParaRPr lang="es-CO"/>
          </a:p>
        </p:txBody>
      </p:sp>
      <p:sp>
        <p:nvSpPr>
          <p:cNvPr id="12" name="Text 10"/>
          <p:cNvSpPr/>
          <p:nvPr/>
        </p:nvSpPr>
        <p:spPr>
          <a:xfrm>
            <a:off x="987552" y="4694726"/>
            <a:ext cx="10232136" cy="868680"/>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Key learning:  </a:t>
            </a:r>
            <a:r>
              <a:rPr lang="en-US" dirty="0">
                <a:solidFill>
                  <a:srgbClr val="223240"/>
                </a:solidFill>
                <a:latin typeface="Calibri" pitchFamily="34" charset="0"/>
                <a:ea typeface="Calibri" pitchFamily="34" charset="-122"/>
                <a:cs typeface="Calibri" pitchFamily="34" charset="-120"/>
              </a:rPr>
              <a:t>the frontline clinician closest to home often catches the red flag, controls the pain, and keeps the man and family supported, across the whole illness, from first awareness to survivorship or end-of-life care.</a:t>
            </a:r>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5 · HIGHLIGHTS</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Session 5 key points</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5.10</a:t>
            </a:r>
            <a:endParaRPr lang="en-US" sz="900" dirty="0"/>
          </a:p>
        </p:txBody>
      </p:sp>
      <p:sp>
        <p:nvSpPr>
          <p:cNvPr id="6" name="Shape 4"/>
          <p:cNvSpPr/>
          <p:nvPr/>
        </p:nvSpPr>
        <p:spPr>
          <a:xfrm>
            <a:off x="566928" y="1481328"/>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7" name="Shape 5"/>
          <p:cNvSpPr/>
          <p:nvPr/>
        </p:nvSpPr>
        <p:spPr>
          <a:xfrm>
            <a:off x="713232" y="2029968"/>
            <a:ext cx="365760" cy="365760"/>
          </a:xfrm>
          <a:prstGeom prst="ellipse">
            <a:avLst/>
          </a:prstGeom>
          <a:solidFill>
            <a:srgbClr val="1A6FB0"/>
          </a:solidFill>
          <a:ln w="12700">
            <a:solidFill>
              <a:srgbClr val="1A6FB0"/>
            </a:solidFill>
            <a:prstDash val="solid"/>
          </a:ln>
        </p:spPr>
        <p:txBody>
          <a:bodyPr/>
          <a:lstStyle/>
          <a:p>
            <a:endParaRPr lang="es-CO"/>
          </a:p>
        </p:txBody>
      </p:sp>
      <p:sp>
        <p:nvSpPr>
          <p:cNvPr id="8" name="Text 6"/>
          <p:cNvSpPr/>
          <p:nvPr/>
        </p:nvSpPr>
        <p:spPr>
          <a:xfrm>
            <a:off x="713232" y="2029968"/>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9" name="Text 7"/>
          <p:cNvSpPr/>
          <p:nvPr/>
        </p:nvSpPr>
        <p:spPr>
          <a:xfrm>
            <a:off x="1207008" y="1481328"/>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Tell expected effects (hot flushes, tiredness, low libido) from emergencies.</a:t>
            </a:r>
            <a:endParaRPr lang="en-US" dirty="0"/>
          </a:p>
        </p:txBody>
      </p:sp>
      <p:sp>
        <p:nvSpPr>
          <p:cNvPr id="10" name="Shape 8"/>
          <p:cNvSpPr/>
          <p:nvPr/>
        </p:nvSpPr>
        <p:spPr>
          <a:xfrm>
            <a:off x="6222492" y="1481328"/>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11" name="Shape 9"/>
          <p:cNvSpPr/>
          <p:nvPr/>
        </p:nvSpPr>
        <p:spPr>
          <a:xfrm>
            <a:off x="6368796" y="2029968"/>
            <a:ext cx="365760" cy="365760"/>
          </a:xfrm>
          <a:prstGeom prst="ellipse">
            <a:avLst/>
          </a:prstGeom>
          <a:solidFill>
            <a:srgbClr val="1A6FB0"/>
          </a:solidFill>
          <a:ln w="12700">
            <a:solidFill>
              <a:srgbClr val="1A6FB0"/>
            </a:solidFill>
            <a:prstDash val="solid"/>
          </a:ln>
        </p:spPr>
        <p:txBody>
          <a:bodyPr/>
          <a:lstStyle/>
          <a:p>
            <a:endParaRPr lang="es-CO"/>
          </a:p>
        </p:txBody>
      </p:sp>
      <p:sp>
        <p:nvSpPr>
          <p:cNvPr id="12" name="Text 10"/>
          <p:cNvSpPr/>
          <p:nvPr/>
        </p:nvSpPr>
        <p:spPr>
          <a:xfrm>
            <a:off x="6368796" y="2029968"/>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3" name="Text 11"/>
          <p:cNvSpPr/>
          <p:nvPr/>
        </p:nvSpPr>
        <p:spPr>
          <a:xfrm>
            <a:off x="6862572" y="1481328"/>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New back pain with leg weakness = possible cord compression → same-day referral.</a:t>
            </a:r>
            <a:endParaRPr lang="en-US" dirty="0"/>
          </a:p>
        </p:txBody>
      </p:sp>
      <p:sp>
        <p:nvSpPr>
          <p:cNvPr id="14" name="Shape 12"/>
          <p:cNvSpPr/>
          <p:nvPr/>
        </p:nvSpPr>
        <p:spPr>
          <a:xfrm>
            <a:off x="566928" y="3200400"/>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15" name="Shape 13"/>
          <p:cNvSpPr/>
          <p:nvPr/>
        </p:nvSpPr>
        <p:spPr>
          <a:xfrm>
            <a:off x="713232" y="3749040"/>
            <a:ext cx="365760" cy="365760"/>
          </a:xfrm>
          <a:prstGeom prst="ellipse">
            <a:avLst/>
          </a:prstGeom>
          <a:solidFill>
            <a:srgbClr val="1A6FB0"/>
          </a:solidFill>
          <a:ln w="12700">
            <a:solidFill>
              <a:srgbClr val="1A6FB0"/>
            </a:solidFill>
            <a:prstDash val="solid"/>
          </a:ln>
        </p:spPr>
        <p:txBody>
          <a:bodyPr/>
          <a:lstStyle/>
          <a:p>
            <a:endParaRPr lang="es-CO"/>
          </a:p>
        </p:txBody>
      </p:sp>
      <p:sp>
        <p:nvSpPr>
          <p:cNvPr id="16" name="Text 14"/>
          <p:cNvSpPr/>
          <p:nvPr/>
        </p:nvSpPr>
        <p:spPr>
          <a:xfrm>
            <a:off x="713232" y="3749040"/>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17" name="Text 15"/>
          <p:cNvSpPr/>
          <p:nvPr/>
        </p:nvSpPr>
        <p:spPr>
          <a:xfrm>
            <a:off x="1207008" y="3200400"/>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Palliative care is central here and runs alongside treatment from early on.</a:t>
            </a:r>
            <a:endParaRPr lang="en-US" dirty="0"/>
          </a:p>
        </p:txBody>
      </p:sp>
      <p:sp>
        <p:nvSpPr>
          <p:cNvPr id="18" name="Shape 16"/>
          <p:cNvSpPr/>
          <p:nvPr/>
        </p:nvSpPr>
        <p:spPr>
          <a:xfrm>
            <a:off x="6222492" y="3200400"/>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19" name="Shape 17"/>
          <p:cNvSpPr/>
          <p:nvPr/>
        </p:nvSpPr>
        <p:spPr>
          <a:xfrm>
            <a:off x="6368796" y="3749040"/>
            <a:ext cx="365760" cy="365760"/>
          </a:xfrm>
          <a:prstGeom prst="ellipse">
            <a:avLst/>
          </a:prstGeom>
          <a:solidFill>
            <a:srgbClr val="1A6FB0"/>
          </a:solidFill>
          <a:ln w="12700">
            <a:solidFill>
              <a:srgbClr val="1A6FB0"/>
            </a:solidFill>
            <a:prstDash val="solid"/>
          </a:ln>
        </p:spPr>
        <p:txBody>
          <a:bodyPr/>
          <a:lstStyle/>
          <a:p>
            <a:endParaRPr lang="es-CO"/>
          </a:p>
        </p:txBody>
      </p:sp>
      <p:sp>
        <p:nvSpPr>
          <p:cNvPr id="20" name="Text 18"/>
          <p:cNvSpPr/>
          <p:nvPr/>
        </p:nvSpPr>
        <p:spPr>
          <a:xfrm>
            <a:off x="6368796" y="3749040"/>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21" name="Text 19"/>
          <p:cNvSpPr/>
          <p:nvPr/>
        </p:nvSpPr>
        <p:spPr>
          <a:xfrm>
            <a:off x="6862572" y="3200400"/>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Match pain relief to severity; use strong opioids when needed; prevent constipation.</a:t>
            </a:r>
            <a:endParaRPr lang="en-US" dirty="0"/>
          </a:p>
        </p:txBody>
      </p:sp>
      <p:sp>
        <p:nvSpPr>
          <p:cNvPr id="22" name="Shape 20"/>
          <p:cNvSpPr/>
          <p:nvPr/>
        </p:nvSpPr>
        <p:spPr>
          <a:xfrm>
            <a:off x="566928" y="4919472"/>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23" name="Shape 21"/>
          <p:cNvSpPr/>
          <p:nvPr/>
        </p:nvSpPr>
        <p:spPr>
          <a:xfrm>
            <a:off x="713232" y="5468112"/>
            <a:ext cx="365760" cy="365760"/>
          </a:xfrm>
          <a:prstGeom prst="ellipse">
            <a:avLst/>
          </a:prstGeom>
          <a:solidFill>
            <a:srgbClr val="1A6FB0"/>
          </a:solidFill>
          <a:ln w="12700">
            <a:solidFill>
              <a:srgbClr val="1A6FB0"/>
            </a:solidFill>
            <a:prstDash val="solid"/>
          </a:ln>
        </p:spPr>
        <p:txBody>
          <a:bodyPr/>
          <a:lstStyle/>
          <a:p>
            <a:endParaRPr lang="es-CO"/>
          </a:p>
        </p:txBody>
      </p:sp>
      <p:sp>
        <p:nvSpPr>
          <p:cNvPr id="24" name="Text 22"/>
          <p:cNvSpPr/>
          <p:nvPr/>
        </p:nvSpPr>
        <p:spPr>
          <a:xfrm>
            <a:off x="713232" y="5468112"/>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5</a:t>
            </a:r>
            <a:endParaRPr lang="en-US" dirty="0"/>
          </a:p>
        </p:txBody>
      </p:sp>
      <p:sp>
        <p:nvSpPr>
          <p:cNvPr id="25" name="Text 23"/>
          <p:cNvSpPr/>
          <p:nvPr/>
        </p:nvSpPr>
        <p:spPr>
          <a:xfrm>
            <a:off x="1207008" y="4919472"/>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Raise sexual and urinary problems openly, they matter and are often neglected.</a:t>
            </a:r>
            <a:endParaRPr lang="en-US" dirty="0"/>
          </a:p>
        </p:txBody>
      </p:sp>
      <p:sp>
        <p:nvSpPr>
          <p:cNvPr id="26" name="Shape 24"/>
          <p:cNvSpPr/>
          <p:nvPr/>
        </p:nvSpPr>
        <p:spPr>
          <a:xfrm>
            <a:off x="6222492" y="4919472"/>
            <a:ext cx="5399532" cy="1463040"/>
          </a:xfrm>
          <a:prstGeom prst="roundRect">
            <a:avLst>
              <a:gd name="adj" fmla="val 3750"/>
            </a:avLst>
          </a:prstGeom>
          <a:solidFill>
            <a:srgbClr val="EAF1F8"/>
          </a:solidFill>
          <a:ln w="12700">
            <a:solidFill>
              <a:srgbClr val="D9E6F2"/>
            </a:solidFill>
            <a:prstDash val="solid"/>
          </a:ln>
        </p:spPr>
        <p:txBody>
          <a:bodyPr/>
          <a:lstStyle/>
          <a:p>
            <a:endParaRPr lang="es-CO"/>
          </a:p>
        </p:txBody>
      </p:sp>
      <p:sp>
        <p:nvSpPr>
          <p:cNvPr id="27" name="Shape 25"/>
          <p:cNvSpPr/>
          <p:nvPr/>
        </p:nvSpPr>
        <p:spPr>
          <a:xfrm>
            <a:off x="6368796" y="5468112"/>
            <a:ext cx="365760" cy="365760"/>
          </a:xfrm>
          <a:prstGeom prst="ellipse">
            <a:avLst/>
          </a:prstGeom>
          <a:solidFill>
            <a:srgbClr val="1A6FB0"/>
          </a:solidFill>
          <a:ln w="12700">
            <a:solidFill>
              <a:srgbClr val="1A6FB0"/>
            </a:solidFill>
            <a:prstDash val="solid"/>
          </a:ln>
        </p:spPr>
        <p:txBody>
          <a:bodyPr/>
          <a:lstStyle/>
          <a:p>
            <a:endParaRPr lang="es-CO"/>
          </a:p>
        </p:txBody>
      </p:sp>
      <p:sp>
        <p:nvSpPr>
          <p:cNvPr id="28" name="Text 26"/>
          <p:cNvSpPr/>
          <p:nvPr/>
        </p:nvSpPr>
        <p:spPr>
          <a:xfrm>
            <a:off x="6368796" y="5468112"/>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6</a:t>
            </a:r>
            <a:endParaRPr lang="en-US" dirty="0"/>
          </a:p>
        </p:txBody>
      </p:sp>
      <p:sp>
        <p:nvSpPr>
          <p:cNvPr id="29" name="Text 27"/>
          <p:cNvSpPr/>
          <p:nvPr/>
        </p:nvSpPr>
        <p:spPr>
          <a:xfrm>
            <a:off x="6862572" y="4919472"/>
            <a:ext cx="4622292" cy="1463040"/>
          </a:xfrm>
          <a:prstGeom prst="rect">
            <a:avLst/>
          </a:prstGeom>
          <a:noFill/>
          <a:ln/>
        </p:spPr>
        <p:txBody>
          <a:bodyPr wrap="square" lIns="0" tIns="0" rIns="0" bIns="0" rtlCol="0" anchor="ctr"/>
          <a:lstStyle/>
          <a:p>
            <a:pPr marL="0" indent="0">
              <a:buNone/>
            </a:pPr>
            <a:r>
              <a:rPr lang="en-US" dirty="0">
                <a:solidFill>
                  <a:srgbClr val="223240"/>
                </a:solidFill>
                <a:latin typeface="Calibri" pitchFamily="34" charset="0"/>
                <a:ea typeface="Calibri" pitchFamily="34" charset="-122"/>
                <a:cs typeface="Calibri" pitchFamily="34" charset="-120"/>
              </a:rPr>
              <a:t>A named contact and help with cost/transport keep men in care.</a:t>
            </a:r>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SESSION 5 · KNOWLEDGE CHECK</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Knowledge Check</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5.11</a:t>
            </a:r>
            <a:endParaRPr lang="en-US" sz="900" dirty="0"/>
          </a:p>
        </p:txBody>
      </p:sp>
      <p:sp>
        <p:nvSpPr>
          <p:cNvPr id="6" name="Text 4"/>
          <p:cNvSpPr/>
          <p:nvPr/>
        </p:nvSpPr>
        <p:spPr>
          <a:xfrm>
            <a:off x="566928" y="1108348"/>
            <a:ext cx="11055096" cy="310896"/>
          </a:xfrm>
          <a:prstGeom prst="rect">
            <a:avLst/>
          </a:prstGeom>
          <a:noFill/>
          <a:ln/>
        </p:spPr>
        <p:txBody>
          <a:bodyPr wrap="square" lIns="0" tIns="0" rIns="0" bIns="0" rtlCol="0" anchor="t"/>
          <a:lstStyle/>
          <a:p>
            <a:pPr marL="0" indent="0">
              <a:buNone/>
            </a:pPr>
            <a:r>
              <a:rPr lang="en-US" sz="1200" i="1" dirty="0">
                <a:solidFill>
                  <a:srgbClr val="1A6FB0"/>
                </a:solidFill>
                <a:latin typeface="Calibri" pitchFamily="34" charset="0"/>
                <a:ea typeface="Calibri" pitchFamily="34" charset="-122"/>
                <a:cs typeface="Calibri" pitchFamily="34" charset="-120"/>
              </a:rPr>
              <a:t>Five questions. Each shows every option, the correct answer, and why.</a:t>
            </a:r>
            <a:endParaRPr lang="en-US" sz="1200" dirty="0"/>
          </a:p>
        </p:txBody>
      </p:sp>
      <p:sp>
        <p:nvSpPr>
          <p:cNvPr id="7" name="Shape 5"/>
          <p:cNvSpPr/>
          <p:nvPr/>
        </p:nvSpPr>
        <p:spPr>
          <a:xfrm>
            <a:off x="566928" y="1322997"/>
            <a:ext cx="11055096" cy="977729"/>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8" name="Shape 6"/>
          <p:cNvSpPr/>
          <p:nvPr/>
        </p:nvSpPr>
        <p:spPr>
          <a:xfrm>
            <a:off x="694944" y="1385553"/>
            <a:ext cx="292608" cy="292608"/>
          </a:xfrm>
          <a:prstGeom prst="ellipse">
            <a:avLst/>
          </a:prstGeom>
          <a:solidFill>
            <a:srgbClr val="1A6FB0"/>
          </a:solidFill>
          <a:ln w="12700">
            <a:solidFill>
              <a:srgbClr val="1A6FB0"/>
            </a:solidFill>
            <a:prstDash val="solid"/>
          </a:ln>
        </p:spPr>
        <p:txBody>
          <a:bodyPr/>
          <a:lstStyle/>
          <a:p>
            <a:endParaRPr lang="es-CO"/>
          </a:p>
        </p:txBody>
      </p:sp>
      <p:sp>
        <p:nvSpPr>
          <p:cNvPr id="9" name="Text 7"/>
          <p:cNvSpPr/>
          <p:nvPr/>
        </p:nvSpPr>
        <p:spPr>
          <a:xfrm>
            <a:off x="694944" y="1385553"/>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10" name="Text 8"/>
          <p:cNvSpPr/>
          <p:nvPr/>
        </p:nvSpPr>
        <p:spPr>
          <a:xfrm>
            <a:off x="1115568" y="1397101"/>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Hot flushes and tiredness on hormone therapy are:</a:t>
            </a:r>
            <a:endParaRPr lang="en-US" dirty="0"/>
          </a:p>
        </p:txBody>
      </p:sp>
      <p:sp>
        <p:nvSpPr>
          <p:cNvPr id="11" name="Text 9"/>
          <p:cNvSpPr/>
          <p:nvPr/>
        </p:nvSpPr>
        <p:spPr>
          <a:xfrm>
            <a:off x="1115568" y="1614154"/>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A sign the treatment must stop     B. Expected effects; support the man     C. An emergency     D. Always a drug allergy</a:t>
            </a:r>
            <a:endParaRPr lang="en-US" dirty="0"/>
          </a:p>
        </p:txBody>
      </p:sp>
      <p:sp>
        <p:nvSpPr>
          <p:cNvPr id="12" name="Text 10"/>
          <p:cNvSpPr/>
          <p:nvPr/>
        </p:nvSpPr>
        <p:spPr>
          <a:xfrm>
            <a:off x="2619515" y="1977802"/>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Expected effects; support the man and do not stop treatment on your own.</a:t>
            </a:r>
            <a:endParaRPr lang="en-US" dirty="0"/>
          </a:p>
        </p:txBody>
      </p:sp>
      <p:sp>
        <p:nvSpPr>
          <p:cNvPr id="13" name="Shape 11"/>
          <p:cNvSpPr/>
          <p:nvPr/>
        </p:nvSpPr>
        <p:spPr>
          <a:xfrm>
            <a:off x="566928" y="2347220"/>
            <a:ext cx="11055096" cy="940868"/>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14" name="Shape 12"/>
          <p:cNvSpPr/>
          <p:nvPr/>
        </p:nvSpPr>
        <p:spPr>
          <a:xfrm>
            <a:off x="694944" y="2396974"/>
            <a:ext cx="292608" cy="292608"/>
          </a:xfrm>
          <a:prstGeom prst="ellipse">
            <a:avLst/>
          </a:prstGeom>
          <a:solidFill>
            <a:srgbClr val="1A6FB0"/>
          </a:solidFill>
          <a:ln w="12700">
            <a:solidFill>
              <a:srgbClr val="1A6FB0"/>
            </a:solidFill>
            <a:prstDash val="solid"/>
          </a:ln>
        </p:spPr>
        <p:txBody>
          <a:bodyPr/>
          <a:lstStyle/>
          <a:p>
            <a:endParaRPr lang="es-CO"/>
          </a:p>
        </p:txBody>
      </p:sp>
      <p:sp>
        <p:nvSpPr>
          <p:cNvPr id="15" name="Text 13"/>
          <p:cNvSpPr/>
          <p:nvPr/>
        </p:nvSpPr>
        <p:spPr>
          <a:xfrm>
            <a:off x="694944" y="2396974"/>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6" name="Text 14"/>
          <p:cNvSpPr/>
          <p:nvPr/>
        </p:nvSpPr>
        <p:spPr>
          <a:xfrm>
            <a:off x="1115568" y="2408982"/>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New back pain with leg weakness means:</a:t>
            </a:r>
            <a:endParaRPr lang="en-US" dirty="0"/>
          </a:p>
        </p:txBody>
      </p:sp>
      <p:sp>
        <p:nvSpPr>
          <p:cNvPr id="17" name="Text 15"/>
          <p:cNvSpPr/>
          <p:nvPr/>
        </p:nvSpPr>
        <p:spPr>
          <a:xfrm>
            <a:off x="1115568" y="2612013"/>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Normal ageing     B. A minor muscle strain     C. Possible cord compression; urgent same-day referral     D. A reason to wait and watch</a:t>
            </a:r>
            <a:endParaRPr lang="en-US" dirty="0"/>
          </a:p>
        </p:txBody>
      </p:sp>
      <p:sp>
        <p:nvSpPr>
          <p:cNvPr id="18" name="Text 16"/>
          <p:cNvSpPr/>
          <p:nvPr/>
        </p:nvSpPr>
        <p:spPr>
          <a:xfrm>
            <a:off x="4713010" y="2953396"/>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C.  </a:t>
            </a:r>
            <a:r>
              <a:rPr lang="en-US" dirty="0">
                <a:solidFill>
                  <a:srgbClr val="223240"/>
                </a:solidFill>
                <a:latin typeface="Calibri" pitchFamily="34" charset="0"/>
                <a:ea typeface="Calibri" pitchFamily="34" charset="-122"/>
                <a:cs typeface="Calibri" pitchFamily="34" charset="-120"/>
              </a:rPr>
              <a:t>Possible cord compression; refer the same day.</a:t>
            </a:r>
            <a:endParaRPr lang="en-US" dirty="0"/>
          </a:p>
        </p:txBody>
      </p:sp>
      <p:sp>
        <p:nvSpPr>
          <p:cNvPr id="19" name="Shape 17"/>
          <p:cNvSpPr/>
          <p:nvPr/>
        </p:nvSpPr>
        <p:spPr>
          <a:xfrm>
            <a:off x="566928" y="3346801"/>
            <a:ext cx="11055096" cy="1215960"/>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20" name="Shape 18"/>
          <p:cNvSpPr/>
          <p:nvPr/>
        </p:nvSpPr>
        <p:spPr>
          <a:xfrm>
            <a:off x="694944" y="3468544"/>
            <a:ext cx="292608" cy="292608"/>
          </a:xfrm>
          <a:prstGeom prst="ellipse">
            <a:avLst/>
          </a:prstGeom>
          <a:solidFill>
            <a:srgbClr val="1A6FB0"/>
          </a:solidFill>
          <a:ln w="12700">
            <a:solidFill>
              <a:srgbClr val="1A6FB0"/>
            </a:solidFill>
            <a:prstDash val="solid"/>
          </a:ln>
        </p:spPr>
        <p:txBody>
          <a:bodyPr/>
          <a:lstStyle/>
          <a:p>
            <a:endParaRPr lang="es-CO"/>
          </a:p>
        </p:txBody>
      </p:sp>
      <p:sp>
        <p:nvSpPr>
          <p:cNvPr id="21" name="Text 19"/>
          <p:cNvSpPr/>
          <p:nvPr/>
        </p:nvSpPr>
        <p:spPr>
          <a:xfrm>
            <a:off x="694944" y="3468544"/>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22" name="Text 20"/>
          <p:cNvSpPr/>
          <p:nvPr/>
        </p:nvSpPr>
        <p:spPr>
          <a:xfrm>
            <a:off x="1115568" y="3456316"/>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For moderate-to-severe cancer pain:</a:t>
            </a:r>
            <a:endParaRPr lang="en-US" dirty="0"/>
          </a:p>
        </p:txBody>
      </p:sp>
      <p:sp>
        <p:nvSpPr>
          <p:cNvPr id="23" name="Text 21"/>
          <p:cNvSpPr/>
          <p:nvPr/>
        </p:nvSpPr>
        <p:spPr>
          <a:xfrm>
            <a:off x="1115568" y="3709176"/>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Avoid strong pain relief     B. Step up analgesia, use strong opioids when needed, prevent constipation     C. Use only cold compresses     D. Wait until pain is unbearable</a:t>
            </a:r>
            <a:endParaRPr lang="en-US" dirty="0"/>
          </a:p>
        </p:txBody>
      </p:sp>
      <p:sp>
        <p:nvSpPr>
          <p:cNvPr id="24" name="Text 22"/>
          <p:cNvSpPr/>
          <p:nvPr/>
        </p:nvSpPr>
        <p:spPr>
          <a:xfrm>
            <a:off x="2872178" y="4252674"/>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Step up analgesia, use strong opioids when needed, and prevent constipation.</a:t>
            </a:r>
            <a:endParaRPr lang="en-US" dirty="0"/>
          </a:p>
        </p:txBody>
      </p:sp>
      <p:sp>
        <p:nvSpPr>
          <p:cNvPr id="25" name="Shape 23"/>
          <p:cNvSpPr/>
          <p:nvPr/>
        </p:nvSpPr>
        <p:spPr>
          <a:xfrm>
            <a:off x="566928" y="4659008"/>
            <a:ext cx="11055096" cy="948373"/>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26" name="Shape 24"/>
          <p:cNvSpPr/>
          <p:nvPr/>
        </p:nvSpPr>
        <p:spPr>
          <a:xfrm>
            <a:off x="694944" y="4768737"/>
            <a:ext cx="292608" cy="292608"/>
          </a:xfrm>
          <a:prstGeom prst="ellipse">
            <a:avLst/>
          </a:prstGeom>
          <a:solidFill>
            <a:srgbClr val="1A6FB0"/>
          </a:solidFill>
          <a:ln w="12700">
            <a:solidFill>
              <a:srgbClr val="1A6FB0"/>
            </a:solidFill>
            <a:prstDash val="solid"/>
          </a:ln>
        </p:spPr>
        <p:txBody>
          <a:bodyPr/>
          <a:lstStyle/>
          <a:p>
            <a:endParaRPr lang="es-CO"/>
          </a:p>
        </p:txBody>
      </p:sp>
      <p:sp>
        <p:nvSpPr>
          <p:cNvPr id="27" name="Text 25"/>
          <p:cNvSpPr/>
          <p:nvPr/>
        </p:nvSpPr>
        <p:spPr>
          <a:xfrm>
            <a:off x="694944" y="4768737"/>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28" name="Text 26"/>
          <p:cNvSpPr/>
          <p:nvPr/>
        </p:nvSpPr>
        <p:spPr>
          <a:xfrm>
            <a:off x="1115568" y="4732161"/>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Palliative care in prostate cancer is:</a:t>
            </a:r>
            <a:endParaRPr lang="en-US" dirty="0"/>
          </a:p>
        </p:txBody>
      </p:sp>
      <p:sp>
        <p:nvSpPr>
          <p:cNvPr id="29" name="Text 27"/>
          <p:cNvSpPr/>
          <p:nvPr/>
        </p:nvSpPr>
        <p:spPr>
          <a:xfrm>
            <a:off x="1115568" y="4997337"/>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Only for the last days of life     B. Important throughout, alongside treatment     C. A sign treatment has failed     D. Not part of your role</a:t>
            </a:r>
            <a:endParaRPr lang="en-US" dirty="0"/>
          </a:p>
        </p:txBody>
      </p:sp>
      <p:sp>
        <p:nvSpPr>
          <p:cNvPr id="30" name="Text 28"/>
          <p:cNvSpPr/>
          <p:nvPr/>
        </p:nvSpPr>
        <p:spPr>
          <a:xfrm>
            <a:off x="3485789" y="5323637"/>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Important throughout, alongside treatment, not only at the end of life.</a:t>
            </a:r>
            <a:endParaRPr lang="en-US" dirty="0"/>
          </a:p>
        </p:txBody>
      </p:sp>
      <p:sp>
        <p:nvSpPr>
          <p:cNvPr id="31" name="Shape 29"/>
          <p:cNvSpPr/>
          <p:nvPr/>
        </p:nvSpPr>
        <p:spPr>
          <a:xfrm>
            <a:off x="566928" y="5653876"/>
            <a:ext cx="11055096" cy="838364"/>
          </a:xfrm>
          <a:prstGeom prst="roundRect">
            <a:avLst>
              <a:gd name="adj" fmla="val 5656"/>
            </a:avLst>
          </a:prstGeom>
          <a:solidFill>
            <a:srgbClr val="F5F8FB"/>
          </a:solidFill>
          <a:ln w="12700">
            <a:solidFill>
              <a:srgbClr val="C4D2DF"/>
            </a:solidFill>
            <a:prstDash val="solid"/>
          </a:ln>
        </p:spPr>
        <p:txBody>
          <a:bodyPr/>
          <a:lstStyle/>
          <a:p>
            <a:endParaRPr lang="es-CO"/>
          </a:p>
        </p:txBody>
      </p:sp>
      <p:sp>
        <p:nvSpPr>
          <p:cNvPr id="32" name="Shape 30"/>
          <p:cNvSpPr/>
          <p:nvPr/>
        </p:nvSpPr>
        <p:spPr>
          <a:xfrm>
            <a:off x="694944" y="5695938"/>
            <a:ext cx="292608" cy="292608"/>
          </a:xfrm>
          <a:prstGeom prst="ellipse">
            <a:avLst/>
          </a:prstGeom>
          <a:solidFill>
            <a:srgbClr val="1A6FB0"/>
          </a:solidFill>
          <a:ln w="12700">
            <a:solidFill>
              <a:srgbClr val="1A6FB0"/>
            </a:solidFill>
            <a:prstDash val="solid"/>
          </a:ln>
        </p:spPr>
        <p:txBody>
          <a:bodyPr/>
          <a:lstStyle/>
          <a:p>
            <a:endParaRPr lang="es-CO"/>
          </a:p>
        </p:txBody>
      </p:sp>
      <p:sp>
        <p:nvSpPr>
          <p:cNvPr id="33" name="Text 31"/>
          <p:cNvSpPr/>
          <p:nvPr/>
        </p:nvSpPr>
        <p:spPr>
          <a:xfrm>
            <a:off x="694944" y="5695938"/>
            <a:ext cx="292608"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5</a:t>
            </a:r>
            <a:endParaRPr lang="en-US" dirty="0"/>
          </a:p>
        </p:txBody>
      </p:sp>
      <p:sp>
        <p:nvSpPr>
          <p:cNvPr id="34" name="Text 32"/>
          <p:cNvSpPr/>
          <p:nvPr/>
        </p:nvSpPr>
        <p:spPr>
          <a:xfrm>
            <a:off x="1115568" y="5659362"/>
            <a:ext cx="10323576" cy="274320"/>
          </a:xfrm>
          <a:prstGeom prst="rect">
            <a:avLst/>
          </a:prstGeom>
          <a:noFill/>
          <a:ln/>
        </p:spPr>
        <p:txBody>
          <a:bodyPr wrap="square" lIns="0" tIns="0" rIns="0" bIns="0" rtlCol="0" anchor="t"/>
          <a:lstStyle/>
          <a:p>
            <a:pPr marL="0" indent="0">
              <a:buNone/>
            </a:pPr>
            <a:r>
              <a:rPr lang="en-US" b="1" dirty="0">
                <a:solidFill>
                  <a:srgbClr val="1F3A5F"/>
                </a:solidFill>
                <a:latin typeface="Calibri" pitchFamily="34" charset="0"/>
                <a:ea typeface="Calibri" pitchFamily="34" charset="-122"/>
                <a:cs typeface="Calibri" pitchFamily="34" charset="-120"/>
              </a:rPr>
              <a:t>Sexual difficulties after treatment should be:</a:t>
            </a:r>
            <a:endParaRPr lang="en-US" dirty="0"/>
          </a:p>
        </p:txBody>
      </p:sp>
      <p:sp>
        <p:nvSpPr>
          <p:cNvPr id="35" name="Text 33"/>
          <p:cNvSpPr/>
          <p:nvPr/>
        </p:nvSpPr>
        <p:spPr>
          <a:xfrm>
            <a:off x="1115568" y="5924538"/>
            <a:ext cx="10323576" cy="256032"/>
          </a:xfrm>
          <a:prstGeom prst="rect">
            <a:avLst/>
          </a:prstGeom>
          <a:noFill/>
          <a:ln/>
        </p:spPr>
        <p:txBody>
          <a:bodyPr wrap="square" lIns="0" tIns="0" rIns="0" bIns="0" rtlCol="0" anchor="t"/>
          <a:lstStyle/>
          <a:p>
            <a:pPr marL="0" indent="0">
              <a:buNone/>
            </a:pPr>
            <a:r>
              <a:rPr lang="en-US" dirty="0">
                <a:solidFill>
                  <a:srgbClr val="6B7A88"/>
                </a:solidFill>
                <a:latin typeface="Calibri" pitchFamily="34" charset="0"/>
                <a:ea typeface="Calibri" pitchFamily="34" charset="-122"/>
                <a:cs typeface="Calibri" pitchFamily="34" charset="-120"/>
              </a:rPr>
              <a:t>A. Ignored     B. Raised openly and supported     C. Left for the man to mention only     D. Treated as untreatable</a:t>
            </a:r>
            <a:endParaRPr lang="en-US" dirty="0"/>
          </a:p>
        </p:txBody>
      </p:sp>
      <p:sp>
        <p:nvSpPr>
          <p:cNvPr id="36" name="Text 34"/>
          <p:cNvSpPr/>
          <p:nvPr/>
        </p:nvSpPr>
        <p:spPr>
          <a:xfrm>
            <a:off x="2720340" y="6227064"/>
            <a:ext cx="10323576" cy="256032"/>
          </a:xfrm>
          <a:prstGeom prst="rect">
            <a:avLst/>
          </a:prstGeom>
          <a:noFill/>
          <a:ln/>
        </p:spPr>
        <p:txBody>
          <a:bodyPr wrap="square" lIns="0" tIns="0" rIns="0" bIns="0" rtlCol="0" anchor="t"/>
          <a:lstStyle/>
          <a:p>
            <a:pPr marL="0" indent="0">
              <a:buNone/>
            </a:pPr>
            <a:r>
              <a:rPr lang="en-US" b="1" dirty="0">
                <a:solidFill>
                  <a:srgbClr val="1E7A46"/>
                </a:solidFill>
                <a:latin typeface="Calibri" pitchFamily="34" charset="0"/>
                <a:ea typeface="Calibri" pitchFamily="34" charset="-122"/>
                <a:cs typeface="Calibri" pitchFamily="34" charset="-120"/>
              </a:rPr>
              <a:t>✅ Correct: B.  </a:t>
            </a:r>
            <a:r>
              <a:rPr lang="en-US" dirty="0">
                <a:solidFill>
                  <a:srgbClr val="223240"/>
                </a:solidFill>
                <a:latin typeface="Calibri" pitchFamily="34" charset="0"/>
                <a:ea typeface="Calibri" pitchFamily="34" charset="-122"/>
                <a:cs typeface="Calibri" pitchFamily="34" charset="-120"/>
              </a:rPr>
              <a:t>Raised openly and supported, not ignored.</a:t>
            </a:r>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5096" cy="274320"/>
          </a:xfrm>
          <a:prstGeom prst="rect">
            <a:avLst/>
          </a:prstGeom>
          <a:noFill/>
          <a:ln/>
        </p:spPr>
        <p:txBody>
          <a:bodyPr wrap="square" lIns="0" tIns="0" rIns="0" bIns="0" rtlCol="0" anchor="ctr"/>
          <a:lstStyle/>
          <a:p>
            <a:pPr marL="0" indent="0" algn="l">
              <a:buNone/>
            </a:pPr>
            <a:r>
              <a:rPr lang="en-US" sz="1150" b="1" kern="0" spc="200" dirty="0">
                <a:solidFill>
                  <a:srgbClr val="1A6FB0"/>
                </a:solidFill>
                <a:latin typeface="Calibri" pitchFamily="34" charset="0"/>
                <a:ea typeface="Calibri" pitchFamily="34" charset="-122"/>
                <a:cs typeface="Calibri" pitchFamily="34" charset="-120"/>
              </a:rPr>
              <a:t>ATTRIBUTION &amp; RESOURCES</a:t>
            </a:r>
            <a:endParaRPr lang="en-US" sz="1150" dirty="0"/>
          </a:p>
        </p:txBody>
      </p:sp>
      <p:sp>
        <p:nvSpPr>
          <p:cNvPr id="3" name="Text 1"/>
          <p:cNvSpPr/>
          <p:nvPr/>
        </p:nvSpPr>
        <p:spPr>
          <a:xfrm>
            <a:off x="566928" y="676656"/>
            <a:ext cx="11055096" cy="749808"/>
          </a:xfrm>
          <a:prstGeom prst="rect">
            <a:avLst/>
          </a:prstGeom>
          <a:noFill/>
          <a:ln/>
        </p:spPr>
        <p:txBody>
          <a:bodyPr wrap="square" lIns="0" tIns="0" rIns="0" bIns="0" rtlCol="0" anchor="t"/>
          <a:lstStyle/>
          <a:p>
            <a:pPr marL="0" indent="0" algn="l">
              <a:buNone/>
            </a:pPr>
            <a:r>
              <a:rPr lang="en-US" sz="2500" b="1" dirty="0">
                <a:solidFill>
                  <a:srgbClr val="1F3A5F"/>
                </a:solidFill>
                <a:latin typeface="Cambria" pitchFamily="34" charset="0"/>
                <a:ea typeface="Cambria" pitchFamily="34" charset="-122"/>
                <a:cs typeface="Cambria" pitchFamily="34" charset="-120"/>
              </a:rPr>
              <a:t>References</a:t>
            </a:r>
            <a:endParaRPr lang="en-US" sz="2500" dirty="0"/>
          </a:p>
        </p:txBody>
      </p:sp>
      <p:sp>
        <p:nvSpPr>
          <p:cNvPr id="4" name="Text 2"/>
          <p:cNvSpPr/>
          <p:nvPr/>
        </p:nvSpPr>
        <p:spPr>
          <a:xfrm>
            <a:off x="566928" y="6492240"/>
            <a:ext cx="7315200" cy="256032"/>
          </a:xfrm>
          <a:prstGeom prst="rect">
            <a:avLst/>
          </a:prstGeom>
          <a:noFill/>
          <a:ln/>
        </p:spPr>
        <p:txBody>
          <a:bodyPr wrap="square" lIns="0" tIns="0" rIns="0" bIns="0" rtlCol="0" anchor="ctr"/>
          <a:lstStyle/>
          <a:p>
            <a:pPr marL="0" indent="0" algn="l">
              <a:buNone/>
            </a:pPr>
            <a:r>
              <a:rPr lang="en-US" sz="900" dirty="0">
                <a:solidFill>
                  <a:srgbClr val="6B7A88"/>
                </a:solidFill>
                <a:latin typeface="Calibri" pitchFamily="34" charset="0"/>
                <a:ea typeface="Calibri" pitchFamily="34" charset="-122"/>
                <a:cs typeface="Calibri" pitchFamily="34" charset="-120"/>
              </a:rPr>
              <a:t>Prostate Cancer  ·  Frontline HCP  ·  Rwanda</a:t>
            </a:r>
            <a:endParaRPr lang="en-US" sz="900" dirty="0"/>
          </a:p>
        </p:txBody>
      </p:sp>
      <p:sp>
        <p:nvSpPr>
          <p:cNvPr id="5" name="Text 3"/>
          <p:cNvSpPr/>
          <p:nvPr/>
        </p:nvSpPr>
        <p:spPr>
          <a:xfrm>
            <a:off x="8878824" y="6492240"/>
            <a:ext cx="2743200" cy="256032"/>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References</a:t>
            </a:r>
            <a:endParaRPr lang="en-US" sz="900" dirty="0"/>
          </a:p>
        </p:txBody>
      </p:sp>
      <p:sp>
        <p:nvSpPr>
          <p:cNvPr id="7" name="Text 5"/>
          <p:cNvSpPr/>
          <p:nvPr/>
        </p:nvSpPr>
        <p:spPr>
          <a:xfrm>
            <a:off x="566928" y="1197749"/>
            <a:ext cx="5298948" cy="3657600"/>
          </a:xfrm>
          <a:prstGeom prst="rect">
            <a:avLst/>
          </a:prstGeom>
          <a:noFill/>
          <a:ln/>
        </p:spPr>
        <p:txBody>
          <a:bodyPr wrap="square" lIns="0" tIns="0" rIns="0" bIns="0" rtlCol="0" anchor="t"/>
          <a:lstStyle/>
          <a:p>
            <a:pPr marL="0" indent="0">
              <a:spcAft>
                <a:spcPts val="800"/>
              </a:spcAft>
              <a:buNone/>
            </a:pPr>
            <a:r>
              <a:rPr lang="en-US" sz="1400" dirty="0">
                <a:solidFill>
                  <a:srgbClr val="223240"/>
                </a:solidFill>
                <a:latin typeface="Calibri" pitchFamily="34" charset="0"/>
                <a:ea typeface="Calibri" pitchFamily="34" charset="-122"/>
                <a:cs typeface="Calibri" pitchFamily="34" charset="-120"/>
              </a:rPr>
              <a:t>1.  European Association of Urology. Prostate Cancer Guidelines. uroweb.org/guidelines/prostate-cancer</a:t>
            </a:r>
            <a:endParaRPr lang="en-US" sz="1400" dirty="0"/>
          </a:p>
          <a:p>
            <a:pPr marL="0" indent="0">
              <a:spcAft>
                <a:spcPts val="800"/>
              </a:spcAft>
              <a:buNone/>
            </a:pPr>
            <a:r>
              <a:rPr lang="en-US" sz="1400" dirty="0">
                <a:solidFill>
                  <a:srgbClr val="223240"/>
                </a:solidFill>
                <a:latin typeface="Calibri" pitchFamily="34" charset="0"/>
                <a:ea typeface="Calibri" pitchFamily="34" charset="-122"/>
                <a:cs typeface="Calibri" pitchFamily="34" charset="-120"/>
              </a:rPr>
              <a:t>2.  American Cancer Society. ACS Recommendations for Prostate Cancer Early Detection. cancer.org</a:t>
            </a:r>
            <a:endParaRPr lang="en-US" sz="1400" dirty="0"/>
          </a:p>
          <a:p>
            <a:pPr marL="0" indent="0">
              <a:spcAft>
                <a:spcPts val="800"/>
              </a:spcAft>
              <a:buNone/>
            </a:pPr>
            <a:endParaRPr lang="en-US" sz="1400" dirty="0"/>
          </a:p>
          <a:p>
            <a:pPr marL="0" indent="0">
              <a:spcAft>
                <a:spcPts val="800"/>
              </a:spcAft>
              <a:buNone/>
            </a:pPr>
            <a:r>
              <a:rPr lang="en-US" sz="1400" dirty="0">
                <a:solidFill>
                  <a:srgbClr val="223240"/>
                </a:solidFill>
                <a:latin typeface="Calibri" pitchFamily="34" charset="0"/>
                <a:ea typeface="Calibri" pitchFamily="34" charset="-122"/>
                <a:cs typeface="Calibri" pitchFamily="34" charset="-120"/>
              </a:rPr>
              <a:t>3.  US Centers for Disease Control and Prevention. Prostate Cancer Screening. cdc.gov/prostate-cancer/screening</a:t>
            </a:r>
            <a:endParaRPr lang="en-US" sz="1400" dirty="0"/>
          </a:p>
          <a:p>
            <a:pPr marL="0" indent="0">
              <a:spcAft>
                <a:spcPts val="800"/>
              </a:spcAft>
              <a:buNone/>
            </a:pPr>
            <a:endParaRPr lang="en-US" sz="1400" dirty="0"/>
          </a:p>
          <a:p>
            <a:pPr marL="0" indent="0">
              <a:spcAft>
                <a:spcPts val="800"/>
              </a:spcAft>
              <a:buNone/>
            </a:pPr>
            <a:r>
              <a:rPr lang="en-US" sz="1400" dirty="0">
                <a:solidFill>
                  <a:srgbClr val="223240"/>
                </a:solidFill>
                <a:latin typeface="Calibri" pitchFamily="34" charset="0"/>
                <a:ea typeface="Calibri" pitchFamily="34" charset="-122"/>
                <a:cs typeface="Calibri" pitchFamily="34" charset="-120"/>
              </a:rPr>
              <a:t>4.  National Comprehensive Cancer Network. NCCN Guidelines: Prostate Cancer. nccn.org/guidelines</a:t>
            </a:r>
            <a:endParaRPr lang="en-US" sz="1400" dirty="0"/>
          </a:p>
          <a:p>
            <a:pPr marL="0" indent="0">
              <a:spcAft>
                <a:spcPts val="800"/>
              </a:spcAft>
              <a:buNone/>
            </a:pPr>
            <a:endParaRPr lang="en-US" sz="1400" dirty="0"/>
          </a:p>
          <a:p>
            <a:pPr marL="0" indent="0">
              <a:spcAft>
                <a:spcPts val="800"/>
              </a:spcAft>
              <a:buNone/>
            </a:pPr>
            <a:r>
              <a:rPr lang="en-US" sz="1400" dirty="0">
                <a:solidFill>
                  <a:srgbClr val="223240"/>
                </a:solidFill>
                <a:latin typeface="Calibri" pitchFamily="34" charset="0"/>
                <a:ea typeface="Calibri" pitchFamily="34" charset="-122"/>
                <a:cs typeface="Calibri" pitchFamily="34" charset="-120"/>
              </a:rPr>
              <a:t>5.  European Society for Medical Oncology. Advanced and Metastatic Prostate Cancer Clinical Practice Guideline. esmo.org</a:t>
            </a:r>
            <a:endParaRPr lang="en-US" sz="1400" dirty="0"/>
          </a:p>
          <a:p>
            <a:pPr marL="0" indent="0">
              <a:spcAft>
                <a:spcPts val="800"/>
              </a:spcAft>
              <a:buNone/>
            </a:pPr>
            <a:endParaRPr lang="en-US" sz="1400" dirty="0"/>
          </a:p>
          <a:p>
            <a:pPr marL="0" indent="0">
              <a:spcAft>
                <a:spcPts val="800"/>
              </a:spcAft>
              <a:buNone/>
            </a:pPr>
            <a:r>
              <a:rPr lang="en-US" sz="1400" dirty="0">
                <a:solidFill>
                  <a:srgbClr val="223240"/>
                </a:solidFill>
                <a:latin typeface="Calibri" pitchFamily="34" charset="0"/>
                <a:ea typeface="Calibri" pitchFamily="34" charset="-122"/>
                <a:cs typeface="Calibri" pitchFamily="34" charset="-120"/>
              </a:rPr>
              <a:t>6.  American Urological Association. Prostate Cancer Guideline. auanet.org</a:t>
            </a:r>
            <a:endParaRPr lang="en-US" sz="1400" dirty="0"/>
          </a:p>
        </p:txBody>
      </p:sp>
      <p:sp>
        <p:nvSpPr>
          <p:cNvPr id="8" name="Text 6"/>
          <p:cNvSpPr/>
          <p:nvPr/>
        </p:nvSpPr>
        <p:spPr>
          <a:xfrm>
            <a:off x="6323076" y="1197749"/>
            <a:ext cx="5298948" cy="3657600"/>
          </a:xfrm>
          <a:prstGeom prst="rect">
            <a:avLst/>
          </a:prstGeom>
          <a:noFill/>
          <a:ln/>
        </p:spPr>
        <p:txBody>
          <a:bodyPr wrap="square" lIns="0" tIns="0" rIns="0" bIns="0" rtlCol="0" anchor="t"/>
          <a:lstStyle/>
          <a:p>
            <a:pPr marL="0" indent="0">
              <a:spcAft>
                <a:spcPts val="800"/>
              </a:spcAft>
              <a:buNone/>
            </a:pPr>
            <a:r>
              <a:rPr lang="en-US" sz="1400" dirty="0">
                <a:solidFill>
                  <a:srgbClr val="223240"/>
                </a:solidFill>
                <a:latin typeface="Calibri" pitchFamily="34" charset="0"/>
                <a:ea typeface="Calibri" pitchFamily="34" charset="-122"/>
                <a:cs typeface="Calibri" pitchFamily="34" charset="-120"/>
              </a:rPr>
              <a:t>7.  International Agency for Research on Cancer. Global Cancer Observatory (GLOBOCAN). gco.iarc.who.int</a:t>
            </a:r>
            <a:endParaRPr lang="en-US" sz="1400" dirty="0"/>
          </a:p>
          <a:p>
            <a:pPr marL="0" indent="0">
              <a:spcAft>
                <a:spcPts val="800"/>
              </a:spcAft>
              <a:buNone/>
            </a:pPr>
            <a:r>
              <a:rPr lang="en-US" sz="1400" dirty="0">
                <a:solidFill>
                  <a:srgbClr val="223240"/>
                </a:solidFill>
                <a:latin typeface="Calibri" pitchFamily="34" charset="0"/>
                <a:ea typeface="Calibri" pitchFamily="34" charset="-122"/>
                <a:cs typeface="Calibri" pitchFamily="34" charset="-120"/>
              </a:rPr>
              <a:t>8.  Ilic D, et al. Screening for prostate cancer. Cochrane Database of Systematic Reviews. cochranelibrary.com</a:t>
            </a:r>
            <a:endParaRPr lang="en-US" sz="1400" dirty="0"/>
          </a:p>
          <a:p>
            <a:pPr marL="0" indent="0">
              <a:spcAft>
                <a:spcPts val="800"/>
              </a:spcAft>
              <a:buNone/>
            </a:pPr>
            <a:endParaRPr lang="en-US" sz="1400" dirty="0"/>
          </a:p>
          <a:p>
            <a:pPr marL="0" indent="0">
              <a:spcAft>
                <a:spcPts val="800"/>
              </a:spcAft>
              <a:buNone/>
            </a:pPr>
            <a:r>
              <a:rPr lang="en-US" sz="1400" dirty="0">
                <a:solidFill>
                  <a:srgbClr val="223240"/>
                </a:solidFill>
                <a:latin typeface="Calibri" pitchFamily="34" charset="0"/>
                <a:ea typeface="Calibri" pitchFamily="34" charset="-122"/>
                <a:cs typeface="Calibri" pitchFamily="34" charset="-120"/>
              </a:rPr>
              <a:t>9.  Medscape / eMedicine. Prostate Cancer Overview. emedicine.medscape.com/article/2259453</a:t>
            </a:r>
            <a:endParaRPr lang="en-US" sz="1400" dirty="0"/>
          </a:p>
          <a:p>
            <a:pPr marL="0" indent="0">
              <a:spcAft>
                <a:spcPts val="800"/>
              </a:spcAft>
              <a:buNone/>
            </a:pPr>
            <a:endParaRPr lang="en-US" sz="1400" dirty="0"/>
          </a:p>
          <a:p>
            <a:pPr marL="0" indent="0">
              <a:spcAft>
                <a:spcPts val="800"/>
              </a:spcAft>
              <a:buNone/>
            </a:pPr>
            <a:r>
              <a:rPr lang="en-US" sz="1400" dirty="0">
                <a:solidFill>
                  <a:srgbClr val="223240"/>
                </a:solidFill>
                <a:latin typeface="Calibri" pitchFamily="34" charset="0"/>
                <a:ea typeface="Calibri" pitchFamily="34" charset="-122"/>
                <a:cs typeface="Calibri" pitchFamily="34" charset="-120"/>
              </a:rPr>
              <a:t>10.  African Cancer Registry Network. Rwanda National Cancer Registry. afcrn.org</a:t>
            </a:r>
            <a:endParaRPr lang="en-US" sz="1400" dirty="0"/>
          </a:p>
          <a:p>
            <a:pPr marL="0" indent="0">
              <a:spcAft>
                <a:spcPts val="800"/>
              </a:spcAft>
              <a:buNone/>
            </a:pPr>
            <a:endParaRPr lang="en-US" sz="1400" dirty="0"/>
          </a:p>
          <a:p>
            <a:pPr marL="0" indent="0">
              <a:spcAft>
                <a:spcPts val="800"/>
              </a:spcAft>
              <a:buNone/>
            </a:pPr>
            <a:r>
              <a:rPr lang="en-US" sz="1400" dirty="0">
                <a:solidFill>
                  <a:srgbClr val="223240"/>
                </a:solidFill>
                <a:latin typeface="Calibri" pitchFamily="34" charset="0"/>
                <a:ea typeface="Calibri" pitchFamily="34" charset="-122"/>
                <a:cs typeface="Calibri" pitchFamily="34" charset="-120"/>
              </a:rPr>
              <a:t>11.  World Health Organization. Guide to Cancer Early Diagnosis. Geneva: WHO, 2017.</a:t>
            </a:r>
            <a:endParaRPr lang="en-US" sz="1400" dirty="0"/>
          </a:p>
          <a:p>
            <a:pPr marL="0" indent="0">
              <a:spcAft>
                <a:spcPts val="800"/>
              </a:spcAft>
              <a:buNone/>
            </a:pPr>
            <a:endParaRPr lang="en-US" sz="1400" dirty="0"/>
          </a:p>
          <a:p>
            <a:pPr marL="0" indent="0">
              <a:spcAft>
                <a:spcPts val="800"/>
              </a:spcAft>
              <a:buNone/>
            </a:pPr>
            <a:r>
              <a:rPr lang="en-US" sz="1400" dirty="0">
                <a:solidFill>
                  <a:srgbClr val="223240"/>
                </a:solidFill>
                <a:latin typeface="Calibri" pitchFamily="34" charset="0"/>
                <a:ea typeface="Calibri" pitchFamily="34" charset="-122"/>
                <a:cs typeface="Calibri" pitchFamily="34" charset="-120"/>
              </a:rPr>
              <a:t>12.  International Agency for Research on Cancer. Planning and Developing Population-Based Cancer Registration in LMIC. IARC Technical Publication No. 43, 2014.</a:t>
            </a:r>
            <a:endParaRPr lang="en-US" sz="1400" dirty="0"/>
          </a:p>
        </p:txBody>
      </p:sp>
      <p:sp>
        <p:nvSpPr>
          <p:cNvPr id="9" name="Text 7"/>
          <p:cNvSpPr/>
          <p:nvPr/>
        </p:nvSpPr>
        <p:spPr>
          <a:xfrm>
            <a:off x="566928" y="5943600"/>
            <a:ext cx="11055096" cy="548640"/>
          </a:xfrm>
          <a:prstGeom prst="rect">
            <a:avLst/>
          </a:prstGeom>
          <a:noFill/>
          <a:ln/>
        </p:spPr>
        <p:txBody>
          <a:bodyPr wrap="square" lIns="0" tIns="0" rIns="0" bIns="0" rtlCol="0" anchor="t"/>
          <a:lstStyle/>
          <a:p>
            <a:pPr marL="0" indent="0">
              <a:buNone/>
            </a:pPr>
            <a:r>
              <a:rPr lang="en-US" sz="1100" b="1" dirty="0">
                <a:solidFill>
                  <a:srgbClr val="CC0000"/>
                </a:solidFill>
                <a:latin typeface="Calibri" pitchFamily="34" charset="0"/>
                <a:ea typeface="Calibri" pitchFamily="34" charset="-122"/>
                <a:cs typeface="Calibri" pitchFamily="34" charset="-120"/>
              </a:rPr>
              <a:t>To be confirmed by RBC before build: Rwanda epidemiology figures, national screening position, current referral facility names, and locally available diagnostics and treatments.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8919</Words>
  <Application>Microsoft Office PowerPoint</Application>
  <PresentationFormat>Widescreen</PresentationFormat>
  <Paragraphs>1002</Paragraphs>
  <Slides>71</Slides>
  <Notes>71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71</vt:i4>
      </vt:variant>
    </vt:vector>
  </HeadingPairs>
  <TitlesOfParts>
    <vt:vector size="76"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Prostate Cancer, Frontline HCP Module</dc:title>
  <dc:subject>PptxGenJS Presentation</dc:subject>
  <dc:creator>OSC Instructional Design</dc:creator>
  <cp:lastModifiedBy>Saraf, Jayant</cp:lastModifiedBy>
  <cp:revision>13</cp:revision>
  <dcterms:created xsi:type="dcterms:W3CDTF">2026-08-13T23:01:57Z</dcterms:created>
  <dcterms:modified xsi:type="dcterms:W3CDTF">2026-08-18T13:43:27Z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c56a699-e9bd-437a-8412-901342082749_Enabled">
    <vt:lpwstr>true</vt:lpwstr>
  </property>
  <property fmtid="{D5CDD505-2E9C-101B-9397-08002B2CF9AE}" pid="3" name="MSIP_Label_2c56a699-e9bd-437a-8412-901342082749_SetDate">
    <vt:lpwstr>2026-08-18T13:26:44Z</vt:lpwstr>
  </property>
  <property fmtid="{D5CDD505-2E9C-101B-9397-08002B2CF9AE}" pid="4" name="MSIP_Label_2c56a699-e9bd-437a-8412-901342082749_Method">
    <vt:lpwstr>Privileged</vt:lpwstr>
  </property>
  <property fmtid="{D5CDD505-2E9C-101B-9397-08002B2CF9AE}" pid="5" name="MSIP_Label_2c56a699-e9bd-437a-8412-901342082749_Name">
    <vt:lpwstr>2c56a699-e9bd-437a-8412-901342082749</vt:lpwstr>
  </property>
  <property fmtid="{D5CDD505-2E9C-101B-9397-08002B2CF9AE}" pid="6" name="MSIP_Label_2c56a699-e9bd-437a-8412-901342082749_SiteId">
    <vt:lpwstr>a00de4ec-48a8-43a6-be74-e31274e2060d</vt:lpwstr>
  </property>
  <property fmtid="{D5CDD505-2E9C-101B-9397-08002B2CF9AE}" pid="7" name="MSIP_Label_2c56a699-e9bd-437a-8412-901342082749_ActionId">
    <vt:lpwstr>7d568b73-8632-4932-a85b-8b4aaef6fd77</vt:lpwstr>
  </property>
  <property fmtid="{D5CDD505-2E9C-101B-9397-08002B2CF9AE}" pid="8" name="MSIP_Label_2c56a699-e9bd-437a-8412-901342082749_ContentBits">
    <vt:lpwstr>1</vt:lpwstr>
  </property>
  <property fmtid="{D5CDD505-2E9C-101B-9397-08002B2CF9AE}" pid="9" name="MSIP_Label_2c56a699-e9bd-437a-8412-901342082749_Tag">
    <vt:lpwstr>10, 0, 1, 1</vt:lpwstr>
  </property>
  <property fmtid="{D5CDD505-2E9C-101B-9397-08002B2CF9AE}" pid="10" name="ClassificationContentMarkingHeaderLocations">
    <vt:lpwstr>Office Theme:3</vt:lpwstr>
  </property>
  <property fmtid="{D5CDD505-2E9C-101B-9397-08002B2CF9AE}" pid="11" name="ClassificationContentMarkingHeaderText">
    <vt:lpwstr>Confidential</vt:lpwstr>
  </property>
</Properties>
</file>