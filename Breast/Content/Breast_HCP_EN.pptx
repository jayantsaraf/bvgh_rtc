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rts/chart1.xml" ContentType="application/vnd.openxmlformats-officedocument.drawingml.chart+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rts/chart2.xml" ContentType="application/vnd.openxmlformats-officedocument.drawingml.chart+xml"/>
  <Override PartName="/ppt/notesSlides/notesSlide23.xml" ContentType="application/vnd.openxmlformats-officedocument.presentationml.notesSlide+xml"/>
  <Override PartName="/ppt/charts/chart3.xml" ContentType="application/vnd.openxmlformats-officedocument.drawingml.chart+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66"/>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385" r:id="rId22"/>
    <p:sldId id="386" r:id="rId23"/>
    <p:sldId id="273" r:id="rId24"/>
    <p:sldId id="274" r:id="rId25"/>
    <p:sldId id="275" r:id="rId26"/>
    <p:sldId id="277" r:id="rId27"/>
    <p:sldId id="276" r:id="rId28"/>
    <p:sldId id="404" r:id="rId29"/>
    <p:sldId id="408" r:id="rId30"/>
    <p:sldId id="405" r:id="rId31"/>
    <p:sldId id="406" r:id="rId32"/>
    <p:sldId id="387" r:id="rId33"/>
    <p:sldId id="279" r:id="rId34"/>
    <p:sldId id="280" r:id="rId35"/>
    <p:sldId id="281" r:id="rId36"/>
    <p:sldId id="282" r:id="rId37"/>
    <p:sldId id="283" r:id="rId38"/>
    <p:sldId id="284" r:id="rId39"/>
    <p:sldId id="285" r:id="rId40"/>
    <p:sldId id="286" r:id="rId41"/>
    <p:sldId id="388" r:id="rId42"/>
    <p:sldId id="287" r:id="rId43"/>
    <p:sldId id="389" r:id="rId44"/>
    <p:sldId id="391" r:id="rId45"/>
    <p:sldId id="390" r:id="rId46"/>
    <p:sldId id="288" r:id="rId47"/>
    <p:sldId id="289" r:id="rId48"/>
    <p:sldId id="290" r:id="rId49"/>
    <p:sldId id="291" r:id="rId50"/>
    <p:sldId id="392" r:id="rId51"/>
    <p:sldId id="292" r:id="rId52"/>
    <p:sldId id="293" r:id="rId53"/>
    <p:sldId id="294" r:id="rId54"/>
    <p:sldId id="295" r:id="rId55"/>
    <p:sldId id="296" r:id="rId56"/>
    <p:sldId id="297" r:id="rId57"/>
    <p:sldId id="298" r:id="rId58"/>
    <p:sldId id="299" r:id="rId59"/>
    <p:sldId id="300" r:id="rId60"/>
    <p:sldId id="393" r:id="rId61"/>
    <p:sldId id="301" r:id="rId62"/>
    <p:sldId id="394" r:id="rId63"/>
    <p:sldId id="395" r:id="rId64"/>
    <p:sldId id="303" r:id="rId65"/>
    <p:sldId id="396" r:id="rId66"/>
    <p:sldId id="304" r:id="rId67"/>
    <p:sldId id="305" r:id="rId68"/>
    <p:sldId id="306" r:id="rId69"/>
    <p:sldId id="307" r:id="rId70"/>
    <p:sldId id="308" r:id="rId71"/>
    <p:sldId id="309" r:id="rId72"/>
    <p:sldId id="409" r:id="rId73"/>
    <p:sldId id="410" r:id="rId74"/>
    <p:sldId id="310" r:id="rId75"/>
    <p:sldId id="411" r:id="rId76"/>
    <p:sldId id="412" r:id="rId77"/>
    <p:sldId id="413" r:id="rId78"/>
    <p:sldId id="414" r:id="rId79"/>
    <p:sldId id="415" r:id="rId80"/>
    <p:sldId id="416" r:id="rId81"/>
    <p:sldId id="417" r:id="rId82"/>
    <p:sldId id="418" r:id="rId83"/>
    <p:sldId id="419" r:id="rId84"/>
    <p:sldId id="420" r:id="rId85"/>
    <p:sldId id="421" r:id="rId86"/>
    <p:sldId id="422" r:id="rId87"/>
    <p:sldId id="423" r:id="rId88"/>
    <p:sldId id="424" r:id="rId89"/>
    <p:sldId id="311" r:id="rId90"/>
    <p:sldId id="312" r:id="rId91"/>
    <p:sldId id="407" r:id="rId92"/>
    <p:sldId id="314" r:id="rId93"/>
    <p:sldId id="397" r:id="rId94"/>
    <p:sldId id="315" r:id="rId95"/>
    <p:sldId id="316" r:id="rId96"/>
    <p:sldId id="317" r:id="rId97"/>
    <p:sldId id="318" r:id="rId98"/>
    <p:sldId id="319" r:id="rId99"/>
    <p:sldId id="320" r:id="rId100"/>
    <p:sldId id="425" r:id="rId101"/>
    <p:sldId id="321" r:id="rId102"/>
    <p:sldId id="322" r:id="rId103"/>
    <p:sldId id="323" r:id="rId104"/>
    <p:sldId id="324" r:id="rId105"/>
    <p:sldId id="325" r:id="rId106"/>
    <p:sldId id="403" r:id="rId107"/>
    <p:sldId id="327" r:id="rId108"/>
    <p:sldId id="328" r:id="rId109"/>
    <p:sldId id="329" r:id="rId110"/>
    <p:sldId id="330" r:id="rId111"/>
    <p:sldId id="331" r:id="rId112"/>
    <p:sldId id="332" r:id="rId113"/>
    <p:sldId id="333" r:id="rId114"/>
    <p:sldId id="334" r:id="rId115"/>
    <p:sldId id="335" r:id="rId116"/>
    <p:sldId id="336" r:id="rId117"/>
    <p:sldId id="337" r:id="rId118"/>
    <p:sldId id="338" r:id="rId119"/>
    <p:sldId id="339" r:id="rId120"/>
    <p:sldId id="340" r:id="rId121"/>
    <p:sldId id="342" r:id="rId122"/>
    <p:sldId id="344" r:id="rId123"/>
    <p:sldId id="346" r:id="rId124"/>
    <p:sldId id="400" r:id="rId125"/>
    <p:sldId id="347" r:id="rId126"/>
    <p:sldId id="348" r:id="rId127"/>
    <p:sldId id="399" r:id="rId128"/>
    <p:sldId id="349" r:id="rId129"/>
    <p:sldId id="398" r:id="rId130"/>
    <p:sldId id="352" r:id="rId131"/>
    <p:sldId id="353" r:id="rId132"/>
    <p:sldId id="354" r:id="rId133"/>
    <p:sldId id="355" r:id="rId134"/>
    <p:sldId id="356" r:id="rId135"/>
    <p:sldId id="357" r:id="rId136"/>
    <p:sldId id="358" r:id="rId137"/>
    <p:sldId id="359" r:id="rId138"/>
    <p:sldId id="360" r:id="rId139"/>
    <p:sldId id="401" r:id="rId140"/>
    <p:sldId id="361" r:id="rId141"/>
    <p:sldId id="362" r:id="rId142"/>
    <p:sldId id="363" r:id="rId143"/>
    <p:sldId id="364" r:id="rId144"/>
    <p:sldId id="365" r:id="rId145"/>
    <p:sldId id="402" r:id="rId146"/>
    <p:sldId id="366" r:id="rId147"/>
    <p:sldId id="367" r:id="rId148"/>
    <p:sldId id="368" r:id="rId149"/>
    <p:sldId id="369" r:id="rId150"/>
    <p:sldId id="370" r:id="rId151"/>
    <p:sldId id="371" r:id="rId152"/>
    <p:sldId id="372" r:id="rId153"/>
    <p:sldId id="373" r:id="rId154"/>
    <p:sldId id="374" r:id="rId155"/>
    <p:sldId id="375" r:id="rId156"/>
    <p:sldId id="376" r:id="rId157"/>
    <p:sldId id="377" r:id="rId158"/>
    <p:sldId id="378" r:id="rId159"/>
    <p:sldId id="379" r:id="rId160"/>
    <p:sldId id="380" r:id="rId161"/>
    <p:sldId id="381" r:id="rId162"/>
    <p:sldId id="382" r:id="rId163"/>
    <p:sldId id="383" r:id="rId164"/>
    <p:sldId id="384" r:id="rId16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CC1B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3009"/>
    <p:restoredTop sz="94610"/>
  </p:normalViewPr>
  <p:slideViewPr>
    <p:cSldViewPr snapToGrid="0" snapToObjects="1">
      <p:cViewPr varScale="1">
        <p:scale>
          <a:sx n="89" d="100"/>
          <a:sy n="89" d="100"/>
        </p:scale>
        <p:origin x="96" y="21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3.xml"/><Relationship Id="rId21" Type="http://schemas.openxmlformats.org/officeDocument/2006/relationships/slide" Target="slides/slide17.xml"/><Relationship Id="rId42" Type="http://schemas.openxmlformats.org/officeDocument/2006/relationships/slide" Target="slides/slide38.xml"/><Relationship Id="rId63" Type="http://schemas.openxmlformats.org/officeDocument/2006/relationships/slide" Target="slides/slide59.xml"/><Relationship Id="rId84" Type="http://schemas.openxmlformats.org/officeDocument/2006/relationships/slide" Target="slides/slide80.xml"/><Relationship Id="rId138" Type="http://schemas.openxmlformats.org/officeDocument/2006/relationships/slide" Target="slides/slide134.xml"/><Relationship Id="rId159" Type="http://schemas.openxmlformats.org/officeDocument/2006/relationships/slide" Target="slides/slide155.xml"/><Relationship Id="rId170" Type="http://schemas.openxmlformats.org/officeDocument/2006/relationships/tableStyles" Target="tableStyles.xml"/><Relationship Id="rId107" Type="http://schemas.openxmlformats.org/officeDocument/2006/relationships/slide" Target="slides/slide103.xml"/><Relationship Id="rId11" Type="http://schemas.openxmlformats.org/officeDocument/2006/relationships/slide" Target="slides/slide7.xml"/><Relationship Id="rId32" Type="http://schemas.openxmlformats.org/officeDocument/2006/relationships/slide" Target="slides/slide28.xml"/><Relationship Id="rId53" Type="http://schemas.openxmlformats.org/officeDocument/2006/relationships/slide" Target="slides/slide49.xml"/><Relationship Id="rId74" Type="http://schemas.openxmlformats.org/officeDocument/2006/relationships/slide" Target="slides/slide70.xml"/><Relationship Id="rId128" Type="http://schemas.openxmlformats.org/officeDocument/2006/relationships/slide" Target="slides/slide124.xml"/><Relationship Id="rId149" Type="http://schemas.openxmlformats.org/officeDocument/2006/relationships/slide" Target="slides/slide145.xml"/><Relationship Id="rId5" Type="http://schemas.openxmlformats.org/officeDocument/2006/relationships/slide" Target="slides/slide1.xml"/><Relationship Id="rId95" Type="http://schemas.openxmlformats.org/officeDocument/2006/relationships/slide" Target="slides/slide91.xml"/><Relationship Id="rId160" Type="http://schemas.openxmlformats.org/officeDocument/2006/relationships/slide" Target="slides/slide156.xml"/><Relationship Id="rId22" Type="http://schemas.openxmlformats.org/officeDocument/2006/relationships/slide" Target="slides/slide18.xml"/><Relationship Id="rId43" Type="http://schemas.openxmlformats.org/officeDocument/2006/relationships/slide" Target="slides/slide39.xml"/><Relationship Id="rId64" Type="http://schemas.openxmlformats.org/officeDocument/2006/relationships/slide" Target="slides/slide60.xml"/><Relationship Id="rId118" Type="http://schemas.openxmlformats.org/officeDocument/2006/relationships/slide" Target="slides/slide114.xml"/><Relationship Id="rId139" Type="http://schemas.openxmlformats.org/officeDocument/2006/relationships/slide" Target="slides/slide135.xml"/><Relationship Id="rId85" Type="http://schemas.openxmlformats.org/officeDocument/2006/relationships/slide" Target="slides/slide81.xml"/><Relationship Id="rId150" Type="http://schemas.openxmlformats.org/officeDocument/2006/relationships/slide" Target="slides/slide146.xml"/><Relationship Id="rId171" Type="http://schemas.microsoft.com/office/2016/11/relationships/changesInfo" Target="changesInfos/changesInfo1.xml"/><Relationship Id="rId12" Type="http://schemas.openxmlformats.org/officeDocument/2006/relationships/slide" Target="slides/slide8.xml"/><Relationship Id="rId33" Type="http://schemas.openxmlformats.org/officeDocument/2006/relationships/slide" Target="slides/slide29.xml"/><Relationship Id="rId108" Type="http://schemas.openxmlformats.org/officeDocument/2006/relationships/slide" Target="slides/slide104.xml"/><Relationship Id="rId129" Type="http://schemas.openxmlformats.org/officeDocument/2006/relationships/slide" Target="slides/slide125.xml"/><Relationship Id="rId54" Type="http://schemas.openxmlformats.org/officeDocument/2006/relationships/slide" Target="slides/slide50.xml"/><Relationship Id="rId70" Type="http://schemas.openxmlformats.org/officeDocument/2006/relationships/slide" Target="slides/slide66.xml"/><Relationship Id="rId75" Type="http://schemas.openxmlformats.org/officeDocument/2006/relationships/slide" Target="slides/slide71.xml"/><Relationship Id="rId91" Type="http://schemas.openxmlformats.org/officeDocument/2006/relationships/slide" Target="slides/slide87.xml"/><Relationship Id="rId96" Type="http://schemas.openxmlformats.org/officeDocument/2006/relationships/slide" Target="slides/slide92.xml"/><Relationship Id="rId140" Type="http://schemas.openxmlformats.org/officeDocument/2006/relationships/slide" Target="slides/slide136.xml"/><Relationship Id="rId145" Type="http://schemas.openxmlformats.org/officeDocument/2006/relationships/slide" Target="slides/slide141.xml"/><Relationship Id="rId161" Type="http://schemas.openxmlformats.org/officeDocument/2006/relationships/slide" Target="slides/slide157.xml"/><Relationship Id="rId166"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23" Type="http://schemas.openxmlformats.org/officeDocument/2006/relationships/slide" Target="slides/slide19.xml"/><Relationship Id="rId28" Type="http://schemas.openxmlformats.org/officeDocument/2006/relationships/slide" Target="slides/slide24.xml"/><Relationship Id="rId49" Type="http://schemas.openxmlformats.org/officeDocument/2006/relationships/slide" Target="slides/slide45.xml"/><Relationship Id="rId114" Type="http://schemas.openxmlformats.org/officeDocument/2006/relationships/slide" Target="slides/slide110.xml"/><Relationship Id="rId119" Type="http://schemas.openxmlformats.org/officeDocument/2006/relationships/slide" Target="slides/slide115.xml"/><Relationship Id="rId44" Type="http://schemas.openxmlformats.org/officeDocument/2006/relationships/slide" Target="slides/slide40.xml"/><Relationship Id="rId60" Type="http://schemas.openxmlformats.org/officeDocument/2006/relationships/slide" Target="slides/slide56.xml"/><Relationship Id="rId65" Type="http://schemas.openxmlformats.org/officeDocument/2006/relationships/slide" Target="slides/slide61.xml"/><Relationship Id="rId81" Type="http://schemas.openxmlformats.org/officeDocument/2006/relationships/slide" Target="slides/slide77.xml"/><Relationship Id="rId86" Type="http://schemas.openxmlformats.org/officeDocument/2006/relationships/slide" Target="slides/slide82.xml"/><Relationship Id="rId130" Type="http://schemas.openxmlformats.org/officeDocument/2006/relationships/slide" Target="slides/slide126.xml"/><Relationship Id="rId135" Type="http://schemas.openxmlformats.org/officeDocument/2006/relationships/slide" Target="slides/slide131.xml"/><Relationship Id="rId151" Type="http://schemas.openxmlformats.org/officeDocument/2006/relationships/slide" Target="slides/slide147.xml"/><Relationship Id="rId156" Type="http://schemas.openxmlformats.org/officeDocument/2006/relationships/slide" Target="slides/slide152.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109" Type="http://schemas.openxmlformats.org/officeDocument/2006/relationships/slide" Target="slides/slide10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slide" Target="slides/slide100.xml"/><Relationship Id="rId120" Type="http://schemas.openxmlformats.org/officeDocument/2006/relationships/slide" Target="slides/slide116.xml"/><Relationship Id="rId125" Type="http://schemas.openxmlformats.org/officeDocument/2006/relationships/slide" Target="slides/slide121.xml"/><Relationship Id="rId141" Type="http://schemas.openxmlformats.org/officeDocument/2006/relationships/slide" Target="slides/slide137.xml"/><Relationship Id="rId146" Type="http://schemas.openxmlformats.org/officeDocument/2006/relationships/slide" Target="slides/slide142.xml"/><Relationship Id="rId167" Type="http://schemas.openxmlformats.org/officeDocument/2006/relationships/presProps" Target="presProps.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162" Type="http://schemas.openxmlformats.org/officeDocument/2006/relationships/slide" Target="slides/slide158.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slide" Target="slides/slide106.xml"/><Relationship Id="rId115" Type="http://schemas.openxmlformats.org/officeDocument/2006/relationships/slide" Target="slides/slide111.xml"/><Relationship Id="rId131" Type="http://schemas.openxmlformats.org/officeDocument/2006/relationships/slide" Target="slides/slide127.xml"/><Relationship Id="rId136" Type="http://schemas.openxmlformats.org/officeDocument/2006/relationships/slide" Target="slides/slide132.xml"/><Relationship Id="rId157" Type="http://schemas.openxmlformats.org/officeDocument/2006/relationships/slide" Target="slides/slide153.xml"/><Relationship Id="rId61" Type="http://schemas.openxmlformats.org/officeDocument/2006/relationships/slide" Target="slides/slide57.xml"/><Relationship Id="rId82" Type="http://schemas.openxmlformats.org/officeDocument/2006/relationships/slide" Target="slides/slide78.xml"/><Relationship Id="rId152" Type="http://schemas.openxmlformats.org/officeDocument/2006/relationships/slide" Target="slides/slide14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slide" Target="slides/slide101.xml"/><Relationship Id="rId126" Type="http://schemas.openxmlformats.org/officeDocument/2006/relationships/slide" Target="slides/slide122.xml"/><Relationship Id="rId147" Type="http://schemas.openxmlformats.org/officeDocument/2006/relationships/slide" Target="slides/slide143.xml"/><Relationship Id="rId168"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121" Type="http://schemas.openxmlformats.org/officeDocument/2006/relationships/slide" Target="slides/slide117.xml"/><Relationship Id="rId142" Type="http://schemas.openxmlformats.org/officeDocument/2006/relationships/slide" Target="slides/slide138.xml"/><Relationship Id="rId163" Type="http://schemas.openxmlformats.org/officeDocument/2006/relationships/slide" Target="slides/slide159.xml"/><Relationship Id="rId3" Type="http://schemas.openxmlformats.org/officeDocument/2006/relationships/customXml" Target="../customXml/item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116" Type="http://schemas.openxmlformats.org/officeDocument/2006/relationships/slide" Target="slides/slide112.xml"/><Relationship Id="rId137" Type="http://schemas.openxmlformats.org/officeDocument/2006/relationships/slide" Target="slides/slide133.xml"/><Relationship Id="rId158" Type="http://schemas.openxmlformats.org/officeDocument/2006/relationships/slide" Target="slides/slide154.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88" Type="http://schemas.openxmlformats.org/officeDocument/2006/relationships/slide" Target="slides/slide84.xml"/><Relationship Id="rId111" Type="http://schemas.openxmlformats.org/officeDocument/2006/relationships/slide" Target="slides/slide107.xml"/><Relationship Id="rId132" Type="http://schemas.openxmlformats.org/officeDocument/2006/relationships/slide" Target="slides/slide128.xml"/><Relationship Id="rId153" Type="http://schemas.openxmlformats.org/officeDocument/2006/relationships/slide" Target="slides/slide149.xml"/><Relationship Id="rId15" Type="http://schemas.openxmlformats.org/officeDocument/2006/relationships/slide" Target="slides/slide11.xml"/><Relationship Id="rId36" Type="http://schemas.openxmlformats.org/officeDocument/2006/relationships/slide" Target="slides/slide32.xml"/><Relationship Id="rId57" Type="http://schemas.openxmlformats.org/officeDocument/2006/relationships/slide" Target="slides/slide53.xml"/><Relationship Id="rId106" Type="http://schemas.openxmlformats.org/officeDocument/2006/relationships/slide" Target="slides/slide102.xml"/><Relationship Id="rId127" Type="http://schemas.openxmlformats.org/officeDocument/2006/relationships/slide" Target="slides/slide123.xml"/><Relationship Id="rId10" Type="http://schemas.openxmlformats.org/officeDocument/2006/relationships/slide" Target="slides/slide6.xml"/><Relationship Id="rId31" Type="http://schemas.openxmlformats.org/officeDocument/2006/relationships/slide" Target="slides/slide27.xml"/><Relationship Id="rId52" Type="http://schemas.openxmlformats.org/officeDocument/2006/relationships/slide" Target="slides/slide48.xml"/><Relationship Id="rId73" Type="http://schemas.openxmlformats.org/officeDocument/2006/relationships/slide" Target="slides/slide69.xml"/><Relationship Id="rId78" Type="http://schemas.openxmlformats.org/officeDocument/2006/relationships/slide" Target="slides/slide74.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122" Type="http://schemas.openxmlformats.org/officeDocument/2006/relationships/slide" Target="slides/slide118.xml"/><Relationship Id="rId143" Type="http://schemas.openxmlformats.org/officeDocument/2006/relationships/slide" Target="slides/slide139.xml"/><Relationship Id="rId148" Type="http://schemas.openxmlformats.org/officeDocument/2006/relationships/slide" Target="slides/slide144.xml"/><Relationship Id="rId164" Type="http://schemas.openxmlformats.org/officeDocument/2006/relationships/slide" Target="slides/slide160.xml"/><Relationship Id="rId169" Type="http://schemas.openxmlformats.org/officeDocument/2006/relationships/theme" Target="theme/theme1.xml"/><Relationship Id="rId4" Type="http://schemas.openxmlformats.org/officeDocument/2006/relationships/slideMaster" Target="slideMasters/slideMaster1.xml"/><Relationship Id="rId9" Type="http://schemas.openxmlformats.org/officeDocument/2006/relationships/slide" Target="slides/slide5.xml"/><Relationship Id="rId26" Type="http://schemas.openxmlformats.org/officeDocument/2006/relationships/slide" Target="slides/slide22.xml"/><Relationship Id="rId47" Type="http://schemas.openxmlformats.org/officeDocument/2006/relationships/slide" Target="slides/slide43.xml"/><Relationship Id="rId68" Type="http://schemas.openxmlformats.org/officeDocument/2006/relationships/slide" Target="slides/slide64.xml"/><Relationship Id="rId89" Type="http://schemas.openxmlformats.org/officeDocument/2006/relationships/slide" Target="slides/slide85.xml"/><Relationship Id="rId112" Type="http://schemas.openxmlformats.org/officeDocument/2006/relationships/slide" Target="slides/slide108.xml"/><Relationship Id="rId133" Type="http://schemas.openxmlformats.org/officeDocument/2006/relationships/slide" Target="slides/slide129.xml"/><Relationship Id="rId154" Type="http://schemas.openxmlformats.org/officeDocument/2006/relationships/slide" Target="slides/slide150.xml"/><Relationship Id="rId16" Type="http://schemas.openxmlformats.org/officeDocument/2006/relationships/slide" Target="slides/slide12.xml"/><Relationship Id="rId37" Type="http://schemas.openxmlformats.org/officeDocument/2006/relationships/slide" Target="slides/slide33.xml"/><Relationship Id="rId58" Type="http://schemas.openxmlformats.org/officeDocument/2006/relationships/slide" Target="slides/slide54.xml"/><Relationship Id="rId79" Type="http://schemas.openxmlformats.org/officeDocument/2006/relationships/slide" Target="slides/slide75.xml"/><Relationship Id="rId102" Type="http://schemas.openxmlformats.org/officeDocument/2006/relationships/slide" Target="slides/slide98.xml"/><Relationship Id="rId123" Type="http://schemas.openxmlformats.org/officeDocument/2006/relationships/slide" Target="slides/slide119.xml"/><Relationship Id="rId144" Type="http://schemas.openxmlformats.org/officeDocument/2006/relationships/slide" Target="slides/slide140.xml"/><Relationship Id="rId90" Type="http://schemas.openxmlformats.org/officeDocument/2006/relationships/slide" Target="slides/slide86.xml"/><Relationship Id="rId165" Type="http://schemas.openxmlformats.org/officeDocument/2006/relationships/slide" Target="slides/slide161.xml"/><Relationship Id="rId27" Type="http://schemas.openxmlformats.org/officeDocument/2006/relationships/slide" Target="slides/slide23.xml"/><Relationship Id="rId48" Type="http://schemas.openxmlformats.org/officeDocument/2006/relationships/slide" Target="slides/slide44.xml"/><Relationship Id="rId69" Type="http://schemas.openxmlformats.org/officeDocument/2006/relationships/slide" Target="slides/slide65.xml"/><Relationship Id="rId113" Type="http://schemas.openxmlformats.org/officeDocument/2006/relationships/slide" Target="slides/slide109.xml"/><Relationship Id="rId134" Type="http://schemas.openxmlformats.org/officeDocument/2006/relationships/slide" Target="slides/slide130.xml"/><Relationship Id="rId80" Type="http://schemas.openxmlformats.org/officeDocument/2006/relationships/slide" Target="slides/slide76.xml"/><Relationship Id="rId155" Type="http://schemas.openxmlformats.org/officeDocument/2006/relationships/slide" Target="slides/slide151.xml"/><Relationship Id="rId17" Type="http://schemas.openxmlformats.org/officeDocument/2006/relationships/slide" Target="slides/slide13.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slide" Target="slides/slide99.xml"/><Relationship Id="rId124" Type="http://schemas.openxmlformats.org/officeDocument/2006/relationships/slide" Target="slides/slide120.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raf, Jayant" userId="40c6f732-83d8-4108-9173-14559973c353" providerId="ADAL" clId="{19DE7C4A-0CCC-49A5-86FA-BBFB5CCDC804}"/>
    <pc:docChg chg="mod modMainMaster">
      <pc:chgData name="Saraf, Jayant" userId="40c6f732-83d8-4108-9173-14559973c353" providerId="ADAL" clId="{19DE7C4A-0CCC-49A5-86FA-BBFB5CCDC804}" dt="2026-10-05T07:15:21.561" v="1" actId="33475"/>
      <pc:docMkLst>
        <pc:docMk/>
      </pc:docMkLst>
      <pc:sldMasterChg chg="addSp mod">
        <pc:chgData name="Saraf, Jayant" userId="40c6f732-83d8-4108-9173-14559973c353" providerId="ADAL" clId="{19DE7C4A-0CCC-49A5-86FA-BBFB5CCDC804}" dt="2026-10-05T07:15:21.546" v="0" actId="33475"/>
        <pc:sldMasterMkLst>
          <pc:docMk/>
          <pc:sldMasterMk cId="0" sldId="2147483648"/>
        </pc:sldMasterMkLst>
        <pc:spChg chg="add">
          <ac:chgData name="Saraf, Jayant" userId="40c6f732-83d8-4108-9173-14559973c353" providerId="ADAL" clId="{19DE7C4A-0CCC-49A5-86FA-BBFB5CCDC804}" dt="2026-10-05T07:15:21.546" v="0" actId="33475"/>
          <ac:spMkLst>
            <pc:docMk/>
            <pc:sldMasterMk cId="0" sldId="2147483648"/>
            <ac:spMk id="3" creationId="{AC7547FE-DF11-B6EC-A849-98B20367F88D}"/>
          </ac:spMkLst>
        </pc:spChg>
      </pc:sldMaster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2315B"/>
                </a:solidFill>
                <a:latin typeface="Calibri"/>
              </a:defRPr>
            </a:pPr>
            <a:r>
              <a:rPr lang="en-GB" sz="1300" b="0" i="0" u="none" strike="noStrike" noProof="0" dirty="0">
                <a:solidFill>
                  <a:srgbClr val="12315B"/>
                </a:solidFill>
                <a:latin typeface="Calibri"/>
              </a:rPr>
              <a:t>Breast cancer incidence, age-standardised rate per 100,000, 2024</a:t>
            </a:r>
          </a:p>
        </c:rich>
      </c:tx>
      <c:overlay val="0"/>
    </c:title>
    <c:autoTitleDeleted val="0"/>
    <c:plotArea>
      <c:layout/>
      <c:barChart>
        <c:barDir val="bar"/>
        <c:grouping val="clustered"/>
        <c:varyColors val="0"/>
        <c:ser>
          <c:idx val="0"/>
          <c:order val="0"/>
          <c:tx>
            <c:strRef>
              <c:f>Sheet1!$B$1</c:f>
              <c:strCache>
                <c:ptCount val="1"/>
                <c:pt idx="0">
                  <c:v>ASR per 100,000</c:v>
                </c:pt>
              </c:strCache>
            </c:strRef>
          </c:tx>
          <c:spPr>
            <a:solidFill>
              <a:srgbClr val="2C6BAF"/>
            </a:solidFill>
            <a:effectLst/>
          </c:spPr>
          <c:invertIfNegative val="0"/>
          <c:dLbls>
            <c:numFmt formatCode="0.0" sourceLinked="0"/>
            <c:spPr>
              <a:noFill/>
              <a:ln>
                <a:noFill/>
              </a:ln>
              <a:effectLst/>
            </c:spPr>
            <c:txPr>
              <a:bodyPr/>
              <a:lstStyle/>
              <a:p>
                <a:pPr>
                  <a:defRPr sz="1300" b="0" i="0" u="none" strike="noStrike">
                    <a:solidFill>
                      <a:srgbClr val="12315B"/>
                    </a:solidFill>
                    <a:latin typeface="Calibri"/>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Rwanda</c:v>
                </c:pt>
                <c:pt idx="1">
                  <c:v>Eastern Africa</c:v>
                </c:pt>
                <c:pt idx="2">
                  <c:v>Africa</c:v>
                </c:pt>
                <c:pt idx="3">
                  <c:v>World</c:v>
                </c:pt>
              </c:strCache>
            </c:strRef>
          </c:cat>
          <c:val>
            <c:numRef>
              <c:f>Sheet1!$B$2:$B$5</c:f>
              <c:numCache>
                <c:formatCode>General</c:formatCode>
                <c:ptCount val="4"/>
                <c:pt idx="0">
                  <c:v>30.6</c:v>
                </c:pt>
                <c:pt idx="1">
                  <c:v>29.3</c:v>
                </c:pt>
                <c:pt idx="2">
                  <c:v>41.4</c:v>
                </c:pt>
                <c:pt idx="3">
                  <c:v>47.8</c:v>
                </c:pt>
              </c:numCache>
            </c:numRef>
          </c:val>
          <c:extLst>
            <c:ext xmlns:c16="http://schemas.microsoft.com/office/drawing/2014/chart" uri="{C3380CC4-5D6E-409C-BE32-E72D297353CC}">
              <c16:uniqueId val="{00000000-F48B-9049-97B0-8E5FCB0E11DE}"/>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300" b="0" i="0" u="none" strike="noStrike">
                <a:solidFill>
                  <a:srgbClr val="1F3A63"/>
                </a:solidFill>
                <a:latin typeface="Arial"/>
              </a:defRPr>
            </a:pPr>
            <a:endParaRPr lang="en-US"/>
          </a:p>
        </c:txPr>
        <c:crossAx val="2094734552"/>
        <c:crosses val="autoZero"/>
        <c:auto val="1"/>
        <c:lblAlgn val="ctr"/>
        <c:lblOffset val="100"/>
        <c:noMultiLvlLbl val="1"/>
      </c:catAx>
      <c:valAx>
        <c:axId val="2094734552"/>
        <c:scaling>
          <c:orientation val="minMax"/>
          <c:max val="55"/>
          <c:min val="0"/>
        </c:scaling>
        <c:delete val="0"/>
        <c:axPos val="b"/>
        <c:majorGridlines>
          <c:spPr>
            <a:ln w="12700" cap="flat">
              <a:solidFill>
                <a:srgbClr val="E4EBF3"/>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B7699"/>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2315B"/>
                </a:solidFill>
                <a:latin typeface="Calibri"/>
              </a:defRPr>
            </a:pPr>
            <a:r>
              <a:rPr lang="en-GB" sz="1300" b="0" i="0" u="none" strike="noStrike" noProof="0" dirty="0">
                <a:solidFill>
                  <a:srgbClr val="12315B"/>
                </a:solidFill>
                <a:latin typeface="Calibri"/>
              </a:rPr>
              <a:t>Five most frequent cancers in Rwanda, estimated new cases, both sexes, 2024</a:t>
            </a:r>
          </a:p>
        </c:rich>
      </c:tx>
      <c:overlay val="0"/>
    </c:title>
    <c:autoTitleDeleted val="0"/>
    <c:plotArea>
      <c:layout/>
      <c:barChart>
        <c:barDir val="bar"/>
        <c:grouping val="clustered"/>
        <c:varyColors val="0"/>
        <c:ser>
          <c:idx val="0"/>
          <c:order val="0"/>
          <c:tx>
            <c:strRef>
              <c:f>Sheet1!$B$1</c:f>
              <c:strCache>
                <c:ptCount val="1"/>
                <c:pt idx="0">
                  <c:v>Estimated new cases</c:v>
                </c:pt>
              </c:strCache>
            </c:strRef>
          </c:tx>
          <c:spPr>
            <a:solidFill>
              <a:srgbClr val="2C6BAF"/>
            </a:solidFill>
            <a:effectLst/>
          </c:spPr>
          <c:invertIfNegative val="0"/>
          <c:dLbls>
            <c:numFmt formatCode="#,##0" sourceLinked="0"/>
            <c:spPr>
              <a:noFill/>
              <a:ln>
                <a:noFill/>
              </a:ln>
              <a:effectLst/>
            </c:spPr>
            <c:txPr>
              <a:bodyPr/>
              <a:lstStyle/>
              <a:p>
                <a:pPr>
                  <a:defRPr sz="1300" b="0" i="0" u="none" strike="noStrike">
                    <a:solidFill>
                      <a:srgbClr val="12315B"/>
                    </a:solidFill>
                    <a:latin typeface="Calibri"/>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Stomach</c:v>
                </c:pt>
                <c:pt idx="1">
                  <c:v>Colorectum</c:v>
                </c:pt>
                <c:pt idx="2">
                  <c:v>Cervix uteri</c:v>
                </c:pt>
                <c:pt idx="3">
                  <c:v>Breast</c:v>
                </c:pt>
                <c:pt idx="4">
                  <c:v>Prostate</c:v>
                </c:pt>
              </c:strCache>
            </c:strRef>
          </c:cat>
          <c:val>
            <c:numRef>
              <c:f>Sheet1!$B$2:$B$6</c:f>
              <c:numCache>
                <c:formatCode>General</c:formatCode>
                <c:ptCount val="5"/>
                <c:pt idx="0">
                  <c:v>895</c:v>
                </c:pt>
                <c:pt idx="1">
                  <c:v>925</c:v>
                </c:pt>
                <c:pt idx="2">
                  <c:v>1582</c:v>
                </c:pt>
                <c:pt idx="3">
                  <c:v>1684</c:v>
                </c:pt>
                <c:pt idx="4">
                  <c:v>1856</c:v>
                </c:pt>
              </c:numCache>
            </c:numRef>
          </c:val>
          <c:extLst>
            <c:ext xmlns:c16="http://schemas.microsoft.com/office/drawing/2014/chart" uri="{C3380CC4-5D6E-409C-BE32-E72D297353CC}">
              <c16:uniqueId val="{00000000-DD5E-CB48-8615-0EE24C8DFB34}"/>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400" b="0" i="0" u="none" strike="noStrike">
                <a:solidFill>
                  <a:srgbClr val="1F3A63"/>
                </a:solidFill>
                <a:latin typeface="Arial"/>
              </a:defRPr>
            </a:pPr>
            <a:endParaRPr lang="en-US"/>
          </a:p>
        </c:txPr>
        <c:crossAx val="2094734552"/>
        <c:crosses val="autoZero"/>
        <c:auto val="1"/>
        <c:lblAlgn val="ctr"/>
        <c:lblOffset val="100"/>
        <c:noMultiLvlLbl val="1"/>
      </c:catAx>
      <c:valAx>
        <c:axId val="2094734552"/>
        <c:scaling>
          <c:orientation val="minMax"/>
          <c:max val="2200"/>
          <c:min val="0"/>
        </c:scaling>
        <c:delete val="0"/>
        <c:axPos val="b"/>
        <c:majorGridlines>
          <c:spPr>
            <a:ln w="12700" cap="flat">
              <a:solidFill>
                <a:srgbClr val="E4EBF3"/>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1100" b="0" i="0" u="none" strike="noStrike">
                <a:solidFill>
                  <a:srgbClr val="5B7699"/>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2315B"/>
                </a:solidFill>
                <a:latin typeface="Calibri"/>
              </a:defRPr>
            </a:pPr>
            <a:r>
              <a:rPr lang="en-GB" sz="1300" b="0" i="0" u="none" strike="noStrike" noProof="0" dirty="0">
                <a:solidFill>
                  <a:srgbClr val="12315B"/>
                </a:solidFill>
                <a:latin typeface="Calibri"/>
              </a:rPr>
              <a:t>All cancers in Rwanda: estimated 2022 burden and projected 2045 burden</a:t>
            </a:r>
          </a:p>
        </c:rich>
      </c:tx>
      <c:overlay val="0"/>
    </c:title>
    <c:autoTitleDeleted val="0"/>
    <c:plotArea>
      <c:layout/>
      <c:barChart>
        <c:barDir val="col"/>
        <c:grouping val="clustered"/>
        <c:varyColors val="0"/>
        <c:ser>
          <c:idx val="0"/>
          <c:order val="0"/>
          <c:tx>
            <c:strRef>
              <c:f>Sheet1!$B$1</c:f>
              <c:strCache>
                <c:ptCount val="1"/>
                <c:pt idx="0">
                  <c:v>New cases</c:v>
                </c:pt>
              </c:strCache>
            </c:strRef>
          </c:tx>
          <c:spPr>
            <a:solidFill>
              <a:srgbClr val="2C6BAF"/>
            </a:solidFill>
            <a:effectLst/>
          </c:spPr>
          <c:invertIfNegative val="0"/>
          <c:dLbls>
            <c:numFmt formatCode="#,##0" sourceLinked="0"/>
            <c:spPr>
              <a:noFill/>
              <a:ln>
                <a:noFill/>
              </a:ln>
              <a:effectLst/>
            </c:spPr>
            <c:txPr>
              <a:bodyPr/>
              <a:lstStyle/>
              <a:p>
                <a:pPr>
                  <a:defRPr sz="1200" b="0" i="0" u="none" strike="noStrike">
                    <a:solidFill>
                      <a:srgbClr val="12315B"/>
                    </a:solidFill>
                    <a:latin typeface="Calibri"/>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2022 estimate</c:v>
                </c:pt>
                <c:pt idx="1">
                  <c:v>2045 projection</c:v>
                </c:pt>
              </c:strCache>
            </c:strRef>
          </c:cat>
          <c:val>
            <c:numRef>
              <c:f>Sheet1!$B$2:$B$3</c:f>
              <c:numCache>
                <c:formatCode>General</c:formatCode>
                <c:ptCount val="2"/>
                <c:pt idx="0">
                  <c:v>7120</c:v>
                </c:pt>
                <c:pt idx="1">
                  <c:v>15000</c:v>
                </c:pt>
              </c:numCache>
            </c:numRef>
          </c:val>
          <c:extLst>
            <c:ext xmlns:c16="http://schemas.microsoft.com/office/drawing/2014/chart" uri="{C3380CC4-5D6E-409C-BE32-E72D297353CC}">
              <c16:uniqueId val="{00000000-4128-E641-B70C-02142EBDA783}"/>
            </c:ext>
          </c:extLst>
        </c:ser>
        <c:ser>
          <c:idx val="1"/>
          <c:order val="1"/>
          <c:tx>
            <c:strRef>
              <c:f>Sheet1!$C$1</c:f>
              <c:strCache>
                <c:ptCount val="1"/>
                <c:pt idx="0">
                  <c:v>Deaths</c:v>
                </c:pt>
              </c:strCache>
            </c:strRef>
          </c:tx>
          <c:spPr>
            <a:solidFill>
              <a:srgbClr val="9AC0E4"/>
            </a:solidFill>
            <a:effectLst/>
          </c:spPr>
          <c:invertIfNegative val="0"/>
          <c:dLbls>
            <c:numFmt formatCode="#,##0" sourceLinked="0"/>
            <c:spPr>
              <a:noFill/>
              <a:ln>
                <a:noFill/>
              </a:ln>
              <a:effectLst/>
            </c:spPr>
            <c:txPr>
              <a:bodyPr/>
              <a:lstStyle/>
              <a:p>
                <a:pPr>
                  <a:defRPr sz="1200" b="0" i="0" u="none" strike="noStrike">
                    <a:solidFill>
                      <a:srgbClr val="12315B"/>
                    </a:solidFill>
                    <a:latin typeface="Calibri"/>
                  </a:defRPr>
                </a:pPr>
                <a:endParaRPr lang="es-CO"/>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2022 estimate</c:v>
                </c:pt>
                <c:pt idx="1">
                  <c:v>2045 projection</c:v>
                </c:pt>
              </c:strCache>
            </c:strRef>
          </c:cat>
          <c:val>
            <c:numRef>
              <c:f>Sheet1!$C$2:$C$3</c:f>
              <c:numCache>
                <c:formatCode>General</c:formatCode>
                <c:ptCount val="2"/>
                <c:pt idx="0">
                  <c:v>4890</c:v>
                </c:pt>
                <c:pt idx="1">
                  <c:v>10500</c:v>
                </c:pt>
              </c:numCache>
            </c:numRef>
          </c:val>
          <c:extLst>
            <c:ext xmlns:c16="http://schemas.microsoft.com/office/drawing/2014/chart" uri="{C3380CC4-5D6E-409C-BE32-E72D297353CC}">
              <c16:uniqueId val="{00000001-4128-E641-B70C-02142EBDA783}"/>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1F3A63"/>
                </a:solidFill>
                <a:latin typeface="Arial"/>
              </a:defRPr>
            </a:pPr>
            <a:endParaRPr lang="en-US"/>
          </a:p>
        </c:txPr>
        <c:crossAx val="2094734552"/>
        <c:crosses val="autoZero"/>
        <c:auto val="1"/>
        <c:lblAlgn val="ctr"/>
        <c:lblOffset val="100"/>
        <c:noMultiLvlLbl val="1"/>
      </c:catAx>
      <c:valAx>
        <c:axId val="2094734552"/>
        <c:scaling>
          <c:orientation val="minMax"/>
          <c:max val="18000"/>
          <c:min val="0"/>
        </c:scaling>
        <c:delete val="0"/>
        <c:axPos val="l"/>
        <c:majorGridlines>
          <c:spPr>
            <a:ln w="12700" cap="flat">
              <a:solidFill>
                <a:srgbClr val="E4EBF3"/>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5B7699"/>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1F3A63"/>
              </a:solidFill>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762095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04.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107.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112.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113.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14.xml"/><Relationship Id="rId1" Type="http://schemas.openxmlformats.org/officeDocument/2006/relationships/notesMaster" Target="../notesMasters/notesMaster1.xml"/></Relationships>
</file>

<file path=ppt/notesSlides/_rels/notesSlide97.xml.rels><?xml version="1.0" encoding="UTF-8" standalone="yes"?>
<Relationships xmlns="http://schemas.openxmlformats.org/package/2006/relationships"><Relationship Id="rId2" Type="http://schemas.openxmlformats.org/officeDocument/2006/relationships/slide" Target="../slides/slide115.xml"/><Relationship Id="rId1" Type="http://schemas.openxmlformats.org/officeDocument/2006/relationships/notesMaster" Target="../notesMasters/notesMaster1.xml"/></Relationships>
</file>

<file path=ppt/notesSlides/_rels/notesSlide98.xml.rels><?xml version="1.0" encoding="UTF-8" standalone="yes"?>
<Relationships xmlns="http://schemas.openxmlformats.org/package/2006/relationships"><Relationship Id="rId2" Type="http://schemas.openxmlformats.org/officeDocument/2006/relationships/slide" Target="../slides/slide116.xml"/><Relationship Id="rId1" Type="http://schemas.openxmlformats.org/officeDocument/2006/relationships/notesMaster" Target="../notesMasters/notesMaster1.xml"/></Relationships>
</file>

<file path=ppt/notesSlides/_rels/notesSlide99.xml.rels><?xml version="1.0" encoding="UTF-8" standalone="yes"?>
<Relationships xmlns="http://schemas.openxmlformats.org/package/2006/relationships"><Relationship Id="rId2" Type="http://schemas.openxmlformats.org/officeDocument/2006/relationships/slide" Target="../slides/slide117.xml"/><Relationship Id="rId1" Type="http://schemas.openxmlformats.org/officeDocument/2006/relationships/notesMaster" Target="../notesMasters/notesMaster1.xml"/></Relationships>
</file>

<file path=ppt/notesSlides/_rels/notesSlide100.xml.rels><?xml version="1.0" encoding="UTF-8" standalone="yes"?>
<Relationships xmlns="http://schemas.openxmlformats.org/package/2006/relationships"><Relationship Id="rId2" Type="http://schemas.openxmlformats.org/officeDocument/2006/relationships/slide" Target="../slides/slide118.xml"/><Relationship Id="rId1" Type="http://schemas.openxmlformats.org/officeDocument/2006/relationships/notesMaster" Target="../notesMasters/notesMaster1.xml"/></Relationships>
</file>

<file path=ppt/notesSlides/_rels/notesSlide101.xml.rels><?xml version="1.0" encoding="UTF-8" standalone="yes"?>
<Relationships xmlns="http://schemas.openxmlformats.org/package/2006/relationships"><Relationship Id="rId2" Type="http://schemas.openxmlformats.org/officeDocument/2006/relationships/slide" Target="../slides/slide119.xml"/><Relationship Id="rId1" Type="http://schemas.openxmlformats.org/officeDocument/2006/relationships/notesMaster" Target="../notesMasters/notesMaster1.xml"/></Relationships>
</file>

<file path=ppt/notesSlides/_rels/notesSlide102.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103.xml.rels><?xml version="1.0" encoding="UTF-8" standalone="yes"?>
<Relationships xmlns="http://schemas.openxmlformats.org/package/2006/relationships"><Relationship Id="rId2" Type="http://schemas.openxmlformats.org/officeDocument/2006/relationships/slide" Target="../slides/slide121.xml"/><Relationship Id="rId1" Type="http://schemas.openxmlformats.org/officeDocument/2006/relationships/notesMaster" Target="../notesMasters/notesMaster1.xml"/></Relationships>
</file>

<file path=ppt/notesSlides/_rels/notesSlide104.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105.xml.rels><?xml version="1.0" encoding="UTF-8" standalone="yes"?>
<Relationships xmlns="http://schemas.openxmlformats.org/package/2006/relationships"><Relationship Id="rId2" Type="http://schemas.openxmlformats.org/officeDocument/2006/relationships/slide" Target="../slides/slide123.xml"/><Relationship Id="rId1" Type="http://schemas.openxmlformats.org/officeDocument/2006/relationships/notesMaster" Target="../notesMasters/notesMaster1.xml"/></Relationships>
</file>

<file path=ppt/notesSlides/_rels/notesSlide106.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107.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108.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109.xml.rels><?xml version="1.0" encoding="UTF-8" standalone="yes"?>
<Relationships xmlns="http://schemas.openxmlformats.org/package/2006/relationships"><Relationship Id="rId2" Type="http://schemas.openxmlformats.org/officeDocument/2006/relationships/slide" Target="../slides/slide127.xml"/><Relationship Id="rId1" Type="http://schemas.openxmlformats.org/officeDocument/2006/relationships/notesMaster" Target="../notesMasters/notesMaster1.xml"/></Relationships>
</file>

<file path=ppt/notesSlides/_rels/notesSlide110.xml.rels><?xml version="1.0" encoding="UTF-8" standalone="yes"?>
<Relationships xmlns="http://schemas.openxmlformats.org/package/2006/relationships"><Relationship Id="rId2" Type="http://schemas.openxmlformats.org/officeDocument/2006/relationships/slide" Target="../slides/slide128.xml"/><Relationship Id="rId1" Type="http://schemas.openxmlformats.org/officeDocument/2006/relationships/notesMaster" Target="../notesMasters/notesMaster1.xml"/></Relationships>
</file>

<file path=ppt/notesSlides/_rels/notesSlide111.xml.rels><?xml version="1.0" encoding="UTF-8" standalone="yes"?>
<Relationships xmlns="http://schemas.openxmlformats.org/package/2006/relationships"><Relationship Id="rId2" Type="http://schemas.openxmlformats.org/officeDocument/2006/relationships/slide" Target="../slides/slide129.xml"/><Relationship Id="rId1" Type="http://schemas.openxmlformats.org/officeDocument/2006/relationships/notesMaster" Target="../notesMasters/notesMaster1.xml"/></Relationships>
</file>

<file path=ppt/notesSlides/_rels/notesSlide112.xml.rels><?xml version="1.0" encoding="UTF-8" standalone="yes"?>
<Relationships xmlns="http://schemas.openxmlformats.org/package/2006/relationships"><Relationship Id="rId2" Type="http://schemas.openxmlformats.org/officeDocument/2006/relationships/slide" Target="../slides/slide130.xml"/><Relationship Id="rId1" Type="http://schemas.openxmlformats.org/officeDocument/2006/relationships/notesMaster" Target="../notesMasters/notesMaster1.xml"/></Relationships>
</file>

<file path=ppt/notesSlides/_rels/notesSlide113.xml.rels><?xml version="1.0" encoding="UTF-8" standalone="yes"?>
<Relationships xmlns="http://schemas.openxmlformats.org/package/2006/relationships"><Relationship Id="rId2" Type="http://schemas.openxmlformats.org/officeDocument/2006/relationships/slide" Target="../slides/slide131.xml"/><Relationship Id="rId1" Type="http://schemas.openxmlformats.org/officeDocument/2006/relationships/notesMaster" Target="../notesMasters/notesMaster1.xml"/></Relationships>
</file>

<file path=ppt/notesSlides/_rels/notesSlide114.xml.rels><?xml version="1.0" encoding="UTF-8" standalone="yes"?>
<Relationships xmlns="http://schemas.openxmlformats.org/package/2006/relationships"><Relationship Id="rId2" Type="http://schemas.openxmlformats.org/officeDocument/2006/relationships/slide" Target="../slides/slide132.xml"/><Relationship Id="rId1" Type="http://schemas.openxmlformats.org/officeDocument/2006/relationships/notesMaster" Target="../notesMasters/notesMaster1.xml"/></Relationships>
</file>

<file path=ppt/notesSlides/_rels/notesSlide115.xml.rels><?xml version="1.0" encoding="UTF-8" standalone="yes"?>
<Relationships xmlns="http://schemas.openxmlformats.org/package/2006/relationships"><Relationship Id="rId2" Type="http://schemas.openxmlformats.org/officeDocument/2006/relationships/slide" Target="../slides/slide133.xml"/><Relationship Id="rId1" Type="http://schemas.openxmlformats.org/officeDocument/2006/relationships/notesMaster" Target="../notesMasters/notesMaster1.xml"/></Relationships>
</file>

<file path=ppt/notesSlides/_rels/notesSlide116.xml.rels><?xml version="1.0" encoding="UTF-8" standalone="yes"?>
<Relationships xmlns="http://schemas.openxmlformats.org/package/2006/relationships"><Relationship Id="rId2" Type="http://schemas.openxmlformats.org/officeDocument/2006/relationships/slide" Target="../slides/slide134.xml"/><Relationship Id="rId1" Type="http://schemas.openxmlformats.org/officeDocument/2006/relationships/notesMaster" Target="../notesMasters/notesMaster1.xml"/></Relationships>
</file>

<file path=ppt/notesSlides/_rels/notesSlide117.xml.rels><?xml version="1.0" encoding="UTF-8" standalone="yes"?>
<Relationships xmlns="http://schemas.openxmlformats.org/package/2006/relationships"><Relationship Id="rId2" Type="http://schemas.openxmlformats.org/officeDocument/2006/relationships/slide" Target="../slides/slide135.xml"/><Relationship Id="rId1" Type="http://schemas.openxmlformats.org/officeDocument/2006/relationships/notesMaster" Target="../notesMasters/notesMaster1.xml"/></Relationships>
</file>

<file path=ppt/notesSlides/_rels/notesSlide118.xml.rels><?xml version="1.0" encoding="UTF-8" standalone="yes"?>
<Relationships xmlns="http://schemas.openxmlformats.org/package/2006/relationships"><Relationship Id="rId2" Type="http://schemas.openxmlformats.org/officeDocument/2006/relationships/slide" Target="../slides/slide136.xml"/><Relationship Id="rId1" Type="http://schemas.openxmlformats.org/officeDocument/2006/relationships/notesMaster" Target="../notesMasters/notesMaster1.xml"/></Relationships>
</file>

<file path=ppt/notesSlides/_rels/notesSlide119.xml.rels><?xml version="1.0" encoding="UTF-8" standalone="yes"?>
<Relationships xmlns="http://schemas.openxmlformats.org/package/2006/relationships"><Relationship Id="rId2" Type="http://schemas.openxmlformats.org/officeDocument/2006/relationships/slide" Target="../slides/slide137.xml"/><Relationship Id="rId1" Type="http://schemas.openxmlformats.org/officeDocument/2006/relationships/notesMaster" Target="../notesMasters/notesMaster1.xml"/></Relationships>
</file>

<file path=ppt/notesSlides/_rels/notesSlide120.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_rels/notesSlide121.xml.rels><?xml version="1.0" encoding="UTF-8" standalone="yes"?>
<Relationships xmlns="http://schemas.openxmlformats.org/package/2006/relationships"><Relationship Id="rId2" Type="http://schemas.openxmlformats.org/officeDocument/2006/relationships/slide" Target="../slides/slide139.xml"/><Relationship Id="rId1" Type="http://schemas.openxmlformats.org/officeDocument/2006/relationships/notesMaster" Target="../notesMasters/notesMaster1.xml"/></Relationships>
</file>

<file path=ppt/notesSlides/_rels/notesSlide122.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123.xml.rels><?xml version="1.0" encoding="UTF-8" standalone="yes"?>
<Relationships xmlns="http://schemas.openxmlformats.org/package/2006/relationships"><Relationship Id="rId2" Type="http://schemas.openxmlformats.org/officeDocument/2006/relationships/slide" Target="../slides/slide141.xml"/><Relationship Id="rId1" Type="http://schemas.openxmlformats.org/officeDocument/2006/relationships/notesMaster" Target="../notesMasters/notesMaster1.xml"/></Relationships>
</file>

<file path=ppt/notesSlides/_rels/notesSlide124.xml.rels><?xml version="1.0" encoding="UTF-8" standalone="yes"?>
<Relationships xmlns="http://schemas.openxmlformats.org/package/2006/relationships"><Relationship Id="rId2" Type="http://schemas.openxmlformats.org/officeDocument/2006/relationships/slide" Target="../slides/slide142.xml"/><Relationship Id="rId1" Type="http://schemas.openxmlformats.org/officeDocument/2006/relationships/notesMaster" Target="../notesMasters/notesMaster1.xml"/></Relationships>
</file>

<file path=ppt/notesSlides/_rels/notesSlide125.xml.rels><?xml version="1.0" encoding="UTF-8" standalone="yes"?>
<Relationships xmlns="http://schemas.openxmlformats.org/package/2006/relationships"><Relationship Id="rId2" Type="http://schemas.openxmlformats.org/officeDocument/2006/relationships/slide" Target="../slides/slide143.xml"/><Relationship Id="rId1" Type="http://schemas.openxmlformats.org/officeDocument/2006/relationships/notesMaster" Target="../notesMasters/notesMaster1.xml"/></Relationships>
</file>

<file path=ppt/notesSlides/_rels/notesSlide126.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_rels/notesSlide127.xml.rels><?xml version="1.0" encoding="UTF-8" standalone="yes"?>
<Relationships xmlns="http://schemas.openxmlformats.org/package/2006/relationships"><Relationship Id="rId2" Type="http://schemas.openxmlformats.org/officeDocument/2006/relationships/slide" Target="../slides/slide145.xml"/><Relationship Id="rId1" Type="http://schemas.openxmlformats.org/officeDocument/2006/relationships/notesMaster" Target="../notesMasters/notesMaster1.xml"/></Relationships>
</file>

<file path=ppt/notesSlides/_rels/notesSlide128.xml.rels><?xml version="1.0" encoding="UTF-8" standalone="yes"?>
<Relationships xmlns="http://schemas.openxmlformats.org/package/2006/relationships"><Relationship Id="rId2" Type="http://schemas.openxmlformats.org/officeDocument/2006/relationships/slide" Target="../slides/slide146.xml"/><Relationship Id="rId1" Type="http://schemas.openxmlformats.org/officeDocument/2006/relationships/notesMaster" Target="../notesMasters/notesMaster1.xml"/></Relationships>
</file>

<file path=ppt/notesSlides/_rels/notesSlide129.xml.rels><?xml version="1.0" encoding="UTF-8" standalone="yes"?>
<Relationships xmlns="http://schemas.openxmlformats.org/package/2006/relationships"><Relationship Id="rId2" Type="http://schemas.openxmlformats.org/officeDocument/2006/relationships/slide" Target="../slides/slide147.xml"/><Relationship Id="rId1" Type="http://schemas.openxmlformats.org/officeDocument/2006/relationships/notesMaster" Target="../notesMasters/notesMaster1.xml"/></Relationships>
</file>

<file path=ppt/notesSlides/_rels/notesSlide130.xml.rels><?xml version="1.0" encoding="UTF-8" standalone="yes"?>
<Relationships xmlns="http://schemas.openxmlformats.org/package/2006/relationships"><Relationship Id="rId2" Type="http://schemas.openxmlformats.org/officeDocument/2006/relationships/slide" Target="../slides/slide148.xml"/><Relationship Id="rId1" Type="http://schemas.openxmlformats.org/officeDocument/2006/relationships/notesMaster" Target="../notesMasters/notesMaster1.xml"/></Relationships>
</file>

<file path=ppt/notesSlides/_rels/notesSlide131.xml.rels><?xml version="1.0" encoding="UTF-8" standalone="yes"?>
<Relationships xmlns="http://schemas.openxmlformats.org/package/2006/relationships"><Relationship Id="rId2" Type="http://schemas.openxmlformats.org/officeDocument/2006/relationships/slide" Target="../slides/slide149.xml"/><Relationship Id="rId1" Type="http://schemas.openxmlformats.org/officeDocument/2006/relationships/notesMaster" Target="../notesMasters/notesMaster1.xml"/></Relationships>
</file>

<file path=ppt/notesSlides/_rels/notesSlide132.xml.rels><?xml version="1.0" encoding="UTF-8" standalone="yes"?>
<Relationships xmlns="http://schemas.openxmlformats.org/package/2006/relationships"><Relationship Id="rId2" Type="http://schemas.openxmlformats.org/officeDocument/2006/relationships/slide" Target="../slides/slide150.xml"/><Relationship Id="rId1" Type="http://schemas.openxmlformats.org/officeDocument/2006/relationships/notesMaster" Target="../notesMasters/notesMaster1.xml"/></Relationships>
</file>

<file path=ppt/notesSlides/_rels/notesSlide133.xml.rels><?xml version="1.0" encoding="UTF-8" standalone="yes"?>
<Relationships xmlns="http://schemas.openxmlformats.org/package/2006/relationships"><Relationship Id="rId2" Type="http://schemas.openxmlformats.org/officeDocument/2006/relationships/slide" Target="../slides/slide151.xml"/><Relationship Id="rId1" Type="http://schemas.openxmlformats.org/officeDocument/2006/relationships/notesMaster" Target="../notesMasters/notesMaster1.xml"/></Relationships>
</file>

<file path=ppt/notesSlides/_rels/notesSlide134.xml.rels><?xml version="1.0" encoding="UTF-8" standalone="yes"?>
<Relationships xmlns="http://schemas.openxmlformats.org/package/2006/relationships"><Relationship Id="rId2" Type="http://schemas.openxmlformats.org/officeDocument/2006/relationships/slide" Target="../slides/slide152.xml"/><Relationship Id="rId1" Type="http://schemas.openxmlformats.org/officeDocument/2006/relationships/notesMaster" Target="../notesMasters/notesMaster1.xml"/></Relationships>
</file>

<file path=ppt/notesSlides/_rels/notesSlide135.xml.rels><?xml version="1.0" encoding="UTF-8" standalone="yes"?>
<Relationships xmlns="http://schemas.openxmlformats.org/package/2006/relationships"><Relationship Id="rId2" Type="http://schemas.openxmlformats.org/officeDocument/2006/relationships/slide" Target="../slides/slide153.xml"/><Relationship Id="rId1" Type="http://schemas.openxmlformats.org/officeDocument/2006/relationships/notesMaster" Target="../notesMasters/notesMaster1.xml"/></Relationships>
</file>

<file path=ppt/notesSlides/_rels/notesSlide136.xml.rels><?xml version="1.0" encoding="UTF-8" standalone="yes"?>
<Relationships xmlns="http://schemas.openxmlformats.org/package/2006/relationships"><Relationship Id="rId2" Type="http://schemas.openxmlformats.org/officeDocument/2006/relationships/slide" Target="../slides/slide154.xml"/><Relationship Id="rId1" Type="http://schemas.openxmlformats.org/officeDocument/2006/relationships/notesMaster" Target="../notesMasters/notesMaster1.xml"/></Relationships>
</file>

<file path=ppt/notesSlides/_rels/notesSlide137.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138.xml.rels><?xml version="1.0" encoding="UTF-8" standalone="yes"?>
<Relationships xmlns="http://schemas.openxmlformats.org/package/2006/relationships"><Relationship Id="rId2" Type="http://schemas.openxmlformats.org/officeDocument/2006/relationships/slide" Target="../slides/slide156.xml"/><Relationship Id="rId1" Type="http://schemas.openxmlformats.org/officeDocument/2006/relationships/notesMaster" Target="../notesMasters/notesMaster1.xml"/></Relationships>
</file>

<file path=ppt/notesSlides/_rels/notesSlide139.xml.rels><?xml version="1.0" encoding="UTF-8" standalone="yes"?>
<Relationships xmlns="http://schemas.openxmlformats.org/package/2006/relationships"><Relationship Id="rId2" Type="http://schemas.openxmlformats.org/officeDocument/2006/relationships/slide" Target="../slides/slide157.xml"/><Relationship Id="rId1" Type="http://schemas.openxmlformats.org/officeDocument/2006/relationships/notesMaster" Target="../notesMasters/notesMaster1.xml"/></Relationships>
</file>

<file path=ppt/notesSlides/_rels/notesSlide140.xml.rels><?xml version="1.0" encoding="UTF-8" standalone="yes"?>
<Relationships xmlns="http://schemas.openxmlformats.org/package/2006/relationships"><Relationship Id="rId2" Type="http://schemas.openxmlformats.org/officeDocument/2006/relationships/slide" Target="../slides/slide158.xml"/><Relationship Id="rId1" Type="http://schemas.openxmlformats.org/officeDocument/2006/relationships/notesMaster" Target="../notesMasters/notesMaster1.xml"/></Relationships>
</file>

<file path=ppt/notesSlides/_rels/notesSlide141.xml.rels><?xml version="1.0" encoding="UTF-8" standalone="yes"?>
<Relationships xmlns="http://schemas.openxmlformats.org/package/2006/relationships"><Relationship Id="rId2" Type="http://schemas.openxmlformats.org/officeDocument/2006/relationships/slide" Target="../slides/slide159.xml"/><Relationship Id="rId1" Type="http://schemas.openxmlformats.org/officeDocument/2006/relationships/notesMaster" Target="../notesMasters/notesMaster1.xml"/></Relationships>
</file>

<file path=ppt/notesSlides/_rels/notesSlide142.xml.rels><?xml version="1.0" encoding="UTF-8" standalone="yes"?>
<Relationships xmlns="http://schemas.openxmlformats.org/package/2006/relationships"><Relationship Id="rId2" Type="http://schemas.openxmlformats.org/officeDocument/2006/relationships/slide" Target="../slides/slide160.xml"/><Relationship Id="rId1" Type="http://schemas.openxmlformats.org/officeDocument/2006/relationships/notesMaster" Target="../notesMasters/notesMaster1.xml"/></Relationships>
</file>

<file path=ppt/notesSlides/_rels/notesSlide143.xml.rels><?xml version="1.0" encoding="UTF-8" standalone="yes"?>
<Relationships xmlns="http://schemas.openxmlformats.org/package/2006/relationships"><Relationship Id="rId2" Type="http://schemas.openxmlformats.org/officeDocument/2006/relationships/slide" Target="../slides/slide1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EED927-6366-ACB6-874D-E77B7C1D9F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DE9B56-AF76-F11C-0C36-7D349BC7E9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6172A9-65AA-2169-130C-11576259962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03BF782-CA34-6CF0-9756-C8D7DDE1C3A9}"/>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80466791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0DEFD1-53FE-7B6B-5107-A30B9847E60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902335-9939-220B-CE8D-C34BE8EF900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D26A40D-1CC8-0893-11F8-41D3B72EFDA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BC82EC8-932E-F384-D98B-118A9603A592}"/>
              </a:ext>
            </a:extLst>
          </p:cNvPr>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331647413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D4244C-A47E-2047-D9B0-E363A3B7576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F360FF-25B4-AD2F-0CED-46D66F05A51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FF8785-07E8-0EB6-3CD2-7645014C681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3483F30-E096-8EC9-9A13-3C0B4702CD1E}"/>
              </a:ext>
            </a:extLst>
          </p:cNvPr>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246312473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8687E3-9598-2BCC-A497-99B7899B40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852F56-A2C5-C154-3210-CDBE87F2523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92F41D3-E933-AFB8-9036-5186CD40B52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D3F5E12-E90F-E19B-93E5-DFFD6400F74F}"/>
              </a:ext>
            </a:extLst>
          </p:cNvPr>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346338858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65F034-FC09-1A63-B2B4-B6AE160E00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57B2F8-2A26-378F-EEF3-95F4BF01E6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602E3D-9D74-F4E5-32DD-70C2F806802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7109FF1-E80B-D909-84AF-ABD3AB162085}"/>
              </a:ext>
            </a:extLst>
          </p:cNvPr>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6138289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90607B-2C20-F41D-302A-4E40E5EB2C0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CBFBA1E-120F-495B-1B60-0BF6CA71C6A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41BF573-4162-B488-2894-633D54BCA55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A82669B-6501-BC6F-70F1-DCE308EC20C3}"/>
              </a:ext>
            </a:extLst>
          </p:cNvPr>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3163836106"/>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FA9F45-E9F6-056B-C8A6-F361A99F6E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69E0E9-FCD3-39DA-F16E-FB420B88E9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B33D0C-BE20-BE54-5331-CE96D8B8A74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6FE6E6F-6003-0D9C-814F-5AC0F4B82C7A}"/>
              </a:ext>
            </a:extLst>
          </p:cNvPr>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929512828"/>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9E1F61-D3CE-DE5A-70F4-4AEBB64692F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C84766D-50DE-9CE6-A3B0-CFFDB1D85E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1986DE-9978-3A22-E7F1-CCBC593E63B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F8F0342-0DF4-E388-CE69-5479E050B86B}"/>
              </a:ext>
            </a:extLst>
          </p:cNvPr>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4193346599"/>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1EC00B-BDEA-B0BC-0BF1-0C5B93565F3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8D03D04-091E-AD62-759A-B61854D0C9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4A6B57-3353-A495-3AC9-8D8FB83293B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90B7D31-7174-B7E4-033C-412B6778FAA2}"/>
              </a:ext>
            </a:extLst>
          </p:cNvPr>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47715116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72A60F-F014-6C61-EE55-53F1C37360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B803C4-7D76-AE63-70AE-BF045C0652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B327CCE-B98A-91D4-C097-D7179CC4896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B5B8A03-8A37-10A7-E525-C044D389110A}"/>
              </a:ext>
            </a:extLst>
          </p:cNvPr>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8572760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1A7FD5-626B-1EDB-44F5-BEAAD9D4C9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BBCA282-3DA5-6EDD-0207-EA678C8C24A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86D16B-0B4D-6F29-52D7-C65D0D1F85D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9736E96-C8C5-CCF6-246C-284389C28615}"/>
              </a:ext>
            </a:extLst>
          </p:cNvPr>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2410167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DA5B0D-9744-D0A4-15B1-5866C8363B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E33961-E24D-6627-1A99-D22A2D44CA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7DACEB-B3E3-D37D-4CEC-58B2D91498F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2B0479C-4304-ECCD-0500-B12C7D18592D}"/>
              </a:ext>
            </a:extLst>
          </p:cNvPr>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388449251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85735B-E154-B370-0FCC-3BC30DC9764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8FFA66-4D43-8C5F-16A9-915C1C3BB5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08A0292-E19C-A9C8-92BC-AA3DBCB0C62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AA76D80-45CA-92BA-DCAB-38AC2BFDC6E2}"/>
              </a:ext>
            </a:extLst>
          </p:cNvPr>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1731338780"/>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855AA5-440B-0EB5-33CF-C17D37B206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6DCC5BF-3AC8-08AE-486A-3C0387EF0D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D5570D3-54F2-E2D3-C21A-6F3204FDD11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5745560-2AC2-C5E8-7739-0331FDEEEC60}"/>
              </a:ext>
            </a:extLst>
          </p:cNvPr>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433009869"/>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1AD48-807D-B563-83AE-5365F3069AB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059A99-244F-4353-2A05-5051405D09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67D594-4852-B29B-6139-B8080F4000B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870C48B-71E1-825B-F247-791FD7C7E584}"/>
              </a:ext>
            </a:extLst>
          </p:cNvPr>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4186952828"/>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74E135-C97F-A936-75AD-4ABC2BE1284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E86F73-D40E-6F82-C3BD-31B2B8C0A9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89670D-E123-9AC4-6A9C-9425DB4F388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E77D8FD-DDC6-1E58-CBDC-5902038322A9}"/>
              </a:ext>
            </a:extLst>
          </p:cNvPr>
          <p:cNvSpPr>
            <a:spLocks noGrp="1"/>
          </p:cNvSpPr>
          <p:nvPr>
            <p:ph type="sldNum" sz="quarter" idx="10"/>
          </p:nvPr>
        </p:nvSpPr>
        <p:spPr/>
        <p:txBody>
          <a:bodyPr/>
          <a:lstStyle/>
          <a:p>
            <a:fld id="{F7021451-1387-4CA6-816F-3879F97B5CBC}" type="slidenum">
              <a:rPr lang="en-US"/>
              <a:t>88</a:t>
            </a:fld>
            <a:endParaRPr lang="en-US"/>
          </a:p>
        </p:txBody>
      </p:sp>
    </p:spTree>
    <p:extLst>
      <p:ext uri="{BB962C8B-B14F-4D97-AF65-F5344CB8AC3E}">
        <p14:creationId xmlns:p14="http://schemas.microsoft.com/office/powerpoint/2010/main" val="564283105"/>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2B56FE-2B09-BAEC-7252-F99FAA766DC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DAD839D-F3A2-AB51-AD59-AD1B9CCAA5B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B4CA43A-505F-34DE-D14F-9DC17B163FB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A8A3381-CF66-7170-3F48-3F1E451ADAA1}"/>
              </a:ext>
            </a:extLst>
          </p:cNvPr>
          <p:cNvSpPr>
            <a:spLocks noGrp="1"/>
          </p:cNvSpPr>
          <p:nvPr>
            <p:ph type="sldNum" sz="quarter" idx="10"/>
          </p:nvPr>
        </p:nvSpPr>
        <p:spPr/>
        <p:txBody>
          <a:bodyPr/>
          <a:lstStyle/>
          <a:p>
            <a:fld id="{F7021451-1387-4CA6-816F-3879F97B5CBC}" type="slidenum">
              <a:rPr lang="en-US"/>
              <a:t>90</a:t>
            </a:fld>
            <a:endParaRPr lang="en-US"/>
          </a:p>
        </p:txBody>
      </p:sp>
    </p:spTree>
    <p:extLst>
      <p:ext uri="{BB962C8B-B14F-4D97-AF65-F5344CB8AC3E}">
        <p14:creationId xmlns:p14="http://schemas.microsoft.com/office/powerpoint/2010/main" val="3809783715"/>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C31AF4-D1EF-7095-233B-162B11D9526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5F3478-7565-A7AB-E52D-44A332A8455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C9BFF2-8A2E-2109-33D1-059E4F29573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6F46E5C-8AB5-51A0-9934-DD2E2F3BBA7D}"/>
              </a:ext>
            </a:extLst>
          </p:cNvPr>
          <p:cNvSpPr>
            <a:spLocks noGrp="1"/>
          </p:cNvSpPr>
          <p:nvPr>
            <p:ph type="sldNum" sz="quarter" idx="10"/>
          </p:nvPr>
        </p:nvSpPr>
        <p:spPr/>
        <p:txBody>
          <a:bodyPr/>
          <a:lstStyle/>
          <a:p>
            <a:fld id="{F7021451-1387-4CA6-816F-3879F97B5CBC}" type="slidenum">
              <a:rPr lang="en-US"/>
              <a:t>121</a:t>
            </a:fld>
            <a:endParaRPr lang="en-US"/>
          </a:p>
        </p:txBody>
      </p:sp>
    </p:spTree>
    <p:extLst>
      <p:ext uri="{BB962C8B-B14F-4D97-AF65-F5344CB8AC3E}">
        <p14:creationId xmlns:p14="http://schemas.microsoft.com/office/powerpoint/2010/main" val="2994986428"/>
      </p:ext>
    </p:extLst>
  </p:cSld>
  <p:clrMapOvr>
    <a:masterClrMapping/>
  </p:clrMapOvr>
</p:notes>
</file>

<file path=ppt/notesSlides/notesSlide10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8D5FE7-E044-0ED7-921F-F5FFB9AEB6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9D15D6-F88A-6422-D832-CBD2210886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35A512-81CA-C57C-6F31-70180D007BE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F72C841-9912-66A4-9B12-3E63EC36D9B4}"/>
              </a:ext>
            </a:extLst>
          </p:cNvPr>
          <p:cNvSpPr>
            <a:spLocks noGrp="1"/>
          </p:cNvSpPr>
          <p:nvPr>
            <p:ph type="sldNum" sz="quarter" idx="10"/>
          </p:nvPr>
        </p:nvSpPr>
        <p:spPr/>
        <p:txBody>
          <a:bodyPr/>
          <a:lstStyle/>
          <a:p>
            <a:fld id="{F7021451-1387-4CA6-816F-3879F97B5CBC}" type="slidenum">
              <a:rPr lang="en-US"/>
              <a:t>124</a:t>
            </a:fld>
            <a:endParaRPr lang="en-US"/>
          </a:p>
        </p:txBody>
      </p:sp>
    </p:spTree>
    <p:extLst>
      <p:ext uri="{BB962C8B-B14F-4D97-AF65-F5344CB8AC3E}">
        <p14:creationId xmlns:p14="http://schemas.microsoft.com/office/powerpoint/2010/main" val="405027915"/>
      </p:ext>
    </p:extLst>
  </p:cSld>
  <p:clrMapOvr>
    <a:masterClrMapping/>
  </p:clrMapOvr>
</p:notes>
</file>

<file path=ppt/notesSlides/notesSlide10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F55ABE-5FE0-7216-AC1F-1C16912619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A632362-13D1-D8BF-6FB7-634E996EE3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BCD01A6-38BE-96A5-81B6-5BE48502312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16668E8-7D9B-EAEA-40A2-0D83BE2FBD54}"/>
              </a:ext>
            </a:extLst>
          </p:cNvPr>
          <p:cNvSpPr>
            <a:spLocks noGrp="1"/>
          </p:cNvSpPr>
          <p:nvPr>
            <p:ph type="sldNum" sz="quarter" idx="10"/>
          </p:nvPr>
        </p:nvSpPr>
        <p:spPr/>
        <p:txBody>
          <a:bodyPr/>
          <a:lstStyle/>
          <a:p>
            <a:fld id="{F7021451-1387-4CA6-816F-3879F97B5CBC}" type="slidenum">
              <a:rPr lang="en-US"/>
              <a:t>126</a:t>
            </a:fld>
            <a:endParaRPr lang="en-US"/>
          </a:p>
        </p:txBody>
      </p:sp>
    </p:spTree>
    <p:extLst>
      <p:ext uri="{BB962C8B-B14F-4D97-AF65-F5344CB8AC3E}">
        <p14:creationId xmlns:p14="http://schemas.microsoft.com/office/powerpoint/2010/main" val="3676271681"/>
      </p:ext>
    </p:extLst>
  </p:cSld>
  <p:clrMapOvr>
    <a:masterClrMapping/>
  </p:clrMapOvr>
</p:notes>
</file>

<file path=ppt/notesSlides/notesSlide10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0E1694-00BC-892F-BD32-C3B1F25368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F25C59-66E4-C34C-8DEA-8018067448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D24AF0-5A92-26A3-7172-9A7545F3EA6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8250F65-7457-2F89-5E70-05FDB46436C4}"/>
              </a:ext>
            </a:extLst>
          </p:cNvPr>
          <p:cNvSpPr>
            <a:spLocks noGrp="1"/>
          </p:cNvSpPr>
          <p:nvPr>
            <p:ph type="sldNum" sz="quarter" idx="10"/>
          </p:nvPr>
        </p:nvSpPr>
        <p:spPr/>
        <p:txBody>
          <a:bodyPr/>
          <a:lstStyle/>
          <a:p>
            <a:fld id="{F7021451-1387-4CA6-816F-3879F97B5CBC}" type="slidenum">
              <a:rPr lang="en-US"/>
              <a:t>136</a:t>
            </a:fld>
            <a:endParaRPr lang="en-US"/>
          </a:p>
        </p:txBody>
      </p:sp>
    </p:spTree>
    <p:extLst>
      <p:ext uri="{BB962C8B-B14F-4D97-AF65-F5344CB8AC3E}">
        <p14:creationId xmlns:p14="http://schemas.microsoft.com/office/powerpoint/2010/main" val="3662001577"/>
      </p:ext>
    </p:extLst>
  </p:cSld>
  <p:clrMapOvr>
    <a:masterClrMapping/>
  </p:clrMapOvr>
</p:notes>
</file>

<file path=ppt/notesSlides/notesSlide1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A1EAE0-B9BE-BCBA-EC3E-ACA7F315B8F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91CF193-273B-2F8C-CFDC-DE10A1CC83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6AAD726-BFAE-5B24-96CF-A2CEA3F6A42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796FB00-76AF-464D-AB9C-85C37E5D146E}"/>
              </a:ext>
            </a:extLst>
          </p:cNvPr>
          <p:cNvSpPr>
            <a:spLocks noGrp="1"/>
          </p:cNvSpPr>
          <p:nvPr>
            <p:ph type="sldNum" sz="quarter" idx="10"/>
          </p:nvPr>
        </p:nvSpPr>
        <p:spPr/>
        <p:txBody>
          <a:bodyPr/>
          <a:lstStyle/>
          <a:p>
            <a:fld id="{F7021451-1387-4CA6-816F-3879F97B5CBC}" type="slidenum">
              <a:rPr lang="en-US"/>
              <a:t>142</a:t>
            </a:fld>
            <a:endParaRPr lang="en-US"/>
          </a:p>
        </p:txBody>
      </p:sp>
    </p:spTree>
    <p:extLst>
      <p:ext uri="{BB962C8B-B14F-4D97-AF65-F5344CB8AC3E}">
        <p14:creationId xmlns:p14="http://schemas.microsoft.com/office/powerpoint/2010/main" val="278093837"/>
      </p:ext>
    </p:extLst>
  </p:cSld>
  <p:clrMapOvr>
    <a:masterClrMapping/>
  </p:clrMapOvr>
</p:notes>
</file>

<file path=ppt/notesSlides/notesSlide1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AC7547FE-DF11-B6EC-A849-98B20367F88D}"/>
              </a:ext>
            </a:extLst>
          </p:cNvPr>
          <p:cNvSpPr txBox="1"/>
          <p:nvPr userDrawn="1">
            <p:extLst>
              <p:ext uri="{1162E1C5-73C7-4A58-AE30-91384D911F3F}">
                <p184:classification xmlns:p184="http://schemas.microsoft.com/office/powerpoint/2018/4/main" val="hdr"/>
              </p:ext>
            </p:extLst>
          </p:nvPr>
        </p:nvSpPr>
        <p:spPr>
          <a:xfrm>
            <a:off x="63500" y="63500"/>
            <a:ext cx="844550" cy="182880"/>
          </a:xfrm>
          <a:prstGeom prst="rect">
            <a:avLst/>
          </a:prstGeom>
        </p:spPr>
        <p:txBody>
          <a:bodyPr horzOverflow="overflow" lIns="0" tIns="0" rIns="0" bIns="0">
            <a:spAutoFit/>
          </a:bodyPr>
          <a:lstStyle/>
          <a:p>
            <a:pPr algn="l"/>
            <a:r>
              <a:rPr lang="en-US" sz="1200">
                <a:solidFill>
                  <a:srgbClr val="8E6A00">
                    <a:alpha val="50000"/>
                  </a:srgbClr>
                </a:solidFill>
                <a:latin typeface="Aptos" panose="020B0004020202020204" pitchFamily="34" charset="0"/>
              </a:rPr>
              <a:t>Confidential</a:t>
            </a:r>
          </a:p>
        </p:txBody>
      </p:sp>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1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0.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8.jpeg"/></Relationships>
</file>

<file path=ppt/slides/_rels/slide22.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24.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0.png"/></Relationships>
</file>

<file path=ppt/slides/_rels/slide2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15.jpeg"/></Relationships>
</file>

<file path=ppt/slides/_rels/slide29.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6.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38.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7.xml"/><Relationship Id="rId1" Type="http://schemas.openxmlformats.org/officeDocument/2006/relationships/slideLayout" Target="../slideLayouts/slideLayout1.xml"/><Relationship Id="rId5" Type="http://schemas.openxmlformats.org/officeDocument/2006/relationships/image" Target="../media/image28.jpeg"/><Relationship Id="rId4" Type="http://schemas.openxmlformats.org/officeDocument/2006/relationships/image" Target="../media/image27.jpeg"/></Relationships>
</file>

<file path=ppt/slides/_rels/slide3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3" Type="http://schemas.openxmlformats.org/officeDocument/2006/relationships/image" Target="../media/image31.jpeg"/><Relationship Id="rId2" Type="http://schemas.openxmlformats.org/officeDocument/2006/relationships/notesSlide" Target="../notesSlides/notesSlide40.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3" Type="http://schemas.openxmlformats.org/officeDocument/2006/relationships/image" Target="../media/image32.jpe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42.xml"/><Relationship Id="rId1" Type="http://schemas.openxmlformats.org/officeDocument/2006/relationships/slideLayout" Target="../slideLayouts/slideLayout1.xml"/><Relationship Id="rId5" Type="http://schemas.openxmlformats.org/officeDocument/2006/relationships/image" Target="../media/image35.png"/><Relationship Id="rId4" Type="http://schemas.openxmlformats.org/officeDocument/2006/relationships/image" Target="../media/image34.jpeg"/></Relationships>
</file>

<file path=ppt/slides/_rels/slide44.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3" Type="http://schemas.openxmlformats.org/officeDocument/2006/relationships/image" Target="../media/image38.jpeg"/><Relationship Id="rId2" Type="http://schemas.openxmlformats.org/officeDocument/2006/relationships/notesSlide" Target="../notesSlides/notesSlide46.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39.jpeg"/><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1.xml"/></Relationships>
</file>

<file path=ppt/slides/_rels/slide56.xml.rels><?xml version="1.0" encoding="UTF-8" standalone="yes"?>
<Relationships xmlns="http://schemas.openxmlformats.org/package/2006/relationships"><Relationship Id="rId3" Type="http://schemas.openxmlformats.org/officeDocument/2006/relationships/image" Target="../media/image40.jpeg"/><Relationship Id="rId2" Type="http://schemas.openxmlformats.org/officeDocument/2006/relationships/notesSlide" Target="../notesSlides/notesSlide55.xml"/><Relationship Id="rId1" Type="http://schemas.openxmlformats.org/officeDocument/2006/relationships/slideLayout" Target="../slideLayouts/slideLayout1.xml"/><Relationship Id="rId5" Type="http://schemas.openxmlformats.org/officeDocument/2006/relationships/image" Target="../media/image42.jpeg"/><Relationship Id="rId4" Type="http://schemas.openxmlformats.org/officeDocument/2006/relationships/image" Target="../media/image41.jpeg"/></Relationships>
</file>

<file path=ppt/slides/_rels/slide57.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56.xml"/><Relationship Id="rId1" Type="http://schemas.openxmlformats.org/officeDocument/2006/relationships/slideLayout" Target="../slideLayouts/slideLayout1.xml"/><Relationship Id="rId5" Type="http://schemas.openxmlformats.org/officeDocument/2006/relationships/image" Target="../media/image45.jpeg"/><Relationship Id="rId4" Type="http://schemas.openxmlformats.org/officeDocument/2006/relationships/image" Target="../media/image44.jpeg"/></Relationships>
</file>

<file path=ppt/slides/_rels/slide58.xml.rels><?xml version="1.0" encoding="UTF-8" standalone="yes"?>
<Relationships xmlns="http://schemas.openxmlformats.org/package/2006/relationships"><Relationship Id="rId3" Type="http://schemas.openxmlformats.org/officeDocument/2006/relationships/image" Target="../media/image46.jpeg"/><Relationship Id="rId2" Type="http://schemas.openxmlformats.org/officeDocument/2006/relationships/notesSlide" Target="../notesSlides/notesSlide57.xml"/><Relationship Id="rId1" Type="http://schemas.openxmlformats.org/officeDocument/2006/relationships/slideLayout" Target="../slideLayouts/slideLayout1.xml"/><Relationship Id="rId4" Type="http://schemas.openxmlformats.org/officeDocument/2006/relationships/image" Target="../media/image47.jpeg"/></Relationships>
</file>

<file path=ppt/slides/_rels/slide59.xml.rels><?xml version="1.0" encoding="UTF-8" standalone="yes"?>
<Relationships xmlns="http://schemas.openxmlformats.org/package/2006/relationships"><Relationship Id="rId3" Type="http://schemas.openxmlformats.org/officeDocument/2006/relationships/image" Target="../media/image48.jpeg"/><Relationship Id="rId2" Type="http://schemas.openxmlformats.org/officeDocument/2006/relationships/notesSlide" Target="../notesSlides/notesSlide58.xml"/><Relationship Id="rId1" Type="http://schemas.openxmlformats.org/officeDocument/2006/relationships/slideLayout" Target="../slideLayouts/slideLayout1.xml"/><Relationship Id="rId4" Type="http://schemas.openxmlformats.org/officeDocument/2006/relationships/image" Target="../media/image49.jpeg"/></Relationships>
</file>

<file path=ppt/slides/_rels/slide60.xml.rels><?xml version="1.0" encoding="UTF-8" standalone="yes"?>
<Relationships xmlns="http://schemas.openxmlformats.org/package/2006/relationships"><Relationship Id="rId3" Type="http://schemas.openxmlformats.org/officeDocument/2006/relationships/image" Target="../media/image50.jpeg"/><Relationship Id="rId2" Type="http://schemas.openxmlformats.org/officeDocument/2006/relationships/notesSlide" Target="../notesSlides/notesSlide59.xml"/><Relationship Id="rId1" Type="http://schemas.openxmlformats.org/officeDocument/2006/relationships/slideLayout" Target="../slideLayouts/slideLayout1.xml"/><Relationship Id="rId4" Type="http://schemas.openxmlformats.org/officeDocument/2006/relationships/image" Target="../media/image51.jpeg"/></Relationships>
</file>

<file path=ppt/slides/_rels/slide61.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60.xml"/><Relationship Id="rId1" Type="http://schemas.openxmlformats.org/officeDocument/2006/relationships/slideLayout" Target="../slideLayouts/slideLayout1.xml"/><Relationship Id="rId5" Type="http://schemas.openxmlformats.org/officeDocument/2006/relationships/image" Target="../media/image54.png"/><Relationship Id="rId4" Type="http://schemas.openxmlformats.org/officeDocument/2006/relationships/image" Target="../media/image53.png"/></Relationships>
</file>

<file path=ppt/slides/_rels/slide62.xml.rels><?xml version="1.0" encoding="UTF-8" standalone="yes"?>
<Relationships xmlns="http://schemas.openxmlformats.org/package/2006/relationships"><Relationship Id="rId3" Type="http://schemas.openxmlformats.org/officeDocument/2006/relationships/image" Target="../media/image55.jpeg"/><Relationship Id="rId2" Type="http://schemas.openxmlformats.org/officeDocument/2006/relationships/notesSlide" Target="../notesSlides/notesSlide61.xml"/><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3" Type="http://schemas.openxmlformats.org/officeDocument/2006/relationships/image" Target="../media/image56.jpeg"/><Relationship Id="rId2" Type="http://schemas.openxmlformats.org/officeDocument/2006/relationships/notesSlide" Target="../notesSlides/notesSlide62.xml"/><Relationship Id="rId1" Type="http://schemas.openxmlformats.org/officeDocument/2006/relationships/slideLayout" Target="../slideLayouts/slideLayout1.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3.xml"/><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8" Type="http://schemas.openxmlformats.org/officeDocument/2006/relationships/image" Target="../media/image62.png"/><Relationship Id="rId3" Type="http://schemas.openxmlformats.org/officeDocument/2006/relationships/image" Target="../media/image57.png"/><Relationship Id="rId7" Type="http://schemas.openxmlformats.org/officeDocument/2006/relationships/image" Target="../media/image61.png"/><Relationship Id="rId2" Type="http://schemas.openxmlformats.org/officeDocument/2006/relationships/notesSlide" Target="../notesSlides/notesSlide64.xml"/><Relationship Id="rId1" Type="http://schemas.openxmlformats.org/officeDocument/2006/relationships/slideLayout" Target="../slideLayouts/slideLayout1.xml"/><Relationship Id="rId6" Type="http://schemas.openxmlformats.org/officeDocument/2006/relationships/image" Target="../media/image60.png"/><Relationship Id="rId5" Type="http://schemas.openxmlformats.org/officeDocument/2006/relationships/image" Target="../media/image59.png"/><Relationship Id="rId4" Type="http://schemas.openxmlformats.org/officeDocument/2006/relationships/image" Target="../media/image58.png"/><Relationship Id="rId9" Type="http://schemas.openxmlformats.org/officeDocument/2006/relationships/image" Target="../media/image63.png"/></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1.xml"/></Relationships>
</file>

<file path=ppt/slides/_rels/slide67.xml.rels><?xml version="1.0" encoding="UTF-8" standalone="yes"?>
<Relationships xmlns="http://schemas.openxmlformats.org/package/2006/relationships"><Relationship Id="rId3" Type="http://schemas.openxmlformats.org/officeDocument/2006/relationships/image" Target="../media/image64.jpeg"/><Relationship Id="rId2" Type="http://schemas.openxmlformats.org/officeDocument/2006/relationships/notesSlide" Target="../notesSlides/notesSlide66.xml"/><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1.xml"/></Relationships>
</file>

<file path=ppt/slides/_rels/slide69.xml.rels><?xml version="1.0" encoding="UTF-8" standalone="yes"?>
<Relationships xmlns="http://schemas.openxmlformats.org/package/2006/relationships"><Relationship Id="rId2" Type="http://schemas.openxmlformats.org/officeDocument/2006/relationships/image" Target="../media/image65.jpeg"/><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2" Type="http://schemas.openxmlformats.org/officeDocument/2006/relationships/image" Target="../media/image66.jpeg"/><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68.xml"/><Relationship Id="rId1" Type="http://schemas.openxmlformats.org/officeDocument/2006/relationships/slideLayout" Target="../slideLayouts/slideLayout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3.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1.xml"/></Relationships>
</file>

<file path=ppt/slides/_rels/slide74.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6.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1.xml"/></Relationships>
</file>

<file path=ppt/slides/_rels/slide77.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1.xml"/></Relationships>
</file>

<file path=ppt/slides/_rels/slide78.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1.xml"/></Relationships>
</file>

<file path=ppt/slides/_rels/slide79.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1.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2.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1.xml"/></Relationships>
</file>

<file path=ppt/slides/_rels/slide83.xml.rels><?xml version="1.0" encoding="UTF-8" standalone="yes"?>
<Relationships xmlns="http://schemas.openxmlformats.org/package/2006/relationships"><Relationship Id="rId2" Type="http://schemas.openxmlformats.org/officeDocument/2006/relationships/image" Target="../media/image74.png"/><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3" Type="http://schemas.openxmlformats.org/officeDocument/2006/relationships/image" Target="../media/image75.jpeg"/><Relationship Id="rId2" Type="http://schemas.openxmlformats.org/officeDocument/2006/relationships/notesSlide" Target="../notesSlides/notesSlide69.xml"/><Relationship Id="rId1" Type="http://schemas.openxmlformats.org/officeDocument/2006/relationships/slideLayout" Target="../slideLayouts/slideLayout1.xml"/></Relationships>
</file>

<file path=ppt/slides/_rels/slide87.xml.rels><?xml version="1.0" encoding="UTF-8" standalone="yes"?>
<Relationships xmlns="http://schemas.openxmlformats.org/package/2006/relationships"><Relationship Id="rId3" Type="http://schemas.openxmlformats.org/officeDocument/2006/relationships/image" Target="../media/image76.jpeg"/><Relationship Id="rId2" Type="http://schemas.openxmlformats.org/officeDocument/2006/relationships/notesSlide" Target="../notesSlides/notesSlide70.xml"/><Relationship Id="rId1" Type="http://schemas.openxmlformats.org/officeDocument/2006/relationships/slideLayout" Target="../slideLayouts/slideLayout1.xml"/></Relationships>
</file>

<file path=ppt/slides/_rels/slide88.xml.rels><?xml version="1.0" encoding="UTF-8" standalone="yes"?>
<Relationships xmlns="http://schemas.openxmlformats.org/package/2006/relationships"><Relationship Id="rId3" Type="http://schemas.openxmlformats.org/officeDocument/2006/relationships/image" Target="../media/image77.jpeg"/><Relationship Id="rId2" Type="http://schemas.openxmlformats.org/officeDocument/2006/relationships/notesSlide" Target="../notesSlides/notesSlide71.xml"/><Relationship Id="rId1" Type="http://schemas.openxmlformats.org/officeDocument/2006/relationships/slideLayout" Target="../slideLayouts/slideLayout1.xml"/></Relationships>
</file>

<file path=ppt/slides/_rels/slide89.xml.rels><?xml version="1.0" encoding="UTF-8" standalone="yes"?>
<Relationships xmlns="http://schemas.openxmlformats.org/package/2006/relationships"><Relationship Id="rId3" Type="http://schemas.openxmlformats.org/officeDocument/2006/relationships/image" Target="../media/image78.jpeg"/><Relationship Id="rId2" Type="http://schemas.openxmlformats.org/officeDocument/2006/relationships/notesSlide" Target="../notesSlides/notesSlide72.xml"/><Relationship Id="rId1" Type="http://schemas.openxmlformats.org/officeDocument/2006/relationships/slideLayout" Target="../slideLayouts/slideLayout1.xml"/></Relationships>
</file>

<file path=ppt/slides/_rels/slide90.xml.rels><?xml version="1.0" encoding="UTF-8" standalone="yes"?>
<Relationships xmlns="http://schemas.openxmlformats.org/package/2006/relationships"><Relationship Id="rId3" Type="http://schemas.openxmlformats.org/officeDocument/2006/relationships/image" Target="../media/image79.jpeg"/><Relationship Id="rId2" Type="http://schemas.openxmlformats.org/officeDocument/2006/relationships/notesSlide" Target="../notesSlides/notesSlide73.xml"/><Relationship Id="rId1" Type="http://schemas.openxmlformats.org/officeDocument/2006/relationships/slideLayout" Target="../slideLayouts/slideLayout1.xml"/></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74.xml"/><Relationship Id="rId1" Type="http://schemas.openxmlformats.org/officeDocument/2006/relationships/slideLayout" Target="../slideLayouts/slideLayout1.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75.xml"/><Relationship Id="rId1" Type="http://schemas.openxmlformats.org/officeDocument/2006/relationships/slideLayout" Target="../slideLayouts/slideLayout1.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76.xml"/><Relationship Id="rId1" Type="http://schemas.openxmlformats.org/officeDocument/2006/relationships/slideLayout" Target="../slideLayouts/slideLayout1.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77.xml"/><Relationship Id="rId1" Type="http://schemas.openxmlformats.org/officeDocument/2006/relationships/slideLayout" Target="../slideLayouts/slideLayout1.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78.xml"/><Relationship Id="rId1" Type="http://schemas.openxmlformats.org/officeDocument/2006/relationships/slideLayout" Target="../slideLayouts/slideLayout1.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80.xml"/><Relationship Id="rId1" Type="http://schemas.openxmlformats.org/officeDocument/2006/relationships/slideLayout" Target="../slideLayouts/slideLayout1.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81.xml"/><Relationship Id="rId1" Type="http://schemas.openxmlformats.org/officeDocument/2006/relationships/slideLayout" Target="../slideLayouts/slideLayout1.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82.xml"/><Relationship Id="rId1" Type="http://schemas.openxmlformats.org/officeDocument/2006/relationships/slideLayout" Target="../slideLayouts/slideLayout1.xml"/></Relationships>
</file>

<file path=ppt/slides/_rels/slide101.xml.rels><?xml version="1.0" encoding="UTF-8" standalone="yes"?>
<Relationships xmlns="http://schemas.openxmlformats.org/package/2006/relationships"><Relationship Id="rId3" Type="http://schemas.openxmlformats.org/officeDocument/2006/relationships/image" Target="../media/image80.jpeg"/><Relationship Id="rId2" Type="http://schemas.openxmlformats.org/officeDocument/2006/relationships/notesSlide" Target="../notesSlides/notesSlide83.xml"/><Relationship Id="rId1" Type="http://schemas.openxmlformats.org/officeDocument/2006/relationships/slideLayout" Target="../slideLayouts/slideLayout1.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3" Type="http://schemas.openxmlformats.org/officeDocument/2006/relationships/image" Target="../media/image81.jpeg"/><Relationship Id="rId2" Type="http://schemas.openxmlformats.org/officeDocument/2006/relationships/notesSlide" Target="../notesSlides/notesSlide85.xml"/><Relationship Id="rId1" Type="http://schemas.openxmlformats.org/officeDocument/2006/relationships/slideLayout" Target="../slideLayouts/slideLayout1.xml"/></Relationships>
</file>

<file path=ppt/slides/_rels/slide104.xml.rels><?xml version="1.0" encoding="UTF-8" standalone="yes"?>
<Relationships xmlns="http://schemas.openxmlformats.org/package/2006/relationships"><Relationship Id="rId3" Type="http://schemas.openxmlformats.org/officeDocument/2006/relationships/image" Target="../media/image82.jpeg"/><Relationship Id="rId2" Type="http://schemas.openxmlformats.org/officeDocument/2006/relationships/notesSlide" Target="../notesSlides/notesSlide86.xml"/><Relationship Id="rId1" Type="http://schemas.openxmlformats.org/officeDocument/2006/relationships/slideLayout" Target="../slideLayouts/slideLayout1.xml"/></Relationships>
</file>

<file path=ppt/slides/_rels/slide105.xml.rels><?xml version="1.0" encoding="UTF-8" standalone="yes"?>
<Relationships xmlns="http://schemas.openxmlformats.org/package/2006/relationships"><Relationship Id="rId3" Type="http://schemas.openxmlformats.org/officeDocument/2006/relationships/image" Target="../media/image83.jpeg"/><Relationship Id="rId2" Type="http://schemas.openxmlformats.org/officeDocument/2006/relationships/notesSlide" Target="../notesSlides/notesSlide87.xml"/><Relationship Id="rId1" Type="http://schemas.openxmlformats.org/officeDocument/2006/relationships/slideLayout" Target="../slideLayouts/slideLayout1.xml"/></Relationships>
</file>

<file path=ppt/slides/_rels/slide106.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1.xml"/></Relationships>
</file>

<file path=ppt/slides/_rels/slide107.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1.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90.xml"/><Relationship Id="rId1" Type="http://schemas.openxmlformats.org/officeDocument/2006/relationships/slideLayout" Target="../slideLayouts/slideLayout1.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1.xml"/></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1.xml"/></Relationships>
</file>

<file path=ppt/slides/_rels/slide111.xml.rels><?xml version="1.0" encoding="UTF-8" standalone="yes"?>
<Relationships xmlns="http://schemas.openxmlformats.org/package/2006/relationships"><Relationship Id="rId2" Type="http://schemas.openxmlformats.org/officeDocument/2006/relationships/notesSlide" Target="../notesSlides/notesSlide93.xml"/><Relationship Id="rId1" Type="http://schemas.openxmlformats.org/officeDocument/2006/relationships/slideLayout" Target="../slideLayouts/slideLayout1.xml"/></Relationships>
</file>

<file path=ppt/slides/_rels/slide112.xml.rels><?xml version="1.0" encoding="UTF-8" standalone="yes"?>
<Relationships xmlns="http://schemas.openxmlformats.org/package/2006/relationships"><Relationship Id="rId2" Type="http://schemas.openxmlformats.org/officeDocument/2006/relationships/notesSlide" Target="../notesSlides/notesSlide94.xml"/><Relationship Id="rId1" Type="http://schemas.openxmlformats.org/officeDocument/2006/relationships/slideLayout" Target="../slideLayouts/slideLayout1.xml"/></Relationships>
</file>

<file path=ppt/slides/_rels/slide113.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1.xml"/></Relationships>
</file>

<file path=ppt/slides/_rels/slide114.xml.rels><?xml version="1.0" encoding="UTF-8" standalone="yes"?>
<Relationships xmlns="http://schemas.openxmlformats.org/package/2006/relationships"><Relationship Id="rId3" Type="http://schemas.openxmlformats.org/officeDocument/2006/relationships/image" Target="../media/image84.jpeg"/><Relationship Id="rId2" Type="http://schemas.openxmlformats.org/officeDocument/2006/relationships/notesSlide" Target="../notesSlides/notesSlide96.xml"/><Relationship Id="rId1" Type="http://schemas.openxmlformats.org/officeDocument/2006/relationships/slideLayout" Target="../slideLayouts/slideLayout1.xml"/></Relationships>
</file>

<file path=ppt/slides/_rels/slide115.xml.rels><?xml version="1.0" encoding="UTF-8" standalone="yes"?>
<Relationships xmlns="http://schemas.openxmlformats.org/package/2006/relationships"><Relationship Id="rId2" Type="http://schemas.openxmlformats.org/officeDocument/2006/relationships/notesSlide" Target="../notesSlides/notesSlide97.xml"/><Relationship Id="rId1" Type="http://schemas.openxmlformats.org/officeDocument/2006/relationships/slideLayout" Target="../slideLayouts/slideLayout1.xml"/></Relationships>
</file>

<file path=ppt/slides/_rels/slide116.xml.rels><?xml version="1.0" encoding="UTF-8" standalone="yes"?>
<Relationships xmlns="http://schemas.openxmlformats.org/package/2006/relationships"><Relationship Id="rId2" Type="http://schemas.openxmlformats.org/officeDocument/2006/relationships/notesSlide" Target="../notesSlides/notesSlide98.xml"/><Relationship Id="rId1" Type="http://schemas.openxmlformats.org/officeDocument/2006/relationships/slideLayout" Target="../slideLayouts/slideLayout1.xml"/></Relationships>
</file>

<file path=ppt/slides/_rels/slide117.xml.rels><?xml version="1.0" encoding="UTF-8" standalone="yes"?>
<Relationships xmlns="http://schemas.openxmlformats.org/package/2006/relationships"><Relationship Id="rId3" Type="http://schemas.openxmlformats.org/officeDocument/2006/relationships/image" Target="../media/image85.jpeg"/><Relationship Id="rId2" Type="http://schemas.openxmlformats.org/officeDocument/2006/relationships/notesSlide" Target="../notesSlides/notesSlide99.xml"/><Relationship Id="rId1" Type="http://schemas.openxmlformats.org/officeDocument/2006/relationships/slideLayout" Target="../slideLayouts/slideLayout1.xml"/></Relationships>
</file>

<file path=ppt/slides/_rels/slide118.xml.rels><?xml version="1.0" encoding="UTF-8" standalone="yes"?>
<Relationships xmlns="http://schemas.openxmlformats.org/package/2006/relationships"><Relationship Id="rId3" Type="http://schemas.openxmlformats.org/officeDocument/2006/relationships/image" Target="../media/image86.jpeg"/><Relationship Id="rId2" Type="http://schemas.openxmlformats.org/officeDocument/2006/relationships/notesSlide" Target="../notesSlides/notesSlide100.xml"/><Relationship Id="rId1" Type="http://schemas.openxmlformats.org/officeDocument/2006/relationships/slideLayout" Target="../slideLayouts/slideLayout1.xml"/></Relationships>
</file>

<file path=ppt/slides/_rels/slide119.xml.rels><?xml version="1.0" encoding="UTF-8" standalone="yes"?>
<Relationships xmlns="http://schemas.openxmlformats.org/package/2006/relationships"><Relationship Id="rId2" Type="http://schemas.openxmlformats.org/officeDocument/2006/relationships/notesSlide" Target="../notesSlides/notesSlide101.xml"/><Relationship Id="rId1" Type="http://schemas.openxmlformats.org/officeDocument/2006/relationships/slideLayout" Target="../slideLayouts/slideLayout1.xml"/></Relationships>
</file>

<file path=ppt/slides/_rels/slide120.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102.xml"/><Relationship Id="rId1" Type="http://schemas.openxmlformats.org/officeDocument/2006/relationships/slideLayout" Target="../slideLayouts/slideLayout1.xml"/><Relationship Id="rId4" Type="http://schemas.openxmlformats.org/officeDocument/2006/relationships/image" Target="../media/image88.png"/></Relationships>
</file>

<file path=ppt/slides/_rels/slide121.xml.rels><?xml version="1.0" encoding="UTF-8" standalone="yes"?>
<Relationships xmlns="http://schemas.openxmlformats.org/package/2006/relationships"><Relationship Id="rId3" Type="http://schemas.openxmlformats.org/officeDocument/2006/relationships/image" Target="../media/image89.jpeg"/><Relationship Id="rId2" Type="http://schemas.openxmlformats.org/officeDocument/2006/relationships/notesSlide" Target="../notesSlides/notesSlide103.xml"/><Relationship Id="rId1" Type="http://schemas.openxmlformats.org/officeDocument/2006/relationships/slideLayout" Target="../slideLayouts/slideLayout1.xml"/><Relationship Id="rId5" Type="http://schemas.openxmlformats.org/officeDocument/2006/relationships/image" Target="../media/image91.jpeg"/><Relationship Id="rId4" Type="http://schemas.openxmlformats.org/officeDocument/2006/relationships/image" Target="../media/image90.jpeg"/></Relationships>
</file>

<file path=ppt/slides/_rels/slide122.xml.rels><?xml version="1.0" encoding="UTF-8" standalone="yes"?>
<Relationships xmlns="http://schemas.openxmlformats.org/package/2006/relationships"><Relationship Id="rId3" Type="http://schemas.openxmlformats.org/officeDocument/2006/relationships/image" Target="../media/image92.jpeg"/><Relationship Id="rId2" Type="http://schemas.openxmlformats.org/officeDocument/2006/relationships/notesSlide" Target="../notesSlides/notesSlide104.xml"/><Relationship Id="rId1" Type="http://schemas.openxmlformats.org/officeDocument/2006/relationships/slideLayout" Target="../slideLayouts/slideLayout1.xml"/></Relationships>
</file>

<file path=ppt/slides/_rels/slide123.xml.rels><?xml version="1.0" encoding="UTF-8" standalone="yes"?>
<Relationships xmlns="http://schemas.openxmlformats.org/package/2006/relationships"><Relationship Id="rId3" Type="http://schemas.openxmlformats.org/officeDocument/2006/relationships/image" Target="../media/image93.jpeg"/><Relationship Id="rId2" Type="http://schemas.openxmlformats.org/officeDocument/2006/relationships/notesSlide" Target="../notesSlides/notesSlide105.xml"/><Relationship Id="rId1" Type="http://schemas.openxmlformats.org/officeDocument/2006/relationships/slideLayout" Target="../slideLayouts/slideLayout1.xml"/><Relationship Id="rId4" Type="http://schemas.openxmlformats.org/officeDocument/2006/relationships/image" Target="../media/image94.jpeg"/></Relationships>
</file>

<file path=ppt/slides/_rels/slide124.xml.rels><?xml version="1.0" encoding="UTF-8" standalone="yes"?>
<Relationships xmlns="http://schemas.openxmlformats.org/package/2006/relationships"><Relationship Id="rId3" Type="http://schemas.openxmlformats.org/officeDocument/2006/relationships/image" Target="../media/image95.jpeg"/><Relationship Id="rId2" Type="http://schemas.openxmlformats.org/officeDocument/2006/relationships/notesSlide" Target="../notesSlides/notesSlide106.xml"/><Relationship Id="rId1" Type="http://schemas.openxmlformats.org/officeDocument/2006/relationships/slideLayout" Target="../slideLayouts/slideLayout1.xml"/></Relationships>
</file>

<file path=ppt/slides/_rels/slide125.xml.rels><?xml version="1.0" encoding="UTF-8" standalone="yes"?>
<Relationships xmlns="http://schemas.openxmlformats.org/package/2006/relationships"><Relationship Id="rId3" Type="http://schemas.openxmlformats.org/officeDocument/2006/relationships/image" Target="../media/image96.jpeg"/><Relationship Id="rId2" Type="http://schemas.openxmlformats.org/officeDocument/2006/relationships/notesSlide" Target="../notesSlides/notesSlide107.xml"/><Relationship Id="rId1" Type="http://schemas.openxmlformats.org/officeDocument/2006/relationships/slideLayout" Target="../slideLayouts/slideLayout1.xml"/></Relationships>
</file>

<file path=ppt/slides/_rels/slide126.xml.rels><?xml version="1.0" encoding="UTF-8" standalone="yes"?>
<Relationships xmlns="http://schemas.openxmlformats.org/package/2006/relationships"><Relationship Id="rId3" Type="http://schemas.openxmlformats.org/officeDocument/2006/relationships/image" Target="../media/image97.jpeg"/><Relationship Id="rId2" Type="http://schemas.openxmlformats.org/officeDocument/2006/relationships/notesSlide" Target="../notesSlides/notesSlide108.xml"/><Relationship Id="rId1" Type="http://schemas.openxmlformats.org/officeDocument/2006/relationships/slideLayout" Target="../slideLayouts/slideLayout1.xml"/><Relationship Id="rId4" Type="http://schemas.openxmlformats.org/officeDocument/2006/relationships/image" Target="../media/image98.jpeg"/></Relationships>
</file>

<file path=ppt/slides/_rels/slide127.xml.rels><?xml version="1.0" encoding="UTF-8" standalone="yes"?>
<Relationships xmlns="http://schemas.openxmlformats.org/package/2006/relationships"><Relationship Id="rId2" Type="http://schemas.openxmlformats.org/officeDocument/2006/relationships/notesSlide" Target="../notesSlides/notesSlide109.xml"/><Relationship Id="rId1" Type="http://schemas.openxmlformats.org/officeDocument/2006/relationships/slideLayout" Target="../slideLayouts/slideLayout1.xml"/></Relationships>
</file>

<file path=ppt/slides/_rels/slide128.xml.rels><?xml version="1.0" encoding="UTF-8" standalone="yes"?>
<Relationships xmlns="http://schemas.openxmlformats.org/package/2006/relationships"><Relationship Id="rId2" Type="http://schemas.openxmlformats.org/officeDocument/2006/relationships/notesSlide" Target="../notesSlides/notesSlide110.xml"/><Relationship Id="rId1" Type="http://schemas.openxmlformats.org/officeDocument/2006/relationships/slideLayout" Target="../slideLayouts/slideLayout1.xml"/></Relationships>
</file>

<file path=ppt/slides/_rels/slide129.xml.rels><?xml version="1.0" encoding="UTF-8" standalone="yes"?>
<Relationships xmlns="http://schemas.openxmlformats.org/package/2006/relationships"><Relationship Id="rId2" Type="http://schemas.openxmlformats.org/officeDocument/2006/relationships/notesSlide" Target="../notesSlides/notesSlide111.xml"/><Relationship Id="rId1" Type="http://schemas.openxmlformats.org/officeDocument/2006/relationships/slideLayout" Target="../slideLayouts/slideLayout1.xml"/></Relationships>
</file>

<file path=ppt/slides/_rels/slide130.xml.rels><?xml version="1.0" encoding="UTF-8" standalone="yes"?>
<Relationships xmlns="http://schemas.openxmlformats.org/package/2006/relationships"><Relationship Id="rId2" Type="http://schemas.openxmlformats.org/officeDocument/2006/relationships/notesSlide" Target="../notesSlides/notesSlide112.xml"/><Relationship Id="rId1" Type="http://schemas.openxmlformats.org/officeDocument/2006/relationships/slideLayout" Target="../slideLayouts/slideLayout1.xml"/></Relationships>
</file>

<file path=ppt/slides/_rels/slide131.xml.rels><?xml version="1.0" encoding="UTF-8" standalone="yes"?>
<Relationships xmlns="http://schemas.openxmlformats.org/package/2006/relationships"><Relationship Id="rId2" Type="http://schemas.openxmlformats.org/officeDocument/2006/relationships/notesSlide" Target="../notesSlides/notesSlide113.xml"/><Relationship Id="rId1" Type="http://schemas.openxmlformats.org/officeDocument/2006/relationships/slideLayout" Target="../slideLayouts/slideLayout1.xml"/></Relationships>
</file>

<file path=ppt/slides/_rels/slide132.xml.rels><?xml version="1.0" encoding="UTF-8" standalone="yes"?>
<Relationships xmlns="http://schemas.openxmlformats.org/package/2006/relationships"><Relationship Id="rId2" Type="http://schemas.openxmlformats.org/officeDocument/2006/relationships/notesSlide" Target="../notesSlides/notesSlide114.xml"/><Relationship Id="rId1" Type="http://schemas.openxmlformats.org/officeDocument/2006/relationships/slideLayout" Target="../slideLayouts/slideLayout1.xml"/></Relationships>
</file>

<file path=ppt/slides/_rels/slide133.xml.rels><?xml version="1.0" encoding="UTF-8" standalone="yes"?>
<Relationships xmlns="http://schemas.openxmlformats.org/package/2006/relationships"><Relationship Id="rId2" Type="http://schemas.openxmlformats.org/officeDocument/2006/relationships/notesSlide" Target="../notesSlides/notesSlide115.xml"/><Relationship Id="rId1" Type="http://schemas.openxmlformats.org/officeDocument/2006/relationships/slideLayout" Target="../slideLayouts/slideLayout1.xml"/></Relationships>
</file>

<file path=ppt/slides/_rels/slide134.xml.rels><?xml version="1.0" encoding="UTF-8" standalone="yes"?>
<Relationships xmlns="http://schemas.openxmlformats.org/package/2006/relationships"><Relationship Id="rId2" Type="http://schemas.openxmlformats.org/officeDocument/2006/relationships/notesSlide" Target="../notesSlides/notesSlide116.xml"/><Relationship Id="rId1" Type="http://schemas.openxmlformats.org/officeDocument/2006/relationships/slideLayout" Target="../slideLayouts/slideLayout1.xml"/></Relationships>
</file>

<file path=ppt/slides/_rels/slide135.xml.rels><?xml version="1.0" encoding="UTF-8" standalone="yes"?>
<Relationships xmlns="http://schemas.openxmlformats.org/package/2006/relationships"><Relationship Id="rId3" Type="http://schemas.openxmlformats.org/officeDocument/2006/relationships/image" Target="../media/image99.jpeg"/><Relationship Id="rId2" Type="http://schemas.openxmlformats.org/officeDocument/2006/relationships/notesSlide" Target="../notesSlides/notesSlide117.xml"/><Relationship Id="rId1" Type="http://schemas.openxmlformats.org/officeDocument/2006/relationships/slideLayout" Target="../slideLayouts/slideLayout1.xml"/><Relationship Id="rId4" Type="http://schemas.openxmlformats.org/officeDocument/2006/relationships/image" Target="../media/image100.jpeg"/></Relationships>
</file>

<file path=ppt/slides/_rels/slide136.xml.rels><?xml version="1.0" encoding="UTF-8" standalone="yes"?>
<Relationships xmlns="http://schemas.openxmlformats.org/package/2006/relationships"><Relationship Id="rId3" Type="http://schemas.openxmlformats.org/officeDocument/2006/relationships/image" Target="../media/image101.jpeg"/><Relationship Id="rId2" Type="http://schemas.openxmlformats.org/officeDocument/2006/relationships/notesSlide" Target="../notesSlides/notesSlide118.xml"/><Relationship Id="rId1" Type="http://schemas.openxmlformats.org/officeDocument/2006/relationships/slideLayout" Target="../slideLayouts/slideLayout1.xml"/><Relationship Id="rId4" Type="http://schemas.openxmlformats.org/officeDocument/2006/relationships/image" Target="../media/image102.jpeg"/></Relationships>
</file>

<file path=ppt/slides/_rels/slide137.xml.rels><?xml version="1.0" encoding="UTF-8" standalone="yes"?>
<Relationships xmlns="http://schemas.openxmlformats.org/package/2006/relationships"><Relationship Id="rId2" Type="http://schemas.openxmlformats.org/officeDocument/2006/relationships/notesSlide" Target="../notesSlides/notesSlide119.xml"/><Relationship Id="rId1" Type="http://schemas.openxmlformats.org/officeDocument/2006/relationships/slideLayout" Target="../slideLayouts/slideLayout1.xml"/></Relationships>
</file>

<file path=ppt/slides/_rels/slide138.xml.rels><?xml version="1.0" encoding="UTF-8" standalone="yes"?>
<Relationships xmlns="http://schemas.openxmlformats.org/package/2006/relationships"><Relationship Id="rId3" Type="http://schemas.openxmlformats.org/officeDocument/2006/relationships/image" Target="../media/image103.jpeg"/><Relationship Id="rId2" Type="http://schemas.openxmlformats.org/officeDocument/2006/relationships/notesSlide" Target="../notesSlides/notesSlide120.xml"/><Relationship Id="rId1" Type="http://schemas.openxmlformats.org/officeDocument/2006/relationships/slideLayout" Target="../slideLayouts/slideLayout1.xml"/></Relationships>
</file>

<file path=ppt/slides/_rels/slide139.xml.rels><?xml version="1.0" encoding="UTF-8" standalone="yes"?>
<Relationships xmlns="http://schemas.openxmlformats.org/package/2006/relationships"><Relationship Id="rId2" Type="http://schemas.openxmlformats.org/officeDocument/2006/relationships/notesSlide" Target="../notesSlides/notesSlide121.xml"/><Relationship Id="rId1" Type="http://schemas.openxmlformats.org/officeDocument/2006/relationships/slideLayout" Target="../slideLayouts/slideLayout1.xml"/></Relationships>
</file>

<file path=ppt/slides/_rels/slide140.xml.rels><?xml version="1.0" encoding="UTF-8" standalone="yes"?>
<Relationships xmlns="http://schemas.openxmlformats.org/package/2006/relationships"><Relationship Id="rId3" Type="http://schemas.openxmlformats.org/officeDocument/2006/relationships/image" Target="../media/image104.jpeg"/><Relationship Id="rId2" Type="http://schemas.openxmlformats.org/officeDocument/2006/relationships/notesSlide" Target="../notesSlides/notesSlide122.xml"/><Relationship Id="rId1" Type="http://schemas.openxmlformats.org/officeDocument/2006/relationships/slideLayout" Target="../slideLayouts/slideLayout1.xml"/></Relationships>
</file>

<file path=ppt/slides/_rels/slide141.xml.rels><?xml version="1.0" encoding="UTF-8" standalone="yes"?>
<Relationships xmlns="http://schemas.openxmlformats.org/package/2006/relationships"><Relationship Id="rId3" Type="http://schemas.openxmlformats.org/officeDocument/2006/relationships/image" Target="../media/image105.jpeg"/><Relationship Id="rId2" Type="http://schemas.openxmlformats.org/officeDocument/2006/relationships/notesSlide" Target="../notesSlides/notesSlide123.xml"/><Relationship Id="rId1" Type="http://schemas.openxmlformats.org/officeDocument/2006/relationships/slideLayout" Target="../slideLayouts/slideLayout1.xml"/></Relationships>
</file>

<file path=ppt/slides/_rels/slide142.xml.rels><?xml version="1.0" encoding="UTF-8" standalone="yes"?>
<Relationships xmlns="http://schemas.openxmlformats.org/package/2006/relationships"><Relationship Id="rId3" Type="http://schemas.openxmlformats.org/officeDocument/2006/relationships/image" Target="../media/image106.jpeg"/><Relationship Id="rId2" Type="http://schemas.openxmlformats.org/officeDocument/2006/relationships/notesSlide" Target="../notesSlides/notesSlide124.xml"/><Relationship Id="rId1" Type="http://schemas.openxmlformats.org/officeDocument/2006/relationships/slideLayout" Target="../slideLayouts/slideLayout1.xml"/></Relationships>
</file>

<file path=ppt/slides/_rels/slide143.xml.rels><?xml version="1.0" encoding="UTF-8" standalone="yes"?>
<Relationships xmlns="http://schemas.openxmlformats.org/package/2006/relationships"><Relationship Id="rId2" Type="http://schemas.openxmlformats.org/officeDocument/2006/relationships/notesSlide" Target="../notesSlides/notesSlide125.xml"/><Relationship Id="rId1" Type="http://schemas.openxmlformats.org/officeDocument/2006/relationships/slideLayout" Target="../slideLayouts/slideLayout1.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126.xml"/><Relationship Id="rId1" Type="http://schemas.openxmlformats.org/officeDocument/2006/relationships/slideLayout" Target="../slideLayouts/slideLayout1.xml"/></Relationships>
</file>

<file path=ppt/slides/_rels/slide145.xml.rels><?xml version="1.0" encoding="UTF-8" standalone="yes"?>
<Relationships xmlns="http://schemas.openxmlformats.org/package/2006/relationships"><Relationship Id="rId2" Type="http://schemas.openxmlformats.org/officeDocument/2006/relationships/notesSlide" Target="../notesSlides/notesSlide127.xml"/><Relationship Id="rId1" Type="http://schemas.openxmlformats.org/officeDocument/2006/relationships/slideLayout" Target="../slideLayouts/slideLayout1.xml"/></Relationships>
</file>

<file path=ppt/slides/_rels/slide146.xml.rels><?xml version="1.0" encoding="UTF-8" standalone="yes"?>
<Relationships xmlns="http://schemas.openxmlformats.org/package/2006/relationships"><Relationship Id="rId2" Type="http://schemas.openxmlformats.org/officeDocument/2006/relationships/notesSlide" Target="../notesSlides/notesSlide128.xml"/><Relationship Id="rId1" Type="http://schemas.openxmlformats.org/officeDocument/2006/relationships/slideLayout" Target="../slideLayouts/slideLayout1.xml"/></Relationships>
</file>

<file path=ppt/slides/_rels/slide147.xml.rels><?xml version="1.0" encoding="UTF-8" standalone="yes"?>
<Relationships xmlns="http://schemas.openxmlformats.org/package/2006/relationships"><Relationship Id="rId2" Type="http://schemas.openxmlformats.org/officeDocument/2006/relationships/notesSlide" Target="../notesSlides/notesSlide129.xml"/><Relationship Id="rId1" Type="http://schemas.openxmlformats.org/officeDocument/2006/relationships/slideLayout" Target="../slideLayouts/slideLayout1.xml"/></Relationships>
</file>

<file path=ppt/slides/_rels/slide148.xml.rels><?xml version="1.0" encoding="UTF-8" standalone="yes"?>
<Relationships xmlns="http://schemas.openxmlformats.org/package/2006/relationships"><Relationship Id="rId2" Type="http://schemas.openxmlformats.org/officeDocument/2006/relationships/notesSlide" Target="../notesSlides/notesSlide130.xml"/><Relationship Id="rId1" Type="http://schemas.openxmlformats.org/officeDocument/2006/relationships/slideLayout" Target="../slideLayouts/slideLayout1.xml"/></Relationships>
</file>

<file path=ppt/slides/_rels/slide149.xml.rels><?xml version="1.0" encoding="UTF-8" standalone="yes"?>
<Relationships xmlns="http://schemas.openxmlformats.org/package/2006/relationships"><Relationship Id="rId2" Type="http://schemas.openxmlformats.org/officeDocument/2006/relationships/notesSlide" Target="../notesSlides/notesSlide131.xml"/><Relationship Id="rId1" Type="http://schemas.openxmlformats.org/officeDocument/2006/relationships/slideLayout" Target="../slideLayouts/slideLayout1.xml"/></Relationships>
</file>

<file path=ppt/slides/_rels/slide150.xml.rels><?xml version="1.0" encoding="UTF-8" standalone="yes"?>
<Relationships xmlns="http://schemas.openxmlformats.org/package/2006/relationships"><Relationship Id="rId2" Type="http://schemas.openxmlformats.org/officeDocument/2006/relationships/notesSlide" Target="../notesSlides/notesSlide132.xml"/><Relationship Id="rId1" Type="http://schemas.openxmlformats.org/officeDocument/2006/relationships/slideLayout" Target="../slideLayouts/slideLayout1.xml"/></Relationships>
</file>

<file path=ppt/slides/_rels/slide151.xml.rels><?xml version="1.0" encoding="UTF-8" standalone="yes"?>
<Relationships xmlns="http://schemas.openxmlformats.org/package/2006/relationships"><Relationship Id="rId2" Type="http://schemas.openxmlformats.org/officeDocument/2006/relationships/notesSlide" Target="../notesSlides/notesSlide133.xml"/><Relationship Id="rId1" Type="http://schemas.openxmlformats.org/officeDocument/2006/relationships/slideLayout" Target="../slideLayouts/slideLayout1.xml"/></Relationships>
</file>

<file path=ppt/slides/_rels/slide152.xml.rels><?xml version="1.0" encoding="UTF-8" standalone="yes"?>
<Relationships xmlns="http://schemas.openxmlformats.org/package/2006/relationships"><Relationship Id="rId2" Type="http://schemas.openxmlformats.org/officeDocument/2006/relationships/notesSlide" Target="../notesSlides/notesSlide134.xml"/><Relationship Id="rId1" Type="http://schemas.openxmlformats.org/officeDocument/2006/relationships/slideLayout" Target="../slideLayouts/slideLayout1.xml"/></Relationships>
</file>

<file path=ppt/slides/_rels/slide153.xml.rels><?xml version="1.0" encoding="UTF-8" standalone="yes"?>
<Relationships xmlns="http://schemas.openxmlformats.org/package/2006/relationships"><Relationship Id="rId2" Type="http://schemas.openxmlformats.org/officeDocument/2006/relationships/notesSlide" Target="../notesSlides/notesSlide135.xml"/><Relationship Id="rId1" Type="http://schemas.openxmlformats.org/officeDocument/2006/relationships/slideLayout" Target="../slideLayouts/slideLayout1.xml"/></Relationships>
</file>

<file path=ppt/slides/_rels/slide154.xml.rels><?xml version="1.0" encoding="UTF-8" standalone="yes"?>
<Relationships xmlns="http://schemas.openxmlformats.org/package/2006/relationships"><Relationship Id="rId2" Type="http://schemas.openxmlformats.org/officeDocument/2006/relationships/notesSlide" Target="../notesSlides/notesSlide136.xml"/><Relationship Id="rId1" Type="http://schemas.openxmlformats.org/officeDocument/2006/relationships/slideLayout" Target="../slideLayouts/slideLayout1.xml"/></Relationships>
</file>

<file path=ppt/slides/_rels/slide155.xml.rels><?xml version="1.0" encoding="UTF-8" standalone="yes"?>
<Relationships xmlns="http://schemas.openxmlformats.org/package/2006/relationships"><Relationship Id="rId2" Type="http://schemas.openxmlformats.org/officeDocument/2006/relationships/notesSlide" Target="../notesSlides/notesSlide137.xml"/><Relationship Id="rId1" Type="http://schemas.openxmlformats.org/officeDocument/2006/relationships/slideLayout" Target="../slideLayouts/slideLayout1.xml"/></Relationships>
</file>

<file path=ppt/slides/_rels/slide156.xml.rels><?xml version="1.0" encoding="UTF-8" standalone="yes"?>
<Relationships xmlns="http://schemas.openxmlformats.org/package/2006/relationships"><Relationship Id="rId2" Type="http://schemas.openxmlformats.org/officeDocument/2006/relationships/notesSlide" Target="../notesSlides/notesSlide138.xml"/><Relationship Id="rId1" Type="http://schemas.openxmlformats.org/officeDocument/2006/relationships/slideLayout" Target="../slideLayouts/slideLayout1.xml"/></Relationships>
</file>

<file path=ppt/slides/_rels/slide157.xml.rels><?xml version="1.0" encoding="UTF-8" standalone="yes"?>
<Relationships xmlns="http://schemas.openxmlformats.org/package/2006/relationships"><Relationship Id="rId2" Type="http://schemas.openxmlformats.org/officeDocument/2006/relationships/notesSlide" Target="../notesSlides/notesSlide139.xml"/><Relationship Id="rId1" Type="http://schemas.openxmlformats.org/officeDocument/2006/relationships/slideLayout" Target="../slideLayouts/slideLayout1.xml"/></Relationships>
</file>

<file path=ppt/slides/_rels/slide158.xml.rels><?xml version="1.0" encoding="UTF-8" standalone="yes"?>
<Relationships xmlns="http://schemas.openxmlformats.org/package/2006/relationships"><Relationship Id="rId2" Type="http://schemas.openxmlformats.org/officeDocument/2006/relationships/notesSlide" Target="../notesSlides/notesSlide140.xml"/><Relationship Id="rId1" Type="http://schemas.openxmlformats.org/officeDocument/2006/relationships/slideLayout" Target="../slideLayouts/slideLayout1.xml"/></Relationships>
</file>

<file path=ppt/slides/_rels/slide159.xml.rels><?xml version="1.0" encoding="UTF-8" standalone="yes"?>
<Relationships xmlns="http://schemas.openxmlformats.org/package/2006/relationships"><Relationship Id="rId2" Type="http://schemas.openxmlformats.org/officeDocument/2006/relationships/notesSlide" Target="../notesSlides/notesSlide141.xml"/><Relationship Id="rId1" Type="http://schemas.openxmlformats.org/officeDocument/2006/relationships/slideLayout" Target="../slideLayouts/slideLayout1.xml"/></Relationships>
</file>

<file path=ppt/slides/_rels/slide160.xml.rels><?xml version="1.0" encoding="UTF-8" standalone="yes"?>
<Relationships xmlns="http://schemas.openxmlformats.org/package/2006/relationships"><Relationship Id="rId2" Type="http://schemas.openxmlformats.org/officeDocument/2006/relationships/notesSlide" Target="../notesSlides/notesSlide142.xml"/><Relationship Id="rId1" Type="http://schemas.openxmlformats.org/officeDocument/2006/relationships/slideLayout" Target="../slideLayouts/slideLayout1.xml"/></Relationships>
</file>

<file path=ppt/slides/_rels/slide161.xml.rels><?xml version="1.0" encoding="UTF-8" standalone="yes"?>
<Relationships xmlns="http://schemas.openxmlformats.org/package/2006/relationships"><Relationship Id="rId2" Type="http://schemas.openxmlformats.org/officeDocument/2006/relationships/notesSlide" Target="../notesSlides/notesSlide14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315B"/>
        </a:solidFill>
        <a:effectLst/>
      </p:bgPr>
    </p:bg>
    <p:spTree>
      <p:nvGrpSpPr>
        <p:cNvPr id="1" name=""/>
        <p:cNvGrpSpPr/>
        <p:nvPr/>
      </p:nvGrpSpPr>
      <p:grpSpPr>
        <a:xfrm>
          <a:off x="0" y="0"/>
          <a:ext cx="0" cy="0"/>
          <a:chOff x="0" y="0"/>
          <a:chExt cx="0" cy="0"/>
        </a:xfrm>
      </p:grpSpPr>
      <p:sp>
        <p:nvSpPr>
          <p:cNvPr id="2" name="Text 0"/>
          <p:cNvSpPr txBox="1"/>
          <p:nvPr/>
        </p:nvSpPr>
        <p:spPr>
          <a:xfrm>
            <a:off x="914400" y="1874520"/>
            <a:ext cx="10332720" cy="320040"/>
          </a:xfrm>
          <a:prstGeom prst="rect">
            <a:avLst/>
          </a:prstGeom>
          <a:noFill/>
          <a:ln/>
        </p:spPr>
        <p:txBody>
          <a:bodyPr wrap="square" lIns="0" tIns="0" rIns="0" bIns="0" rtlCol="0" anchor="ctr"/>
          <a:lstStyle/>
          <a:p>
            <a:pPr marL="0" indent="0">
              <a:buNone/>
            </a:pPr>
            <a:r>
              <a:rPr lang="en-GB" sz="1300" b="1" kern="0" spc="200" noProof="0" dirty="0">
                <a:solidFill>
                  <a:srgbClr val="9FC2E8"/>
                </a:solidFill>
                <a:latin typeface="Calibri" pitchFamily="34" charset="0"/>
                <a:ea typeface="Calibri" pitchFamily="34" charset="-122"/>
                <a:cs typeface="Calibri" pitchFamily="34" charset="-120"/>
              </a:rPr>
              <a:t>F R O N T L I N E   H C P   M O D U L E</a:t>
            </a:r>
            <a:endParaRPr lang="en-GB" sz="1300" noProof="0" dirty="0"/>
          </a:p>
        </p:txBody>
      </p:sp>
      <p:sp>
        <p:nvSpPr>
          <p:cNvPr id="3" name="Text 1"/>
          <p:cNvSpPr txBox="1"/>
          <p:nvPr/>
        </p:nvSpPr>
        <p:spPr>
          <a:xfrm>
            <a:off x="914400" y="2286000"/>
            <a:ext cx="10332720" cy="1005840"/>
          </a:xfrm>
          <a:prstGeom prst="rect">
            <a:avLst/>
          </a:prstGeom>
          <a:noFill/>
          <a:ln/>
        </p:spPr>
        <p:txBody>
          <a:bodyPr wrap="square" lIns="0" tIns="0" rIns="0" bIns="0" rtlCol="0" anchor="ctr"/>
          <a:lstStyle/>
          <a:p>
            <a:pPr marL="0" indent="0">
              <a:buNone/>
            </a:pPr>
            <a:r>
              <a:rPr lang="en-GB" sz="5400" b="1" noProof="0" dirty="0">
                <a:solidFill>
                  <a:srgbClr val="FFFFFF"/>
                </a:solidFill>
                <a:latin typeface="Calibri" pitchFamily="34" charset="0"/>
                <a:ea typeface="Calibri" pitchFamily="34" charset="-122"/>
                <a:cs typeface="Calibri" pitchFamily="34" charset="-120"/>
              </a:rPr>
              <a:t>Breast Cancer</a:t>
            </a:r>
            <a:endParaRPr lang="en-GB" sz="5400" noProof="0" dirty="0"/>
          </a:p>
        </p:txBody>
      </p:sp>
      <p:sp>
        <p:nvSpPr>
          <p:cNvPr id="4" name="Text 2"/>
          <p:cNvSpPr txBox="1"/>
          <p:nvPr/>
        </p:nvSpPr>
        <p:spPr>
          <a:xfrm>
            <a:off x="914400" y="3429000"/>
            <a:ext cx="8595360" cy="822960"/>
          </a:xfrm>
          <a:prstGeom prst="rect">
            <a:avLst/>
          </a:prstGeom>
          <a:noFill/>
          <a:ln/>
        </p:spPr>
        <p:txBody>
          <a:bodyPr wrap="square" lIns="0" tIns="0" rIns="0" bIns="0" rtlCol="0" anchor="ctr"/>
          <a:lstStyle/>
          <a:p>
            <a:pPr marL="0" indent="0">
              <a:lnSpc>
                <a:spcPct val="100000"/>
              </a:lnSpc>
              <a:buNone/>
            </a:pPr>
            <a:r>
              <a:rPr lang="en-GB" sz="2000" noProof="0" dirty="0">
                <a:solidFill>
                  <a:srgbClr val="CFE0F4"/>
                </a:solidFill>
                <a:latin typeface="Calibri" pitchFamily="34" charset="0"/>
                <a:ea typeface="Calibri" pitchFamily="34" charset="-122"/>
                <a:cs typeface="Calibri" pitchFamily="34" charset="-120"/>
              </a:rPr>
              <a:t>Your interactive learning journey: recognise, assess, refer, explain, support.</a:t>
            </a:r>
            <a:endParaRPr lang="en-GB" sz="2000" noProof="0" dirty="0"/>
          </a:p>
        </p:txBody>
      </p:sp>
      <p:sp>
        <p:nvSpPr>
          <p:cNvPr id="5" name="Shape 3"/>
          <p:cNvSpPr/>
          <p:nvPr/>
        </p:nvSpPr>
        <p:spPr>
          <a:xfrm>
            <a:off x="914400" y="4526280"/>
            <a:ext cx="1371600" cy="402336"/>
          </a:xfrm>
          <a:prstGeom prst="roundRect">
            <a:avLst>
              <a:gd name="adj" fmla="val 18182"/>
            </a:avLst>
          </a:prstGeom>
          <a:solidFill>
            <a:srgbClr val="1D4C86"/>
          </a:solidFill>
          <a:ln/>
        </p:spPr>
        <p:txBody>
          <a:bodyPr/>
          <a:lstStyle/>
          <a:p>
            <a:endParaRPr lang="en-GB" noProof="0" dirty="0"/>
          </a:p>
        </p:txBody>
      </p:sp>
      <p:sp>
        <p:nvSpPr>
          <p:cNvPr id="6" name="Text 4"/>
          <p:cNvSpPr txBox="1"/>
          <p:nvPr/>
        </p:nvSpPr>
        <p:spPr>
          <a:xfrm>
            <a:off x="914400" y="4526280"/>
            <a:ext cx="1371600" cy="402336"/>
          </a:xfrm>
          <a:prstGeom prst="rect">
            <a:avLst/>
          </a:prstGeom>
          <a:noFill/>
          <a:ln/>
        </p:spPr>
        <p:txBody>
          <a:bodyPr wrap="square" lIns="0" tIns="0" rIns="0" bIns="0" rtlCol="0" anchor="ctr"/>
          <a:lstStyle/>
          <a:p>
            <a:pPr marL="0" indent="0" algn="ctr">
              <a:buNone/>
            </a:pPr>
            <a:r>
              <a:rPr lang="en-GB" sz="1400" b="1" noProof="0" dirty="0">
                <a:solidFill>
                  <a:srgbClr val="FFFFFF"/>
                </a:solidFill>
                <a:latin typeface="Calibri" pitchFamily="34" charset="0"/>
                <a:ea typeface="Calibri" pitchFamily="34" charset="-122"/>
                <a:cs typeface="Calibri" pitchFamily="34" charset="-120"/>
              </a:rPr>
              <a:t>English</a:t>
            </a:r>
            <a:endParaRPr lang="en-GB" sz="1400" noProof="0" dirty="0"/>
          </a:p>
        </p:txBody>
      </p:sp>
      <p:sp>
        <p:nvSpPr>
          <p:cNvPr id="7" name="Text 5"/>
          <p:cNvSpPr txBox="1"/>
          <p:nvPr/>
        </p:nvSpPr>
        <p:spPr>
          <a:xfrm>
            <a:off x="914400" y="5120640"/>
            <a:ext cx="7315200" cy="320040"/>
          </a:xfrm>
          <a:prstGeom prst="rect">
            <a:avLst/>
          </a:prstGeom>
          <a:noFill/>
          <a:ln/>
        </p:spPr>
        <p:txBody>
          <a:bodyPr wrap="square" lIns="0" tIns="0" rIns="0" bIns="0" rtlCol="0" anchor="ctr"/>
          <a:lstStyle/>
          <a:p>
            <a:pPr marL="0" indent="0">
              <a:buNone/>
            </a:pPr>
            <a:r>
              <a:rPr lang="en-GB" sz="1500" noProof="0" dirty="0">
                <a:solidFill>
                  <a:srgbClr val="9FC2E8"/>
                </a:solidFill>
                <a:latin typeface="Calibri" pitchFamily="34" charset="0"/>
                <a:ea typeface="Calibri" pitchFamily="34" charset="-122"/>
                <a:cs typeface="Calibri" pitchFamily="34" charset="-120"/>
              </a:rPr>
              <a:t>Rwanda Biomedical Centre</a:t>
            </a:r>
            <a:endParaRPr lang="en-GB" sz="1500" noProof="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en-GB" sz="1100" b="1" kern="0" spc="100" noProof="0" dirty="0">
                <a:solidFill>
                  <a:srgbClr val="5B7699"/>
                </a:solidFill>
                <a:latin typeface="Calibri" pitchFamily="34" charset="0"/>
                <a:ea typeface="Calibri" pitchFamily="34" charset="-122"/>
                <a:cs typeface="Calibri" pitchFamily="34" charset="-120"/>
              </a:rPr>
              <a:t>F R O N T L I N E   H C P   M O D U L E</a:t>
            </a:r>
            <a:endParaRPr lang="en-GB"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en-GB" sz="1000" noProof="0" dirty="0">
                <a:solidFill>
                  <a:srgbClr val="5B7699"/>
                </a:solidFill>
                <a:latin typeface="Calibri" pitchFamily="34" charset="0"/>
                <a:ea typeface="Calibri" pitchFamily="34" charset="-122"/>
                <a:cs typeface="Calibri" pitchFamily="34" charset="-120"/>
              </a:rPr>
              <a:t>Breast Cancer  |  Frontline HCP  |  Rwanda Biomedical Centre</a:t>
            </a:r>
            <a:endParaRPr lang="en-GB"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en-GB" sz="3000" b="1" noProof="0" dirty="0">
                <a:solidFill>
                  <a:srgbClr val="12315B"/>
                </a:solidFill>
                <a:latin typeface="Calibri" pitchFamily="34" charset="0"/>
                <a:ea typeface="Calibri" pitchFamily="34" charset="-122"/>
                <a:cs typeface="Calibri" pitchFamily="34" charset="-120"/>
              </a:rPr>
              <a:t>Module objectives</a:t>
            </a:r>
            <a:endParaRPr lang="en-GB" sz="3000" noProof="0" dirty="0"/>
          </a:p>
        </p:txBody>
      </p:sp>
      <p:sp>
        <p:nvSpPr>
          <p:cNvPr id="5" name="Shape 3"/>
          <p:cNvSpPr/>
          <p:nvPr/>
        </p:nvSpPr>
        <p:spPr>
          <a:xfrm>
            <a:off x="548640" y="1417320"/>
            <a:ext cx="3527450" cy="2180844"/>
          </a:xfrm>
          <a:prstGeom prst="roundRect">
            <a:avLst>
              <a:gd name="adj" fmla="val 2516"/>
            </a:avLst>
          </a:prstGeom>
          <a:solidFill>
            <a:srgbClr val="F4F8FC"/>
          </a:solidFill>
          <a:ln w="12700">
            <a:solidFill>
              <a:srgbClr val="C8D8EC"/>
            </a:solidFill>
            <a:prstDash val="solid"/>
          </a:ln>
        </p:spPr>
        <p:txBody>
          <a:bodyPr/>
          <a:lstStyle/>
          <a:p>
            <a:endParaRPr lang="en-GB" noProof="0" dirty="0"/>
          </a:p>
        </p:txBody>
      </p:sp>
      <p:sp>
        <p:nvSpPr>
          <p:cNvPr id="6" name="Text 4"/>
          <p:cNvSpPr txBox="1"/>
          <p:nvPr/>
        </p:nvSpPr>
        <p:spPr>
          <a:xfrm>
            <a:off x="713232" y="1508760"/>
            <a:ext cx="3198266" cy="292608"/>
          </a:xfrm>
          <a:prstGeom prst="rect">
            <a:avLst/>
          </a:prstGeom>
          <a:noFill/>
          <a:ln/>
        </p:spPr>
        <p:txBody>
          <a:bodyPr wrap="square" lIns="0" tIns="0" rIns="0" bIns="0" rtlCol="0" anchor="t"/>
          <a:lstStyle/>
          <a:p>
            <a:pPr marL="0" indent="0">
              <a:buNone/>
            </a:pPr>
            <a:r>
              <a:rPr lang="en-GB" sz="1700" b="1" noProof="0" dirty="0">
                <a:solidFill>
                  <a:srgbClr val="12315B"/>
                </a:solidFill>
                <a:latin typeface="Calibri" pitchFamily="34" charset="0"/>
                <a:ea typeface="Calibri" pitchFamily="34" charset="-122"/>
                <a:cs typeface="Calibri" pitchFamily="34" charset="-120"/>
              </a:rPr>
              <a:t>Recognise</a:t>
            </a:r>
            <a:endParaRPr lang="en-GB" sz="1700" noProof="0" dirty="0"/>
          </a:p>
        </p:txBody>
      </p:sp>
      <p:sp>
        <p:nvSpPr>
          <p:cNvPr id="7" name="Text 5"/>
          <p:cNvSpPr txBox="1"/>
          <p:nvPr/>
        </p:nvSpPr>
        <p:spPr>
          <a:xfrm>
            <a:off x="713232" y="1847088"/>
            <a:ext cx="3198266" cy="1696212"/>
          </a:xfrm>
          <a:prstGeom prst="rect">
            <a:avLst/>
          </a:prstGeom>
          <a:noFill/>
          <a:ln/>
        </p:spPr>
        <p:txBody>
          <a:bodyPr wrap="square" lIns="0" tIns="0" rIns="0" bIns="0" rtlCol="0" anchor="t"/>
          <a:lstStyle/>
          <a:p>
            <a:pPr marL="0" indent="0">
              <a:lnSpc>
                <a:spcPct val="90000"/>
              </a:lnSpc>
              <a:buNone/>
            </a:pPr>
            <a:r>
              <a:rPr lang="en-GB" sz="1800" noProof="0" dirty="0">
                <a:solidFill>
                  <a:srgbClr val="1F3A63"/>
                </a:solidFill>
                <a:latin typeface="Calibri" pitchFamily="34" charset="0"/>
                <a:ea typeface="Calibri" pitchFamily="34" charset="-122"/>
                <a:cs typeface="Calibri" pitchFamily="34" charset="-120"/>
              </a:rPr>
              <a:t>Recognise breast cancer risk and the breast changes that need assessment, including urgent findings.</a:t>
            </a:r>
            <a:endParaRPr lang="en-GB" sz="1800" noProof="0" dirty="0"/>
          </a:p>
        </p:txBody>
      </p:sp>
      <p:sp>
        <p:nvSpPr>
          <p:cNvPr id="8" name="Shape 6"/>
          <p:cNvSpPr/>
          <p:nvPr/>
        </p:nvSpPr>
        <p:spPr>
          <a:xfrm>
            <a:off x="4332122" y="1417320"/>
            <a:ext cx="3527450" cy="2180844"/>
          </a:xfrm>
          <a:prstGeom prst="roundRect">
            <a:avLst>
              <a:gd name="adj" fmla="val 2516"/>
            </a:avLst>
          </a:prstGeom>
          <a:solidFill>
            <a:srgbClr val="F4F8FC"/>
          </a:solidFill>
          <a:ln w="12700">
            <a:solidFill>
              <a:srgbClr val="C8D8EC"/>
            </a:solidFill>
            <a:prstDash val="solid"/>
          </a:ln>
        </p:spPr>
        <p:txBody>
          <a:bodyPr/>
          <a:lstStyle/>
          <a:p>
            <a:endParaRPr lang="en-GB" noProof="0" dirty="0"/>
          </a:p>
        </p:txBody>
      </p:sp>
      <p:sp>
        <p:nvSpPr>
          <p:cNvPr id="9" name="Text 7"/>
          <p:cNvSpPr txBox="1"/>
          <p:nvPr/>
        </p:nvSpPr>
        <p:spPr>
          <a:xfrm>
            <a:off x="4496714" y="1508760"/>
            <a:ext cx="3198266" cy="292608"/>
          </a:xfrm>
          <a:prstGeom prst="rect">
            <a:avLst/>
          </a:prstGeom>
          <a:noFill/>
          <a:ln/>
        </p:spPr>
        <p:txBody>
          <a:bodyPr wrap="square" lIns="0" tIns="0" rIns="0" bIns="0" rtlCol="0" anchor="t"/>
          <a:lstStyle/>
          <a:p>
            <a:pPr marL="0" indent="0">
              <a:buNone/>
            </a:pPr>
            <a:r>
              <a:rPr lang="en-GB" sz="1700" b="1" noProof="0" dirty="0">
                <a:solidFill>
                  <a:srgbClr val="12315B"/>
                </a:solidFill>
                <a:latin typeface="Calibri" pitchFamily="34" charset="0"/>
                <a:ea typeface="Calibri" pitchFamily="34" charset="-122"/>
                <a:cs typeface="Calibri" pitchFamily="34" charset="-120"/>
              </a:rPr>
              <a:t>Distinguish</a:t>
            </a:r>
            <a:endParaRPr lang="en-GB" sz="1700" noProof="0" dirty="0"/>
          </a:p>
        </p:txBody>
      </p:sp>
      <p:sp>
        <p:nvSpPr>
          <p:cNvPr id="10" name="Text 8"/>
          <p:cNvSpPr txBox="1"/>
          <p:nvPr/>
        </p:nvSpPr>
        <p:spPr>
          <a:xfrm>
            <a:off x="4496714" y="1847088"/>
            <a:ext cx="3198266" cy="1696212"/>
          </a:xfrm>
          <a:prstGeom prst="rect">
            <a:avLst/>
          </a:prstGeom>
          <a:noFill/>
          <a:ln/>
        </p:spPr>
        <p:txBody>
          <a:bodyPr wrap="square" lIns="0" tIns="0" rIns="0" bIns="0" rtlCol="0" anchor="t"/>
          <a:lstStyle/>
          <a:p>
            <a:pPr marL="0" indent="0">
              <a:lnSpc>
                <a:spcPct val="90000"/>
              </a:lnSpc>
              <a:buNone/>
            </a:pPr>
            <a:r>
              <a:rPr lang="en-GB" sz="1800" noProof="0" dirty="0">
                <a:solidFill>
                  <a:srgbClr val="1F3A63"/>
                </a:solidFill>
                <a:latin typeface="Calibri" pitchFamily="34" charset="0"/>
                <a:ea typeface="Calibri" pitchFamily="34" charset="-122"/>
                <a:cs typeface="Calibri" pitchFamily="34" charset="-120"/>
              </a:rPr>
              <a:t>Distinguish screening of a person without symptoms from assessment of a person with a breast change.</a:t>
            </a:r>
            <a:endParaRPr lang="en-GB" sz="1800" noProof="0" dirty="0"/>
          </a:p>
        </p:txBody>
      </p:sp>
      <p:sp>
        <p:nvSpPr>
          <p:cNvPr id="11" name="Shape 9"/>
          <p:cNvSpPr/>
          <p:nvPr/>
        </p:nvSpPr>
        <p:spPr>
          <a:xfrm>
            <a:off x="8115605" y="1417320"/>
            <a:ext cx="3527450" cy="2180844"/>
          </a:xfrm>
          <a:prstGeom prst="roundRect">
            <a:avLst>
              <a:gd name="adj" fmla="val 2516"/>
            </a:avLst>
          </a:prstGeom>
          <a:solidFill>
            <a:srgbClr val="F4F8FC"/>
          </a:solidFill>
          <a:ln w="12700">
            <a:solidFill>
              <a:srgbClr val="C8D8EC"/>
            </a:solidFill>
            <a:prstDash val="solid"/>
          </a:ln>
        </p:spPr>
        <p:txBody>
          <a:bodyPr/>
          <a:lstStyle/>
          <a:p>
            <a:endParaRPr lang="en-GB" noProof="0" dirty="0"/>
          </a:p>
        </p:txBody>
      </p:sp>
      <p:sp>
        <p:nvSpPr>
          <p:cNvPr id="12" name="Text 10"/>
          <p:cNvSpPr txBox="1"/>
          <p:nvPr/>
        </p:nvSpPr>
        <p:spPr>
          <a:xfrm>
            <a:off x="8280197" y="1508760"/>
            <a:ext cx="3198266" cy="292608"/>
          </a:xfrm>
          <a:prstGeom prst="rect">
            <a:avLst/>
          </a:prstGeom>
          <a:noFill/>
          <a:ln/>
        </p:spPr>
        <p:txBody>
          <a:bodyPr wrap="square" lIns="0" tIns="0" rIns="0" bIns="0" rtlCol="0" anchor="t"/>
          <a:lstStyle/>
          <a:p>
            <a:pPr marL="0" indent="0">
              <a:buNone/>
            </a:pPr>
            <a:r>
              <a:rPr lang="en-GB" sz="1700" b="1" noProof="0" dirty="0">
                <a:solidFill>
                  <a:srgbClr val="12315B"/>
                </a:solidFill>
                <a:latin typeface="Calibri" pitchFamily="34" charset="0"/>
                <a:ea typeface="Calibri" pitchFamily="34" charset="-122"/>
                <a:cs typeface="Calibri" pitchFamily="34" charset="-120"/>
              </a:rPr>
              <a:t>Examine</a:t>
            </a:r>
            <a:endParaRPr lang="en-GB" sz="1700" noProof="0" dirty="0"/>
          </a:p>
        </p:txBody>
      </p:sp>
      <p:sp>
        <p:nvSpPr>
          <p:cNvPr id="13" name="Text 11"/>
          <p:cNvSpPr txBox="1"/>
          <p:nvPr/>
        </p:nvSpPr>
        <p:spPr>
          <a:xfrm>
            <a:off x="8280197" y="1847088"/>
            <a:ext cx="3198266" cy="1696212"/>
          </a:xfrm>
          <a:prstGeom prst="rect">
            <a:avLst/>
          </a:prstGeom>
          <a:noFill/>
          <a:ln/>
        </p:spPr>
        <p:txBody>
          <a:bodyPr wrap="square" lIns="0" tIns="0" rIns="0" bIns="0" rtlCol="0" anchor="t"/>
          <a:lstStyle/>
          <a:p>
            <a:pPr marL="0" indent="0">
              <a:lnSpc>
                <a:spcPct val="90000"/>
              </a:lnSpc>
              <a:buNone/>
            </a:pPr>
            <a:r>
              <a:rPr lang="en-GB" sz="1800" noProof="0" dirty="0">
                <a:solidFill>
                  <a:srgbClr val="1F3A63"/>
                </a:solidFill>
                <a:latin typeface="Calibri" pitchFamily="34" charset="0"/>
                <a:ea typeface="Calibri" pitchFamily="34" charset="-122"/>
                <a:cs typeface="Calibri" pitchFamily="34" charset="-120"/>
              </a:rPr>
              <a:t>Perform and record a systematic breast and axillary examination, and teach breast self-examination.</a:t>
            </a:r>
            <a:endParaRPr lang="en-GB" sz="1800" noProof="0" dirty="0"/>
          </a:p>
        </p:txBody>
      </p:sp>
      <p:sp>
        <p:nvSpPr>
          <p:cNvPr id="14" name="Shape 12"/>
          <p:cNvSpPr/>
          <p:nvPr/>
        </p:nvSpPr>
        <p:spPr>
          <a:xfrm>
            <a:off x="548640" y="3854196"/>
            <a:ext cx="3527450" cy="2180844"/>
          </a:xfrm>
          <a:prstGeom prst="roundRect">
            <a:avLst>
              <a:gd name="adj" fmla="val 2516"/>
            </a:avLst>
          </a:prstGeom>
          <a:solidFill>
            <a:srgbClr val="F4F8FC"/>
          </a:solidFill>
          <a:ln w="12700">
            <a:solidFill>
              <a:srgbClr val="C8D8EC"/>
            </a:solidFill>
            <a:prstDash val="solid"/>
          </a:ln>
        </p:spPr>
        <p:txBody>
          <a:bodyPr/>
          <a:lstStyle/>
          <a:p>
            <a:endParaRPr lang="en-GB" noProof="0" dirty="0"/>
          </a:p>
        </p:txBody>
      </p:sp>
      <p:sp>
        <p:nvSpPr>
          <p:cNvPr id="15" name="Text 13"/>
          <p:cNvSpPr txBox="1"/>
          <p:nvPr/>
        </p:nvSpPr>
        <p:spPr>
          <a:xfrm>
            <a:off x="713232" y="3945636"/>
            <a:ext cx="3198266" cy="292608"/>
          </a:xfrm>
          <a:prstGeom prst="rect">
            <a:avLst/>
          </a:prstGeom>
          <a:noFill/>
          <a:ln/>
        </p:spPr>
        <p:txBody>
          <a:bodyPr wrap="square" lIns="0" tIns="0" rIns="0" bIns="0" rtlCol="0" anchor="t"/>
          <a:lstStyle/>
          <a:p>
            <a:pPr marL="0" indent="0">
              <a:buNone/>
            </a:pPr>
            <a:r>
              <a:rPr lang="en-GB" sz="1700" b="1" noProof="0" dirty="0">
                <a:solidFill>
                  <a:srgbClr val="12315B"/>
                </a:solidFill>
                <a:latin typeface="Calibri" pitchFamily="34" charset="0"/>
                <a:ea typeface="Calibri" pitchFamily="34" charset="-122"/>
                <a:cs typeface="Calibri" pitchFamily="34" charset="-120"/>
              </a:rPr>
              <a:t>Explain</a:t>
            </a:r>
            <a:endParaRPr lang="en-GB" sz="1700" noProof="0" dirty="0"/>
          </a:p>
        </p:txBody>
      </p:sp>
      <p:sp>
        <p:nvSpPr>
          <p:cNvPr id="16" name="Text 14"/>
          <p:cNvSpPr txBox="1"/>
          <p:nvPr/>
        </p:nvSpPr>
        <p:spPr>
          <a:xfrm>
            <a:off x="713232" y="4283964"/>
            <a:ext cx="3198266" cy="1696212"/>
          </a:xfrm>
          <a:prstGeom prst="rect">
            <a:avLst/>
          </a:prstGeom>
          <a:noFill/>
          <a:ln/>
        </p:spPr>
        <p:txBody>
          <a:bodyPr wrap="square" lIns="0" tIns="0" rIns="0" bIns="0" rtlCol="0" anchor="t"/>
          <a:lstStyle/>
          <a:p>
            <a:pPr marL="0" indent="0">
              <a:lnSpc>
                <a:spcPct val="90000"/>
              </a:lnSpc>
              <a:buNone/>
            </a:pPr>
            <a:r>
              <a:rPr lang="en-GB" sz="1800" noProof="0" dirty="0">
                <a:solidFill>
                  <a:srgbClr val="1F3A63"/>
                </a:solidFill>
                <a:latin typeface="Calibri" pitchFamily="34" charset="0"/>
                <a:ea typeface="Calibri" pitchFamily="34" charset="-122"/>
                <a:cs typeface="Calibri" pitchFamily="34" charset="-120"/>
              </a:rPr>
              <a:t>Explain what an abnormal imaging result means, without stating that cancer is present or absent.</a:t>
            </a:r>
            <a:endParaRPr lang="en-GB" sz="1800" noProof="0" dirty="0"/>
          </a:p>
        </p:txBody>
      </p:sp>
      <p:sp>
        <p:nvSpPr>
          <p:cNvPr id="17" name="Shape 15"/>
          <p:cNvSpPr/>
          <p:nvPr/>
        </p:nvSpPr>
        <p:spPr>
          <a:xfrm>
            <a:off x="4332122" y="3854196"/>
            <a:ext cx="3527450" cy="2180844"/>
          </a:xfrm>
          <a:prstGeom prst="roundRect">
            <a:avLst>
              <a:gd name="adj" fmla="val 2516"/>
            </a:avLst>
          </a:prstGeom>
          <a:solidFill>
            <a:srgbClr val="F4F8FC"/>
          </a:solidFill>
          <a:ln w="12700">
            <a:solidFill>
              <a:srgbClr val="C8D8EC"/>
            </a:solidFill>
            <a:prstDash val="solid"/>
          </a:ln>
        </p:spPr>
        <p:txBody>
          <a:bodyPr/>
          <a:lstStyle/>
          <a:p>
            <a:endParaRPr lang="en-GB" noProof="0" dirty="0"/>
          </a:p>
        </p:txBody>
      </p:sp>
      <p:sp>
        <p:nvSpPr>
          <p:cNvPr id="18" name="Text 16"/>
          <p:cNvSpPr txBox="1"/>
          <p:nvPr/>
        </p:nvSpPr>
        <p:spPr>
          <a:xfrm>
            <a:off x="4496714" y="3945636"/>
            <a:ext cx="3198266" cy="292608"/>
          </a:xfrm>
          <a:prstGeom prst="rect">
            <a:avLst/>
          </a:prstGeom>
          <a:noFill/>
          <a:ln/>
        </p:spPr>
        <p:txBody>
          <a:bodyPr wrap="square" lIns="0" tIns="0" rIns="0" bIns="0" rtlCol="0" anchor="t"/>
          <a:lstStyle/>
          <a:p>
            <a:pPr marL="0" indent="0">
              <a:buNone/>
            </a:pPr>
            <a:r>
              <a:rPr lang="en-GB" sz="1700" b="1" noProof="0" dirty="0">
                <a:solidFill>
                  <a:srgbClr val="12315B"/>
                </a:solidFill>
                <a:latin typeface="Calibri" pitchFamily="34" charset="0"/>
                <a:ea typeface="Calibri" pitchFamily="34" charset="-122"/>
                <a:cs typeface="Calibri" pitchFamily="34" charset="-120"/>
              </a:rPr>
              <a:t>Refer</a:t>
            </a:r>
            <a:endParaRPr lang="en-GB" sz="1700" noProof="0" dirty="0"/>
          </a:p>
        </p:txBody>
      </p:sp>
      <p:sp>
        <p:nvSpPr>
          <p:cNvPr id="19" name="Text 17"/>
          <p:cNvSpPr txBox="1"/>
          <p:nvPr/>
        </p:nvSpPr>
        <p:spPr>
          <a:xfrm>
            <a:off x="4496714" y="4283964"/>
            <a:ext cx="3198266" cy="1696212"/>
          </a:xfrm>
          <a:prstGeom prst="rect">
            <a:avLst/>
          </a:prstGeom>
          <a:noFill/>
          <a:ln/>
        </p:spPr>
        <p:txBody>
          <a:bodyPr wrap="square" lIns="0" tIns="0" rIns="0" bIns="0" rtlCol="0" anchor="t"/>
          <a:lstStyle/>
          <a:p>
            <a:pPr marL="0" indent="0">
              <a:lnSpc>
                <a:spcPct val="90000"/>
              </a:lnSpc>
              <a:buNone/>
            </a:pPr>
            <a:r>
              <a:rPr lang="en-GB" sz="1800" noProof="0" dirty="0">
                <a:solidFill>
                  <a:srgbClr val="1F3A63"/>
                </a:solidFill>
                <a:latin typeface="Calibri" pitchFamily="34" charset="0"/>
                <a:ea typeface="Calibri" pitchFamily="34" charset="-122"/>
                <a:cs typeface="Calibri" pitchFamily="34" charset="-120"/>
              </a:rPr>
              <a:t>Refer with the right urgency, counsel with care, and record what the cancer registry needs.</a:t>
            </a:r>
            <a:endParaRPr lang="en-GB" sz="1800" noProof="0" dirty="0"/>
          </a:p>
        </p:txBody>
      </p:sp>
      <p:sp>
        <p:nvSpPr>
          <p:cNvPr id="20" name="Shape 18"/>
          <p:cNvSpPr/>
          <p:nvPr/>
        </p:nvSpPr>
        <p:spPr>
          <a:xfrm>
            <a:off x="8115605" y="3854196"/>
            <a:ext cx="3527450" cy="2180844"/>
          </a:xfrm>
          <a:prstGeom prst="roundRect">
            <a:avLst>
              <a:gd name="adj" fmla="val 2516"/>
            </a:avLst>
          </a:prstGeom>
          <a:solidFill>
            <a:srgbClr val="F4F8FC"/>
          </a:solidFill>
          <a:ln w="12700">
            <a:solidFill>
              <a:srgbClr val="C8D8EC"/>
            </a:solidFill>
            <a:prstDash val="solid"/>
          </a:ln>
        </p:spPr>
        <p:txBody>
          <a:bodyPr/>
          <a:lstStyle/>
          <a:p>
            <a:endParaRPr lang="en-GB" noProof="0" dirty="0"/>
          </a:p>
        </p:txBody>
      </p:sp>
      <p:sp>
        <p:nvSpPr>
          <p:cNvPr id="21" name="Text 19"/>
          <p:cNvSpPr txBox="1"/>
          <p:nvPr/>
        </p:nvSpPr>
        <p:spPr>
          <a:xfrm>
            <a:off x="8280197" y="3945636"/>
            <a:ext cx="3198266" cy="292608"/>
          </a:xfrm>
          <a:prstGeom prst="rect">
            <a:avLst/>
          </a:prstGeom>
          <a:noFill/>
          <a:ln/>
        </p:spPr>
        <p:txBody>
          <a:bodyPr wrap="square" lIns="0" tIns="0" rIns="0" bIns="0" rtlCol="0" anchor="t"/>
          <a:lstStyle/>
          <a:p>
            <a:pPr marL="0" indent="0">
              <a:buNone/>
            </a:pPr>
            <a:r>
              <a:rPr lang="en-GB" sz="1700" b="1" noProof="0" dirty="0">
                <a:solidFill>
                  <a:srgbClr val="12315B"/>
                </a:solidFill>
                <a:latin typeface="Calibri" pitchFamily="34" charset="0"/>
                <a:ea typeface="Calibri" pitchFamily="34" charset="-122"/>
                <a:cs typeface="Calibri" pitchFamily="34" charset="-120"/>
              </a:rPr>
              <a:t>Support</a:t>
            </a:r>
            <a:endParaRPr lang="en-GB" sz="1700" noProof="0" dirty="0"/>
          </a:p>
        </p:txBody>
      </p:sp>
      <p:sp>
        <p:nvSpPr>
          <p:cNvPr id="22" name="Text 20"/>
          <p:cNvSpPr txBox="1"/>
          <p:nvPr/>
        </p:nvSpPr>
        <p:spPr>
          <a:xfrm>
            <a:off x="8280197" y="4283964"/>
            <a:ext cx="3198266" cy="1696212"/>
          </a:xfrm>
          <a:prstGeom prst="rect">
            <a:avLst/>
          </a:prstGeom>
          <a:noFill/>
          <a:ln/>
        </p:spPr>
        <p:txBody>
          <a:bodyPr wrap="square" lIns="0" tIns="0" rIns="0" bIns="0" rtlCol="0" anchor="t"/>
          <a:lstStyle/>
          <a:p>
            <a:pPr marL="0" indent="0">
              <a:lnSpc>
                <a:spcPct val="90000"/>
              </a:lnSpc>
              <a:buNone/>
            </a:pPr>
            <a:r>
              <a:rPr lang="en-GB" sz="1800" noProof="0" dirty="0">
                <a:solidFill>
                  <a:srgbClr val="1F3A63"/>
                </a:solidFill>
                <a:latin typeface="Calibri" pitchFamily="34" charset="0"/>
                <a:ea typeface="Calibri" pitchFamily="34" charset="-122"/>
                <a:cs typeface="Calibri" pitchFamily="34" charset="-120"/>
              </a:rPr>
              <a:t>Support treatment effects, lymphoedema, palliative care, survivorship and follow-up.</a:t>
            </a:r>
            <a:endParaRPr lang="en-GB" sz="1800" noProof="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en-GB" sz="1100" b="1" kern="0" spc="100" noProof="0" dirty="0">
                <a:solidFill>
                  <a:srgbClr val="5B7699"/>
                </a:solidFill>
                <a:latin typeface="Calibri" pitchFamily="34" charset="0"/>
                <a:ea typeface="Calibri" pitchFamily="34" charset="-122"/>
                <a:cs typeface="Calibri" pitchFamily="34" charset="-120"/>
              </a:rPr>
              <a:t>F R O N T L I N E   H C P   M O D U L E</a:t>
            </a:r>
            <a:endParaRPr lang="en-GB"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en-GB" sz="1000" noProof="0" dirty="0">
                <a:solidFill>
                  <a:srgbClr val="5B7699"/>
                </a:solidFill>
                <a:latin typeface="Calibri" pitchFamily="34" charset="0"/>
                <a:ea typeface="Calibri" pitchFamily="34" charset="-122"/>
                <a:cs typeface="Calibri" pitchFamily="34" charset="-120"/>
              </a:rPr>
              <a:t>Breast Cancer  |  Frontline HCP  |  Rwanda Biomedical Centre</a:t>
            </a:r>
            <a:endParaRPr lang="en-GB"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en-GB" sz="3000" b="1" noProof="0" dirty="0">
                <a:solidFill>
                  <a:srgbClr val="12315B"/>
                </a:solidFill>
                <a:latin typeface="Calibri" pitchFamily="34" charset="0"/>
                <a:ea typeface="Calibri" pitchFamily="34" charset="-122"/>
                <a:cs typeface="Calibri" pitchFamily="34" charset="-120"/>
              </a:rPr>
              <a:t>What is inside</a:t>
            </a:r>
            <a:endParaRPr lang="en-GB" sz="3000" noProof="0" dirty="0"/>
          </a:p>
        </p:txBody>
      </p:sp>
      <p:sp>
        <p:nvSpPr>
          <p:cNvPr id="5" name="Shape 3"/>
          <p:cNvSpPr/>
          <p:nvPr/>
        </p:nvSpPr>
        <p:spPr>
          <a:xfrm>
            <a:off x="548640" y="1417320"/>
            <a:ext cx="3527450" cy="2180844"/>
          </a:xfrm>
          <a:prstGeom prst="roundRect">
            <a:avLst>
              <a:gd name="adj" fmla="val 2516"/>
            </a:avLst>
          </a:prstGeom>
          <a:solidFill>
            <a:srgbClr val="F4F8FC"/>
          </a:solidFill>
          <a:ln w="12700">
            <a:solidFill>
              <a:srgbClr val="C8D8EC"/>
            </a:solidFill>
            <a:prstDash val="solid"/>
          </a:ln>
        </p:spPr>
        <p:txBody>
          <a:bodyPr/>
          <a:lstStyle/>
          <a:p>
            <a:endParaRPr lang="en-GB" noProof="0" dirty="0"/>
          </a:p>
        </p:txBody>
      </p:sp>
      <p:sp>
        <p:nvSpPr>
          <p:cNvPr id="6" name="Text 4"/>
          <p:cNvSpPr txBox="1"/>
          <p:nvPr/>
        </p:nvSpPr>
        <p:spPr>
          <a:xfrm>
            <a:off x="713232" y="1508760"/>
            <a:ext cx="3198266" cy="292608"/>
          </a:xfrm>
          <a:prstGeom prst="rect">
            <a:avLst/>
          </a:prstGeom>
          <a:noFill/>
          <a:ln/>
        </p:spPr>
        <p:txBody>
          <a:bodyPr wrap="square" lIns="0" tIns="0" rIns="0" bIns="0" rtlCol="0" anchor="t"/>
          <a:lstStyle/>
          <a:p>
            <a:pPr marL="0" indent="0">
              <a:buNone/>
            </a:pPr>
            <a:r>
              <a:rPr lang="en-GB" sz="1700" b="1" noProof="0" dirty="0">
                <a:solidFill>
                  <a:srgbClr val="12315B"/>
                </a:solidFill>
                <a:latin typeface="Calibri" pitchFamily="34" charset="0"/>
                <a:ea typeface="Calibri" pitchFamily="34" charset="-122"/>
                <a:cs typeface="Calibri" pitchFamily="34" charset="-120"/>
              </a:rPr>
              <a:t>Pre-test</a:t>
            </a:r>
            <a:endParaRPr lang="en-GB" sz="1700" noProof="0" dirty="0"/>
          </a:p>
        </p:txBody>
      </p:sp>
      <p:sp>
        <p:nvSpPr>
          <p:cNvPr id="7" name="Text 5"/>
          <p:cNvSpPr txBox="1"/>
          <p:nvPr/>
        </p:nvSpPr>
        <p:spPr>
          <a:xfrm>
            <a:off x="713232" y="1847088"/>
            <a:ext cx="3198266" cy="1696212"/>
          </a:xfrm>
          <a:prstGeom prst="rect">
            <a:avLst/>
          </a:prstGeom>
          <a:noFill/>
          <a:ln/>
        </p:spPr>
        <p:txBody>
          <a:bodyPr wrap="square" lIns="0" tIns="0" rIns="0" bIns="0" rtlCol="0" anchor="t"/>
          <a:lstStyle/>
          <a:p>
            <a:pPr marL="0" indent="0">
              <a:lnSpc>
                <a:spcPct val="90000"/>
              </a:lnSpc>
              <a:buNone/>
            </a:pPr>
            <a:r>
              <a:rPr lang="en-GB" sz="1800" noProof="0" dirty="0">
                <a:solidFill>
                  <a:srgbClr val="1F3A63"/>
                </a:solidFill>
                <a:latin typeface="Calibri" pitchFamily="34" charset="0"/>
                <a:ea typeface="Calibri" pitchFamily="34" charset="-122"/>
                <a:cs typeface="Calibri" pitchFamily="34" charset="-120"/>
              </a:rPr>
              <a:t>Twenty short questions to check your starting point. Not graded for you.</a:t>
            </a:r>
            <a:endParaRPr lang="en-GB" sz="1800" noProof="0" dirty="0"/>
          </a:p>
        </p:txBody>
      </p:sp>
      <p:sp>
        <p:nvSpPr>
          <p:cNvPr id="8" name="Shape 6"/>
          <p:cNvSpPr/>
          <p:nvPr/>
        </p:nvSpPr>
        <p:spPr>
          <a:xfrm>
            <a:off x="4332122" y="1417320"/>
            <a:ext cx="3527450" cy="2180844"/>
          </a:xfrm>
          <a:prstGeom prst="roundRect">
            <a:avLst>
              <a:gd name="adj" fmla="val 2516"/>
            </a:avLst>
          </a:prstGeom>
          <a:solidFill>
            <a:srgbClr val="F4F8FC"/>
          </a:solidFill>
          <a:ln w="12700">
            <a:solidFill>
              <a:srgbClr val="C8D8EC"/>
            </a:solidFill>
            <a:prstDash val="solid"/>
          </a:ln>
        </p:spPr>
        <p:txBody>
          <a:bodyPr/>
          <a:lstStyle/>
          <a:p>
            <a:endParaRPr lang="en-GB" noProof="0" dirty="0"/>
          </a:p>
        </p:txBody>
      </p:sp>
      <p:sp>
        <p:nvSpPr>
          <p:cNvPr id="9" name="Text 7"/>
          <p:cNvSpPr txBox="1"/>
          <p:nvPr/>
        </p:nvSpPr>
        <p:spPr>
          <a:xfrm>
            <a:off x="4496714" y="1508760"/>
            <a:ext cx="3198266" cy="292608"/>
          </a:xfrm>
          <a:prstGeom prst="rect">
            <a:avLst/>
          </a:prstGeom>
          <a:noFill/>
          <a:ln/>
        </p:spPr>
        <p:txBody>
          <a:bodyPr wrap="square" lIns="0" tIns="0" rIns="0" bIns="0" rtlCol="0" anchor="t"/>
          <a:lstStyle/>
          <a:p>
            <a:pPr marL="0" indent="0">
              <a:buNone/>
            </a:pPr>
            <a:r>
              <a:rPr lang="en-GB" sz="1700" b="1" noProof="0" dirty="0">
                <a:solidFill>
                  <a:srgbClr val="12315B"/>
                </a:solidFill>
                <a:latin typeface="Calibri" pitchFamily="34" charset="0"/>
                <a:ea typeface="Calibri" pitchFamily="34" charset="-122"/>
                <a:cs typeface="Calibri" pitchFamily="34" charset="-120"/>
              </a:rPr>
              <a:t>Session 1: Understanding</a:t>
            </a:r>
            <a:endParaRPr lang="en-GB" sz="1700" noProof="0" dirty="0"/>
          </a:p>
        </p:txBody>
      </p:sp>
      <p:sp>
        <p:nvSpPr>
          <p:cNvPr id="10" name="Text 8"/>
          <p:cNvSpPr txBox="1"/>
          <p:nvPr/>
        </p:nvSpPr>
        <p:spPr>
          <a:xfrm>
            <a:off x="4496714" y="1847088"/>
            <a:ext cx="3198266" cy="1696212"/>
          </a:xfrm>
          <a:prstGeom prst="rect">
            <a:avLst/>
          </a:prstGeom>
          <a:noFill/>
          <a:ln/>
        </p:spPr>
        <p:txBody>
          <a:bodyPr wrap="square" lIns="0" tIns="0" rIns="0" bIns="0" rtlCol="0" anchor="t"/>
          <a:lstStyle/>
          <a:p>
            <a:pPr marL="0" indent="0">
              <a:lnSpc>
                <a:spcPct val="90000"/>
              </a:lnSpc>
              <a:buNone/>
            </a:pPr>
            <a:r>
              <a:rPr lang="en-GB" sz="1800" noProof="0" dirty="0">
                <a:solidFill>
                  <a:srgbClr val="1F3A63"/>
                </a:solidFill>
                <a:latin typeface="Calibri" pitchFamily="34" charset="0"/>
                <a:ea typeface="Calibri" pitchFamily="34" charset="-122"/>
                <a:cs typeface="Calibri" pitchFamily="34" charset="-120"/>
              </a:rPr>
              <a:t>What breast cancer is, how it develops, how common it is, the types and subtypes, stage and grade.</a:t>
            </a:r>
            <a:endParaRPr lang="en-GB" sz="1800" noProof="0" dirty="0"/>
          </a:p>
        </p:txBody>
      </p:sp>
      <p:sp>
        <p:nvSpPr>
          <p:cNvPr id="11" name="Shape 9"/>
          <p:cNvSpPr/>
          <p:nvPr/>
        </p:nvSpPr>
        <p:spPr>
          <a:xfrm>
            <a:off x="8115605" y="1417320"/>
            <a:ext cx="3527450" cy="2180844"/>
          </a:xfrm>
          <a:prstGeom prst="roundRect">
            <a:avLst>
              <a:gd name="adj" fmla="val 2516"/>
            </a:avLst>
          </a:prstGeom>
          <a:solidFill>
            <a:srgbClr val="F4F8FC"/>
          </a:solidFill>
          <a:ln w="12700">
            <a:solidFill>
              <a:srgbClr val="C8D8EC"/>
            </a:solidFill>
            <a:prstDash val="solid"/>
          </a:ln>
        </p:spPr>
        <p:txBody>
          <a:bodyPr/>
          <a:lstStyle/>
          <a:p>
            <a:endParaRPr lang="en-GB" noProof="0" dirty="0"/>
          </a:p>
        </p:txBody>
      </p:sp>
      <p:sp>
        <p:nvSpPr>
          <p:cNvPr id="12" name="Text 10"/>
          <p:cNvSpPr txBox="1"/>
          <p:nvPr/>
        </p:nvSpPr>
        <p:spPr>
          <a:xfrm>
            <a:off x="8280197" y="1508760"/>
            <a:ext cx="3198266" cy="292608"/>
          </a:xfrm>
          <a:prstGeom prst="rect">
            <a:avLst/>
          </a:prstGeom>
          <a:noFill/>
          <a:ln/>
        </p:spPr>
        <p:txBody>
          <a:bodyPr wrap="square" lIns="0" tIns="0" rIns="0" bIns="0" rtlCol="0" anchor="t"/>
          <a:lstStyle/>
          <a:p>
            <a:pPr marL="0" indent="0">
              <a:buNone/>
            </a:pPr>
            <a:r>
              <a:rPr lang="en-GB" sz="1700" b="1" noProof="0" dirty="0">
                <a:solidFill>
                  <a:srgbClr val="12315B"/>
                </a:solidFill>
                <a:latin typeface="Calibri" pitchFamily="34" charset="0"/>
                <a:ea typeface="Calibri" pitchFamily="34" charset="-122"/>
                <a:cs typeface="Calibri" pitchFamily="34" charset="-120"/>
              </a:rPr>
              <a:t>Session 2: Screening</a:t>
            </a:r>
            <a:endParaRPr lang="en-GB" sz="1700" noProof="0" dirty="0"/>
          </a:p>
        </p:txBody>
      </p:sp>
      <p:sp>
        <p:nvSpPr>
          <p:cNvPr id="13" name="Text 11"/>
          <p:cNvSpPr txBox="1"/>
          <p:nvPr/>
        </p:nvSpPr>
        <p:spPr>
          <a:xfrm>
            <a:off x="8280197" y="1847088"/>
            <a:ext cx="3198266" cy="1696212"/>
          </a:xfrm>
          <a:prstGeom prst="rect">
            <a:avLst/>
          </a:prstGeom>
          <a:noFill/>
          <a:ln/>
        </p:spPr>
        <p:txBody>
          <a:bodyPr wrap="square" lIns="0" tIns="0" rIns="0" bIns="0" rtlCol="0" anchor="t"/>
          <a:lstStyle/>
          <a:p>
            <a:pPr marL="0" indent="0">
              <a:lnSpc>
                <a:spcPct val="90000"/>
              </a:lnSpc>
              <a:buNone/>
            </a:pPr>
            <a:r>
              <a:rPr lang="en-GB" sz="1800" noProof="0" dirty="0">
                <a:solidFill>
                  <a:srgbClr val="1F3A63"/>
                </a:solidFill>
                <a:latin typeface="Calibri" pitchFamily="34" charset="0"/>
                <a:ea typeface="Calibri" pitchFamily="34" charset="-122"/>
                <a:cs typeface="Calibri" pitchFamily="34" charset="-120"/>
              </a:rPr>
              <a:t>Who is at risk, benign breast conditions, what to look for, how to examine, and what the tests can do.</a:t>
            </a:r>
            <a:endParaRPr lang="en-GB" sz="1800" noProof="0" dirty="0"/>
          </a:p>
        </p:txBody>
      </p:sp>
      <p:sp>
        <p:nvSpPr>
          <p:cNvPr id="14" name="Shape 12"/>
          <p:cNvSpPr/>
          <p:nvPr/>
        </p:nvSpPr>
        <p:spPr>
          <a:xfrm>
            <a:off x="548640" y="3854196"/>
            <a:ext cx="3527450" cy="2180844"/>
          </a:xfrm>
          <a:prstGeom prst="roundRect">
            <a:avLst>
              <a:gd name="adj" fmla="val 2516"/>
            </a:avLst>
          </a:prstGeom>
          <a:solidFill>
            <a:srgbClr val="F4F8FC"/>
          </a:solidFill>
          <a:ln w="12700">
            <a:solidFill>
              <a:srgbClr val="C8D8EC"/>
            </a:solidFill>
            <a:prstDash val="solid"/>
          </a:ln>
        </p:spPr>
        <p:txBody>
          <a:bodyPr/>
          <a:lstStyle/>
          <a:p>
            <a:endParaRPr lang="en-GB" noProof="0" dirty="0"/>
          </a:p>
        </p:txBody>
      </p:sp>
      <p:sp>
        <p:nvSpPr>
          <p:cNvPr id="15" name="Text 13"/>
          <p:cNvSpPr txBox="1"/>
          <p:nvPr/>
        </p:nvSpPr>
        <p:spPr>
          <a:xfrm>
            <a:off x="713232" y="3945636"/>
            <a:ext cx="3198266" cy="292608"/>
          </a:xfrm>
          <a:prstGeom prst="rect">
            <a:avLst/>
          </a:prstGeom>
          <a:noFill/>
          <a:ln/>
        </p:spPr>
        <p:txBody>
          <a:bodyPr wrap="square" lIns="0" tIns="0" rIns="0" bIns="0" rtlCol="0" anchor="t"/>
          <a:lstStyle/>
          <a:p>
            <a:pPr marL="0" indent="0">
              <a:buNone/>
            </a:pPr>
            <a:r>
              <a:rPr lang="en-GB" sz="1700" b="1" noProof="0" dirty="0">
                <a:solidFill>
                  <a:srgbClr val="12315B"/>
                </a:solidFill>
                <a:latin typeface="Calibri" pitchFamily="34" charset="0"/>
                <a:ea typeface="Calibri" pitchFamily="34" charset="-122"/>
                <a:cs typeface="Calibri" pitchFamily="34" charset="-120"/>
              </a:rPr>
              <a:t>Session 3: Referral and counselling</a:t>
            </a:r>
            <a:endParaRPr lang="en-GB" sz="1700" noProof="0" dirty="0"/>
          </a:p>
        </p:txBody>
      </p:sp>
      <p:sp>
        <p:nvSpPr>
          <p:cNvPr id="16" name="Text 14"/>
          <p:cNvSpPr txBox="1"/>
          <p:nvPr/>
        </p:nvSpPr>
        <p:spPr>
          <a:xfrm>
            <a:off x="713232" y="4283964"/>
            <a:ext cx="3198266" cy="1696212"/>
          </a:xfrm>
          <a:prstGeom prst="rect">
            <a:avLst/>
          </a:prstGeom>
          <a:noFill/>
          <a:ln/>
        </p:spPr>
        <p:txBody>
          <a:bodyPr wrap="square" lIns="0" tIns="0" rIns="0" bIns="0" rtlCol="0" anchor="t"/>
          <a:lstStyle/>
          <a:p>
            <a:pPr marL="0" indent="0">
              <a:lnSpc>
                <a:spcPct val="90000"/>
              </a:lnSpc>
              <a:buNone/>
            </a:pPr>
            <a:r>
              <a:rPr lang="en-GB" sz="1800" noProof="0" dirty="0">
                <a:solidFill>
                  <a:srgbClr val="1F3A63"/>
                </a:solidFill>
                <a:latin typeface="Calibri" pitchFamily="34" charset="0"/>
                <a:ea typeface="Calibri" pitchFamily="34" charset="-122"/>
                <a:cs typeface="Calibri" pitchFamily="34" charset="-120"/>
              </a:rPr>
              <a:t>How urgently to refer, what to record, and how to counsel about fear, surgery and body image.</a:t>
            </a:r>
            <a:endParaRPr lang="en-GB" sz="1800" noProof="0" dirty="0"/>
          </a:p>
        </p:txBody>
      </p:sp>
      <p:sp>
        <p:nvSpPr>
          <p:cNvPr id="17" name="Shape 15"/>
          <p:cNvSpPr/>
          <p:nvPr/>
        </p:nvSpPr>
        <p:spPr>
          <a:xfrm>
            <a:off x="4332122" y="3854196"/>
            <a:ext cx="3527450" cy="2180844"/>
          </a:xfrm>
          <a:prstGeom prst="roundRect">
            <a:avLst>
              <a:gd name="adj" fmla="val 2516"/>
            </a:avLst>
          </a:prstGeom>
          <a:solidFill>
            <a:srgbClr val="F4F8FC"/>
          </a:solidFill>
          <a:ln w="12700">
            <a:solidFill>
              <a:srgbClr val="C8D8EC"/>
            </a:solidFill>
            <a:prstDash val="solid"/>
          </a:ln>
        </p:spPr>
        <p:txBody>
          <a:bodyPr/>
          <a:lstStyle/>
          <a:p>
            <a:endParaRPr lang="en-GB" noProof="0" dirty="0"/>
          </a:p>
        </p:txBody>
      </p:sp>
      <p:sp>
        <p:nvSpPr>
          <p:cNvPr id="18" name="Text 16"/>
          <p:cNvSpPr txBox="1"/>
          <p:nvPr/>
        </p:nvSpPr>
        <p:spPr>
          <a:xfrm>
            <a:off x="4496714" y="3945636"/>
            <a:ext cx="3198266" cy="292608"/>
          </a:xfrm>
          <a:prstGeom prst="rect">
            <a:avLst/>
          </a:prstGeom>
          <a:noFill/>
          <a:ln/>
        </p:spPr>
        <p:txBody>
          <a:bodyPr wrap="square" lIns="0" tIns="0" rIns="0" bIns="0" rtlCol="0" anchor="t"/>
          <a:lstStyle/>
          <a:p>
            <a:pPr marL="0" indent="0">
              <a:buNone/>
            </a:pPr>
            <a:r>
              <a:rPr lang="en-GB" sz="1700" b="1" noProof="0" dirty="0">
                <a:solidFill>
                  <a:srgbClr val="12315B"/>
                </a:solidFill>
                <a:latin typeface="Calibri" pitchFamily="34" charset="0"/>
                <a:ea typeface="Calibri" pitchFamily="34" charset="-122"/>
                <a:cs typeface="Calibri" pitchFamily="34" charset="-120"/>
              </a:rPr>
              <a:t>Session 4: Diagnosis and treatment</a:t>
            </a:r>
            <a:endParaRPr lang="en-GB" sz="1700" noProof="0" dirty="0"/>
          </a:p>
        </p:txBody>
      </p:sp>
      <p:sp>
        <p:nvSpPr>
          <p:cNvPr id="19" name="Text 17"/>
          <p:cNvSpPr txBox="1"/>
          <p:nvPr/>
        </p:nvSpPr>
        <p:spPr>
          <a:xfrm>
            <a:off x="4496714" y="4283964"/>
            <a:ext cx="3198266" cy="1696212"/>
          </a:xfrm>
          <a:prstGeom prst="rect">
            <a:avLst/>
          </a:prstGeom>
          <a:noFill/>
          <a:ln/>
        </p:spPr>
        <p:txBody>
          <a:bodyPr wrap="square" lIns="0" tIns="0" rIns="0" bIns="0" rtlCol="0" anchor="t"/>
          <a:lstStyle/>
          <a:p>
            <a:pPr marL="0" indent="0">
              <a:lnSpc>
                <a:spcPct val="90000"/>
              </a:lnSpc>
              <a:buNone/>
            </a:pPr>
            <a:r>
              <a:rPr lang="en-GB" sz="1800" noProof="0" dirty="0">
                <a:solidFill>
                  <a:srgbClr val="1F3A63"/>
                </a:solidFill>
                <a:latin typeface="Calibri" pitchFamily="34" charset="0"/>
                <a:ea typeface="Calibri" pitchFamily="34" charset="-122"/>
                <a:cs typeface="Calibri" pitchFamily="34" charset="-120"/>
              </a:rPr>
              <a:t>How a diagnosis is confirmed, what the receptors mean, and what each treatment is for.</a:t>
            </a:r>
            <a:endParaRPr lang="en-GB" sz="1800" noProof="0" dirty="0"/>
          </a:p>
        </p:txBody>
      </p:sp>
      <p:sp>
        <p:nvSpPr>
          <p:cNvPr id="20" name="Shape 18"/>
          <p:cNvSpPr/>
          <p:nvPr/>
        </p:nvSpPr>
        <p:spPr>
          <a:xfrm>
            <a:off x="8115605" y="3854196"/>
            <a:ext cx="3527450" cy="2180844"/>
          </a:xfrm>
          <a:prstGeom prst="roundRect">
            <a:avLst>
              <a:gd name="adj" fmla="val 2516"/>
            </a:avLst>
          </a:prstGeom>
          <a:solidFill>
            <a:srgbClr val="F4F8FC"/>
          </a:solidFill>
          <a:ln w="12700">
            <a:solidFill>
              <a:srgbClr val="C8D8EC"/>
            </a:solidFill>
            <a:prstDash val="solid"/>
          </a:ln>
        </p:spPr>
        <p:txBody>
          <a:bodyPr/>
          <a:lstStyle/>
          <a:p>
            <a:endParaRPr lang="en-GB" noProof="0" dirty="0"/>
          </a:p>
        </p:txBody>
      </p:sp>
      <p:sp>
        <p:nvSpPr>
          <p:cNvPr id="21" name="Text 19"/>
          <p:cNvSpPr txBox="1"/>
          <p:nvPr/>
        </p:nvSpPr>
        <p:spPr>
          <a:xfrm>
            <a:off x="8280197" y="3945636"/>
            <a:ext cx="3198266" cy="292608"/>
          </a:xfrm>
          <a:prstGeom prst="rect">
            <a:avLst/>
          </a:prstGeom>
          <a:noFill/>
          <a:ln/>
        </p:spPr>
        <p:txBody>
          <a:bodyPr wrap="square" lIns="0" tIns="0" rIns="0" bIns="0" rtlCol="0" anchor="t"/>
          <a:lstStyle/>
          <a:p>
            <a:pPr marL="0" indent="0">
              <a:buNone/>
            </a:pPr>
            <a:r>
              <a:rPr lang="en-GB" sz="1700" b="1" noProof="0" dirty="0">
                <a:solidFill>
                  <a:srgbClr val="12315B"/>
                </a:solidFill>
                <a:latin typeface="Calibri" pitchFamily="34" charset="0"/>
                <a:ea typeface="Calibri" pitchFamily="34" charset="-122"/>
                <a:cs typeface="Calibri" pitchFamily="34" charset="-120"/>
              </a:rPr>
              <a:t>Session 5: Supportive treatment</a:t>
            </a:r>
            <a:endParaRPr lang="en-GB" sz="1700" noProof="0" dirty="0"/>
          </a:p>
        </p:txBody>
      </p:sp>
      <p:sp>
        <p:nvSpPr>
          <p:cNvPr id="22" name="Text 20"/>
          <p:cNvSpPr txBox="1"/>
          <p:nvPr/>
        </p:nvSpPr>
        <p:spPr>
          <a:xfrm>
            <a:off x="8280197" y="4283964"/>
            <a:ext cx="3198266" cy="1696212"/>
          </a:xfrm>
          <a:prstGeom prst="rect">
            <a:avLst/>
          </a:prstGeom>
          <a:noFill/>
          <a:ln/>
        </p:spPr>
        <p:txBody>
          <a:bodyPr wrap="square" lIns="0" tIns="0" rIns="0" bIns="0" rtlCol="0" anchor="t"/>
          <a:lstStyle/>
          <a:p>
            <a:pPr marL="0" indent="0">
              <a:lnSpc>
                <a:spcPct val="90000"/>
              </a:lnSpc>
              <a:buNone/>
            </a:pPr>
            <a:r>
              <a:rPr lang="en-GB" sz="1800" noProof="0" dirty="0">
                <a:solidFill>
                  <a:srgbClr val="1F3A63"/>
                </a:solidFill>
                <a:latin typeface="Calibri" pitchFamily="34" charset="0"/>
                <a:ea typeface="Calibri" pitchFamily="34" charset="-122"/>
                <a:cs typeface="Calibri" pitchFamily="34" charset="-120"/>
              </a:rPr>
              <a:t>Effects to recognise, lymphoedema, adherence, palliative care, quality of life and follow-up.</a:t>
            </a:r>
            <a:endParaRPr lang="en-GB" sz="1800" noProof="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en-GB" sz="1100" b="1" kern="0" spc="100" noProof="0" dirty="0">
                <a:solidFill>
                  <a:srgbClr val="5B7699"/>
                </a:solidFill>
                <a:latin typeface="Calibri" pitchFamily="34" charset="0"/>
                <a:ea typeface="Calibri" pitchFamily="34" charset="-122"/>
                <a:cs typeface="Calibri" pitchFamily="34" charset="-120"/>
              </a:rPr>
              <a:t>B A S E L I N E   C H E C K</a:t>
            </a:r>
            <a:endParaRPr lang="en-GB"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en-GB" sz="1000" noProof="0" dirty="0">
                <a:solidFill>
                  <a:srgbClr val="5B7699"/>
                </a:solidFill>
                <a:latin typeface="Calibri" pitchFamily="34" charset="0"/>
                <a:ea typeface="Calibri" pitchFamily="34" charset="-122"/>
                <a:cs typeface="Calibri" pitchFamily="34" charset="-120"/>
              </a:rPr>
              <a:t>Breast Cancer  |  Frontline HCP  |  Rwanda Biomedical Centre</a:t>
            </a:r>
            <a:endParaRPr lang="en-GB" sz="1000" noProof="0" dirty="0"/>
          </a:p>
        </p:txBody>
      </p:sp>
      <p:sp>
        <p:nvSpPr>
          <p:cNvPr id="4" name="Text 2"/>
          <p:cNvSpPr txBox="1"/>
          <p:nvPr/>
        </p:nvSpPr>
        <p:spPr>
          <a:xfrm>
            <a:off x="548640" y="2148840"/>
            <a:ext cx="11094415" cy="777240"/>
          </a:xfrm>
          <a:prstGeom prst="rect">
            <a:avLst/>
          </a:prstGeom>
          <a:noFill/>
          <a:ln/>
        </p:spPr>
        <p:txBody>
          <a:bodyPr wrap="square" lIns="0" tIns="0" rIns="0" bIns="0" rtlCol="0" anchor="ctr"/>
          <a:lstStyle/>
          <a:p>
            <a:pPr marL="0" indent="0">
              <a:buNone/>
            </a:pPr>
            <a:r>
              <a:rPr lang="en-GB" sz="4000" b="1" noProof="0" dirty="0">
                <a:solidFill>
                  <a:srgbClr val="12315B"/>
                </a:solidFill>
                <a:latin typeface="Calibri" pitchFamily="34" charset="0"/>
                <a:ea typeface="Calibri" pitchFamily="34" charset="-122"/>
                <a:cs typeface="Calibri" pitchFamily="34" charset="-120"/>
              </a:rPr>
              <a:t>Pre-test</a:t>
            </a:r>
            <a:endParaRPr lang="en-GB" sz="4000" noProof="0" dirty="0"/>
          </a:p>
        </p:txBody>
      </p:sp>
      <p:sp>
        <p:nvSpPr>
          <p:cNvPr id="5" name="Text 3"/>
          <p:cNvSpPr txBox="1"/>
          <p:nvPr/>
        </p:nvSpPr>
        <p:spPr>
          <a:xfrm>
            <a:off x="548640" y="3017520"/>
            <a:ext cx="9509760" cy="1005840"/>
          </a:xfrm>
          <a:prstGeom prst="rect">
            <a:avLst/>
          </a:prstGeom>
          <a:noFill/>
          <a:ln/>
        </p:spPr>
        <p:txBody>
          <a:bodyPr wrap="square" lIns="0" tIns="0" rIns="0" bIns="0" rtlCol="0" anchor="ctr"/>
          <a:lstStyle/>
          <a:p>
            <a:pPr marL="0" indent="0">
              <a:lnSpc>
                <a:spcPct val="100000"/>
              </a:lnSpc>
              <a:buNone/>
            </a:pPr>
            <a:r>
              <a:rPr lang="en-GB" sz="1900" noProof="0" dirty="0">
                <a:solidFill>
                  <a:srgbClr val="1F3A63"/>
                </a:solidFill>
                <a:latin typeface="Calibri" pitchFamily="34" charset="0"/>
                <a:ea typeface="Calibri" pitchFamily="34" charset="-122"/>
                <a:cs typeface="Calibri" pitchFamily="34" charset="-120"/>
              </a:rPr>
              <a:t>Twenty questions to check what you already know. Your answers are not graded. You will meet similar ideas again in the post-test.</a:t>
            </a:r>
            <a:endParaRPr lang="en-GB" sz="1900" noProof="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en-GB" sz="1100" b="1" kern="0" spc="100" noProof="0" dirty="0">
                <a:solidFill>
                  <a:srgbClr val="5B7699"/>
                </a:solidFill>
                <a:latin typeface="Calibri" pitchFamily="34" charset="0"/>
                <a:ea typeface="Calibri" pitchFamily="34" charset="-122"/>
                <a:cs typeface="Calibri" pitchFamily="34" charset="-120"/>
              </a:rPr>
              <a:t>B A S E L I N E   C H E C K</a:t>
            </a:r>
            <a:endParaRPr lang="en-GB"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en-GB" sz="1000" noProof="0" dirty="0">
                <a:solidFill>
                  <a:srgbClr val="5B7699"/>
                </a:solidFill>
                <a:latin typeface="Calibri" pitchFamily="34" charset="0"/>
                <a:ea typeface="Calibri" pitchFamily="34" charset="-122"/>
                <a:cs typeface="Calibri" pitchFamily="34" charset="-120"/>
              </a:rPr>
              <a:t>Breast Cancer  |  Frontline HCP  |  Rwanda Biomedical Centre</a:t>
            </a:r>
            <a:endParaRPr lang="en-GB"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en-GB" sz="3000" b="1" noProof="0" dirty="0">
                <a:solidFill>
                  <a:srgbClr val="12315B"/>
                </a:solidFill>
                <a:latin typeface="Calibri" pitchFamily="34" charset="0"/>
                <a:ea typeface="Calibri" pitchFamily="34" charset="-122"/>
                <a:cs typeface="Calibri" pitchFamily="34" charset="-120"/>
              </a:rPr>
              <a:t>Pre-test (1 of 10)</a:t>
            </a:r>
            <a:endParaRPr lang="en-GB" sz="3000" noProof="0" dirty="0"/>
          </a:p>
        </p:txBody>
      </p:sp>
      <p:sp>
        <p:nvSpPr>
          <p:cNvPr id="5" name="Shape 3"/>
          <p:cNvSpPr/>
          <p:nvPr/>
        </p:nvSpPr>
        <p:spPr>
          <a:xfrm>
            <a:off x="548640" y="2171700"/>
            <a:ext cx="11094415" cy="1408176"/>
          </a:xfrm>
          <a:prstGeom prst="roundRect">
            <a:avLst>
              <a:gd name="adj" fmla="val 3896"/>
            </a:avLst>
          </a:prstGeom>
          <a:solidFill>
            <a:srgbClr val="F4F8FC"/>
          </a:solidFill>
          <a:ln w="12700">
            <a:solidFill>
              <a:srgbClr val="C8D8EC"/>
            </a:solidFill>
            <a:prstDash val="solid"/>
          </a:ln>
        </p:spPr>
        <p:txBody>
          <a:bodyPr/>
          <a:lstStyle/>
          <a:p>
            <a:endParaRPr lang="en-GB" noProof="0" dirty="0"/>
          </a:p>
        </p:txBody>
      </p:sp>
      <p:sp>
        <p:nvSpPr>
          <p:cNvPr id="6" name="Text 4"/>
          <p:cNvSpPr txBox="1"/>
          <p:nvPr/>
        </p:nvSpPr>
        <p:spPr>
          <a:xfrm>
            <a:off x="731520" y="2281428"/>
            <a:ext cx="10728655" cy="384048"/>
          </a:xfrm>
          <a:prstGeom prst="rect">
            <a:avLst/>
          </a:prstGeom>
          <a:noFill/>
          <a:ln/>
        </p:spPr>
        <p:txBody>
          <a:bodyPr wrap="square" lIns="0" tIns="0" rIns="0" bIns="0" rtlCol="0" anchor="t"/>
          <a:lstStyle/>
          <a:p>
            <a:pPr marL="0" indent="0">
              <a:buNone/>
            </a:pPr>
            <a:r>
              <a:rPr lang="en-GB" sz="1800" b="1" noProof="0" dirty="0">
                <a:solidFill>
                  <a:srgbClr val="12315B"/>
                </a:solidFill>
                <a:latin typeface="Calibri" pitchFamily="34" charset="0"/>
                <a:ea typeface="Calibri" pitchFamily="34" charset="-122"/>
                <a:cs typeface="Calibri" pitchFamily="34" charset="-120"/>
              </a:rPr>
              <a:t>Q1. Most breast cancers arise from which tissue?</a:t>
            </a:r>
            <a:endParaRPr lang="en-GB" sz="1800" noProof="0" dirty="0"/>
          </a:p>
        </p:txBody>
      </p:sp>
      <p:sp>
        <p:nvSpPr>
          <p:cNvPr id="7" name="Text 5"/>
          <p:cNvSpPr txBox="1"/>
          <p:nvPr/>
        </p:nvSpPr>
        <p:spPr>
          <a:xfrm>
            <a:off x="731520" y="2702052"/>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A. </a:t>
            </a:r>
            <a:r>
              <a:rPr lang="en-GB" sz="1800" noProof="0" dirty="0">
                <a:solidFill>
                  <a:srgbClr val="1F3A63"/>
                </a:solidFill>
                <a:latin typeface="Calibri" pitchFamily="34" charset="0"/>
                <a:ea typeface="Calibri" pitchFamily="34" charset="-122"/>
                <a:cs typeface="Calibri" pitchFamily="34" charset="-120"/>
              </a:rPr>
              <a:t>Muscle of the chest wall</a:t>
            </a:r>
            <a:endParaRPr lang="en-GB" sz="1800" noProof="0" dirty="0"/>
          </a:p>
        </p:txBody>
      </p:sp>
      <p:sp>
        <p:nvSpPr>
          <p:cNvPr id="8" name="Text 6"/>
          <p:cNvSpPr txBox="1"/>
          <p:nvPr/>
        </p:nvSpPr>
        <p:spPr>
          <a:xfrm>
            <a:off x="6210148" y="2702052"/>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B. </a:t>
            </a:r>
            <a:r>
              <a:rPr lang="en-GB" sz="1800" noProof="0" dirty="0">
                <a:solidFill>
                  <a:srgbClr val="1F3A63"/>
                </a:solidFill>
                <a:latin typeface="Calibri" pitchFamily="34" charset="0"/>
                <a:ea typeface="Calibri" pitchFamily="34" charset="-122"/>
                <a:cs typeface="Calibri" pitchFamily="34" charset="-120"/>
              </a:rPr>
              <a:t>Epithelial cells lining the ducts and lobules</a:t>
            </a:r>
            <a:endParaRPr lang="en-GB" sz="1800" noProof="0" dirty="0"/>
          </a:p>
        </p:txBody>
      </p:sp>
      <p:sp>
        <p:nvSpPr>
          <p:cNvPr id="9" name="Text 7"/>
          <p:cNvSpPr txBox="1"/>
          <p:nvPr/>
        </p:nvSpPr>
        <p:spPr>
          <a:xfrm>
            <a:off x="731520" y="3076956"/>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C. </a:t>
            </a:r>
            <a:r>
              <a:rPr lang="en-GB" sz="1800" noProof="0" dirty="0">
                <a:solidFill>
                  <a:srgbClr val="1F3A63"/>
                </a:solidFill>
                <a:latin typeface="Calibri" pitchFamily="34" charset="0"/>
                <a:ea typeface="Calibri" pitchFamily="34" charset="-122"/>
                <a:cs typeface="Calibri" pitchFamily="34" charset="-120"/>
              </a:rPr>
              <a:t>Skin of the breast</a:t>
            </a:r>
            <a:endParaRPr lang="en-GB" sz="1800" noProof="0" dirty="0"/>
          </a:p>
        </p:txBody>
      </p:sp>
      <p:sp>
        <p:nvSpPr>
          <p:cNvPr id="10" name="Text 8"/>
          <p:cNvSpPr txBox="1"/>
          <p:nvPr/>
        </p:nvSpPr>
        <p:spPr>
          <a:xfrm>
            <a:off x="6210148" y="3076956"/>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D. </a:t>
            </a:r>
            <a:r>
              <a:rPr lang="en-GB" sz="1800" noProof="0" dirty="0">
                <a:solidFill>
                  <a:srgbClr val="1F3A63"/>
                </a:solidFill>
                <a:latin typeface="Calibri" pitchFamily="34" charset="0"/>
                <a:ea typeface="Calibri" pitchFamily="34" charset="-122"/>
                <a:cs typeface="Calibri" pitchFamily="34" charset="-120"/>
              </a:rPr>
              <a:t>Axillary lymph nodes</a:t>
            </a:r>
            <a:endParaRPr lang="en-GB" sz="1800" noProof="0" dirty="0"/>
          </a:p>
        </p:txBody>
      </p:sp>
      <p:sp>
        <p:nvSpPr>
          <p:cNvPr id="11" name="Shape 9"/>
          <p:cNvSpPr/>
          <p:nvPr/>
        </p:nvSpPr>
        <p:spPr>
          <a:xfrm>
            <a:off x="548640" y="3781044"/>
            <a:ext cx="11094415" cy="1655064"/>
          </a:xfrm>
          <a:prstGeom prst="roundRect">
            <a:avLst>
              <a:gd name="adj" fmla="val 3315"/>
            </a:avLst>
          </a:prstGeom>
          <a:solidFill>
            <a:srgbClr val="F4F8FC"/>
          </a:solidFill>
          <a:ln w="12700">
            <a:solidFill>
              <a:srgbClr val="C8D8EC"/>
            </a:solidFill>
            <a:prstDash val="solid"/>
          </a:ln>
        </p:spPr>
        <p:txBody>
          <a:bodyPr/>
          <a:lstStyle/>
          <a:p>
            <a:endParaRPr lang="en-GB" noProof="0" dirty="0"/>
          </a:p>
        </p:txBody>
      </p:sp>
      <p:sp>
        <p:nvSpPr>
          <p:cNvPr id="12" name="Text 10"/>
          <p:cNvSpPr txBox="1"/>
          <p:nvPr/>
        </p:nvSpPr>
        <p:spPr>
          <a:xfrm>
            <a:off x="731520" y="3890772"/>
            <a:ext cx="10728655" cy="384048"/>
          </a:xfrm>
          <a:prstGeom prst="rect">
            <a:avLst/>
          </a:prstGeom>
          <a:noFill/>
          <a:ln/>
        </p:spPr>
        <p:txBody>
          <a:bodyPr wrap="square" lIns="0" tIns="0" rIns="0" bIns="0" rtlCol="0" anchor="t"/>
          <a:lstStyle/>
          <a:p>
            <a:pPr marL="0" indent="0">
              <a:buNone/>
            </a:pPr>
            <a:r>
              <a:rPr lang="en-GB" sz="1800" b="1" noProof="0" dirty="0">
                <a:solidFill>
                  <a:srgbClr val="12315B"/>
                </a:solidFill>
                <a:latin typeface="Calibri" pitchFamily="34" charset="0"/>
                <a:ea typeface="Calibri" pitchFamily="34" charset="-122"/>
                <a:cs typeface="Calibri" pitchFamily="34" charset="-120"/>
              </a:rPr>
              <a:t>Q2. Ductal carcinoma in situ means:</a:t>
            </a:r>
            <a:endParaRPr lang="en-GB" sz="1800" noProof="0" dirty="0"/>
          </a:p>
        </p:txBody>
      </p:sp>
      <p:sp>
        <p:nvSpPr>
          <p:cNvPr id="13" name="Text 11"/>
          <p:cNvSpPr txBox="1"/>
          <p:nvPr/>
        </p:nvSpPr>
        <p:spPr>
          <a:xfrm>
            <a:off x="731520" y="4311396"/>
            <a:ext cx="5250028" cy="566928"/>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A. </a:t>
            </a:r>
            <a:r>
              <a:rPr lang="en-GB" sz="1800" noProof="0" dirty="0">
                <a:solidFill>
                  <a:srgbClr val="1F3A63"/>
                </a:solidFill>
                <a:latin typeface="Calibri" pitchFamily="34" charset="0"/>
                <a:ea typeface="Calibri" pitchFamily="34" charset="-122"/>
                <a:cs typeface="Calibri" pitchFamily="34" charset="-120"/>
              </a:rPr>
              <a:t>Cancer that has already spread to lymph nodes</a:t>
            </a:r>
            <a:endParaRPr lang="en-GB" sz="1800" noProof="0" dirty="0"/>
          </a:p>
        </p:txBody>
      </p:sp>
      <p:sp>
        <p:nvSpPr>
          <p:cNvPr id="14" name="Text 12"/>
          <p:cNvSpPr txBox="1"/>
          <p:nvPr/>
        </p:nvSpPr>
        <p:spPr>
          <a:xfrm>
            <a:off x="6210148" y="4311396"/>
            <a:ext cx="5250028" cy="566928"/>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B. </a:t>
            </a:r>
            <a:r>
              <a:rPr lang="en-GB" sz="1800" noProof="0" dirty="0">
                <a:solidFill>
                  <a:srgbClr val="1F3A63"/>
                </a:solidFill>
                <a:latin typeface="Calibri" pitchFamily="34" charset="0"/>
                <a:ea typeface="Calibri" pitchFamily="34" charset="-122"/>
                <a:cs typeface="Calibri" pitchFamily="34" charset="-120"/>
              </a:rPr>
              <a:t>Abnormal malignant cells still confined within the duct</a:t>
            </a:r>
            <a:endParaRPr lang="en-GB" sz="1800" noProof="0" dirty="0"/>
          </a:p>
        </p:txBody>
      </p:sp>
      <p:sp>
        <p:nvSpPr>
          <p:cNvPr id="15" name="Text 13"/>
          <p:cNvSpPr txBox="1"/>
          <p:nvPr/>
        </p:nvSpPr>
        <p:spPr>
          <a:xfrm>
            <a:off x="731520" y="4933188"/>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C. </a:t>
            </a:r>
            <a:r>
              <a:rPr lang="en-GB" sz="1800" noProof="0" dirty="0">
                <a:solidFill>
                  <a:srgbClr val="1F3A63"/>
                </a:solidFill>
                <a:latin typeface="Calibri" pitchFamily="34" charset="0"/>
                <a:ea typeface="Calibri" pitchFamily="34" charset="-122"/>
                <a:cs typeface="Calibri" pitchFamily="34" charset="-120"/>
              </a:rPr>
              <a:t>A benign breast cyst</a:t>
            </a:r>
            <a:endParaRPr lang="en-GB" sz="1800" noProof="0" dirty="0"/>
          </a:p>
        </p:txBody>
      </p:sp>
      <p:sp>
        <p:nvSpPr>
          <p:cNvPr id="16" name="Text 14"/>
          <p:cNvSpPr txBox="1"/>
          <p:nvPr/>
        </p:nvSpPr>
        <p:spPr>
          <a:xfrm>
            <a:off x="6210148" y="4933188"/>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D. </a:t>
            </a:r>
            <a:r>
              <a:rPr lang="en-GB" sz="1800" noProof="0" dirty="0">
                <a:solidFill>
                  <a:srgbClr val="1F3A63"/>
                </a:solidFill>
                <a:latin typeface="Calibri" pitchFamily="34" charset="0"/>
                <a:ea typeface="Calibri" pitchFamily="34" charset="-122"/>
                <a:cs typeface="Calibri" pitchFamily="34" charset="-120"/>
              </a:rPr>
              <a:t>A tumour arising in the axilla</a:t>
            </a:r>
            <a:endParaRPr lang="en-GB" sz="1800" noProof="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en-GB" sz="1100" b="1" kern="0" spc="100" noProof="0" dirty="0">
                <a:solidFill>
                  <a:srgbClr val="5B7699"/>
                </a:solidFill>
                <a:latin typeface="Calibri" pitchFamily="34" charset="0"/>
                <a:ea typeface="Calibri" pitchFamily="34" charset="-122"/>
                <a:cs typeface="Calibri" pitchFamily="34" charset="-120"/>
              </a:rPr>
              <a:t>B A S E L I N E   C H E C K</a:t>
            </a:r>
            <a:endParaRPr lang="en-GB"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en-GB" sz="1000" noProof="0" dirty="0">
                <a:solidFill>
                  <a:srgbClr val="5B7699"/>
                </a:solidFill>
                <a:latin typeface="Calibri" pitchFamily="34" charset="0"/>
                <a:ea typeface="Calibri" pitchFamily="34" charset="-122"/>
                <a:cs typeface="Calibri" pitchFamily="34" charset="-120"/>
              </a:rPr>
              <a:t>Breast Cancer  |  Frontline HCP  |  Rwanda Biomedical Centre</a:t>
            </a:r>
            <a:endParaRPr lang="en-GB"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en-GB" sz="3000" b="1" noProof="0" dirty="0">
                <a:solidFill>
                  <a:srgbClr val="12315B"/>
                </a:solidFill>
                <a:latin typeface="Calibri" pitchFamily="34" charset="0"/>
                <a:ea typeface="Calibri" pitchFamily="34" charset="-122"/>
                <a:cs typeface="Calibri" pitchFamily="34" charset="-120"/>
              </a:rPr>
              <a:t>Pre-test (2 of 10)</a:t>
            </a:r>
            <a:endParaRPr lang="en-GB" sz="3000" noProof="0" dirty="0"/>
          </a:p>
        </p:txBody>
      </p:sp>
      <p:sp>
        <p:nvSpPr>
          <p:cNvPr id="5" name="Shape 3"/>
          <p:cNvSpPr/>
          <p:nvPr/>
        </p:nvSpPr>
        <p:spPr>
          <a:xfrm>
            <a:off x="548640" y="2171700"/>
            <a:ext cx="11094415" cy="1655064"/>
          </a:xfrm>
          <a:prstGeom prst="roundRect">
            <a:avLst>
              <a:gd name="adj" fmla="val 3315"/>
            </a:avLst>
          </a:prstGeom>
          <a:solidFill>
            <a:srgbClr val="F4F8FC"/>
          </a:solidFill>
          <a:ln w="12700">
            <a:solidFill>
              <a:srgbClr val="C8D8EC"/>
            </a:solidFill>
            <a:prstDash val="solid"/>
          </a:ln>
        </p:spPr>
        <p:txBody>
          <a:bodyPr/>
          <a:lstStyle/>
          <a:p>
            <a:endParaRPr lang="en-GB" noProof="0" dirty="0"/>
          </a:p>
        </p:txBody>
      </p:sp>
      <p:sp>
        <p:nvSpPr>
          <p:cNvPr id="6" name="Text 4"/>
          <p:cNvSpPr txBox="1"/>
          <p:nvPr/>
        </p:nvSpPr>
        <p:spPr>
          <a:xfrm>
            <a:off x="731520" y="2281428"/>
            <a:ext cx="10728655" cy="384048"/>
          </a:xfrm>
          <a:prstGeom prst="rect">
            <a:avLst/>
          </a:prstGeom>
          <a:noFill/>
          <a:ln/>
        </p:spPr>
        <p:txBody>
          <a:bodyPr wrap="square" lIns="0" tIns="0" rIns="0" bIns="0" rtlCol="0" anchor="t"/>
          <a:lstStyle/>
          <a:p>
            <a:pPr marL="0" indent="0">
              <a:buNone/>
            </a:pPr>
            <a:r>
              <a:rPr lang="en-GB" sz="1800" b="1" noProof="0" dirty="0">
                <a:solidFill>
                  <a:srgbClr val="12315B"/>
                </a:solidFill>
                <a:latin typeface="Calibri" pitchFamily="34" charset="0"/>
                <a:ea typeface="Calibri" pitchFamily="34" charset="-122"/>
                <a:cs typeface="Calibri" pitchFamily="34" charset="-120"/>
              </a:rPr>
              <a:t>Q3. A new painless breast lump should be:</a:t>
            </a:r>
            <a:endParaRPr lang="en-GB" sz="1800" noProof="0" dirty="0"/>
          </a:p>
        </p:txBody>
      </p:sp>
      <p:sp>
        <p:nvSpPr>
          <p:cNvPr id="7" name="Text 5"/>
          <p:cNvSpPr txBox="1"/>
          <p:nvPr/>
        </p:nvSpPr>
        <p:spPr>
          <a:xfrm>
            <a:off x="731520" y="2702052"/>
            <a:ext cx="5250028" cy="566928"/>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A. </a:t>
            </a:r>
            <a:r>
              <a:rPr lang="en-GB" sz="1800" noProof="0" dirty="0">
                <a:solidFill>
                  <a:srgbClr val="1F3A63"/>
                </a:solidFill>
                <a:latin typeface="Calibri" pitchFamily="34" charset="0"/>
                <a:ea typeface="Calibri" pitchFamily="34" charset="-122"/>
                <a:cs typeface="Calibri" pitchFamily="34" charset="-120"/>
              </a:rPr>
              <a:t>Ignored, because cancer is painful</a:t>
            </a:r>
            <a:endParaRPr lang="en-GB" sz="1800" noProof="0" dirty="0"/>
          </a:p>
        </p:txBody>
      </p:sp>
      <p:sp>
        <p:nvSpPr>
          <p:cNvPr id="8" name="Text 6"/>
          <p:cNvSpPr txBox="1"/>
          <p:nvPr/>
        </p:nvSpPr>
        <p:spPr>
          <a:xfrm>
            <a:off x="6210148" y="2702052"/>
            <a:ext cx="5250028" cy="566928"/>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B. </a:t>
            </a:r>
            <a:r>
              <a:rPr lang="en-GB" sz="1800" noProof="0" dirty="0">
                <a:solidFill>
                  <a:srgbClr val="1F3A63"/>
                </a:solidFill>
                <a:latin typeface="Calibri" pitchFamily="34" charset="0"/>
                <a:ea typeface="Calibri" pitchFamily="34" charset="-122"/>
                <a:cs typeface="Calibri" pitchFamily="34" charset="-120"/>
              </a:rPr>
              <a:t>Assessed clinically, because pain does not exclude cancer</a:t>
            </a:r>
            <a:endParaRPr lang="en-GB" sz="1800" noProof="0" dirty="0"/>
          </a:p>
        </p:txBody>
      </p:sp>
      <p:sp>
        <p:nvSpPr>
          <p:cNvPr id="9" name="Text 7"/>
          <p:cNvSpPr txBox="1"/>
          <p:nvPr/>
        </p:nvSpPr>
        <p:spPr>
          <a:xfrm>
            <a:off x="731520" y="3323844"/>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C. </a:t>
            </a:r>
            <a:r>
              <a:rPr lang="en-GB" sz="1800" noProof="0" dirty="0">
                <a:solidFill>
                  <a:srgbClr val="1F3A63"/>
                </a:solidFill>
                <a:latin typeface="Calibri" pitchFamily="34" charset="0"/>
                <a:ea typeface="Calibri" pitchFamily="34" charset="-122"/>
                <a:cs typeface="Calibri" pitchFamily="34" charset="-120"/>
              </a:rPr>
              <a:t>Treated with antibiotics</a:t>
            </a:r>
            <a:endParaRPr lang="en-GB" sz="1800" noProof="0" dirty="0"/>
          </a:p>
        </p:txBody>
      </p:sp>
      <p:sp>
        <p:nvSpPr>
          <p:cNvPr id="10" name="Text 8"/>
          <p:cNvSpPr txBox="1"/>
          <p:nvPr/>
        </p:nvSpPr>
        <p:spPr>
          <a:xfrm>
            <a:off x="6210148" y="3323844"/>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D. </a:t>
            </a:r>
            <a:r>
              <a:rPr lang="en-GB" sz="1800" noProof="0" dirty="0">
                <a:solidFill>
                  <a:srgbClr val="1F3A63"/>
                </a:solidFill>
                <a:latin typeface="Calibri" pitchFamily="34" charset="0"/>
                <a:ea typeface="Calibri" pitchFamily="34" charset="-122"/>
                <a:cs typeface="Calibri" pitchFamily="34" charset="-120"/>
              </a:rPr>
              <a:t>Reviewed in one year</a:t>
            </a:r>
            <a:endParaRPr lang="en-GB" sz="1800" noProof="0" dirty="0"/>
          </a:p>
        </p:txBody>
      </p:sp>
      <p:sp>
        <p:nvSpPr>
          <p:cNvPr id="11" name="Shape 9"/>
          <p:cNvSpPr/>
          <p:nvPr/>
        </p:nvSpPr>
        <p:spPr>
          <a:xfrm>
            <a:off x="548640" y="4027932"/>
            <a:ext cx="11094415" cy="1408176"/>
          </a:xfrm>
          <a:prstGeom prst="roundRect">
            <a:avLst>
              <a:gd name="adj" fmla="val 3896"/>
            </a:avLst>
          </a:prstGeom>
          <a:solidFill>
            <a:srgbClr val="F4F8FC"/>
          </a:solidFill>
          <a:ln w="12700">
            <a:solidFill>
              <a:srgbClr val="C8D8EC"/>
            </a:solidFill>
            <a:prstDash val="solid"/>
          </a:ln>
        </p:spPr>
        <p:txBody>
          <a:bodyPr/>
          <a:lstStyle/>
          <a:p>
            <a:endParaRPr lang="en-GB" noProof="0" dirty="0"/>
          </a:p>
        </p:txBody>
      </p:sp>
      <p:sp>
        <p:nvSpPr>
          <p:cNvPr id="12" name="Text 10"/>
          <p:cNvSpPr txBox="1"/>
          <p:nvPr/>
        </p:nvSpPr>
        <p:spPr>
          <a:xfrm>
            <a:off x="731520" y="4137660"/>
            <a:ext cx="10728655" cy="384048"/>
          </a:xfrm>
          <a:prstGeom prst="rect">
            <a:avLst/>
          </a:prstGeom>
          <a:noFill/>
          <a:ln/>
        </p:spPr>
        <p:txBody>
          <a:bodyPr wrap="square" lIns="0" tIns="0" rIns="0" bIns="0" rtlCol="0" anchor="t"/>
          <a:lstStyle/>
          <a:p>
            <a:pPr marL="0" indent="0">
              <a:buNone/>
            </a:pPr>
            <a:r>
              <a:rPr lang="en-GB" sz="1800" b="1" noProof="0" dirty="0">
                <a:solidFill>
                  <a:srgbClr val="12315B"/>
                </a:solidFill>
                <a:latin typeface="Calibri" pitchFamily="34" charset="0"/>
                <a:ea typeface="Calibri" pitchFamily="34" charset="-122"/>
                <a:cs typeface="Calibri" pitchFamily="34" charset="-120"/>
              </a:rPr>
              <a:t>Q4. Most breast lumps are:</a:t>
            </a:r>
            <a:endParaRPr lang="en-GB" sz="1800" noProof="0" dirty="0"/>
          </a:p>
        </p:txBody>
      </p:sp>
      <p:sp>
        <p:nvSpPr>
          <p:cNvPr id="13" name="Text 11"/>
          <p:cNvSpPr txBox="1"/>
          <p:nvPr/>
        </p:nvSpPr>
        <p:spPr>
          <a:xfrm>
            <a:off x="731520" y="4558284"/>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A. </a:t>
            </a:r>
            <a:r>
              <a:rPr lang="en-GB" sz="1800" noProof="0" dirty="0">
                <a:solidFill>
                  <a:srgbClr val="1F3A63"/>
                </a:solidFill>
                <a:latin typeface="Calibri" pitchFamily="34" charset="0"/>
                <a:ea typeface="Calibri" pitchFamily="34" charset="-122"/>
                <a:cs typeface="Calibri" pitchFamily="34" charset="-120"/>
              </a:rPr>
              <a:t>Cancer</a:t>
            </a:r>
            <a:endParaRPr lang="en-GB" sz="1800" noProof="0" dirty="0"/>
          </a:p>
        </p:txBody>
      </p:sp>
      <p:sp>
        <p:nvSpPr>
          <p:cNvPr id="14" name="Text 12"/>
          <p:cNvSpPr txBox="1"/>
          <p:nvPr/>
        </p:nvSpPr>
        <p:spPr>
          <a:xfrm>
            <a:off x="6210148" y="4558284"/>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B. </a:t>
            </a:r>
            <a:r>
              <a:rPr lang="en-GB" sz="1800" noProof="0" dirty="0">
                <a:solidFill>
                  <a:srgbClr val="1F3A63"/>
                </a:solidFill>
                <a:latin typeface="Calibri" pitchFamily="34" charset="0"/>
                <a:ea typeface="Calibri" pitchFamily="34" charset="-122"/>
                <a:cs typeface="Calibri" pitchFamily="34" charset="-120"/>
              </a:rPr>
              <a:t>Benign, although assessment is still needed</a:t>
            </a:r>
            <a:endParaRPr lang="en-GB" sz="1800" noProof="0" dirty="0"/>
          </a:p>
        </p:txBody>
      </p:sp>
      <p:sp>
        <p:nvSpPr>
          <p:cNvPr id="15" name="Text 13"/>
          <p:cNvSpPr txBox="1"/>
          <p:nvPr/>
        </p:nvSpPr>
        <p:spPr>
          <a:xfrm>
            <a:off x="731520" y="4933188"/>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C. </a:t>
            </a:r>
            <a:r>
              <a:rPr lang="en-GB" sz="1800" noProof="0" dirty="0">
                <a:solidFill>
                  <a:srgbClr val="1F3A63"/>
                </a:solidFill>
                <a:latin typeface="Calibri" pitchFamily="34" charset="0"/>
                <a:ea typeface="Calibri" pitchFamily="34" charset="-122"/>
                <a:cs typeface="Calibri" pitchFamily="34" charset="-120"/>
              </a:rPr>
              <a:t>Infected</a:t>
            </a:r>
            <a:endParaRPr lang="en-GB" sz="1800" noProof="0" dirty="0"/>
          </a:p>
        </p:txBody>
      </p:sp>
      <p:sp>
        <p:nvSpPr>
          <p:cNvPr id="16" name="Text 14"/>
          <p:cNvSpPr txBox="1"/>
          <p:nvPr/>
        </p:nvSpPr>
        <p:spPr>
          <a:xfrm>
            <a:off x="6210148" y="4933188"/>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D. </a:t>
            </a:r>
            <a:r>
              <a:rPr lang="en-GB" sz="1800" noProof="0" dirty="0">
                <a:solidFill>
                  <a:srgbClr val="1F3A63"/>
                </a:solidFill>
                <a:latin typeface="Calibri" pitchFamily="34" charset="0"/>
                <a:ea typeface="Calibri" pitchFamily="34" charset="-122"/>
                <a:cs typeface="Calibri" pitchFamily="34" charset="-120"/>
              </a:rPr>
              <a:t>Impossible to assess</a:t>
            </a:r>
            <a:endParaRPr lang="en-GB" sz="1800" noProof="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en-GB" sz="1100" b="1" kern="0" spc="100" noProof="0" dirty="0">
                <a:solidFill>
                  <a:srgbClr val="5B7699"/>
                </a:solidFill>
                <a:latin typeface="Calibri" pitchFamily="34" charset="0"/>
                <a:ea typeface="Calibri" pitchFamily="34" charset="-122"/>
                <a:cs typeface="Calibri" pitchFamily="34" charset="-120"/>
              </a:rPr>
              <a:t>B A S E L I N E   C H E C K</a:t>
            </a:r>
            <a:endParaRPr lang="en-GB"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en-GB" sz="1000" noProof="0" dirty="0">
                <a:solidFill>
                  <a:srgbClr val="5B7699"/>
                </a:solidFill>
                <a:latin typeface="Calibri" pitchFamily="34" charset="0"/>
                <a:ea typeface="Calibri" pitchFamily="34" charset="-122"/>
                <a:cs typeface="Calibri" pitchFamily="34" charset="-120"/>
              </a:rPr>
              <a:t>Breast Cancer  |  Frontline HCP  |  Rwanda Biomedical Centre</a:t>
            </a:r>
            <a:endParaRPr lang="en-GB"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en-GB" sz="3000" b="1" noProof="0" dirty="0">
                <a:solidFill>
                  <a:srgbClr val="12315B"/>
                </a:solidFill>
                <a:latin typeface="Calibri" pitchFamily="34" charset="0"/>
                <a:ea typeface="Calibri" pitchFamily="34" charset="-122"/>
                <a:cs typeface="Calibri" pitchFamily="34" charset="-120"/>
              </a:rPr>
              <a:t>Pre-test (3 of 10)</a:t>
            </a:r>
            <a:endParaRPr lang="en-GB" sz="3000" noProof="0" dirty="0"/>
          </a:p>
        </p:txBody>
      </p:sp>
      <p:sp>
        <p:nvSpPr>
          <p:cNvPr id="5" name="Shape 3"/>
          <p:cNvSpPr/>
          <p:nvPr/>
        </p:nvSpPr>
        <p:spPr>
          <a:xfrm>
            <a:off x="548640" y="2171700"/>
            <a:ext cx="11094415" cy="1655064"/>
          </a:xfrm>
          <a:prstGeom prst="roundRect">
            <a:avLst>
              <a:gd name="adj" fmla="val 3315"/>
            </a:avLst>
          </a:prstGeom>
          <a:solidFill>
            <a:srgbClr val="F4F8FC"/>
          </a:solidFill>
          <a:ln w="12700">
            <a:solidFill>
              <a:srgbClr val="C8D8EC"/>
            </a:solidFill>
            <a:prstDash val="solid"/>
          </a:ln>
        </p:spPr>
        <p:txBody>
          <a:bodyPr/>
          <a:lstStyle/>
          <a:p>
            <a:endParaRPr lang="en-GB" noProof="0" dirty="0"/>
          </a:p>
        </p:txBody>
      </p:sp>
      <p:sp>
        <p:nvSpPr>
          <p:cNvPr id="6" name="Text 4"/>
          <p:cNvSpPr txBox="1"/>
          <p:nvPr/>
        </p:nvSpPr>
        <p:spPr>
          <a:xfrm>
            <a:off x="731520" y="2281428"/>
            <a:ext cx="10728655" cy="384048"/>
          </a:xfrm>
          <a:prstGeom prst="rect">
            <a:avLst/>
          </a:prstGeom>
          <a:noFill/>
          <a:ln/>
        </p:spPr>
        <p:txBody>
          <a:bodyPr wrap="square" lIns="0" tIns="0" rIns="0" bIns="0" rtlCol="0" anchor="t"/>
          <a:lstStyle/>
          <a:p>
            <a:pPr marL="0" indent="0">
              <a:buNone/>
            </a:pPr>
            <a:r>
              <a:rPr lang="en-GB" sz="1800" b="1" noProof="0" dirty="0">
                <a:solidFill>
                  <a:srgbClr val="12315B"/>
                </a:solidFill>
                <a:latin typeface="Calibri" pitchFamily="34" charset="0"/>
                <a:ea typeface="Calibri" pitchFamily="34" charset="-122"/>
                <a:cs typeface="Calibri" pitchFamily="34" charset="-120"/>
              </a:rPr>
              <a:t>Q5. An abnormal mammogram means:</a:t>
            </a:r>
            <a:endParaRPr lang="en-GB" sz="1800" noProof="0" dirty="0"/>
          </a:p>
        </p:txBody>
      </p:sp>
      <p:sp>
        <p:nvSpPr>
          <p:cNvPr id="7" name="Text 5"/>
          <p:cNvSpPr txBox="1"/>
          <p:nvPr/>
        </p:nvSpPr>
        <p:spPr>
          <a:xfrm>
            <a:off x="731520" y="2702052"/>
            <a:ext cx="5250028" cy="566928"/>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A. </a:t>
            </a:r>
            <a:r>
              <a:rPr lang="en-GB" sz="1800" noProof="0" dirty="0">
                <a:solidFill>
                  <a:srgbClr val="1F3A63"/>
                </a:solidFill>
                <a:latin typeface="Calibri" pitchFamily="34" charset="0"/>
                <a:ea typeface="Calibri" pitchFamily="34" charset="-122"/>
                <a:cs typeface="Calibri" pitchFamily="34" charset="-120"/>
              </a:rPr>
              <a:t>Cancer is confirmed</a:t>
            </a:r>
            <a:endParaRPr lang="en-GB" sz="1800" noProof="0" dirty="0"/>
          </a:p>
        </p:txBody>
      </p:sp>
      <p:sp>
        <p:nvSpPr>
          <p:cNvPr id="8" name="Text 6"/>
          <p:cNvSpPr txBox="1"/>
          <p:nvPr/>
        </p:nvSpPr>
        <p:spPr>
          <a:xfrm>
            <a:off x="6210148" y="2702052"/>
            <a:ext cx="5250028" cy="566928"/>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B. </a:t>
            </a:r>
            <a:r>
              <a:rPr lang="en-GB" sz="1800" noProof="0" dirty="0">
                <a:solidFill>
                  <a:srgbClr val="1F3A63"/>
                </a:solidFill>
                <a:latin typeface="Calibri" pitchFamily="34" charset="0"/>
                <a:ea typeface="Calibri" pitchFamily="34" charset="-122"/>
                <a:cs typeface="Calibri" pitchFamily="34" charset="-120"/>
              </a:rPr>
              <a:t>Further assessment is needed and cancer is not yet confirmed</a:t>
            </a:r>
            <a:endParaRPr lang="en-GB" sz="1800" noProof="0" dirty="0"/>
          </a:p>
        </p:txBody>
      </p:sp>
      <p:sp>
        <p:nvSpPr>
          <p:cNvPr id="9" name="Text 7"/>
          <p:cNvSpPr txBox="1"/>
          <p:nvPr/>
        </p:nvSpPr>
        <p:spPr>
          <a:xfrm>
            <a:off x="731520" y="3323844"/>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C. </a:t>
            </a:r>
            <a:r>
              <a:rPr lang="en-GB" sz="1800" noProof="0" dirty="0">
                <a:solidFill>
                  <a:srgbClr val="1F3A63"/>
                </a:solidFill>
                <a:latin typeface="Calibri" pitchFamily="34" charset="0"/>
                <a:ea typeface="Calibri" pitchFamily="34" charset="-122"/>
                <a:cs typeface="Calibri" pitchFamily="34" charset="-120"/>
              </a:rPr>
              <a:t>No action is needed</a:t>
            </a:r>
            <a:endParaRPr lang="en-GB" sz="1800" noProof="0" dirty="0"/>
          </a:p>
        </p:txBody>
      </p:sp>
      <p:sp>
        <p:nvSpPr>
          <p:cNvPr id="10" name="Text 8"/>
          <p:cNvSpPr txBox="1"/>
          <p:nvPr/>
        </p:nvSpPr>
        <p:spPr>
          <a:xfrm>
            <a:off x="6210148" y="3323844"/>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D. </a:t>
            </a:r>
            <a:r>
              <a:rPr lang="en-GB" sz="1800" noProof="0" dirty="0">
                <a:solidFill>
                  <a:srgbClr val="1F3A63"/>
                </a:solidFill>
                <a:latin typeface="Calibri" pitchFamily="34" charset="0"/>
                <a:ea typeface="Calibri" pitchFamily="34" charset="-122"/>
                <a:cs typeface="Calibri" pitchFamily="34" charset="-120"/>
              </a:rPr>
              <a:t>Surgery should be booked immediately</a:t>
            </a:r>
            <a:endParaRPr lang="en-GB" sz="1800" noProof="0" dirty="0"/>
          </a:p>
        </p:txBody>
      </p:sp>
      <p:sp>
        <p:nvSpPr>
          <p:cNvPr id="11" name="Shape 9"/>
          <p:cNvSpPr/>
          <p:nvPr/>
        </p:nvSpPr>
        <p:spPr>
          <a:xfrm>
            <a:off x="548640" y="4027932"/>
            <a:ext cx="11094415" cy="1408176"/>
          </a:xfrm>
          <a:prstGeom prst="roundRect">
            <a:avLst>
              <a:gd name="adj" fmla="val 3896"/>
            </a:avLst>
          </a:prstGeom>
          <a:solidFill>
            <a:srgbClr val="F4F8FC"/>
          </a:solidFill>
          <a:ln w="12700">
            <a:solidFill>
              <a:srgbClr val="C8D8EC"/>
            </a:solidFill>
            <a:prstDash val="solid"/>
          </a:ln>
        </p:spPr>
        <p:txBody>
          <a:bodyPr/>
          <a:lstStyle/>
          <a:p>
            <a:endParaRPr lang="en-GB" noProof="0" dirty="0"/>
          </a:p>
        </p:txBody>
      </p:sp>
      <p:sp>
        <p:nvSpPr>
          <p:cNvPr id="12" name="Text 10"/>
          <p:cNvSpPr txBox="1"/>
          <p:nvPr/>
        </p:nvSpPr>
        <p:spPr>
          <a:xfrm>
            <a:off x="731520" y="4137660"/>
            <a:ext cx="10728655" cy="384048"/>
          </a:xfrm>
          <a:prstGeom prst="rect">
            <a:avLst/>
          </a:prstGeom>
          <a:noFill/>
          <a:ln/>
        </p:spPr>
        <p:txBody>
          <a:bodyPr wrap="square" lIns="0" tIns="0" rIns="0" bIns="0" rtlCol="0" anchor="t"/>
          <a:lstStyle/>
          <a:p>
            <a:pPr marL="0" indent="0">
              <a:buNone/>
            </a:pPr>
            <a:r>
              <a:rPr lang="en-GB" sz="1800" b="1" noProof="0" dirty="0">
                <a:solidFill>
                  <a:srgbClr val="12315B"/>
                </a:solidFill>
                <a:latin typeface="Calibri" pitchFamily="34" charset="0"/>
                <a:ea typeface="Calibri" pitchFamily="34" charset="-122"/>
                <a:cs typeface="Calibri" pitchFamily="34" charset="-120"/>
              </a:rPr>
              <a:t>Q6. Breast cancer is confirmed by:</a:t>
            </a:r>
            <a:endParaRPr lang="en-GB" sz="1800" noProof="0" dirty="0"/>
          </a:p>
        </p:txBody>
      </p:sp>
      <p:sp>
        <p:nvSpPr>
          <p:cNvPr id="13" name="Text 11"/>
          <p:cNvSpPr txBox="1"/>
          <p:nvPr/>
        </p:nvSpPr>
        <p:spPr>
          <a:xfrm>
            <a:off x="731520" y="4558284"/>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A. </a:t>
            </a:r>
            <a:r>
              <a:rPr lang="en-GB" sz="1800" noProof="0" dirty="0">
                <a:solidFill>
                  <a:srgbClr val="1F3A63"/>
                </a:solidFill>
                <a:latin typeface="Calibri" pitchFamily="34" charset="0"/>
                <a:ea typeface="Calibri" pitchFamily="34" charset="-122"/>
                <a:cs typeface="Calibri" pitchFamily="34" charset="-120"/>
              </a:rPr>
              <a:t>Mammography alone</a:t>
            </a:r>
            <a:endParaRPr lang="en-GB" sz="1800" noProof="0" dirty="0"/>
          </a:p>
        </p:txBody>
      </p:sp>
      <p:sp>
        <p:nvSpPr>
          <p:cNvPr id="14" name="Text 12"/>
          <p:cNvSpPr txBox="1"/>
          <p:nvPr/>
        </p:nvSpPr>
        <p:spPr>
          <a:xfrm>
            <a:off x="6210148" y="4558284"/>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B. </a:t>
            </a:r>
            <a:r>
              <a:rPr lang="en-GB" sz="1800" noProof="0" dirty="0">
                <a:solidFill>
                  <a:srgbClr val="1F3A63"/>
                </a:solidFill>
                <a:latin typeface="Calibri" pitchFamily="34" charset="0"/>
                <a:ea typeface="Calibri" pitchFamily="34" charset="-122"/>
                <a:cs typeface="Calibri" pitchFamily="34" charset="-120"/>
              </a:rPr>
              <a:t>Clinical breast examination alone</a:t>
            </a:r>
            <a:endParaRPr lang="en-GB" sz="1800" noProof="0" dirty="0"/>
          </a:p>
        </p:txBody>
      </p:sp>
      <p:sp>
        <p:nvSpPr>
          <p:cNvPr id="15" name="Text 13"/>
          <p:cNvSpPr txBox="1"/>
          <p:nvPr/>
        </p:nvSpPr>
        <p:spPr>
          <a:xfrm>
            <a:off x="731520" y="4933188"/>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C. </a:t>
            </a:r>
            <a:r>
              <a:rPr lang="en-GB" sz="1800" noProof="0" dirty="0">
                <a:solidFill>
                  <a:srgbClr val="1F3A63"/>
                </a:solidFill>
                <a:latin typeface="Calibri" pitchFamily="34" charset="0"/>
                <a:ea typeface="Calibri" pitchFamily="34" charset="-122"/>
                <a:cs typeface="Calibri" pitchFamily="34" charset="-120"/>
              </a:rPr>
              <a:t>Biopsy and histopathology</a:t>
            </a:r>
            <a:endParaRPr lang="en-GB" sz="1800" noProof="0" dirty="0"/>
          </a:p>
        </p:txBody>
      </p:sp>
      <p:sp>
        <p:nvSpPr>
          <p:cNvPr id="16" name="Text 14"/>
          <p:cNvSpPr txBox="1"/>
          <p:nvPr/>
        </p:nvSpPr>
        <p:spPr>
          <a:xfrm>
            <a:off x="6210148" y="4933188"/>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D. </a:t>
            </a:r>
            <a:r>
              <a:rPr lang="en-GB" sz="1800" noProof="0" dirty="0">
                <a:solidFill>
                  <a:srgbClr val="1F3A63"/>
                </a:solidFill>
                <a:latin typeface="Calibri" pitchFamily="34" charset="0"/>
                <a:ea typeface="Calibri" pitchFamily="34" charset="-122"/>
                <a:cs typeface="Calibri" pitchFamily="34" charset="-120"/>
              </a:rPr>
              <a:t>Ultrasound alone</a:t>
            </a:r>
            <a:endParaRPr lang="en-GB" sz="1800" noProof="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en-GB" sz="1100" b="1" kern="0" spc="100" noProof="0" dirty="0">
                <a:solidFill>
                  <a:srgbClr val="5B7699"/>
                </a:solidFill>
                <a:latin typeface="Calibri" pitchFamily="34" charset="0"/>
                <a:ea typeface="Calibri" pitchFamily="34" charset="-122"/>
                <a:cs typeface="Calibri" pitchFamily="34" charset="-120"/>
              </a:rPr>
              <a:t>B A S E L I N E   C H E C K</a:t>
            </a:r>
            <a:endParaRPr lang="en-GB"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en-GB" sz="1000" noProof="0" dirty="0">
                <a:solidFill>
                  <a:srgbClr val="5B7699"/>
                </a:solidFill>
                <a:latin typeface="Calibri" pitchFamily="34" charset="0"/>
                <a:ea typeface="Calibri" pitchFamily="34" charset="-122"/>
                <a:cs typeface="Calibri" pitchFamily="34" charset="-120"/>
              </a:rPr>
              <a:t>Breast Cancer  |  Frontline HCP  |  Rwanda Biomedical Centre</a:t>
            </a:r>
            <a:endParaRPr lang="en-GB"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en-GB" sz="3000" b="1" noProof="0" dirty="0">
                <a:solidFill>
                  <a:srgbClr val="12315B"/>
                </a:solidFill>
                <a:latin typeface="Calibri" pitchFamily="34" charset="0"/>
                <a:ea typeface="Calibri" pitchFamily="34" charset="-122"/>
                <a:cs typeface="Calibri" pitchFamily="34" charset="-120"/>
              </a:rPr>
              <a:t>Pre-test (4 of 10)</a:t>
            </a:r>
            <a:endParaRPr lang="en-GB" sz="3000" noProof="0" dirty="0"/>
          </a:p>
        </p:txBody>
      </p:sp>
      <p:sp>
        <p:nvSpPr>
          <p:cNvPr id="5" name="Shape 3"/>
          <p:cNvSpPr/>
          <p:nvPr/>
        </p:nvSpPr>
        <p:spPr>
          <a:xfrm>
            <a:off x="548640" y="2295144"/>
            <a:ext cx="11094415" cy="1408176"/>
          </a:xfrm>
          <a:prstGeom prst="roundRect">
            <a:avLst>
              <a:gd name="adj" fmla="val 3896"/>
            </a:avLst>
          </a:prstGeom>
          <a:solidFill>
            <a:srgbClr val="F4F8FC"/>
          </a:solidFill>
          <a:ln w="12700">
            <a:solidFill>
              <a:srgbClr val="C8D8EC"/>
            </a:solidFill>
            <a:prstDash val="solid"/>
          </a:ln>
        </p:spPr>
        <p:txBody>
          <a:bodyPr/>
          <a:lstStyle/>
          <a:p>
            <a:endParaRPr lang="en-GB" noProof="0" dirty="0"/>
          </a:p>
        </p:txBody>
      </p:sp>
      <p:sp>
        <p:nvSpPr>
          <p:cNvPr id="6" name="Text 4"/>
          <p:cNvSpPr txBox="1"/>
          <p:nvPr/>
        </p:nvSpPr>
        <p:spPr>
          <a:xfrm>
            <a:off x="731520" y="2404872"/>
            <a:ext cx="10728655" cy="384048"/>
          </a:xfrm>
          <a:prstGeom prst="rect">
            <a:avLst/>
          </a:prstGeom>
          <a:noFill/>
          <a:ln/>
        </p:spPr>
        <p:txBody>
          <a:bodyPr wrap="square" lIns="0" tIns="0" rIns="0" bIns="0" rtlCol="0" anchor="t"/>
          <a:lstStyle/>
          <a:p>
            <a:pPr marL="0" indent="0">
              <a:buNone/>
            </a:pPr>
            <a:r>
              <a:rPr lang="en-GB" sz="1800" b="1" noProof="0" dirty="0">
                <a:solidFill>
                  <a:srgbClr val="12315B"/>
                </a:solidFill>
                <a:latin typeface="Calibri" pitchFamily="34" charset="0"/>
                <a:ea typeface="Calibri" pitchFamily="34" charset="-122"/>
                <a:cs typeface="Calibri" pitchFamily="34" charset="-120"/>
              </a:rPr>
              <a:t>Q7. Screening applies to:</a:t>
            </a:r>
            <a:endParaRPr lang="en-GB" sz="1800" noProof="0" dirty="0"/>
          </a:p>
        </p:txBody>
      </p:sp>
      <p:sp>
        <p:nvSpPr>
          <p:cNvPr id="7" name="Text 5"/>
          <p:cNvSpPr txBox="1"/>
          <p:nvPr/>
        </p:nvSpPr>
        <p:spPr>
          <a:xfrm>
            <a:off x="731520" y="2825496"/>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A. </a:t>
            </a:r>
            <a:r>
              <a:rPr lang="en-GB" sz="1800" noProof="0" dirty="0">
                <a:solidFill>
                  <a:srgbClr val="1F3A63"/>
                </a:solidFill>
                <a:latin typeface="Calibri" pitchFamily="34" charset="0"/>
                <a:ea typeface="Calibri" pitchFamily="34" charset="-122"/>
                <a:cs typeface="Calibri" pitchFamily="34" charset="-120"/>
              </a:rPr>
              <a:t>People who have a breast lump</a:t>
            </a:r>
            <a:endParaRPr lang="en-GB" sz="1800" noProof="0" dirty="0"/>
          </a:p>
        </p:txBody>
      </p:sp>
      <p:sp>
        <p:nvSpPr>
          <p:cNvPr id="8" name="Text 6"/>
          <p:cNvSpPr txBox="1"/>
          <p:nvPr/>
        </p:nvSpPr>
        <p:spPr>
          <a:xfrm>
            <a:off x="6210148" y="2825496"/>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B. </a:t>
            </a:r>
            <a:r>
              <a:rPr lang="en-GB" sz="1800" noProof="0" dirty="0">
                <a:solidFill>
                  <a:srgbClr val="1F3A63"/>
                </a:solidFill>
                <a:latin typeface="Calibri" pitchFamily="34" charset="0"/>
                <a:ea typeface="Calibri" pitchFamily="34" charset="-122"/>
                <a:cs typeface="Calibri" pitchFamily="34" charset="-120"/>
              </a:rPr>
              <a:t>People who have no breast symptoms</a:t>
            </a:r>
            <a:endParaRPr lang="en-GB" sz="1800" noProof="0" dirty="0"/>
          </a:p>
        </p:txBody>
      </p:sp>
      <p:sp>
        <p:nvSpPr>
          <p:cNvPr id="9" name="Text 7"/>
          <p:cNvSpPr txBox="1"/>
          <p:nvPr/>
        </p:nvSpPr>
        <p:spPr>
          <a:xfrm>
            <a:off x="731520" y="3200400"/>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C. </a:t>
            </a:r>
            <a:r>
              <a:rPr lang="en-GB" sz="1800" noProof="0" dirty="0">
                <a:solidFill>
                  <a:srgbClr val="1F3A63"/>
                </a:solidFill>
                <a:latin typeface="Calibri" pitchFamily="34" charset="0"/>
                <a:ea typeface="Calibri" pitchFamily="34" charset="-122"/>
                <a:cs typeface="Calibri" pitchFamily="34" charset="-120"/>
              </a:rPr>
              <a:t>People already diagnosed</a:t>
            </a:r>
            <a:endParaRPr lang="en-GB" sz="1800" noProof="0" dirty="0"/>
          </a:p>
        </p:txBody>
      </p:sp>
      <p:sp>
        <p:nvSpPr>
          <p:cNvPr id="10" name="Text 8"/>
          <p:cNvSpPr txBox="1"/>
          <p:nvPr/>
        </p:nvSpPr>
        <p:spPr>
          <a:xfrm>
            <a:off x="6210148" y="3200400"/>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D. </a:t>
            </a:r>
            <a:r>
              <a:rPr lang="en-GB" sz="1800" noProof="0" dirty="0">
                <a:solidFill>
                  <a:srgbClr val="1F3A63"/>
                </a:solidFill>
                <a:latin typeface="Calibri" pitchFamily="34" charset="0"/>
                <a:ea typeface="Calibri" pitchFamily="34" charset="-122"/>
                <a:cs typeface="Calibri" pitchFamily="34" charset="-120"/>
              </a:rPr>
              <a:t>People awaiting surgery</a:t>
            </a:r>
            <a:endParaRPr lang="en-GB" sz="1800" noProof="0" dirty="0"/>
          </a:p>
        </p:txBody>
      </p:sp>
      <p:sp>
        <p:nvSpPr>
          <p:cNvPr id="11" name="Shape 9"/>
          <p:cNvSpPr/>
          <p:nvPr/>
        </p:nvSpPr>
        <p:spPr>
          <a:xfrm>
            <a:off x="548640" y="3904488"/>
            <a:ext cx="11094415" cy="1408176"/>
          </a:xfrm>
          <a:prstGeom prst="roundRect">
            <a:avLst>
              <a:gd name="adj" fmla="val 3896"/>
            </a:avLst>
          </a:prstGeom>
          <a:solidFill>
            <a:srgbClr val="F4F8FC"/>
          </a:solidFill>
          <a:ln w="12700">
            <a:solidFill>
              <a:srgbClr val="C8D8EC"/>
            </a:solidFill>
            <a:prstDash val="solid"/>
          </a:ln>
        </p:spPr>
        <p:txBody>
          <a:bodyPr/>
          <a:lstStyle/>
          <a:p>
            <a:endParaRPr lang="en-GB" noProof="0" dirty="0"/>
          </a:p>
        </p:txBody>
      </p:sp>
      <p:sp>
        <p:nvSpPr>
          <p:cNvPr id="12" name="Text 10"/>
          <p:cNvSpPr txBox="1"/>
          <p:nvPr/>
        </p:nvSpPr>
        <p:spPr>
          <a:xfrm>
            <a:off x="731520" y="4014216"/>
            <a:ext cx="10728655" cy="384048"/>
          </a:xfrm>
          <a:prstGeom prst="rect">
            <a:avLst/>
          </a:prstGeom>
          <a:noFill/>
          <a:ln/>
        </p:spPr>
        <p:txBody>
          <a:bodyPr wrap="square" lIns="0" tIns="0" rIns="0" bIns="0" rtlCol="0" anchor="t"/>
          <a:lstStyle/>
          <a:p>
            <a:pPr marL="0" indent="0">
              <a:buNone/>
            </a:pPr>
            <a:r>
              <a:rPr lang="en-GB" sz="1800" b="1" noProof="0" dirty="0">
                <a:solidFill>
                  <a:srgbClr val="12315B"/>
                </a:solidFill>
                <a:latin typeface="Calibri" pitchFamily="34" charset="0"/>
                <a:ea typeface="Calibri" pitchFamily="34" charset="-122"/>
                <a:cs typeface="Calibri" pitchFamily="34" charset="-120"/>
              </a:rPr>
              <a:t>Q8. Which is an established breast cancer risk factor?</a:t>
            </a:r>
            <a:endParaRPr lang="en-GB" sz="1800" noProof="0" dirty="0"/>
          </a:p>
        </p:txBody>
      </p:sp>
      <p:sp>
        <p:nvSpPr>
          <p:cNvPr id="13" name="Text 11"/>
          <p:cNvSpPr txBox="1"/>
          <p:nvPr/>
        </p:nvSpPr>
        <p:spPr>
          <a:xfrm>
            <a:off x="731520" y="4434840"/>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A. </a:t>
            </a:r>
            <a:r>
              <a:rPr lang="en-GB" sz="1800" noProof="0" dirty="0">
                <a:solidFill>
                  <a:srgbClr val="1F3A63"/>
                </a:solidFill>
                <a:latin typeface="Calibri" pitchFamily="34" charset="0"/>
                <a:ea typeface="Calibri" pitchFamily="34" charset="-122"/>
                <a:cs typeface="Calibri" pitchFamily="34" charset="-120"/>
              </a:rPr>
              <a:t>Increasing age</a:t>
            </a:r>
            <a:endParaRPr lang="en-GB" sz="1800" noProof="0" dirty="0"/>
          </a:p>
        </p:txBody>
      </p:sp>
      <p:sp>
        <p:nvSpPr>
          <p:cNvPr id="14" name="Text 12"/>
          <p:cNvSpPr txBox="1"/>
          <p:nvPr/>
        </p:nvSpPr>
        <p:spPr>
          <a:xfrm>
            <a:off x="6210148" y="4434840"/>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B. </a:t>
            </a:r>
            <a:r>
              <a:rPr lang="en-GB" sz="1800" noProof="0" dirty="0">
                <a:solidFill>
                  <a:srgbClr val="1F3A63"/>
                </a:solidFill>
                <a:latin typeface="Calibri" pitchFamily="34" charset="0"/>
                <a:ea typeface="Calibri" pitchFamily="34" charset="-122"/>
                <a:cs typeface="Calibri" pitchFamily="34" charset="-120"/>
              </a:rPr>
              <a:t>Wearing tight clothing</a:t>
            </a:r>
            <a:endParaRPr lang="en-GB" sz="1800" noProof="0" dirty="0"/>
          </a:p>
        </p:txBody>
      </p:sp>
      <p:sp>
        <p:nvSpPr>
          <p:cNvPr id="15" name="Text 13"/>
          <p:cNvSpPr txBox="1"/>
          <p:nvPr/>
        </p:nvSpPr>
        <p:spPr>
          <a:xfrm>
            <a:off x="731520" y="4809744"/>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C. </a:t>
            </a:r>
            <a:r>
              <a:rPr lang="en-GB" sz="1800" noProof="0" dirty="0">
                <a:solidFill>
                  <a:srgbClr val="1F3A63"/>
                </a:solidFill>
                <a:latin typeface="Calibri" pitchFamily="34" charset="0"/>
                <a:ea typeface="Calibri" pitchFamily="34" charset="-122"/>
                <a:cs typeface="Calibri" pitchFamily="34" charset="-120"/>
              </a:rPr>
              <a:t>A knock or injury to the breast</a:t>
            </a:r>
            <a:endParaRPr lang="en-GB" sz="1800" noProof="0" dirty="0"/>
          </a:p>
        </p:txBody>
      </p:sp>
      <p:sp>
        <p:nvSpPr>
          <p:cNvPr id="16" name="Text 14"/>
          <p:cNvSpPr txBox="1"/>
          <p:nvPr/>
        </p:nvSpPr>
        <p:spPr>
          <a:xfrm>
            <a:off x="6210148" y="4809744"/>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D. </a:t>
            </a:r>
            <a:r>
              <a:rPr lang="en-GB" sz="1800" noProof="0" dirty="0">
                <a:solidFill>
                  <a:srgbClr val="1F3A63"/>
                </a:solidFill>
                <a:latin typeface="Calibri" pitchFamily="34" charset="0"/>
                <a:ea typeface="Calibri" pitchFamily="34" charset="-122"/>
                <a:cs typeface="Calibri" pitchFamily="34" charset="-120"/>
              </a:rPr>
              <a:t>Left-handedness</a:t>
            </a:r>
            <a:endParaRPr lang="en-GB" sz="1800" noProof="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en-GB" sz="1100" b="1" kern="0" spc="100" noProof="0" dirty="0">
                <a:solidFill>
                  <a:srgbClr val="5B7699"/>
                </a:solidFill>
                <a:latin typeface="Calibri" pitchFamily="34" charset="0"/>
                <a:ea typeface="Calibri" pitchFamily="34" charset="-122"/>
                <a:cs typeface="Calibri" pitchFamily="34" charset="-120"/>
              </a:rPr>
              <a:t>B A S E L I N E   C H E C K</a:t>
            </a:r>
            <a:endParaRPr lang="en-GB"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en-GB" sz="1000" noProof="0" dirty="0">
                <a:solidFill>
                  <a:srgbClr val="5B7699"/>
                </a:solidFill>
                <a:latin typeface="Calibri" pitchFamily="34" charset="0"/>
                <a:ea typeface="Calibri" pitchFamily="34" charset="-122"/>
                <a:cs typeface="Calibri" pitchFamily="34" charset="-120"/>
              </a:rPr>
              <a:t>Breast Cancer  |  Frontline HCP  |  Rwanda Biomedical Centre</a:t>
            </a:r>
            <a:endParaRPr lang="en-GB"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en-GB" sz="3000" b="1" noProof="0" dirty="0">
                <a:solidFill>
                  <a:srgbClr val="12315B"/>
                </a:solidFill>
                <a:latin typeface="Calibri" pitchFamily="34" charset="0"/>
                <a:ea typeface="Calibri" pitchFamily="34" charset="-122"/>
                <a:cs typeface="Calibri" pitchFamily="34" charset="-120"/>
              </a:rPr>
              <a:t>Pre-test (5 of 10)</a:t>
            </a:r>
            <a:endParaRPr lang="en-GB" sz="3000" noProof="0" dirty="0"/>
          </a:p>
        </p:txBody>
      </p:sp>
      <p:sp>
        <p:nvSpPr>
          <p:cNvPr id="5" name="Shape 3"/>
          <p:cNvSpPr/>
          <p:nvPr/>
        </p:nvSpPr>
        <p:spPr>
          <a:xfrm>
            <a:off x="548640" y="2171700"/>
            <a:ext cx="11094415" cy="1408176"/>
          </a:xfrm>
          <a:prstGeom prst="roundRect">
            <a:avLst>
              <a:gd name="adj" fmla="val 3896"/>
            </a:avLst>
          </a:prstGeom>
          <a:solidFill>
            <a:srgbClr val="F4F8FC"/>
          </a:solidFill>
          <a:ln w="12700">
            <a:solidFill>
              <a:srgbClr val="C8D8EC"/>
            </a:solidFill>
            <a:prstDash val="solid"/>
          </a:ln>
        </p:spPr>
        <p:txBody>
          <a:bodyPr/>
          <a:lstStyle/>
          <a:p>
            <a:endParaRPr lang="en-GB" noProof="0" dirty="0"/>
          </a:p>
        </p:txBody>
      </p:sp>
      <p:sp>
        <p:nvSpPr>
          <p:cNvPr id="6" name="Text 4"/>
          <p:cNvSpPr txBox="1"/>
          <p:nvPr/>
        </p:nvSpPr>
        <p:spPr>
          <a:xfrm>
            <a:off x="731520" y="2281428"/>
            <a:ext cx="10728655" cy="384048"/>
          </a:xfrm>
          <a:prstGeom prst="rect">
            <a:avLst/>
          </a:prstGeom>
          <a:noFill/>
          <a:ln/>
        </p:spPr>
        <p:txBody>
          <a:bodyPr wrap="square" lIns="0" tIns="0" rIns="0" bIns="0" rtlCol="0" anchor="t"/>
          <a:lstStyle/>
          <a:p>
            <a:pPr marL="0" indent="0">
              <a:buNone/>
            </a:pPr>
            <a:r>
              <a:rPr lang="en-GB" sz="1800" b="1" noProof="0" dirty="0">
                <a:solidFill>
                  <a:srgbClr val="12315B"/>
                </a:solidFill>
                <a:latin typeface="Calibri" pitchFamily="34" charset="0"/>
                <a:ea typeface="Calibri" pitchFamily="34" charset="-122"/>
                <a:cs typeface="Calibri" pitchFamily="34" charset="-120"/>
              </a:rPr>
              <a:t>Q9. A woman with no family history of breast cancer:</a:t>
            </a:r>
            <a:endParaRPr lang="en-GB" sz="1800" noProof="0" dirty="0"/>
          </a:p>
        </p:txBody>
      </p:sp>
      <p:sp>
        <p:nvSpPr>
          <p:cNvPr id="7" name="Text 5"/>
          <p:cNvSpPr txBox="1"/>
          <p:nvPr/>
        </p:nvSpPr>
        <p:spPr>
          <a:xfrm>
            <a:off x="731520" y="2702052"/>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A. </a:t>
            </a:r>
            <a:r>
              <a:rPr lang="en-GB" sz="1800" noProof="0" dirty="0">
                <a:solidFill>
                  <a:srgbClr val="1F3A63"/>
                </a:solidFill>
                <a:latin typeface="Calibri" pitchFamily="34" charset="0"/>
                <a:ea typeface="Calibri" pitchFamily="34" charset="-122"/>
                <a:cs typeface="Calibri" pitchFamily="34" charset="-120"/>
              </a:rPr>
              <a:t>Cannot develop breast cancer</a:t>
            </a:r>
            <a:endParaRPr lang="en-GB" sz="1800" noProof="0" dirty="0"/>
          </a:p>
        </p:txBody>
      </p:sp>
      <p:sp>
        <p:nvSpPr>
          <p:cNvPr id="8" name="Text 6"/>
          <p:cNvSpPr txBox="1"/>
          <p:nvPr/>
        </p:nvSpPr>
        <p:spPr>
          <a:xfrm>
            <a:off x="6210148" y="2702052"/>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B. </a:t>
            </a:r>
            <a:r>
              <a:rPr lang="en-GB" sz="1800" noProof="0" dirty="0">
                <a:solidFill>
                  <a:srgbClr val="1F3A63"/>
                </a:solidFill>
                <a:latin typeface="Calibri" pitchFamily="34" charset="0"/>
                <a:ea typeface="Calibri" pitchFamily="34" charset="-122"/>
                <a:cs typeface="Calibri" pitchFamily="34" charset="-120"/>
              </a:rPr>
              <a:t>Can still develop breast cancer</a:t>
            </a:r>
            <a:endParaRPr lang="en-GB" sz="1800" noProof="0" dirty="0"/>
          </a:p>
        </p:txBody>
      </p:sp>
      <p:sp>
        <p:nvSpPr>
          <p:cNvPr id="9" name="Text 7"/>
          <p:cNvSpPr txBox="1"/>
          <p:nvPr/>
        </p:nvSpPr>
        <p:spPr>
          <a:xfrm>
            <a:off x="731520" y="3076956"/>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C. </a:t>
            </a:r>
            <a:r>
              <a:rPr lang="en-GB" sz="1800" noProof="0" dirty="0">
                <a:solidFill>
                  <a:srgbClr val="1F3A63"/>
                </a:solidFill>
                <a:latin typeface="Calibri" pitchFamily="34" charset="0"/>
                <a:ea typeface="Calibri" pitchFamily="34" charset="-122"/>
                <a:cs typeface="Calibri" pitchFamily="34" charset="-120"/>
              </a:rPr>
              <a:t>Needs no assessment of a new lump</a:t>
            </a:r>
            <a:endParaRPr lang="en-GB" sz="1800" noProof="0" dirty="0"/>
          </a:p>
        </p:txBody>
      </p:sp>
      <p:sp>
        <p:nvSpPr>
          <p:cNvPr id="10" name="Text 8"/>
          <p:cNvSpPr txBox="1"/>
          <p:nvPr/>
        </p:nvSpPr>
        <p:spPr>
          <a:xfrm>
            <a:off x="6210148" y="3076956"/>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D. </a:t>
            </a:r>
            <a:r>
              <a:rPr lang="en-GB" sz="1800" noProof="0" dirty="0">
                <a:solidFill>
                  <a:srgbClr val="1F3A63"/>
                </a:solidFill>
                <a:latin typeface="Calibri" pitchFamily="34" charset="0"/>
                <a:ea typeface="Calibri" pitchFamily="34" charset="-122"/>
                <a:cs typeface="Calibri" pitchFamily="34" charset="-120"/>
              </a:rPr>
              <a:t>Has no risk at any age</a:t>
            </a:r>
            <a:endParaRPr lang="en-GB" sz="1800" noProof="0" dirty="0"/>
          </a:p>
        </p:txBody>
      </p:sp>
      <p:sp>
        <p:nvSpPr>
          <p:cNvPr id="11" name="Shape 9"/>
          <p:cNvSpPr/>
          <p:nvPr/>
        </p:nvSpPr>
        <p:spPr>
          <a:xfrm>
            <a:off x="548640" y="3781044"/>
            <a:ext cx="11094415" cy="1655064"/>
          </a:xfrm>
          <a:prstGeom prst="roundRect">
            <a:avLst>
              <a:gd name="adj" fmla="val 3315"/>
            </a:avLst>
          </a:prstGeom>
          <a:solidFill>
            <a:srgbClr val="F4F8FC"/>
          </a:solidFill>
          <a:ln w="12700">
            <a:solidFill>
              <a:srgbClr val="C8D8EC"/>
            </a:solidFill>
            <a:prstDash val="solid"/>
          </a:ln>
        </p:spPr>
        <p:txBody>
          <a:bodyPr/>
          <a:lstStyle/>
          <a:p>
            <a:endParaRPr lang="en-GB" noProof="0" dirty="0"/>
          </a:p>
        </p:txBody>
      </p:sp>
      <p:sp>
        <p:nvSpPr>
          <p:cNvPr id="12" name="Text 10"/>
          <p:cNvSpPr txBox="1"/>
          <p:nvPr/>
        </p:nvSpPr>
        <p:spPr>
          <a:xfrm>
            <a:off x="731520" y="3890772"/>
            <a:ext cx="10728655" cy="384048"/>
          </a:xfrm>
          <a:prstGeom prst="rect">
            <a:avLst/>
          </a:prstGeom>
          <a:noFill/>
          <a:ln/>
        </p:spPr>
        <p:txBody>
          <a:bodyPr wrap="square" lIns="0" tIns="0" rIns="0" bIns="0" rtlCol="0" anchor="t"/>
          <a:lstStyle/>
          <a:p>
            <a:pPr marL="0" indent="0">
              <a:buNone/>
            </a:pPr>
            <a:r>
              <a:rPr lang="en-GB" sz="1800" b="1" noProof="0" dirty="0">
                <a:solidFill>
                  <a:srgbClr val="12315B"/>
                </a:solidFill>
                <a:latin typeface="Calibri" pitchFamily="34" charset="0"/>
                <a:ea typeface="Calibri" pitchFamily="34" charset="-122"/>
                <a:cs typeface="Calibri" pitchFamily="34" charset="-120"/>
              </a:rPr>
              <a:t>Q10. Peau </a:t>
            </a:r>
            <a:r>
              <a:rPr lang="en-GB" sz="1800" b="1" noProof="0" dirty="0" err="1">
                <a:solidFill>
                  <a:srgbClr val="12315B"/>
                </a:solidFill>
                <a:latin typeface="Calibri" pitchFamily="34" charset="0"/>
                <a:ea typeface="Calibri" pitchFamily="34" charset="-122"/>
                <a:cs typeface="Calibri" pitchFamily="34" charset="-120"/>
              </a:rPr>
              <a:t>d'orange</a:t>
            </a:r>
            <a:r>
              <a:rPr lang="en-GB" sz="1800" b="1" noProof="0" dirty="0">
                <a:solidFill>
                  <a:srgbClr val="12315B"/>
                </a:solidFill>
                <a:latin typeface="Calibri" pitchFamily="34" charset="0"/>
                <a:ea typeface="Calibri" pitchFamily="34" charset="-122"/>
                <a:cs typeface="Calibri" pitchFamily="34" charset="-120"/>
              </a:rPr>
              <a:t> describes:</a:t>
            </a:r>
            <a:endParaRPr lang="en-GB" sz="1800" noProof="0" dirty="0"/>
          </a:p>
        </p:txBody>
      </p:sp>
      <p:sp>
        <p:nvSpPr>
          <p:cNvPr id="13" name="Text 11"/>
          <p:cNvSpPr txBox="1"/>
          <p:nvPr/>
        </p:nvSpPr>
        <p:spPr>
          <a:xfrm>
            <a:off x="731520" y="4311396"/>
            <a:ext cx="5250028" cy="566928"/>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A. </a:t>
            </a:r>
            <a:r>
              <a:rPr lang="en-GB" sz="1800" noProof="0" dirty="0">
                <a:solidFill>
                  <a:srgbClr val="1F3A63"/>
                </a:solidFill>
                <a:latin typeface="Calibri" pitchFamily="34" charset="0"/>
                <a:ea typeface="Calibri" pitchFamily="34" charset="-122"/>
                <a:cs typeface="Calibri" pitchFamily="34" charset="-120"/>
              </a:rPr>
              <a:t>A normal breast appearance</a:t>
            </a:r>
            <a:endParaRPr lang="en-GB" sz="1800" noProof="0" dirty="0"/>
          </a:p>
        </p:txBody>
      </p:sp>
      <p:sp>
        <p:nvSpPr>
          <p:cNvPr id="14" name="Text 12"/>
          <p:cNvSpPr txBox="1"/>
          <p:nvPr/>
        </p:nvSpPr>
        <p:spPr>
          <a:xfrm>
            <a:off x="6210148" y="4311396"/>
            <a:ext cx="5250028" cy="566928"/>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B. </a:t>
            </a:r>
            <a:r>
              <a:rPr lang="en-GB" sz="1800" noProof="0" dirty="0">
                <a:solidFill>
                  <a:srgbClr val="1F3A63"/>
                </a:solidFill>
                <a:latin typeface="Calibri" pitchFamily="34" charset="0"/>
                <a:ea typeface="Calibri" pitchFamily="34" charset="-122"/>
                <a:cs typeface="Calibri" pitchFamily="34" charset="-120"/>
              </a:rPr>
              <a:t>Thickened, dimpled breast skin resembling orange peel</a:t>
            </a:r>
            <a:endParaRPr lang="en-GB" sz="1800" noProof="0" dirty="0"/>
          </a:p>
        </p:txBody>
      </p:sp>
      <p:sp>
        <p:nvSpPr>
          <p:cNvPr id="15" name="Text 13"/>
          <p:cNvSpPr txBox="1"/>
          <p:nvPr/>
        </p:nvSpPr>
        <p:spPr>
          <a:xfrm>
            <a:off x="731520" y="4933188"/>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C. </a:t>
            </a:r>
            <a:r>
              <a:rPr lang="en-GB" sz="1800" noProof="0" dirty="0">
                <a:solidFill>
                  <a:srgbClr val="1F3A63"/>
                </a:solidFill>
                <a:latin typeface="Calibri" pitchFamily="34" charset="0"/>
                <a:ea typeface="Calibri" pitchFamily="34" charset="-122"/>
                <a:cs typeface="Calibri" pitchFamily="34" charset="-120"/>
              </a:rPr>
              <a:t>A simple breast cyst</a:t>
            </a:r>
            <a:endParaRPr lang="en-GB" sz="1800" noProof="0" dirty="0"/>
          </a:p>
        </p:txBody>
      </p:sp>
      <p:sp>
        <p:nvSpPr>
          <p:cNvPr id="16" name="Text 14"/>
          <p:cNvSpPr txBox="1"/>
          <p:nvPr/>
        </p:nvSpPr>
        <p:spPr>
          <a:xfrm>
            <a:off x="6210148" y="4933188"/>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D. </a:t>
            </a:r>
            <a:r>
              <a:rPr lang="en-GB" sz="1800" noProof="0" dirty="0">
                <a:solidFill>
                  <a:srgbClr val="1F3A63"/>
                </a:solidFill>
                <a:latin typeface="Calibri" pitchFamily="34" charset="0"/>
                <a:ea typeface="Calibri" pitchFamily="34" charset="-122"/>
                <a:cs typeface="Calibri" pitchFamily="34" charset="-120"/>
              </a:rPr>
              <a:t>Milky nipple discharge</a:t>
            </a:r>
            <a:endParaRPr lang="en-GB" sz="1800" noProof="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en-GB" sz="1100" b="1" kern="0" spc="100" noProof="0" dirty="0">
                <a:solidFill>
                  <a:srgbClr val="5B7699"/>
                </a:solidFill>
                <a:latin typeface="Calibri" pitchFamily="34" charset="0"/>
                <a:ea typeface="Calibri" pitchFamily="34" charset="-122"/>
                <a:cs typeface="Calibri" pitchFamily="34" charset="-120"/>
              </a:rPr>
              <a:t>B A S E L I N E   C H E C K</a:t>
            </a:r>
            <a:endParaRPr lang="en-GB"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en-GB" sz="1000" noProof="0" dirty="0">
                <a:solidFill>
                  <a:srgbClr val="5B7699"/>
                </a:solidFill>
                <a:latin typeface="Calibri" pitchFamily="34" charset="0"/>
                <a:ea typeface="Calibri" pitchFamily="34" charset="-122"/>
                <a:cs typeface="Calibri" pitchFamily="34" charset="-120"/>
              </a:rPr>
              <a:t>Breast Cancer  |  Frontline HCP  |  Rwanda Biomedical Centre</a:t>
            </a:r>
            <a:endParaRPr lang="en-GB"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en-GB" sz="3000" b="1" noProof="0" dirty="0">
                <a:solidFill>
                  <a:srgbClr val="12315B"/>
                </a:solidFill>
                <a:latin typeface="Calibri" pitchFamily="34" charset="0"/>
                <a:ea typeface="Calibri" pitchFamily="34" charset="-122"/>
                <a:cs typeface="Calibri" pitchFamily="34" charset="-120"/>
              </a:rPr>
              <a:t>Pre-test (6 of 10)</a:t>
            </a:r>
            <a:endParaRPr lang="en-GB" sz="3000" noProof="0" dirty="0"/>
          </a:p>
        </p:txBody>
      </p:sp>
      <p:sp>
        <p:nvSpPr>
          <p:cNvPr id="5" name="Shape 3"/>
          <p:cNvSpPr/>
          <p:nvPr/>
        </p:nvSpPr>
        <p:spPr>
          <a:xfrm>
            <a:off x="548640" y="2048256"/>
            <a:ext cx="11094415" cy="1655064"/>
          </a:xfrm>
          <a:prstGeom prst="roundRect">
            <a:avLst>
              <a:gd name="adj" fmla="val 3315"/>
            </a:avLst>
          </a:prstGeom>
          <a:solidFill>
            <a:srgbClr val="F4F8FC"/>
          </a:solidFill>
          <a:ln w="12700">
            <a:solidFill>
              <a:srgbClr val="C8D8EC"/>
            </a:solidFill>
            <a:prstDash val="solid"/>
          </a:ln>
        </p:spPr>
        <p:txBody>
          <a:bodyPr/>
          <a:lstStyle/>
          <a:p>
            <a:endParaRPr lang="en-GB" noProof="0" dirty="0"/>
          </a:p>
        </p:txBody>
      </p:sp>
      <p:sp>
        <p:nvSpPr>
          <p:cNvPr id="6" name="Text 4"/>
          <p:cNvSpPr txBox="1"/>
          <p:nvPr/>
        </p:nvSpPr>
        <p:spPr>
          <a:xfrm>
            <a:off x="731520" y="2157984"/>
            <a:ext cx="10728655" cy="384048"/>
          </a:xfrm>
          <a:prstGeom prst="rect">
            <a:avLst/>
          </a:prstGeom>
          <a:noFill/>
          <a:ln/>
        </p:spPr>
        <p:txBody>
          <a:bodyPr wrap="square" lIns="0" tIns="0" rIns="0" bIns="0" rtlCol="0" anchor="t"/>
          <a:lstStyle/>
          <a:p>
            <a:pPr marL="0" indent="0">
              <a:buNone/>
            </a:pPr>
            <a:r>
              <a:rPr lang="en-GB" sz="1800" b="1" noProof="0" dirty="0">
                <a:solidFill>
                  <a:srgbClr val="12315B"/>
                </a:solidFill>
                <a:latin typeface="Calibri" pitchFamily="34" charset="0"/>
                <a:ea typeface="Calibri" pitchFamily="34" charset="-122"/>
                <a:cs typeface="Calibri" pitchFamily="34" charset="-120"/>
              </a:rPr>
              <a:t>Q11. Breast cancer in men is:</a:t>
            </a:r>
            <a:endParaRPr lang="en-GB" sz="1800" noProof="0" dirty="0"/>
          </a:p>
        </p:txBody>
      </p:sp>
      <p:sp>
        <p:nvSpPr>
          <p:cNvPr id="7" name="Text 5"/>
          <p:cNvSpPr txBox="1"/>
          <p:nvPr/>
        </p:nvSpPr>
        <p:spPr>
          <a:xfrm>
            <a:off x="731520" y="2578608"/>
            <a:ext cx="5250028" cy="566928"/>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A. </a:t>
            </a:r>
            <a:r>
              <a:rPr lang="en-GB" sz="1800" noProof="0" dirty="0">
                <a:solidFill>
                  <a:srgbClr val="1F3A63"/>
                </a:solidFill>
                <a:latin typeface="Calibri" pitchFamily="34" charset="0"/>
                <a:ea typeface="Calibri" pitchFamily="34" charset="-122"/>
                <a:cs typeface="Calibri" pitchFamily="34" charset="-120"/>
              </a:rPr>
              <a:t>Biologically impossible</a:t>
            </a:r>
            <a:endParaRPr lang="en-GB" sz="1800" noProof="0" dirty="0"/>
          </a:p>
        </p:txBody>
      </p:sp>
      <p:sp>
        <p:nvSpPr>
          <p:cNvPr id="8" name="Text 6"/>
          <p:cNvSpPr txBox="1"/>
          <p:nvPr/>
        </p:nvSpPr>
        <p:spPr>
          <a:xfrm>
            <a:off x="6210148" y="2578608"/>
            <a:ext cx="5250028" cy="566928"/>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B. </a:t>
            </a:r>
            <a:r>
              <a:rPr lang="en-GB" sz="1800" noProof="0" dirty="0">
                <a:solidFill>
                  <a:srgbClr val="1F3A63"/>
                </a:solidFill>
                <a:latin typeface="Calibri" pitchFamily="34" charset="0"/>
                <a:ea typeface="Calibri" pitchFamily="34" charset="-122"/>
                <a:cs typeface="Calibri" pitchFamily="34" charset="-120"/>
              </a:rPr>
              <a:t>Uncommon but possible, and suspicious findings need assessment</a:t>
            </a:r>
            <a:endParaRPr lang="en-GB" sz="1800" noProof="0" dirty="0"/>
          </a:p>
        </p:txBody>
      </p:sp>
      <p:sp>
        <p:nvSpPr>
          <p:cNvPr id="9" name="Text 7"/>
          <p:cNvSpPr txBox="1"/>
          <p:nvPr/>
        </p:nvSpPr>
        <p:spPr>
          <a:xfrm>
            <a:off x="731520" y="3200400"/>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C. </a:t>
            </a:r>
            <a:r>
              <a:rPr lang="en-GB" sz="1800" noProof="0" dirty="0">
                <a:solidFill>
                  <a:srgbClr val="1F3A63"/>
                </a:solidFill>
                <a:latin typeface="Calibri" pitchFamily="34" charset="0"/>
                <a:ea typeface="Calibri" pitchFamily="34" charset="-122"/>
                <a:cs typeface="Calibri" pitchFamily="34" charset="-120"/>
              </a:rPr>
              <a:t>More common than in women</a:t>
            </a:r>
            <a:endParaRPr lang="en-GB" sz="1800" noProof="0" dirty="0"/>
          </a:p>
        </p:txBody>
      </p:sp>
      <p:sp>
        <p:nvSpPr>
          <p:cNvPr id="10" name="Text 8"/>
          <p:cNvSpPr txBox="1"/>
          <p:nvPr/>
        </p:nvSpPr>
        <p:spPr>
          <a:xfrm>
            <a:off x="6210148" y="3200400"/>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D. </a:t>
            </a:r>
            <a:r>
              <a:rPr lang="en-GB" sz="1800" noProof="0" dirty="0">
                <a:solidFill>
                  <a:srgbClr val="1F3A63"/>
                </a:solidFill>
                <a:latin typeface="Calibri" pitchFamily="34" charset="0"/>
                <a:ea typeface="Calibri" pitchFamily="34" charset="-122"/>
                <a:cs typeface="Calibri" pitchFamily="34" charset="-120"/>
              </a:rPr>
              <a:t>Never treated</a:t>
            </a:r>
            <a:endParaRPr lang="en-GB" sz="1800" noProof="0" dirty="0"/>
          </a:p>
        </p:txBody>
      </p:sp>
      <p:sp>
        <p:nvSpPr>
          <p:cNvPr id="11" name="Shape 9"/>
          <p:cNvSpPr/>
          <p:nvPr/>
        </p:nvSpPr>
        <p:spPr>
          <a:xfrm>
            <a:off x="548640" y="3904488"/>
            <a:ext cx="11094415" cy="1655064"/>
          </a:xfrm>
          <a:prstGeom prst="roundRect">
            <a:avLst>
              <a:gd name="adj" fmla="val 3315"/>
            </a:avLst>
          </a:prstGeom>
          <a:solidFill>
            <a:srgbClr val="F4F8FC"/>
          </a:solidFill>
          <a:ln w="12700">
            <a:solidFill>
              <a:srgbClr val="C8D8EC"/>
            </a:solidFill>
            <a:prstDash val="solid"/>
          </a:ln>
        </p:spPr>
        <p:txBody>
          <a:bodyPr/>
          <a:lstStyle/>
          <a:p>
            <a:endParaRPr lang="en-GB" noProof="0" dirty="0"/>
          </a:p>
        </p:txBody>
      </p:sp>
      <p:sp>
        <p:nvSpPr>
          <p:cNvPr id="12" name="Text 10"/>
          <p:cNvSpPr txBox="1"/>
          <p:nvPr/>
        </p:nvSpPr>
        <p:spPr>
          <a:xfrm>
            <a:off x="731520" y="4014216"/>
            <a:ext cx="10728655" cy="384048"/>
          </a:xfrm>
          <a:prstGeom prst="rect">
            <a:avLst/>
          </a:prstGeom>
          <a:noFill/>
          <a:ln/>
        </p:spPr>
        <p:txBody>
          <a:bodyPr wrap="square" lIns="0" tIns="0" rIns="0" bIns="0" rtlCol="0" anchor="t"/>
          <a:lstStyle/>
          <a:p>
            <a:pPr marL="0" indent="0">
              <a:buNone/>
            </a:pPr>
            <a:r>
              <a:rPr lang="en-GB" sz="1800" b="1" noProof="0" dirty="0">
                <a:solidFill>
                  <a:srgbClr val="12315B"/>
                </a:solidFill>
                <a:latin typeface="Calibri" pitchFamily="34" charset="0"/>
                <a:ea typeface="Calibri" pitchFamily="34" charset="-122"/>
                <a:cs typeface="Calibri" pitchFamily="34" charset="-120"/>
              </a:rPr>
              <a:t>Q12. Grade describes:</a:t>
            </a:r>
            <a:endParaRPr lang="en-GB" sz="1800" noProof="0" dirty="0"/>
          </a:p>
        </p:txBody>
      </p:sp>
      <p:sp>
        <p:nvSpPr>
          <p:cNvPr id="13" name="Text 11"/>
          <p:cNvSpPr txBox="1"/>
          <p:nvPr/>
        </p:nvSpPr>
        <p:spPr>
          <a:xfrm>
            <a:off x="731520" y="4434840"/>
            <a:ext cx="5250028" cy="566928"/>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A. </a:t>
            </a:r>
            <a:r>
              <a:rPr lang="en-GB" sz="1800" noProof="0" dirty="0">
                <a:solidFill>
                  <a:srgbClr val="1F3A63"/>
                </a:solidFill>
                <a:latin typeface="Calibri" pitchFamily="34" charset="0"/>
                <a:ea typeface="Calibri" pitchFamily="34" charset="-122"/>
                <a:cs typeface="Calibri" pitchFamily="34" charset="-120"/>
              </a:rPr>
              <a:t>How far the cancer has spread</a:t>
            </a:r>
            <a:endParaRPr lang="en-GB" sz="1800" noProof="0" dirty="0"/>
          </a:p>
        </p:txBody>
      </p:sp>
      <p:sp>
        <p:nvSpPr>
          <p:cNvPr id="14" name="Text 12"/>
          <p:cNvSpPr txBox="1"/>
          <p:nvPr/>
        </p:nvSpPr>
        <p:spPr>
          <a:xfrm>
            <a:off x="6210148" y="4434840"/>
            <a:ext cx="5250028" cy="566928"/>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B. </a:t>
            </a:r>
            <a:r>
              <a:rPr lang="en-GB" sz="1800" noProof="0" dirty="0">
                <a:solidFill>
                  <a:srgbClr val="1F3A63"/>
                </a:solidFill>
                <a:latin typeface="Calibri" pitchFamily="34" charset="0"/>
                <a:ea typeface="Calibri" pitchFamily="34" charset="-122"/>
                <a:cs typeface="Calibri" pitchFamily="34" charset="-120"/>
              </a:rPr>
              <a:t>How abnormal the cells look under the microscope</a:t>
            </a:r>
            <a:endParaRPr lang="en-GB" sz="1800" noProof="0" dirty="0"/>
          </a:p>
        </p:txBody>
      </p:sp>
      <p:sp>
        <p:nvSpPr>
          <p:cNvPr id="15" name="Text 13"/>
          <p:cNvSpPr txBox="1"/>
          <p:nvPr/>
        </p:nvSpPr>
        <p:spPr>
          <a:xfrm>
            <a:off x="731520" y="5056632"/>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C. </a:t>
            </a:r>
            <a:r>
              <a:rPr lang="en-GB" sz="1800" noProof="0" dirty="0">
                <a:solidFill>
                  <a:srgbClr val="1F3A63"/>
                </a:solidFill>
                <a:latin typeface="Calibri" pitchFamily="34" charset="0"/>
                <a:ea typeface="Calibri" pitchFamily="34" charset="-122"/>
                <a:cs typeface="Calibri" pitchFamily="34" charset="-120"/>
              </a:rPr>
              <a:t>The imaging score</a:t>
            </a:r>
            <a:endParaRPr lang="en-GB" sz="1800" noProof="0" dirty="0"/>
          </a:p>
        </p:txBody>
      </p:sp>
      <p:sp>
        <p:nvSpPr>
          <p:cNvPr id="16" name="Text 14"/>
          <p:cNvSpPr txBox="1"/>
          <p:nvPr/>
        </p:nvSpPr>
        <p:spPr>
          <a:xfrm>
            <a:off x="6210148" y="5056632"/>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D. </a:t>
            </a:r>
            <a:r>
              <a:rPr lang="en-GB" sz="1800" noProof="0" dirty="0">
                <a:solidFill>
                  <a:srgbClr val="1F3A63"/>
                </a:solidFill>
                <a:latin typeface="Calibri" pitchFamily="34" charset="0"/>
                <a:ea typeface="Calibri" pitchFamily="34" charset="-122"/>
                <a:cs typeface="Calibri" pitchFamily="34" charset="-120"/>
              </a:rPr>
              <a:t>The treatment chosen</a:t>
            </a:r>
            <a:endParaRPr lang="en-GB" sz="1800" noProof="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en-GB" sz="1100" b="1" kern="0" spc="100" noProof="0" dirty="0">
                <a:solidFill>
                  <a:srgbClr val="5B7699"/>
                </a:solidFill>
                <a:latin typeface="Calibri" pitchFamily="34" charset="0"/>
                <a:ea typeface="Calibri" pitchFamily="34" charset="-122"/>
                <a:cs typeface="Calibri" pitchFamily="34" charset="-120"/>
              </a:rPr>
              <a:t>B A S E L I N E   C H E C K</a:t>
            </a:r>
            <a:endParaRPr lang="en-GB"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en-GB" sz="1000" noProof="0" dirty="0">
                <a:solidFill>
                  <a:srgbClr val="5B7699"/>
                </a:solidFill>
                <a:latin typeface="Calibri" pitchFamily="34" charset="0"/>
                <a:ea typeface="Calibri" pitchFamily="34" charset="-122"/>
                <a:cs typeface="Calibri" pitchFamily="34" charset="-120"/>
              </a:rPr>
              <a:t>Breast Cancer  |  Frontline HCP  |  Rwanda Biomedical Centre</a:t>
            </a:r>
            <a:endParaRPr lang="en-GB"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en-GB" sz="3000" b="1" noProof="0" dirty="0">
                <a:solidFill>
                  <a:srgbClr val="12315B"/>
                </a:solidFill>
                <a:latin typeface="Calibri" pitchFamily="34" charset="0"/>
                <a:ea typeface="Calibri" pitchFamily="34" charset="-122"/>
                <a:cs typeface="Calibri" pitchFamily="34" charset="-120"/>
              </a:rPr>
              <a:t>Pre-test (7 of 10)</a:t>
            </a:r>
            <a:endParaRPr lang="en-GB" sz="3000" noProof="0" dirty="0"/>
          </a:p>
        </p:txBody>
      </p:sp>
      <p:sp>
        <p:nvSpPr>
          <p:cNvPr id="5" name="Shape 3"/>
          <p:cNvSpPr/>
          <p:nvPr/>
        </p:nvSpPr>
        <p:spPr>
          <a:xfrm>
            <a:off x="548640" y="2171700"/>
            <a:ext cx="11094415" cy="1408176"/>
          </a:xfrm>
          <a:prstGeom prst="roundRect">
            <a:avLst>
              <a:gd name="adj" fmla="val 3896"/>
            </a:avLst>
          </a:prstGeom>
          <a:solidFill>
            <a:srgbClr val="F4F8FC"/>
          </a:solidFill>
          <a:ln w="12700">
            <a:solidFill>
              <a:srgbClr val="C8D8EC"/>
            </a:solidFill>
            <a:prstDash val="solid"/>
          </a:ln>
        </p:spPr>
        <p:txBody>
          <a:bodyPr/>
          <a:lstStyle/>
          <a:p>
            <a:endParaRPr lang="en-GB" noProof="0" dirty="0"/>
          </a:p>
        </p:txBody>
      </p:sp>
      <p:sp>
        <p:nvSpPr>
          <p:cNvPr id="6" name="Text 4"/>
          <p:cNvSpPr txBox="1"/>
          <p:nvPr/>
        </p:nvSpPr>
        <p:spPr>
          <a:xfrm>
            <a:off x="731520" y="2281428"/>
            <a:ext cx="10728655" cy="384048"/>
          </a:xfrm>
          <a:prstGeom prst="rect">
            <a:avLst/>
          </a:prstGeom>
          <a:noFill/>
          <a:ln/>
        </p:spPr>
        <p:txBody>
          <a:bodyPr wrap="square" lIns="0" tIns="0" rIns="0" bIns="0" rtlCol="0" anchor="t"/>
          <a:lstStyle/>
          <a:p>
            <a:pPr marL="0" indent="0">
              <a:buNone/>
            </a:pPr>
            <a:r>
              <a:rPr lang="en-GB" sz="1800" b="1" noProof="0" dirty="0">
                <a:solidFill>
                  <a:srgbClr val="12315B"/>
                </a:solidFill>
                <a:latin typeface="Calibri" pitchFamily="34" charset="0"/>
                <a:ea typeface="Calibri" pitchFamily="34" charset="-122"/>
                <a:cs typeface="Calibri" pitchFamily="34" charset="-120"/>
              </a:rPr>
              <a:t>Q13. In TNM staging, the letter N describes:</a:t>
            </a:r>
            <a:endParaRPr lang="en-GB" sz="1800" noProof="0" dirty="0"/>
          </a:p>
        </p:txBody>
      </p:sp>
      <p:sp>
        <p:nvSpPr>
          <p:cNvPr id="7" name="Text 5"/>
          <p:cNvSpPr txBox="1"/>
          <p:nvPr/>
        </p:nvSpPr>
        <p:spPr>
          <a:xfrm>
            <a:off x="731520" y="2702052"/>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A. </a:t>
            </a:r>
            <a:r>
              <a:rPr lang="en-GB" sz="1800" noProof="0" dirty="0">
                <a:solidFill>
                  <a:srgbClr val="1F3A63"/>
                </a:solidFill>
                <a:latin typeface="Calibri" pitchFamily="34" charset="0"/>
                <a:ea typeface="Calibri" pitchFamily="34" charset="-122"/>
                <a:cs typeface="Calibri" pitchFamily="34" charset="-120"/>
              </a:rPr>
              <a:t>Tumour size</a:t>
            </a:r>
            <a:endParaRPr lang="en-GB" sz="1800" noProof="0" dirty="0"/>
          </a:p>
        </p:txBody>
      </p:sp>
      <p:sp>
        <p:nvSpPr>
          <p:cNvPr id="8" name="Text 6"/>
          <p:cNvSpPr txBox="1"/>
          <p:nvPr/>
        </p:nvSpPr>
        <p:spPr>
          <a:xfrm>
            <a:off x="6210148" y="2702052"/>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B. </a:t>
            </a:r>
            <a:r>
              <a:rPr lang="en-GB" sz="1800" noProof="0" dirty="0">
                <a:solidFill>
                  <a:srgbClr val="1F3A63"/>
                </a:solidFill>
                <a:latin typeface="Calibri" pitchFamily="34" charset="0"/>
                <a:ea typeface="Calibri" pitchFamily="34" charset="-122"/>
                <a:cs typeface="Calibri" pitchFamily="34" charset="-120"/>
              </a:rPr>
              <a:t>Regional lymph node involvement</a:t>
            </a:r>
            <a:endParaRPr lang="en-GB" sz="1800" noProof="0" dirty="0"/>
          </a:p>
        </p:txBody>
      </p:sp>
      <p:sp>
        <p:nvSpPr>
          <p:cNvPr id="9" name="Text 7"/>
          <p:cNvSpPr txBox="1"/>
          <p:nvPr/>
        </p:nvSpPr>
        <p:spPr>
          <a:xfrm>
            <a:off x="731520" y="3076956"/>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C. </a:t>
            </a:r>
            <a:r>
              <a:rPr lang="en-GB" sz="1800" noProof="0" dirty="0">
                <a:solidFill>
                  <a:srgbClr val="1F3A63"/>
                </a:solidFill>
                <a:latin typeface="Calibri" pitchFamily="34" charset="0"/>
                <a:ea typeface="Calibri" pitchFamily="34" charset="-122"/>
                <a:cs typeface="Calibri" pitchFamily="34" charset="-120"/>
              </a:rPr>
              <a:t>Distant spread</a:t>
            </a:r>
            <a:endParaRPr lang="en-GB" sz="1800" noProof="0" dirty="0"/>
          </a:p>
        </p:txBody>
      </p:sp>
      <p:sp>
        <p:nvSpPr>
          <p:cNvPr id="10" name="Text 8"/>
          <p:cNvSpPr txBox="1"/>
          <p:nvPr/>
        </p:nvSpPr>
        <p:spPr>
          <a:xfrm>
            <a:off x="6210148" y="3076956"/>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D. </a:t>
            </a:r>
            <a:r>
              <a:rPr lang="en-GB" sz="1800" noProof="0" dirty="0">
                <a:solidFill>
                  <a:srgbClr val="1F3A63"/>
                </a:solidFill>
                <a:latin typeface="Calibri" pitchFamily="34" charset="0"/>
                <a:ea typeface="Calibri" pitchFamily="34" charset="-122"/>
                <a:cs typeface="Calibri" pitchFamily="34" charset="-120"/>
              </a:rPr>
              <a:t>Cell appearance</a:t>
            </a:r>
            <a:endParaRPr lang="en-GB" sz="1800" noProof="0" dirty="0"/>
          </a:p>
        </p:txBody>
      </p:sp>
      <p:sp>
        <p:nvSpPr>
          <p:cNvPr id="11" name="Shape 9"/>
          <p:cNvSpPr/>
          <p:nvPr/>
        </p:nvSpPr>
        <p:spPr>
          <a:xfrm>
            <a:off x="548640" y="3781044"/>
            <a:ext cx="11094415" cy="1655064"/>
          </a:xfrm>
          <a:prstGeom prst="roundRect">
            <a:avLst>
              <a:gd name="adj" fmla="val 3315"/>
            </a:avLst>
          </a:prstGeom>
          <a:solidFill>
            <a:srgbClr val="F4F8FC"/>
          </a:solidFill>
          <a:ln w="12700">
            <a:solidFill>
              <a:srgbClr val="C8D8EC"/>
            </a:solidFill>
            <a:prstDash val="solid"/>
          </a:ln>
        </p:spPr>
        <p:txBody>
          <a:bodyPr/>
          <a:lstStyle/>
          <a:p>
            <a:endParaRPr lang="en-GB" noProof="0" dirty="0"/>
          </a:p>
        </p:txBody>
      </p:sp>
      <p:sp>
        <p:nvSpPr>
          <p:cNvPr id="12" name="Text 10"/>
          <p:cNvSpPr txBox="1"/>
          <p:nvPr/>
        </p:nvSpPr>
        <p:spPr>
          <a:xfrm>
            <a:off x="731520" y="3890772"/>
            <a:ext cx="10728655" cy="384048"/>
          </a:xfrm>
          <a:prstGeom prst="rect">
            <a:avLst/>
          </a:prstGeom>
          <a:noFill/>
          <a:ln/>
        </p:spPr>
        <p:txBody>
          <a:bodyPr wrap="square" lIns="0" tIns="0" rIns="0" bIns="0" rtlCol="0" anchor="t"/>
          <a:lstStyle/>
          <a:p>
            <a:pPr marL="0" indent="0">
              <a:buNone/>
            </a:pPr>
            <a:r>
              <a:rPr lang="en-GB" sz="1800" b="1" noProof="0" dirty="0">
                <a:solidFill>
                  <a:srgbClr val="12315B"/>
                </a:solidFill>
                <a:latin typeface="Calibri" pitchFamily="34" charset="0"/>
                <a:ea typeface="Calibri" pitchFamily="34" charset="-122"/>
                <a:cs typeface="Calibri" pitchFamily="34" charset="-120"/>
              </a:rPr>
              <a:t>Q14. Oestrogen receptor testing of breast cancer tissue helps to:</a:t>
            </a:r>
            <a:endParaRPr lang="en-GB" sz="1800" noProof="0" dirty="0"/>
          </a:p>
        </p:txBody>
      </p:sp>
      <p:sp>
        <p:nvSpPr>
          <p:cNvPr id="13" name="Text 11"/>
          <p:cNvSpPr txBox="1"/>
          <p:nvPr/>
        </p:nvSpPr>
        <p:spPr>
          <a:xfrm>
            <a:off x="731520" y="4311396"/>
            <a:ext cx="5250028" cy="566928"/>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A. </a:t>
            </a:r>
            <a:r>
              <a:rPr lang="en-GB" sz="1800" noProof="0" dirty="0">
                <a:solidFill>
                  <a:srgbClr val="1F3A63"/>
                </a:solidFill>
                <a:latin typeface="Calibri" pitchFamily="34" charset="0"/>
                <a:ea typeface="Calibri" pitchFamily="34" charset="-122"/>
                <a:cs typeface="Calibri" pitchFamily="34" charset="-120"/>
              </a:rPr>
              <a:t>Confirm that cancer is present</a:t>
            </a:r>
            <a:endParaRPr lang="en-GB" sz="1800" noProof="0" dirty="0"/>
          </a:p>
        </p:txBody>
      </p:sp>
      <p:sp>
        <p:nvSpPr>
          <p:cNvPr id="14" name="Text 12"/>
          <p:cNvSpPr txBox="1"/>
          <p:nvPr/>
        </p:nvSpPr>
        <p:spPr>
          <a:xfrm>
            <a:off x="6210148" y="4311396"/>
            <a:ext cx="5250028" cy="566928"/>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B. </a:t>
            </a:r>
            <a:r>
              <a:rPr lang="en-GB" sz="1800" noProof="0" dirty="0">
                <a:solidFill>
                  <a:srgbClr val="1F3A63"/>
                </a:solidFill>
                <a:latin typeface="Calibri" pitchFamily="34" charset="0"/>
                <a:ea typeface="Calibri" pitchFamily="34" charset="-122"/>
                <a:cs typeface="Calibri" pitchFamily="34" charset="-120"/>
              </a:rPr>
              <a:t>Guide whether endocrine therapy is likely to help</a:t>
            </a:r>
            <a:endParaRPr lang="en-GB" sz="1800" noProof="0" dirty="0"/>
          </a:p>
        </p:txBody>
      </p:sp>
      <p:sp>
        <p:nvSpPr>
          <p:cNvPr id="15" name="Text 13"/>
          <p:cNvSpPr txBox="1"/>
          <p:nvPr/>
        </p:nvSpPr>
        <p:spPr>
          <a:xfrm>
            <a:off x="731520" y="4933188"/>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C. </a:t>
            </a:r>
            <a:r>
              <a:rPr lang="en-GB" sz="1800" noProof="0" dirty="0">
                <a:solidFill>
                  <a:srgbClr val="1F3A63"/>
                </a:solidFill>
                <a:latin typeface="Calibri" pitchFamily="34" charset="0"/>
                <a:ea typeface="Calibri" pitchFamily="34" charset="-122"/>
                <a:cs typeface="Calibri" pitchFamily="34" charset="-120"/>
              </a:rPr>
              <a:t>Measure tumour size</a:t>
            </a:r>
            <a:endParaRPr lang="en-GB" sz="1800" noProof="0" dirty="0"/>
          </a:p>
        </p:txBody>
      </p:sp>
      <p:sp>
        <p:nvSpPr>
          <p:cNvPr id="16" name="Text 14"/>
          <p:cNvSpPr txBox="1"/>
          <p:nvPr/>
        </p:nvSpPr>
        <p:spPr>
          <a:xfrm>
            <a:off x="6210148" y="4933188"/>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D. </a:t>
            </a:r>
            <a:r>
              <a:rPr lang="en-GB" sz="1800" noProof="0" dirty="0">
                <a:solidFill>
                  <a:srgbClr val="1F3A63"/>
                </a:solidFill>
                <a:latin typeface="Calibri" pitchFamily="34" charset="0"/>
                <a:ea typeface="Calibri" pitchFamily="34" charset="-122"/>
                <a:cs typeface="Calibri" pitchFamily="34" charset="-120"/>
              </a:rPr>
              <a:t>Replace staging</a:t>
            </a:r>
            <a:endParaRPr lang="en-GB" sz="1800" noProof="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en-GB" sz="1100" b="1" kern="0" spc="100" noProof="0" dirty="0">
                <a:solidFill>
                  <a:srgbClr val="5B7699"/>
                </a:solidFill>
                <a:latin typeface="Calibri" pitchFamily="34" charset="0"/>
                <a:ea typeface="Calibri" pitchFamily="34" charset="-122"/>
                <a:cs typeface="Calibri" pitchFamily="34" charset="-120"/>
              </a:rPr>
              <a:t>B A S E L I N E   C H E C K</a:t>
            </a:r>
            <a:endParaRPr lang="en-GB"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en-GB" sz="1000" noProof="0" dirty="0">
                <a:solidFill>
                  <a:srgbClr val="5B7699"/>
                </a:solidFill>
                <a:latin typeface="Calibri" pitchFamily="34" charset="0"/>
                <a:ea typeface="Calibri" pitchFamily="34" charset="-122"/>
                <a:cs typeface="Calibri" pitchFamily="34" charset="-120"/>
              </a:rPr>
              <a:t>Breast Cancer  |  Frontline HCP  |  Rwanda Biomedical Centre</a:t>
            </a:r>
            <a:endParaRPr lang="en-GB"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en-GB" sz="3000" b="1" noProof="0" dirty="0">
                <a:solidFill>
                  <a:srgbClr val="12315B"/>
                </a:solidFill>
                <a:latin typeface="Calibri" pitchFamily="34" charset="0"/>
                <a:ea typeface="Calibri" pitchFamily="34" charset="-122"/>
                <a:cs typeface="Calibri" pitchFamily="34" charset="-120"/>
              </a:rPr>
              <a:t>Pre-test (8 of 10)</a:t>
            </a:r>
            <a:endParaRPr lang="en-GB" sz="3000" noProof="0" dirty="0"/>
          </a:p>
        </p:txBody>
      </p:sp>
      <p:sp>
        <p:nvSpPr>
          <p:cNvPr id="5" name="Shape 3"/>
          <p:cNvSpPr/>
          <p:nvPr/>
        </p:nvSpPr>
        <p:spPr>
          <a:xfrm>
            <a:off x="548640" y="2048256"/>
            <a:ext cx="11094415" cy="1655064"/>
          </a:xfrm>
          <a:prstGeom prst="roundRect">
            <a:avLst>
              <a:gd name="adj" fmla="val 3315"/>
            </a:avLst>
          </a:prstGeom>
          <a:solidFill>
            <a:srgbClr val="F4F8FC"/>
          </a:solidFill>
          <a:ln w="12700">
            <a:solidFill>
              <a:srgbClr val="C8D8EC"/>
            </a:solidFill>
            <a:prstDash val="solid"/>
          </a:ln>
        </p:spPr>
        <p:txBody>
          <a:bodyPr/>
          <a:lstStyle/>
          <a:p>
            <a:endParaRPr lang="en-GB" noProof="0" dirty="0"/>
          </a:p>
        </p:txBody>
      </p:sp>
      <p:sp>
        <p:nvSpPr>
          <p:cNvPr id="6" name="Text 4"/>
          <p:cNvSpPr txBox="1"/>
          <p:nvPr/>
        </p:nvSpPr>
        <p:spPr>
          <a:xfrm>
            <a:off x="731520" y="2157984"/>
            <a:ext cx="10728655" cy="384048"/>
          </a:xfrm>
          <a:prstGeom prst="rect">
            <a:avLst/>
          </a:prstGeom>
          <a:noFill/>
          <a:ln/>
        </p:spPr>
        <p:txBody>
          <a:bodyPr wrap="square" lIns="0" tIns="0" rIns="0" bIns="0" rtlCol="0" anchor="t"/>
          <a:lstStyle/>
          <a:p>
            <a:pPr marL="0" indent="0">
              <a:buNone/>
            </a:pPr>
            <a:r>
              <a:rPr lang="en-GB" sz="1800" b="1" noProof="0" dirty="0">
                <a:solidFill>
                  <a:srgbClr val="12315B"/>
                </a:solidFill>
                <a:latin typeface="Calibri" pitchFamily="34" charset="0"/>
                <a:ea typeface="Calibri" pitchFamily="34" charset="-122"/>
                <a:cs typeface="Calibri" pitchFamily="34" charset="-120"/>
              </a:rPr>
              <a:t>Q15. Triple negative breast cancer lacks:</a:t>
            </a:r>
            <a:endParaRPr lang="en-GB" sz="1800" noProof="0" dirty="0"/>
          </a:p>
        </p:txBody>
      </p:sp>
      <p:sp>
        <p:nvSpPr>
          <p:cNvPr id="7" name="Text 5"/>
          <p:cNvSpPr txBox="1"/>
          <p:nvPr/>
        </p:nvSpPr>
        <p:spPr>
          <a:xfrm>
            <a:off x="731520" y="2578608"/>
            <a:ext cx="5250028" cy="566928"/>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A. </a:t>
            </a:r>
            <a:r>
              <a:rPr lang="en-GB" sz="1800" noProof="0" dirty="0">
                <a:solidFill>
                  <a:srgbClr val="1F3A63"/>
                </a:solidFill>
                <a:latin typeface="Calibri" pitchFamily="34" charset="0"/>
                <a:ea typeface="Calibri" pitchFamily="34" charset="-122"/>
                <a:cs typeface="Calibri" pitchFamily="34" charset="-120"/>
              </a:rPr>
              <a:t>Any possibility of treatment</a:t>
            </a:r>
            <a:endParaRPr lang="en-GB" sz="1800" noProof="0" dirty="0"/>
          </a:p>
        </p:txBody>
      </p:sp>
      <p:sp>
        <p:nvSpPr>
          <p:cNvPr id="8" name="Text 6"/>
          <p:cNvSpPr txBox="1"/>
          <p:nvPr/>
        </p:nvSpPr>
        <p:spPr>
          <a:xfrm>
            <a:off x="6210148" y="2578608"/>
            <a:ext cx="5250028" cy="566928"/>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B. </a:t>
            </a:r>
            <a:r>
              <a:rPr lang="en-GB" sz="1800" noProof="0" dirty="0">
                <a:solidFill>
                  <a:srgbClr val="1F3A63"/>
                </a:solidFill>
                <a:latin typeface="Calibri" pitchFamily="34" charset="0"/>
                <a:ea typeface="Calibri" pitchFamily="34" charset="-122"/>
                <a:cs typeface="Calibri" pitchFamily="34" charset="-120"/>
              </a:rPr>
              <a:t>Oestrogen receptor, progesterone receptor and HER2 overexpression</a:t>
            </a:r>
            <a:endParaRPr lang="en-GB" sz="1800" noProof="0" dirty="0"/>
          </a:p>
        </p:txBody>
      </p:sp>
      <p:sp>
        <p:nvSpPr>
          <p:cNvPr id="9" name="Text 7"/>
          <p:cNvSpPr txBox="1"/>
          <p:nvPr/>
        </p:nvSpPr>
        <p:spPr>
          <a:xfrm>
            <a:off x="731520" y="3200400"/>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C. </a:t>
            </a:r>
            <a:r>
              <a:rPr lang="en-GB" sz="1800" noProof="0" dirty="0">
                <a:solidFill>
                  <a:srgbClr val="1F3A63"/>
                </a:solidFill>
                <a:latin typeface="Calibri" pitchFamily="34" charset="0"/>
                <a:ea typeface="Calibri" pitchFamily="34" charset="-122"/>
                <a:cs typeface="Calibri" pitchFamily="34" charset="-120"/>
              </a:rPr>
              <a:t>The ability to spread</a:t>
            </a:r>
            <a:endParaRPr lang="en-GB" sz="1800" noProof="0" dirty="0"/>
          </a:p>
        </p:txBody>
      </p:sp>
      <p:sp>
        <p:nvSpPr>
          <p:cNvPr id="10" name="Text 8"/>
          <p:cNvSpPr txBox="1"/>
          <p:nvPr/>
        </p:nvSpPr>
        <p:spPr>
          <a:xfrm>
            <a:off x="6210148" y="3200400"/>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D. </a:t>
            </a:r>
            <a:r>
              <a:rPr lang="en-GB" sz="1800" noProof="0" dirty="0">
                <a:solidFill>
                  <a:srgbClr val="1F3A63"/>
                </a:solidFill>
                <a:latin typeface="Calibri" pitchFamily="34" charset="0"/>
                <a:ea typeface="Calibri" pitchFamily="34" charset="-122"/>
                <a:cs typeface="Calibri" pitchFamily="34" charset="-120"/>
              </a:rPr>
              <a:t>A tissue diagnosis</a:t>
            </a:r>
            <a:endParaRPr lang="en-GB" sz="1800" noProof="0" dirty="0"/>
          </a:p>
        </p:txBody>
      </p:sp>
      <p:sp>
        <p:nvSpPr>
          <p:cNvPr id="11" name="Shape 9"/>
          <p:cNvSpPr/>
          <p:nvPr/>
        </p:nvSpPr>
        <p:spPr>
          <a:xfrm>
            <a:off x="548640" y="3904488"/>
            <a:ext cx="11094415" cy="1655064"/>
          </a:xfrm>
          <a:prstGeom prst="roundRect">
            <a:avLst>
              <a:gd name="adj" fmla="val 3315"/>
            </a:avLst>
          </a:prstGeom>
          <a:solidFill>
            <a:srgbClr val="F4F8FC"/>
          </a:solidFill>
          <a:ln w="12700">
            <a:solidFill>
              <a:srgbClr val="C8D8EC"/>
            </a:solidFill>
            <a:prstDash val="solid"/>
          </a:ln>
        </p:spPr>
        <p:txBody>
          <a:bodyPr/>
          <a:lstStyle/>
          <a:p>
            <a:endParaRPr lang="en-GB" noProof="0" dirty="0"/>
          </a:p>
        </p:txBody>
      </p:sp>
      <p:sp>
        <p:nvSpPr>
          <p:cNvPr id="12" name="Text 10"/>
          <p:cNvSpPr txBox="1"/>
          <p:nvPr/>
        </p:nvSpPr>
        <p:spPr>
          <a:xfrm>
            <a:off x="731520" y="4014216"/>
            <a:ext cx="10728655" cy="384048"/>
          </a:xfrm>
          <a:prstGeom prst="rect">
            <a:avLst/>
          </a:prstGeom>
          <a:noFill/>
          <a:ln/>
        </p:spPr>
        <p:txBody>
          <a:bodyPr wrap="square" lIns="0" tIns="0" rIns="0" bIns="0" rtlCol="0" anchor="t"/>
          <a:lstStyle/>
          <a:p>
            <a:pPr marL="0" indent="0">
              <a:buNone/>
            </a:pPr>
            <a:r>
              <a:rPr lang="en-GB" sz="1800" b="1" noProof="0" dirty="0">
                <a:solidFill>
                  <a:srgbClr val="12315B"/>
                </a:solidFill>
                <a:latin typeface="Calibri" pitchFamily="34" charset="0"/>
                <a:ea typeface="Calibri" pitchFamily="34" charset="-122"/>
                <a:cs typeface="Calibri" pitchFamily="34" charset="-120"/>
              </a:rPr>
              <a:t>Q16. A core needle biopsy:</a:t>
            </a:r>
            <a:endParaRPr lang="en-GB" sz="1800" noProof="0" dirty="0"/>
          </a:p>
        </p:txBody>
      </p:sp>
      <p:sp>
        <p:nvSpPr>
          <p:cNvPr id="13" name="Text 11"/>
          <p:cNvSpPr txBox="1"/>
          <p:nvPr/>
        </p:nvSpPr>
        <p:spPr>
          <a:xfrm>
            <a:off x="731520" y="4434840"/>
            <a:ext cx="5250028" cy="566928"/>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A. </a:t>
            </a:r>
            <a:r>
              <a:rPr lang="en-GB" sz="1800" noProof="0" dirty="0">
                <a:solidFill>
                  <a:srgbClr val="1F3A63"/>
                </a:solidFill>
                <a:latin typeface="Calibri" pitchFamily="34" charset="0"/>
                <a:ea typeface="Calibri" pitchFamily="34" charset="-122"/>
                <a:cs typeface="Calibri" pitchFamily="34" charset="-120"/>
              </a:rPr>
              <a:t>Makes cancer spread through the body</a:t>
            </a:r>
            <a:endParaRPr lang="en-GB" sz="1800" noProof="0" dirty="0"/>
          </a:p>
        </p:txBody>
      </p:sp>
      <p:sp>
        <p:nvSpPr>
          <p:cNvPr id="14" name="Text 12"/>
          <p:cNvSpPr txBox="1"/>
          <p:nvPr/>
        </p:nvSpPr>
        <p:spPr>
          <a:xfrm>
            <a:off x="6210148" y="4434840"/>
            <a:ext cx="5250028" cy="566928"/>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B. </a:t>
            </a:r>
            <a:r>
              <a:rPr lang="en-GB" sz="1800" noProof="0" dirty="0">
                <a:solidFill>
                  <a:srgbClr val="1F3A63"/>
                </a:solidFill>
                <a:latin typeface="Calibri" pitchFamily="34" charset="0"/>
                <a:ea typeface="Calibri" pitchFamily="34" charset="-122"/>
                <a:cs typeface="Calibri" pitchFamily="34" charset="-120"/>
              </a:rPr>
              <a:t>Obtains tissue so that pathology can give a diagnosis</a:t>
            </a:r>
            <a:endParaRPr lang="en-GB" sz="1800" noProof="0" dirty="0"/>
          </a:p>
        </p:txBody>
      </p:sp>
      <p:sp>
        <p:nvSpPr>
          <p:cNvPr id="15" name="Text 13"/>
          <p:cNvSpPr txBox="1"/>
          <p:nvPr/>
        </p:nvSpPr>
        <p:spPr>
          <a:xfrm>
            <a:off x="731520" y="5056632"/>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C. </a:t>
            </a:r>
            <a:r>
              <a:rPr lang="en-GB" sz="1800" noProof="0" dirty="0">
                <a:solidFill>
                  <a:srgbClr val="1F3A63"/>
                </a:solidFill>
                <a:latin typeface="Calibri" pitchFamily="34" charset="0"/>
                <a:ea typeface="Calibri" pitchFamily="34" charset="-122"/>
                <a:cs typeface="Calibri" pitchFamily="34" charset="-120"/>
              </a:rPr>
              <a:t>Replaces surgery in every patient</a:t>
            </a:r>
            <a:endParaRPr lang="en-GB" sz="1800" noProof="0" dirty="0"/>
          </a:p>
        </p:txBody>
      </p:sp>
      <p:sp>
        <p:nvSpPr>
          <p:cNvPr id="16" name="Text 14"/>
          <p:cNvSpPr txBox="1"/>
          <p:nvPr/>
        </p:nvSpPr>
        <p:spPr>
          <a:xfrm>
            <a:off x="6210148" y="5056632"/>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D. </a:t>
            </a:r>
            <a:r>
              <a:rPr lang="en-GB" sz="1800" noProof="0" dirty="0">
                <a:solidFill>
                  <a:srgbClr val="1F3A63"/>
                </a:solidFill>
                <a:latin typeface="Calibri" pitchFamily="34" charset="0"/>
                <a:ea typeface="Calibri" pitchFamily="34" charset="-122"/>
                <a:cs typeface="Calibri" pitchFamily="34" charset="-120"/>
              </a:rPr>
              <a:t>Is never required</a:t>
            </a:r>
            <a:endParaRPr lang="en-GB" sz="1800" noProof="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en-GB" sz="1100" b="1" kern="0" spc="100" noProof="0" dirty="0">
                <a:solidFill>
                  <a:srgbClr val="5B7699"/>
                </a:solidFill>
                <a:latin typeface="Calibri" pitchFamily="34" charset="0"/>
                <a:ea typeface="Calibri" pitchFamily="34" charset="-122"/>
                <a:cs typeface="Calibri" pitchFamily="34" charset="-120"/>
              </a:rPr>
              <a:t>B A S E L I N E   C H E C K</a:t>
            </a:r>
            <a:endParaRPr lang="en-GB"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en-GB" sz="1000" noProof="0" dirty="0">
                <a:solidFill>
                  <a:srgbClr val="5B7699"/>
                </a:solidFill>
                <a:latin typeface="Calibri" pitchFamily="34" charset="0"/>
                <a:ea typeface="Calibri" pitchFamily="34" charset="-122"/>
                <a:cs typeface="Calibri" pitchFamily="34" charset="-120"/>
              </a:rPr>
              <a:t>Breast Cancer  |  Frontline HCP  |  Rwanda Biomedical Centre</a:t>
            </a:r>
            <a:endParaRPr lang="en-GB"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en-GB" sz="3000" b="1" noProof="0" dirty="0">
                <a:solidFill>
                  <a:srgbClr val="12315B"/>
                </a:solidFill>
                <a:latin typeface="Calibri" pitchFamily="34" charset="0"/>
                <a:ea typeface="Calibri" pitchFamily="34" charset="-122"/>
                <a:cs typeface="Calibri" pitchFamily="34" charset="-120"/>
              </a:rPr>
              <a:t>Pre-test (9 of 10)</a:t>
            </a:r>
            <a:endParaRPr lang="en-GB" sz="3000" noProof="0" dirty="0"/>
          </a:p>
        </p:txBody>
      </p:sp>
      <p:sp>
        <p:nvSpPr>
          <p:cNvPr id="5" name="Shape 3"/>
          <p:cNvSpPr/>
          <p:nvPr/>
        </p:nvSpPr>
        <p:spPr>
          <a:xfrm>
            <a:off x="548640" y="2048256"/>
            <a:ext cx="11094415" cy="1655064"/>
          </a:xfrm>
          <a:prstGeom prst="roundRect">
            <a:avLst>
              <a:gd name="adj" fmla="val 3315"/>
            </a:avLst>
          </a:prstGeom>
          <a:solidFill>
            <a:srgbClr val="F4F8FC"/>
          </a:solidFill>
          <a:ln w="12700">
            <a:solidFill>
              <a:srgbClr val="C8D8EC"/>
            </a:solidFill>
            <a:prstDash val="solid"/>
          </a:ln>
        </p:spPr>
        <p:txBody>
          <a:bodyPr/>
          <a:lstStyle/>
          <a:p>
            <a:endParaRPr lang="en-GB" noProof="0" dirty="0"/>
          </a:p>
        </p:txBody>
      </p:sp>
      <p:sp>
        <p:nvSpPr>
          <p:cNvPr id="6" name="Text 4"/>
          <p:cNvSpPr txBox="1"/>
          <p:nvPr/>
        </p:nvSpPr>
        <p:spPr>
          <a:xfrm>
            <a:off x="731520" y="2157984"/>
            <a:ext cx="10728655" cy="384048"/>
          </a:xfrm>
          <a:prstGeom prst="rect">
            <a:avLst/>
          </a:prstGeom>
          <a:noFill/>
          <a:ln/>
        </p:spPr>
        <p:txBody>
          <a:bodyPr wrap="square" lIns="0" tIns="0" rIns="0" bIns="0" rtlCol="0" anchor="t"/>
          <a:lstStyle/>
          <a:p>
            <a:pPr marL="0" indent="0">
              <a:buNone/>
            </a:pPr>
            <a:r>
              <a:rPr lang="en-GB" sz="1800" b="1" noProof="0" dirty="0">
                <a:solidFill>
                  <a:srgbClr val="12315B"/>
                </a:solidFill>
                <a:latin typeface="Calibri" pitchFamily="34" charset="0"/>
                <a:ea typeface="Calibri" pitchFamily="34" charset="-122"/>
                <a:cs typeface="Calibri" pitchFamily="34" charset="-120"/>
              </a:rPr>
              <a:t>Q17. Rapid breast redness, swelling and skin thickening should be:</a:t>
            </a:r>
            <a:endParaRPr lang="en-GB" sz="1800" noProof="0" dirty="0"/>
          </a:p>
        </p:txBody>
      </p:sp>
      <p:sp>
        <p:nvSpPr>
          <p:cNvPr id="7" name="Text 5"/>
          <p:cNvSpPr txBox="1"/>
          <p:nvPr/>
        </p:nvSpPr>
        <p:spPr>
          <a:xfrm>
            <a:off x="731520" y="2578608"/>
            <a:ext cx="5250028" cy="566928"/>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A. </a:t>
            </a:r>
            <a:r>
              <a:rPr lang="en-GB" sz="1800" noProof="0" dirty="0">
                <a:solidFill>
                  <a:srgbClr val="1F3A63"/>
                </a:solidFill>
                <a:latin typeface="Calibri" pitchFamily="34" charset="0"/>
                <a:ea typeface="Calibri" pitchFamily="34" charset="-122"/>
                <a:cs typeface="Calibri" pitchFamily="34" charset="-120"/>
              </a:rPr>
              <a:t>Treated with antibiotics alone and not reviewed</a:t>
            </a:r>
            <a:endParaRPr lang="en-GB" sz="1800" noProof="0" dirty="0"/>
          </a:p>
        </p:txBody>
      </p:sp>
      <p:sp>
        <p:nvSpPr>
          <p:cNvPr id="8" name="Text 6"/>
          <p:cNvSpPr txBox="1"/>
          <p:nvPr/>
        </p:nvSpPr>
        <p:spPr>
          <a:xfrm>
            <a:off x="6210148" y="2578608"/>
            <a:ext cx="5250028" cy="566928"/>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B. </a:t>
            </a:r>
            <a:r>
              <a:rPr lang="en-GB" sz="1800" noProof="0" dirty="0">
                <a:solidFill>
                  <a:srgbClr val="1F3A63"/>
                </a:solidFill>
                <a:latin typeface="Calibri" pitchFamily="34" charset="0"/>
                <a:ea typeface="Calibri" pitchFamily="34" charset="-122"/>
                <a:cs typeface="Calibri" pitchFamily="34" charset="-120"/>
              </a:rPr>
              <a:t>Assessed promptly, because inflammatory breast cancer can present this way</a:t>
            </a:r>
            <a:endParaRPr lang="en-GB" sz="1800" noProof="0" dirty="0"/>
          </a:p>
        </p:txBody>
      </p:sp>
      <p:sp>
        <p:nvSpPr>
          <p:cNvPr id="9" name="Text 7"/>
          <p:cNvSpPr txBox="1"/>
          <p:nvPr/>
        </p:nvSpPr>
        <p:spPr>
          <a:xfrm>
            <a:off x="731520" y="3200400"/>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C. </a:t>
            </a:r>
            <a:r>
              <a:rPr lang="en-GB" sz="1800" noProof="0" dirty="0">
                <a:solidFill>
                  <a:srgbClr val="1F3A63"/>
                </a:solidFill>
                <a:latin typeface="Calibri" pitchFamily="34" charset="0"/>
                <a:ea typeface="Calibri" pitchFamily="34" charset="-122"/>
                <a:cs typeface="Calibri" pitchFamily="34" charset="-120"/>
              </a:rPr>
              <a:t>Ignored if there is no lump</a:t>
            </a:r>
            <a:endParaRPr lang="en-GB" sz="1800" noProof="0" dirty="0"/>
          </a:p>
        </p:txBody>
      </p:sp>
      <p:sp>
        <p:nvSpPr>
          <p:cNvPr id="10" name="Text 8"/>
          <p:cNvSpPr txBox="1"/>
          <p:nvPr/>
        </p:nvSpPr>
        <p:spPr>
          <a:xfrm>
            <a:off x="6210148" y="3200400"/>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D. </a:t>
            </a:r>
            <a:r>
              <a:rPr lang="en-GB" sz="1800" noProof="0" dirty="0">
                <a:solidFill>
                  <a:srgbClr val="1F3A63"/>
                </a:solidFill>
                <a:latin typeface="Calibri" pitchFamily="34" charset="0"/>
                <a:ea typeface="Calibri" pitchFamily="34" charset="-122"/>
                <a:cs typeface="Calibri" pitchFamily="34" charset="-120"/>
              </a:rPr>
              <a:t>Reviewed in six months</a:t>
            </a:r>
            <a:endParaRPr lang="en-GB" sz="1800" noProof="0" dirty="0"/>
          </a:p>
        </p:txBody>
      </p:sp>
      <p:sp>
        <p:nvSpPr>
          <p:cNvPr id="11" name="Shape 9"/>
          <p:cNvSpPr/>
          <p:nvPr/>
        </p:nvSpPr>
        <p:spPr>
          <a:xfrm>
            <a:off x="548640" y="3904488"/>
            <a:ext cx="11094415" cy="1655064"/>
          </a:xfrm>
          <a:prstGeom prst="roundRect">
            <a:avLst>
              <a:gd name="adj" fmla="val 3315"/>
            </a:avLst>
          </a:prstGeom>
          <a:solidFill>
            <a:srgbClr val="F4F8FC"/>
          </a:solidFill>
          <a:ln w="12700">
            <a:solidFill>
              <a:srgbClr val="C8D8EC"/>
            </a:solidFill>
            <a:prstDash val="solid"/>
          </a:ln>
        </p:spPr>
        <p:txBody>
          <a:bodyPr/>
          <a:lstStyle/>
          <a:p>
            <a:endParaRPr lang="en-GB" noProof="0" dirty="0"/>
          </a:p>
        </p:txBody>
      </p:sp>
      <p:sp>
        <p:nvSpPr>
          <p:cNvPr id="12" name="Text 10"/>
          <p:cNvSpPr txBox="1"/>
          <p:nvPr/>
        </p:nvSpPr>
        <p:spPr>
          <a:xfrm>
            <a:off x="731520" y="4014216"/>
            <a:ext cx="10728655" cy="384048"/>
          </a:xfrm>
          <a:prstGeom prst="rect">
            <a:avLst/>
          </a:prstGeom>
          <a:noFill/>
          <a:ln/>
        </p:spPr>
        <p:txBody>
          <a:bodyPr wrap="square" lIns="0" tIns="0" rIns="0" bIns="0" rtlCol="0" anchor="t"/>
          <a:lstStyle/>
          <a:p>
            <a:pPr marL="0" indent="0">
              <a:buNone/>
            </a:pPr>
            <a:r>
              <a:rPr lang="en-GB" sz="1800" b="1" noProof="0" dirty="0">
                <a:solidFill>
                  <a:srgbClr val="12315B"/>
                </a:solidFill>
                <a:latin typeface="Calibri" pitchFamily="34" charset="0"/>
                <a:ea typeface="Calibri" pitchFamily="34" charset="-122"/>
                <a:cs typeface="Calibri" pitchFamily="34" charset="-120"/>
              </a:rPr>
              <a:t>Q18. Breast cancer surgery:</a:t>
            </a:r>
            <a:endParaRPr lang="en-GB" sz="1800" noProof="0" dirty="0"/>
          </a:p>
        </p:txBody>
      </p:sp>
      <p:sp>
        <p:nvSpPr>
          <p:cNvPr id="13" name="Text 11"/>
          <p:cNvSpPr txBox="1"/>
          <p:nvPr/>
        </p:nvSpPr>
        <p:spPr>
          <a:xfrm>
            <a:off x="731520" y="4434840"/>
            <a:ext cx="5250028" cy="566928"/>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A. </a:t>
            </a:r>
            <a:r>
              <a:rPr lang="en-GB" sz="1800" noProof="0" dirty="0">
                <a:solidFill>
                  <a:srgbClr val="1F3A63"/>
                </a:solidFill>
                <a:latin typeface="Calibri" pitchFamily="34" charset="0"/>
                <a:ea typeface="Calibri" pitchFamily="34" charset="-122"/>
                <a:cs typeface="Calibri" pitchFamily="34" charset="-120"/>
              </a:rPr>
              <a:t>Always means removal of the whole breast</a:t>
            </a:r>
            <a:endParaRPr lang="en-GB" sz="1800" noProof="0" dirty="0"/>
          </a:p>
        </p:txBody>
      </p:sp>
      <p:sp>
        <p:nvSpPr>
          <p:cNvPr id="14" name="Text 12"/>
          <p:cNvSpPr txBox="1"/>
          <p:nvPr/>
        </p:nvSpPr>
        <p:spPr>
          <a:xfrm>
            <a:off x="6210148" y="4434840"/>
            <a:ext cx="5250028" cy="566928"/>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B. </a:t>
            </a:r>
            <a:r>
              <a:rPr lang="en-GB" sz="1800" noProof="0" dirty="0">
                <a:solidFill>
                  <a:srgbClr val="1F3A63"/>
                </a:solidFill>
                <a:latin typeface="Calibri" pitchFamily="34" charset="0"/>
                <a:ea typeface="Calibri" pitchFamily="34" charset="-122"/>
                <a:cs typeface="Calibri" pitchFamily="34" charset="-120"/>
              </a:rPr>
              <a:t>May be breast conserving surgery or mastectomy, depending on the situation</a:t>
            </a:r>
            <a:endParaRPr lang="en-GB" sz="1800" noProof="0" dirty="0"/>
          </a:p>
        </p:txBody>
      </p:sp>
      <p:sp>
        <p:nvSpPr>
          <p:cNvPr id="15" name="Text 13"/>
          <p:cNvSpPr txBox="1"/>
          <p:nvPr/>
        </p:nvSpPr>
        <p:spPr>
          <a:xfrm>
            <a:off x="731520" y="5056632"/>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C. </a:t>
            </a:r>
            <a:r>
              <a:rPr lang="en-GB" sz="1800" noProof="0" dirty="0">
                <a:solidFill>
                  <a:srgbClr val="1F3A63"/>
                </a:solidFill>
                <a:latin typeface="Calibri" pitchFamily="34" charset="0"/>
                <a:ea typeface="Calibri" pitchFamily="34" charset="-122"/>
                <a:cs typeface="Calibri" pitchFamily="34" charset="-120"/>
              </a:rPr>
              <a:t>Never involves the lymph nodes</a:t>
            </a:r>
            <a:endParaRPr lang="en-GB" sz="1800" noProof="0" dirty="0"/>
          </a:p>
        </p:txBody>
      </p:sp>
      <p:sp>
        <p:nvSpPr>
          <p:cNvPr id="16" name="Text 14"/>
          <p:cNvSpPr txBox="1"/>
          <p:nvPr/>
        </p:nvSpPr>
        <p:spPr>
          <a:xfrm>
            <a:off x="6210148" y="5056632"/>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D. </a:t>
            </a:r>
            <a:r>
              <a:rPr lang="en-GB" sz="1800" noProof="0" dirty="0">
                <a:solidFill>
                  <a:srgbClr val="1F3A63"/>
                </a:solidFill>
                <a:latin typeface="Calibri" pitchFamily="34" charset="0"/>
                <a:ea typeface="Calibri" pitchFamily="34" charset="-122"/>
                <a:cs typeface="Calibri" pitchFamily="34" charset="-120"/>
              </a:rPr>
              <a:t>Is the only treatment ever used</a:t>
            </a:r>
            <a:endParaRPr lang="en-GB" sz="1800" noProof="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en-GB" sz="1100" b="1" kern="0" spc="100" noProof="0" dirty="0">
                <a:solidFill>
                  <a:srgbClr val="5B7699"/>
                </a:solidFill>
                <a:latin typeface="Calibri" pitchFamily="34" charset="0"/>
                <a:ea typeface="Calibri" pitchFamily="34" charset="-122"/>
                <a:cs typeface="Calibri" pitchFamily="34" charset="-120"/>
              </a:rPr>
              <a:t>B A S E L I N E   C H E C K</a:t>
            </a:r>
            <a:endParaRPr lang="en-GB"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en-GB" sz="1000" noProof="0" dirty="0">
                <a:solidFill>
                  <a:srgbClr val="5B7699"/>
                </a:solidFill>
                <a:latin typeface="Calibri" pitchFamily="34" charset="0"/>
                <a:ea typeface="Calibri" pitchFamily="34" charset="-122"/>
                <a:cs typeface="Calibri" pitchFamily="34" charset="-120"/>
              </a:rPr>
              <a:t>Breast Cancer  |  Frontline HCP  |  Rwanda Biomedical Centre</a:t>
            </a:r>
            <a:endParaRPr lang="en-GB"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en-GB" sz="3000" b="1" noProof="0" dirty="0">
                <a:solidFill>
                  <a:srgbClr val="12315B"/>
                </a:solidFill>
                <a:latin typeface="Calibri" pitchFamily="34" charset="0"/>
                <a:ea typeface="Calibri" pitchFamily="34" charset="-122"/>
                <a:cs typeface="Calibri" pitchFamily="34" charset="-120"/>
              </a:rPr>
              <a:t>Pre-test (10 of 10)</a:t>
            </a:r>
            <a:endParaRPr lang="en-GB" sz="3000" noProof="0" dirty="0"/>
          </a:p>
        </p:txBody>
      </p:sp>
      <p:sp>
        <p:nvSpPr>
          <p:cNvPr id="5" name="Shape 3"/>
          <p:cNvSpPr/>
          <p:nvPr/>
        </p:nvSpPr>
        <p:spPr>
          <a:xfrm>
            <a:off x="548640" y="2295144"/>
            <a:ext cx="11094415" cy="1408176"/>
          </a:xfrm>
          <a:prstGeom prst="roundRect">
            <a:avLst>
              <a:gd name="adj" fmla="val 3896"/>
            </a:avLst>
          </a:prstGeom>
          <a:solidFill>
            <a:srgbClr val="F4F8FC"/>
          </a:solidFill>
          <a:ln w="12700">
            <a:solidFill>
              <a:srgbClr val="C8D8EC"/>
            </a:solidFill>
            <a:prstDash val="solid"/>
          </a:ln>
        </p:spPr>
        <p:txBody>
          <a:bodyPr/>
          <a:lstStyle/>
          <a:p>
            <a:endParaRPr lang="en-GB" noProof="0" dirty="0"/>
          </a:p>
        </p:txBody>
      </p:sp>
      <p:sp>
        <p:nvSpPr>
          <p:cNvPr id="6" name="Text 4"/>
          <p:cNvSpPr txBox="1"/>
          <p:nvPr/>
        </p:nvSpPr>
        <p:spPr>
          <a:xfrm>
            <a:off x="731520" y="2404872"/>
            <a:ext cx="10728655" cy="384048"/>
          </a:xfrm>
          <a:prstGeom prst="rect">
            <a:avLst/>
          </a:prstGeom>
          <a:noFill/>
          <a:ln/>
        </p:spPr>
        <p:txBody>
          <a:bodyPr wrap="square" lIns="0" tIns="0" rIns="0" bIns="0" rtlCol="0" anchor="t"/>
          <a:lstStyle/>
          <a:p>
            <a:pPr marL="0" indent="0">
              <a:buNone/>
            </a:pPr>
            <a:r>
              <a:rPr lang="en-GB" sz="1800" b="1" noProof="0" dirty="0">
                <a:solidFill>
                  <a:srgbClr val="12315B"/>
                </a:solidFill>
                <a:latin typeface="Calibri" pitchFamily="34" charset="0"/>
                <a:ea typeface="Calibri" pitchFamily="34" charset="-122"/>
                <a:cs typeface="Calibri" pitchFamily="34" charset="-120"/>
              </a:rPr>
              <a:t>Q19. New arm swelling after breast cancer treatment:</a:t>
            </a:r>
            <a:endParaRPr lang="en-GB" sz="1800" noProof="0" dirty="0"/>
          </a:p>
        </p:txBody>
      </p:sp>
      <p:sp>
        <p:nvSpPr>
          <p:cNvPr id="7" name="Text 5"/>
          <p:cNvSpPr txBox="1"/>
          <p:nvPr/>
        </p:nvSpPr>
        <p:spPr>
          <a:xfrm>
            <a:off x="731520" y="2825496"/>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A. </a:t>
            </a:r>
            <a:r>
              <a:rPr lang="en-GB" sz="1800" noProof="0" dirty="0">
                <a:solidFill>
                  <a:srgbClr val="1F3A63"/>
                </a:solidFill>
                <a:latin typeface="Calibri" pitchFamily="34" charset="0"/>
                <a:ea typeface="Calibri" pitchFamily="34" charset="-122"/>
                <a:cs typeface="Calibri" pitchFamily="34" charset="-120"/>
              </a:rPr>
              <a:t>Is always permanent and untreatable</a:t>
            </a:r>
            <a:endParaRPr lang="en-GB" sz="1800" noProof="0" dirty="0"/>
          </a:p>
        </p:txBody>
      </p:sp>
      <p:sp>
        <p:nvSpPr>
          <p:cNvPr id="8" name="Text 6"/>
          <p:cNvSpPr txBox="1"/>
          <p:nvPr/>
        </p:nvSpPr>
        <p:spPr>
          <a:xfrm>
            <a:off x="6210148" y="2825496"/>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B. </a:t>
            </a:r>
            <a:r>
              <a:rPr lang="en-GB" sz="1800" noProof="0" dirty="0">
                <a:solidFill>
                  <a:srgbClr val="1F3A63"/>
                </a:solidFill>
                <a:latin typeface="Calibri" pitchFamily="34" charset="0"/>
                <a:ea typeface="Calibri" pitchFamily="34" charset="-122"/>
                <a:cs typeface="Calibri" pitchFamily="34" charset="-120"/>
              </a:rPr>
              <a:t>May be lymphoedema and should be assessed</a:t>
            </a:r>
            <a:endParaRPr lang="en-GB" sz="1800" noProof="0" dirty="0"/>
          </a:p>
        </p:txBody>
      </p:sp>
      <p:sp>
        <p:nvSpPr>
          <p:cNvPr id="9" name="Text 7"/>
          <p:cNvSpPr txBox="1"/>
          <p:nvPr/>
        </p:nvSpPr>
        <p:spPr>
          <a:xfrm>
            <a:off x="731520" y="3200400"/>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C. </a:t>
            </a:r>
            <a:r>
              <a:rPr lang="en-GB" sz="1800" noProof="0" dirty="0">
                <a:solidFill>
                  <a:srgbClr val="1F3A63"/>
                </a:solidFill>
                <a:latin typeface="Calibri" pitchFamily="34" charset="0"/>
                <a:ea typeface="Calibri" pitchFamily="34" charset="-122"/>
                <a:cs typeface="Calibri" pitchFamily="34" charset="-120"/>
              </a:rPr>
              <a:t>Should not be reported</a:t>
            </a:r>
            <a:endParaRPr lang="en-GB" sz="1800" noProof="0" dirty="0"/>
          </a:p>
        </p:txBody>
      </p:sp>
      <p:sp>
        <p:nvSpPr>
          <p:cNvPr id="10" name="Text 8"/>
          <p:cNvSpPr txBox="1"/>
          <p:nvPr/>
        </p:nvSpPr>
        <p:spPr>
          <a:xfrm>
            <a:off x="6210148" y="3200400"/>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D. </a:t>
            </a:r>
            <a:r>
              <a:rPr lang="en-GB" sz="1800" noProof="0" dirty="0">
                <a:solidFill>
                  <a:srgbClr val="1F3A63"/>
                </a:solidFill>
                <a:latin typeface="Calibri" pitchFamily="34" charset="0"/>
                <a:ea typeface="Calibri" pitchFamily="34" charset="-122"/>
                <a:cs typeface="Calibri" pitchFamily="34" charset="-120"/>
              </a:rPr>
              <a:t>Always means the cancer has returned</a:t>
            </a:r>
            <a:endParaRPr lang="en-GB" sz="1800" noProof="0" dirty="0"/>
          </a:p>
        </p:txBody>
      </p:sp>
      <p:sp>
        <p:nvSpPr>
          <p:cNvPr id="11" name="Shape 9"/>
          <p:cNvSpPr/>
          <p:nvPr/>
        </p:nvSpPr>
        <p:spPr>
          <a:xfrm>
            <a:off x="548640" y="3904488"/>
            <a:ext cx="11094415" cy="1408176"/>
          </a:xfrm>
          <a:prstGeom prst="roundRect">
            <a:avLst>
              <a:gd name="adj" fmla="val 3896"/>
            </a:avLst>
          </a:prstGeom>
          <a:solidFill>
            <a:srgbClr val="F4F8FC"/>
          </a:solidFill>
          <a:ln w="12700">
            <a:solidFill>
              <a:srgbClr val="C8D8EC"/>
            </a:solidFill>
            <a:prstDash val="solid"/>
          </a:ln>
        </p:spPr>
        <p:txBody>
          <a:bodyPr/>
          <a:lstStyle/>
          <a:p>
            <a:endParaRPr lang="en-GB" noProof="0" dirty="0"/>
          </a:p>
        </p:txBody>
      </p:sp>
      <p:sp>
        <p:nvSpPr>
          <p:cNvPr id="12" name="Text 10"/>
          <p:cNvSpPr txBox="1"/>
          <p:nvPr/>
        </p:nvSpPr>
        <p:spPr>
          <a:xfrm>
            <a:off x="731520" y="4014216"/>
            <a:ext cx="10728655" cy="384048"/>
          </a:xfrm>
          <a:prstGeom prst="rect">
            <a:avLst/>
          </a:prstGeom>
          <a:noFill/>
          <a:ln/>
        </p:spPr>
        <p:txBody>
          <a:bodyPr wrap="square" lIns="0" tIns="0" rIns="0" bIns="0" rtlCol="0" anchor="t"/>
          <a:lstStyle/>
          <a:p>
            <a:pPr marL="0" indent="0">
              <a:buNone/>
            </a:pPr>
            <a:r>
              <a:rPr lang="en-GB" sz="1800" b="1" noProof="0" dirty="0">
                <a:solidFill>
                  <a:srgbClr val="12315B"/>
                </a:solidFill>
                <a:latin typeface="Calibri" pitchFamily="34" charset="0"/>
                <a:ea typeface="Calibri" pitchFamily="34" charset="-122"/>
                <a:cs typeface="Calibri" pitchFamily="34" charset="-120"/>
              </a:rPr>
              <a:t>Q20. In Rwanda, breast cancer in the 2024 estimates is:</a:t>
            </a:r>
            <a:endParaRPr lang="en-GB" sz="1800" noProof="0" dirty="0"/>
          </a:p>
        </p:txBody>
      </p:sp>
      <p:sp>
        <p:nvSpPr>
          <p:cNvPr id="13" name="Text 11"/>
          <p:cNvSpPr txBox="1"/>
          <p:nvPr/>
        </p:nvSpPr>
        <p:spPr>
          <a:xfrm>
            <a:off x="731520" y="4434840"/>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A. </a:t>
            </a:r>
            <a:r>
              <a:rPr lang="en-GB" sz="1800" noProof="0" dirty="0">
                <a:solidFill>
                  <a:srgbClr val="1F3A63"/>
                </a:solidFill>
                <a:latin typeface="Calibri" pitchFamily="34" charset="0"/>
                <a:ea typeface="Calibri" pitchFamily="34" charset="-122"/>
                <a:cs typeface="Calibri" pitchFamily="34" charset="-120"/>
              </a:rPr>
              <a:t>Not recorded at all</a:t>
            </a:r>
            <a:endParaRPr lang="en-GB" sz="1800" noProof="0" dirty="0"/>
          </a:p>
        </p:txBody>
      </p:sp>
      <p:sp>
        <p:nvSpPr>
          <p:cNvPr id="14" name="Text 12"/>
          <p:cNvSpPr txBox="1"/>
          <p:nvPr/>
        </p:nvSpPr>
        <p:spPr>
          <a:xfrm>
            <a:off x="6210148" y="4434840"/>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B. </a:t>
            </a:r>
            <a:r>
              <a:rPr lang="en-GB" sz="1800" noProof="0" dirty="0">
                <a:solidFill>
                  <a:srgbClr val="1F3A63"/>
                </a:solidFill>
                <a:latin typeface="Calibri" pitchFamily="34" charset="0"/>
                <a:ea typeface="Calibri" pitchFamily="34" charset="-122"/>
                <a:cs typeface="Calibri" pitchFamily="34" charset="-120"/>
              </a:rPr>
              <a:t>The most frequently diagnosed cancer in women</a:t>
            </a:r>
            <a:endParaRPr lang="en-GB" sz="1800" noProof="0" dirty="0"/>
          </a:p>
        </p:txBody>
      </p:sp>
      <p:sp>
        <p:nvSpPr>
          <p:cNvPr id="15" name="Text 13"/>
          <p:cNvSpPr txBox="1"/>
          <p:nvPr/>
        </p:nvSpPr>
        <p:spPr>
          <a:xfrm>
            <a:off x="731520" y="4809744"/>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C. </a:t>
            </a:r>
            <a:r>
              <a:rPr lang="en-GB" sz="1800" noProof="0" dirty="0">
                <a:solidFill>
                  <a:srgbClr val="1F3A63"/>
                </a:solidFill>
                <a:latin typeface="Calibri" pitchFamily="34" charset="0"/>
                <a:ea typeface="Calibri" pitchFamily="34" charset="-122"/>
                <a:cs typeface="Calibri" pitchFamily="34" charset="-120"/>
              </a:rPr>
              <a:t>The rarest cancer</a:t>
            </a:r>
            <a:endParaRPr lang="en-GB" sz="1800" noProof="0" dirty="0"/>
          </a:p>
        </p:txBody>
      </p:sp>
      <p:sp>
        <p:nvSpPr>
          <p:cNvPr id="16" name="Text 14"/>
          <p:cNvSpPr txBox="1"/>
          <p:nvPr/>
        </p:nvSpPr>
        <p:spPr>
          <a:xfrm>
            <a:off x="6210148" y="4809744"/>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D. </a:t>
            </a:r>
            <a:r>
              <a:rPr lang="en-GB" sz="1800" noProof="0" dirty="0">
                <a:solidFill>
                  <a:srgbClr val="1F3A63"/>
                </a:solidFill>
                <a:latin typeface="Calibri" pitchFamily="34" charset="0"/>
                <a:ea typeface="Calibri" pitchFamily="34" charset="-122"/>
                <a:cs typeface="Calibri" pitchFamily="34" charset="-120"/>
              </a:rPr>
              <a:t>Diagnosed only outside the country</a:t>
            </a:r>
            <a:endParaRPr lang="en-GB" sz="1800" noProof="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2315B"/>
        </a:solidFill>
        <a:effectLst/>
      </p:bgPr>
    </p:bg>
    <p:spTree>
      <p:nvGrpSpPr>
        <p:cNvPr id="1" name=""/>
        <p:cNvGrpSpPr/>
        <p:nvPr/>
      </p:nvGrpSpPr>
      <p:grpSpPr>
        <a:xfrm>
          <a:off x="0" y="0"/>
          <a:ext cx="0" cy="0"/>
          <a:chOff x="0" y="0"/>
          <a:chExt cx="0" cy="0"/>
        </a:xfrm>
      </p:grpSpPr>
      <p:sp>
        <p:nvSpPr>
          <p:cNvPr id="2" name="Text 0"/>
          <p:cNvSpPr txBox="1"/>
          <p:nvPr/>
        </p:nvSpPr>
        <p:spPr>
          <a:xfrm>
            <a:off x="868680" y="1417320"/>
            <a:ext cx="2011680" cy="1737360"/>
          </a:xfrm>
          <a:prstGeom prst="rect">
            <a:avLst/>
          </a:prstGeom>
          <a:noFill/>
          <a:ln/>
        </p:spPr>
        <p:txBody>
          <a:bodyPr wrap="square" lIns="0" tIns="0" rIns="0" bIns="0" rtlCol="0" anchor="ctr"/>
          <a:lstStyle/>
          <a:p>
            <a:pPr marL="0" indent="0">
              <a:buNone/>
            </a:pPr>
            <a:r>
              <a:rPr lang="en-GB" sz="12000" b="1" noProof="0" dirty="0">
                <a:solidFill>
                  <a:srgbClr val="2C5C99"/>
                </a:solidFill>
                <a:latin typeface="Calibri" pitchFamily="34" charset="0"/>
                <a:ea typeface="Calibri" pitchFamily="34" charset="-122"/>
                <a:cs typeface="Calibri" pitchFamily="34" charset="-120"/>
              </a:rPr>
              <a:t>1</a:t>
            </a:r>
            <a:endParaRPr lang="en-GB" sz="12000" noProof="0" dirty="0"/>
          </a:p>
        </p:txBody>
      </p:sp>
      <p:sp>
        <p:nvSpPr>
          <p:cNvPr id="3" name="Text 1"/>
          <p:cNvSpPr txBox="1"/>
          <p:nvPr/>
        </p:nvSpPr>
        <p:spPr>
          <a:xfrm>
            <a:off x="960120" y="3063240"/>
            <a:ext cx="9144000" cy="365760"/>
          </a:xfrm>
          <a:prstGeom prst="rect">
            <a:avLst/>
          </a:prstGeom>
          <a:noFill/>
          <a:ln/>
        </p:spPr>
        <p:txBody>
          <a:bodyPr wrap="square" lIns="0" tIns="0" rIns="0" bIns="0" rtlCol="0" anchor="ctr"/>
          <a:lstStyle/>
          <a:p>
            <a:pPr marL="0" indent="0">
              <a:buNone/>
            </a:pPr>
            <a:r>
              <a:rPr lang="en-GB" sz="1600" b="1" noProof="0" dirty="0">
                <a:solidFill>
                  <a:srgbClr val="9FC2E8"/>
                </a:solidFill>
                <a:latin typeface="Calibri" pitchFamily="34" charset="0"/>
                <a:ea typeface="Calibri" pitchFamily="34" charset="-122"/>
                <a:cs typeface="Calibri" pitchFamily="34" charset="-120"/>
              </a:rPr>
              <a:t>S e s s </a:t>
            </a:r>
            <a:r>
              <a:rPr lang="en-GB" sz="1600" b="1" noProof="0" dirty="0" err="1">
                <a:solidFill>
                  <a:srgbClr val="9FC2E8"/>
                </a:solidFill>
                <a:latin typeface="Calibri" pitchFamily="34" charset="0"/>
                <a:ea typeface="Calibri" pitchFamily="34" charset="-122"/>
                <a:cs typeface="Calibri" pitchFamily="34" charset="-120"/>
              </a:rPr>
              <a:t>i</a:t>
            </a:r>
            <a:r>
              <a:rPr lang="en-GB" sz="1600" b="1" noProof="0" dirty="0">
                <a:solidFill>
                  <a:srgbClr val="9FC2E8"/>
                </a:solidFill>
                <a:latin typeface="Calibri" pitchFamily="34" charset="0"/>
                <a:ea typeface="Calibri" pitchFamily="34" charset="-122"/>
                <a:cs typeface="Calibri" pitchFamily="34" charset="-120"/>
              </a:rPr>
              <a:t> o n  1</a:t>
            </a:r>
            <a:endParaRPr lang="en-GB" sz="1600" noProof="0" dirty="0"/>
          </a:p>
        </p:txBody>
      </p:sp>
      <p:sp>
        <p:nvSpPr>
          <p:cNvPr id="4" name="Text 2"/>
          <p:cNvSpPr txBox="1"/>
          <p:nvPr/>
        </p:nvSpPr>
        <p:spPr>
          <a:xfrm>
            <a:off x="914400" y="3429000"/>
            <a:ext cx="10241280" cy="777240"/>
          </a:xfrm>
          <a:prstGeom prst="rect">
            <a:avLst/>
          </a:prstGeom>
          <a:noFill/>
          <a:ln/>
        </p:spPr>
        <p:txBody>
          <a:bodyPr wrap="square" lIns="0" tIns="0" rIns="0" bIns="0" rtlCol="0" anchor="ctr"/>
          <a:lstStyle/>
          <a:p>
            <a:pPr marL="0" indent="0">
              <a:buNone/>
            </a:pPr>
            <a:r>
              <a:rPr lang="en-GB" sz="4000" b="1" noProof="0" dirty="0">
                <a:solidFill>
                  <a:srgbClr val="FFFFFF"/>
                </a:solidFill>
                <a:latin typeface="Calibri" pitchFamily="34" charset="0"/>
                <a:ea typeface="Calibri" pitchFamily="34" charset="-122"/>
                <a:cs typeface="Calibri" pitchFamily="34" charset="-120"/>
              </a:rPr>
              <a:t>Understanding breast cancer</a:t>
            </a:r>
            <a:endParaRPr lang="en-GB" sz="4000" noProof="0" dirty="0"/>
          </a:p>
        </p:txBody>
      </p:sp>
      <p:sp>
        <p:nvSpPr>
          <p:cNvPr id="5" name="Text 3"/>
          <p:cNvSpPr txBox="1"/>
          <p:nvPr/>
        </p:nvSpPr>
        <p:spPr>
          <a:xfrm>
            <a:off x="914400" y="4297680"/>
            <a:ext cx="9692640" cy="914400"/>
          </a:xfrm>
          <a:prstGeom prst="rect">
            <a:avLst/>
          </a:prstGeom>
          <a:noFill/>
          <a:ln/>
        </p:spPr>
        <p:txBody>
          <a:bodyPr wrap="square" lIns="0" tIns="0" rIns="0" bIns="0" rtlCol="0" anchor="ctr"/>
          <a:lstStyle/>
          <a:p>
            <a:pPr marL="0" indent="0">
              <a:lnSpc>
                <a:spcPct val="100000"/>
              </a:lnSpc>
              <a:buNone/>
            </a:pPr>
            <a:r>
              <a:rPr lang="en-GB" sz="1800" noProof="0" dirty="0">
                <a:solidFill>
                  <a:srgbClr val="CFE0F4"/>
                </a:solidFill>
                <a:latin typeface="Calibri" pitchFamily="34" charset="0"/>
                <a:ea typeface="Calibri" pitchFamily="34" charset="-122"/>
                <a:cs typeface="Calibri" pitchFamily="34" charset="-120"/>
              </a:rPr>
              <a:t>Build the foundation: what breast cancer is, how it develops and spreads, how common it is in Rwanda, the types and subtypes, and what stage and grade mean.</a:t>
            </a:r>
            <a:endParaRPr lang="en-GB" sz="1800" noProof="0" dirty="0"/>
          </a:p>
        </p:txBody>
      </p:sp>
      <p:sp>
        <p:nvSpPr>
          <p:cNvPr id="6" name="Text 4"/>
          <p:cNvSpPr txBox="1"/>
          <p:nvPr/>
        </p:nvSpPr>
        <p:spPr>
          <a:xfrm>
            <a:off x="914400" y="6035040"/>
            <a:ext cx="10058400" cy="274320"/>
          </a:xfrm>
          <a:prstGeom prst="rect">
            <a:avLst/>
          </a:prstGeom>
          <a:noFill/>
          <a:ln/>
        </p:spPr>
        <p:txBody>
          <a:bodyPr wrap="square" lIns="0" tIns="0" rIns="0" bIns="0" rtlCol="0" anchor="ctr"/>
          <a:lstStyle/>
          <a:p>
            <a:pPr marL="0" indent="0">
              <a:buNone/>
            </a:pPr>
            <a:r>
              <a:rPr lang="en-GB" sz="1000" noProof="0" dirty="0">
                <a:solidFill>
                  <a:srgbClr val="7FA6D4"/>
                </a:solidFill>
                <a:latin typeface="Calibri" pitchFamily="34" charset="0"/>
                <a:ea typeface="Calibri" pitchFamily="34" charset="-122"/>
                <a:cs typeface="Calibri" pitchFamily="34" charset="-120"/>
              </a:rPr>
              <a:t>Breast Cancer  |  Frontline HCP  |  Rwanda Biomedical Centre</a:t>
            </a:r>
            <a:endParaRPr lang="en-GB" sz="1000" noProof="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en-GB" sz="1100" b="1" kern="0" spc="100" noProof="0" dirty="0">
                <a:solidFill>
                  <a:srgbClr val="5B7699"/>
                </a:solidFill>
                <a:latin typeface="Calibri" pitchFamily="34" charset="0"/>
                <a:ea typeface="Calibri" pitchFamily="34" charset="-122"/>
                <a:cs typeface="Calibri" pitchFamily="34" charset="-120"/>
              </a:rPr>
              <a:t>S E S S I O N   1</a:t>
            </a:r>
            <a:endParaRPr lang="en-GB"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en-GB" sz="1000" noProof="0" dirty="0">
                <a:solidFill>
                  <a:srgbClr val="5B7699"/>
                </a:solidFill>
                <a:latin typeface="Calibri" pitchFamily="34" charset="0"/>
                <a:ea typeface="Calibri" pitchFamily="34" charset="-122"/>
                <a:cs typeface="Calibri" pitchFamily="34" charset="-120"/>
              </a:rPr>
              <a:t>Breast Cancer  |  Frontline HCP  |  Rwanda Biomedical Centre</a:t>
            </a:r>
            <a:endParaRPr lang="en-GB"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en-GB" sz="3000" b="1" noProof="0" dirty="0">
                <a:solidFill>
                  <a:srgbClr val="12315B"/>
                </a:solidFill>
                <a:latin typeface="Calibri" pitchFamily="34" charset="0"/>
                <a:ea typeface="Calibri" pitchFamily="34" charset="-122"/>
                <a:cs typeface="Calibri" pitchFamily="34" charset="-120"/>
              </a:rPr>
              <a:t>Learning objectives</a:t>
            </a:r>
            <a:endParaRPr lang="en-GB" sz="3000" noProof="0" dirty="0"/>
          </a:p>
        </p:txBody>
      </p:sp>
      <p:sp>
        <p:nvSpPr>
          <p:cNvPr id="5" name="Shape 3"/>
          <p:cNvSpPr/>
          <p:nvPr/>
        </p:nvSpPr>
        <p:spPr>
          <a:xfrm>
            <a:off x="548640" y="1417320"/>
            <a:ext cx="3527450" cy="2180844"/>
          </a:xfrm>
          <a:prstGeom prst="roundRect">
            <a:avLst>
              <a:gd name="adj" fmla="val 2516"/>
            </a:avLst>
          </a:prstGeom>
          <a:solidFill>
            <a:srgbClr val="F4F8FC"/>
          </a:solidFill>
          <a:ln w="12700">
            <a:solidFill>
              <a:srgbClr val="C8D8EC"/>
            </a:solidFill>
            <a:prstDash val="solid"/>
          </a:ln>
        </p:spPr>
        <p:txBody>
          <a:bodyPr/>
          <a:lstStyle/>
          <a:p>
            <a:endParaRPr lang="en-GB" noProof="0" dirty="0"/>
          </a:p>
        </p:txBody>
      </p:sp>
      <p:sp>
        <p:nvSpPr>
          <p:cNvPr id="6" name="Text 4"/>
          <p:cNvSpPr txBox="1"/>
          <p:nvPr/>
        </p:nvSpPr>
        <p:spPr>
          <a:xfrm>
            <a:off x="713232" y="1508760"/>
            <a:ext cx="3198266" cy="292608"/>
          </a:xfrm>
          <a:prstGeom prst="rect">
            <a:avLst/>
          </a:prstGeom>
          <a:noFill/>
          <a:ln/>
        </p:spPr>
        <p:txBody>
          <a:bodyPr wrap="square" lIns="0" tIns="0" rIns="0" bIns="0" rtlCol="0" anchor="t"/>
          <a:lstStyle/>
          <a:p>
            <a:pPr marL="0" indent="0">
              <a:buNone/>
            </a:pPr>
            <a:r>
              <a:rPr lang="en-GB" sz="1700" b="1" noProof="0" dirty="0">
                <a:solidFill>
                  <a:srgbClr val="12315B"/>
                </a:solidFill>
                <a:latin typeface="Calibri" pitchFamily="34" charset="0"/>
                <a:ea typeface="Calibri" pitchFamily="34" charset="-122"/>
                <a:cs typeface="Calibri" pitchFamily="34" charset="-120"/>
              </a:rPr>
              <a:t>Describe</a:t>
            </a:r>
            <a:endParaRPr lang="en-GB" sz="1700" noProof="0" dirty="0"/>
          </a:p>
        </p:txBody>
      </p:sp>
      <p:sp>
        <p:nvSpPr>
          <p:cNvPr id="7" name="Text 5"/>
          <p:cNvSpPr txBox="1"/>
          <p:nvPr/>
        </p:nvSpPr>
        <p:spPr>
          <a:xfrm>
            <a:off x="713232" y="1847088"/>
            <a:ext cx="3198266" cy="1696212"/>
          </a:xfrm>
          <a:prstGeom prst="rect">
            <a:avLst/>
          </a:prstGeom>
          <a:noFill/>
          <a:ln/>
        </p:spPr>
        <p:txBody>
          <a:bodyPr wrap="square" lIns="0" tIns="0" rIns="0" bIns="0" rtlCol="0" anchor="t"/>
          <a:lstStyle/>
          <a:p>
            <a:pPr marL="0" indent="0">
              <a:lnSpc>
                <a:spcPct val="90000"/>
              </a:lnSpc>
              <a:buNone/>
            </a:pPr>
            <a:r>
              <a:rPr lang="en-GB" sz="1800" noProof="0" dirty="0">
                <a:solidFill>
                  <a:srgbClr val="1F3A63"/>
                </a:solidFill>
                <a:latin typeface="Calibri" pitchFamily="34" charset="0"/>
                <a:ea typeface="Calibri" pitchFamily="34" charset="-122"/>
                <a:cs typeface="Calibri" pitchFamily="34" charset="-120"/>
              </a:rPr>
              <a:t>Describe what breast cancer is and where in the breast it develops.</a:t>
            </a:r>
            <a:endParaRPr lang="en-GB" sz="1800" noProof="0" dirty="0"/>
          </a:p>
        </p:txBody>
      </p:sp>
      <p:sp>
        <p:nvSpPr>
          <p:cNvPr id="8" name="Shape 6"/>
          <p:cNvSpPr/>
          <p:nvPr/>
        </p:nvSpPr>
        <p:spPr>
          <a:xfrm>
            <a:off x="4332122" y="1417320"/>
            <a:ext cx="3527450" cy="2180844"/>
          </a:xfrm>
          <a:prstGeom prst="roundRect">
            <a:avLst>
              <a:gd name="adj" fmla="val 2516"/>
            </a:avLst>
          </a:prstGeom>
          <a:solidFill>
            <a:srgbClr val="F4F8FC"/>
          </a:solidFill>
          <a:ln w="12700">
            <a:solidFill>
              <a:srgbClr val="C8D8EC"/>
            </a:solidFill>
            <a:prstDash val="solid"/>
          </a:ln>
        </p:spPr>
        <p:txBody>
          <a:bodyPr/>
          <a:lstStyle/>
          <a:p>
            <a:endParaRPr lang="en-GB" noProof="0" dirty="0"/>
          </a:p>
        </p:txBody>
      </p:sp>
      <p:sp>
        <p:nvSpPr>
          <p:cNvPr id="9" name="Text 7"/>
          <p:cNvSpPr txBox="1"/>
          <p:nvPr/>
        </p:nvSpPr>
        <p:spPr>
          <a:xfrm>
            <a:off x="4496714" y="1508760"/>
            <a:ext cx="3198266" cy="292608"/>
          </a:xfrm>
          <a:prstGeom prst="rect">
            <a:avLst/>
          </a:prstGeom>
          <a:noFill/>
          <a:ln/>
        </p:spPr>
        <p:txBody>
          <a:bodyPr wrap="square" lIns="0" tIns="0" rIns="0" bIns="0" rtlCol="0" anchor="t"/>
          <a:lstStyle/>
          <a:p>
            <a:pPr marL="0" indent="0">
              <a:buNone/>
            </a:pPr>
            <a:r>
              <a:rPr lang="en-GB" sz="1700" b="1" noProof="0" dirty="0">
                <a:solidFill>
                  <a:srgbClr val="12315B"/>
                </a:solidFill>
                <a:latin typeface="Calibri" pitchFamily="34" charset="0"/>
                <a:ea typeface="Calibri" pitchFamily="34" charset="-122"/>
                <a:cs typeface="Calibri" pitchFamily="34" charset="-120"/>
              </a:rPr>
              <a:t>Interpret</a:t>
            </a:r>
            <a:endParaRPr lang="en-GB" sz="1700" noProof="0" dirty="0"/>
          </a:p>
        </p:txBody>
      </p:sp>
      <p:sp>
        <p:nvSpPr>
          <p:cNvPr id="10" name="Text 8"/>
          <p:cNvSpPr txBox="1"/>
          <p:nvPr/>
        </p:nvSpPr>
        <p:spPr>
          <a:xfrm>
            <a:off x="4496714" y="1847088"/>
            <a:ext cx="3198266" cy="1696212"/>
          </a:xfrm>
          <a:prstGeom prst="rect">
            <a:avLst/>
          </a:prstGeom>
          <a:noFill/>
          <a:ln/>
        </p:spPr>
        <p:txBody>
          <a:bodyPr wrap="square" lIns="0" tIns="0" rIns="0" bIns="0" rtlCol="0" anchor="t"/>
          <a:lstStyle/>
          <a:p>
            <a:pPr marL="0" indent="0">
              <a:lnSpc>
                <a:spcPct val="90000"/>
              </a:lnSpc>
              <a:buNone/>
            </a:pPr>
            <a:r>
              <a:rPr lang="en-GB" sz="1800" noProof="0" dirty="0">
                <a:solidFill>
                  <a:srgbClr val="1F3A63"/>
                </a:solidFill>
                <a:latin typeface="Calibri" pitchFamily="34" charset="0"/>
                <a:ea typeface="Calibri" pitchFamily="34" charset="-122"/>
                <a:cs typeface="Calibri" pitchFamily="34" charset="-120"/>
              </a:rPr>
              <a:t>Interpret the global, African and Rwandan burden, including the burden ahead.</a:t>
            </a:r>
            <a:endParaRPr lang="en-GB" sz="1800" noProof="0" dirty="0"/>
          </a:p>
        </p:txBody>
      </p:sp>
      <p:sp>
        <p:nvSpPr>
          <p:cNvPr id="11" name="Shape 9"/>
          <p:cNvSpPr/>
          <p:nvPr/>
        </p:nvSpPr>
        <p:spPr>
          <a:xfrm>
            <a:off x="8115605" y="1417320"/>
            <a:ext cx="3527450" cy="2180844"/>
          </a:xfrm>
          <a:prstGeom prst="roundRect">
            <a:avLst>
              <a:gd name="adj" fmla="val 2516"/>
            </a:avLst>
          </a:prstGeom>
          <a:solidFill>
            <a:srgbClr val="F4F8FC"/>
          </a:solidFill>
          <a:ln w="12700">
            <a:solidFill>
              <a:srgbClr val="C8D8EC"/>
            </a:solidFill>
            <a:prstDash val="solid"/>
          </a:ln>
        </p:spPr>
        <p:txBody>
          <a:bodyPr/>
          <a:lstStyle/>
          <a:p>
            <a:endParaRPr lang="en-GB" noProof="0" dirty="0"/>
          </a:p>
        </p:txBody>
      </p:sp>
      <p:sp>
        <p:nvSpPr>
          <p:cNvPr id="12" name="Text 10"/>
          <p:cNvSpPr txBox="1"/>
          <p:nvPr/>
        </p:nvSpPr>
        <p:spPr>
          <a:xfrm>
            <a:off x="8280197" y="1508760"/>
            <a:ext cx="3198266" cy="292608"/>
          </a:xfrm>
          <a:prstGeom prst="rect">
            <a:avLst/>
          </a:prstGeom>
          <a:noFill/>
          <a:ln/>
        </p:spPr>
        <p:txBody>
          <a:bodyPr wrap="square" lIns="0" tIns="0" rIns="0" bIns="0" rtlCol="0" anchor="t"/>
          <a:lstStyle/>
          <a:p>
            <a:pPr marL="0" indent="0">
              <a:buNone/>
            </a:pPr>
            <a:r>
              <a:rPr lang="en-GB" sz="1700" b="1" noProof="0" dirty="0">
                <a:solidFill>
                  <a:srgbClr val="12315B"/>
                </a:solidFill>
                <a:latin typeface="Calibri" pitchFamily="34" charset="0"/>
                <a:ea typeface="Calibri" pitchFamily="34" charset="-122"/>
                <a:cs typeface="Calibri" pitchFamily="34" charset="-120"/>
              </a:rPr>
              <a:t>Explain anatomy</a:t>
            </a:r>
            <a:endParaRPr lang="en-GB" sz="1700" noProof="0" dirty="0"/>
          </a:p>
        </p:txBody>
      </p:sp>
      <p:sp>
        <p:nvSpPr>
          <p:cNvPr id="13" name="Text 11"/>
          <p:cNvSpPr txBox="1"/>
          <p:nvPr/>
        </p:nvSpPr>
        <p:spPr>
          <a:xfrm>
            <a:off x="8280197" y="1847088"/>
            <a:ext cx="3198266" cy="1696212"/>
          </a:xfrm>
          <a:prstGeom prst="rect">
            <a:avLst/>
          </a:prstGeom>
          <a:noFill/>
          <a:ln/>
        </p:spPr>
        <p:txBody>
          <a:bodyPr wrap="square" lIns="0" tIns="0" rIns="0" bIns="0" rtlCol="0" anchor="t"/>
          <a:lstStyle/>
          <a:p>
            <a:pPr marL="0" indent="0">
              <a:lnSpc>
                <a:spcPct val="90000"/>
              </a:lnSpc>
              <a:buNone/>
            </a:pPr>
            <a:r>
              <a:rPr lang="en-GB" sz="1800" noProof="0" dirty="0">
                <a:solidFill>
                  <a:srgbClr val="1F3A63"/>
                </a:solidFill>
                <a:latin typeface="Calibri" pitchFamily="34" charset="0"/>
                <a:ea typeface="Calibri" pitchFamily="34" charset="-122"/>
                <a:cs typeface="Calibri" pitchFamily="34" charset="-120"/>
              </a:rPr>
              <a:t>Explain breast and axillary anatomy relevant to symptoms and examination.</a:t>
            </a:r>
            <a:endParaRPr lang="en-GB" sz="1800" noProof="0" dirty="0"/>
          </a:p>
        </p:txBody>
      </p:sp>
      <p:sp>
        <p:nvSpPr>
          <p:cNvPr id="14" name="Shape 12"/>
          <p:cNvSpPr/>
          <p:nvPr/>
        </p:nvSpPr>
        <p:spPr>
          <a:xfrm>
            <a:off x="548640" y="3854196"/>
            <a:ext cx="3527450" cy="2180844"/>
          </a:xfrm>
          <a:prstGeom prst="roundRect">
            <a:avLst>
              <a:gd name="adj" fmla="val 2516"/>
            </a:avLst>
          </a:prstGeom>
          <a:solidFill>
            <a:srgbClr val="F4F8FC"/>
          </a:solidFill>
          <a:ln w="12700">
            <a:solidFill>
              <a:srgbClr val="C8D8EC"/>
            </a:solidFill>
            <a:prstDash val="solid"/>
          </a:ln>
        </p:spPr>
        <p:txBody>
          <a:bodyPr/>
          <a:lstStyle/>
          <a:p>
            <a:endParaRPr lang="en-GB" noProof="0" dirty="0"/>
          </a:p>
        </p:txBody>
      </p:sp>
      <p:sp>
        <p:nvSpPr>
          <p:cNvPr id="15" name="Text 13"/>
          <p:cNvSpPr txBox="1"/>
          <p:nvPr/>
        </p:nvSpPr>
        <p:spPr>
          <a:xfrm>
            <a:off x="713232" y="3945636"/>
            <a:ext cx="3198266" cy="292608"/>
          </a:xfrm>
          <a:prstGeom prst="rect">
            <a:avLst/>
          </a:prstGeom>
          <a:noFill/>
          <a:ln/>
        </p:spPr>
        <p:txBody>
          <a:bodyPr wrap="square" lIns="0" tIns="0" rIns="0" bIns="0" rtlCol="0" anchor="t"/>
          <a:lstStyle/>
          <a:p>
            <a:pPr marL="0" indent="0">
              <a:buNone/>
            </a:pPr>
            <a:r>
              <a:rPr lang="en-GB" sz="1700" b="1" noProof="0" dirty="0">
                <a:solidFill>
                  <a:srgbClr val="12315B"/>
                </a:solidFill>
                <a:latin typeface="Calibri" pitchFamily="34" charset="0"/>
                <a:ea typeface="Calibri" pitchFamily="34" charset="-122"/>
                <a:cs typeface="Calibri" pitchFamily="34" charset="-120"/>
              </a:rPr>
              <a:t>Outline</a:t>
            </a:r>
            <a:endParaRPr lang="en-GB" sz="1700" noProof="0" dirty="0"/>
          </a:p>
        </p:txBody>
      </p:sp>
      <p:sp>
        <p:nvSpPr>
          <p:cNvPr id="16" name="Text 14"/>
          <p:cNvSpPr txBox="1"/>
          <p:nvPr/>
        </p:nvSpPr>
        <p:spPr>
          <a:xfrm>
            <a:off x="713232" y="4283964"/>
            <a:ext cx="3198266" cy="1696212"/>
          </a:xfrm>
          <a:prstGeom prst="rect">
            <a:avLst/>
          </a:prstGeom>
          <a:noFill/>
          <a:ln/>
        </p:spPr>
        <p:txBody>
          <a:bodyPr wrap="square" lIns="0" tIns="0" rIns="0" bIns="0" rtlCol="0" anchor="t"/>
          <a:lstStyle/>
          <a:p>
            <a:pPr marL="0" indent="0">
              <a:lnSpc>
                <a:spcPct val="90000"/>
              </a:lnSpc>
              <a:buNone/>
            </a:pPr>
            <a:r>
              <a:rPr lang="en-GB" sz="1800" noProof="0" dirty="0">
                <a:solidFill>
                  <a:srgbClr val="1F3A63"/>
                </a:solidFill>
                <a:latin typeface="Calibri" pitchFamily="34" charset="0"/>
                <a:ea typeface="Calibri" pitchFamily="34" charset="-122"/>
                <a:cs typeface="Calibri" pitchFamily="34" charset="-120"/>
              </a:rPr>
              <a:t>Outline how breast cancer develops, invades and spreads.</a:t>
            </a:r>
            <a:endParaRPr lang="en-GB" sz="1800" noProof="0" dirty="0"/>
          </a:p>
        </p:txBody>
      </p:sp>
      <p:sp>
        <p:nvSpPr>
          <p:cNvPr id="17" name="Shape 15"/>
          <p:cNvSpPr/>
          <p:nvPr/>
        </p:nvSpPr>
        <p:spPr>
          <a:xfrm>
            <a:off x="4332122" y="3854196"/>
            <a:ext cx="3527450" cy="2180844"/>
          </a:xfrm>
          <a:prstGeom prst="roundRect">
            <a:avLst>
              <a:gd name="adj" fmla="val 2516"/>
            </a:avLst>
          </a:prstGeom>
          <a:solidFill>
            <a:srgbClr val="F4F8FC"/>
          </a:solidFill>
          <a:ln w="12700">
            <a:solidFill>
              <a:srgbClr val="C8D8EC"/>
            </a:solidFill>
            <a:prstDash val="solid"/>
          </a:ln>
        </p:spPr>
        <p:txBody>
          <a:bodyPr/>
          <a:lstStyle/>
          <a:p>
            <a:endParaRPr lang="en-GB" noProof="0" dirty="0"/>
          </a:p>
        </p:txBody>
      </p:sp>
      <p:sp>
        <p:nvSpPr>
          <p:cNvPr id="18" name="Text 16"/>
          <p:cNvSpPr txBox="1"/>
          <p:nvPr/>
        </p:nvSpPr>
        <p:spPr>
          <a:xfrm>
            <a:off x="4496714" y="3945636"/>
            <a:ext cx="3198266" cy="292608"/>
          </a:xfrm>
          <a:prstGeom prst="rect">
            <a:avLst/>
          </a:prstGeom>
          <a:noFill/>
          <a:ln/>
        </p:spPr>
        <p:txBody>
          <a:bodyPr wrap="square" lIns="0" tIns="0" rIns="0" bIns="0" rtlCol="0" anchor="t"/>
          <a:lstStyle/>
          <a:p>
            <a:pPr marL="0" indent="0">
              <a:buNone/>
            </a:pPr>
            <a:r>
              <a:rPr lang="en-GB" sz="1700" b="1" noProof="0" dirty="0">
                <a:solidFill>
                  <a:srgbClr val="12315B"/>
                </a:solidFill>
                <a:latin typeface="Calibri" pitchFamily="34" charset="0"/>
                <a:ea typeface="Calibri" pitchFamily="34" charset="-122"/>
                <a:cs typeface="Calibri" pitchFamily="34" charset="-120"/>
              </a:rPr>
              <a:t>Differentiate</a:t>
            </a:r>
            <a:endParaRPr lang="en-GB" sz="1700" noProof="0" dirty="0"/>
          </a:p>
        </p:txBody>
      </p:sp>
      <p:sp>
        <p:nvSpPr>
          <p:cNvPr id="19" name="Text 17"/>
          <p:cNvSpPr txBox="1"/>
          <p:nvPr/>
        </p:nvSpPr>
        <p:spPr>
          <a:xfrm>
            <a:off x="4496714" y="4283964"/>
            <a:ext cx="3198266" cy="1696212"/>
          </a:xfrm>
          <a:prstGeom prst="rect">
            <a:avLst/>
          </a:prstGeom>
          <a:noFill/>
          <a:ln/>
        </p:spPr>
        <p:txBody>
          <a:bodyPr wrap="square" lIns="0" tIns="0" rIns="0" bIns="0" rtlCol="0" anchor="t"/>
          <a:lstStyle/>
          <a:p>
            <a:pPr marL="0" indent="0">
              <a:lnSpc>
                <a:spcPct val="90000"/>
              </a:lnSpc>
              <a:buNone/>
            </a:pPr>
            <a:r>
              <a:rPr lang="en-GB" sz="1800" noProof="0" dirty="0">
                <a:solidFill>
                  <a:srgbClr val="1F3A63"/>
                </a:solidFill>
                <a:latin typeface="Calibri" pitchFamily="34" charset="0"/>
                <a:ea typeface="Calibri" pitchFamily="34" charset="-122"/>
                <a:cs typeface="Calibri" pitchFamily="34" charset="-120"/>
              </a:rPr>
              <a:t>Differentiate in situ from invasive disease and name the main types and subtypes.</a:t>
            </a:r>
            <a:endParaRPr lang="en-GB" sz="1800" noProof="0" dirty="0"/>
          </a:p>
        </p:txBody>
      </p:sp>
      <p:sp>
        <p:nvSpPr>
          <p:cNvPr id="20" name="Shape 18"/>
          <p:cNvSpPr/>
          <p:nvPr/>
        </p:nvSpPr>
        <p:spPr>
          <a:xfrm>
            <a:off x="8115605" y="3854196"/>
            <a:ext cx="3527450" cy="2180844"/>
          </a:xfrm>
          <a:prstGeom prst="roundRect">
            <a:avLst>
              <a:gd name="adj" fmla="val 2516"/>
            </a:avLst>
          </a:prstGeom>
          <a:solidFill>
            <a:srgbClr val="F4F8FC"/>
          </a:solidFill>
          <a:ln w="12700">
            <a:solidFill>
              <a:srgbClr val="C8D8EC"/>
            </a:solidFill>
            <a:prstDash val="solid"/>
          </a:ln>
        </p:spPr>
        <p:txBody>
          <a:bodyPr/>
          <a:lstStyle/>
          <a:p>
            <a:endParaRPr lang="en-GB" noProof="0" dirty="0"/>
          </a:p>
        </p:txBody>
      </p:sp>
      <p:sp>
        <p:nvSpPr>
          <p:cNvPr id="21" name="Text 19"/>
          <p:cNvSpPr txBox="1"/>
          <p:nvPr/>
        </p:nvSpPr>
        <p:spPr>
          <a:xfrm>
            <a:off x="8280197" y="3945636"/>
            <a:ext cx="3198266" cy="292608"/>
          </a:xfrm>
          <a:prstGeom prst="rect">
            <a:avLst/>
          </a:prstGeom>
          <a:noFill/>
          <a:ln/>
        </p:spPr>
        <p:txBody>
          <a:bodyPr wrap="square" lIns="0" tIns="0" rIns="0" bIns="0" rtlCol="0" anchor="t"/>
          <a:lstStyle/>
          <a:p>
            <a:pPr marL="0" indent="0">
              <a:buNone/>
            </a:pPr>
            <a:r>
              <a:rPr lang="en-GB" sz="1700" b="1" noProof="0" dirty="0">
                <a:solidFill>
                  <a:srgbClr val="12315B"/>
                </a:solidFill>
                <a:latin typeface="Calibri" pitchFamily="34" charset="0"/>
                <a:ea typeface="Calibri" pitchFamily="34" charset="-122"/>
                <a:cs typeface="Calibri" pitchFamily="34" charset="-120"/>
              </a:rPr>
              <a:t>Distinguish</a:t>
            </a:r>
            <a:endParaRPr lang="en-GB" sz="1700" noProof="0" dirty="0"/>
          </a:p>
        </p:txBody>
      </p:sp>
      <p:sp>
        <p:nvSpPr>
          <p:cNvPr id="22" name="Text 20"/>
          <p:cNvSpPr txBox="1"/>
          <p:nvPr/>
        </p:nvSpPr>
        <p:spPr>
          <a:xfrm>
            <a:off x="8280197" y="4283964"/>
            <a:ext cx="3198266" cy="1696212"/>
          </a:xfrm>
          <a:prstGeom prst="rect">
            <a:avLst/>
          </a:prstGeom>
          <a:noFill/>
          <a:ln/>
        </p:spPr>
        <p:txBody>
          <a:bodyPr wrap="square" lIns="0" tIns="0" rIns="0" bIns="0" rtlCol="0" anchor="t"/>
          <a:lstStyle/>
          <a:p>
            <a:pPr marL="0" indent="0">
              <a:lnSpc>
                <a:spcPct val="90000"/>
              </a:lnSpc>
              <a:buNone/>
            </a:pPr>
            <a:r>
              <a:rPr lang="en-GB" sz="1800" noProof="0" dirty="0">
                <a:solidFill>
                  <a:srgbClr val="1F3A63"/>
                </a:solidFill>
                <a:latin typeface="Calibri" pitchFamily="34" charset="0"/>
                <a:ea typeface="Calibri" pitchFamily="34" charset="-122"/>
                <a:cs typeface="Calibri" pitchFamily="34" charset="-120"/>
              </a:rPr>
              <a:t>Explain TNM and distinguish stage from grade.</a:t>
            </a:r>
            <a:endParaRPr lang="en-GB" sz="1800" noProof="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en-GB" sz="1100" b="1" kern="0" spc="100" noProof="0" dirty="0">
                <a:solidFill>
                  <a:srgbClr val="5B7699"/>
                </a:solidFill>
                <a:latin typeface="Calibri" pitchFamily="34" charset="0"/>
                <a:ea typeface="Calibri" pitchFamily="34" charset="-122"/>
                <a:cs typeface="Calibri" pitchFamily="34" charset="-120"/>
              </a:rPr>
              <a:t>S E S S I O N   1</a:t>
            </a:r>
            <a:endParaRPr lang="en-GB"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en-GB" sz="1000" noProof="0" dirty="0">
                <a:solidFill>
                  <a:srgbClr val="5B7699"/>
                </a:solidFill>
                <a:latin typeface="Calibri" pitchFamily="34" charset="0"/>
                <a:ea typeface="Calibri" pitchFamily="34" charset="-122"/>
                <a:cs typeface="Calibri" pitchFamily="34" charset="-120"/>
              </a:rPr>
              <a:t>Breast Cancer  |  Frontline HCP  |  Rwanda Biomedical Centre</a:t>
            </a:r>
            <a:endParaRPr lang="en-GB"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en-GB" sz="3000" b="1" noProof="0" dirty="0">
                <a:solidFill>
                  <a:srgbClr val="12315B"/>
                </a:solidFill>
                <a:latin typeface="Calibri" pitchFamily="34" charset="0"/>
                <a:ea typeface="Calibri" pitchFamily="34" charset="-122"/>
                <a:cs typeface="Calibri" pitchFamily="34" charset="-120"/>
              </a:rPr>
              <a:t>What breast cancer is</a:t>
            </a:r>
            <a:endParaRPr lang="en-GB" sz="3000" noProof="0" dirty="0"/>
          </a:p>
        </p:txBody>
      </p:sp>
      <p:sp>
        <p:nvSpPr>
          <p:cNvPr id="5" name="Shape 3"/>
          <p:cNvSpPr/>
          <p:nvPr/>
        </p:nvSpPr>
        <p:spPr>
          <a:xfrm>
            <a:off x="650240" y="1371600"/>
            <a:ext cx="5204460" cy="4775200"/>
          </a:xfrm>
          <a:prstGeom prst="roundRect">
            <a:avLst>
              <a:gd name="adj" fmla="val 2490"/>
            </a:avLst>
          </a:prstGeom>
          <a:solidFill>
            <a:srgbClr val="F4F8FC"/>
          </a:solidFill>
          <a:ln w="12700">
            <a:solidFill>
              <a:srgbClr val="C8D8EC"/>
            </a:solidFill>
            <a:prstDash val="solid"/>
          </a:ln>
        </p:spPr>
        <p:txBody>
          <a:bodyPr/>
          <a:lstStyle/>
          <a:p>
            <a:endParaRPr lang="en-GB" noProof="0" dirty="0"/>
          </a:p>
        </p:txBody>
      </p:sp>
      <p:sp>
        <p:nvSpPr>
          <p:cNvPr id="6" name="Text 4"/>
          <p:cNvSpPr txBox="1"/>
          <p:nvPr/>
        </p:nvSpPr>
        <p:spPr>
          <a:xfrm>
            <a:off x="814832" y="1463040"/>
            <a:ext cx="4718776" cy="292608"/>
          </a:xfrm>
          <a:prstGeom prst="rect">
            <a:avLst/>
          </a:prstGeom>
          <a:noFill/>
          <a:ln/>
        </p:spPr>
        <p:txBody>
          <a:bodyPr wrap="square" lIns="0" tIns="0" rIns="0" bIns="0" rtlCol="0" anchor="t"/>
          <a:lstStyle/>
          <a:p>
            <a:pPr marL="0" indent="0">
              <a:buNone/>
            </a:pPr>
            <a:r>
              <a:rPr lang="en-GB" b="1" noProof="0" dirty="0">
                <a:solidFill>
                  <a:srgbClr val="12315B"/>
                </a:solidFill>
                <a:latin typeface="Calibri" pitchFamily="34" charset="0"/>
                <a:ea typeface="Calibri" pitchFamily="34" charset="-122"/>
                <a:cs typeface="Calibri" pitchFamily="34" charset="-120"/>
              </a:rPr>
              <a:t>Ducts and lobules</a:t>
            </a:r>
            <a:endParaRPr lang="en-GB" noProof="0" dirty="0"/>
          </a:p>
        </p:txBody>
      </p:sp>
      <p:sp>
        <p:nvSpPr>
          <p:cNvPr id="7" name="Text 5"/>
          <p:cNvSpPr txBox="1"/>
          <p:nvPr/>
        </p:nvSpPr>
        <p:spPr>
          <a:xfrm>
            <a:off x="814832" y="1801368"/>
            <a:ext cx="4718776" cy="1719072"/>
          </a:xfrm>
          <a:prstGeom prst="rect">
            <a:avLst/>
          </a:prstGeom>
          <a:noFill/>
          <a:ln/>
        </p:spPr>
        <p:txBody>
          <a:bodyPr wrap="square" lIns="0" tIns="0" rIns="0" bIns="0" rtlCol="0" anchor="t"/>
          <a:lstStyle/>
          <a:p>
            <a:pPr marL="0" indent="0">
              <a:lnSpc>
                <a:spcPct val="90000"/>
              </a:lnSpc>
              <a:buNone/>
            </a:pPr>
            <a:r>
              <a:rPr lang="en-GB" noProof="0" dirty="0">
                <a:solidFill>
                  <a:srgbClr val="1F3A63"/>
                </a:solidFill>
                <a:latin typeface="Calibri" pitchFamily="34" charset="0"/>
                <a:ea typeface="Calibri" pitchFamily="34" charset="-122"/>
                <a:cs typeface="Calibri" pitchFamily="34" charset="-120"/>
              </a:rPr>
              <a:t>Breast cancer develops when abnormal cells grow without normal control. Most arise from the epithelial cells lining the ducts or lobules.</a:t>
            </a:r>
            <a:endParaRPr lang="en-GB" noProof="0" dirty="0"/>
          </a:p>
        </p:txBody>
      </p:sp>
      <p:sp>
        <p:nvSpPr>
          <p:cNvPr id="8" name="Shape 6"/>
          <p:cNvSpPr/>
          <p:nvPr/>
        </p:nvSpPr>
        <p:spPr>
          <a:xfrm>
            <a:off x="6197600" y="1357376"/>
            <a:ext cx="5382768" cy="4775200"/>
          </a:xfrm>
          <a:prstGeom prst="roundRect">
            <a:avLst>
              <a:gd name="adj" fmla="val 2490"/>
            </a:avLst>
          </a:prstGeom>
          <a:solidFill>
            <a:srgbClr val="F4F8FC"/>
          </a:solidFill>
          <a:ln w="12700">
            <a:solidFill>
              <a:srgbClr val="C8D8EC"/>
            </a:solidFill>
            <a:prstDash val="solid"/>
          </a:ln>
        </p:spPr>
        <p:txBody>
          <a:bodyPr/>
          <a:lstStyle/>
          <a:p>
            <a:endParaRPr lang="en-GB" noProof="0" dirty="0"/>
          </a:p>
        </p:txBody>
      </p:sp>
      <p:sp>
        <p:nvSpPr>
          <p:cNvPr id="9" name="Text 7"/>
          <p:cNvSpPr txBox="1"/>
          <p:nvPr/>
        </p:nvSpPr>
        <p:spPr>
          <a:xfrm>
            <a:off x="6535332" y="1448816"/>
            <a:ext cx="4880444" cy="292608"/>
          </a:xfrm>
          <a:prstGeom prst="rect">
            <a:avLst/>
          </a:prstGeom>
          <a:noFill/>
          <a:ln/>
        </p:spPr>
        <p:txBody>
          <a:bodyPr wrap="square" lIns="0" tIns="0" rIns="0" bIns="0" rtlCol="0" anchor="t"/>
          <a:lstStyle/>
          <a:p>
            <a:pPr marL="0" indent="0">
              <a:buNone/>
            </a:pPr>
            <a:r>
              <a:rPr lang="en-GB" b="1" noProof="0" dirty="0">
                <a:solidFill>
                  <a:srgbClr val="12315B"/>
                </a:solidFill>
                <a:latin typeface="Calibri" pitchFamily="34" charset="0"/>
                <a:ea typeface="Calibri" pitchFamily="34" charset="-122"/>
                <a:cs typeface="Calibri" pitchFamily="34" charset="-120"/>
              </a:rPr>
              <a:t>Not one disease</a:t>
            </a:r>
            <a:endParaRPr lang="en-GB" noProof="0" dirty="0"/>
          </a:p>
        </p:txBody>
      </p:sp>
      <p:sp>
        <p:nvSpPr>
          <p:cNvPr id="10" name="Text 8"/>
          <p:cNvSpPr txBox="1"/>
          <p:nvPr/>
        </p:nvSpPr>
        <p:spPr>
          <a:xfrm>
            <a:off x="6535332" y="1787144"/>
            <a:ext cx="4880444" cy="1719072"/>
          </a:xfrm>
          <a:prstGeom prst="rect">
            <a:avLst/>
          </a:prstGeom>
          <a:noFill/>
          <a:ln/>
        </p:spPr>
        <p:txBody>
          <a:bodyPr wrap="square" lIns="0" tIns="0" rIns="0" bIns="0" rtlCol="0" anchor="t"/>
          <a:lstStyle/>
          <a:p>
            <a:pPr marL="0" indent="0">
              <a:lnSpc>
                <a:spcPct val="90000"/>
              </a:lnSpc>
              <a:buNone/>
            </a:pPr>
            <a:r>
              <a:rPr lang="en-GB" noProof="0" dirty="0">
                <a:solidFill>
                  <a:srgbClr val="1F3A63"/>
                </a:solidFill>
                <a:latin typeface="Calibri" pitchFamily="34" charset="0"/>
                <a:ea typeface="Calibri" pitchFamily="34" charset="-122"/>
                <a:cs typeface="Calibri" pitchFamily="34" charset="-120"/>
              </a:rPr>
              <a:t>Breast cancer includes biologically different diseases. Two tumours of the same size can behave very differently.</a:t>
            </a:r>
            <a:endParaRPr lang="en-GB" noProof="0" dirty="0"/>
          </a:p>
        </p:txBody>
      </p:sp>
      <p:pic>
        <p:nvPicPr>
          <p:cNvPr id="23" name="Imagen 22">
            <a:extLst>
              <a:ext uri="{FF2B5EF4-FFF2-40B4-BE49-F238E27FC236}">
                <a16:creationId xmlns:a16="http://schemas.microsoft.com/office/drawing/2014/main" id="{1E341C47-5635-04FB-94F1-C33BC6F89B32}"/>
              </a:ext>
            </a:extLst>
          </p:cNvPr>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a:xfrm>
            <a:off x="923317" y="2804160"/>
            <a:ext cx="4718775" cy="3145850"/>
          </a:xfrm>
          <a:prstGeom prst="rect">
            <a:avLst/>
          </a:prstGeom>
        </p:spPr>
      </p:pic>
      <p:pic>
        <p:nvPicPr>
          <p:cNvPr id="11" name="Imagen 10">
            <a:extLst>
              <a:ext uri="{FF2B5EF4-FFF2-40B4-BE49-F238E27FC236}">
                <a16:creationId xmlns:a16="http://schemas.microsoft.com/office/drawing/2014/main" id="{635BE586-B4BD-D870-D6C2-0B5FFD872308}"/>
              </a:ext>
            </a:extLst>
          </p:cNvPr>
          <p:cNvPicPr>
            <a:picLocks noChangeAspect="1"/>
          </p:cNvPicPr>
          <p:nvPr/>
        </p:nvPicPr>
        <p:blipFill>
          <a:blip r:embed="rId4" cstate="email">
            <a:extLst>
              <a:ext uri="{28A0092B-C50C-407E-A947-70E740481C1C}">
                <a14:useLocalDpi xmlns:a14="http://schemas.microsoft.com/office/drawing/2010/main"/>
              </a:ext>
            </a:extLst>
          </a:blip>
          <a:srcRect/>
          <a:stretch>
            <a:fillRect/>
          </a:stretch>
        </p:blipFill>
        <p:spPr>
          <a:xfrm>
            <a:off x="6298596" y="2914109"/>
            <a:ext cx="5204459" cy="2925952"/>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95EA91A4-7063-D9A2-AAB4-D73630881FA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1CACD3A-213D-327B-F4CE-2E3A26F3D1EE}"/>
              </a:ext>
            </a:extLst>
          </p:cNvPr>
          <p:cNvSpPr txBox="1"/>
          <p:nvPr/>
        </p:nvSpPr>
        <p:spPr>
          <a:xfrm>
            <a:off x="548640" y="274320"/>
            <a:ext cx="11094415" cy="256032"/>
          </a:xfrm>
          <a:prstGeom prst="rect">
            <a:avLst/>
          </a:prstGeom>
          <a:noFill/>
          <a:ln/>
        </p:spPr>
        <p:txBody>
          <a:bodyPr wrap="square" lIns="0" tIns="0" rIns="0" bIns="0" rtlCol="0" anchor="ctr"/>
          <a:lstStyle/>
          <a:p>
            <a:pPr marL="0" indent="0">
              <a:buNone/>
            </a:pPr>
            <a:r>
              <a:rPr lang="en-GB" sz="1100" b="1" kern="0" spc="100" noProof="0" dirty="0">
                <a:solidFill>
                  <a:srgbClr val="5B7699"/>
                </a:solidFill>
                <a:latin typeface="Calibri" pitchFamily="34" charset="0"/>
                <a:ea typeface="Calibri" pitchFamily="34" charset="-122"/>
                <a:cs typeface="Calibri" pitchFamily="34" charset="-120"/>
              </a:rPr>
              <a:t>S E S S I O N   1</a:t>
            </a:r>
            <a:endParaRPr lang="en-GB" sz="1100" noProof="0" dirty="0"/>
          </a:p>
        </p:txBody>
      </p:sp>
      <p:sp>
        <p:nvSpPr>
          <p:cNvPr id="3" name="Text 1">
            <a:extLst>
              <a:ext uri="{FF2B5EF4-FFF2-40B4-BE49-F238E27FC236}">
                <a16:creationId xmlns:a16="http://schemas.microsoft.com/office/drawing/2014/main" id="{959F1449-D785-6C6C-94DE-714F019DD7FC}"/>
              </a:ext>
            </a:extLst>
          </p:cNvPr>
          <p:cNvSpPr txBox="1"/>
          <p:nvPr/>
        </p:nvSpPr>
        <p:spPr>
          <a:xfrm>
            <a:off x="548640" y="6382512"/>
            <a:ext cx="11094415" cy="274320"/>
          </a:xfrm>
          <a:prstGeom prst="rect">
            <a:avLst/>
          </a:prstGeom>
          <a:noFill/>
          <a:ln/>
        </p:spPr>
        <p:txBody>
          <a:bodyPr wrap="square" lIns="0" tIns="0" rIns="0" bIns="0" rtlCol="0" anchor="ctr"/>
          <a:lstStyle/>
          <a:p>
            <a:pPr marL="0" indent="0">
              <a:buNone/>
            </a:pPr>
            <a:r>
              <a:rPr lang="en-GB" sz="1000" noProof="0" dirty="0">
                <a:solidFill>
                  <a:srgbClr val="5B7699"/>
                </a:solidFill>
                <a:latin typeface="Calibri" pitchFamily="34" charset="0"/>
                <a:ea typeface="Calibri" pitchFamily="34" charset="-122"/>
                <a:cs typeface="Calibri" pitchFamily="34" charset="-120"/>
              </a:rPr>
              <a:t>Breast Cancer  |  Frontline HCP  |  Rwanda Biomedical Centre</a:t>
            </a:r>
            <a:endParaRPr lang="en-GB" sz="1000" noProof="0" dirty="0"/>
          </a:p>
        </p:txBody>
      </p:sp>
      <p:sp>
        <p:nvSpPr>
          <p:cNvPr id="4" name="Text 2">
            <a:extLst>
              <a:ext uri="{FF2B5EF4-FFF2-40B4-BE49-F238E27FC236}">
                <a16:creationId xmlns:a16="http://schemas.microsoft.com/office/drawing/2014/main" id="{D768598F-D24D-2FBE-2129-F6F4AB600C36}"/>
              </a:ext>
            </a:extLst>
          </p:cNvPr>
          <p:cNvSpPr txBox="1"/>
          <p:nvPr/>
        </p:nvSpPr>
        <p:spPr>
          <a:xfrm>
            <a:off x="548640" y="566928"/>
            <a:ext cx="11094415" cy="566928"/>
          </a:xfrm>
          <a:prstGeom prst="rect">
            <a:avLst/>
          </a:prstGeom>
          <a:noFill/>
          <a:ln/>
        </p:spPr>
        <p:txBody>
          <a:bodyPr wrap="square" lIns="0" tIns="0" rIns="0" bIns="0" rtlCol="0" anchor="t"/>
          <a:lstStyle/>
          <a:p>
            <a:pPr marL="0" indent="0">
              <a:buNone/>
            </a:pPr>
            <a:r>
              <a:rPr lang="en-GB" sz="3000" b="1" noProof="0" dirty="0">
                <a:solidFill>
                  <a:srgbClr val="12315B"/>
                </a:solidFill>
                <a:latin typeface="Calibri" pitchFamily="34" charset="0"/>
                <a:ea typeface="Calibri" pitchFamily="34" charset="-122"/>
                <a:cs typeface="Calibri" pitchFamily="34" charset="-120"/>
              </a:rPr>
              <a:t>What breast cancer is</a:t>
            </a:r>
            <a:endParaRPr lang="en-GB" sz="3000" noProof="0" dirty="0"/>
          </a:p>
        </p:txBody>
      </p:sp>
      <p:sp>
        <p:nvSpPr>
          <p:cNvPr id="11" name="Shape 9">
            <a:extLst>
              <a:ext uri="{FF2B5EF4-FFF2-40B4-BE49-F238E27FC236}">
                <a16:creationId xmlns:a16="http://schemas.microsoft.com/office/drawing/2014/main" id="{9980D3FC-AB44-B77E-00AB-B2B347952FA3}"/>
              </a:ext>
            </a:extLst>
          </p:cNvPr>
          <p:cNvSpPr/>
          <p:nvPr/>
        </p:nvSpPr>
        <p:spPr>
          <a:xfrm>
            <a:off x="548640" y="1343394"/>
            <a:ext cx="5547360" cy="4762938"/>
          </a:xfrm>
          <a:prstGeom prst="roundRect">
            <a:avLst>
              <a:gd name="adj" fmla="val 2490"/>
            </a:avLst>
          </a:prstGeom>
          <a:solidFill>
            <a:srgbClr val="F4F8FC"/>
          </a:solidFill>
          <a:ln w="12700">
            <a:solidFill>
              <a:srgbClr val="C8D8EC"/>
            </a:solidFill>
            <a:prstDash val="solid"/>
          </a:ln>
        </p:spPr>
        <p:txBody>
          <a:bodyPr/>
          <a:lstStyle/>
          <a:p>
            <a:endParaRPr lang="en-GB" noProof="0" dirty="0"/>
          </a:p>
        </p:txBody>
      </p:sp>
      <p:sp>
        <p:nvSpPr>
          <p:cNvPr id="12" name="Text 10">
            <a:extLst>
              <a:ext uri="{FF2B5EF4-FFF2-40B4-BE49-F238E27FC236}">
                <a16:creationId xmlns:a16="http://schemas.microsoft.com/office/drawing/2014/main" id="{E2DB40A7-B5EA-6007-4124-515B28CD30B3}"/>
              </a:ext>
            </a:extLst>
          </p:cNvPr>
          <p:cNvSpPr txBox="1"/>
          <p:nvPr/>
        </p:nvSpPr>
        <p:spPr>
          <a:xfrm>
            <a:off x="837215" y="1481328"/>
            <a:ext cx="5029677" cy="292608"/>
          </a:xfrm>
          <a:prstGeom prst="rect">
            <a:avLst/>
          </a:prstGeom>
          <a:noFill/>
          <a:ln/>
        </p:spPr>
        <p:txBody>
          <a:bodyPr wrap="square" lIns="0" tIns="0" rIns="0" bIns="0" rtlCol="0" anchor="t"/>
          <a:lstStyle/>
          <a:p>
            <a:pPr marL="0" indent="0">
              <a:buNone/>
            </a:pPr>
            <a:r>
              <a:rPr lang="en-GB" b="1" noProof="0" dirty="0">
                <a:solidFill>
                  <a:srgbClr val="12315B"/>
                </a:solidFill>
                <a:latin typeface="Calibri" pitchFamily="34" charset="0"/>
                <a:ea typeface="Calibri" pitchFamily="34" charset="-122"/>
                <a:cs typeface="Calibri" pitchFamily="34" charset="-120"/>
              </a:rPr>
              <a:t>In situ and invasive</a:t>
            </a:r>
            <a:endParaRPr lang="en-GB" noProof="0" dirty="0"/>
          </a:p>
        </p:txBody>
      </p:sp>
      <p:sp>
        <p:nvSpPr>
          <p:cNvPr id="13" name="Text 11">
            <a:extLst>
              <a:ext uri="{FF2B5EF4-FFF2-40B4-BE49-F238E27FC236}">
                <a16:creationId xmlns:a16="http://schemas.microsoft.com/office/drawing/2014/main" id="{F2D7AF38-5725-AF9A-9326-48356B311D06}"/>
              </a:ext>
            </a:extLst>
          </p:cNvPr>
          <p:cNvSpPr txBox="1"/>
          <p:nvPr/>
        </p:nvSpPr>
        <p:spPr>
          <a:xfrm>
            <a:off x="837215" y="1819656"/>
            <a:ext cx="5029677" cy="1719072"/>
          </a:xfrm>
          <a:prstGeom prst="rect">
            <a:avLst/>
          </a:prstGeom>
          <a:noFill/>
          <a:ln/>
        </p:spPr>
        <p:txBody>
          <a:bodyPr wrap="square" lIns="0" tIns="0" rIns="0" bIns="0" rtlCol="0" anchor="t"/>
          <a:lstStyle/>
          <a:p>
            <a:pPr marL="0" indent="0">
              <a:lnSpc>
                <a:spcPct val="90000"/>
              </a:lnSpc>
              <a:buNone/>
            </a:pPr>
            <a:r>
              <a:rPr lang="en-GB" noProof="0" dirty="0">
                <a:solidFill>
                  <a:srgbClr val="1F3A63"/>
                </a:solidFill>
                <a:latin typeface="Calibri" pitchFamily="34" charset="0"/>
                <a:ea typeface="Calibri" pitchFamily="34" charset="-122"/>
                <a:cs typeface="Calibri" pitchFamily="34" charset="-120"/>
              </a:rPr>
              <a:t>Some disease stays inside the duct or lobule for a period of time. Invasive cancer crosses into surrounding breast tissue.</a:t>
            </a:r>
            <a:endParaRPr lang="en-GB" noProof="0" dirty="0"/>
          </a:p>
        </p:txBody>
      </p:sp>
      <p:sp>
        <p:nvSpPr>
          <p:cNvPr id="14" name="Shape 12">
            <a:extLst>
              <a:ext uri="{FF2B5EF4-FFF2-40B4-BE49-F238E27FC236}">
                <a16:creationId xmlns:a16="http://schemas.microsoft.com/office/drawing/2014/main" id="{8BB4FE6C-8279-F58F-1E31-09BB1F84C258}"/>
              </a:ext>
            </a:extLst>
          </p:cNvPr>
          <p:cNvSpPr/>
          <p:nvPr/>
        </p:nvSpPr>
        <p:spPr>
          <a:xfrm>
            <a:off x="6385302" y="1335024"/>
            <a:ext cx="5257753" cy="4762938"/>
          </a:xfrm>
          <a:prstGeom prst="roundRect">
            <a:avLst>
              <a:gd name="adj" fmla="val 2490"/>
            </a:avLst>
          </a:prstGeom>
          <a:solidFill>
            <a:srgbClr val="F4F8FC"/>
          </a:solidFill>
          <a:ln w="12700">
            <a:solidFill>
              <a:srgbClr val="C8D8EC"/>
            </a:solidFill>
            <a:prstDash val="solid"/>
          </a:ln>
        </p:spPr>
        <p:txBody>
          <a:bodyPr/>
          <a:lstStyle/>
          <a:p>
            <a:endParaRPr lang="en-GB" noProof="0" dirty="0"/>
          </a:p>
        </p:txBody>
      </p:sp>
      <p:sp>
        <p:nvSpPr>
          <p:cNvPr id="15" name="Text 13">
            <a:extLst>
              <a:ext uri="{FF2B5EF4-FFF2-40B4-BE49-F238E27FC236}">
                <a16:creationId xmlns:a16="http://schemas.microsoft.com/office/drawing/2014/main" id="{E7E63333-F46B-7F88-0AF6-2BB4350F8B50}"/>
              </a:ext>
            </a:extLst>
          </p:cNvPr>
          <p:cNvSpPr txBox="1"/>
          <p:nvPr/>
        </p:nvSpPr>
        <p:spPr>
          <a:xfrm>
            <a:off x="6727495" y="1426464"/>
            <a:ext cx="4472004" cy="292608"/>
          </a:xfrm>
          <a:prstGeom prst="rect">
            <a:avLst/>
          </a:prstGeom>
          <a:noFill/>
          <a:ln/>
        </p:spPr>
        <p:txBody>
          <a:bodyPr wrap="square" lIns="0" tIns="0" rIns="0" bIns="0" rtlCol="0" anchor="t"/>
          <a:lstStyle/>
          <a:p>
            <a:pPr marL="0" indent="0">
              <a:buNone/>
            </a:pPr>
            <a:r>
              <a:rPr lang="en-GB" b="1" noProof="0" dirty="0">
                <a:solidFill>
                  <a:srgbClr val="12315B"/>
                </a:solidFill>
                <a:latin typeface="Calibri" pitchFamily="34" charset="0"/>
                <a:ea typeface="Calibri" pitchFamily="34" charset="-122"/>
                <a:cs typeface="Calibri" pitchFamily="34" charset="-120"/>
              </a:rPr>
              <a:t>Spread</a:t>
            </a:r>
            <a:endParaRPr lang="en-GB" noProof="0" dirty="0"/>
          </a:p>
        </p:txBody>
      </p:sp>
      <p:sp>
        <p:nvSpPr>
          <p:cNvPr id="16" name="Text 14">
            <a:extLst>
              <a:ext uri="{FF2B5EF4-FFF2-40B4-BE49-F238E27FC236}">
                <a16:creationId xmlns:a16="http://schemas.microsoft.com/office/drawing/2014/main" id="{29094225-F52C-A68F-AEA3-1BCEE789F805}"/>
              </a:ext>
            </a:extLst>
          </p:cNvPr>
          <p:cNvSpPr txBox="1"/>
          <p:nvPr/>
        </p:nvSpPr>
        <p:spPr>
          <a:xfrm>
            <a:off x="6727495" y="1764792"/>
            <a:ext cx="4472004" cy="1719072"/>
          </a:xfrm>
          <a:prstGeom prst="rect">
            <a:avLst/>
          </a:prstGeom>
          <a:noFill/>
          <a:ln/>
        </p:spPr>
        <p:txBody>
          <a:bodyPr wrap="square" lIns="0" tIns="0" rIns="0" bIns="0" rtlCol="0" anchor="t"/>
          <a:lstStyle/>
          <a:p>
            <a:pPr marL="0" indent="0">
              <a:lnSpc>
                <a:spcPct val="90000"/>
              </a:lnSpc>
              <a:buNone/>
            </a:pPr>
            <a:r>
              <a:rPr lang="en-GB" noProof="0" dirty="0">
                <a:solidFill>
                  <a:srgbClr val="1F3A63"/>
                </a:solidFill>
                <a:latin typeface="Calibri" pitchFamily="34" charset="0"/>
                <a:ea typeface="Calibri" pitchFamily="34" charset="-122"/>
                <a:cs typeface="Calibri" pitchFamily="34" charset="-120"/>
              </a:rPr>
              <a:t>Invasive disease may reach axillary lymph nodes, and may travel through the bloodstream to bone, liver, lung or brain.</a:t>
            </a:r>
            <a:endParaRPr lang="en-GB" noProof="0" dirty="0"/>
          </a:p>
        </p:txBody>
      </p:sp>
      <p:pic>
        <p:nvPicPr>
          <p:cNvPr id="23" name="Imagen 22">
            <a:extLst>
              <a:ext uri="{FF2B5EF4-FFF2-40B4-BE49-F238E27FC236}">
                <a16:creationId xmlns:a16="http://schemas.microsoft.com/office/drawing/2014/main" id="{E6D46D48-E6A8-5B04-7D94-31111DA1C3BA}"/>
              </a:ext>
            </a:extLst>
          </p:cNvPr>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a:xfrm>
            <a:off x="992501" y="2762209"/>
            <a:ext cx="4525199" cy="3016799"/>
          </a:xfrm>
          <a:prstGeom prst="rect">
            <a:avLst/>
          </a:prstGeom>
        </p:spPr>
      </p:pic>
      <p:pic>
        <p:nvPicPr>
          <p:cNvPr id="24" name="Imagen 23">
            <a:extLst>
              <a:ext uri="{FF2B5EF4-FFF2-40B4-BE49-F238E27FC236}">
                <a16:creationId xmlns:a16="http://schemas.microsoft.com/office/drawing/2014/main" id="{36EBB2C5-8E82-2EB6-AA0C-245122C05D84}"/>
              </a:ext>
            </a:extLst>
          </p:cNvPr>
          <p:cNvPicPr>
            <a:picLocks noChangeAspect="1"/>
          </p:cNvPicPr>
          <p:nvPr/>
        </p:nvPicPr>
        <p:blipFill>
          <a:blip r:embed="rId4" cstate="email">
            <a:extLst>
              <a:ext uri="{28A0092B-C50C-407E-A947-70E740481C1C}">
                <a14:useLocalDpi xmlns:a14="http://schemas.microsoft.com/office/drawing/2010/main"/>
              </a:ext>
            </a:extLst>
          </a:blip>
          <a:srcRect/>
          <a:stretch>
            <a:fillRect/>
          </a:stretch>
        </p:blipFill>
        <p:spPr>
          <a:xfrm>
            <a:off x="6727495" y="2762209"/>
            <a:ext cx="4627290" cy="3084860"/>
          </a:xfrm>
          <a:prstGeom prst="rect">
            <a:avLst/>
          </a:prstGeom>
        </p:spPr>
      </p:pic>
    </p:spTree>
    <p:extLst>
      <p:ext uri="{BB962C8B-B14F-4D97-AF65-F5344CB8AC3E}">
        <p14:creationId xmlns:p14="http://schemas.microsoft.com/office/powerpoint/2010/main" val="27939540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E40E7C0E-290F-EFC8-9B85-36C9ED326A8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9596BB0-60DF-E3D8-EF6F-E91E3032628A}"/>
              </a:ext>
            </a:extLst>
          </p:cNvPr>
          <p:cNvSpPr txBox="1"/>
          <p:nvPr/>
        </p:nvSpPr>
        <p:spPr>
          <a:xfrm>
            <a:off x="548640" y="274320"/>
            <a:ext cx="11094415" cy="256032"/>
          </a:xfrm>
          <a:prstGeom prst="rect">
            <a:avLst/>
          </a:prstGeom>
          <a:noFill/>
          <a:ln/>
        </p:spPr>
        <p:txBody>
          <a:bodyPr wrap="square" lIns="0" tIns="0" rIns="0" bIns="0" rtlCol="0" anchor="ctr"/>
          <a:lstStyle/>
          <a:p>
            <a:pPr marL="0" indent="0">
              <a:buNone/>
            </a:pPr>
            <a:r>
              <a:rPr lang="en-GB" sz="1100" b="1" kern="0" spc="100" noProof="0" dirty="0">
                <a:solidFill>
                  <a:srgbClr val="5B7699"/>
                </a:solidFill>
                <a:latin typeface="Calibri" pitchFamily="34" charset="0"/>
                <a:ea typeface="Calibri" pitchFamily="34" charset="-122"/>
                <a:cs typeface="Calibri" pitchFamily="34" charset="-120"/>
              </a:rPr>
              <a:t>S E S S I O N   1</a:t>
            </a:r>
            <a:endParaRPr lang="en-GB" sz="1100" noProof="0" dirty="0"/>
          </a:p>
        </p:txBody>
      </p:sp>
      <p:sp>
        <p:nvSpPr>
          <p:cNvPr id="3" name="Text 1">
            <a:extLst>
              <a:ext uri="{FF2B5EF4-FFF2-40B4-BE49-F238E27FC236}">
                <a16:creationId xmlns:a16="http://schemas.microsoft.com/office/drawing/2014/main" id="{F21A444C-66B0-C4D1-D04C-084435C7E1F2}"/>
              </a:ext>
            </a:extLst>
          </p:cNvPr>
          <p:cNvSpPr txBox="1"/>
          <p:nvPr/>
        </p:nvSpPr>
        <p:spPr>
          <a:xfrm>
            <a:off x="548640" y="6382512"/>
            <a:ext cx="11094415" cy="274320"/>
          </a:xfrm>
          <a:prstGeom prst="rect">
            <a:avLst/>
          </a:prstGeom>
          <a:noFill/>
          <a:ln/>
        </p:spPr>
        <p:txBody>
          <a:bodyPr wrap="square" lIns="0" tIns="0" rIns="0" bIns="0" rtlCol="0" anchor="ctr"/>
          <a:lstStyle/>
          <a:p>
            <a:pPr marL="0" indent="0">
              <a:buNone/>
            </a:pPr>
            <a:r>
              <a:rPr lang="en-GB" sz="1000" noProof="0" dirty="0">
                <a:solidFill>
                  <a:srgbClr val="5B7699"/>
                </a:solidFill>
                <a:latin typeface="Calibri" pitchFamily="34" charset="0"/>
                <a:ea typeface="Calibri" pitchFamily="34" charset="-122"/>
                <a:cs typeface="Calibri" pitchFamily="34" charset="-120"/>
              </a:rPr>
              <a:t>Breast Cancer  |  Frontline HCP  |  Rwanda Biomedical Centre</a:t>
            </a:r>
            <a:endParaRPr lang="en-GB" sz="1000" noProof="0" dirty="0"/>
          </a:p>
        </p:txBody>
      </p:sp>
      <p:sp>
        <p:nvSpPr>
          <p:cNvPr id="4" name="Text 2">
            <a:extLst>
              <a:ext uri="{FF2B5EF4-FFF2-40B4-BE49-F238E27FC236}">
                <a16:creationId xmlns:a16="http://schemas.microsoft.com/office/drawing/2014/main" id="{C918A3CA-2DAB-52D7-782D-36FEC7D864C4}"/>
              </a:ext>
            </a:extLst>
          </p:cNvPr>
          <p:cNvSpPr txBox="1"/>
          <p:nvPr/>
        </p:nvSpPr>
        <p:spPr>
          <a:xfrm>
            <a:off x="548640" y="566928"/>
            <a:ext cx="11094415" cy="566928"/>
          </a:xfrm>
          <a:prstGeom prst="rect">
            <a:avLst/>
          </a:prstGeom>
          <a:noFill/>
          <a:ln/>
        </p:spPr>
        <p:txBody>
          <a:bodyPr wrap="square" lIns="0" tIns="0" rIns="0" bIns="0" rtlCol="0" anchor="t"/>
          <a:lstStyle/>
          <a:p>
            <a:pPr marL="0" indent="0">
              <a:buNone/>
            </a:pPr>
            <a:r>
              <a:rPr lang="en-GB" sz="3000" b="1" noProof="0" dirty="0">
                <a:solidFill>
                  <a:srgbClr val="12315B"/>
                </a:solidFill>
                <a:latin typeface="Calibri" pitchFamily="34" charset="0"/>
                <a:ea typeface="Calibri" pitchFamily="34" charset="-122"/>
                <a:cs typeface="Calibri" pitchFamily="34" charset="-120"/>
              </a:rPr>
              <a:t>What breast cancer is</a:t>
            </a:r>
            <a:endParaRPr lang="en-GB" sz="3000" noProof="0" dirty="0"/>
          </a:p>
        </p:txBody>
      </p:sp>
      <p:sp>
        <p:nvSpPr>
          <p:cNvPr id="17" name="Shape 15">
            <a:extLst>
              <a:ext uri="{FF2B5EF4-FFF2-40B4-BE49-F238E27FC236}">
                <a16:creationId xmlns:a16="http://schemas.microsoft.com/office/drawing/2014/main" id="{11675B68-0494-F786-69DA-E79D5751C0A8}"/>
              </a:ext>
            </a:extLst>
          </p:cNvPr>
          <p:cNvSpPr/>
          <p:nvPr/>
        </p:nvSpPr>
        <p:spPr>
          <a:xfrm>
            <a:off x="657126" y="1382604"/>
            <a:ext cx="5194268" cy="4908468"/>
          </a:xfrm>
          <a:prstGeom prst="roundRect">
            <a:avLst>
              <a:gd name="adj" fmla="val 2490"/>
            </a:avLst>
          </a:prstGeom>
          <a:solidFill>
            <a:srgbClr val="F4F8FC"/>
          </a:solidFill>
          <a:ln w="12700">
            <a:solidFill>
              <a:srgbClr val="C8D8EC"/>
            </a:solidFill>
            <a:prstDash val="solid"/>
          </a:ln>
        </p:spPr>
        <p:txBody>
          <a:bodyPr/>
          <a:lstStyle/>
          <a:p>
            <a:endParaRPr lang="en-GB" noProof="0" dirty="0"/>
          </a:p>
        </p:txBody>
      </p:sp>
      <p:sp>
        <p:nvSpPr>
          <p:cNvPr id="18" name="Text 16">
            <a:extLst>
              <a:ext uri="{FF2B5EF4-FFF2-40B4-BE49-F238E27FC236}">
                <a16:creationId xmlns:a16="http://schemas.microsoft.com/office/drawing/2014/main" id="{7AA26E2D-A28C-BAE4-E230-9760747B2435}"/>
              </a:ext>
            </a:extLst>
          </p:cNvPr>
          <p:cNvSpPr txBox="1"/>
          <p:nvPr/>
        </p:nvSpPr>
        <p:spPr>
          <a:xfrm>
            <a:off x="821717" y="1474044"/>
            <a:ext cx="5029677" cy="292608"/>
          </a:xfrm>
          <a:prstGeom prst="rect">
            <a:avLst/>
          </a:prstGeom>
          <a:noFill/>
          <a:ln/>
        </p:spPr>
        <p:txBody>
          <a:bodyPr wrap="square" lIns="0" tIns="0" rIns="0" bIns="0" rtlCol="0" anchor="t"/>
          <a:lstStyle/>
          <a:p>
            <a:pPr marL="0" indent="0">
              <a:buNone/>
            </a:pPr>
            <a:r>
              <a:rPr lang="en-GB" b="1" noProof="0" dirty="0">
                <a:solidFill>
                  <a:srgbClr val="12315B"/>
                </a:solidFill>
                <a:latin typeface="Calibri" pitchFamily="34" charset="0"/>
                <a:ea typeface="Calibri" pitchFamily="34" charset="-122"/>
                <a:cs typeface="Calibri" pitchFamily="34" charset="-120"/>
              </a:rPr>
              <a:t>Earlier is better</a:t>
            </a:r>
            <a:endParaRPr lang="en-GB" noProof="0" dirty="0"/>
          </a:p>
        </p:txBody>
      </p:sp>
      <p:sp>
        <p:nvSpPr>
          <p:cNvPr id="19" name="Text 17">
            <a:extLst>
              <a:ext uri="{FF2B5EF4-FFF2-40B4-BE49-F238E27FC236}">
                <a16:creationId xmlns:a16="http://schemas.microsoft.com/office/drawing/2014/main" id="{335402A5-60B1-288E-9052-BFD1F7E11F76}"/>
              </a:ext>
            </a:extLst>
          </p:cNvPr>
          <p:cNvSpPr txBox="1"/>
          <p:nvPr/>
        </p:nvSpPr>
        <p:spPr>
          <a:xfrm>
            <a:off x="821717" y="1812372"/>
            <a:ext cx="5029677" cy="1719072"/>
          </a:xfrm>
          <a:prstGeom prst="rect">
            <a:avLst/>
          </a:prstGeom>
          <a:noFill/>
          <a:ln/>
        </p:spPr>
        <p:txBody>
          <a:bodyPr wrap="square" lIns="0" tIns="0" rIns="0" bIns="0" rtlCol="0" anchor="t"/>
          <a:lstStyle/>
          <a:p>
            <a:pPr marL="0" indent="0">
              <a:lnSpc>
                <a:spcPct val="90000"/>
              </a:lnSpc>
              <a:buNone/>
            </a:pPr>
            <a:r>
              <a:rPr lang="en-GB" noProof="0" dirty="0">
                <a:solidFill>
                  <a:srgbClr val="1F3A63"/>
                </a:solidFill>
                <a:latin typeface="Calibri" pitchFamily="34" charset="0"/>
                <a:ea typeface="Calibri" pitchFamily="34" charset="-122"/>
                <a:cs typeface="Calibri" pitchFamily="34" charset="-120"/>
              </a:rPr>
              <a:t>Cancer found at a smaller size and before nodal spread offers more treatment options and better outcomes.</a:t>
            </a:r>
            <a:endParaRPr lang="en-GB" noProof="0" dirty="0"/>
          </a:p>
        </p:txBody>
      </p:sp>
      <p:sp>
        <p:nvSpPr>
          <p:cNvPr id="20" name="Shape 18">
            <a:extLst>
              <a:ext uri="{FF2B5EF4-FFF2-40B4-BE49-F238E27FC236}">
                <a16:creationId xmlns:a16="http://schemas.microsoft.com/office/drawing/2014/main" id="{065E4D3C-6230-A0B4-5416-D489B4FD7598}"/>
              </a:ext>
            </a:extLst>
          </p:cNvPr>
          <p:cNvSpPr/>
          <p:nvPr/>
        </p:nvSpPr>
        <p:spPr>
          <a:xfrm>
            <a:off x="6340608" y="1382604"/>
            <a:ext cx="5410933" cy="4908468"/>
          </a:xfrm>
          <a:prstGeom prst="roundRect">
            <a:avLst>
              <a:gd name="adj" fmla="val 2490"/>
            </a:avLst>
          </a:prstGeom>
          <a:solidFill>
            <a:srgbClr val="F4F8FC"/>
          </a:solidFill>
          <a:ln w="12700">
            <a:solidFill>
              <a:srgbClr val="C8D8EC"/>
            </a:solidFill>
            <a:prstDash val="solid"/>
          </a:ln>
        </p:spPr>
        <p:txBody>
          <a:bodyPr/>
          <a:lstStyle/>
          <a:p>
            <a:endParaRPr lang="en-GB" noProof="0" dirty="0"/>
          </a:p>
        </p:txBody>
      </p:sp>
      <p:sp>
        <p:nvSpPr>
          <p:cNvPr id="21" name="Text 19">
            <a:extLst>
              <a:ext uri="{FF2B5EF4-FFF2-40B4-BE49-F238E27FC236}">
                <a16:creationId xmlns:a16="http://schemas.microsoft.com/office/drawing/2014/main" id="{E7FBC30C-4167-AB2D-C3BF-C67810878A13}"/>
              </a:ext>
            </a:extLst>
          </p:cNvPr>
          <p:cNvSpPr txBox="1"/>
          <p:nvPr/>
        </p:nvSpPr>
        <p:spPr>
          <a:xfrm>
            <a:off x="6717781" y="1474044"/>
            <a:ext cx="4817094" cy="292608"/>
          </a:xfrm>
          <a:prstGeom prst="rect">
            <a:avLst/>
          </a:prstGeom>
          <a:noFill/>
          <a:ln/>
        </p:spPr>
        <p:txBody>
          <a:bodyPr wrap="square" lIns="0" tIns="0" rIns="0" bIns="0" rtlCol="0" anchor="t"/>
          <a:lstStyle/>
          <a:p>
            <a:pPr marL="0" indent="0">
              <a:buNone/>
            </a:pPr>
            <a:r>
              <a:rPr lang="en-GB" b="1" noProof="0" dirty="0">
                <a:solidFill>
                  <a:srgbClr val="12315B"/>
                </a:solidFill>
                <a:latin typeface="Calibri" pitchFamily="34" charset="0"/>
                <a:ea typeface="Calibri" pitchFamily="34" charset="-122"/>
                <a:cs typeface="Calibri" pitchFamily="34" charset="-120"/>
              </a:rPr>
              <a:t>A lump is not a diagnosis</a:t>
            </a:r>
            <a:endParaRPr lang="en-GB" noProof="0" dirty="0"/>
          </a:p>
        </p:txBody>
      </p:sp>
      <p:sp>
        <p:nvSpPr>
          <p:cNvPr id="22" name="Text 20">
            <a:extLst>
              <a:ext uri="{FF2B5EF4-FFF2-40B4-BE49-F238E27FC236}">
                <a16:creationId xmlns:a16="http://schemas.microsoft.com/office/drawing/2014/main" id="{327001C3-EED2-4934-1549-9711D136FCB2}"/>
              </a:ext>
            </a:extLst>
          </p:cNvPr>
          <p:cNvSpPr txBox="1"/>
          <p:nvPr/>
        </p:nvSpPr>
        <p:spPr>
          <a:xfrm>
            <a:off x="6717781" y="1812372"/>
            <a:ext cx="4817094" cy="1719072"/>
          </a:xfrm>
          <a:prstGeom prst="rect">
            <a:avLst/>
          </a:prstGeom>
          <a:noFill/>
          <a:ln/>
        </p:spPr>
        <p:txBody>
          <a:bodyPr wrap="square" lIns="0" tIns="0" rIns="0" bIns="0" rtlCol="0" anchor="t"/>
          <a:lstStyle/>
          <a:p>
            <a:pPr marL="0" indent="0">
              <a:lnSpc>
                <a:spcPct val="90000"/>
              </a:lnSpc>
              <a:buNone/>
            </a:pPr>
            <a:r>
              <a:rPr lang="en-GB" noProof="0" dirty="0">
                <a:solidFill>
                  <a:srgbClr val="1F3A63"/>
                </a:solidFill>
                <a:latin typeface="Calibri" pitchFamily="34" charset="0"/>
                <a:ea typeface="Calibri" pitchFamily="34" charset="-122"/>
                <a:cs typeface="Calibri" pitchFamily="34" charset="-120"/>
              </a:rPr>
              <a:t>Most breast lumps are benign. A lump, an abnormal image or a suspicious examination raises suspicion. Tissue confirms the diagnosis.</a:t>
            </a:r>
            <a:endParaRPr lang="en-GB" noProof="0" dirty="0"/>
          </a:p>
        </p:txBody>
      </p:sp>
      <p:pic>
        <p:nvPicPr>
          <p:cNvPr id="24" name="Imagen 23">
            <a:extLst>
              <a:ext uri="{FF2B5EF4-FFF2-40B4-BE49-F238E27FC236}">
                <a16:creationId xmlns:a16="http://schemas.microsoft.com/office/drawing/2014/main" id="{74952DA6-2D8D-AD1F-9E78-C5FB4F266721}"/>
              </a:ext>
            </a:extLst>
          </p:cNvPr>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a:xfrm>
            <a:off x="923935" y="3010236"/>
            <a:ext cx="4660650" cy="3107100"/>
          </a:xfrm>
          <a:prstGeom prst="rect">
            <a:avLst/>
          </a:prstGeom>
        </p:spPr>
      </p:pic>
      <p:pic>
        <p:nvPicPr>
          <p:cNvPr id="26" name="Imagen 25">
            <a:extLst>
              <a:ext uri="{FF2B5EF4-FFF2-40B4-BE49-F238E27FC236}">
                <a16:creationId xmlns:a16="http://schemas.microsoft.com/office/drawing/2014/main" id="{F2170D82-8CE7-317F-3F0D-45A85E9385D2}"/>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6814766" y="3010235"/>
            <a:ext cx="4550284" cy="3033523"/>
          </a:xfrm>
          <a:prstGeom prst="rect">
            <a:avLst/>
          </a:prstGeom>
        </p:spPr>
      </p:pic>
    </p:spTree>
    <p:extLst>
      <p:ext uri="{BB962C8B-B14F-4D97-AF65-F5344CB8AC3E}">
        <p14:creationId xmlns:p14="http://schemas.microsoft.com/office/powerpoint/2010/main" val="24289056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en-GB" sz="1100" b="1" kern="0" spc="100" noProof="0" dirty="0">
                <a:solidFill>
                  <a:srgbClr val="5B7699"/>
                </a:solidFill>
                <a:latin typeface="Calibri" pitchFamily="34" charset="0"/>
                <a:ea typeface="Calibri" pitchFamily="34" charset="-122"/>
                <a:cs typeface="Calibri" pitchFamily="34" charset="-120"/>
              </a:rPr>
              <a:t>S E S S I O N   1</a:t>
            </a:r>
            <a:endParaRPr lang="en-GB"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en-GB" sz="1000" noProof="0" dirty="0">
                <a:solidFill>
                  <a:srgbClr val="5B7699"/>
                </a:solidFill>
                <a:latin typeface="Calibri" pitchFamily="34" charset="0"/>
                <a:ea typeface="Calibri" pitchFamily="34" charset="-122"/>
                <a:cs typeface="Calibri" pitchFamily="34" charset="-120"/>
              </a:rPr>
              <a:t>Breast Cancer  |  Frontline HCP  |  Rwanda Biomedical Centre</a:t>
            </a:r>
            <a:endParaRPr lang="en-GB"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en-GB" sz="3000" b="1" noProof="0" dirty="0">
                <a:solidFill>
                  <a:srgbClr val="12315B"/>
                </a:solidFill>
                <a:latin typeface="Calibri" pitchFamily="34" charset="0"/>
                <a:ea typeface="Calibri" pitchFamily="34" charset="-122"/>
                <a:cs typeface="Calibri" pitchFamily="34" charset="-120"/>
              </a:rPr>
              <a:t>How common it is worldwide</a:t>
            </a:r>
            <a:endParaRPr lang="en-GB" sz="3000" noProof="0" dirty="0"/>
          </a:p>
        </p:txBody>
      </p:sp>
      <p:sp>
        <p:nvSpPr>
          <p:cNvPr id="5" name="Shape 3"/>
          <p:cNvSpPr/>
          <p:nvPr/>
        </p:nvSpPr>
        <p:spPr>
          <a:xfrm>
            <a:off x="548640" y="1325880"/>
            <a:ext cx="3527450" cy="1371600"/>
          </a:xfrm>
          <a:prstGeom prst="roundRect">
            <a:avLst>
              <a:gd name="adj" fmla="val 4000"/>
            </a:avLst>
          </a:prstGeom>
          <a:solidFill>
            <a:srgbClr val="F4F8FC"/>
          </a:solidFill>
          <a:ln w="12700">
            <a:solidFill>
              <a:srgbClr val="C8D8EC"/>
            </a:solidFill>
            <a:prstDash val="solid"/>
          </a:ln>
        </p:spPr>
        <p:txBody>
          <a:bodyPr/>
          <a:lstStyle/>
          <a:p>
            <a:endParaRPr lang="en-GB" noProof="0" dirty="0"/>
          </a:p>
        </p:txBody>
      </p:sp>
      <p:sp>
        <p:nvSpPr>
          <p:cNvPr id="6" name="Text 4"/>
          <p:cNvSpPr txBox="1"/>
          <p:nvPr/>
        </p:nvSpPr>
        <p:spPr>
          <a:xfrm>
            <a:off x="658368" y="1453896"/>
            <a:ext cx="3307994" cy="617220"/>
          </a:xfrm>
          <a:prstGeom prst="rect">
            <a:avLst/>
          </a:prstGeom>
          <a:noFill/>
          <a:ln/>
        </p:spPr>
        <p:txBody>
          <a:bodyPr wrap="square" lIns="0" tIns="0" rIns="0" bIns="0" rtlCol="0" anchor="ctr"/>
          <a:lstStyle/>
          <a:p>
            <a:pPr marL="0" indent="0" algn="ctr">
              <a:buNone/>
            </a:pPr>
            <a:r>
              <a:rPr lang="en-GB" sz="2800" b="1" noProof="0" dirty="0">
                <a:solidFill>
                  <a:srgbClr val="12315B"/>
                </a:solidFill>
                <a:latin typeface="Calibri" pitchFamily="34" charset="0"/>
                <a:ea typeface="Calibri" pitchFamily="34" charset="-122"/>
                <a:cs typeface="Calibri" pitchFamily="34" charset="-120"/>
              </a:rPr>
              <a:t>2,434,087</a:t>
            </a:r>
            <a:endParaRPr lang="en-GB" sz="2800" noProof="0" dirty="0"/>
          </a:p>
        </p:txBody>
      </p:sp>
      <p:sp>
        <p:nvSpPr>
          <p:cNvPr id="7" name="Text 5"/>
          <p:cNvSpPr txBox="1"/>
          <p:nvPr/>
        </p:nvSpPr>
        <p:spPr>
          <a:xfrm>
            <a:off x="658368" y="2039112"/>
            <a:ext cx="3307994" cy="603504"/>
          </a:xfrm>
          <a:prstGeom prst="rect">
            <a:avLst/>
          </a:prstGeom>
          <a:noFill/>
          <a:ln/>
        </p:spPr>
        <p:txBody>
          <a:bodyPr wrap="square" lIns="0" tIns="0" rIns="0" bIns="0" rtlCol="0" anchor="t"/>
          <a:lstStyle/>
          <a:p>
            <a:pPr marL="0" indent="0" algn="ctr">
              <a:lnSpc>
                <a:spcPct val="92000"/>
              </a:lnSpc>
              <a:buNone/>
            </a:pPr>
            <a:r>
              <a:rPr lang="en-GB" sz="1400" noProof="0" dirty="0">
                <a:solidFill>
                  <a:srgbClr val="1F3A63"/>
                </a:solidFill>
                <a:latin typeface="Calibri" pitchFamily="34" charset="0"/>
                <a:ea typeface="Calibri" pitchFamily="34" charset="-122"/>
                <a:cs typeface="Calibri" pitchFamily="34" charset="-120"/>
              </a:rPr>
              <a:t>Estimated new breast cancer cases worldwide, 2024</a:t>
            </a:r>
            <a:endParaRPr lang="en-GB" sz="1400" noProof="0" dirty="0"/>
          </a:p>
        </p:txBody>
      </p:sp>
      <p:sp>
        <p:nvSpPr>
          <p:cNvPr id="8" name="Shape 6"/>
          <p:cNvSpPr/>
          <p:nvPr/>
        </p:nvSpPr>
        <p:spPr>
          <a:xfrm>
            <a:off x="4332122" y="1325880"/>
            <a:ext cx="3527450" cy="1371600"/>
          </a:xfrm>
          <a:prstGeom prst="roundRect">
            <a:avLst>
              <a:gd name="adj" fmla="val 4000"/>
            </a:avLst>
          </a:prstGeom>
          <a:solidFill>
            <a:srgbClr val="F4F8FC"/>
          </a:solidFill>
          <a:ln w="12700">
            <a:solidFill>
              <a:srgbClr val="C8D8EC"/>
            </a:solidFill>
            <a:prstDash val="solid"/>
          </a:ln>
        </p:spPr>
        <p:txBody>
          <a:bodyPr/>
          <a:lstStyle/>
          <a:p>
            <a:endParaRPr lang="en-GB" noProof="0" dirty="0"/>
          </a:p>
        </p:txBody>
      </p:sp>
      <p:sp>
        <p:nvSpPr>
          <p:cNvPr id="9" name="Text 7"/>
          <p:cNvSpPr txBox="1"/>
          <p:nvPr/>
        </p:nvSpPr>
        <p:spPr>
          <a:xfrm>
            <a:off x="4441850" y="1453896"/>
            <a:ext cx="3307994" cy="617220"/>
          </a:xfrm>
          <a:prstGeom prst="rect">
            <a:avLst/>
          </a:prstGeom>
          <a:noFill/>
          <a:ln/>
        </p:spPr>
        <p:txBody>
          <a:bodyPr wrap="square" lIns="0" tIns="0" rIns="0" bIns="0" rtlCol="0" anchor="ctr"/>
          <a:lstStyle/>
          <a:p>
            <a:pPr marL="0" indent="0" algn="ctr">
              <a:buNone/>
            </a:pPr>
            <a:r>
              <a:rPr lang="en-GB" sz="2800" b="1" noProof="0" dirty="0">
                <a:solidFill>
                  <a:srgbClr val="12315B"/>
                </a:solidFill>
                <a:latin typeface="Calibri" pitchFamily="34" charset="0"/>
                <a:ea typeface="Calibri" pitchFamily="34" charset="-122"/>
                <a:cs typeface="Calibri" pitchFamily="34" charset="-120"/>
              </a:rPr>
              <a:t>693,660</a:t>
            </a:r>
            <a:endParaRPr lang="en-GB" sz="2800" noProof="0" dirty="0"/>
          </a:p>
        </p:txBody>
      </p:sp>
      <p:sp>
        <p:nvSpPr>
          <p:cNvPr id="10" name="Text 8"/>
          <p:cNvSpPr txBox="1"/>
          <p:nvPr/>
        </p:nvSpPr>
        <p:spPr>
          <a:xfrm>
            <a:off x="4441850" y="2039112"/>
            <a:ext cx="3307994" cy="603504"/>
          </a:xfrm>
          <a:prstGeom prst="rect">
            <a:avLst/>
          </a:prstGeom>
          <a:noFill/>
          <a:ln/>
        </p:spPr>
        <p:txBody>
          <a:bodyPr wrap="square" lIns="0" tIns="0" rIns="0" bIns="0" rtlCol="0" anchor="t"/>
          <a:lstStyle/>
          <a:p>
            <a:pPr marL="0" indent="0" algn="ctr">
              <a:lnSpc>
                <a:spcPct val="92000"/>
              </a:lnSpc>
              <a:buNone/>
            </a:pPr>
            <a:r>
              <a:rPr lang="en-GB" sz="1400" noProof="0" dirty="0">
                <a:solidFill>
                  <a:srgbClr val="1F3A63"/>
                </a:solidFill>
                <a:latin typeface="Calibri" pitchFamily="34" charset="0"/>
                <a:ea typeface="Calibri" pitchFamily="34" charset="-122"/>
                <a:cs typeface="Calibri" pitchFamily="34" charset="-120"/>
              </a:rPr>
              <a:t>Estimated breast cancer deaths worldwide, 2024</a:t>
            </a:r>
            <a:endParaRPr lang="en-GB" sz="1400" noProof="0" dirty="0"/>
          </a:p>
        </p:txBody>
      </p:sp>
      <p:sp>
        <p:nvSpPr>
          <p:cNvPr id="11" name="Shape 9"/>
          <p:cNvSpPr/>
          <p:nvPr/>
        </p:nvSpPr>
        <p:spPr>
          <a:xfrm>
            <a:off x="8115605" y="1325880"/>
            <a:ext cx="3527450" cy="1371600"/>
          </a:xfrm>
          <a:prstGeom prst="roundRect">
            <a:avLst>
              <a:gd name="adj" fmla="val 4000"/>
            </a:avLst>
          </a:prstGeom>
          <a:solidFill>
            <a:srgbClr val="F4F8FC"/>
          </a:solidFill>
          <a:ln w="12700">
            <a:solidFill>
              <a:srgbClr val="C8D8EC"/>
            </a:solidFill>
            <a:prstDash val="solid"/>
          </a:ln>
        </p:spPr>
        <p:txBody>
          <a:bodyPr/>
          <a:lstStyle/>
          <a:p>
            <a:endParaRPr lang="en-GB" noProof="0" dirty="0"/>
          </a:p>
        </p:txBody>
      </p:sp>
      <p:sp>
        <p:nvSpPr>
          <p:cNvPr id="12" name="Text 10"/>
          <p:cNvSpPr txBox="1"/>
          <p:nvPr/>
        </p:nvSpPr>
        <p:spPr>
          <a:xfrm>
            <a:off x="8225333" y="1453896"/>
            <a:ext cx="3307994" cy="617220"/>
          </a:xfrm>
          <a:prstGeom prst="rect">
            <a:avLst/>
          </a:prstGeom>
          <a:noFill/>
          <a:ln/>
        </p:spPr>
        <p:txBody>
          <a:bodyPr wrap="square" lIns="0" tIns="0" rIns="0" bIns="0" rtlCol="0" anchor="ctr"/>
          <a:lstStyle/>
          <a:p>
            <a:pPr marL="0" indent="0" algn="ctr">
              <a:buNone/>
            </a:pPr>
            <a:r>
              <a:rPr lang="en-GB" sz="2800" b="1" noProof="0" dirty="0">
                <a:solidFill>
                  <a:srgbClr val="12315B"/>
                </a:solidFill>
                <a:latin typeface="Calibri" pitchFamily="34" charset="0"/>
                <a:ea typeface="Calibri" pitchFamily="34" charset="-122"/>
                <a:cs typeface="Calibri" pitchFamily="34" charset="-120"/>
              </a:rPr>
              <a:t>2nd</a:t>
            </a:r>
            <a:endParaRPr lang="en-GB" sz="2800" noProof="0" dirty="0"/>
          </a:p>
        </p:txBody>
      </p:sp>
      <p:sp>
        <p:nvSpPr>
          <p:cNvPr id="13" name="Text 11"/>
          <p:cNvSpPr txBox="1"/>
          <p:nvPr/>
        </p:nvSpPr>
        <p:spPr>
          <a:xfrm>
            <a:off x="8225333" y="2039112"/>
            <a:ext cx="3307994" cy="603504"/>
          </a:xfrm>
          <a:prstGeom prst="rect">
            <a:avLst/>
          </a:prstGeom>
          <a:noFill/>
          <a:ln/>
        </p:spPr>
        <p:txBody>
          <a:bodyPr wrap="square" lIns="0" tIns="0" rIns="0" bIns="0" rtlCol="0" anchor="t"/>
          <a:lstStyle/>
          <a:p>
            <a:pPr marL="0" indent="0" algn="ctr">
              <a:lnSpc>
                <a:spcPct val="92000"/>
              </a:lnSpc>
              <a:buNone/>
            </a:pPr>
            <a:r>
              <a:rPr lang="en-GB" sz="1400" noProof="0" dirty="0">
                <a:solidFill>
                  <a:srgbClr val="1F3A63"/>
                </a:solidFill>
                <a:latin typeface="Calibri" pitchFamily="34" charset="0"/>
                <a:ea typeface="Calibri" pitchFamily="34" charset="-122"/>
                <a:cs typeface="Calibri" pitchFamily="34" charset="-120"/>
              </a:rPr>
              <a:t>Most commonly diagnosed cancer overall, worldwide, 2024</a:t>
            </a:r>
            <a:endParaRPr lang="en-GB" sz="1400" noProof="0" dirty="0"/>
          </a:p>
        </p:txBody>
      </p:sp>
      <p:graphicFrame>
        <p:nvGraphicFramePr>
          <p:cNvPr id="14" name="Chart 0" descr="Chart"/>
          <p:cNvGraphicFramePr/>
          <p:nvPr>
            <p:extLst>
              <p:ext uri="{D42A27DB-BD31-4B8C-83A1-F6EECF244321}">
                <p14:modId xmlns:p14="http://schemas.microsoft.com/office/powerpoint/2010/main" val="1165304041"/>
              </p:ext>
            </p:extLst>
          </p:nvPr>
        </p:nvGraphicFramePr>
        <p:xfrm>
          <a:off x="548640" y="2926080"/>
          <a:ext cx="7315200" cy="2606040"/>
        </p:xfrm>
        <a:graphic>
          <a:graphicData uri="http://schemas.openxmlformats.org/drawingml/2006/chart">
            <c:chart xmlns:c="http://schemas.openxmlformats.org/drawingml/2006/chart" xmlns:r="http://schemas.openxmlformats.org/officeDocument/2006/relationships" r:id="rId3"/>
          </a:graphicData>
        </a:graphic>
      </p:graphicFrame>
      <p:sp>
        <p:nvSpPr>
          <p:cNvPr id="15" name="Shape 12"/>
          <p:cNvSpPr/>
          <p:nvPr/>
        </p:nvSpPr>
        <p:spPr>
          <a:xfrm>
            <a:off x="8138160" y="2926080"/>
            <a:ext cx="3504895" cy="2606040"/>
          </a:xfrm>
          <a:prstGeom prst="roundRect">
            <a:avLst>
              <a:gd name="adj" fmla="val 2105"/>
            </a:avLst>
          </a:prstGeom>
          <a:solidFill>
            <a:srgbClr val="F4F8FC"/>
          </a:solidFill>
          <a:ln w="12700">
            <a:solidFill>
              <a:srgbClr val="C8D8EC"/>
            </a:solidFill>
            <a:prstDash val="solid"/>
          </a:ln>
        </p:spPr>
        <p:txBody>
          <a:bodyPr/>
          <a:lstStyle/>
          <a:p>
            <a:endParaRPr lang="en-GB" noProof="0" dirty="0"/>
          </a:p>
        </p:txBody>
      </p:sp>
      <p:sp>
        <p:nvSpPr>
          <p:cNvPr id="16" name="Text 13"/>
          <p:cNvSpPr txBox="1"/>
          <p:nvPr/>
        </p:nvSpPr>
        <p:spPr>
          <a:xfrm>
            <a:off x="8302752" y="3017520"/>
            <a:ext cx="3175711" cy="292608"/>
          </a:xfrm>
          <a:prstGeom prst="rect">
            <a:avLst/>
          </a:prstGeom>
          <a:noFill/>
          <a:ln/>
        </p:spPr>
        <p:txBody>
          <a:bodyPr wrap="square" lIns="0" tIns="0" rIns="0" bIns="0" rtlCol="0" anchor="t"/>
          <a:lstStyle/>
          <a:p>
            <a:pPr marL="0" indent="0">
              <a:buNone/>
            </a:pPr>
            <a:r>
              <a:rPr lang="en-GB" sz="1700" b="1" noProof="0" dirty="0">
                <a:solidFill>
                  <a:srgbClr val="12315B"/>
                </a:solidFill>
                <a:latin typeface="Calibri" pitchFamily="34" charset="0"/>
                <a:ea typeface="Calibri" pitchFamily="34" charset="-122"/>
                <a:cs typeface="Calibri" pitchFamily="34" charset="-120"/>
              </a:rPr>
              <a:t>Reading the rates</a:t>
            </a:r>
            <a:endParaRPr lang="en-GB" sz="1700" noProof="0" dirty="0"/>
          </a:p>
        </p:txBody>
      </p:sp>
      <p:sp>
        <p:nvSpPr>
          <p:cNvPr id="17" name="Text 14"/>
          <p:cNvSpPr txBox="1"/>
          <p:nvPr/>
        </p:nvSpPr>
        <p:spPr>
          <a:xfrm>
            <a:off x="8302752" y="3355848"/>
            <a:ext cx="3175711" cy="2121408"/>
          </a:xfrm>
          <a:prstGeom prst="rect">
            <a:avLst/>
          </a:prstGeom>
          <a:noFill/>
          <a:ln/>
        </p:spPr>
        <p:txBody>
          <a:bodyPr wrap="square" lIns="0" tIns="0" rIns="0" bIns="0" rtlCol="0" anchor="t"/>
          <a:lstStyle/>
          <a:p>
            <a:pPr marL="0" indent="0">
              <a:lnSpc>
                <a:spcPct val="90000"/>
              </a:lnSpc>
              <a:buNone/>
            </a:pPr>
            <a:r>
              <a:rPr lang="en-GB" sz="1800" noProof="0" dirty="0">
                <a:solidFill>
                  <a:srgbClr val="1F3A63"/>
                </a:solidFill>
                <a:latin typeface="Calibri" pitchFamily="34" charset="0"/>
                <a:ea typeface="Calibri" pitchFamily="34" charset="-122"/>
                <a:cs typeface="Calibri" pitchFamily="34" charset="-120"/>
              </a:rPr>
              <a:t>Rates are age-standardised, so populations of different ages can be compared. Rwanda's estimated rate sits close to the Eastern African average and well below the world rate.</a:t>
            </a:r>
            <a:endParaRPr lang="en-GB" sz="1800" noProof="0" dirty="0"/>
          </a:p>
        </p:txBody>
      </p:sp>
      <p:sp>
        <p:nvSpPr>
          <p:cNvPr id="18" name="Text 15"/>
          <p:cNvSpPr txBox="1"/>
          <p:nvPr/>
        </p:nvSpPr>
        <p:spPr>
          <a:xfrm>
            <a:off x="548640" y="5715000"/>
            <a:ext cx="11094415" cy="274320"/>
          </a:xfrm>
          <a:prstGeom prst="rect">
            <a:avLst/>
          </a:prstGeom>
          <a:noFill/>
          <a:ln/>
        </p:spPr>
        <p:txBody>
          <a:bodyPr wrap="square" lIns="0" tIns="0" rIns="0" bIns="0" rtlCol="0" anchor="ctr"/>
          <a:lstStyle/>
          <a:p>
            <a:pPr marL="0" indent="0">
              <a:buNone/>
            </a:pPr>
            <a:r>
              <a:rPr lang="en-GB" sz="1100" i="1" noProof="0" dirty="0">
                <a:solidFill>
                  <a:srgbClr val="5B7699"/>
                </a:solidFill>
                <a:latin typeface="Calibri" pitchFamily="34" charset="0"/>
                <a:ea typeface="Calibri" pitchFamily="34" charset="-122"/>
                <a:cs typeface="Calibri" pitchFamily="34" charset="-120"/>
              </a:rPr>
              <a:t>Source: IARC Global Cancer Observatory, GLOBOCAN 2024 estimates. Breast cancer, all ages. These are modelled estimates, not registry-confirmed counts.</a:t>
            </a:r>
            <a:endParaRPr lang="en-GB" sz="1100" noProof="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en-GB" sz="1100" b="1" kern="0" spc="100" noProof="0" dirty="0">
                <a:solidFill>
                  <a:srgbClr val="5B7699"/>
                </a:solidFill>
                <a:latin typeface="Calibri" pitchFamily="34" charset="0"/>
                <a:ea typeface="Calibri" pitchFamily="34" charset="-122"/>
                <a:cs typeface="Calibri" pitchFamily="34" charset="-120"/>
              </a:rPr>
              <a:t>S E S S I O N   1</a:t>
            </a:r>
            <a:endParaRPr lang="en-GB"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en-GB" sz="1000" noProof="0" dirty="0">
                <a:solidFill>
                  <a:srgbClr val="5B7699"/>
                </a:solidFill>
                <a:latin typeface="Calibri" pitchFamily="34" charset="0"/>
                <a:ea typeface="Calibri" pitchFamily="34" charset="-122"/>
                <a:cs typeface="Calibri" pitchFamily="34" charset="-120"/>
              </a:rPr>
              <a:t>Breast Cancer  |  Frontline HCP  |  Rwanda Biomedical Centre</a:t>
            </a:r>
            <a:endParaRPr lang="en-GB"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en-GB" sz="3000" b="1" noProof="0" dirty="0">
                <a:solidFill>
                  <a:srgbClr val="12315B"/>
                </a:solidFill>
                <a:latin typeface="Calibri" pitchFamily="34" charset="0"/>
                <a:ea typeface="Calibri" pitchFamily="34" charset="-122"/>
                <a:cs typeface="Calibri" pitchFamily="34" charset="-120"/>
              </a:rPr>
              <a:t>Africa and Rwanda</a:t>
            </a:r>
            <a:endParaRPr lang="en-GB" sz="3000" noProof="0" dirty="0"/>
          </a:p>
        </p:txBody>
      </p:sp>
      <p:sp>
        <p:nvSpPr>
          <p:cNvPr id="5" name="Shape 3"/>
          <p:cNvSpPr/>
          <p:nvPr/>
        </p:nvSpPr>
        <p:spPr>
          <a:xfrm>
            <a:off x="2673939" y="1371600"/>
            <a:ext cx="2801472" cy="1691640"/>
          </a:xfrm>
          <a:prstGeom prst="roundRect">
            <a:avLst>
              <a:gd name="adj" fmla="val 3243"/>
            </a:avLst>
          </a:prstGeom>
          <a:solidFill>
            <a:srgbClr val="F4F8FC"/>
          </a:solidFill>
          <a:ln w="12700">
            <a:solidFill>
              <a:srgbClr val="C8D8EC"/>
            </a:solidFill>
            <a:prstDash val="solid"/>
          </a:ln>
        </p:spPr>
        <p:txBody>
          <a:bodyPr/>
          <a:lstStyle/>
          <a:p>
            <a:endParaRPr lang="en-GB" noProof="0" dirty="0"/>
          </a:p>
        </p:txBody>
      </p:sp>
      <p:sp>
        <p:nvSpPr>
          <p:cNvPr id="6" name="Text 4"/>
          <p:cNvSpPr txBox="1"/>
          <p:nvPr/>
        </p:nvSpPr>
        <p:spPr>
          <a:xfrm>
            <a:off x="2738501" y="1499616"/>
            <a:ext cx="2627182" cy="761238"/>
          </a:xfrm>
          <a:prstGeom prst="rect">
            <a:avLst/>
          </a:prstGeom>
          <a:noFill/>
          <a:ln/>
        </p:spPr>
        <p:txBody>
          <a:bodyPr wrap="square" lIns="0" tIns="0" rIns="0" bIns="0" rtlCol="0" anchor="ctr"/>
          <a:lstStyle/>
          <a:p>
            <a:pPr marL="0" indent="0" algn="ctr">
              <a:buNone/>
            </a:pPr>
            <a:r>
              <a:rPr lang="en-GB" sz="3000" b="1" noProof="0" dirty="0">
                <a:solidFill>
                  <a:srgbClr val="12315B"/>
                </a:solidFill>
                <a:latin typeface="Calibri" pitchFamily="34" charset="0"/>
                <a:ea typeface="Calibri" pitchFamily="34" charset="-122"/>
                <a:cs typeface="Calibri" pitchFamily="34" charset="-120"/>
              </a:rPr>
              <a:t>225,643</a:t>
            </a:r>
            <a:endParaRPr lang="en-GB" sz="3000" noProof="0" dirty="0"/>
          </a:p>
        </p:txBody>
      </p:sp>
      <p:sp>
        <p:nvSpPr>
          <p:cNvPr id="7" name="Text 5"/>
          <p:cNvSpPr txBox="1"/>
          <p:nvPr/>
        </p:nvSpPr>
        <p:spPr>
          <a:xfrm>
            <a:off x="2738501" y="2251253"/>
            <a:ext cx="2627182" cy="744322"/>
          </a:xfrm>
          <a:prstGeom prst="rect">
            <a:avLst/>
          </a:prstGeom>
          <a:noFill/>
          <a:ln/>
        </p:spPr>
        <p:txBody>
          <a:bodyPr wrap="square" lIns="0" tIns="0" rIns="0" bIns="0" rtlCol="0" anchor="t"/>
          <a:lstStyle/>
          <a:p>
            <a:pPr marL="0" indent="0" algn="ctr">
              <a:lnSpc>
                <a:spcPct val="92000"/>
              </a:lnSpc>
              <a:buNone/>
            </a:pPr>
            <a:r>
              <a:rPr lang="en-GB" sz="1400" noProof="0" dirty="0">
                <a:solidFill>
                  <a:srgbClr val="1F3A63"/>
                </a:solidFill>
                <a:latin typeface="Calibri" pitchFamily="34" charset="0"/>
                <a:ea typeface="Calibri" pitchFamily="34" charset="-122"/>
                <a:cs typeface="Calibri" pitchFamily="34" charset="-120"/>
              </a:rPr>
              <a:t>Estimated new breast cancer cases in </a:t>
            </a:r>
            <a:r>
              <a:rPr lang="en-GB" sz="1400" b="1" noProof="0" dirty="0">
                <a:solidFill>
                  <a:srgbClr val="1F3A63"/>
                </a:solidFill>
                <a:latin typeface="Calibri" pitchFamily="34" charset="0"/>
                <a:ea typeface="Calibri" pitchFamily="34" charset="-122"/>
                <a:cs typeface="Calibri" pitchFamily="34" charset="-120"/>
              </a:rPr>
              <a:t>Africa</a:t>
            </a:r>
            <a:r>
              <a:rPr lang="en-GB" sz="1400" noProof="0" dirty="0">
                <a:solidFill>
                  <a:srgbClr val="1F3A63"/>
                </a:solidFill>
                <a:latin typeface="Calibri" pitchFamily="34" charset="0"/>
                <a:ea typeface="Calibri" pitchFamily="34" charset="-122"/>
                <a:cs typeface="Calibri" pitchFamily="34" charset="-120"/>
              </a:rPr>
              <a:t>, 2024</a:t>
            </a:r>
            <a:endParaRPr lang="en-GB" sz="1400" noProof="0" dirty="0"/>
          </a:p>
        </p:txBody>
      </p:sp>
      <p:sp>
        <p:nvSpPr>
          <p:cNvPr id="8" name="Shape 6"/>
          <p:cNvSpPr/>
          <p:nvPr/>
        </p:nvSpPr>
        <p:spPr>
          <a:xfrm>
            <a:off x="5778542" y="1371600"/>
            <a:ext cx="2801472" cy="1691640"/>
          </a:xfrm>
          <a:prstGeom prst="roundRect">
            <a:avLst>
              <a:gd name="adj" fmla="val 3243"/>
            </a:avLst>
          </a:prstGeom>
          <a:solidFill>
            <a:srgbClr val="F4F8FC"/>
          </a:solidFill>
          <a:ln w="12700">
            <a:solidFill>
              <a:srgbClr val="C8D8EC"/>
            </a:solidFill>
            <a:prstDash val="solid"/>
          </a:ln>
        </p:spPr>
        <p:txBody>
          <a:bodyPr/>
          <a:lstStyle/>
          <a:p>
            <a:endParaRPr lang="en-GB" noProof="0" dirty="0"/>
          </a:p>
        </p:txBody>
      </p:sp>
      <p:sp>
        <p:nvSpPr>
          <p:cNvPr id="9" name="Text 7"/>
          <p:cNvSpPr txBox="1"/>
          <p:nvPr/>
        </p:nvSpPr>
        <p:spPr>
          <a:xfrm>
            <a:off x="5843104" y="1499616"/>
            <a:ext cx="2627182" cy="761238"/>
          </a:xfrm>
          <a:prstGeom prst="rect">
            <a:avLst/>
          </a:prstGeom>
          <a:noFill/>
          <a:ln/>
        </p:spPr>
        <p:txBody>
          <a:bodyPr wrap="square" lIns="0" tIns="0" rIns="0" bIns="0" rtlCol="0" anchor="ctr"/>
          <a:lstStyle/>
          <a:p>
            <a:pPr marL="0" indent="0" algn="ctr">
              <a:buNone/>
            </a:pPr>
            <a:r>
              <a:rPr lang="en-GB" sz="3000" b="1" noProof="0" dirty="0">
                <a:solidFill>
                  <a:srgbClr val="12315B"/>
                </a:solidFill>
                <a:latin typeface="Calibri" pitchFamily="34" charset="0"/>
                <a:ea typeface="Calibri" pitchFamily="34" charset="-122"/>
                <a:cs typeface="Calibri" pitchFamily="34" charset="-120"/>
              </a:rPr>
              <a:t>100,070</a:t>
            </a:r>
            <a:endParaRPr lang="en-GB" sz="3000" noProof="0" dirty="0"/>
          </a:p>
        </p:txBody>
      </p:sp>
      <p:sp>
        <p:nvSpPr>
          <p:cNvPr id="10" name="Text 8"/>
          <p:cNvSpPr txBox="1"/>
          <p:nvPr/>
        </p:nvSpPr>
        <p:spPr>
          <a:xfrm>
            <a:off x="5843104" y="2251253"/>
            <a:ext cx="2627182" cy="744322"/>
          </a:xfrm>
          <a:prstGeom prst="rect">
            <a:avLst/>
          </a:prstGeom>
          <a:noFill/>
          <a:ln/>
        </p:spPr>
        <p:txBody>
          <a:bodyPr wrap="square" lIns="0" tIns="0" rIns="0" bIns="0" rtlCol="0" anchor="t"/>
          <a:lstStyle/>
          <a:p>
            <a:pPr marL="0" indent="0" algn="ctr">
              <a:lnSpc>
                <a:spcPct val="92000"/>
              </a:lnSpc>
              <a:buNone/>
            </a:pPr>
            <a:r>
              <a:rPr lang="en-GB" sz="1400" noProof="0" dirty="0">
                <a:solidFill>
                  <a:srgbClr val="1F3A63"/>
                </a:solidFill>
                <a:latin typeface="Calibri" pitchFamily="34" charset="0"/>
                <a:ea typeface="Calibri" pitchFamily="34" charset="-122"/>
                <a:cs typeface="Calibri" pitchFamily="34" charset="-120"/>
              </a:rPr>
              <a:t>Estimated breast cancer deaths in </a:t>
            </a:r>
            <a:r>
              <a:rPr lang="en-GB" sz="1400" b="1" noProof="0" dirty="0">
                <a:solidFill>
                  <a:srgbClr val="1F3A63"/>
                </a:solidFill>
                <a:latin typeface="Calibri" pitchFamily="34" charset="0"/>
                <a:ea typeface="Calibri" pitchFamily="34" charset="-122"/>
                <a:cs typeface="Calibri" pitchFamily="34" charset="-120"/>
              </a:rPr>
              <a:t>Africa</a:t>
            </a:r>
            <a:r>
              <a:rPr lang="en-GB" sz="1400" noProof="0" dirty="0">
                <a:solidFill>
                  <a:srgbClr val="1F3A63"/>
                </a:solidFill>
                <a:latin typeface="Calibri" pitchFamily="34" charset="0"/>
                <a:ea typeface="Calibri" pitchFamily="34" charset="-122"/>
                <a:cs typeface="Calibri" pitchFamily="34" charset="-120"/>
              </a:rPr>
              <a:t>, 2024</a:t>
            </a:r>
            <a:endParaRPr lang="en-GB" sz="1400" noProof="0" dirty="0"/>
          </a:p>
        </p:txBody>
      </p:sp>
      <p:sp>
        <p:nvSpPr>
          <p:cNvPr id="11" name="Shape 9"/>
          <p:cNvSpPr/>
          <p:nvPr/>
        </p:nvSpPr>
        <p:spPr>
          <a:xfrm>
            <a:off x="8841583" y="1371600"/>
            <a:ext cx="2801472" cy="1691640"/>
          </a:xfrm>
          <a:prstGeom prst="roundRect">
            <a:avLst>
              <a:gd name="adj" fmla="val 3243"/>
            </a:avLst>
          </a:prstGeom>
          <a:solidFill>
            <a:srgbClr val="F4F8FC"/>
          </a:solidFill>
          <a:ln w="12700">
            <a:solidFill>
              <a:srgbClr val="C8D8EC"/>
            </a:solidFill>
            <a:prstDash val="solid"/>
          </a:ln>
        </p:spPr>
        <p:txBody>
          <a:bodyPr/>
          <a:lstStyle/>
          <a:p>
            <a:endParaRPr lang="en-GB" noProof="0" dirty="0"/>
          </a:p>
        </p:txBody>
      </p:sp>
      <p:sp>
        <p:nvSpPr>
          <p:cNvPr id="12" name="Text 10"/>
          <p:cNvSpPr txBox="1"/>
          <p:nvPr/>
        </p:nvSpPr>
        <p:spPr>
          <a:xfrm>
            <a:off x="8906145" y="1499616"/>
            <a:ext cx="2627182" cy="761238"/>
          </a:xfrm>
          <a:prstGeom prst="rect">
            <a:avLst/>
          </a:prstGeom>
          <a:noFill/>
          <a:ln/>
        </p:spPr>
        <p:txBody>
          <a:bodyPr wrap="square" lIns="0" tIns="0" rIns="0" bIns="0" rtlCol="0" anchor="ctr"/>
          <a:lstStyle/>
          <a:p>
            <a:pPr marL="0" indent="0" algn="ctr">
              <a:buNone/>
            </a:pPr>
            <a:r>
              <a:rPr lang="en-GB" sz="3000" b="1" noProof="0" dirty="0">
                <a:solidFill>
                  <a:srgbClr val="12315B"/>
                </a:solidFill>
                <a:latin typeface="Calibri" pitchFamily="34" charset="0"/>
                <a:ea typeface="Calibri" pitchFamily="34" charset="-122"/>
                <a:cs typeface="Calibri" pitchFamily="34" charset="-120"/>
              </a:rPr>
              <a:t>1st</a:t>
            </a:r>
            <a:endParaRPr lang="en-GB" sz="3000" noProof="0" dirty="0"/>
          </a:p>
        </p:txBody>
      </p:sp>
      <p:sp>
        <p:nvSpPr>
          <p:cNvPr id="13" name="Text 11"/>
          <p:cNvSpPr txBox="1"/>
          <p:nvPr/>
        </p:nvSpPr>
        <p:spPr>
          <a:xfrm>
            <a:off x="8906145" y="2251253"/>
            <a:ext cx="2627182" cy="744322"/>
          </a:xfrm>
          <a:prstGeom prst="rect">
            <a:avLst/>
          </a:prstGeom>
          <a:noFill/>
          <a:ln/>
        </p:spPr>
        <p:txBody>
          <a:bodyPr wrap="square" lIns="0" tIns="0" rIns="0" bIns="0" rtlCol="0" anchor="t"/>
          <a:lstStyle/>
          <a:p>
            <a:pPr marL="0" indent="0" algn="ctr">
              <a:lnSpc>
                <a:spcPct val="92000"/>
              </a:lnSpc>
              <a:buNone/>
            </a:pPr>
            <a:r>
              <a:rPr lang="en-GB" sz="1400" noProof="0" dirty="0">
                <a:solidFill>
                  <a:srgbClr val="1F3A63"/>
                </a:solidFill>
                <a:latin typeface="Calibri" pitchFamily="34" charset="0"/>
                <a:ea typeface="Calibri" pitchFamily="34" charset="-122"/>
                <a:cs typeface="Calibri" pitchFamily="34" charset="-120"/>
              </a:rPr>
              <a:t>Most frequent cancer in </a:t>
            </a:r>
            <a:r>
              <a:rPr lang="en-GB" sz="1400" b="1" noProof="0" dirty="0">
                <a:solidFill>
                  <a:srgbClr val="1F3A63"/>
                </a:solidFill>
                <a:latin typeface="Calibri" pitchFamily="34" charset="0"/>
                <a:ea typeface="Calibri" pitchFamily="34" charset="-122"/>
                <a:cs typeface="Calibri" pitchFamily="34" charset="-120"/>
              </a:rPr>
              <a:t>Africa</a:t>
            </a:r>
            <a:r>
              <a:rPr lang="en-GB" sz="1400" noProof="0" dirty="0">
                <a:solidFill>
                  <a:srgbClr val="1F3A63"/>
                </a:solidFill>
                <a:latin typeface="Calibri" pitchFamily="34" charset="0"/>
                <a:ea typeface="Calibri" pitchFamily="34" charset="-122"/>
                <a:cs typeface="Calibri" pitchFamily="34" charset="-120"/>
              </a:rPr>
              <a:t>, all cancers, 2024</a:t>
            </a:r>
            <a:endParaRPr lang="en-GB" sz="1400" noProof="0" dirty="0"/>
          </a:p>
        </p:txBody>
      </p:sp>
      <p:sp>
        <p:nvSpPr>
          <p:cNvPr id="14" name="Shape 12"/>
          <p:cNvSpPr/>
          <p:nvPr/>
        </p:nvSpPr>
        <p:spPr>
          <a:xfrm>
            <a:off x="2673928" y="3600801"/>
            <a:ext cx="2801472" cy="1691640"/>
          </a:xfrm>
          <a:prstGeom prst="roundRect">
            <a:avLst>
              <a:gd name="adj" fmla="val 3243"/>
            </a:avLst>
          </a:prstGeom>
          <a:solidFill>
            <a:srgbClr val="F4F8FC"/>
          </a:solidFill>
          <a:ln w="12700">
            <a:solidFill>
              <a:srgbClr val="C8D8EC"/>
            </a:solidFill>
            <a:prstDash val="solid"/>
          </a:ln>
        </p:spPr>
        <p:txBody>
          <a:bodyPr/>
          <a:lstStyle/>
          <a:p>
            <a:endParaRPr lang="en-GB" noProof="0" dirty="0"/>
          </a:p>
        </p:txBody>
      </p:sp>
      <p:sp>
        <p:nvSpPr>
          <p:cNvPr id="15" name="Text 13"/>
          <p:cNvSpPr txBox="1"/>
          <p:nvPr/>
        </p:nvSpPr>
        <p:spPr>
          <a:xfrm>
            <a:off x="2738490" y="3728817"/>
            <a:ext cx="2627182" cy="761238"/>
          </a:xfrm>
          <a:prstGeom prst="rect">
            <a:avLst/>
          </a:prstGeom>
          <a:noFill/>
          <a:ln/>
        </p:spPr>
        <p:txBody>
          <a:bodyPr wrap="square" lIns="0" tIns="0" rIns="0" bIns="0" rtlCol="0" anchor="ctr"/>
          <a:lstStyle/>
          <a:p>
            <a:pPr marL="0" indent="0" algn="ctr">
              <a:buNone/>
            </a:pPr>
            <a:r>
              <a:rPr lang="en-GB" sz="3000" b="1" noProof="0" dirty="0">
                <a:solidFill>
                  <a:srgbClr val="12315B"/>
                </a:solidFill>
                <a:latin typeface="Calibri" pitchFamily="34" charset="0"/>
                <a:ea typeface="Calibri" pitchFamily="34" charset="-122"/>
                <a:cs typeface="Calibri" pitchFamily="34" charset="-120"/>
              </a:rPr>
              <a:t>1,684</a:t>
            </a:r>
            <a:endParaRPr lang="en-GB" sz="3000" noProof="0" dirty="0"/>
          </a:p>
        </p:txBody>
      </p:sp>
      <p:sp>
        <p:nvSpPr>
          <p:cNvPr id="16" name="Text 14"/>
          <p:cNvSpPr txBox="1"/>
          <p:nvPr/>
        </p:nvSpPr>
        <p:spPr>
          <a:xfrm>
            <a:off x="2738490" y="4480454"/>
            <a:ext cx="2627182" cy="744322"/>
          </a:xfrm>
          <a:prstGeom prst="rect">
            <a:avLst/>
          </a:prstGeom>
          <a:noFill/>
          <a:ln/>
        </p:spPr>
        <p:txBody>
          <a:bodyPr wrap="square" lIns="0" tIns="0" rIns="0" bIns="0" rtlCol="0" anchor="t"/>
          <a:lstStyle/>
          <a:p>
            <a:pPr marL="0" indent="0" algn="ctr">
              <a:lnSpc>
                <a:spcPct val="92000"/>
              </a:lnSpc>
              <a:buNone/>
            </a:pPr>
            <a:r>
              <a:rPr lang="en-GB" sz="1400" noProof="0" dirty="0">
                <a:solidFill>
                  <a:srgbClr val="1F3A63"/>
                </a:solidFill>
                <a:latin typeface="Calibri" pitchFamily="34" charset="0"/>
                <a:ea typeface="Calibri" pitchFamily="34" charset="-122"/>
                <a:cs typeface="Calibri" pitchFamily="34" charset="-120"/>
              </a:rPr>
              <a:t>Estimated new breast cancer cases in </a:t>
            </a:r>
            <a:r>
              <a:rPr lang="en-GB" sz="1400" b="1" noProof="0" dirty="0">
                <a:solidFill>
                  <a:srgbClr val="1F3A63"/>
                </a:solidFill>
                <a:latin typeface="Calibri" pitchFamily="34" charset="0"/>
                <a:ea typeface="Calibri" pitchFamily="34" charset="-122"/>
                <a:cs typeface="Calibri" pitchFamily="34" charset="-120"/>
              </a:rPr>
              <a:t>Rwanda</a:t>
            </a:r>
            <a:r>
              <a:rPr lang="en-GB" sz="1400" noProof="0" dirty="0">
                <a:solidFill>
                  <a:srgbClr val="1F3A63"/>
                </a:solidFill>
                <a:latin typeface="Calibri" pitchFamily="34" charset="0"/>
                <a:ea typeface="Calibri" pitchFamily="34" charset="-122"/>
                <a:cs typeface="Calibri" pitchFamily="34" charset="-120"/>
              </a:rPr>
              <a:t>, 2024</a:t>
            </a:r>
            <a:endParaRPr lang="en-GB" sz="1400" noProof="0" dirty="0"/>
          </a:p>
        </p:txBody>
      </p:sp>
      <p:sp>
        <p:nvSpPr>
          <p:cNvPr id="17" name="Shape 15"/>
          <p:cNvSpPr/>
          <p:nvPr/>
        </p:nvSpPr>
        <p:spPr>
          <a:xfrm>
            <a:off x="5806249" y="3600801"/>
            <a:ext cx="2801472" cy="1691640"/>
          </a:xfrm>
          <a:prstGeom prst="roundRect">
            <a:avLst>
              <a:gd name="adj" fmla="val 3243"/>
            </a:avLst>
          </a:prstGeom>
          <a:solidFill>
            <a:srgbClr val="F4F8FC"/>
          </a:solidFill>
          <a:ln w="12700">
            <a:solidFill>
              <a:srgbClr val="C8D8EC"/>
            </a:solidFill>
            <a:prstDash val="solid"/>
          </a:ln>
        </p:spPr>
        <p:txBody>
          <a:bodyPr/>
          <a:lstStyle/>
          <a:p>
            <a:endParaRPr lang="en-GB" noProof="0" dirty="0"/>
          </a:p>
        </p:txBody>
      </p:sp>
      <p:sp>
        <p:nvSpPr>
          <p:cNvPr id="18" name="Text 16"/>
          <p:cNvSpPr txBox="1"/>
          <p:nvPr/>
        </p:nvSpPr>
        <p:spPr>
          <a:xfrm>
            <a:off x="5870811" y="3728817"/>
            <a:ext cx="2627182" cy="761238"/>
          </a:xfrm>
          <a:prstGeom prst="rect">
            <a:avLst/>
          </a:prstGeom>
          <a:noFill/>
          <a:ln/>
        </p:spPr>
        <p:txBody>
          <a:bodyPr wrap="square" lIns="0" tIns="0" rIns="0" bIns="0" rtlCol="0" anchor="ctr"/>
          <a:lstStyle/>
          <a:p>
            <a:pPr marL="0" indent="0" algn="ctr">
              <a:buNone/>
            </a:pPr>
            <a:r>
              <a:rPr lang="en-GB" sz="3000" b="1" noProof="0" dirty="0">
                <a:solidFill>
                  <a:srgbClr val="12315B"/>
                </a:solidFill>
                <a:latin typeface="Calibri" pitchFamily="34" charset="0"/>
                <a:ea typeface="Calibri" pitchFamily="34" charset="-122"/>
                <a:cs typeface="Calibri" pitchFamily="34" charset="-120"/>
              </a:rPr>
              <a:t>813</a:t>
            </a:r>
            <a:endParaRPr lang="en-GB" sz="3000" noProof="0" dirty="0"/>
          </a:p>
        </p:txBody>
      </p:sp>
      <p:sp>
        <p:nvSpPr>
          <p:cNvPr id="19" name="Text 17"/>
          <p:cNvSpPr txBox="1"/>
          <p:nvPr/>
        </p:nvSpPr>
        <p:spPr>
          <a:xfrm>
            <a:off x="5870811" y="4480454"/>
            <a:ext cx="2627182" cy="744322"/>
          </a:xfrm>
          <a:prstGeom prst="rect">
            <a:avLst/>
          </a:prstGeom>
          <a:noFill/>
          <a:ln/>
        </p:spPr>
        <p:txBody>
          <a:bodyPr wrap="square" lIns="0" tIns="0" rIns="0" bIns="0" rtlCol="0" anchor="t"/>
          <a:lstStyle/>
          <a:p>
            <a:pPr marL="0" indent="0" algn="ctr">
              <a:lnSpc>
                <a:spcPct val="92000"/>
              </a:lnSpc>
              <a:buNone/>
            </a:pPr>
            <a:r>
              <a:rPr lang="en-GB" sz="1400" noProof="0" dirty="0">
                <a:solidFill>
                  <a:srgbClr val="1F3A63"/>
                </a:solidFill>
                <a:latin typeface="Calibri" pitchFamily="34" charset="0"/>
                <a:ea typeface="Calibri" pitchFamily="34" charset="-122"/>
                <a:cs typeface="Calibri" pitchFamily="34" charset="-120"/>
              </a:rPr>
              <a:t>Estimated breast cancer deaths in </a:t>
            </a:r>
            <a:r>
              <a:rPr lang="en-GB" sz="1400" b="1" noProof="0" dirty="0">
                <a:solidFill>
                  <a:srgbClr val="1F3A63"/>
                </a:solidFill>
                <a:latin typeface="Calibri" pitchFamily="34" charset="0"/>
                <a:ea typeface="Calibri" pitchFamily="34" charset="-122"/>
                <a:cs typeface="Calibri" pitchFamily="34" charset="-120"/>
              </a:rPr>
              <a:t>Rwanda</a:t>
            </a:r>
            <a:r>
              <a:rPr lang="en-GB" sz="1400" noProof="0" dirty="0">
                <a:solidFill>
                  <a:srgbClr val="1F3A63"/>
                </a:solidFill>
                <a:latin typeface="Calibri" pitchFamily="34" charset="0"/>
                <a:ea typeface="Calibri" pitchFamily="34" charset="-122"/>
                <a:cs typeface="Calibri" pitchFamily="34" charset="-120"/>
              </a:rPr>
              <a:t>, 2024</a:t>
            </a:r>
            <a:endParaRPr lang="en-GB" sz="1400" noProof="0" dirty="0"/>
          </a:p>
        </p:txBody>
      </p:sp>
      <p:sp>
        <p:nvSpPr>
          <p:cNvPr id="20" name="Shape 18"/>
          <p:cNvSpPr/>
          <p:nvPr/>
        </p:nvSpPr>
        <p:spPr>
          <a:xfrm>
            <a:off x="8841583" y="3600801"/>
            <a:ext cx="2801472" cy="1691640"/>
          </a:xfrm>
          <a:prstGeom prst="roundRect">
            <a:avLst>
              <a:gd name="adj" fmla="val 3243"/>
            </a:avLst>
          </a:prstGeom>
          <a:solidFill>
            <a:srgbClr val="F4F8FC"/>
          </a:solidFill>
          <a:ln w="12700">
            <a:solidFill>
              <a:srgbClr val="C8D8EC"/>
            </a:solidFill>
            <a:prstDash val="solid"/>
          </a:ln>
        </p:spPr>
        <p:txBody>
          <a:bodyPr/>
          <a:lstStyle/>
          <a:p>
            <a:endParaRPr lang="en-GB" noProof="0" dirty="0"/>
          </a:p>
        </p:txBody>
      </p:sp>
      <p:sp>
        <p:nvSpPr>
          <p:cNvPr id="21" name="Text 19"/>
          <p:cNvSpPr txBox="1"/>
          <p:nvPr/>
        </p:nvSpPr>
        <p:spPr>
          <a:xfrm>
            <a:off x="8906145" y="3728817"/>
            <a:ext cx="2627182" cy="761238"/>
          </a:xfrm>
          <a:prstGeom prst="rect">
            <a:avLst/>
          </a:prstGeom>
          <a:noFill/>
          <a:ln/>
        </p:spPr>
        <p:txBody>
          <a:bodyPr wrap="square" lIns="0" tIns="0" rIns="0" bIns="0" rtlCol="0" anchor="ctr"/>
          <a:lstStyle/>
          <a:p>
            <a:pPr marL="0" indent="0" algn="ctr">
              <a:buNone/>
            </a:pPr>
            <a:r>
              <a:rPr lang="en-GB" sz="3000" b="1" noProof="0" dirty="0">
                <a:solidFill>
                  <a:srgbClr val="12315B"/>
                </a:solidFill>
                <a:latin typeface="Calibri" pitchFamily="34" charset="0"/>
                <a:ea typeface="Calibri" pitchFamily="34" charset="-122"/>
                <a:cs typeface="Calibri" pitchFamily="34" charset="-120"/>
              </a:rPr>
              <a:t>1st</a:t>
            </a:r>
            <a:endParaRPr lang="en-GB" sz="3000" noProof="0" dirty="0"/>
          </a:p>
        </p:txBody>
      </p:sp>
      <p:sp>
        <p:nvSpPr>
          <p:cNvPr id="22" name="Text 20"/>
          <p:cNvSpPr txBox="1"/>
          <p:nvPr/>
        </p:nvSpPr>
        <p:spPr>
          <a:xfrm>
            <a:off x="8906145" y="4480454"/>
            <a:ext cx="2627182" cy="744322"/>
          </a:xfrm>
          <a:prstGeom prst="rect">
            <a:avLst/>
          </a:prstGeom>
          <a:noFill/>
          <a:ln/>
        </p:spPr>
        <p:txBody>
          <a:bodyPr wrap="square" lIns="0" tIns="0" rIns="0" bIns="0" rtlCol="0" anchor="t"/>
          <a:lstStyle/>
          <a:p>
            <a:pPr marL="0" indent="0" algn="ctr">
              <a:lnSpc>
                <a:spcPct val="92000"/>
              </a:lnSpc>
              <a:buNone/>
            </a:pPr>
            <a:r>
              <a:rPr lang="en-GB" sz="1400" noProof="0" dirty="0">
                <a:solidFill>
                  <a:srgbClr val="1F3A63"/>
                </a:solidFill>
                <a:latin typeface="Calibri" pitchFamily="34" charset="0"/>
                <a:ea typeface="Calibri" pitchFamily="34" charset="-122"/>
                <a:cs typeface="Calibri" pitchFamily="34" charset="-120"/>
              </a:rPr>
              <a:t>Most frequent cancer in women in </a:t>
            </a:r>
            <a:r>
              <a:rPr lang="en-GB" sz="1400" b="1" noProof="0" dirty="0">
                <a:solidFill>
                  <a:srgbClr val="1F3A63"/>
                </a:solidFill>
                <a:latin typeface="Calibri" pitchFamily="34" charset="0"/>
                <a:ea typeface="Calibri" pitchFamily="34" charset="-122"/>
                <a:cs typeface="Calibri" pitchFamily="34" charset="-120"/>
              </a:rPr>
              <a:t>Rwanda</a:t>
            </a:r>
            <a:r>
              <a:rPr lang="en-GB" sz="1400" noProof="0" dirty="0">
                <a:solidFill>
                  <a:srgbClr val="1F3A63"/>
                </a:solidFill>
                <a:latin typeface="Calibri" pitchFamily="34" charset="0"/>
                <a:ea typeface="Calibri" pitchFamily="34" charset="-122"/>
                <a:cs typeface="Calibri" pitchFamily="34" charset="-120"/>
              </a:rPr>
              <a:t>, 2024</a:t>
            </a:r>
            <a:endParaRPr lang="en-GB" sz="1400" noProof="0" dirty="0"/>
          </a:p>
        </p:txBody>
      </p:sp>
      <p:sp>
        <p:nvSpPr>
          <p:cNvPr id="23" name="Shape 21"/>
          <p:cNvSpPr/>
          <p:nvPr/>
        </p:nvSpPr>
        <p:spPr>
          <a:xfrm>
            <a:off x="548640" y="5580126"/>
            <a:ext cx="11094415" cy="637794"/>
          </a:xfrm>
          <a:prstGeom prst="roundRect">
            <a:avLst>
              <a:gd name="adj" fmla="val 4762"/>
            </a:avLst>
          </a:prstGeom>
          <a:solidFill>
            <a:srgbClr val="FDF1E0"/>
          </a:solidFill>
          <a:ln w="12700">
            <a:solidFill>
              <a:srgbClr val="EFD3AA"/>
            </a:solidFill>
            <a:prstDash val="solid"/>
          </a:ln>
        </p:spPr>
        <p:txBody>
          <a:bodyPr/>
          <a:lstStyle/>
          <a:p>
            <a:endParaRPr lang="en-GB" noProof="0" dirty="0"/>
          </a:p>
        </p:txBody>
      </p:sp>
      <p:sp>
        <p:nvSpPr>
          <p:cNvPr id="24" name="Text 22"/>
          <p:cNvSpPr txBox="1"/>
          <p:nvPr/>
        </p:nvSpPr>
        <p:spPr>
          <a:xfrm>
            <a:off x="713232" y="5713172"/>
            <a:ext cx="10765231" cy="431596"/>
          </a:xfrm>
          <a:prstGeom prst="rect">
            <a:avLst/>
          </a:prstGeom>
          <a:noFill/>
          <a:ln/>
        </p:spPr>
        <p:txBody>
          <a:bodyPr wrap="square" lIns="0" tIns="0" rIns="0" bIns="0" rtlCol="0" anchor="ctr"/>
          <a:lstStyle/>
          <a:p>
            <a:pPr marL="0" indent="0">
              <a:lnSpc>
                <a:spcPct val="95000"/>
              </a:lnSpc>
              <a:buNone/>
            </a:pPr>
            <a:r>
              <a:rPr lang="en-GB" sz="1300" noProof="0" dirty="0">
                <a:solidFill>
                  <a:srgbClr val="0B1F3F"/>
                </a:solidFill>
                <a:latin typeface="Calibri" pitchFamily="34" charset="0"/>
                <a:ea typeface="Calibri" pitchFamily="34" charset="-122"/>
                <a:cs typeface="Calibri" pitchFamily="34" charset="-120"/>
              </a:rPr>
              <a:t>These are modelled estimates from the IARC Global Cancer Observatory, GLOBOCAN 2024, not a complete count of registry-confirmed cases. Breast cancer occurs mainly in women, and uncommonly in men.</a:t>
            </a:r>
            <a:endParaRPr lang="en-GB" sz="1300" noProof="0" dirty="0"/>
          </a:p>
        </p:txBody>
      </p:sp>
      <p:pic>
        <p:nvPicPr>
          <p:cNvPr id="27" name="Imagen 26">
            <a:extLst>
              <a:ext uri="{FF2B5EF4-FFF2-40B4-BE49-F238E27FC236}">
                <a16:creationId xmlns:a16="http://schemas.microsoft.com/office/drawing/2014/main" id="{1C07691D-AC7F-3976-602B-8E03C87A63D6}"/>
              </a:ext>
            </a:extLst>
          </p:cNvPr>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a:xfrm>
            <a:off x="548640" y="1371600"/>
            <a:ext cx="1735356" cy="1673380"/>
          </a:xfrm>
          <a:prstGeom prst="rect">
            <a:avLst/>
          </a:prstGeom>
        </p:spPr>
      </p:pic>
      <p:pic>
        <p:nvPicPr>
          <p:cNvPr id="28" name="Imagen 27">
            <a:extLst>
              <a:ext uri="{FF2B5EF4-FFF2-40B4-BE49-F238E27FC236}">
                <a16:creationId xmlns:a16="http://schemas.microsoft.com/office/drawing/2014/main" id="{41083A39-2485-2C63-25C4-8C3DDB6C25C8}"/>
              </a:ext>
            </a:extLst>
          </p:cNvPr>
          <p:cNvPicPr>
            <a:picLocks noChangeAspect="1"/>
          </p:cNvPicPr>
          <p:nvPr/>
        </p:nvPicPr>
        <p:blipFill>
          <a:blip r:embed="rId4" cstate="email">
            <a:extLst>
              <a:ext uri="{28A0092B-C50C-407E-A947-70E740481C1C}">
                <a14:useLocalDpi xmlns:a14="http://schemas.microsoft.com/office/drawing/2010/main"/>
              </a:ext>
            </a:extLst>
          </a:blip>
          <a:srcRect/>
          <a:stretch>
            <a:fillRect/>
          </a:stretch>
        </p:blipFill>
        <p:spPr>
          <a:xfrm>
            <a:off x="548640" y="3655665"/>
            <a:ext cx="1810449" cy="1569111"/>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en-GB" sz="1100" b="1" kern="0" spc="100" noProof="0" dirty="0">
                <a:solidFill>
                  <a:srgbClr val="5B7699"/>
                </a:solidFill>
                <a:latin typeface="Calibri" pitchFamily="34" charset="0"/>
                <a:ea typeface="Calibri" pitchFamily="34" charset="-122"/>
                <a:cs typeface="Calibri" pitchFamily="34" charset="-120"/>
              </a:rPr>
              <a:t>S E S S I O N   1</a:t>
            </a:r>
            <a:endParaRPr lang="en-GB"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en-GB" sz="1000" noProof="0" dirty="0">
                <a:solidFill>
                  <a:srgbClr val="5B7699"/>
                </a:solidFill>
                <a:latin typeface="Calibri" pitchFamily="34" charset="0"/>
                <a:ea typeface="Calibri" pitchFamily="34" charset="-122"/>
                <a:cs typeface="Calibri" pitchFamily="34" charset="-120"/>
              </a:rPr>
              <a:t>Breast Cancer  |  Frontline HCP  |  Rwanda Biomedical Centre</a:t>
            </a:r>
            <a:endParaRPr lang="en-GB"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en-GB" sz="3000" b="1" noProof="0" dirty="0">
                <a:solidFill>
                  <a:srgbClr val="12315B"/>
                </a:solidFill>
                <a:latin typeface="Calibri" pitchFamily="34" charset="0"/>
                <a:ea typeface="Calibri" pitchFamily="34" charset="-122"/>
                <a:cs typeface="Calibri" pitchFamily="34" charset="-120"/>
              </a:rPr>
              <a:t>Where breast cancer sits in Rwanda</a:t>
            </a:r>
            <a:endParaRPr lang="en-GB" sz="3000" noProof="0" dirty="0"/>
          </a:p>
        </p:txBody>
      </p:sp>
      <p:graphicFrame>
        <p:nvGraphicFramePr>
          <p:cNvPr id="5" name="Chart 0" descr="Chart"/>
          <p:cNvGraphicFramePr/>
          <p:nvPr>
            <p:extLst>
              <p:ext uri="{D42A27DB-BD31-4B8C-83A1-F6EECF244321}">
                <p14:modId xmlns:p14="http://schemas.microsoft.com/office/powerpoint/2010/main" val="2303956447"/>
              </p:ext>
            </p:extLst>
          </p:nvPr>
        </p:nvGraphicFramePr>
        <p:xfrm>
          <a:off x="548640" y="1325880"/>
          <a:ext cx="6949440" cy="411480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7772400" y="1325880"/>
            <a:ext cx="3870655" cy="1965960"/>
          </a:xfrm>
          <a:prstGeom prst="roundRect">
            <a:avLst>
              <a:gd name="adj" fmla="val 2791"/>
            </a:avLst>
          </a:prstGeom>
          <a:solidFill>
            <a:srgbClr val="F4F8FC"/>
          </a:solidFill>
          <a:ln w="12700">
            <a:solidFill>
              <a:srgbClr val="C8D8EC"/>
            </a:solidFill>
            <a:prstDash val="solid"/>
          </a:ln>
        </p:spPr>
        <p:txBody>
          <a:bodyPr/>
          <a:lstStyle/>
          <a:p>
            <a:endParaRPr lang="en-GB" noProof="0" dirty="0"/>
          </a:p>
        </p:txBody>
      </p:sp>
      <p:sp>
        <p:nvSpPr>
          <p:cNvPr id="7" name="Text 4"/>
          <p:cNvSpPr txBox="1"/>
          <p:nvPr/>
        </p:nvSpPr>
        <p:spPr>
          <a:xfrm>
            <a:off x="7936992" y="1417320"/>
            <a:ext cx="3541471" cy="292608"/>
          </a:xfrm>
          <a:prstGeom prst="rect">
            <a:avLst/>
          </a:prstGeom>
          <a:noFill/>
          <a:ln/>
        </p:spPr>
        <p:txBody>
          <a:bodyPr wrap="square" lIns="0" tIns="0" rIns="0" bIns="0" rtlCol="0" anchor="t"/>
          <a:lstStyle/>
          <a:p>
            <a:pPr marL="0" indent="0">
              <a:buNone/>
            </a:pPr>
            <a:r>
              <a:rPr lang="en-GB" sz="1700" b="1" noProof="0" dirty="0">
                <a:solidFill>
                  <a:srgbClr val="12315B"/>
                </a:solidFill>
                <a:latin typeface="Calibri" pitchFamily="34" charset="0"/>
                <a:ea typeface="Calibri" pitchFamily="34" charset="-122"/>
                <a:cs typeface="Calibri" pitchFamily="34" charset="-120"/>
              </a:rPr>
              <a:t>What this shows</a:t>
            </a:r>
            <a:endParaRPr lang="en-GB" sz="1700" noProof="0" dirty="0"/>
          </a:p>
        </p:txBody>
      </p:sp>
      <p:sp>
        <p:nvSpPr>
          <p:cNvPr id="8" name="Text 5"/>
          <p:cNvSpPr txBox="1"/>
          <p:nvPr/>
        </p:nvSpPr>
        <p:spPr>
          <a:xfrm>
            <a:off x="7936992" y="1755648"/>
            <a:ext cx="3541471" cy="1481328"/>
          </a:xfrm>
          <a:prstGeom prst="rect">
            <a:avLst/>
          </a:prstGeom>
          <a:noFill/>
          <a:ln/>
        </p:spPr>
        <p:txBody>
          <a:bodyPr wrap="square" lIns="0" tIns="0" rIns="0" bIns="0" rtlCol="0" anchor="t"/>
          <a:lstStyle/>
          <a:p>
            <a:pPr marL="0" indent="0">
              <a:lnSpc>
                <a:spcPct val="90000"/>
              </a:lnSpc>
              <a:buNone/>
            </a:pPr>
            <a:r>
              <a:rPr lang="en-GB" sz="1800" noProof="0" dirty="0">
                <a:solidFill>
                  <a:srgbClr val="1F3A63"/>
                </a:solidFill>
                <a:latin typeface="Calibri" pitchFamily="34" charset="0"/>
                <a:ea typeface="Calibri" pitchFamily="34" charset="-122"/>
                <a:cs typeface="Calibri" pitchFamily="34" charset="-120"/>
              </a:rPr>
              <a:t>Breast cancer is the second most frequent cancer in Rwanda in the 2024 estimates, and the most frequent cancer among women, just ahead of cervical cancer.</a:t>
            </a:r>
            <a:endParaRPr lang="en-GB" sz="1800" noProof="0" dirty="0"/>
          </a:p>
        </p:txBody>
      </p:sp>
      <p:sp>
        <p:nvSpPr>
          <p:cNvPr id="9" name="Shape 6"/>
          <p:cNvSpPr/>
          <p:nvPr/>
        </p:nvSpPr>
        <p:spPr>
          <a:xfrm>
            <a:off x="7772400" y="3474720"/>
            <a:ext cx="3870655" cy="1965960"/>
          </a:xfrm>
          <a:prstGeom prst="roundRect">
            <a:avLst>
              <a:gd name="adj" fmla="val 2791"/>
            </a:avLst>
          </a:prstGeom>
          <a:solidFill>
            <a:srgbClr val="F4F8FC"/>
          </a:solidFill>
          <a:ln w="12700">
            <a:solidFill>
              <a:srgbClr val="C8D8EC"/>
            </a:solidFill>
            <a:prstDash val="solid"/>
          </a:ln>
        </p:spPr>
        <p:txBody>
          <a:bodyPr/>
          <a:lstStyle/>
          <a:p>
            <a:endParaRPr lang="en-GB" noProof="0" dirty="0"/>
          </a:p>
        </p:txBody>
      </p:sp>
      <p:sp>
        <p:nvSpPr>
          <p:cNvPr id="10" name="Text 7"/>
          <p:cNvSpPr txBox="1"/>
          <p:nvPr/>
        </p:nvSpPr>
        <p:spPr>
          <a:xfrm>
            <a:off x="7936992" y="3566160"/>
            <a:ext cx="3541471" cy="292608"/>
          </a:xfrm>
          <a:prstGeom prst="rect">
            <a:avLst/>
          </a:prstGeom>
          <a:noFill/>
          <a:ln/>
        </p:spPr>
        <p:txBody>
          <a:bodyPr wrap="square" lIns="0" tIns="0" rIns="0" bIns="0" rtlCol="0" anchor="t"/>
          <a:lstStyle/>
          <a:p>
            <a:pPr marL="0" indent="0">
              <a:buNone/>
            </a:pPr>
            <a:r>
              <a:rPr lang="en-GB" sz="1700" b="1" noProof="0" dirty="0">
                <a:solidFill>
                  <a:srgbClr val="12315B"/>
                </a:solidFill>
                <a:latin typeface="Calibri" pitchFamily="34" charset="0"/>
                <a:ea typeface="Calibri" pitchFamily="34" charset="-122"/>
                <a:cs typeface="Calibri" pitchFamily="34" charset="-120"/>
              </a:rPr>
              <a:t>Why it matters to you</a:t>
            </a:r>
            <a:endParaRPr lang="en-GB" sz="1700" noProof="0" dirty="0"/>
          </a:p>
        </p:txBody>
      </p:sp>
      <p:sp>
        <p:nvSpPr>
          <p:cNvPr id="11" name="Text 8"/>
          <p:cNvSpPr txBox="1"/>
          <p:nvPr/>
        </p:nvSpPr>
        <p:spPr>
          <a:xfrm>
            <a:off x="7936992" y="3904488"/>
            <a:ext cx="3541471" cy="1481328"/>
          </a:xfrm>
          <a:prstGeom prst="rect">
            <a:avLst/>
          </a:prstGeom>
          <a:noFill/>
          <a:ln/>
        </p:spPr>
        <p:txBody>
          <a:bodyPr wrap="square" lIns="0" tIns="0" rIns="0" bIns="0" rtlCol="0" anchor="t"/>
          <a:lstStyle/>
          <a:p>
            <a:pPr marL="0" indent="0">
              <a:lnSpc>
                <a:spcPct val="90000"/>
              </a:lnSpc>
              <a:buNone/>
            </a:pPr>
            <a:r>
              <a:rPr lang="en-GB" sz="1800" noProof="0" dirty="0">
                <a:solidFill>
                  <a:srgbClr val="1F3A63"/>
                </a:solidFill>
                <a:latin typeface="Calibri" pitchFamily="34" charset="0"/>
                <a:ea typeface="Calibri" pitchFamily="34" charset="-122"/>
                <a:cs typeface="Calibri" pitchFamily="34" charset="-120"/>
              </a:rPr>
              <a:t>Most people first present because of a change they noticed themselves. The consultation in front of you is the main route to earlier diagnosis.</a:t>
            </a:r>
            <a:endParaRPr lang="en-GB" sz="1800" noProof="0" dirty="0"/>
          </a:p>
        </p:txBody>
      </p:sp>
      <p:sp>
        <p:nvSpPr>
          <p:cNvPr id="12" name="Text 9"/>
          <p:cNvSpPr txBox="1"/>
          <p:nvPr/>
        </p:nvSpPr>
        <p:spPr>
          <a:xfrm>
            <a:off x="548640" y="5623560"/>
            <a:ext cx="11094415" cy="274320"/>
          </a:xfrm>
          <a:prstGeom prst="rect">
            <a:avLst/>
          </a:prstGeom>
          <a:noFill/>
          <a:ln/>
        </p:spPr>
        <p:txBody>
          <a:bodyPr wrap="square" lIns="0" tIns="0" rIns="0" bIns="0" rtlCol="0" anchor="ctr"/>
          <a:lstStyle/>
          <a:p>
            <a:pPr marL="0" indent="0">
              <a:buNone/>
            </a:pPr>
            <a:r>
              <a:rPr lang="en-GB" sz="1100" i="1" noProof="0" dirty="0">
                <a:solidFill>
                  <a:srgbClr val="5B7699"/>
                </a:solidFill>
                <a:latin typeface="Calibri" pitchFamily="34" charset="0"/>
                <a:ea typeface="Calibri" pitchFamily="34" charset="-122"/>
                <a:cs typeface="Calibri" pitchFamily="34" charset="-120"/>
              </a:rPr>
              <a:t>Source: IARC Global Cancer Observatory, GLOBOCAN 2024 estimates for Rwanda, both sexes, all ages.</a:t>
            </a:r>
            <a:endParaRPr lang="en-GB" sz="1100" noProof="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en-GB" sz="1100" b="1" kern="0" spc="100" noProof="0" dirty="0">
                <a:solidFill>
                  <a:srgbClr val="5B7699"/>
                </a:solidFill>
                <a:latin typeface="Calibri" pitchFamily="34" charset="0"/>
                <a:ea typeface="Calibri" pitchFamily="34" charset="-122"/>
                <a:cs typeface="Calibri" pitchFamily="34" charset="-120"/>
              </a:rPr>
              <a:t>S E S S I O N   1</a:t>
            </a:r>
            <a:endParaRPr lang="en-GB"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en-GB" sz="1000" noProof="0" dirty="0">
                <a:solidFill>
                  <a:srgbClr val="5B7699"/>
                </a:solidFill>
                <a:latin typeface="Calibri" pitchFamily="34" charset="0"/>
                <a:ea typeface="Calibri" pitchFamily="34" charset="-122"/>
                <a:cs typeface="Calibri" pitchFamily="34" charset="-120"/>
              </a:rPr>
              <a:t>Breast Cancer  |  Frontline HCP  |  Rwanda Biomedical Centre</a:t>
            </a:r>
            <a:endParaRPr lang="en-GB"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en-GB" sz="3000" b="1" noProof="0" dirty="0">
                <a:solidFill>
                  <a:srgbClr val="12315B"/>
                </a:solidFill>
                <a:latin typeface="Calibri" pitchFamily="34" charset="0"/>
                <a:ea typeface="Calibri" pitchFamily="34" charset="-122"/>
                <a:cs typeface="Calibri" pitchFamily="34" charset="-120"/>
              </a:rPr>
              <a:t>The burden ahead</a:t>
            </a:r>
            <a:endParaRPr lang="en-GB" sz="3000" noProof="0" dirty="0"/>
          </a:p>
        </p:txBody>
      </p:sp>
      <p:graphicFrame>
        <p:nvGraphicFramePr>
          <p:cNvPr id="5" name="Chart 0" descr="Chart"/>
          <p:cNvGraphicFramePr/>
          <p:nvPr>
            <p:extLst>
              <p:ext uri="{D42A27DB-BD31-4B8C-83A1-F6EECF244321}">
                <p14:modId xmlns:p14="http://schemas.microsoft.com/office/powerpoint/2010/main" val="778936122"/>
              </p:ext>
            </p:extLst>
          </p:nvPr>
        </p:nvGraphicFramePr>
        <p:xfrm>
          <a:off x="548640" y="1325880"/>
          <a:ext cx="6949440" cy="402336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7772400" y="1325880"/>
            <a:ext cx="3870655" cy="1920240"/>
          </a:xfrm>
          <a:prstGeom prst="roundRect">
            <a:avLst>
              <a:gd name="adj" fmla="val 2857"/>
            </a:avLst>
          </a:prstGeom>
          <a:solidFill>
            <a:srgbClr val="F4F8FC"/>
          </a:solidFill>
          <a:ln w="12700">
            <a:solidFill>
              <a:srgbClr val="C8D8EC"/>
            </a:solidFill>
            <a:prstDash val="solid"/>
          </a:ln>
        </p:spPr>
        <p:txBody>
          <a:bodyPr/>
          <a:lstStyle/>
          <a:p>
            <a:endParaRPr lang="en-GB" noProof="0" dirty="0"/>
          </a:p>
        </p:txBody>
      </p:sp>
      <p:sp>
        <p:nvSpPr>
          <p:cNvPr id="7" name="Text 4"/>
          <p:cNvSpPr txBox="1"/>
          <p:nvPr/>
        </p:nvSpPr>
        <p:spPr>
          <a:xfrm>
            <a:off x="7936992" y="1417320"/>
            <a:ext cx="3541471" cy="292608"/>
          </a:xfrm>
          <a:prstGeom prst="rect">
            <a:avLst/>
          </a:prstGeom>
          <a:noFill/>
          <a:ln/>
        </p:spPr>
        <p:txBody>
          <a:bodyPr wrap="square" lIns="0" tIns="0" rIns="0" bIns="0" rtlCol="0" anchor="t"/>
          <a:lstStyle/>
          <a:p>
            <a:pPr marL="0" indent="0">
              <a:buNone/>
            </a:pPr>
            <a:r>
              <a:rPr lang="en-GB" sz="1700" b="1" noProof="0" dirty="0">
                <a:solidFill>
                  <a:srgbClr val="12315B"/>
                </a:solidFill>
                <a:latin typeface="Calibri" pitchFamily="34" charset="0"/>
                <a:ea typeface="Calibri" pitchFamily="34" charset="-122"/>
                <a:cs typeface="Calibri" pitchFamily="34" charset="-120"/>
              </a:rPr>
              <a:t>Breast cancer in Africa</a:t>
            </a:r>
            <a:endParaRPr lang="en-GB" sz="1700" noProof="0" dirty="0"/>
          </a:p>
        </p:txBody>
      </p:sp>
      <p:sp>
        <p:nvSpPr>
          <p:cNvPr id="8" name="Text 5"/>
          <p:cNvSpPr txBox="1"/>
          <p:nvPr/>
        </p:nvSpPr>
        <p:spPr>
          <a:xfrm>
            <a:off x="7936992" y="1755648"/>
            <a:ext cx="3541471" cy="1435608"/>
          </a:xfrm>
          <a:prstGeom prst="rect">
            <a:avLst/>
          </a:prstGeom>
          <a:noFill/>
          <a:ln/>
        </p:spPr>
        <p:txBody>
          <a:bodyPr wrap="square" lIns="0" tIns="0" rIns="0" bIns="0" rtlCol="0" anchor="t"/>
          <a:lstStyle/>
          <a:p>
            <a:pPr marL="0" indent="0">
              <a:lnSpc>
                <a:spcPct val="90000"/>
              </a:lnSpc>
              <a:buNone/>
            </a:pPr>
            <a:r>
              <a:rPr lang="en-GB" sz="1800" noProof="0" dirty="0">
                <a:solidFill>
                  <a:srgbClr val="1F3A63"/>
                </a:solidFill>
                <a:latin typeface="Calibri" pitchFamily="34" charset="0"/>
                <a:ea typeface="Calibri" pitchFamily="34" charset="-122"/>
                <a:cs typeface="Calibri" pitchFamily="34" charset="-120"/>
              </a:rPr>
              <a:t>A separate analysis of GLOBOCAN data projects about 1.12 million new breast cancer cases a year in Africa by 2050, from a 2022 baseline.</a:t>
            </a:r>
            <a:endParaRPr lang="en-GB" sz="1800" noProof="0" dirty="0"/>
          </a:p>
        </p:txBody>
      </p:sp>
      <p:sp>
        <p:nvSpPr>
          <p:cNvPr id="9" name="Shape 6"/>
          <p:cNvSpPr/>
          <p:nvPr/>
        </p:nvSpPr>
        <p:spPr>
          <a:xfrm>
            <a:off x="7772400" y="3429000"/>
            <a:ext cx="3870655" cy="1920240"/>
          </a:xfrm>
          <a:prstGeom prst="roundRect">
            <a:avLst>
              <a:gd name="adj" fmla="val 2857"/>
            </a:avLst>
          </a:prstGeom>
          <a:solidFill>
            <a:srgbClr val="F4F8FC"/>
          </a:solidFill>
          <a:ln w="12700">
            <a:solidFill>
              <a:srgbClr val="C8D8EC"/>
            </a:solidFill>
            <a:prstDash val="solid"/>
          </a:ln>
        </p:spPr>
        <p:txBody>
          <a:bodyPr/>
          <a:lstStyle/>
          <a:p>
            <a:endParaRPr lang="en-GB" noProof="0" dirty="0"/>
          </a:p>
        </p:txBody>
      </p:sp>
      <p:sp>
        <p:nvSpPr>
          <p:cNvPr id="10" name="Text 7"/>
          <p:cNvSpPr txBox="1"/>
          <p:nvPr/>
        </p:nvSpPr>
        <p:spPr>
          <a:xfrm>
            <a:off x="7936992" y="3520440"/>
            <a:ext cx="3541471" cy="292608"/>
          </a:xfrm>
          <a:prstGeom prst="rect">
            <a:avLst/>
          </a:prstGeom>
          <a:noFill/>
          <a:ln/>
        </p:spPr>
        <p:txBody>
          <a:bodyPr wrap="square" lIns="0" tIns="0" rIns="0" bIns="0" rtlCol="0" anchor="t"/>
          <a:lstStyle/>
          <a:p>
            <a:pPr marL="0" indent="0">
              <a:buNone/>
            </a:pPr>
            <a:r>
              <a:rPr lang="en-GB" sz="1700" b="1" noProof="0" dirty="0">
                <a:solidFill>
                  <a:srgbClr val="12315B"/>
                </a:solidFill>
                <a:latin typeface="Calibri" pitchFamily="34" charset="0"/>
                <a:ea typeface="Calibri" pitchFamily="34" charset="-122"/>
                <a:cs typeface="Calibri" pitchFamily="34" charset="-120"/>
              </a:rPr>
              <a:t>Read projections carefully</a:t>
            </a:r>
            <a:endParaRPr lang="en-GB" sz="1700" noProof="0" dirty="0"/>
          </a:p>
        </p:txBody>
      </p:sp>
      <p:sp>
        <p:nvSpPr>
          <p:cNvPr id="11" name="Text 8"/>
          <p:cNvSpPr txBox="1"/>
          <p:nvPr/>
        </p:nvSpPr>
        <p:spPr>
          <a:xfrm>
            <a:off x="7936992" y="3858768"/>
            <a:ext cx="3541471" cy="1435608"/>
          </a:xfrm>
          <a:prstGeom prst="rect">
            <a:avLst/>
          </a:prstGeom>
          <a:noFill/>
          <a:ln/>
        </p:spPr>
        <p:txBody>
          <a:bodyPr wrap="square" lIns="0" tIns="0" rIns="0" bIns="0" rtlCol="0" anchor="t"/>
          <a:lstStyle/>
          <a:p>
            <a:pPr marL="0" indent="0">
              <a:lnSpc>
                <a:spcPct val="90000"/>
              </a:lnSpc>
              <a:buNone/>
            </a:pPr>
            <a:r>
              <a:rPr lang="en-GB" sz="1800" noProof="0" dirty="0">
                <a:solidFill>
                  <a:srgbClr val="1F3A63"/>
                </a:solidFill>
                <a:latin typeface="Calibri" pitchFamily="34" charset="0"/>
                <a:ea typeface="Calibri" pitchFamily="34" charset="-122"/>
                <a:cs typeface="Calibri" pitchFamily="34" charset="-120"/>
              </a:rPr>
              <a:t>Projections describe what could happen if current patterns continue. They are not guaranteed outcomes. Growth is driven mainly by population growth and ageing.</a:t>
            </a:r>
            <a:endParaRPr lang="en-GB" sz="1800" noProof="0" dirty="0"/>
          </a:p>
        </p:txBody>
      </p:sp>
      <p:sp>
        <p:nvSpPr>
          <p:cNvPr id="12" name="Text 9"/>
          <p:cNvSpPr txBox="1"/>
          <p:nvPr/>
        </p:nvSpPr>
        <p:spPr>
          <a:xfrm>
            <a:off x="548640" y="5691358"/>
            <a:ext cx="11094415" cy="274320"/>
          </a:xfrm>
          <a:prstGeom prst="rect">
            <a:avLst/>
          </a:prstGeom>
          <a:noFill/>
          <a:ln/>
        </p:spPr>
        <p:txBody>
          <a:bodyPr wrap="square" lIns="0" tIns="0" rIns="0" bIns="0" rtlCol="0" anchor="ctr"/>
          <a:lstStyle/>
          <a:p>
            <a:pPr marL="0" indent="0">
              <a:buNone/>
            </a:pPr>
            <a:r>
              <a:rPr lang="en-GB" sz="1100" i="1" noProof="0" dirty="0">
                <a:solidFill>
                  <a:srgbClr val="5B7699"/>
                </a:solidFill>
                <a:latin typeface="Calibri" pitchFamily="34" charset="0"/>
                <a:ea typeface="Calibri" pitchFamily="34" charset="-122"/>
                <a:cs typeface="Calibri" pitchFamily="34" charset="-120"/>
              </a:rPr>
              <a:t>Sources: Rwanda National Cancer Control Plan 2025 to 2029 (all cancers, 2022 to 2045). Africa breast cancer projection to 2050 is calculated from a GLOBOCAN 2022 baseline and is labelled separately from the GLOBOCAN 2024 estimates used elsewhere.</a:t>
            </a:r>
            <a:endParaRPr lang="en-GB" sz="1100" noProof="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en-GB" sz="1100" b="1" kern="0" spc="100" noProof="0" dirty="0">
                <a:solidFill>
                  <a:srgbClr val="5B7699"/>
                </a:solidFill>
                <a:latin typeface="Calibri" pitchFamily="34" charset="0"/>
                <a:ea typeface="Calibri" pitchFamily="34" charset="-122"/>
                <a:cs typeface="Calibri" pitchFamily="34" charset="-120"/>
              </a:rPr>
              <a:t>S E S S I O N   1</a:t>
            </a:r>
            <a:endParaRPr lang="en-GB" sz="1100" noProof="0" dirty="0"/>
          </a:p>
        </p:txBody>
      </p:sp>
      <p:sp>
        <p:nvSpPr>
          <p:cNvPr id="3" name="Text 1"/>
          <p:cNvSpPr txBox="1"/>
          <p:nvPr/>
        </p:nvSpPr>
        <p:spPr>
          <a:xfrm>
            <a:off x="548640" y="6394235"/>
            <a:ext cx="11094415" cy="274320"/>
          </a:xfrm>
          <a:prstGeom prst="rect">
            <a:avLst/>
          </a:prstGeom>
          <a:noFill/>
          <a:ln/>
        </p:spPr>
        <p:txBody>
          <a:bodyPr wrap="square" lIns="0" tIns="0" rIns="0" bIns="0" rtlCol="0" anchor="ctr"/>
          <a:lstStyle/>
          <a:p>
            <a:pPr marL="0" indent="0">
              <a:buNone/>
            </a:pPr>
            <a:r>
              <a:rPr lang="en-GB" sz="1000" noProof="0" dirty="0">
                <a:solidFill>
                  <a:srgbClr val="5B7699"/>
                </a:solidFill>
                <a:latin typeface="Calibri" pitchFamily="34" charset="0"/>
                <a:ea typeface="Calibri" pitchFamily="34" charset="-122"/>
                <a:cs typeface="Calibri" pitchFamily="34" charset="-120"/>
              </a:rPr>
              <a:t>Breast Cancer  |  Frontline HCP  |  Rwanda Biomedical Centre</a:t>
            </a:r>
            <a:endParaRPr lang="en-GB"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en-GB" sz="3000" b="1" noProof="0" dirty="0">
                <a:solidFill>
                  <a:srgbClr val="12315B"/>
                </a:solidFill>
                <a:latin typeface="Calibri" pitchFamily="34" charset="0"/>
                <a:ea typeface="Calibri" pitchFamily="34" charset="-122"/>
                <a:cs typeface="Calibri" pitchFamily="34" charset="-120"/>
              </a:rPr>
              <a:t>Diagnosed too late</a:t>
            </a:r>
            <a:endParaRPr lang="en-GB" sz="3000" noProof="0" dirty="0"/>
          </a:p>
        </p:txBody>
      </p:sp>
      <p:sp>
        <p:nvSpPr>
          <p:cNvPr id="23" name="Text 21"/>
          <p:cNvSpPr txBox="1"/>
          <p:nvPr/>
        </p:nvSpPr>
        <p:spPr>
          <a:xfrm>
            <a:off x="548640" y="6191018"/>
            <a:ext cx="11094415" cy="274320"/>
          </a:xfrm>
          <a:prstGeom prst="rect">
            <a:avLst/>
          </a:prstGeom>
          <a:noFill/>
          <a:ln/>
        </p:spPr>
        <p:txBody>
          <a:bodyPr wrap="square" lIns="0" tIns="0" rIns="0" bIns="0" rtlCol="0" anchor="ctr"/>
          <a:lstStyle/>
          <a:p>
            <a:pPr marL="0" indent="0">
              <a:buNone/>
            </a:pPr>
            <a:r>
              <a:rPr lang="en-GB" sz="1100" i="1" noProof="0" dirty="0">
                <a:solidFill>
                  <a:srgbClr val="5B7699"/>
                </a:solidFill>
                <a:latin typeface="Calibri" pitchFamily="34" charset="0"/>
                <a:ea typeface="Calibri" pitchFamily="34" charset="-122"/>
                <a:cs typeface="Calibri" pitchFamily="34" charset="-120"/>
              </a:rPr>
              <a:t>Source: Republic of Rwanda, Ministry of Health. National Cancer Control Plan 2025 to 2029.</a:t>
            </a:r>
            <a:endParaRPr lang="en-GB" sz="1100" noProof="0" dirty="0"/>
          </a:p>
        </p:txBody>
      </p:sp>
      <p:grpSp>
        <p:nvGrpSpPr>
          <p:cNvPr id="17" name="Grupo 16">
            <a:extLst>
              <a:ext uri="{FF2B5EF4-FFF2-40B4-BE49-F238E27FC236}">
                <a16:creationId xmlns:a16="http://schemas.microsoft.com/office/drawing/2014/main" id="{2FCE355B-2C56-79E3-9E37-41850491A7A3}"/>
              </a:ext>
            </a:extLst>
          </p:cNvPr>
          <p:cNvGrpSpPr/>
          <p:nvPr/>
        </p:nvGrpSpPr>
        <p:grpSpPr>
          <a:xfrm>
            <a:off x="4332122" y="1136068"/>
            <a:ext cx="3527450" cy="4713804"/>
            <a:chOff x="4332122" y="1136068"/>
            <a:chExt cx="3527450" cy="4713804"/>
          </a:xfrm>
        </p:grpSpPr>
        <p:sp>
          <p:nvSpPr>
            <p:cNvPr id="8" name="Shape 6"/>
            <p:cNvSpPr/>
            <p:nvPr/>
          </p:nvSpPr>
          <p:spPr>
            <a:xfrm>
              <a:off x="4332122" y="1136068"/>
              <a:ext cx="3527450" cy="4713804"/>
            </a:xfrm>
            <a:prstGeom prst="roundRect">
              <a:avLst>
                <a:gd name="adj" fmla="val 3158"/>
              </a:avLst>
            </a:prstGeom>
            <a:solidFill>
              <a:srgbClr val="F4F8FC"/>
            </a:solidFill>
            <a:ln w="12700">
              <a:solidFill>
                <a:srgbClr val="C8D8EC"/>
              </a:solidFill>
              <a:prstDash val="solid"/>
            </a:ln>
          </p:spPr>
          <p:txBody>
            <a:bodyPr/>
            <a:lstStyle/>
            <a:p>
              <a:endParaRPr lang="en-GB" noProof="0" dirty="0"/>
            </a:p>
          </p:txBody>
        </p:sp>
        <p:sp>
          <p:nvSpPr>
            <p:cNvPr id="9" name="Text 7"/>
            <p:cNvSpPr txBox="1"/>
            <p:nvPr/>
          </p:nvSpPr>
          <p:spPr>
            <a:xfrm>
              <a:off x="4441850" y="1153244"/>
              <a:ext cx="3307994" cy="781812"/>
            </a:xfrm>
            <a:prstGeom prst="rect">
              <a:avLst/>
            </a:prstGeom>
            <a:noFill/>
            <a:ln/>
          </p:spPr>
          <p:txBody>
            <a:bodyPr wrap="square" lIns="0" tIns="0" rIns="0" bIns="0" rtlCol="0" anchor="ctr"/>
            <a:lstStyle/>
            <a:p>
              <a:pPr marL="0" indent="0" algn="ctr">
                <a:buNone/>
              </a:pPr>
              <a:r>
                <a:rPr lang="en-GB" sz="3200" b="1" noProof="0" dirty="0">
                  <a:solidFill>
                    <a:srgbClr val="12315B"/>
                  </a:solidFill>
                  <a:latin typeface="Calibri" pitchFamily="34" charset="0"/>
                  <a:ea typeface="Calibri" pitchFamily="34" charset="-122"/>
                  <a:cs typeface="Calibri" pitchFamily="34" charset="-120"/>
                </a:rPr>
                <a:t>Below 50%</a:t>
              </a:r>
              <a:endParaRPr lang="en-GB" sz="3200" noProof="0" dirty="0"/>
            </a:p>
          </p:txBody>
        </p:sp>
        <p:sp>
          <p:nvSpPr>
            <p:cNvPr id="10" name="Text 8"/>
            <p:cNvSpPr txBox="1"/>
            <p:nvPr/>
          </p:nvSpPr>
          <p:spPr>
            <a:xfrm>
              <a:off x="4441850" y="1928655"/>
              <a:ext cx="3307994" cy="389269"/>
            </a:xfrm>
            <a:prstGeom prst="rect">
              <a:avLst/>
            </a:prstGeom>
            <a:noFill/>
            <a:ln/>
          </p:spPr>
          <p:txBody>
            <a:bodyPr wrap="square" lIns="0" tIns="0" rIns="0" bIns="0" rtlCol="0" anchor="t"/>
            <a:lstStyle/>
            <a:p>
              <a:pPr marL="0" indent="0" algn="ctr">
                <a:lnSpc>
                  <a:spcPct val="92000"/>
                </a:lnSpc>
                <a:buNone/>
              </a:pPr>
              <a:r>
                <a:rPr lang="en-GB" sz="1400" noProof="0" dirty="0">
                  <a:solidFill>
                    <a:srgbClr val="1F3A63"/>
                  </a:solidFill>
                  <a:latin typeface="Calibri" pitchFamily="34" charset="0"/>
                  <a:ea typeface="Calibri" pitchFamily="34" charset="-122"/>
                  <a:cs typeface="Calibri" pitchFamily="34" charset="-120"/>
                </a:rPr>
                <a:t>National target for late-stage breast cancer diagnosis by 2029</a:t>
              </a:r>
              <a:endParaRPr lang="en-GB" sz="1400" noProof="0" dirty="0"/>
            </a:p>
          </p:txBody>
        </p:sp>
        <p:pic>
          <p:nvPicPr>
            <p:cNvPr id="24" name="Imagen 23">
              <a:extLst>
                <a:ext uri="{FF2B5EF4-FFF2-40B4-BE49-F238E27FC236}">
                  <a16:creationId xmlns:a16="http://schemas.microsoft.com/office/drawing/2014/main" id="{770D6CFC-A221-93A8-80B4-115C58586871}"/>
                </a:ext>
              </a:extLst>
            </p:cNvPr>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a:xfrm>
              <a:off x="4703592" y="2770134"/>
              <a:ext cx="2789636" cy="2476236"/>
            </a:xfrm>
            <a:prstGeom prst="rect">
              <a:avLst/>
            </a:prstGeom>
          </p:spPr>
        </p:pic>
      </p:grpSp>
      <p:grpSp>
        <p:nvGrpSpPr>
          <p:cNvPr id="16" name="Grupo 15">
            <a:extLst>
              <a:ext uri="{FF2B5EF4-FFF2-40B4-BE49-F238E27FC236}">
                <a16:creationId xmlns:a16="http://schemas.microsoft.com/office/drawing/2014/main" id="{EC409B9F-6690-9BCB-C719-6423FFE2E124}"/>
              </a:ext>
            </a:extLst>
          </p:cNvPr>
          <p:cNvGrpSpPr/>
          <p:nvPr/>
        </p:nvGrpSpPr>
        <p:grpSpPr>
          <a:xfrm>
            <a:off x="548640" y="1136067"/>
            <a:ext cx="3527450" cy="4713805"/>
            <a:chOff x="548640" y="1136067"/>
            <a:chExt cx="3527450" cy="4713805"/>
          </a:xfrm>
        </p:grpSpPr>
        <p:sp>
          <p:nvSpPr>
            <p:cNvPr id="5" name="Shape 3"/>
            <p:cNvSpPr/>
            <p:nvPr/>
          </p:nvSpPr>
          <p:spPr>
            <a:xfrm>
              <a:off x="548640" y="1136067"/>
              <a:ext cx="3527450" cy="4713805"/>
            </a:xfrm>
            <a:prstGeom prst="roundRect">
              <a:avLst>
                <a:gd name="adj" fmla="val 3158"/>
              </a:avLst>
            </a:prstGeom>
            <a:solidFill>
              <a:srgbClr val="F4F8FC"/>
            </a:solidFill>
            <a:ln w="12700">
              <a:solidFill>
                <a:srgbClr val="C8D8EC"/>
              </a:solidFill>
              <a:prstDash val="solid"/>
            </a:ln>
          </p:spPr>
          <p:txBody>
            <a:bodyPr/>
            <a:lstStyle/>
            <a:p>
              <a:endParaRPr lang="en-GB" noProof="0" dirty="0"/>
            </a:p>
          </p:txBody>
        </p:sp>
        <p:sp>
          <p:nvSpPr>
            <p:cNvPr id="6" name="Text 4"/>
            <p:cNvSpPr txBox="1"/>
            <p:nvPr/>
          </p:nvSpPr>
          <p:spPr>
            <a:xfrm>
              <a:off x="658368" y="1153244"/>
              <a:ext cx="3307994" cy="781812"/>
            </a:xfrm>
            <a:prstGeom prst="rect">
              <a:avLst/>
            </a:prstGeom>
            <a:noFill/>
            <a:ln/>
          </p:spPr>
          <p:txBody>
            <a:bodyPr wrap="square" lIns="0" tIns="0" rIns="0" bIns="0" rtlCol="0" anchor="ctr"/>
            <a:lstStyle/>
            <a:p>
              <a:pPr marL="0" indent="0" algn="ctr">
                <a:buNone/>
              </a:pPr>
              <a:r>
                <a:rPr lang="en-GB" sz="3200" b="1" noProof="0" dirty="0">
                  <a:solidFill>
                    <a:srgbClr val="12315B"/>
                  </a:solidFill>
                  <a:latin typeface="Calibri" pitchFamily="34" charset="0"/>
                  <a:ea typeface="Calibri" pitchFamily="34" charset="-122"/>
                  <a:cs typeface="Calibri" pitchFamily="34" charset="-120"/>
                </a:rPr>
                <a:t>73%</a:t>
              </a:r>
              <a:endParaRPr lang="en-GB" sz="3200" noProof="0" dirty="0"/>
            </a:p>
          </p:txBody>
        </p:sp>
        <p:sp>
          <p:nvSpPr>
            <p:cNvPr id="7" name="Text 5"/>
            <p:cNvSpPr txBox="1"/>
            <p:nvPr/>
          </p:nvSpPr>
          <p:spPr>
            <a:xfrm>
              <a:off x="658368" y="1928655"/>
              <a:ext cx="3307994" cy="389269"/>
            </a:xfrm>
            <a:prstGeom prst="rect">
              <a:avLst/>
            </a:prstGeom>
            <a:noFill/>
            <a:ln/>
          </p:spPr>
          <p:txBody>
            <a:bodyPr wrap="square" lIns="0" tIns="0" rIns="0" bIns="0" rtlCol="0" anchor="t"/>
            <a:lstStyle/>
            <a:p>
              <a:pPr marL="0" indent="0" algn="ctr">
                <a:lnSpc>
                  <a:spcPct val="92000"/>
                </a:lnSpc>
                <a:buNone/>
              </a:pPr>
              <a:r>
                <a:rPr lang="en-GB" sz="1400" noProof="0" dirty="0">
                  <a:solidFill>
                    <a:srgbClr val="1F3A63"/>
                  </a:solidFill>
                  <a:latin typeface="Calibri" pitchFamily="34" charset="0"/>
                  <a:ea typeface="Calibri" pitchFamily="34" charset="-122"/>
                  <a:cs typeface="Calibri" pitchFamily="34" charset="-120"/>
                </a:rPr>
                <a:t>Of staged breast cancers in Rwanda were stage III or IV in 2023</a:t>
              </a:r>
              <a:endParaRPr lang="en-GB" sz="1400" noProof="0" dirty="0"/>
            </a:p>
          </p:txBody>
        </p:sp>
        <p:pic>
          <p:nvPicPr>
            <p:cNvPr id="14" name="Imagen 13">
              <a:extLst>
                <a:ext uri="{FF2B5EF4-FFF2-40B4-BE49-F238E27FC236}">
                  <a16:creationId xmlns:a16="http://schemas.microsoft.com/office/drawing/2014/main" id="{B1305A43-734B-C5D6-DD30-58E05ECE380E}"/>
                </a:ext>
              </a:extLst>
            </p:cNvPr>
            <p:cNvPicPr>
              <a:picLocks noChangeAspect="1"/>
            </p:cNvPicPr>
            <p:nvPr/>
          </p:nvPicPr>
          <p:blipFill>
            <a:blip r:embed="rId4" cstate="email">
              <a:extLst>
                <a:ext uri="{28A0092B-C50C-407E-A947-70E740481C1C}">
                  <a14:useLocalDpi xmlns:a14="http://schemas.microsoft.com/office/drawing/2010/main"/>
                </a:ext>
              </a:extLst>
            </a:blip>
            <a:srcRect/>
            <a:stretch>
              <a:fillRect/>
            </a:stretch>
          </p:blipFill>
          <p:spPr>
            <a:xfrm>
              <a:off x="920496" y="2775917"/>
              <a:ext cx="2725741" cy="2470452"/>
            </a:xfrm>
            <a:prstGeom prst="rect">
              <a:avLst/>
            </a:prstGeom>
          </p:spPr>
        </p:pic>
      </p:grpSp>
      <p:grpSp>
        <p:nvGrpSpPr>
          <p:cNvPr id="18" name="Grupo 17">
            <a:extLst>
              <a:ext uri="{FF2B5EF4-FFF2-40B4-BE49-F238E27FC236}">
                <a16:creationId xmlns:a16="http://schemas.microsoft.com/office/drawing/2014/main" id="{9F9F37D0-313F-4AB5-4C8E-80DC49317E3F}"/>
              </a:ext>
            </a:extLst>
          </p:cNvPr>
          <p:cNvGrpSpPr/>
          <p:nvPr/>
        </p:nvGrpSpPr>
        <p:grpSpPr>
          <a:xfrm>
            <a:off x="8115605" y="1136068"/>
            <a:ext cx="3527450" cy="4713804"/>
            <a:chOff x="8115605" y="1136068"/>
            <a:chExt cx="3527450" cy="4713804"/>
          </a:xfrm>
        </p:grpSpPr>
        <p:sp>
          <p:nvSpPr>
            <p:cNvPr id="11" name="Shape 9"/>
            <p:cNvSpPr/>
            <p:nvPr/>
          </p:nvSpPr>
          <p:spPr>
            <a:xfrm>
              <a:off x="8115605" y="1136068"/>
              <a:ext cx="3527450" cy="4713804"/>
            </a:xfrm>
            <a:prstGeom prst="roundRect">
              <a:avLst>
                <a:gd name="adj" fmla="val 3158"/>
              </a:avLst>
            </a:prstGeom>
            <a:solidFill>
              <a:srgbClr val="F4F8FC"/>
            </a:solidFill>
            <a:ln w="12700">
              <a:solidFill>
                <a:srgbClr val="C8D8EC"/>
              </a:solidFill>
              <a:prstDash val="solid"/>
            </a:ln>
          </p:spPr>
          <p:txBody>
            <a:bodyPr/>
            <a:lstStyle/>
            <a:p>
              <a:endParaRPr lang="en-GB" noProof="0" dirty="0"/>
            </a:p>
          </p:txBody>
        </p:sp>
        <p:sp>
          <p:nvSpPr>
            <p:cNvPr id="12" name="Text 10"/>
            <p:cNvSpPr txBox="1"/>
            <p:nvPr/>
          </p:nvSpPr>
          <p:spPr>
            <a:xfrm>
              <a:off x="8225333" y="1153244"/>
              <a:ext cx="3307994" cy="781812"/>
            </a:xfrm>
            <a:prstGeom prst="rect">
              <a:avLst/>
            </a:prstGeom>
            <a:noFill/>
            <a:ln/>
          </p:spPr>
          <p:txBody>
            <a:bodyPr wrap="square" lIns="0" tIns="0" rIns="0" bIns="0" rtlCol="0" anchor="ctr"/>
            <a:lstStyle/>
            <a:p>
              <a:pPr marL="0" indent="0" algn="ctr">
                <a:buNone/>
              </a:pPr>
              <a:r>
                <a:rPr lang="en-GB" sz="3200" b="1" noProof="0" dirty="0">
                  <a:solidFill>
                    <a:srgbClr val="12315B"/>
                  </a:solidFill>
                  <a:latin typeface="Calibri" pitchFamily="34" charset="0"/>
                  <a:ea typeface="Calibri" pitchFamily="34" charset="-122"/>
                  <a:cs typeface="Calibri" pitchFamily="34" charset="-120"/>
                </a:rPr>
                <a:t>521,143</a:t>
              </a:r>
              <a:endParaRPr lang="en-GB" sz="3200" noProof="0" dirty="0"/>
            </a:p>
          </p:txBody>
        </p:sp>
        <p:sp>
          <p:nvSpPr>
            <p:cNvPr id="13" name="Text 11"/>
            <p:cNvSpPr txBox="1"/>
            <p:nvPr/>
          </p:nvSpPr>
          <p:spPr>
            <a:xfrm>
              <a:off x="8225333" y="1928655"/>
              <a:ext cx="3307994" cy="448785"/>
            </a:xfrm>
            <a:prstGeom prst="rect">
              <a:avLst/>
            </a:prstGeom>
            <a:noFill/>
            <a:ln/>
          </p:spPr>
          <p:txBody>
            <a:bodyPr wrap="square" lIns="0" tIns="0" rIns="0" bIns="0" rtlCol="0" anchor="t"/>
            <a:lstStyle/>
            <a:p>
              <a:pPr marL="0" indent="0" algn="ctr">
                <a:lnSpc>
                  <a:spcPct val="92000"/>
                </a:lnSpc>
                <a:buNone/>
              </a:pPr>
              <a:r>
                <a:rPr lang="en-GB" sz="1400" noProof="0" dirty="0">
                  <a:solidFill>
                    <a:srgbClr val="1F3A63"/>
                  </a:solidFill>
                  <a:latin typeface="Calibri" pitchFamily="34" charset="0"/>
                  <a:ea typeface="Calibri" pitchFamily="34" charset="-122"/>
                  <a:cs typeface="Calibri" pitchFamily="34" charset="-120"/>
                </a:rPr>
                <a:t>People screened by clinical breast examination in Rwanda, 2019 to 2024</a:t>
              </a:r>
              <a:endParaRPr lang="en-GB" sz="1400" noProof="0" dirty="0"/>
            </a:p>
          </p:txBody>
        </p:sp>
        <p:pic>
          <p:nvPicPr>
            <p:cNvPr id="15" name="Imagen 14">
              <a:extLst>
                <a:ext uri="{FF2B5EF4-FFF2-40B4-BE49-F238E27FC236}">
                  <a16:creationId xmlns:a16="http://schemas.microsoft.com/office/drawing/2014/main" id="{6A917751-5777-AF99-AF9F-657C21025CEB}"/>
                </a:ext>
              </a:extLst>
            </p:cNvPr>
            <p:cNvPicPr>
              <a:picLocks noChangeAspect="1"/>
            </p:cNvPicPr>
            <p:nvPr/>
          </p:nvPicPr>
          <p:blipFill>
            <a:blip r:embed="rId5" cstate="email">
              <a:extLst>
                <a:ext uri="{28A0092B-C50C-407E-A947-70E740481C1C}">
                  <a14:useLocalDpi xmlns:a14="http://schemas.microsoft.com/office/drawing/2010/main"/>
                </a:ext>
              </a:extLst>
            </a:blip>
            <a:srcRect/>
            <a:stretch>
              <a:fillRect/>
            </a:stretch>
          </p:blipFill>
          <p:spPr>
            <a:xfrm>
              <a:off x="8553796" y="2775988"/>
              <a:ext cx="2643448" cy="2470381"/>
            </a:xfrm>
            <a:prstGeom prst="rect">
              <a:avLst/>
            </a:prstGeom>
          </p:spPr>
        </p:pic>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24A88551-A2E6-FC08-32F8-F5EC319954D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FFA67FB7-A005-2CB7-4F0D-FC31083F4D5F}"/>
              </a:ext>
            </a:extLst>
          </p:cNvPr>
          <p:cNvSpPr txBox="1"/>
          <p:nvPr/>
        </p:nvSpPr>
        <p:spPr>
          <a:xfrm>
            <a:off x="548640" y="274320"/>
            <a:ext cx="11094415" cy="256032"/>
          </a:xfrm>
          <a:prstGeom prst="rect">
            <a:avLst/>
          </a:prstGeom>
          <a:noFill/>
          <a:ln/>
        </p:spPr>
        <p:txBody>
          <a:bodyPr wrap="square" lIns="0" tIns="0" rIns="0" bIns="0" rtlCol="0" anchor="ctr"/>
          <a:lstStyle/>
          <a:p>
            <a:pPr marL="0" indent="0">
              <a:buNone/>
            </a:pPr>
            <a:r>
              <a:rPr lang="en-GB" sz="1100" b="1" kern="0" spc="100" noProof="0" dirty="0">
                <a:solidFill>
                  <a:srgbClr val="5B7699"/>
                </a:solidFill>
                <a:latin typeface="Calibri" pitchFamily="34" charset="0"/>
                <a:ea typeface="Calibri" pitchFamily="34" charset="-122"/>
                <a:cs typeface="Calibri" pitchFamily="34" charset="-120"/>
              </a:rPr>
              <a:t>S E S S I O N   1</a:t>
            </a:r>
            <a:endParaRPr lang="en-GB" sz="1100" noProof="0" dirty="0"/>
          </a:p>
        </p:txBody>
      </p:sp>
      <p:sp>
        <p:nvSpPr>
          <p:cNvPr id="4" name="Text 2">
            <a:extLst>
              <a:ext uri="{FF2B5EF4-FFF2-40B4-BE49-F238E27FC236}">
                <a16:creationId xmlns:a16="http://schemas.microsoft.com/office/drawing/2014/main" id="{FAE1B8D9-0293-5B4E-6D6B-9743F6B33C91}"/>
              </a:ext>
            </a:extLst>
          </p:cNvPr>
          <p:cNvSpPr txBox="1"/>
          <p:nvPr/>
        </p:nvSpPr>
        <p:spPr>
          <a:xfrm>
            <a:off x="548640" y="566928"/>
            <a:ext cx="11094415" cy="566928"/>
          </a:xfrm>
          <a:prstGeom prst="rect">
            <a:avLst/>
          </a:prstGeom>
          <a:noFill/>
          <a:ln/>
        </p:spPr>
        <p:txBody>
          <a:bodyPr wrap="square" lIns="0" tIns="0" rIns="0" bIns="0" rtlCol="0" anchor="t"/>
          <a:lstStyle/>
          <a:p>
            <a:pPr marL="0" indent="0">
              <a:buNone/>
            </a:pPr>
            <a:r>
              <a:rPr lang="en-GB" sz="3000" b="1" noProof="0" dirty="0">
                <a:solidFill>
                  <a:srgbClr val="12315B"/>
                </a:solidFill>
                <a:latin typeface="Calibri" pitchFamily="34" charset="0"/>
                <a:ea typeface="Calibri" pitchFamily="34" charset="-122"/>
                <a:cs typeface="Calibri" pitchFamily="34" charset="-120"/>
              </a:rPr>
              <a:t>Diagnosed too late</a:t>
            </a:r>
            <a:endParaRPr lang="en-GB" sz="3000" noProof="0" dirty="0"/>
          </a:p>
        </p:txBody>
      </p:sp>
      <p:sp>
        <p:nvSpPr>
          <p:cNvPr id="14" name="Shape 12">
            <a:extLst>
              <a:ext uri="{FF2B5EF4-FFF2-40B4-BE49-F238E27FC236}">
                <a16:creationId xmlns:a16="http://schemas.microsoft.com/office/drawing/2014/main" id="{4810F083-8395-82BE-AD78-28E3952F330E}"/>
              </a:ext>
            </a:extLst>
          </p:cNvPr>
          <p:cNvSpPr/>
          <p:nvPr/>
        </p:nvSpPr>
        <p:spPr>
          <a:xfrm>
            <a:off x="548640" y="1120394"/>
            <a:ext cx="10819770" cy="5595716"/>
          </a:xfrm>
          <a:prstGeom prst="roundRect">
            <a:avLst>
              <a:gd name="adj" fmla="val 2500"/>
            </a:avLst>
          </a:prstGeom>
          <a:solidFill>
            <a:srgbClr val="F4F8FC"/>
          </a:solidFill>
          <a:ln w="12700">
            <a:solidFill>
              <a:srgbClr val="C8D8EC"/>
            </a:solidFill>
            <a:prstDash val="solid"/>
          </a:ln>
        </p:spPr>
        <p:txBody>
          <a:bodyPr/>
          <a:lstStyle/>
          <a:p>
            <a:endParaRPr lang="en-GB" noProof="0" dirty="0"/>
          </a:p>
        </p:txBody>
      </p:sp>
      <p:sp>
        <p:nvSpPr>
          <p:cNvPr id="15" name="Text 13">
            <a:extLst>
              <a:ext uri="{FF2B5EF4-FFF2-40B4-BE49-F238E27FC236}">
                <a16:creationId xmlns:a16="http://schemas.microsoft.com/office/drawing/2014/main" id="{3414C337-1B67-0F4D-F315-A73CB9749281}"/>
              </a:ext>
            </a:extLst>
          </p:cNvPr>
          <p:cNvSpPr txBox="1"/>
          <p:nvPr/>
        </p:nvSpPr>
        <p:spPr>
          <a:xfrm>
            <a:off x="823590" y="1134128"/>
            <a:ext cx="4174078" cy="104052"/>
          </a:xfrm>
          <a:prstGeom prst="rect">
            <a:avLst/>
          </a:prstGeom>
          <a:noFill/>
          <a:ln/>
        </p:spPr>
        <p:txBody>
          <a:bodyPr wrap="square" lIns="0" tIns="0" rIns="0" bIns="0" rtlCol="0" anchor="t"/>
          <a:lstStyle/>
          <a:p>
            <a:pPr marL="0" indent="0">
              <a:buNone/>
            </a:pPr>
            <a:r>
              <a:rPr lang="en-GB" sz="2000" b="1" noProof="0" dirty="0">
                <a:solidFill>
                  <a:srgbClr val="12315B"/>
                </a:solidFill>
                <a:latin typeface="Calibri" pitchFamily="34" charset="0"/>
                <a:ea typeface="Calibri" pitchFamily="34" charset="-122"/>
                <a:cs typeface="Calibri" pitchFamily="34" charset="-120"/>
              </a:rPr>
              <a:t>Why late stage matters</a:t>
            </a:r>
            <a:endParaRPr lang="en-GB" sz="2000" noProof="0" dirty="0"/>
          </a:p>
        </p:txBody>
      </p:sp>
      <p:sp>
        <p:nvSpPr>
          <p:cNvPr id="16" name="Text 14">
            <a:extLst>
              <a:ext uri="{FF2B5EF4-FFF2-40B4-BE49-F238E27FC236}">
                <a16:creationId xmlns:a16="http://schemas.microsoft.com/office/drawing/2014/main" id="{E1AC9FA0-B300-A651-8C62-E49094174A13}"/>
              </a:ext>
            </a:extLst>
          </p:cNvPr>
          <p:cNvSpPr txBox="1"/>
          <p:nvPr/>
        </p:nvSpPr>
        <p:spPr>
          <a:xfrm>
            <a:off x="823590" y="1553709"/>
            <a:ext cx="10432989" cy="462876"/>
          </a:xfrm>
          <a:prstGeom prst="rect">
            <a:avLst/>
          </a:prstGeom>
          <a:noFill/>
          <a:ln/>
        </p:spPr>
        <p:txBody>
          <a:bodyPr wrap="square" lIns="0" tIns="0" rIns="0" bIns="0" rtlCol="0" anchor="t"/>
          <a:lstStyle/>
          <a:p>
            <a:pPr marL="0" indent="0">
              <a:lnSpc>
                <a:spcPct val="90000"/>
              </a:lnSpc>
              <a:buNone/>
            </a:pPr>
            <a:r>
              <a:rPr lang="en-GB" noProof="0" dirty="0">
                <a:solidFill>
                  <a:srgbClr val="1F3A63"/>
                </a:solidFill>
                <a:latin typeface="Calibri" pitchFamily="34" charset="0"/>
                <a:ea typeface="Calibri" pitchFamily="34" charset="-122"/>
                <a:cs typeface="Calibri" pitchFamily="34" charset="-120"/>
              </a:rPr>
              <a:t>Late-stage disease narrows treatment options, increases the chance that mastectomy and systemic treatment are needed, and lowers survival.</a:t>
            </a:r>
            <a:endParaRPr lang="en-GB" noProof="0" dirty="0"/>
          </a:p>
        </p:txBody>
      </p:sp>
      <p:pic>
        <p:nvPicPr>
          <p:cNvPr id="27" name="Imagen 26">
            <a:extLst>
              <a:ext uri="{FF2B5EF4-FFF2-40B4-BE49-F238E27FC236}">
                <a16:creationId xmlns:a16="http://schemas.microsoft.com/office/drawing/2014/main" id="{3DD7ACB6-ADFB-3755-A12D-F5D20D3E6261}"/>
              </a:ext>
            </a:extLst>
          </p:cNvPr>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a:xfrm>
            <a:off x="2472947" y="2105689"/>
            <a:ext cx="6750882" cy="4478621"/>
          </a:xfrm>
          <a:prstGeom prst="rect">
            <a:avLst/>
          </a:prstGeom>
        </p:spPr>
      </p:pic>
    </p:spTree>
    <p:extLst>
      <p:ext uri="{BB962C8B-B14F-4D97-AF65-F5344CB8AC3E}">
        <p14:creationId xmlns:p14="http://schemas.microsoft.com/office/powerpoint/2010/main" val="285978866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 name="Text 120"/>
          <p:cNvSpPr txBox="1"/>
          <p:nvPr/>
        </p:nvSpPr>
        <p:spPr>
          <a:xfrm>
            <a:off x="548640" y="274320"/>
            <a:ext cx="11094415" cy="256032"/>
          </a:xfrm>
          <a:prstGeom prst="rect">
            <a:avLst/>
          </a:prstGeom>
          <a:noFill/>
          <a:ln/>
        </p:spPr>
        <p:txBody>
          <a:bodyPr wrap="square" lIns="0" tIns="0" rIns="0" bIns="0" rtlCol="0" anchor="ctr"/>
          <a:lstStyle/>
          <a:p>
            <a:pPr marL="0" indent="0" algn="l">
              <a:lnSpc>
                <a:spcPct val="95000"/>
              </a:lnSpc>
              <a:buNone/>
            </a:pPr>
            <a:r>
              <a:rPr lang="en-GB" sz="1100" b="1" dirty="0">
                <a:solidFill>
                  <a:srgbClr val="5B7699"/>
                </a:solidFill>
                <a:latin typeface="Calibri" pitchFamily="34" charset="0"/>
                <a:ea typeface="Calibri" pitchFamily="34" charset="-122"/>
                <a:cs typeface="Calibri" pitchFamily="34" charset="-120"/>
              </a:rPr>
              <a:t>S E S S I O N   1</a:t>
            </a:r>
            <a:endParaRPr lang="en-GB" sz="1800" dirty="0"/>
          </a:p>
        </p:txBody>
      </p:sp>
      <p:sp>
        <p:nvSpPr>
          <p:cNvPr id="121" name="Text 121"/>
          <p:cNvSpPr txBox="1"/>
          <p:nvPr/>
        </p:nvSpPr>
        <p:spPr>
          <a:xfrm>
            <a:off x="548640" y="566928"/>
            <a:ext cx="11094415" cy="566928"/>
          </a:xfrm>
          <a:prstGeom prst="rect">
            <a:avLst/>
          </a:prstGeom>
          <a:noFill/>
          <a:ln/>
        </p:spPr>
        <p:txBody>
          <a:bodyPr wrap="square" lIns="0" tIns="0" rIns="0" bIns="0" rtlCol="0" anchor="t"/>
          <a:lstStyle/>
          <a:p>
            <a:pPr marL="0" indent="0" algn="l">
              <a:lnSpc>
                <a:spcPct val="95000"/>
              </a:lnSpc>
              <a:buNone/>
            </a:pPr>
            <a:r>
              <a:rPr lang="en-GB" sz="3000" b="1" dirty="0">
                <a:solidFill>
                  <a:srgbClr val="12315B"/>
                </a:solidFill>
                <a:latin typeface="Calibri" pitchFamily="34" charset="0"/>
                <a:ea typeface="Calibri" pitchFamily="34" charset="-122"/>
                <a:cs typeface="Calibri" pitchFamily="34" charset="-120"/>
              </a:rPr>
              <a:t>The WHO Global Breast Cancer Initiative: 60, 60, 80</a:t>
            </a:r>
            <a:endParaRPr lang="en-GB" sz="1800" dirty="0"/>
          </a:p>
        </p:txBody>
      </p:sp>
      <p:sp>
        <p:nvSpPr>
          <p:cNvPr id="122" name="Text 122"/>
          <p:cNvSpPr txBox="1"/>
          <p:nvPr/>
        </p:nvSpPr>
        <p:spPr>
          <a:xfrm>
            <a:off x="548640" y="6382512"/>
            <a:ext cx="11094415" cy="274320"/>
          </a:xfrm>
          <a:prstGeom prst="rect">
            <a:avLst/>
          </a:prstGeom>
          <a:noFill/>
          <a:ln/>
        </p:spPr>
        <p:txBody>
          <a:bodyPr wrap="square" lIns="0" tIns="0" rIns="0" bIns="0" rtlCol="0" anchor="ctr"/>
          <a:lstStyle/>
          <a:p>
            <a:pPr marL="0" indent="0" algn="l">
              <a:lnSpc>
                <a:spcPct val="95000"/>
              </a:lnSpc>
              <a:buNone/>
            </a:pPr>
            <a:r>
              <a:rPr lang="en-GB" sz="1000" dirty="0">
                <a:solidFill>
                  <a:srgbClr val="5B7699"/>
                </a:solidFill>
                <a:latin typeface="Calibri" pitchFamily="34" charset="0"/>
                <a:ea typeface="Calibri" pitchFamily="34" charset="-122"/>
                <a:cs typeface="Calibri" pitchFamily="34" charset="-120"/>
              </a:rPr>
              <a:t>Breast Cancer  |  Frontline HCP  |  Rwanda Biomedical Centre</a:t>
            </a:r>
            <a:endParaRPr lang="en-GB" sz="1800" dirty="0"/>
          </a:p>
        </p:txBody>
      </p:sp>
      <p:sp>
        <p:nvSpPr>
          <p:cNvPr id="101" name="Text 101"/>
          <p:cNvSpPr txBox="1"/>
          <p:nvPr/>
        </p:nvSpPr>
        <p:spPr>
          <a:xfrm>
            <a:off x="548640" y="1225000"/>
            <a:ext cx="11094415" cy="640000"/>
          </a:xfrm>
          <a:prstGeom prst="rect">
            <a:avLst/>
          </a:prstGeom>
          <a:noFill/>
          <a:ln/>
        </p:spPr>
        <p:txBody>
          <a:bodyPr wrap="square" lIns="0" tIns="0" rIns="0" bIns="0" rtlCol="0" anchor="t"/>
          <a:lstStyle/>
          <a:p>
            <a:pPr marL="0" indent="0" algn="l">
              <a:lnSpc>
                <a:spcPct val="95000"/>
              </a:lnSpc>
              <a:buNone/>
            </a:pPr>
            <a:r>
              <a:rPr lang="en-GB" sz="1800" dirty="0">
                <a:solidFill>
                  <a:srgbClr val="1F3A63"/>
                </a:solidFill>
                <a:latin typeface="Calibri" pitchFamily="34" charset="0"/>
                <a:ea typeface="Calibri" pitchFamily="34" charset="-122"/>
                <a:cs typeface="Calibri" pitchFamily="34" charset="-120"/>
              </a:rPr>
              <a:t>Launched by WHO in 2021 to reduce breast cancer deaths by 2.5% each year. Rwanda is building these three targets into its national breast cancer guideline.</a:t>
            </a:r>
            <a:endParaRPr lang="en-GB" sz="1800" dirty="0"/>
          </a:p>
        </p:txBody>
      </p:sp>
      <p:sp>
        <p:nvSpPr>
          <p:cNvPr id="102" name="Shape 102"/>
          <p:cNvSpPr/>
          <p:nvPr/>
        </p:nvSpPr>
        <p:spPr>
          <a:xfrm>
            <a:off x="548640" y="1990000"/>
            <a:ext cx="3527450" cy="2950000"/>
          </a:xfrm>
          <a:prstGeom prst="roundRect">
            <a:avLst>
              <a:gd name="adj" fmla="val 3500"/>
            </a:avLst>
          </a:prstGeom>
          <a:solidFill>
            <a:srgbClr val="F4F8FC"/>
          </a:solidFill>
          <a:ln w="12700">
            <a:solidFill>
              <a:srgbClr val="C8D8EC"/>
            </a:solidFill>
            <a:prstDash val="solid"/>
          </a:ln>
        </p:spPr>
        <p:txBody>
          <a:bodyPr wrap="square" lIns="91440" tIns="45720" rIns="91440" bIns="45720" rtlCol="0" anchor="ctr"/>
          <a:lstStyle/>
          <a:p>
            <a:endParaRPr lang="en-GB" dirty="0"/>
          </a:p>
        </p:txBody>
      </p:sp>
      <p:sp>
        <p:nvSpPr>
          <p:cNvPr id="103" name="Shape 103"/>
          <p:cNvSpPr/>
          <p:nvPr/>
        </p:nvSpPr>
        <p:spPr>
          <a:xfrm>
            <a:off x="2052365" y="2140000"/>
            <a:ext cx="520000" cy="520000"/>
          </a:xfrm>
          <a:prstGeom prst="ellipse">
            <a:avLst/>
          </a:prstGeom>
          <a:solidFill>
            <a:srgbClr val="12315B"/>
          </a:solidFill>
          <a:ln>
            <a:noFill/>
          </a:ln>
        </p:spPr>
        <p:txBody>
          <a:bodyPr wrap="square" lIns="0" tIns="0" rIns="0" bIns="0" rtlCol="0" anchor="ctr"/>
          <a:lstStyle/>
          <a:p>
            <a:pPr marL="0" indent="0" algn="ctr">
              <a:lnSpc>
                <a:spcPct val="95000"/>
              </a:lnSpc>
              <a:buNone/>
            </a:pPr>
            <a:r>
              <a:rPr lang="en-GB" sz="1800" b="1" dirty="0">
                <a:solidFill>
                  <a:srgbClr val="FFFFFF"/>
                </a:solidFill>
                <a:latin typeface="Calibri" pitchFamily="34" charset="0"/>
                <a:ea typeface="Calibri" pitchFamily="34" charset="-122"/>
                <a:cs typeface="Calibri" pitchFamily="34" charset="-120"/>
              </a:rPr>
              <a:t>1</a:t>
            </a:r>
            <a:endParaRPr lang="en-GB" sz="1800" dirty="0"/>
          </a:p>
        </p:txBody>
      </p:sp>
      <p:sp>
        <p:nvSpPr>
          <p:cNvPr id="104" name="Text 104"/>
          <p:cNvSpPr txBox="1"/>
          <p:nvPr/>
        </p:nvSpPr>
        <p:spPr>
          <a:xfrm>
            <a:off x="698640" y="2750000"/>
            <a:ext cx="3227450" cy="380000"/>
          </a:xfrm>
          <a:prstGeom prst="rect">
            <a:avLst/>
          </a:prstGeom>
          <a:noFill/>
          <a:ln/>
        </p:spPr>
        <p:txBody>
          <a:bodyPr wrap="square" lIns="0" tIns="0" rIns="0" bIns="0" rtlCol="0" anchor="t"/>
          <a:lstStyle/>
          <a:p>
            <a:pPr marL="0" indent="0" algn="ctr">
              <a:lnSpc>
                <a:spcPct val="95000"/>
              </a:lnSpc>
              <a:buNone/>
            </a:pPr>
            <a:r>
              <a:rPr lang="en-GB" sz="1800" b="1" dirty="0">
                <a:solidFill>
                  <a:srgbClr val="12315B"/>
                </a:solidFill>
                <a:latin typeface="Calibri" pitchFamily="34" charset="0"/>
                <a:ea typeface="Calibri" pitchFamily="34" charset="-122"/>
                <a:cs typeface="Calibri" pitchFamily="34" charset="-120"/>
              </a:rPr>
              <a:t>Early detection</a:t>
            </a:r>
            <a:endParaRPr lang="en-GB" sz="1800" dirty="0"/>
          </a:p>
        </p:txBody>
      </p:sp>
      <p:sp>
        <p:nvSpPr>
          <p:cNvPr id="105" name="Text 105"/>
          <p:cNvSpPr txBox="1"/>
          <p:nvPr/>
        </p:nvSpPr>
        <p:spPr>
          <a:xfrm>
            <a:off x="698640" y="3160000"/>
            <a:ext cx="3227450" cy="560000"/>
          </a:xfrm>
          <a:prstGeom prst="rect">
            <a:avLst/>
          </a:prstGeom>
          <a:noFill/>
          <a:ln/>
        </p:spPr>
        <p:txBody>
          <a:bodyPr wrap="square" lIns="0" tIns="0" rIns="0" bIns="0" rtlCol="0" anchor="t"/>
          <a:lstStyle/>
          <a:p>
            <a:pPr marL="0" indent="0" algn="ctr">
              <a:lnSpc>
                <a:spcPct val="95000"/>
              </a:lnSpc>
              <a:buNone/>
            </a:pPr>
            <a:r>
              <a:rPr lang="en-GB" sz="3200" b="1" dirty="0">
                <a:solidFill>
                  <a:srgbClr val="2E6DB4"/>
                </a:solidFill>
                <a:latin typeface="Calibri" pitchFamily="34" charset="0"/>
                <a:ea typeface="Calibri" pitchFamily="34" charset="-122"/>
                <a:cs typeface="Calibri" pitchFamily="34" charset="-120"/>
              </a:rPr>
              <a:t>60% or more</a:t>
            </a:r>
            <a:endParaRPr lang="en-GB" sz="3200" dirty="0"/>
          </a:p>
        </p:txBody>
      </p:sp>
      <p:sp>
        <p:nvSpPr>
          <p:cNvPr id="106" name="Text 106"/>
          <p:cNvSpPr txBox="1"/>
          <p:nvPr/>
        </p:nvSpPr>
        <p:spPr>
          <a:xfrm>
            <a:off x="698640" y="3790000"/>
            <a:ext cx="3227450" cy="1050000"/>
          </a:xfrm>
          <a:prstGeom prst="rect">
            <a:avLst/>
          </a:prstGeom>
          <a:noFill/>
          <a:ln/>
        </p:spPr>
        <p:txBody>
          <a:bodyPr wrap="square" lIns="0" tIns="0" rIns="0" bIns="0" rtlCol="0" anchor="t"/>
          <a:lstStyle/>
          <a:p>
            <a:pPr marL="0" indent="0" algn="ctr">
              <a:lnSpc>
                <a:spcPct val="95000"/>
              </a:lnSpc>
              <a:buNone/>
            </a:pPr>
            <a:r>
              <a:rPr lang="en-GB" sz="1800" dirty="0">
                <a:solidFill>
                  <a:srgbClr val="1F3A63"/>
                </a:solidFill>
                <a:latin typeface="Calibri" pitchFamily="34" charset="0"/>
                <a:ea typeface="Calibri" pitchFamily="34" charset="-122"/>
                <a:cs typeface="Calibri" pitchFamily="34" charset="-120"/>
              </a:rPr>
              <a:t>of invasive breast cancers diagnosed at stage I or II</a:t>
            </a:r>
            <a:endParaRPr lang="en-GB" sz="1800" dirty="0"/>
          </a:p>
        </p:txBody>
      </p:sp>
      <p:sp>
        <p:nvSpPr>
          <p:cNvPr id="107" name="Shape 107"/>
          <p:cNvSpPr/>
          <p:nvPr/>
        </p:nvSpPr>
        <p:spPr>
          <a:xfrm>
            <a:off x="4332122" y="1990000"/>
            <a:ext cx="3527450" cy="2950000"/>
          </a:xfrm>
          <a:prstGeom prst="roundRect">
            <a:avLst>
              <a:gd name="adj" fmla="val 3500"/>
            </a:avLst>
          </a:prstGeom>
          <a:solidFill>
            <a:srgbClr val="F4F8FC"/>
          </a:solidFill>
          <a:ln w="12700">
            <a:solidFill>
              <a:srgbClr val="C8D8EC"/>
            </a:solidFill>
            <a:prstDash val="solid"/>
          </a:ln>
        </p:spPr>
        <p:txBody>
          <a:bodyPr wrap="square" lIns="91440" tIns="45720" rIns="91440" bIns="45720" rtlCol="0" anchor="ctr"/>
          <a:lstStyle/>
          <a:p>
            <a:endParaRPr lang="en-GB" dirty="0"/>
          </a:p>
        </p:txBody>
      </p:sp>
      <p:sp>
        <p:nvSpPr>
          <p:cNvPr id="108" name="Shape 108"/>
          <p:cNvSpPr/>
          <p:nvPr/>
        </p:nvSpPr>
        <p:spPr>
          <a:xfrm>
            <a:off x="5835847" y="2140000"/>
            <a:ext cx="520000" cy="520000"/>
          </a:xfrm>
          <a:prstGeom prst="ellipse">
            <a:avLst/>
          </a:prstGeom>
          <a:solidFill>
            <a:srgbClr val="12315B"/>
          </a:solidFill>
          <a:ln>
            <a:noFill/>
          </a:ln>
        </p:spPr>
        <p:txBody>
          <a:bodyPr wrap="square" lIns="0" tIns="0" rIns="0" bIns="0" rtlCol="0" anchor="ctr"/>
          <a:lstStyle/>
          <a:p>
            <a:pPr marL="0" indent="0" algn="ctr">
              <a:lnSpc>
                <a:spcPct val="95000"/>
              </a:lnSpc>
              <a:buNone/>
            </a:pPr>
            <a:r>
              <a:rPr lang="en-GB" sz="1800" b="1" dirty="0">
                <a:solidFill>
                  <a:srgbClr val="FFFFFF"/>
                </a:solidFill>
                <a:latin typeface="Calibri" pitchFamily="34" charset="0"/>
                <a:ea typeface="Calibri" pitchFamily="34" charset="-122"/>
                <a:cs typeface="Calibri" pitchFamily="34" charset="-120"/>
              </a:rPr>
              <a:t>2</a:t>
            </a:r>
            <a:endParaRPr lang="en-GB" sz="1800" dirty="0"/>
          </a:p>
        </p:txBody>
      </p:sp>
      <p:sp>
        <p:nvSpPr>
          <p:cNvPr id="109" name="Text 109"/>
          <p:cNvSpPr txBox="1"/>
          <p:nvPr/>
        </p:nvSpPr>
        <p:spPr>
          <a:xfrm>
            <a:off x="4482122" y="2750000"/>
            <a:ext cx="3227450" cy="380000"/>
          </a:xfrm>
          <a:prstGeom prst="rect">
            <a:avLst/>
          </a:prstGeom>
          <a:noFill/>
          <a:ln/>
        </p:spPr>
        <p:txBody>
          <a:bodyPr wrap="square" lIns="0" tIns="0" rIns="0" bIns="0" rtlCol="0" anchor="t"/>
          <a:lstStyle/>
          <a:p>
            <a:pPr marL="0" indent="0" algn="ctr">
              <a:lnSpc>
                <a:spcPct val="95000"/>
              </a:lnSpc>
              <a:buNone/>
            </a:pPr>
            <a:r>
              <a:rPr lang="en-GB" sz="1800" b="1" dirty="0">
                <a:solidFill>
                  <a:srgbClr val="12315B"/>
                </a:solidFill>
                <a:latin typeface="Calibri" pitchFamily="34" charset="0"/>
                <a:ea typeface="Calibri" pitchFamily="34" charset="-122"/>
                <a:cs typeface="Calibri" pitchFamily="34" charset="-120"/>
              </a:rPr>
              <a:t>Timely diagnosis</a:t>
            </a:r>
            <a:endParaRPr lang="en-GB" sz="1800" dirty="0"/>
          </a:p>
        </p:txBody>
      </p:sp>
      <p:sp>
        <p:nvSpPr>
          <p:cNvPr id="110" name="Text 110"/>
          <p:cNvSpPr txBox="1"/>
          <p:nvPr/>
        </p:nvSpPr>
        <p:spPr>
          <a:xfrm>
            <a:off x="4482122" y="3160000"/>
            <a:ext cx="3227450" cy="560000"/>
          </a:xfrm>
          <a:prstGeom prst="rect">
            <a:avLst/>
          </a:prstGeom>
          <a:noFill/>
          <a:ln/>
        </p:spPr>
        <p:txBody>
          <a:bodyPr wrap="square" lIns="0" tIns="0" rIns="0" bIns="0" rtlCol="0" anchor="t"/>
          <a:lstStyle/>
          <a:p>
            <a:pPr marL="0" indent="0" algn="ctr">
              <a:lnSpc>
                <a:spcPct val="95000"/>
              </a:lnSpc>
              <a:buNone/>
            </a:pPr>
            <a:r>
              <a:rPr lang="en-GB" sz="3200" b="1" dirty="0">
                <a:solidFill>
                  <a:srgbClr val="2E6DB4"/>
                </a:solidFill>
                <a:latin typeface="Calibri" pitchFamily="34" charset="0"/>
                <a:ea typeface="Calibri" pitchFamily="34" charset="-122"/>
                <a:cs typeface="Calibri" pitchFamily="34" charset="-120"/>
              </a:rPr>
              <a:t>60 days or less</a:t>
            </a:r>
            <a:endParaRPr lang="en-GB" sz="3200" dirty="0"/>
          </a:p>
        </p:txBody>
      </p:sp>
      <p:sp>
        <p:nvSpPr>
          <p:cNvPr id="111" name="Text 111"/>
          <p:cNvSpPr txBox="1"/>
          <p:nvPr/>
        </p:nvSpPr>
        <p:spPr>
          <a:xfrm>
            <a:off x="4482122" y="3790000"/>
            <a:ext cx="3227450" cy="1050000"/>
          </a:xfrm>
          <a:prstGeom prst="rect">
            <a:avLst/>
          </a:prstGeom>
          <a:noFill/>
          <a:ln/>
        </p:spPr>
        <p:txBody>
          <a:bodyPr wrap="square" lIns="0" tIns="0" rIns="0" bIns="0" rtlCol="0" anchor="t"/>
          <a:lstStyle/>
          <a:p>
            <a:pPr marL="0" indent="0" algn="ctr">
              <a:lnSpc>
                <a:spcPct val="95000"/>
              </a:lnSpc>
              <a:buNone/>
            </a:pPr>
            <a:r>
              <a:rPr lang="en-GB" sz="1800" dirty="0">
                <a:solidFill>
                  <a:srgbClr val="1F3A63"/>
                </a:solidFill>
                <a:latin typeface="Calibri" pitchFamily="34" charset="0"/>
                <a:ea typeface="Calibri" pitchFamily="34" charset="-122"/>
                <a:cs typeface="Calibri" pitchFamily="34" charset="-120"/>
              </a:rPr>
              <a:t>from first presentation to diagnosis: assessment, imaging, tissue sampling and pathology</a:t>
            </a:r>
            <a:endParaRPr lang="en-GB" sz="1800" dirty="0"/>
          </a:p>
        </p:txBody>
      </p:sp>
      <p:sp>
        <p:nvSpPr>
          <p:cNvPr id="112" name="Shape 112"/>
          <p:cNvSpPr/>
          <p:nvPr/>
        </p:nvSpPr>
        <p:spPr>
          <a:xfrm>
            <a:off x="8115604" y="1990000"/>
            <a:ext cx="3527450" cy="2950000"/>
          </a:xfrm>
          <a:prstGeom prst="roundRect">
            <a:avLst>
              <a:gd name="adj" fmla="val 3500"/>
            </a:avLst>
          </a:prstGeom>
          <a:solidFill>
            <a:srgbClr val="F4F8FC"/>
          </a:solidFill>
          <a:ln w="12700">
            <a:solidFill>
              <a:srgbClr val="C8D8EC"/>
            </a:solidFill>
            <a:prstDash val="solid"/>
          </a:ln>
        </p:spPr>
        <p:txBody>
          <a:bodyPr wrap="square" lIns="91440" tIns="45720" rIns="91440" bIns="45720" rtlCol="0" anchor="ctr"/>
          <a:lstStyle/>
          <a:p>
            <a:endParaRPr lang="en-GB" dirty="0"/>
          </a:p>
        </p:txBody>
      </p:sp>
      <p:sp>
        <p:nvSpPr>
          <p:cNvPr id="113" name="Shape 113"/>
          <p:cNvSpPr/>
          <p:nvPr/>
        </p:nvSpPr>
        <p:spPr>
          <a:xfrm>
            <a:off x="9619329" y="2140000"/>
            <a:ext cx="520000" cy="520000"/>
          </a:xfrm>
          <a:prstGeom prst="ellipse">
            <a:avLst/>
          </a:prstGeom>
          <a:solidFill>
            <a:srgbClr val="12315B"/>
          </a:solidFill>
          <a:ln>
            <a:noFill/>
          </a:ln>
        </p:spPr>
        <p:txBody>
          <a:bodyPr wrap="square" lIns="0" tIns="0" rIns="0" bIns="0" rtlCol="0" anchor="ctr"/>
          <a:lstStyle/>
          <a:p>
            <a:pPr marL="0" indent="0" algn="ctr">
              <a:lnSpc>
                <a:spcPct val="95000"/>
              </a:lnSpc>
              <a:buNone/>
            </a:pPr>
            <a:r>
              <a:rPr lang="en-GB" sz="1800" b="1" dirty="0">
                <a:solidFill>
                  <a:srgbClr val="FFFFFF"/>
                </a:solidFill>
                <a:latin typeface="Calibri" pitchFamily="34" charset="0"/>
                <a:ea typeface="Calibri" pitchFamily="34" charset="-122"/>
                <a:cs typeface="Calibri" pitchFamily="34" charset="-120"/>
              </a:rPr>
              <a:t>3</a:t>
            </a:r>
            <a:endParaRPr lang="en-GB" sz="1800" dirty="0"/>
          </a:p>
        </p:txBody>
      </p:sp>
      <p:sp>
        <p:nvSpPr>
          <p:cNvPr id="114" name="Text 114"/>
          <p:cNvSpPr txBox="1"/>
          <p:nvPr/>
        </p:nvSpPr>
        <p:spPr>
          <a:xfrm>
            <a:off x="8265604" y="2750000"/>
            <a:ext cx="3227450" cy="380000"/>
          </a:xfrm>
          <a:prstGeom prst="rect">
            <a:avLst/>
          </a:prstGeom>
          <a:noFill/>
          <a:ln/>
        </p:spPr>
        <p:txBody>
          <a:bodyPr wrap="square" lIns="0" tIns="0" rIns="0" bIns="0" rtlCol="0" anchor="t"/>
          <a:lstStyle/>
          <a:p>
            <a:pPr marL="0" indent="0" algn="ctr">
              <a:lnSpc>
                <a:spcPct val="95000"/>
              </a:lnSpc>
              <a:buNone/>
            </a:pPr>
            <a:r>
              <a:rPr lang="en-GB" sz="1800" b="1" dirty="0">
                <a:solidFill>
                  <a:srgbClr val="12315B"/>
                </a:solidFill>
                <a:latin typeface="Calibri" pitchFamily="34" charset="0"/>
                <a:ea typeface="Calibri" pitchFamily="34" charset="-122"/>
                <a:cs typeface="Calibri" pitchFamily="34" charset="-120"/>
              </a:rPr>
              <a:t>Comprehensive treatment</a:t>
            </a:r>
            <a:endParaRPr lang="en-GB" sz="1800" dirty="0"/>
          </a:p>
        </p:txBody>
      </p:sp>
      <p:sp>
        <p:nvSpPr>
          <p:cNvPr id="115" name="Text 115"/>
          <p:cNvSpPr txBox="1"/>
          <p:nvPr/>
        </p:nvSpPr>
        <p:spPr>
          <a:xfrm>
            <a:off x="8265604" y="3160000"/>
            <a:ext cx="3227450" cy="560000"/>
          </a:xfrm>
          <a:prstGeom prst="rect">
            <a:avLst/>
          </a:prstGeom>
          <a:noFill/>
          <a:ln/>
        </p:spPr>
        <p:txBody>
          <a:bodyPr wrap="square" lIns="0" tIns="0" rIns="0" bIns="0" rtlCol="0" anchor="t"/>
          <a:lstStyle/>
          <a:p>
            <a:pPr marL="0" indent="0" algn="ctr">
              <a:lnSpc>
                <a:spcPct val="95000"/>
              </a:lnSpc>
              <a:buNone/>
            </a:pPr>
            <a:r>
              <a:rPr lang="en-GB" sz="3200" b="1" dirty="0">
                <a:solidFill>
                  <a:srgbClr val="2E6DB4"/>
                </a:solidFill>
                <a:latin typeface="Calibri" pitchFamily="34" charset="0"/>
                <a:ea typeface="Calibri" pitchFamily="34" charset="-122"/>
                <a:cs typeface="Calibri" pitchFamily="34" charset="-120"/>
              </a:rPr>
              <a:t>80% or more</a:t>
            </a:r>
            <a:endParaRPr lang="en-GB" sz="3200" dirty="0"/>
          </a:p>
        </p:txBody>
      </p:sp>
      <p:sp>
        <p:nvSpPr>
          <p:cNvPr id="116" name="Text 116"/>
          <p:cNvSpPr txBox="1"/>
          <p:nvPr/>
        </p:nvSpPr>
        <p:spPr>
          <a:xfrm>
            <a:off x="8265604" y="3790000"/>
            <a:ext cx="3227450" cy="1050000"/>
          </a:xfrm>
          <a:prstGeom prst="rect">
            <a:avLst/>
          </a:prstGeom>
          <a:noFill/>
          <a:ln/>
        </p:spPr>
        <p:txBody>
          <a:bodyPr wrap="square" lIns="0" tIns="0" rIns="0" bIns="0" rtlCol="0" anchor="t"/>
          <a:lstStyle/>
          <a:p>
            <a:pPr marL="0" indent="0" algn="ctr">
              <a:lnSpc>
                <a:spcPct val="95000"/>
              </a:lnSpc>
              <a:buNone/>
            </a:pPr>
            <a:r>
              <a:rPr lang="en-GB" sz="1800" dirty="0">
                <a:solidFill>
                  <a:srgbClr val="1F3A63"/>
                </a:solidFill>
                <a:latin typeface="Calibri" pitchFamily="34" charset="0"/>
                <a:ea typeface="Calibri" pitchFamily="34" charset="-122"/>
                <a:cs typeface="Calibri" pitchFamily="34" charset="-120"/>
              </a:rPr>
              <a:t>of patients complete their recommended multimodality treatment</a:t>
            </a:r>
            <a:endParaRPr lang="en-GB" sz="1800" dirty="0"/>
          </a:p>
        </p:txBody>
      </p:sp>
      <p:sp>
        <p:nvSpPr>
          <p:cNvPr id="117" name="Shape 117"/>
          <p:cNvSpPr/>
          <p:nvPr/>
        </p:nvSpPr>
        <p:spPr>
          <a:xfrm>
            <a:off x="548640" y="5090000"/>
            <a:ext cx="11094415" cy="1150000"/>
          </a:xfrm>
          <a:prstGeom prst="roundRect">
            <a:avLst>
              <a:gd name="adj" fmla="val 6000"/>
            </a:avLst>
          </a:prstGeom>
          <a:solidFill>
            <a:srgbClr val="F4F8FC"/>
          </a:solidFill>
          <a:ln w="12700">
            <a:solidFill>
              <a:srgbClr val="C8D8EC"/>
            </a:solidFill>
            <a:prstDash val="solid"/>
          </a:ln>
        </p:spPr>
        <p:txBody>
          <a:bodyPr wrap="square" lIns="91440" tIns="45720" rIns="91440" bIns="45720" rtlCol="0" anchor="ctr"/>
          <a:lstStyle/>
          <a:p>
            <a:endParaRPr lang="en-GB" dirty="0"/>
          </a:p>
        </p:txBody>
      </p:sp>
      <p:sp>
        <p:nvSpPr>
          <p:cNvPr id="119" name="Text 119"/>
          <p:cNvSpPr txBox="1"/>
          <p:nvPr/>
        </p:nvSpPr>
        <p:spPr>
          <a:xfrm>
            <a:off x="713232" y="5140000"/>
            <a:ext cx="10765231" cy="1050000"/>
          </a:xfrm>
          <a:prstGeom prst="rect">
            <a:avLst/>
          </a:prstGeom>
          <a:noFill/>
          <a:ln/>
        </p:spPr>
        <p:txBody>
          <a:bodyPr wrap="square" lIns="0" tIns="0" rIns="0" bIns="0" rtlCol="0" anchor="ctr"/>
          <a:lstStyle/>
          <a:p>
            <a:pPr marL="0" indent="0" algn="ctr">
              <a:lnSpc>
                <a:spcPct val="95000"/>
              </a:lnSpc>
              <a:spcAft>
                <a:spcPts val="400"/>
              </a:spcAft>
              <a:buNone/>
            </a:pPr>
            <a:r>
              <a:rPr lang="en-GB" sz="1800" b="1" dirty="0">
                <a:solidFill>
                  <a:srgbClr val="12315B"/>
                </a:solidFill>
                <a:latin typeface="Calibri" pitchFamily="34" charset="0"/>
                <a:ea typeface="Calibri" pitchFamily="34" charset="-122"/>
                <a:cs typeface="Calibri" pitchFamily="34" charset="-120"/>
              </a:rPr>
              <a:t>Early detection  →  Timely diagnosis  →  Complete treatment  →  Better survival</a:t>
            </a:r>
            <a:endParaRPr lang="en-GB" sz="1800" dirty="0"/>
          </a:p>
          <a:p>
            <a:pPr marL="0" indent="0" algn="ctr">
              <a:lnSpc>
                <a:spcPct val="95000"/>
              </a:lnSpc>
              <a:buNone/>
            </a:pPr>
            <a:r>
              <a:rPr lang="en-GB" sz="1800" dirty="0">
                <a:solidFill>
                  <a:srgbClr val="0B1F3F"/>
                </a:solidFill>
                <a:latin typeface="Calibri" pitchFamily="34" charset="0"/>
                <a:ea typeface="Calibri" pitchFamily="34" charset="-122"/>
                <a:cs typeface="Calibri" pitchFamily="34" charset="-120"/>
              </a:rPr>
              <a:t>Your part: every breast change you recognise, examine and refer without delay moves Rwanda closer to the first two targets.</a:t>
            </a:r>
            <a:endParaRPr lang="en-GB" sz="1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41958AD1-72A3-DBA4-44F8-E2492485E43D}"/>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408C003-816E-32ED-1F39-7940E49260F3}"/>
              </a:ext>
            </a:extLst>
          </p:cNvPr>
          <p:cNvSpPr txBox="1"/>
          <p:nvPr/>
        </p:nvSpPr>
        <p:spPr>
          <a:xfrm>
            <a:off x="548640" y="274320"/>
            <a:ext cx="11094415" cy="256032"/>
          </a:xfrm>
          <a:prstGeom prst="rect">
            <a:avLst/>
          </a:prstGeom>
          <a:noFill/>
          <a:ln/>
        </p:spPr>
        <p:txBody>
          <a:bodyPr wrap="square" lIns="0" tIns="0" rIns="0" bIns="0" rtlCol="0" anchor="ctr"/>
          <a:lstStyle/>
          <a:p>
            <a:pPr marL="0" indent="0">
              <a:buNone/>
            </a:pPr>
            <a:r>
              <a:rPr lang="en-GB" sz="1100" b="1" kern="0" spc="100" noProof="0" dirty="0">
                <a:solidFill>
                  <a:srgbClr val="5B7699"/>
                </a:solidFill>
                <a:latin typeface="Calibri" pitchFamily="34" charset="0"/>
                <a:ea typeface="Calibri" pitchFamily="34" charset="-122"/>
                <a:cs typeface="Calibri" pitchFamily="34" charset="-120"/>
              </a:rPr>
              <a:t>S E S S I O N   1</a:t>
            </a:r>
            <a:endParaRPr lang="en-GB" sz="1100" noProof="0" dirty="0"/>
          </a:p>
        </p:txBody>
      </p:sp>
      <p:sp>
        <p:nvSpPr>
          <p:cNvPr id="4" name="Text 2">
            <a:extLst>
              <a:ext uri="{FF2B5EF4-FFF2-40B4-BE49-F238E27FC236}">
                <a16:creationId xmlns:a16="http://schemas.microsoft.com/office/drawing/2014/main" id="{95DBC135-5BE0-DE4D-12AA-5356E234A070}"/>
              </a:ext>
            </a:extLst>
          </p:cNvPr>
          <p:cNvSpPr txBox="1"/>
          <p:nvPr/>
        </p:nvSpPr>
        <p:spPr>
          <a:xfrm>
            <a:off x="548640" y="566928"/>
            <a:ext cx="11094415" cy="566928"/>
          </a:xfrm>
          <a:prstGeom prst="rect">
            <a:avLst/>
          </a:prstGeom>
          <a:noFill/>
          <a:ln/>
        </p:spPr>
        <p:txBody>
          <a:bodyPr wrap="square" lIns="0" tIns="0" rIns="0" bIns="0" rtlCol="0" anchor="t"/>
          <a:lstStyle/>
          <a:p>
            <a:pPr marL="0" indent="0">
              <a:buNone/>
            </a:pPr>
            <a:r>
              <a:rPr lang="en-GB" sz="3000" b="1" noProof="0" dirty="0">
                <a:solidFill>
                  <a:srgbClr val="12315B"/>
                </a:solidFill>
                <a:latin typeface="Calibri" pitchFamily="34" charset="0"/>
                <a:ea typeface="Calibri" pitchFamily="34" charset="-122"/>
                <a:cs typeface="Calibri" pitchFamily="34" charset="-120"/>
              </a:rPr>
              <a:t>Diagnosed too late</a:t>
            </a:r>
            <a:endParaRPr lang="en-GB" sz="3000" noProof="0" dirty="0"/>
          </a:p>
        </p:txBody>
      </p:sp>
      <p:sp>
        <p:nvSpPr>
          <p:cNvPr id="17" name="Shape 15">
            <a:extLst>
              <a:ext uri="{FF2B5EF4-FFF2-40B4-BE49-F238E27FC236}">
                <a16:creationId xmlns:a16="http://schemas.microsoft.com/office/drawing/2014/main" id="{63F4B8ED-9814-B49D-A3F5-C51D1E412C00}"/>
              </a:ext>
            </a:extLst>
          </p:cNvPr>
          <p:cNvSpPr/>
          <p:nvPr/>
        </p:nvSpPr>
        <p:spPr>
          <a:xfrm>
            <a:off x="548639" y="1120392"/>
            <a:ext cx="11094415" cy="5463288"/>
          </a:xfrm>
          <a:prstGeom prst="roundRect">
            <a:avLst>
              <a:gd name="adj" fmla="val 2500"/>
            </a:avLst>
          </a:prstGeom>
          <a:solidFill>
            <a:srgbClr val="F4F8FC"/>
          </a:solidFill>
          <a:ln w="12700">
            <a:solidFill>
              <a:srgbClr val="C8D8EC"/>
            </a:solidFill>
            <a:prstDash val="solid"/>
          </a:ln>
        </p:spPr>
        <p:txBody>
          <a:bodyPr/>
          <a:lstStyle/>
          <a:p>
            <a:endParaRPr lang="en-GB" noProof="0" dirty="0"/>
          </a:p>
        </p:txBody>
      </p:sp>
      <p:sp>
        <p:nvSpPr>
          <p:cNvPr id="18" name="Text 16">
            <a:extLst>
              <a:ext uri="{FF2B5EF4-FFF2-40B4-BE49-F238E27FC236}">
                <a16:creationId xmlns:a16="http://schemas.microsoft.com/office/drawing/2014/main" id="{CDAA897E-F6B6-4352-B44A-E1AC199C514B}"/>
              </a:ext>
            </a:extLst>
          </p:cNvPr>
          <p:cNvSpPr txBox="1"/>
          <p:nvPr/>
        </p:nvSpPr>
        <p:spPr>
          <a:xfrm>
            <a:off x="713231" y="1246990"/>
            <a:ext cx="4867761" cy="338328"/>
          </a:xfrm>
          <a:prstGeom prst="rect">
            <a:avLst/>
          </a:prstGeom>
          <a:noFill/>
          <a:ln/>
        </p:spPr>
        <p:txBody>
          <a:bodyPr wrap="square" lIns="0" tIns="0" rIns="0" bIns="0" rtlCol="0" anchor="t"/>
          <a:lstStyle/>
          <a:p>
            <a:pPr marL="0" indent="0">
              <a:buNone/>
            </a:pPr>
            <a:r>
              <a:rPr lang="en-GB" sz="2000" b="1" noProof="0" dirty="0">
                <a:solidFill>
                  <a:srgbClr val="12315B"/>
                </a:solidFill>
                <a:latin typeface="Calibri" pitchFamily="34" charset="0"/>
                <a:ea typeface="Calibri" pitchFamily="34" charset="-122"/>
                <a:cs typeface="Calibri" pitchFamily="34" charset="-120"/>
              </a:rPr>
              <a:t>Where the delay happens</a:t>
            </a:r>
            <a:endParaRPr lang="en-GB" sz="2000" noProof="0" dirty="0"/>
          </a:p>
        </p:txBody>
      </p:sp>
      <p:sp>
        <p:nvSpPr>
          <p:cNvPr id="19" name="Text 17">
            <a:extLst>
              <a:ext uri="{FF2B5EF4-FFF2-40B4-BE49-F238E27FC236}">
                <a16:creationId xmlns:a16="http://schemas.microsoft.com/office/drawing/2014/main" id="{15E32166-4635-D20F-5851-2D3139EC03DD}"/>
              </a:ext>
            </a:extLst>
          </p:cNvPr>
          <p:cNvSpPr txBox="1"/>
          <p:nvPr/>
        </p:nvSpPr>
        <p:spPr>
          <a:xfrm>
            <a:off x="650168" y="1585319"/>
            <a:ext cx="10929822" cy="553464"/>
          </a:xfrm>
          <a:prstGeom prst="rect">
            <a:avLst/>
          </a:prstGeom>
          <a:noFill/>
          <a:ln/>
        </p:spPr>
        <p:txBody>
          <a:bodyPr wrap="square" lIns="0" tIns="0" rIns="0" bIns="0" rtlCol="0" anchor="t"/>
          <a:lstStyle/>
          <a:p>
            <a:pPr marL="0" indent="0">
              <a:lnSpc>
                <a:spcPct val="90000"/>
              </a:lnSpc>
              <a:buNone/>
            </a:pPr>
            <a:r>
              <a:rPr lang="en-GB" noProof="0" dirty="0">
                <a:solidFill>
                  <a:srgbClr val="1F3A63"/>
                </a:solidFill>
                <a:latin typeface="Calibri" pitchFamily="34" charset="0"/>
                <a:ea typeface="Calibri" pitchFamily="34" charset="-122"/>
                <a:cs typeface="Calibri" pitchFamily="34" charset="-120"/>
              </a:rPr>
              <a:t>Delay accumulates between noticing a change, seeking care, being assessed, reaching biopsy, and starting treatment. Every one of those steps is </a:t>
            </a:r>
            <a:r>
              <a:rPr lang="en-GB" noProof="0" dirty="0" err="1">
                <a:solidFill>
                  <a:srgbClr val="1F3A63"/>
                </a:solidFill>
                <a:latin typeface="Calibri" pitchFamily="34" charset="0"/>
                <a:ea typeface="Calibri" pitchFamily="34" charset="-122"/>
                <a:cs typeface="Calibri" pitchFamily="34" charset="-120"/>
              </a:rPr>
              <a:t>shortenable</a:t>
            </a:r>
            <a:r>
              <a:rPr lang="en-GB" noProof="0" dirty="0">
                <a:solidFill>
                  <a:srgbClr val="1F3A63"/>
                </a:solidFill>
                <a:latin typeface="Calibri" pitchFamily="34" charset="0"/>
                <a:ea typeface="Calibri" pitchFamily="34" charset="-122"/>
                <a:cs typeface="Calibri" pitchFamily="34" charset="-120"/>
              </a:rPr>
              <a:t>.</a:t>
            </a:r>
            <a:endParaRPr lang="en-GB" noProof="0" dirty="0"/>
          </a:p>
        </p:txBody>
      </p:sp>
      <p:pic>
        <p:nvPicPr>
          <p:cNvPr id="25" name="Imagen 24">
            <a:extLst>
              <a:ext uri="{FF2B5EF4-FFF2-40B4-BE49-F238E27FC236}">
                <a16:creationId xmlns:a16="http://schemas.microsoft.com/office/drawing/2014/main" id="{CF7BFC84-1F4D-B775-916F-F8AF637886CB}"/>
              </a:ext>
            </a:extLst>
          </p:cNvPr>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a:xfrm>
            <a:off x="2205273" y="2175358"/>
            <a:ext cx="7781453" cy="4280908"/>
          </a:xfrm>
          <a:prstGeom prst="rect">
            <a:avLst/>
          </a:prstGeom>
        </p:spPr>
      </p:pic>
    </p:spTree>
    <p:extLst>
      <p:ext uri="{BB962C8B-B14F-4D97-AF65-F5344CB8AC3E}">
        <p14:creationId xmlns:p14="http://schemas.microsoft.com/office/powerpoint/2010/main" val="85468027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7926CD58-24E5-C66D-5FCB-A48685B9F24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8DA3E165-621B-FACF-06C2-47EFCDC07D65}"/>
              </a:ext>
            </a:extLst>
          </p:cNvPr>
          <p:cNvSpPr txBox="1"/>
          <p:nvPr/>
        </p:nvSpPr>
        <p:spPr>
          <a:xfrm>
            <a:off x="548640" y="274320"/>
            <a:ext cx="11094415" cy="256032"/>
          </a:xfrm>
          <a:prstGeom prst="rect">
            <a:avLst/>
          </a:prstGeom>
          <a:noFill/>
          <a:ln/>
        </p:spPr>
        <p:txBody>
          <a:bodyPr wrap="square" lIns="0" tIns="0" rIns="0" bIns="0" rtlCol="0" anchor="ctr"/>
          <a:lstStyle/>
          <a:p>
            <a:pPr marL="0" indent="0">
              <a:buNone/>
            </a:pPr>
            <a:r>
              <a:rPr lang="en-GB" sz="1100" b="1" kern="0" spc="100" noProof="0" dirty="0">
                <a:solidFill>
                  <a:srgbClr val="5B7699"/>
                </a:solidFill>
                <a:latin typeface="Calibri" pitchFamily="34" charset="0"/>
                <a:ea typeface="Calibri" pitchFamily="34" charset="-122"/>
                <a:cs typeface="Calibri" pitchFamily="34" charset="-120"/>
              </a:rPr>
              <a:t>S E S S I O N   1</a:t>
            </a:r>
            <a:endParaRPr lang="en-GB" sz="1100" noProof="0" dirty="0"/>
          </a:p>
        </p:txBody>
      </p:sp>
      <p:sp>
        <p:nvSpPr>
          <p:cNvPr id="4" name="Text 2">
            <a:extLst>
              <a:ext uri="{FF2B5EF4-FFF2-40B4-BE49-F238E27FC236}">
                <a16:creationId xmlns:a16="http://schemas.microsoft.com/office/drawing/2014/main" id="{4D659C5F-B45E-791C-41CD-7CAB4F85807B}"/>
              </a:ext>
            </a:extLst>
          </p:cNvPr>
          <p:cNvSpPr txBox="1"/>
          <p:nvPr/>
        </p:nvSpPr>
        <p:spPr>
          <a:xfrm>
            <a:off x="548640" y="566928"/>
            <a:ext cx="11094415" cy="566928"/>
          </a:xfrm>
          <a:prstGeom prst="rect">
            <a:avLst/>
          </a:prstGeom>
          <a:noFill/>
          <a:ln/>
        </p:spPr>
        <p:txBody>
          <a:bodyPr wrap="square" lIns="0" tIns="0" rIns="0" bIns="0" rtlCol="0" anchor="t"/>
          <a:lstStyle/>
          <a:p>
            <a:pPr marL="0" indent="0">
              <a:buNone/>
            </a:pPr>
            <a:r>
              <a:rPr lang="en-GB" sz="3000" b="1" noProof="0" dirty="0">
                <a:solidFill>
                  <a:srgbClr val="12315B"/>
                </a:solidFill>
                <a:latin typeface="Calibri" pitchFamily="34" charset="0"/>
                <a:ea typeface="Calibri" pitchFamily="34" charset="-122"/>
                <a:cs typeface="Calibri" pitchFamily="34" charset="-120"/>
              </a:rPr>
              <a:t>Diagnosed too late</a:t>
            </a:r>
            <a:endParaRPr lang="en-GB" sz="3000" noProof="0" dirty="0"/>
          </a:p>
        </p:txBody>
      </p:sp>
      <p:sp>
        <p:nvSpPr>
          <p:cNvPr id="20" name="Shape 18">
            <a:extLst>
              <a:ext uri="{FF2B5EF4-FFF2-40B4-BE49-F238E27FC236}">
                <a16:creationId xmlns:a16="http://schemas.microsoft.com/office/drawing/2014/main" id="{312EEAD1-B132-BB3A-D498-8A4E827702A2}"/>
              </a:ext>
            </a:extLst>
          </p:cNvPr>
          <p:cNvSpPr/>
          <p:nvPr/>
        </p:nvSpPr>
        <p:spPr>
          <a:xfrm>
            <a:off x="548639" y="1170432"/>
            <a:ext cx="11094415" cy="5413248"/>
          </a:xfrm>
          <a:prstGeom prst="roundRect">
            <a:avLst>
              <a:gd name="adj" fmla="val 2500"/>
            </a:avLst>
          </a:prstGeom>
          <a:solidFill>
            <a:srgbClr val="F4F8FC"/>
          </a:solidFill>
          <a:ln w="12700">
            <a:solidFill>
              <a:srgbClr val="C8D8EC"/>
            </a:solidFill>
            <a:prstDash val="solid"/>
          </a:ln>
        </p:spPr>
        <p:txBody>
          <a:bodyPr/>
          <a:lstStyle/>
          <a:p>
            <a:endParaRPr lang="en-GB" noProof="0" dirty="0"/>
          </a:p>
        </p:txBody>
      </p:sp>
      <p:sp>
        <p:nvSpPr>
          <p:cNvPr id="21" name="Text 19">
            <a:extLst>
              <a:ext uri="{FF2B5EF4-FFF2-40B4-BE49-F238E27FC236}">
                <a16:creationId xmlns:a16="http://schemas.microsoft.com/office/drawing/2014/main" id="{C14EBFE5-2A5E-8F4F-A46A-C243CA2565CA}"/>
              </a:ext>
            </a:extLst>
          </p:cNvPr>
          <p:cNvSpPr txBox="1"/>
          <p:nvPr/>
        </p:nvSpPr>
        <p:spPr>
          <a:xfrm>
            <a:off x="713232" y="1261873"/>
            <a:ext cx="3198266" cy="292608"/>
          </a:xfrm>
          <a:prstGeom prst="rect">
            <a:avLst/>
          </a:prstGeom>
          <a:noFill/>
          <a:ln/>
        </p:spPr>
        <p:txBody>
          <a:bodyPr wrap="square" lIns="0" tIns="0" rIns="0" bIns="0" rtlCol="0" anchor="t"/>
          <a:lstStyle/>
          <a:p>
            <a:pPr marL="0" indent="0">
              <a:buNone/>
            </a:pPr>
            <a:r>
              <a:rPr lang="en-GB" sz="2000" b="1" noProof="0" dirty="0">
                <a:solidFill>
                  <a:srgbClr val="12315B"/>
                </a:solidFill>
                <a:latin typeface="Calibri" pitchFamily="34" charset="0"/>
                <a:ea typeface="Calibri" pitchFamily="34" charset="-122"/>
                <a:cs typeface="Calibri" pitchFamily="34" charset="-120"/>
              </a:rPr>
              <a:t>Your part in it</a:t>
            </a:r>
            <a:endParaRPr lang="en-GB" sz="2000" noProof="0" dirty="0"/>
          </a:p>
        </p:txBody>
      </p:sp>
      <p:sp>
        <p:nvSpPr>
          <p:cNvPr id="22" name="Text 20">
            <a:extLst>
              <a:ext uri="{FF2B5EF4-FFF2-40B4-BE49-F238E27FC236}">
                <a16:creationId xmlns:a16="http://schemas.microsoft.com/office/drawing/2014/main" id="{484CC843-6208-3360-EF72-E4E77A35868C}"/>
              </a:ext>
            </a:extLst>
          </p:cNvPr>
          <p:cNvSpPr txBox="1"/>
          <p:nvPr/>
        </p:nvSpPr>
        <p:spPr>
          <a:xfrm>
            <a:off x="713232" y="1600201"/>
            <a:ext cx="10929822" cy="1709928"/>
          </a:xfrm>
          <a:prstGeom prst="rect">
            <a:avLst/>
          </a:prstGeom>
          <a:noFill/>
          <a:ln/>
        </p:spPr>
        <p:txBody>
          <a:bodyPr wrap="square" lIns="0" tIns="0" rIns="0" bIns="0" rtlCol="0" anchor="t"/>
          <a:lstStyle/>
          <a:p>
            <a:pPr marL="0" indent="0">
              <a:lnSpc>
                <a:spcPct val="90000"/>
              </a:lnSpc>
              <a:buNone/>
            </a:pPr>
            <a:r>
              <a:rPr lang="en-GB" sz="1800" noProof="0" dirty="0">
                <a:solidFill>
                  <a:srgbClr val="1F3A63"/>
                </a:solidFill>
                <a:latin typeface="Calibri" pitchFamily="34" charset="0"/>
                <a:ea typeface="Calibri" pitchFamily="34" charset="-122"/>
                <a:cs typeface="Calibri" pitchFamily="34" charset="-120"/>
              </a:rPr>
              <a:t>Recognising a concerning breast change at first contact, and referring without a wait and see period, is the single largest thing you can change.</a:t>
            </a:r>
            <a:endParaRPr lang="en-GB" sz="1800" noProof="0" dirty="0"/>
          </a:p>
        </p:txBody>
      </p:sp>
      <p:grpSp>
        <p:nvGrpSpPr>
          <p:cNvPr id="3" name="Grupo 2">
            <a:extLst>
              <a:ext uri="{FF2B5EF4-FFF2-40B4-BE49-F238E27FC236}">
                <a16:creationId xmlns:a16="http://schemas.microsoft.com/office/drawing/2014/main" id="{837A9F1D-AD06-B2B1-0FF7-20170033529F}"/>
              </a:ext>
            </a:extLst>
          </p:cNvPr>
          <p:cNvGrpSpPr/>
          <p:nvPr/>
        </p:nvGrpSpPr>
        <p:grpSpPr>
          <a:xfrm>
            <a:off x="1461743" y="2517877"/>
            <a:ext cx="9127713" cy="3550737"/>
            <a:chOff x="1461743" y="2517877"/>
            <a:chExt cx="9127713" cy="3550737"/>
          </a:xfrm>
        </p:grpSpPr>
        <p:pic>
          <p:nvPicPr>
            <p:cNvPr id="24" name="Imagen 23">
              <a:extLst>
                <a:ext uri="{FF2B5EF4-FFF2-40B4-BE49-F238E27FC236}">
                  <a16:creationId xmlns:a16="http://schemas.microsoft.com/office/drawing/2014/main" id="{C82F8A26-9C59-F921-4D9A-F60274B524F8}"/>
                </a:ext>
              </a:extLst>
            </p:cNvPr>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a:xfrm>
              <a:off x="1461743" y="2517877"/>
              <a:ext cx="3938081" cy="3550737"/>
            </a:xfrm>
            <a:prstGeom prst="rect">
              <a:avLst/>
            </a:prstGeom>
          </p:spPr>
        </p:pic>
        <p:pic>
          <p:nvPicPr>
            <p:cNvPr id="26" name="Imagen 25">
              <a:extLst>
                <a:ext uri="{FF2B5EF4-FFF2-40B4-BE49-F238E27FC236}">
                  <a16:creationId xmlns:a16="http://schemas.microsoft.com/office/drawing/2014/main" id="{1FF9C9BE-FF80-8A21-47D0-EC3F6274D21D}"/>
                </a:ext>
              </a:extLst>
            </p:cNvPr>
            <p:cNvPicPr>
              <a:picLocks noChangeAspect="1"/>
            </p:cNvPicPr>
            <p:nvPr/>
          </p:nvPicPr>
          <p:blipFill>
            <a:blip r:embed="rId4" cstate="email">
              <a:extLst>
                <a:ext uri="{28A0092B-C50C-407E-A947-70E740481C1C}">
                  <a14:useLocalDpi xmlns:a14="http://schemas.microsoft.com/office/drawing/2010/main"/>
                </a:ext>
              </a:extLst>
            </a:blip>
            <a:srcRect/>
            <a:stretch>
              <a:fillRect/>
            </a:stretch>
          </p:blipFill>
          <p:spPr>
            <a:xfrm>
              <a:off x="6792178" y="2517877"/>
              <a:ext cx="3797278" cy="3550737"/>
            </a:xfrm>
            <a:prstGeom prst="rect">
              <a:avLst/>
            </a:prstGeom>
          </p:spPr>
        </p:pic>
      </p:grpSp>
    </p:spTree>
    <p:extLst>
      <p:ext uri="{BB962C8B-B14F-4D97-AF65-F5344CB8AC3E}">
        <p14:creationId xmlns:p14="http://schemas.microsoft.com/office/powerpoint/2010/main" val="172325086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73007009-7E0C-7B2A-7F06-B2412597788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5B2C9EA-E7EB-4B04-08D4-916C17766426}"/>
              </a:ext>
            </a:extLst>
          </p:cNvPr>
          <p:cNvSpPr txBox="1"/>
          <p:nvPr/>
        </p:nvSpPr>
        <p:spPr>
          <a:xfrm>
            <a:off x="548640" y="274320"/>
            <a:ext cx="11094415" cy="256032"/>
          </a:xfrm>
          <a:prstGeom prst="rect">
            <a:avLst/>
          </a:prstGeom>
          <a:noFill/>
          <a:ln/>
        </p:spPr>
        <p:txBody>
          <a:bodyPr wrap="square" lIns="0" tIns="0" rIns="0" bIns="0" rtlCol="0" anchor="ctr"/>
          <a:lstStyle/>
          <a:p>
            <a:pPr marL="0" indent="0">
              <a:buNone/>
            </a:pPr>
            <a:r>
              <a:rPr lang="en-GB" sz="1100" b="1" kern="0" spc="100" noProof="0" dirty="0">
                <a:solidFill>
                  <a:srgbClr val="5B7699"/>
                </a:solidFill>
                <a:latin typeface="Calibri" pitchFamily="34" charset="0"/>
                <a:ea typeface="Calibri" pitchFamily="34" charset="-122"/>
                <a:cs typeface="Calibri" pitchFamily="34" charset="-120"/>
              </a:rPr>
              <a:t>S E S S I O N   1</a:t>
            </a:r>
            <a:endParaRPr lang="en-GB" sz="1100" noProof="0" dirty="0"/>
          </a:p>
        </p:txBody>
      </p:sp>
      <p:sp>
        <p:nvSpPr>
          <p:cNvPr id="3" name="Text 1">
            <a:extLst>
              <a:ext uri="{FF2B5EF4-FFF2-40B4-BE49-F238E27FC236}">
                <a16:creationId xmlns:a16="http://schemas.microsoft.com/office/drawing/2014/main" id="{AC8CFDA7-DB3E-95D5-2502-7CC94102E8F9}"/>
              </a:ext>
            </a:extLst>
          </p:cNvPr>
          <p:cNvSpPr txBox="1"/>
          <p:nvPr/>
        </p:nvSpPr>
        <p:spPr>
          <a:xfrm>
            <a:off x="548640" y="6382512"/>
            <a:ext cx="11094415" cy="274320"/>
          </a:xfrm>
          <a:prstGeom prst="rect">
            <a:avLst/>
          </a:prstGeom>
          <a:noFill/>
          <a:ln/>
        </p:spPr>
        <p:txBody>
          <a:bodyPr wrap="square" lIns="0" tIns="0" rIns="0" bIns="0" rtlCol="0" anchor="ctr"/>
          <a:lstStyle/>
          <a:p>
            <a:pPr marL="0" indent="0">
              <a:buNone/>
            </a:pPr>
            <a:r>
              <a:rPr lang="en-GB" sz="1000" noProof="0" dirty="0">
                <a:solidFill>
                  <a:srgbClr val="5B7699"/>
                </a:solidFill>
                <a:latin typeface="Calibri" pitchFamily="34" charset="0"/>
                <a:ea typeface="Calibri" pitchFamily="34" charset="-122"/>
                <a:cs typeface="Calibri" pitchFamily="34" charset="-120"/>
              </a:rPr>
              <a:t>Breast Cancer  |  Frontline HCP  |  Rwanda Biomedical Centre</a:t>
            </a:r>
            <a:endParaRPr lang="en-GB" sz="1000" noProof="0" dirty="0"/>
          </a:p>
        </p:txBody>
      </p:sp>
      <p:sp>
        <p:nvSpPr>
          <p:cNvPr id="4" name="Text 2">
            <a:extLst>
              <a:ext uri="{FF2B5EF4-FFF2-40B4-BE49-F238E27FC236}">
                <a16:creationId xmlns:a16="http://schemas.microsoft.com/office/drawing/2014/main" id="{21B4E23E-513D-2202-F774-82565CB0611F}"/>
              </a:ext>
            </a:extLst>
          </p:cNvPr>
          <p:cNvSpPr txBox="1"/>
          <p:nvPr/>
        </p:nvSpPr>
        <p:spPr>
          <a:xfrm>
            <a:off x="548640" y="566928"/>
            <a:ext cx="11094415" cy="566928"/>
          </a:xfrm>
          <a:prstGeom prst="rect">
            <a:avLst/>
          </a:prstGeom>
          <a:noFill/>
          <a:ln/>
        </p:spPr>
        <p:txBody>
          <a:bodyPr wrap="square" lIns="0" tIns="0" rIns="0" bIns="0" rtlCol="0" anchor="t"/>
          <a:lstStyle/>
          <a:p>
            <a:pPr marL="0" indent="0">
              <a:buNone/>
            </a:pPr>
            <a:r>
              <a:rPr lang="en-GB" sz="3000" b="1" noProof="0" dirty="0">
                <a:solidFill>
                  <a:srgbClr val="12315B"/>
                </a:solidFill>
                <a:latin typeface="Calibri" pitchFamily="34" charset="0"/>
                <a:ea typeface="Calibri" pitchFamily="34" charset="-122"/>
                <a:cs typeface="Calibri" pitchFamily="34" charset="-120"/>
              </a:rPr>
              <a:t>Breast anatomy</a:t>
            </a:r>
            <a:endParaRPr lang="en-GB" sz="3000" noProof="0" dirty="0"/>
          </a:p>
        </p:txBody>
      </p:sp>
      <p:pic>
        <p:nvPicPr>
          <p:cNvPr id="5" name="Imagen 4">
            <a:extLst>
              <a:ext uri="{FF2B5EF4-FFF2-40B4-BE49-F238E27FC236}">
                <a16:creationId xmlns:a16="http://schemas.microsoft.com/office/drawing/2014/main" id="{782076A4-CE35-789A-1B79-2055DDE1B59F}"/>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2209647" y="1133856"/>
            <a:ext cx="7772400" cy="5164754"/>
          </a:xfrm>
          <a:prstGeom prst="rect">
            <a:avLst/>
          </a:prstGeom>
        </p:spPr>
      </p:pic>
    </p:spTree>
    <p:extLst>
      <p:ext uri="{BB962C8B-B14F-4D97-AF65-F5344CB8AC3E}">
        <p14:creationId xmlns:p14="http://schemas.microsoft.com/office/powerpoint/2010/main" val="307230006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en-GB" sz="1100" b="1" kern="0" spc="100" noProof="0" dirty="0">
                <a:solidFill>
                  <a:srgbClr val="5B7699"/>
                </a:solidFill>
                <a:latin typeface="Calibri" pitchFamily="34" charset="0"/>
                <a:ea typeface="Calibri" pitchFamily="34" charset="-122"/>
                <a:cs typeface="Calibri" pitchFamily="34" charset="-120"/>
              </a:rPr>
              <a:t>S E S S I O N   1</a:t>
            </a:r>
            <a:endParaRPr lang="en-GB"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en-GB" sz="1000" noProof="0" dirty="0">
                <a:solidFill>
                  <a:srgbClr val="5B7699"/>
                </a:solidFill>
                <a:latin typeface="Calibri" pitchFamily="34" charset="0"/>
                <a:ea typeface="Calibri" pitchFamily="34" charset="-122"/>
                <a:cs typeface="Calibri" pitchFamily="34" charset="-120"/>
              </a:rPr>
              <a:t>Breast Cancer  |  Frontline HCP  |  Rwanda Biomedical Centre</a:t>
            </a:r>
            <a:endParaRPr lang="en-GB"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en-GB" sz="3000" b="1" noProof="0" dirty="0">
                <a:solidFill>
                  <a:srgbClr val="12315B"/>
                </a:solidFill>
                <a:latin typeface="Calibri" pitchFamily="34" charset="0"/>
                <a:ea typeface="Calibri" pitchFamily="34" charset="-122"/>
                <a:cs typeface="Calibri" pitchFamily="34" charset="-120"/>
              </a:rPr>
              <a:t>Lymphatic drainage</a:t>
            </a:r>
            <a:endParaRPr lang="en-GB" sz="3000" noProof="0" dirty="0"/>
          </a:p>
        </p:txBody>
      </p:sp>
      <p:pic>
        <p:nvPicPr>
          <p:cNvPr id="27" name="Imagen 26">
            <a:extLst>
              <a:ext uri="{FF2B5EF4-FFF2-40B4-BE49-F238E27FC236}">
                <a16:creationId xmlns:a16="http://schemas.microsoft.com/office/drawing/2014/main" id="{5A477C5A-5DF2-2CEC-83BB-AFE1B0395EBB}"/>
              </a:ext>
            </a:extLst>
          </p:cNvPr>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a:xfrm>
            <a:off x="2209647" y="973667"/>
            <a:ext cx="7772400" cy="5181600"/>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en-GB" sz="1100" b="1" kern="0" spc="100" noProof="0" dirty="0">
                <a:solidFill>
                  <a:srgbClr val="5B7699"/>
                </a:solidFill>
                <a:latin typeface="Calibri" pitchFamily="34" charset="0"/>
                <a:ea typeface="Calibri" pitchFamily="34" charset="-122"/>
                <a:cs typeface="Calibri" pitchFamily="34" charset="-120"/>
              </a:rPr>
              <a:t>S E S S I O N   1</a:t>
            </a:r>
            <a:endParaRPr lang="en-GB"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en-GB" sz="1000" noProof="0" dirty="0">
                <a:solidFill>
                  <a:srgbClr val="5B7699"/>
                </a:solidFill>
                <a:latin typeface="Calibri" pitchFamily="34" charset="0"/>
                <a:ea typeface="Calibri" pitchFamily="34" charset="-122"/>
                <a:cs typeface="Calibri" pitchFamily="34" charset="-120"/>
              </a:rPr>
              <a:t>Breast Cancer  |  Frontline HCP  |  Rwanda Biomedical Centre</a:t>
            </a:r>
            <a:endParaRPr lang="en-GB"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en-GB" sz="3000" b="1" noProof="0" dirty="0">
                <a:solidFill>
                  <a:srgbClr val="12315B"/>
                </a:solidFill>
                <a:latin typeface="Calibri" pitchFamily="34" charset="0"/>
                <a:ea typeface="Calibri" pitchFamily="34" charset="-122"/>
                <a:cs typeface="Calibri" pitchFamily="34" charset="-120"/>
              </a:rPr>
              <a:t>How breast cancer develops</a:t>
            </a:r>
            <a:endParaRPr lang="en-GB" sz="3000" noProof="0" dirty="0"/>
          </a:p>
        </p:txBody>
      </p:sp>
      <p:sp>
        <p:nvSpPr>
          <p:cNvPr id="5" name="Shape 3"/>
          <p:cNvSpPr/>
          <p:nvPr/>
        </p:nvSpPr>
        <p:spPr>
          <a:xfrm>
            <a:off x="548640" y="1325880"/>
            <a:ext cx="1727149" cy="566928"/>
          </a:xfrm>
          <a:prstGeom prst="roundRect">
            <a:avLst>
              <a:gd name="adj" fmla="val 14516"/>
            </a:avLst>
          </a:prstGeom>
          <a:solidFill>
            <a:srgbClr val="12315B"/>
          </a:solidFill>
          <a:ln w="12700">
            <a:solidFill>
              <a:srgbClr val="12315B"/>
            </a:solidFill>
            <a:prstDash val="solid"/>
          </a:ln>
        </p:spPr>
        <p:txBody>
          <a:bodyPr/>
          <a:lstStyle/>
          <a:p>
            <a:endParaRPr lang="en-GB" noProof="0" dirty="0"/>
          </a:p>
        </p:txBody>
      </p:sp>
      <p:sp>
        <p:nvSpPr>
          <p:cNvPr id="6" name="Text 4"/>
          <p:cNvSpPr txBox="1"/>
          <p:nvPr/>
        </p:nvSpPr>
        <p:spPr>
          <a:xfrm>
            <a:off x="603504" y="1325880"/>
            <a:ext cx="1617421" cy="566928"/>
          </a:xfrm>
          <a:prstGeom prst="rect">
            <a:avLst/>
          </a:prstGeom>
          <a:noFill/>
          <a:ln/>
        </p:spPr>
        <p:txBody>
          <a:bodyPr wrap="square" lIns="0" tIns="0" rIns="0" bIns="0" rtlCol="0" anchor="ctr"/>
          <a:lstStyle/>
          <a:p>
            <a:pPr marL="0" indent="0" algn="ctr">
              <a:buNone/>
            </a:pPr>
            <a:r>
              <a:rPr lang="en-GB" sz="1300" b="1" noProof="0" dirty="0">
                <a:solidFill>
                  <a:srgbClr val="FFFFFF"/>
                </a:solidFill>
                <a:latin typeface="Calibri" pitchFamily="34" charset="0"/>
                <a:ea typeface="Calibri" pitchFamily="34" charset="-122"/>
                <a:cs typeface="Calibri" pitchFamily="34" charset="-120"/>
              </a:rPr>
              <a:t>Abnormal growth</a:t>
            </a:r>
            <a:endParaRPr lang="en-GB" sz="1300" noProof="0" dirty="0"/>
          </a:p>
        </p:txBody>
      </p:sp>
      <p:sp>
        <p:nvSpPr>
          <p:cNvPr id="7" name="Shape 5"/>
          <p:cNvSpPr/>
          <p:nvPr/>
        </p:nvSpPr>
        <p:spPr>
          <a:xfrm>
            <a:off x="2422093" y="1325880"/>
            <a:ext cx="1727149" cy="566928"/>
          </a:xfrm>
          <a:prstGeom prst="roundRect">
            <a:avLst>
              <a:gd name="adj" fmla="val 14516"/>
            </a:avLst>
          </a:prstGeom>
          <a:solidFill>
            <a:srgbClr val="EDF3FA"/>
          </a:solidFill>
          <a:ln w="12700">
            <a:solidFill>
              <a:srgbClr val="C8D8EC"/>
            </a:solidFill>
            <a:prstDash val="solid"/>
          </a:ln>
        </p:spPr>
        <p:txBody>
          <a:bodyPr/>
          <a:lstStyle/>
          <a:p>
            <a:endParaRPr lang="en-GB" noProof="0" dirty="0"/>
          </a:p>
        </p:txBody>
      </p:sp>
      <p:sp>
        <p:nvSpPr>
          <p:cNvPr id="8" name="Text 6"/>
          <p:cNvSpPr txBox="1"/>
          <p:nvPr/>
        </p:nvSpPr>
        <p:spPr>
          <a:xfrm>
            <a:off x="2476957" y="1325880"/>
            <a:ext cx="1617421" cy="566928"/>
          </a:xfrm>
          <a:prstGeom prst="rect">
            <a:avLst/>
          </a:prstGeom>
          <a:noFill/>
          <a:ln/>
        </p:spPr>
        <p:txBody>
          <a:bodyPr wrap="square" lIns="0" tIns="0" rIns="0" bIns="0" rtlCol="0" anchor="ctr"/>
          <a:lstStyle/>
          <a:p>
            <a:pPr marL="0" indent="0" algn="ctr">
              <a:buNone/>
            </a:pPr>
            <a:r>
              <a:rPr lang="en-GB" sz="1300" b="1" noProof="0" dirty="0">
                <a:solidFill>
                  <a:srgbClr val="5B7699"/>
                </a:solidFill>
                <a:latin typeface="Calibri" pitchFamily="34" charset="0"/>
                <a:ea typeface="Calibri" pitchFamily="34" charset="-122"/>
                <a:cs typeface="Calibri" pitchFamily="34" charset="-120"/>
              </a:rPr>
              <a:t>In situ disease</a:t>
            </a:r>
            <a:endParaRPr lang="en-GB" sz="1300" noProof="0" dirty="0"/>
          </a:p>
        </p:txBody>
      </p:sp>
      <p:sp>
        <p:nvSpPr>
          <p:cNvPr id="9" name="Shape 7"/>
          <p:cNvSpPr/>
          <p:nvPr/>
        </p:nvSpPr>
        <p:spPr>
          <a:xfrm>
            <a:off x="4295546" y="1325880"/>
            <a:ext cx="1727149" cy="566928"/>
          </a:xfrm>
          <a:prstGeom prst="roundRect">
            <a:avLst>
              <a:gd name="adj" fmla="val 14516"/>
            </a:avLst>
          </a:prstGeom>
          <a:solidFill>
            <a:srgbClr val="EDF3FA"/>
          </a:solidFill>
          <a:ln w="12700">
            <a:solidFill>
              <a:srgbClr val="C8D8EC"/>
            </a:solidFill>
            <a:prstDash val="solid"/>
          </a:ln>
        </p:spPr>
        <p:txBody>
          <a:bodyPr/>
          <a:lstStyle/>
          <a:p>
            <a:endParaRPr lang="en-GB" noProof="0" dirty="0"/>
          </a:p>
        </p:txBody>
      </p:sp>
      <p:sp>
        <p:nvSpPr>
          <p:cNvPr id="10" name="Text 8"/>
          <p:cNvSpPr txBox="1"/>
          <p:nvPr/>
        </p:nvSpPr>
        <p:spPr>
          <a:xfrm>
            <a:off x="4350410" y="1325880"/>
            <a:ext cx="1617421" cy="566928"/>
          </a:xfrm>
          <a:prstGeom prst="rect">
            <a:avLst/>
          </a:prstGeom>
          <a:noFill/>
          <a:ln/>
        </p:spPr>
        <p:txBody>
          <a:bodyPr wrap="square" lIns="0" tIns="0" rIns="0" bIns="0" rtlCol="0" anchor="ctr"/>
          <a:lstStyle/>
          <a:p>
            <a:pPr marL="0" indent="0" algn="ctr">
              <a:buNone/>
            </a:pPr>
            <a:r>
              <a:rPr lang="en-GB" sz="1300" b="1" noProof="0" dirty="0">
                <a:solidFill>
                  <a:srgbClr val="5B7699"/>
                </a:solidFill>
                <a:latin typeface="Calibri" pitchFamily="34" charset="0"/>
                <a:ea typeface="Calibri" pitchFamily="34" charset="-122"/>
                <a:cs typeface="Calibri" pitchFamily="34" charset="-120"/>
              </a:rPr>
              <a:t>Invasive cancer</a:t>
            </a:r>
            <a:endParaRPr lang="en-GB" sz="1300" noProof="0" dirty="0"/>
          </a:p>
        </p:txBody>
      </p:sp>
      <p:sp>
        <p:nvSpPr>
          <p:cNvPr id="11" name="Shape 9"/>
          <p:cNvSpPr/>
          <p:nvPr/>
        </p:nvSpPr>
        <p:spPr>
          <a:xfrm>
            <a:off x="6169000" y="1325880"/>
            <a:ext cx="1727149" cy="566928"/>
          </a:xfrm>
          <a:prstGeom prst="roundRect">
            <a:avLst>
              <a:gd name="adj" fmla="val 14516"/>
            </a:avLst>
          </a:prstGeom>
          <a:solidFill>
            <a:srgbClr val="EDF3FA"/>
          </a:solidFill>
          <a:ln w="12700">
            <a:solidFill>
              <a:srgbClr val="C8D8EC"/>
            </a:solidFill>
            <a:prstDash val="solid"/>
          </a:ln>
        </p:spPr>
        <p:txBody>
          <a:bodyPr/>
          <a:lstStyle/>
          <a:p>
            <a:endParaRPr lang="en-GB" noProof="0" dirty="0"/>
          </a:p>
        </p:txBody>
      </p:sp>
      <p:sp>
        <p:nvSpPr>
          <p:cNvPr id="12" name="Text 10"/>
          <p:cNvSpPr txBox="1"/>
          <p:nvPr/>
        </p:nvSpPr>
        <p:spPr>
          <a:xfrm>
            <a:off x="6223864" y="1325880"/>
            <a:ext cx="1617421" cy="566928"/>
          </a:xfrm>
          <a:prstGeom prst="rect">
            <a:avLst/>
          </a:prstGeom>
          <a:noFill/>
          <a:ln/>
        </p:spPr>
        <p:txBody>
          <a:bodyPr wrap="square" lIns="0" tIns="0" rIns="0" bIns="0" rtlCol="0" anchor="ctr"/>
          <a:lstStyle/>
          <a:p>
            <a:pPr marL="0" indent="0" algn="ctr">
              <a:buNone/>
            </a:pPr>
            <a:r>
              <a:rPr lang="en-GB" sz="1300" b="1" noProof="0" dirty="0">
                <a:solidFill>
                  <a:srgbClr val="5B7699"/>
                </a:solidFill>
                <a:latin typeface="Calibri" pitchFamily="34" charset="0"/>
                <a:ea typeface="Calibri" pitchFamily="34" charset="-122"/>
                <a:cs typeface="Calibri" pitchFamily="34" charset="-120"/>
              </a:rPr>
              <a:t>Lymph node spread</a:t>
            </a:r>
            <a:endParaRPr lang="en-GB" sz="1300" noProof="0" dirty="0"/>
          </a:p>
        </p:txBody>
      </p:sp>
      <p:sp>
        <p:nvSpPr>
          <p:cNvPr id="13" name="Shape 11"/>
          <p:cNvSpPr/>
          <p:nvPr/>
        </p:nvSpPr>
        <p:spPr>
          <a:xfrm>
            <a:off x="8042453" y="1325880"/>
            <a:ext cx="1727149" cy="566928"/>
          </a:xfrm>
          <a:prstGeom prst="roundRect">
            <a:avLst>
              <a:gd name="adj" fmla="val 14516"/>
            </a:avLst>
          </a:prstGeom>
          <a:solidFill>
            <a:srgbClr val="EDF3FA"/>
          </a:solidFill>
          <a:ln w="12700">
            <a:solidFill>
              <a:srgbClr val="C8D8EC"/>
            </a:solidFill>
            <a:prstDash val="solid"/>
          </a:ln>
        </p:spPr>
        <p:txBody>
          <a:bodyPr/>
          <a:lstStyle/>
          <a:p>
            <a:endParaRPr lang="en-GB" noProof="0" dirty="0"/>
          </a:p>
        </p:txBody>
      </p:sp>
      <p:sp>
        <p:nvSpPr>
          <p:cNvPr id="14" name="Text 12"/>
          <p:cNvSpPr txBox="1"/>
          <p:nvPr/>
        </p:nvSpPr>
        <p:spPr>
          <a:xfrm>
            <a:off x="8097317" y="1325880"/>
            <a:ext cx="1617421" cy="566928"/>
          </a:xfrm>
          <a:prstGeom prst="rect">
            <a:avLst/>
          </a:prstGeom>
          <a:noFill/>
          <a:ln/>
        </p:spPr>
        <p:txBody>
          <a:bodyPr wrap="square" lIns="0" tIns="0" rIns="0" bIns="0" rtlCol="0" anchor="ctr"/>
          <a:lstStyle/>
          <a:p>
            <a:pPr marL="0" indent="0" algn="ctr">
              <a:buNone/>
            </a:pPr>
            <a:r>
              <a:rPr lang="en-GB" sz="1300" b="1" noProof="0" dirty="0">
                <a:solidFill>
                  <a:srgbClr val="5B7699"/>
                </a:solidFill>
                <a:latin typeface="Calibri" pitchFamily="34" charset="0"/>
                <a:ea typeface="Calibri" pitchFamily="34" charset="-122"/>
                <a:cs typeface="Calibri" pitchFamily="34" charset="-120"/>
              </a:rPr>
              <a:t>Distant spread</a:t>
            </a:r>
            <a:endParaRPr lang="en-GB" sz="1300" noProof="0" dirty="0"/>
          </a:p>
        </p:txBody>
      </p:sp>
      <p:sp>
        <p:nvSpPr>
          <p:cNvPr id="15" name="Shape 13"/>
          <p:cNvSpPr/>
          <p:nvPr/>
        </p:nvSpPr>
        <p:spPr>
          <a:xfrm>
            <a:off x="9915906" y="1325880"/>
            <a:ext cx="1727149" cy="566928"/>
          </a:xfrm>
          <a:prstGeom prst="roundRect">
            <a:avLst>
              <a:gd name="adj" fmla="val 14516"/>
            </a:avLst>
          </a:prstGeom>
          <a:solidFill>
            <a:srgbClr val="EDF3FA"/>
          </a:solidFill>
          <a:ln w="12700">
            <a:solidFill>
              <a:srgbClr val="C8D8EC"/>
            </a:solidFill>
            <a:prstDash val="solid"/>
          </a:ln>
        </p:spPr>
        <p:txBody>
          <a:bodyPr/>
          <a:lstStyle/>
          <a:p>
            <a:endParaRPr lang="en-GB" noProof="0" dirty="0"/>
          </a:p>
        </p:txBody>
      </p:sp>
      <p:sp>
        <p:nvSpPr>
          <p:cNvPr id="16" name="Text 14"/>
          <p:cNvSpPr txBox="1"/>
          <p:nvPr/>
        </p:nvSpPr>
        <p:spPr>
          <a:xfrm>
            <a:off x="9970770" y="1325880"/>
            <a:ext cx="1617421" cy="566928"/>
          </a:xfrm>
          <a:prstGeom prst="rect">
            <a:avLst/>
          </a:prstGeom>
          <a:noFill/>
          <a:ln/>
        </p:spPr>
        <p:txBody>
          <a:bodyPr wrap="square" lIns="0" tIns="0" rIns="0" bIns="0" rtlCol="0" anchor="ctr"/>
          <a:lstStyle/>
          <a:p>
            <a:pPr marL="0" indent="0" algn="ctr">
              <a:buNone/>
            </a:pPr>
            <a:r>
              <a:rPr lang="en-GB" sz="1300" b="1" noProof="0" dirty="0">
                <a:solidFill>
                  <a:srgbClr val="5B7699"/>
                </a:solidFill>
                <a:latin typeface="Calibri" pitchFamily="34" charset="0"/>
                <a:ea typeface="Calibri" pitchFamily="34" charset="-122"/>
                <a:cs typeface="Calibri" pitchFamily="34" charset="-120"/>
              </a:rPr>
              <a:t>Time and size</a:t>
            </a:r>
            <a:endParaRPr lang="en-GB" sz="1300" noProof="0" dirty="0"/>
          </a:p>
        </p:txBody>
      </p:sp>
      <p:sp>
        <p:nvSpPr>
          <p:cNvPr id="17" name="Shape 15"/>
          <p:cNvSpPr/>
          <p:nvPr/>
        </p:nvSpPr>
        <p:spPr>
          <a:xfrm>
            <a:off x="548640" y="2148839"/>
            <a:ext cx="11094415" cy="4014893"/>
          </a:xfrm>
          <a:prstGeom prst="roundRect">
            <a:avLst>
              <a:gd name="adj" fmla="val 2286"/>
            </a:avLst>
          </a:prstGeom>
          <a:solidFill>
            <a:srgbClr val="F4F8FC"/>
          </a:solidFill>
          <a:ln w="15875">
            <a:solidFill>
              <a:srgbClr val="C8D8EC"/>
            </a:solidFill>
            <a:prstDash val="solid"/>
          </a:ln>
        </p:spPr>
        <p:txBody>
          <a:bodyPr/>
          <a:lstStyle/>
          <a:p>
            <a:endParaRPr lang="en-GB" noProof="0" dirty="0"/>
          </a:p>
        </p:txBody>
      </p:sp>
      <p:sp>
        <p:nvSpPr>
          <p:cNvPr id="21" name="Text 19"/>
          <p:cNvSpPr txBox="1"/>
          <p:nvPr/>
        </p:nvSpPr>
        <p:spPr>
          <a:xfrm>
            <a:off x="819573" y="2304627"/>
            <a:ext cx="10593494" cy="1737360"/>
          </a:xfrm>
          <a:prstGeom prst="rect">
            <a:avLst/>
          </a:prstGeom>
          <a:noFill/>
          <a:ln/>
        </p:spPr>
        <p:txBody>
          <a:bodyPr wrap="square" lIns="0" tIns="0" rIns="0" bIns="0" rtlCol="0" anchor="t"/>
          <a:lstStyle/>
          <a:p>
            <a:pPr marL="0" indent="0">
              <a:lnSpc>
                <a:spcPct val="98000"/>
              </a:lnSpc>
              <a:buNone/>
            </a:pPr>
            <a:r>
              <a:rPr lang="en-GB" sz="2000" noProof="0" dirty="0">
                <a:solidFill>
                  <a:srgbClr val="0B1F3F"/>
                </a:solidFill>
                <a:latin typeface="Calibri" pitchFamily="34" charset="0"/>
                <a:ea typeface="Calibri" pitchFamily="34" charset="-122"/>
                <a:cs typeface="Calibri" pitchFamily="34" charset="-120"/>
              </a:rPr>
              <a:t>Cells lining a duct or lobule accumulate changes that let them grow without normal control. At this stage there is nothing to feel and nothing to see.</a:t>
            </a:r>
            <a:endParaRPr lang="en-GB" sz="2000" noProof="0" dirty="0"/>
          </a:p>
        </p:txBody>
      </p:sp>
      <p:pic>
        <p:nvPicPr>
          <p:cNvPr id="23" name="Imagen 22">
            <a:extLst>
              <a:ext uri="{FF2B5EF4-FFF2-40B4-BE49-F238E27FC236}">
                <a16:creationId xmlns:a16="http://schemas.microsoft.com/office/drawing/2014/main" id="{C6E68D5B-8A72-F8B2-AA1B-C5EB18AAE733}"/>
              </a:ext>
            </a:extLst>
          </p:cNvPr>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a:xfrm>
            <a:off x="3018895" y="3163319"/>
            <a:ext cx="6007599" cy="3000413"/>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en-GB" sz="1100" b="1" kern="0" spc="100" noProof="0" dirty="0">
                <a:solidFill>
                  <a:srgbClr val="5B7699"/>
                </a:solidFill>
                <a:latin typeface="Calibri" pitchFamily="34" charset="0"/>
                <a:ea typeface="Calibri" pitchFamily="34" charset="-122"/>
                <a:cs typeface="Calibri" pitchFamily="34" charset="-120"/>
              </a:rPr>
              <a:t>S E S S I O N   1</a:t>
            </a:r>
            <a:endParaRPr lang="en-GB"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en-GB" sz="1000" noProof="0" dirty="0">
                <a:solidFill>
                  <a:srgbClr val="5B7699"/>
                </a:solidFill>
                <a:latin typeface="Calibri" pitchFamily="34" charset="0"/>
                <a:ea typeface="Calibri" pitchFamily="34" charset="-122"/>
                <a:cs typeface="Calibri" pitchFamily="34" charset="-120"/>
              </a:rPr>
              <a:t>Breast Cancer  |  Frontline HCP  |  Rwanda Biomedical Centre</a:t>
            </a:r>
            <a:endParaRPr lang="en-GB"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en-GB" sz="3000" b="1" noProof="0" dirty="0">
                <a:solidFill>
                  <a:srgbClr val="12315B"/>
                </a:solidFill>
                <a:latin typeface="Calibri" pitchFamily="34" charset="0"/>
                <a:ea typeface="Calibri" pitchFamily="34" charset="-122"/>
                <a:cs typeface="Calibri" pitchFamily="34" charset="-120"/>
              </a:rPr>
              <a:t>How breast cancer develops</a:t>
            </a:r>
            <a:endParaRPr lang="en-GB" sz="3000" noProof="0" dirty="0"/>
          </a:p>
        </p:txBody>
      </p:sp>
      <p:sp>
        <p:nvSpPr>
          <p:cNvPr id="5" name="Shape 3"/>
          <p:cNvSpPr/>
          <p:nvPr/>
        </p:nvSpPr>
        <p:spPr>
          <a:xfrm>
            <a:off x="548640" y="1325880"/>
            <a:ext cx="1727149" cy="566928"/>
          </a:xfrm>
          <a:prstGeom prst="roundRect">
            <a:avLst>
              <a:gd name="adj" fmla="val 14516"/>
            </a:avLst>
          </a:prstGeom>
          <a:solidFill>
            <a:srgbClr val="EDF3FA"/>
          </a:solidFill>
          <a:ln w="12700">
            <a:solidFill>
              <a:srgbClr val="C8D8EC"/>
            </a:solidFill>
            <a:prstDash val="solid"/>
          </a:ln>
        </p:spPr>
        <p:txBody>
          <a:bodyPr/>
          <a:lstStyle/>
          <a:p>
            <a:endParaRPr lang="en-GB" noProof="0" dirty="0"/>
          </a:p>
        </p:txBody>
      </p:sp>
      <p:sp>
        <p:nvSpPr>
          <p:cNvPr id="6" name="Text 4"/>
          <p:cNvSpPr txBox="1"/>
          <p:nvPr/>
        </p:nvSpPr>
        <p:spPr>
          <a:xfrm>
            <a:off x="603504" y="1325880"/>
            <a:ext cx="1617421" cy="566928"/>
          </a:xfrm>
          <a:prstGeom prst="rect">
            <a:avLst/>
          </a:prstGeom>
          <a:noFill/>
          <a:ln/>
        </p:spPr>
        <p:txBody>
          <a:bodyPr wrap="square" lIns="0" tIns="0" rIns="0" bIns="0" rtlCol="0" anchor="ctr"/>
          <a:lstStyle/>
          <a:p>
            <a:pPr marL="0" indent="0" algn="ctr">
              <a:buNone/>
            </a:pPr>
            <a:r>
              <a:rPr lang="en-GB" sz="1300" b="1" noProof="0" dirty="0">
                <a:solidFill>
                  <a:srgbClr val="5B7699"/>
                </a:solidFill>
                <a:latin typeface="Calibri" pitchFamily="34" charset="0"/>
                <a:ea typeface="Calibri" pitchFamily="34" charset="-122"/>
                <a:cs typeface="Calibri" pitchFamily="34" charset="-120"/>
              </a:rPr>
              <a:t>Abnormal growth</a:t>
            </a:r>
            <a:endParaRPr lang="en-GB" sz="1300" noProof="0" dirty="0"/>
          </a:p>
        </p:txBody>
      </p:sp>
      <p:sp>
        <p:nvSpPr>
          <p:cNvPr id="7" name="Shape 5"/>
          <p:cNvSpPr/>
          <p:nvPr/>
        </p:nvSpPr>
        <p:spPr>
          <a:xfrm>
            <a:off x="2422093" y="1325880"/>
            <a:ext cx="1727149" cy="566928"/>
          </a:xfrm>
          <a:prstGeom prst="roundRect">
            <a:avLst>
              <a:gd name="adj" fmla="val 14516"/>
            </a:avLst>
          </a:prstGeom>
          <a:solidFill>
            <a:srgbClr val="12315B"/>
          </a:solidFill>
          <a:ln w="12700">
            <a:solidFill>
              <a:srgbClr val="12315B"/>
            </a:solidFill>
            <a:prstDash val="solid"/>
          </a:ln>
        </p:spPr>
        <p:txBody>
          <a:bodyPr/>
          <a:lstStyle/>
          <a:p>
            <a:endParaRPr lang="en-GB" noProof="0" dirty="0"/>
          </a:p>
        </p:txBody>
      </p:sp>
      <p:sp>
        <p:nvSpPr>
          <p:cNvPr id="8" name="Text 6"/>
          <p:cNvSpPr txBox="1"/>
          <p:nvPr/>
        </p:nvSpPr>
        <p:spPr>
          <a:xfrm>
            <a:off x="2476957" y="1325880"/>
            <a:ext cx="1617421" cy="566928"/>
          </a:xfrm>
          <a:prstGeom prst="rect">
            <a:avLst/>
          </a:prstGeom>
          <a:noFill/>
          <a:ln/>
        </p:spPr>
        <p:txBody>
          <a:bodyPr wrap="square" lIns="0" tIns="0" rIns="0" bIns="0" rtlCol="0" anchor="ctr"/>
          <a:lstStyle/>
          <a:p>
            <a:pPr marL="0" indent="0" algn="ctr">
              <a:buNone/>
            </a:pPr>
            <a:r>
              <a:rPr lang="en-GB" sz="1300" b="1" noProof="0" dirty="0">
                <a:solidFill>
                  <a:srgbClr val="FFFFFF"/>
                </a:solidFill>
                <a:latin typeface="Calibri" pitchFamily="34" charset="0"/>
                <a:ea typeface="Calibri" pitchFamily="34" charset="-122"/>
                <a:cs typeface="Calibri" pitchFamily="34" charset="-120"/>
              </a:rPr>
              <a:t>In situ disease</a:t>
            </a:r>
            <a:endParaRPr lang="en-GB" sz="1300" noProof="0" dirty="0"/>
          </a:p>
        </p:txBody>
      </p:sp>
      <p:sp>
        <p:nvSpPr>
          <p:cNvPr id="9" name="Shape 7"/>
          <p:cNvSpPr/>
          <p:nvPr/>
        </p:nvSpPr>
        <p:spPr>
          <a:xfrm>
            <a:off x="4295546" y="1325880"/>
            <a:ext cx="1727149" cy="566928"/>
          </a:xfrm>
          <a:prstGeom prst="roundRect">
            <a:avLst>
              <a:gd name="adj" fmla="val 14516"/>
            </a:avLst>
          </a:prstGeom>
          <a:solidFill>
            <a:srgbClr val="EDF3FA"/>
          </a:solidFill>
          <a:ln w="12700">
            <a:solidFill>
              <a:srgbClr val="C8D8EC"/>
            </a:solidFill>
            <a:prstDash val="solid"/>
          </a:ln>
        </p:spPr>
        <p:txBody>
          <a:bodyPr/>
          <a:lstStyle/>
          <a:p>
            <a:endParaRPr lang="en-GB" noProof="0" dirty="0"/>
          </a:p>
        </p:txBody>
      </p:sp>
      <p:sp>
        <p:nvSpPr>
          <p:cNvPr id="10" name="Text 8"/>
          <p:cNvSpPr txBox="1"/>
          <p:nvPr/>
        </p:nvSpPr>
        <p:spPr>
          <a:xfrm>
            <a:off x="4350410" y="1325880"/>
            <a:ext cx="1617421" cy="566928"/>
          </a:xfrm>
          <a:prstGeom prst="rect">
            <a:avLst/>
          </a:prstGeom>
          <a:noFill/>
          <a:ln/>
        </p:spPr>
        <p:txBody>
          <a:bodyPr wrap="square" lIns="0" tIns="0" rIns="0" bIns="0" rtlCol="0" anchor="ctr"/>
          <a:lstStyle/>
          <a:p>
            <a:pPr marL="0" indent="0" algn="ctr">
              <a:buNone/>
            </a:pPr>
            <a:r>
              <a:rPr lang="en-GB" sz="1300" b="1" noProof="0" dirty="0">
                <a:solidFill>
                  <a:srgbClr val="5B7699"/>
                </a:solidFill>
                <a:latin typeface="Calibri" pitchFamily="34" charset="0"/>
                <a:ea typeface="Calibri" pitchFamily="34" charset="-122"/>
                <a:cs typeface="Calibri" pitchFamily="34" charset="-120"/>
              </a:rPr>
              <a:t>Invasive cancer</a:t>
            </a:r>
            <a:endParaRPr lang="en-GB" sz="1300" noProof="0" dirty="0"/>
          </a:p>
        </p:txBody>
      </p:sp>
      <p:sp>
        <p:nvSpPr>
          <p:cNvPr id="11" name="Shape 9"/>
          <p:cNvSpPr/>
          <p:nvPr/>
        </p:nvSpPr>
        <p:spPr>
          <a:xfrm>
            <a:off x="6169000" y="1325880"/>
            <a:ext cx="1727149" cy="566928"/>
          </a:xfrm>
          <a:prstGeom prst="roundRect">
            <a:avLst>
              <a:gd name="adj" fmla="val 14516"/>
            </a:avLst>
          </a:prstGeom>
          <a:solidFill>
            <a:srgbClr val="EDF3FA"/>
          </a:solidFill>
          <a:ln w="12700">
            <a:solidFill>
              <a:srgbClr val="C8D8EC"/>
            </a:solidFill>
            <a:prstDash val="solid"/>
          </a:ln>
        </p:spPr>
        <p:txBody>
          <a:bodyPr/>
          <a:lstStyle/>
          <a:p>
            <a:endParaRPr lang="en-GB" noProof="0" dirty="0"/>
          </a:p>
        </p:txBody>
      </p:sp>
      <p:sp>
        <p:nvSpPr>
          <p:cNvPr id="12" name="Text 10"/>
          <p:cNvSpPr txBox="1"/>
          <p:nvPr/>
        </p:nvSpPr>
        <p:spPr>
          <a:xfrm>
            <a:off x="6223864" y="1325880"/>
            <a:ext cx="1617421" cy="566928"/>
          </a:xfrm>
          <a:prstGeom prst="rect">
            <a:avLst/>
          </a:prstGeom>
          <a:noFill/>
          <a:ln/>
        </p:spPr>
        <p:txBody>
          <a:bodyPr wrap="square" lIns="0" tIns="0" rIns="0" bIns="0" rtlCol="0" anchor="ctr"/>
          <a:lstStyle/>
          <a:p>
            <a:pPr marL="0" indent="0" algn="ctr">
              <a:buNone/>
            </a:pPr>
            <a:r>
              <a:rPr lang="en-GB" sz="1300" b="1" noProof="0" dirty="0">
                <a:solidFill>
                  <a:srgbClr val="5B7699"/>
                </a:solidFill>
                <a:latin typeface="Calibri" pitchFamily="34" charset="0"/>
                <a:ea typeface="Calibri" pitchFamily="34" charset="-122"/>
                <a:cs typeface="Calibri" pitchFamily="34" charset="-120"/>
              </a:rPr>
              <a:t>Lymph node spread</a:t>
            </a:r>
            <a:endParaRPr lang="en-GB" sz="1300" noProof="0" dirty="0"/>
          </a:p>
        </p:txBody>
      </p:sp>
      <p:sp>
        <p:nvSpPr>
          <p:cNvPr id="13" name="Shape 11"/>
          <p:cNvSpPr/>
          <p:nvPr/>
        </p:nvSpPr>
        <p:spPr>
          <a:xfrm>
            <a:off x="8042453" y="1325880"/>
            <a:ext cx="1727149" cy="566928"/>
          </a:xfrm>
          <a:prstGeom prst="roundRect">
            <a:avLst>
              <a:gd name="adj" fmla="val 14516"/>
            </a:avLst>
          </a:prstGeom>
          <a:solidFill>
            <a:srgbClr val="EDF3FA"/>
          </a:solidFill>
          <a:ln w="12700">
            <a:solidFill>
              <a:srgbClr val="C8D8EC"/>
            </a:solidFill>
            <a:prstDash val="solid"/>
          </a:ln>
        </p:spPr>
        <p:txBody>
          <a:bodyPr/>
          <a:lstStyle/>
          <a:p>
            <a:endParaRPr lang="en-GB" noProof="0" dirty="0"/>
          </a:p>
        </p:txBody>
      </p:sp>
      <p:sp>
        <p:nvSpPr>
          <p:cNvPr id="14" name="Text 12"/>
          <p:cNvSpPr txBox="1"/>
          <p:nvPr/>
        </p:nvSpPr>
        <p:spPr>
          <a:xfrm>
            <a:off x="8097317" y="1325880"/>
            <a:ext cx="1617421" cy="566928"/>
          </a:xfrm>
          <a:prstGeom prst="rect">
            <a:avLst/>
          </a:prstGeom>
          <a:noFill/>
          <a:ln/>
        </p:spPr>
        <p:txBody>
          <a:bodyPr wrap="square" lIns="0" tIns="0" rIns="0" bIns="0" rtlCol="0" anchor="ctr"/>
          <a:lstStyle/>
          <a:p>
            <a:pPr marL="0" indent="0" algn="ctr">
              <a:buNone/>
            </a:pPr>
            <a:r>
              <a:rPr lang="en-GB" sz="1300" b="1" noProof="0" dirty="0">
                <a:solidFill>
                  <a:srgbClr val="5B7699"/>
                </a:solidFill>
                <a:latin typeface="Calibri" pitchFamily="34" charset="0"/>
                <a:ea typeface="Calibri" pitchFamily="34" charset="-122"/>
                <a:cs typeface="Calibri" pitchFamily="34" charset="-120"/>
              </a:rPr>
              <a:t>Distant spread</a:t>
            </a:r>
            <a:endParaRPr lang="en-GB" sz="1300" noProof="0" dirty="0"/>
          </a:p>
        </p:txBody>
      </p:sp>
      <p:sp>
        <p:nvSpPr>
          <p:cNvPr id="15" name="Shape 13"/>
          <p:cNvSpPr/>
          <p:nvPr/>
        </p:nvSpPr>
        <p:spPr>
          <a:xfrm>
            <a:off x="9915906" y="1325880"/>
            <a:ext cx="1727149" cy="566928"/>
          </a:xfrm>
          <a:prstGeom prst="roundRect">
            <a:avLst>
              <a:gd name="adj" fmla="val 14516"/>
            </a:avLst>
          </a:prstGeom>
          <a:solidFill>
            <a:srgbClr val="EDF3FA"/>
          </a:solidFill>
          <a:ln w="12700">
            <a:solidFill>
              <a:srgbClr val="C8D8EC"/>
            </a:solidFill>
            <a:prstDash val="solid"/>
          </a:ln>
        </p:spPr>
        <p:txBody>
          <a:bodyPr/>
          <a:lstStyle/>
          <a:p>
            <a:endParaRPr lang="en-GB" noProof="0" dirty="0"/>
          </a:p>
        </p:txBody>
      </p:sp>
      <p:sp>
        <p:nvSpPr>
          <p:cNvPr id="16" name="Text 14"/>
          <p:cNvSpPr txBox="1"/>
          <p:nvPr/>
        </p:nvSpPr>
        <p:spPr>
          <a:xfrm>
            <a:off x="9970770" y="1325880"/>
            <a:ext cx="1617421" cy="566928"/>
          </a:xfrm>
          <a:prstGeom prst="rect">
            <a:avLst/>
          </a:prstGeom>
          <a:noFill/>
          <a:ln/>
        </p:spPr>
        <p:txBody>
          <a:bodyPr wrap="square" lIns="0" tIns="0" rIns="0" bIns="0" rtlCol="0" anchor="ctr"/>
          <a:lstStyle/>
          <a:p>
            <a:pPr marL="0" indent="0" algn="ctr">
              <a:buNone/>
            </a:pPr>
            <a:r>
              <a:rPr lang="en-GB" sz="1300" b="1" noProof="0" dirty="0">
                <a:solidFill>
                  <a:srgbClr val="5B7699"/>
                </a:solidFill>
                <a:latin typeface="Calibri" pitchFamily="34" charset="0"/>
                <a:ea typeface="Calibri" pitchFamily="34" charset="-122"/>
                <a:cs typeface="Calibri" pitchFamily="34" charset="-120"/>
              </a:rPr>
              <a:t>Time and size</a:t>
            </a:r>
            <a:endParaRPr lang="en-GB" sz="1300" noProof="0" dirty="0"/>
          </a:p>
        </p:txBody>
      </p:sp>
      <p:sp>
        <p:nvSpPr>
          <p:cNvPr id="17" name="Shape 15"/>
          <p:cNvSpPr/>
          <p:nvPr/>
        </p:nvSpPr>
        <p:spPr>
          <a:xfrm>
            <a:off x="548640" y="2148840"/>
            <a:ext cx="11094415" cy="4142232"/>
          </a:xfrm>
          <a:prstGeom prst="roundRect">
            <a:avLst>
              <a:gd name="adj" fmla="val 2286"/>
            </a:avLst>
          </a:prstGeom>
          <a:solidFill>
            <a:srgbClr val="F4F8FC"/>
          </a:solidFill>
          <a:ln w="15875">
            <a:solidFill>
              <a:srgbClr val="C8D8EC"/>
            </a:solidFill>
            <a:prstDash val="solid"/>
          </a:ln>
        </p:spPr>
        <p:txBody>
          <a:bodyPr/>
          <a:lstStyle/>
          <a:p>
            <a:endParaRPr lang="en-GB" noProof="0" dirty="0"/>
          </a:p>
        </p:txBody>
      </p:sp>
      <p:sp>
        <p:nvSpPr>
          <p:cNvPr id="21" name="Text 19"/>
          <p:cNvSpPr txBox="1"/>
          <p:nvPr/>
        </p:nvSpPr>
        <p:spPr>
          <a:xfrm>
            <a:off x="808617" y="2387301"/>
            <a:ext cx="10779574" cy="1737360"/>
          </a:xfrm>
          <a:prstGeom prst="rect">
            <a:avLst/>
          </a:prstGeom>
          <a:noFill/>
          <a:ln/>
        </p:spPr>
        <p:txBody>
          <a:bodyPr wrap="square" lIns="0" tIns="0" rIns="0" bIns="0" rtlCol="0" anchor="t"/>
          <a:lstStyle/>
          <a:p>
            <a:pPr marL="0" indent="0">
              <a:lnSpc>
                <a:spcPct val="98000"/>
              </a:lnSpc>
              <a:buNone/>
            </a:pPr>
            <a:r>
              <a:rPr lang="en-GB" sz="2000" noProof="0" dirty="0">
                <a:solidFill>
                  <a:srgbClr val="0B1F3F"/>
                </a:solidFill>
                <a:latin typeface="Calibri" pitchFamily="34" charset="0"/>
                <a:ea typeface="Calibri" pitchFamily="34" charset="-122"/>
                <a:cs typeface="Calibri" pitchFamily="34" charset="-120"/>
              </a:rPr>
              <a:t>Abnormal malignant cells may fill the duct while remaining inside it. This is carcinoma in situ. It has not invaded surrounding breast tissue, and it does not always progress.</a:t>
            </a:r>
            <a:endParaRPr lang="en-GB" sz="2000" noProof="0" dirty="0"/>
          </a:p>
        </p:txBody>
      </p:sp>
      <p:pic>
        <p:nvPicPr>
          <p:cNvPr id="22" name="Imagen 21">
            <a:extLst>
              <a:ext uri="{FF2B5EF4-FFF2-40B4-BE49-F238E27FC236}">
                <a16:creationId xmlns:a16="http://schemas.microsoft.com/office/drawing/2014/main" id="{0984C8F5-3AE2-DCAE-79FB-303A1BF90F0B}"/>
              </a:ext>
            </a:extLst>
          </p:cNvPr>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a:xfrm>
            <a:off x="2330176" y="3081358"/>
            <a:ext cx="7787376" cy="3072736"/>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en-GB" sz="1100" b="1" kern="0" spc="100" noProof="0" dirty="0">
                <a:solidFill>
                  <a:srgbClr val="5B7699"/>
                </a:solidFill>
                <a:latin typeface="Calibri" pitchFamily="34" charset="0"/>
                <a:ea typeface="Calibri" pitchFamily="34" charset="-122"/>
                <a:cs typeface="Calibri" pitchFamily="34" charset="-120"/>
              </a:rPr>
              <a:t>S E S S I O N   1</a:t>
            </a:r>
            <a:endParaRPr lang="en-GB"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en-GB" sz="1000" noProof="0" dirty="0">
                <a:solidFill>
                  <a:srgbClr val="5B7699"/>
                </a:solidFill>
                <a:latin typeface="Calibri" pitchFamily="34" charset="0"/>
                <a:ea typeface="Calibri" pitchFamily="34" charset="-122"/>
                <a:cs typeface="Calibri" pitchFamily="34" charset="-120"/>
              </a:rPr>
              <a:t>Breast Cancer  |  Frontline HCP  |  Rwanda Biomedical Centre</a:t>
            </a:r>
            <a:endParaRPr lang="en-GB"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en-GB" sz="3000" b="1" noProof="0" dirty="0">
                <a:solidFill>
                  <a:srgbClr val="12315B"/>
                </a:solidFill>
                <a:latin typeface="Calibri" pitchFamily="34" charset="0"/>
                <a:ea typeface="Calibri" pitchFamily="34" charset="-122"/>
                <a:cs typeface="Calibri" pitchFamily="34" charset="-120"/>
              </a:rPr>
              <a:t>How breast cancer develops</a:t>
            </a:r>
            <a:endParaRPr lang="en-GB" sz="3000" noProof="0" dirty="0"/>
          </a:p>
        </p:txBody>
      </p:sp>
      <p:sp>
        <p:nvSpPr>
          <p:cNvPr id="5" name="Shape 3"/>
          <p:cNvSpPr/>
          <p:nvPr/>
        </p:nvSpPr>
        <p:spPr>
          <a:xfrm>
            <a:off x="548640" y="1325880"/>
            <a:ext cx="1727149" cy="566928"/>
          </a:xfrm>
          <a:prstGeom prst="roundRect">
            <a:avLst>
              <a:gd name="adj" fmla="val 14516"/>
            </a:avLst>
          </a:prstGeom>
          <a:solidFill>
            <a:srgbClr val="EDF3FA"/>
          </a:solidFill>
          <a:ln w="12700">
            <a:solidFill>
              <a:srgbClr val="C8D8EC"/>
            </a:solidFill>
            <a:prstDash val="solid"/>
          </a:ln>
        </p:spPr>
        <p:txBody>
          <a:bodyPr/>
          <a:lstStyle/>
          <a:p>
            <a:endParaRPr lang="en-GB" noProof="0" dirty="0"/>
          </a:p>
        </p:txBody>
      </p:sp>
      <p:sp>
        <p:nvSpPr>
          <p:cNvPr id="6" name="Text 4"/>
          <p:cNvSpPr txBox="1"/>
          <p:nvPr/>
        </p:nvSpPr>
        <p:spPr>
          <a:xfrm>
            <a:off x="603504" y="1325880"/>
            <a:ext cx="1617421" cy="566928"/>
          </a:xfrm>
          <a:prstGeom prst="rect">
            <a:avLst/>
          </a:prstGeom>
          <a:noFill/>
          <a:ln/>
        </p:spPr>
        <p:txBody>
          <a:bodyPr wrap="square" lIns="0" tIns="0" rIns="0" bIns="0" rtlCol="0" anchor="ctr"/>
          <a:lstStyle/>
          <a:p>
            <a:pPr marL="0" indent="0" algn="ctr">
              <a:buNone/>
            </a:pPr>
            <a:r>
              <a:rPr lang="en-GB" sz="1300" b="1" noProof="0" dirty="0">
                <a:solidFill>
                  <a:srgbClr val="5B7699"/>
                </a:solidFill>
                <a:latin typeface="Calibri" pitchFamily="34" charset="0"/>
                <a:ea typeface="Calibri" pitchFamily="34" charset="-122"/>
                <a:cs typeface="Calibri" pitchFamily="34" charset="-120"/>
              </a:rPr>
              <a:t>Abnormal growth</a:t>
            </a:r>
            <a:endParaRPr lang="en-GB" sz="1300" noProof="0" dirty="0"/>
          </a:p>
        </p:txBody>
      </p:sp>
      <p:sp>
        <p:nvSpPr>
          <p:cNvPr id="7" name="Shape 5"/>
          <p:cNvSpPr/>
          <p:nvPr/>
        </p:nvSpPr>
        <p:spPr>
          <a:xfrm>
            <a:off x="2422093" y="1325880"/>
            <a:ext cx="1727149" cy="566928"/>
          </a:xfrm>
          <a:prstGeom prst="roundRect">
            <a:avLst>
              <a:gd name="adj" fmla="val 14516"/>
            </a:avLst>
          </a:prstGeom>
          <a:solidFill>
            <a:srgbClr val="EDF3FA"/>
          </a:solidFill>
          <a:ln w="12700">
            <a:solidFill>
              <a:srgbClr val="C8D8EC"/>
            </a:solidFill>
            <a:prstDash val="solid"/>
          </a:ln>
        </p:spPr>
        <p:txBody>
          <a:bodyPr/>
          <a:lstStyle/>
          <a:p>
            <a:endParaRPr lang="en-GB" noProof="0" dirty="0"/>
          </a:p>
        </p:txBody>
      </p:sp>
      <p:sp>
        <p:nvSpPr>
          <p:cNvPr id="8" name="Text 6"/>
          <p:cNvSpPr txBox="1"/>
          <p:nvPr/>
        </p:nvSpPr>
        <p:spPr>
          <a:xfrm>
            <a:off x="2476957" y="1325880"/>
            <a:ext cx="1617421" cy="566928"/>
          </a:xfrm>
          <a:prstGeom prst="rect">
            <a:avLst/>
          </a:prstGeom>
          <a:noFill/>
          <a:ln/>
        </p:spPr>
        <p:txBody>
          <a:bodyPr wrap="square" lIns="0" tIns="0" rIns="0" bIns="0" rtlCol="0" anchor="ctr"/>
          <a:lstStyle/>
          <a:p>
            <a:pPr marL="0" indent="0" algn="ctr">
              <a:buNone/>
            </a:pPr>
            <a:r>
              <a:rPr lang="en-GB" sz="1300" b="1" noProof="0" dirty="0">
                <a:solidFill>
                  <a:srgbClr val="5B7699"/>
                </a:solidFill>
                <a:latin typeface="Calibri" pitchFamily="34" charset="0"/>
                <a:ea typeface="Calibri" pitchFamily="34" charset="-122"/>
                <a:cs typeface="Calibri" pitchFamily="34" charset="-120"/>
              </a:rPr>
              <a:t>In situ disease</a:t>
            </a:r>
            <a:endParaRPr lang="en-GB" sz="1300" noProof="0" dirty="0"/>
          </a:p>
        </p:txBody>
      </p:sp>
      <p:sp>
        <p:nvSpPr>
          <p:cNvPr id="9" name="Shape 7"/>
          <p:cNvSpPr/>
          <p:nvPr/>
        </p:nvSpPr>
        <p:spPr>
          <a:xfrm>
            <a:off x="4295546" y="1325880"/>
            <a:ext cx="1727149" cy="566928"/>
          </a:xfrm>
          <a:prstGeom prst="roundRect">
            <a:avLst>
              <a:gd name="adj" fmla="val 14516"/>
            </a:avLst>
          </a:prstGeom>
          <a:solidFill>
            <a:srgbClr val="12315B"/>
          </a:solidFill>
          <a:ln w="12700">
            <a:solidFill>
              <a:srgbClr val="12315B"/>
            </a:solidFill>
            <a:prstDash val="solid"/>
          </a:ln>
        </p:spPr>
        <p:txBody>
          <a:bodyPr/>
          <a:lstStyle/>
          <a:p>
            <a:endParaRPr lang="en-GB" noProof="0" dirty="0"/>
          </a:p>
        </p:txBody>
      </p:sp>
      <p:sp>
        <p:nvSpPr>
          <p:cNvPr id="10" name="Text 8"/>
          <p:cNvSpPr txBox="1"/>
          <p:nvPr/>
        </p:nvSpPr>
        <p:spPr>
          <a:xfrm>
            <a:off x="4350410" y="1325880"/>
            <a:ext cx="1617421" cy="566928"/>
          </a:xfrm>
          <a:prstGeom prst="rect">
            <a:avLst/>
          </a:prstGeom>
          <a:noFill/>
          <a:ln/>
        </p:spPr>
        <p:txBody>
          <a:bodyPr wrap="square" lIns="0" tIns="0" rIns="0" bIns="0" rtlCol="0" anchor="ctr"/>
          <a:lstStyle/>
          <a:p>
            <a:pPr marL="0" indent="0" algn="ctr">
              <a:buNone/>
            </a:pPr>
            <a:r>
              <a:rPr lang="en-GB" sz="1300" b="1" noProof="0" dirty="0">
                <a:solidFill>
                  <a:srgbClr val="FFFFFF"/>
                </a:solidFill>
                <a:latin typeface="Calibri" pitchFamily="34" charset="0"/>
                <a:ea typeface="Calibri" pitchFamily="34" charset="-122"/>
                <a:cs typeface="Calibri" pitchFamily="34" charset="-120"/>
              </a:rPr>
              <a:t>Invasive cancer</a:t>
            </a:r>
            <a:endParaRPr lang="en-GB" sz="1300" noProof="0" dirty="0"/>
          </a:p>
        </p:txBody>
      </p:sp>
      <p:sp>
        <p:nvSpPr>
          <p:cNvPr id="11" name="Shape 9"/>
          <p:cNvSpPr/>
          <p:nvPr/>
        </p:nvSpPr>
        <p:spPr>
          <a:xfrm>
            <a:off x="6169000" y="1325880"/>
            <a:ext cx="1727149" cy="566928"/>
          </a:xfrm>
          <a:prstGeom prst="roundRect">
            <a:avLst>
              <a:gd name="adj" fmla="val 14516"/>
            </a:avLst>
          </a:prstGeom>
          <a:solidFill>
            <a:srgbClr val="EDF3FA"/>
          </a:solidFill>
          <a:ln w="12700">
            <a:solidFill>
              <a:srgbClr val="C8D8EC"/>
            </a:solidFill>
            <a:prstDash val="solid"/>
          </a:ln>
        </p:spPr>
        <p:txBody>
          <a:bodyPr/>
          <a:lstStyle/>
          <a:p>
            <a:endParaRPr lang="en-GB" noProof="0" dirty="0"/>
          </a:p>
        </p:txBody>
      </p:sp>
      <p:sp>
        <p:nvSpPr>
          <p:cNvPr id="12" name="Text 10"/>
          <p:cNvSpPr txBox="1"/>
          <p:nvPr/>
        </p:nvSpPr>
        <p:spPr>
          <a:xfrm>
            <a:off x="6223864" y="1325880"/>
            <a:ext cx="1617421" cy="566928"/>
          </a:xfrm>
          <a:prstGeom prst="rect">
            <a:avLst/>
          </a:prstGeom>
          <a:noFill/>
          <a:ln/>
        </p:spPr>
        <p:txBody>
          <a:bodyPr wrap="square" lIns="0" tIns="0" rIns="0" bIns="0" rtlCol="0" anchor="ctr"/>
          <a:lstStyle/>
          <a:p>
            <a:pPr marL="0" indent="0" algn="ctr">
              <a:buNone/>
            </a:pPr>
            <a:r>
              <a:rPr lang="en-GB" sz="1300" b="1" noProof="0" dirty="0">
                <a:solidFill>
                  <a:srgbClr val="5B7699"/>
                </a:solidFill>
                <a:latin typeface="Calibri" pitchFamily="34" charset="0"/>
                <a:ea typeface="Calibri" pitchFamily="34" charset="-122"/>
                <a:cs typeface="Calibri" pitchFamily="34" charset="-120"/>
              </a:rPr>
              <a:t>Lymph node spread</a:t>
            </a:r>
            <a:endParaRPr lang="en-GB" sz="1300" noProof="0" dirty="0"/>
          </a:p>
        </p:txBody>
      </p:sp>
      <p:sp>
        <p:nvSpPr>
          <p:cNvPr id="13" name="Shape 11"/>
          <p:cNvSpPr/>
          <p:nvPr/>
        </p:nvSpPr>
        <p:spPr>
          <a:xfrm>
            <a:off x="8042453" y="1325880"/>
            <a:ext cx="1727149" cy="566928"/>
          </a:xfrm>
          <a:prstGeom prst="roundRect">
            <a:avLst>
              <a:gd name="adj" fmla="val 14516"/>
            </a:avLst>
          </a:prstGeom>
          <a:solidFill>
            <a:srgbClr val="EDF3FA"/>
          </a:solidFill>
          <a:ln w="12700">
            <a:solidFill>
              <a:srgbClr val="C8D8EC"/>
            </a:solidFill>
            <a:prstDash val="solid"/>
          </a:ln>
        </p:spPr>
        <p:txBody>
          <a:bodyPr/>
          <a:lstStyle/>
          <a:p>
            <a:endParaRPr lang="en-GB" noProof="0" dirty="0"/>
          </a:p>
        </p:txBody>
      </p:sp>
      <p:sp>
        <p:nvSpPr>
          <p:cNvPr id="14" name="Text 12"/>
          <p:cNvSpPr txBox="1"/>
          <p:nvPr/>
        </p:nvSpPr>
        <p:spPr>
          <a:xfrm>
            <a:off x="8097317" y="1325880"/>
            <a:ext cx="1617421" cy="566928"/>
          </a:xfrm>
          <a:prstGeom prst="rect">
            <a:avLst/>
          </a:prstGeom>
          <a:noFill/>
          <a:ln/>
        </p:spPr>
        <p:txBody>
          <a:bodyPr wrap="square" lIns="0" tIns="0" rIns="0" bIns="0" rtlCol="0" anchor="ctr"/>
          <a:lstStyle/>
          <a:p>
            <a:pPr marL="0" indent="0" algn="ctr">
              <a:buNone/>
            </a:pPr>
            <a:r>
              <a:rPr lang="en-GB" sz="1300" b="1" noProof="0" dirty="0">
                <a:solidFill>
                  <a:srgbClr val="5B7699"/>
                </a:solidFill>
                <a:latin typeface="Calibri" pitchFamily="34" charset="0"/>
                <a:ea typeface="Calibri" pitchFamily="34" charset="-122"/>
                <a:cs typeface="Calibri" pitchFamily="34" charset="-120"/>
              </a:rPr>
              <a:t>Distant spread</a:t>
            </a:r>
            <a:endParaRPr lang="en-GB" sz="1300" noProof="0" dirty="0"/>
          </a:p>
        </p:txBody>
      </p:sp>
      <p:sp>
        <p:nvSpPr>
          <p:cNvPr id="15" name="Shape 13"/>
          <p:cNvSpPr/>
          <p:nvPr/>
        </p:nvSpPr>
        <p:spPr>
          <a:xfrm>
            <a:off x="9915906" y="1325880"/>
            <a:ext cx="1727149" cy="566928"/>
          </a:xfrm>
          <a:prstGeom prst="roundRect">
            <a:avLst>
              <a:gd name="adj" fmla="val 14516"/>
            </a:avLst>
          </a:prstGeom>
          <a:solidFill>
            <a:srgbClr val="EDF3FA"/>
          </a:solidFill>
          <a:ln w="12700">
            <a:solidFill>
              <a:srgbClr val="C8D8EC"/>
            </a:solidFill>
            <a:prstDash val="solid"/>
          </a:ln>
        </p:spPr>
        <p:txBody>
          <a:bodyPr/>
          <a:lstStyle/>
          <a:p>
            <a:endParaRPr lang="en-GB" noProof="0" dirty="0"/>
          </a:p>
        </p:txBody>
      </p:sp>
      <p:sp>
        <p:nvSpPr>
          <p:cNvPr id="16" name="Text 14"/>
          <p:cNvSpPr txBox="1"/>
          <p:nvPr/>
        </p:nvSpPr>
        <p:spPr>
          <a:xfrm>
            <a:off x="9970770" y="1325880"/>
            <a:ext cx="1617421" cy="566928"/>
          </a:xfrm>
          <a:prstGeom prst="rect">
            <a:avLst/>
          </a:prstGeom>
          <a:noFill/>
          <a:ln/>
        </p:spPr>
        <p:txBody>
          <a:bodyPr wrap="square" lIns="0" tIns="0" rIns="0" bIns="0" rtlCol="0" anchor="ctr"/>
          <a:lstStyle/>
          <a:p>
            <a:pPr marL="0" indent="0" algn="ctr">
              <a:buNone/>
            </a:pPr>
            <a:r>
              <a:rPr lang="en-GB" sz="1300" b="1" noProof="0" dirty="0">
                <a:solidFill>
                  <a:srgbClr val="5B7699"/>
                </a:solidFill>
                <a:latin typeface="Calibri" pitchFamily="34" charset="0"/>
                <a:ea typeface="Calibri" pitchFamily="34" charset="-122"/>
                <a:cs typeface="Calibri" pitchFamily="34" charset="-120"/>
              </a:rPr>
              <a:t>Time and size</a:t>
            </a:r>
            <a:endParaRPr lang="en-GB" sz="1300" noProof="0" dirty="0"/>
          </a:p>
        </p:txBody>
      </p:sp>
      <p:sp>
        <p:nvSpPr>
          <p:cNvPr id="17" name="Shape 15"/>
          <p:cNvSpPr/>
          <p:nvPr/>
        </p:nvSpPr>
        <p:spPr>
          <a:xfrm>
            <a:off x="548640" y="2148840"/>
            <a:ext cx="11094415" cy="4142232"/>
          </a:xfrm>
          <a:prstGeom prst="roundRect">
            <a:avLst>
              <a:gd name="adj" fmla="val 2286"/>
            </a:avLst>
          </a:prstGeom>
          <a:solidFill>
            <a:srgbClr val="F4F8FC"/>
          </a:solidFill>
          <a:ln w="15875">
            <a:solidFill>
              <a:srgbClr val="C8D8EC"/>
            </a:solidFill>
            <a:prstDash val="solid"/>
          </a:ln>
        </p:spPr>
        <p:txBody>
          <a:bodyPr/>
          <a:lstStyle/>
          <a:p>
            <a:endParaRPr lang="en-GB" noProof="0" dirty="0"/>
          </a:p>
        </p:txBody>
      </p:sp>
      <p:sp>
        <p:nvSpPr>
          <p:cNvPr id="21" name="Text 19"/>
          <p:cNvSpPr txBox="1"/>
          <p:nvPr/>
        </p:nvSpPr>
        <p:spPr>
          <a:xfrm>
            <a:off x="844475" y="2387301"/>
            <a:ext cx="10743716" cy="1737360"/>
          </a:xfrm>
          <a:prstGeom prst="rect">
            <a:avLst/>
          </a:prstGeom>
          <a:noFill/>
          <a:ln/>
        </p:spPr>
        <p:txBody>
          <a:bodyPr wrap="square" lIns="0" tIns="0" rIns="0" bIns="0" rtlCol="0" anchor="t"/>
          <a:lstStyle/>
          <a:p>
            <a:pPr marL="0" indent="0">
              <a:lnSpc>
                <a:spcPct val="98000"/>
              </a:lnSpc>
              <a:buNone/>
            </a:pPr>
            <a:r>
              <a:rPr lang="en-GB" sz="2000" noProof="0" dirty="0">
                <a:solidFill>
                  <a:srgbClr val="0B1F3F"/>
                </a:solidFill>
                <a:latin typeface="Calibri" pitchFamily="34" charset="0"/>
                <a:ea typeface="Calibri" pitchFamily="34" charset="-122"/>
                <a:cs typeface="Calibri" pitchFamily="34" charset="-120"/>
              </a:rPr>
              <a:t>Some disease breaks through the wall of the duct or lobule and invades the surrounding breast tissue. This is invasive breast cancer, and it can now reach lymphatics and blood vessels.</a:t>
            </a:r>
            <a:endParaRPr lang="en-GB" sz="2000" noProof="0" dirty="0"/>
          </a:p>
        </p:txBody>
      </p:sp>
      <p:pic>
        <p:nvPicPr>
          <p:cNvPr id="22" name="Imagen 21">
            <a:extLst>
              <a:ext uri="{FF2B5EF4-FFF2-40B4-BE49-F238E27FC236}">
                <a16:creationId xmlns:a16="http://schemas.microsoft.com/office/drawing/2014/main" id="{253BF423-8A96-5291-7A69-31D79F23FC2E}"/>
              </a:ext>
            </a:extLst>
          </p:cNvPr>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a:xfrm>
            <a:off x="2180674" y="3072472"/>
            <a:ext cx="7684041" cy="3031125"/>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en-GB" sz="1100" b="1" kern="0" spc="100" noProof="0" dirty="0">
                <a:solidFill>
                  <a:srgbClr val="5B7699"/>
                </a:solidFill>
                <a:latin typeface="Calibri" pitchFamily="34" charset="0"/>
                <a:ea typeface="Calibri" pitchFamily="34" charset="-122"/>
                <a:cs typeface="Calibri" pitchFamily="34" charset="-120"/>
              </a:rPr>
              <a:t>S E S S I O N   1</a:t>
            </a:r>
            <a:endParaRPr lang="en-GB"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en-GB" sz="1000" noProof="0" dirty="0">
                <a:solidFill>
                  <a:srgbClr val="5B7699"/>
                </a:solidFill>
                <a:latin typeface="Calibri" pitchFamily="34" charset="0"/>
                <a:ea typeface="Calibri" pitchFamily="34" charset="-122"/>
                <a:cs typeface="Calibri" pitchFamily="34" charset="-120"/>
              </a:rPr>
              <a:t>Breast Cancer  |  Frontline HCP  |  Rwanda Biomedical Centre</a:t>
            </a:r>
            <a:endParaRPr lang="en-GB"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en-GB" sz="3000" b="1" noProof="0" dirty="0">
                <a:solidFill>
                  <a:srgbClr val="12315B"/>
                </a:solidFill>
                <a:latin typeface="Calibri" pitchFamily="34" charset="0"/>
                <a:ea typeface="Calibri" pitchFamily="34" charset="-122"/>
                <a:cs typeface="Calibri" pitchFamily="34" charset="-120"/>
              </a:rPr>
              <a:t>How breast cancer develops</a:t>
            </a:r>
            <a:endParaRPr lang="en-GB" sz="3000" noProof="0" dirty="0"/>
          </a:p>
        </p:txBody>
      </p:sp>
      <p:sp>
        <p:nvSpPr>
          <p:cNvPr id="5" name="Shape 3"/>
          <p:cNvSpPr/>
          <p:nvPr/>
        </p:nvSpPr>
        <p:spPr>
          <a:xfrm>
            <a:off x="548640" y="1325880"/>
            <a:ext cx="1727149" cy="566928"/>
          </a:xfrm>
          <a:prstGeom prst="roundRect">
            <a:avLst>
              <a:gd name="adj" fmla="val 14516"/>
            </a:avLst>
          </a:prstGeom>
          <a:solidFill>
            <a:srgbClr val="EDF3FA"/>
          </a:solidFill>
          <a:ln w="12700">
            <a:solidFill>
              <a:srgbClr val="C8D8EC"/>
            </a:solidFill>
            <a:prstDash val="solid"/>
          </a:ln>
        </p:spPr>
        <p:txBody>
          <a:bodyPr/>
          <a:lstStyle/>
          <a:p>
            <a:endParaRPr lang="en-GB" noProof="0" dirty="0"/>
          </a:p>
        </p:txBody>
      </p:sp>
      <p:sp>
        <p:nvSpPr>
          <p:cNvPr id="6" name="Text 4"/>
          <p:cNvSpPr txBox="1"/>
          <p:nvPr/>
        </p:nvSpPr>
        <p:spPr>
          <a:xfrm>
            <a:off x="603504" y="1325880"/>
            <a:ext cx="1617421" cy="566928"/>
          </a:xfrm>
          <a:prstGeom prst="rect">
            <a:avLst/>
          </a:prstGeom>
          <a:noFill/>
          <a:ln/>
        </p:spPr>
        <p:txBody>
          <a:bodyPr wrap="square" lIns="0" tIns="0" rIns="0" bIns="0" rtlCol="0" anchor="ctr"/>
          <a:lstStyle/>
          <a:p>
            <a:pPr marL="0" indent="0" algn="ctr">
              <a:buNone/>
            </a:pPr>
            <a:r>
              <a:rPr lang="en-GB" sz="1300" b="1" noProof="0" dirty="0">
                <a:solidFill>
                  <a:srgbClr val="5B7699"/>
                </a:solidFill>
                <a:latin typeface="Calibri" pitchFamily="34" charset="0"/>
                <a:ea typeface="Calibri" pitchFamily="34" charset="-122"/>
                <a:cs typeface="Calibri" pitchFamily="34" charset="-120"/>
              </a:rPr>
              <a:t>Abnormal growth</a:t>
            </a:r>
            <a:endParaRPr lang="en-GB" sz="1300" noProof="0" dirty="0"/>
          </a:p>
        </p:txBody>
      </p:sp>
      <p:sp>
        <p:nvSpPr>
          <p:cNvPr id="7" name="Shape 5"/>
          <p:cNvSpPr/>
          <p:nvPr/>
        </p:nvSpPr>
        <p:spPr>
          <a:xfrm>
            <a:off x="2422093" y="1325880"/>
            <a:ext cx="1727149" cy="566928"/>
          </a:xfrm>
          <a:prstGeom prst="roundRect">
            <a:avLst>
              <a:gd name="adj" fmla="val 14516"/>
            </a:avLst>
          </a:prstGeom>
          <a:solidFill>
            <a:srgbClr val="EDF3FA"/>
          </a:solidFill>
          <a:ln w="12700">
            <a:solidFill>
              <a:srgbClr val="C8D8EC"/>
            </a:solidFill>
            <a:prstDash val="solid"/>
          </a:ln>
        </p:spPr>
        <p:txBody>
          <a:bodyPr/>
          <a:lstStyle/>
          <a:p>
            <a:endParaRPr lang="en-GB" noProof="0" dirty="0"/>
          </a:p>
        </p:txBody>
      </p:sp>
      <p:sp>
        <p:nvSpPr>
          <p:cNvPr id="8" name="Text 6"/>
          <p:cNvSpPr txBox="1"/>
          <p:nvPr/>
        </p:nvSpPr>
        <p:spPr>
          <a:xfrm>
            <a:off x="2476957" y="1325880"/>
            <a:ext cx="1617421" cy="566928"/>
          </a:xfrm>
          <a:prstGeom prst="rect">
            <a:avLst/>
          </a:prstGeom>
          <a:noFill/>
          <a:ln/>
        </p:spPr>
        <p:txBody>
          <a:bodyPr wrap="square" lIns="0" tIns="0" rIns="0" bIns="0" rtlCol="0" anchor="ctr"/>
          <a:lstStyle/>
          <a:p>
            <a:pPr marL="0" indent="0" algn="ctr">
              <a:buNone/>
            </a:pPr>
            <a:r>
              <a:rPr lang="en-GB" sz="1300" b="1" noProof="0" dirty="0">
                <a:solidFill>
                  <a:srgbClr val="5B7699"/>
                </a:solidFill>
                <a:latin typeface="Calibri" pitchFamily="34" charset="0"/>
                <a:ea typeface="Calibri" pitchFamily="34" charset="-122"/>
                <a:cs typeface="Calibri" pitchFamily="34" charset="-120"/>
              </a:rPr>
              <a:t>In situ disease</a:t>
            </a:r>
            <a:endParaRPr lang="en-GB" sz="1300" noProof="0" dirty="0"/>
          </a:p>
        </p:txBody>
      </p:sp>
      <p:sp>
        <p:nvSpPr>
          <p:cNvPr id="9" name="Shape 7"/>
          <p:cNvSpPr/>
          <p:nvPr/>
        </p:nvSpPr>
        <p:spPr>
          <a:xfrm>
            <a:off x="4295546" y="1325880"/>
            <a:ext cx="1727149" cy="566928"/>
          </a:xfrm>
          <a:prstGeom prst="roundRect">
            <a:avLst>
              <a:gd name="adj" fmla="val 14516"/>
            </a:avLst>
          </a:prstGeom>
          <a:solidFill>
            <a:srgbClr val="EDF3FA"/>
          </a:solidFill>
          <a:ln w="12700">
            <a:solidFill>
              <a:srgbClr val="C8D8EC"/>
            </a:solidFill>
            <a:prstDash val="solid"/>
          </a:ln>
        </p:spPr>
        <p:txBody>
          <a:bodyPr/>
          <a:lstStyle/>
          <a:p>
            <a:endParaRPr lang="en-GB" noProof="0" dirty="0"/>
          </a:p>
        </p:txBody>
      </p:sp>
      <p:sp>
        <p:nvSpPr>
          <p:cNvPr id="10" name="Text 8"/>
          <p:cNvSpPr txBox="1"/>
          <p:nvPr/>
        </p:nvSpPr>
        <p:spPr>
          <a:xfrm>
            <a:off x="4350410" y="1325880"/>
            <a:ext cx="1617421" cy="566928"/>
          </a:xfrm>
          <a:prstGeom prst="rect">
            <a:avLst/>
          </a:prstGeom>
          <a:noFill/>
          <a:ln/>
        </p:spPr>
        <p:txBody>
          <a:bodyPr wrap="square" lIns="0" tIns="0" rIns="0" bIns="0" rtlCol="0" anchor="ctr"/>
          <a:lstStyle/>
          <a:p>
            <a:pPr marL="0" indent="0" algn="ctr">
              <a:buNone/>
            </a:pPr>
            <a:r>
              <a:rPr lang="en-GB" sz="1300" b="1" noProof="0" dirty="0">
                <a:solidFill>
                  <a:srgbClr val="5B7699"/>
                </a:solidFill>
                <a:latin typeface="Calibri" pitchFamily="34" charset="0"/>
                <a:ea typeface="Calibri" pitchFamily="34" charset="-122"/>
                <a:cs typeface="Calibri" pitchFamily="34" charset="-120"/>
              </a:rPr>
              <a:t>Invasive cancer</a:t>
            </a:r>
            <a:endParaRPr lang="en-GB" sz="1300" noProof="0" dirty="0"/>
          </a:p>
        </p:txBody>
      </p:sp>
      <p:sp>
        <p:nvSpPr>
          <p:cNvPr id="11" name="Shape 9"/>
          <p:cNvSpPr/>
          <p:nvPr/>
        </p:nvSpPr>
        <p:spPr>
          <a:xfrm>
            <a:off x="6169000" y="1325880"/>
            <a:ext cx="1727149" cy="566928"/>
          </a:xfrm>
          <a:prstGeom prst="roundRect">
            <a:avLst>
              <a:gd name="adj" fmla="val 14516"/>
            </a:avLst>
          </a:prstGeom>
          <a:solidFill>
            <a:srgbClr val="12315B"/>
          </a:solidFill>
          <a:ln w="12700">
            <a:solidFill>
              <a:srgbClr val="12315B"/>
            </a:solidFill>
            <a:prstDash val="solid"/>
          </a:ln>
        </p:spPr>
        <p:txBody>
          <a:bodyPr/>
          <a:lstStyle/>
          <a:p>
            <a:endParaRPr lang="en-GB" noProof="0" dirty="0"/>
          </a:p>
        </p:txBody>
      </p:sp>
      <p:sp>
        <p:nvSpPr>
          <p:cNvPr id="12" name="Text 10"/>
          <p:cNvSpPr txBox="1"/>
          <p:nvPr/>
        </p:nvSpPr>
        <p:spPr>
          <a:xfrm>
            <a:off x="6223864" y="1325880"/>
            <a:ext cx="1617421" cy="566928"/>
          </a:xfrm>
          <a:prstGeom prst="rect">
            <a:avLst/>
          </a:prstGeom>
          <a:noFill/>
          <a:ln/>
        </p:spPr>
        <p:txBody>
          <a:bodyPr wrap="square" lIns="0" tIns="0" rIns="0" bIns="0" rtlCol="0" anchor="ctr"/>
          <a:lstStyle/>
          <a:p>
            <a:pPr marL="0" indent="0" algn="ctr">
              <a:buNone/>
            </a:pPr>
            <a:r>
              <a:rPr lang="en-GB" sz="1300" b="1" noProof="0" dirty="0">
                <a:solidFill>
                  <a:srgbClr val="FFFFFF"/>
                </a:solidFill>
                <a:latin typeface="Calibri" pitchFamily="34" charset="0"/>
                <a:ea typeface="Calibri" pitchFamily="34" charset="-122"/>
                <a:cs typeface="Calibri" pitchFamily="34" charset="-120"/>
              </a:rPr>
              <a:t>Lymph node spread</a:t>
            </a:r>
            <a:endParaRPr lang="en-GB" sz="1300" noProof="0" dirty="0"/>
          </a:p>
        </p:txBody>
      </p:sp>
      <p:sp>
        <p:nvSpPr>
          <p:cNvPr id="13" name="Shape 11"/>
          <p:cNvSpPr/>
          <p:nvPr/>
        </p:nvSpPr>
        <p:spPr>
          <a:xfrm>
            <a:off x="8042453" y="1325880"/>
            <a:ext cx="1727149" cy="566928"/>
          </a:xfrm>
          <a:prstGeom prst="roundRect">
            <a:avLst>
              <a:gd name="adj" fmla="val 14516"/>
            </a:avLst>
          </a:prstGeom>
          <a:solidFill>
            <a:srgbClr val="EDF3FA"/>
          </a:solidFill>
          <a:ln w="12700">
            <a:solidFill>
              <a:srgbClr val="C8D8EC"/>
            </a:solidFill>
            <a:prstDash val="solid"/>
          </a:ln>
        </p:spPr>
        <p:txBody>
          <a:bodyPr/>
          <a:lstStyle/>
          <a:p>
            <a:endParaRPr lang="en-GB" noProof="0" dirty="0"/>
          </a:p>
        </p:txBody>
      </p:sp>
      <p:sp>
        <p:nvSpPr>
          <p:cNvPr id="14" name="Text 12"/>
          <p:cNvSpPr txBox="1"/>
          <p:nvPr/>
        </p:nvSpPr>
        <p:spPr>
          <a:xfrm>
            <a:off x="8097317" y="1325880"/>
            <a:ext cx="1617421" cy="566928"/>
          </a:xfrm>
          <a:prstGeom prst="rect">
            <a:avLst/>
          </a:prstGeom>
          <a:noFill/>
          <a:ln/>
        </p:spPr>
        <p:txBody>
          <a:bodyPr wrap="square" lIns="0" tIns="0" rIns="0" bIns="0" rtlCol="0" anchor="ctr"/>
          <a:lstStyle/>
          <a:p>
            <a:pPr marL="0" indent="0" algn="ctr">
              <a:buNone/>
            </a:pPr>
            <a:r>
              <a:rPr lang="en-GB" sz="1300" b="1" noProof="0" dirty="0">
                <a:solidFill>
                  <a:srgbClr val="5B7699"/>
                </a:solidFill>
                <a:latin typeface="Calibri" pitchFamily="34" charset="0"/>
                <a:ea typeface="Calibri" pitchFamily="34" charset="-122"/>
                <a:cs typeface="Calibri" pitchFamily="34" charset="-120"/>
              </a:rPr>
              <a:t>Distant spread</a:t>
            </a:r>
            <a:endParaRPr lang="en-GB" sz="1300" noProof="0" dirty="0"/>
          </a:p>
        </p:txBody>
      </p:sp>
      <p:sp>
        <p:nvSpPr>
          <p:cNvPr id="15" name="Shape 13"/>
          <p:cNvSpPr/>
          <p:nvPr/>
        </p:nvSpPr>
        <p:spPr>
          <a:xfrm>
            <a:off x="9915906" y="1325880"/>
            <a:ext cx="1727149" cy="566928"/>
          </a:xfrm>
          <a:prstGeom prst="roundRect">
            <a:avLst>
              <a:gd name="adj" fmla="val 14516"/>
            </a:avLst>
          </a:prstGeom>
          <a:solidFill>
            <a:srgbClr val="EDF3FA"/>
          </a:solidFill>
          <a:ln w="12700">
            <a:solidFill>
              <a:srgbClr val="C8D8EC"/>
            </a:solidFill>
            <a:prstDash val="solid"/>
          </a:ln>
        </p:spPr>
        <p:txBody>
          <a:bodyPr/>
          <a:lstStyle/>
          <a:p>
            <a:endParaRPr lang="en-GB" noProof="0" dirty="0"/>
          </a:p>
        </p:txBody>
      </p:sp>
      <p:sp>
        <p:nvSpPr>
          <p:cNvPr id="16" name="Text 14"/>
          <p:cNvSpPr txBox="1"/>
          <p:nvPr/>
        </p:nvSpPr>
        <p:spPr>
          <a:xfrm>
            <a:off x="9970770" y="1325880"/>
            <a:ext cx="1617421" cy="566928"/>
          </a:xfrm>
          <a:prstGeom prst="rect">
            <a:avLst/>
          </a:prstGeom>
          <a:noFill/>
          <a:ln/>
        </p:spPr>
        <p:txBody>
          <a:bodyPr wrap="square" lIns="0" tIns="0" rIns="0" bIns="0" rtlCol="0" anchor="ctr"/>
          <a:lstStyle/>
          <a:p>
            <a:pPr marL="0" indent="0" algn="ctr">
              <a:buNone/>
            </a:pPr>
            <a:r>
              <a:rPr lang="en-GB" sz="1300" b="1" noProof="0" dirty="0">
                <a:solidFill>
                  <a:srgbClr val="5B7699"/>
                </a:solidFill>
                <a:latin typeface="Calibri" pitchFamily="34" charset="0"/>
                <a:ea typeface="Calibri" pitchFamily="34" charset="-122"/>
                <a:cs typeface="Calibri" pitchFamily="34" charset="-120"/>
              </a:rPr>
              <a:t>Time and size</a:t>
            </a:r>
            <a:endParaRPr lang="en-GB" sz="1300" noProof="0" dirty="0"/>
          </a:p>
        </p:txBody>
      </p:sp>
      <p:sp>
        <p:nvSpPr>
          <p:cNvPr id="17" name="Shape 15"/>
          <p:cNvSpPr/>
          <p:nvPr/>
        </p:nvSpPr>
        <p:spPr>
          <a:xfrm>
            <a:off x="548640" y="2148840"/>
            <a:ext cx="11094415" cy="4142232"/>
          </a:xfrm>
          <a:prstGeom prst="roundRect">
            <a:avLst>
              <a:gd name="adj" fmla="val 2286"/>
            </a:avLst>
          </a:prstGeom>
          <a:solidFill>
            <a:srgbClr val="F4F8FC"/>
          </a:solidFill>
          <a:ln w="15875">
            <a:solidFill>
              <a:srgbClr val="C8D8EC"/>
            </a:solidFill>
            <a:prstDash val="solid"/>
          </a:ln>
        </p:spPr>
        <p:txBody>
          <a:bodyPr/>
          <a:lstStyle/>
          <a:p>
            <a:endParaRPr lang="en-GB" noProof="0" dirty="0"/>
          </a:p>
        </p:txBody>
      </p:sp>
      <p:sp>
        <p:nvSpPr>
          <p:cNvPr id="21" name="Text 19"/>
          <p:cNvSpPr txBox="1"/>
          <p:nvPr/>
        </p:nvSpPr>
        <p:spPr>
          <a:xfrm>
            <a:off x="826546" y="2405230"/>
            <a:ext cx="10761645" cy="1737360"/>
          </a:xfrm>
          <a:prstGeom prst="rect">
            <a:avLst/>
          </a:prstGeom>
          <a:noFill/>
          <a:ln/>
        </p:spPr>
        <p:txBody>
          <a:bodyPr wrap="square" lIns="0" tIns="0" rIns="0" bIns="0" rtlCol="0" anchor="t"/>
          <a:lstStyle/>
          <a:p>
            <a:pPr marL="0" indent="0">
              <a:lnSpc>
                <a:spcPct val="98000"/>
              </a:lnSpc>
              <a:buNone/>
            </a:pPr>
            <a:r>
              <a:rPr lang="en-GB" sz="2000" noProof="0" dirty="0">
                <a:solidFill>
                  <a:srgbClr val="0B1F3F"/>
                </a:solidFill>
                <a:latin typeface="Calibri" pitchFamily="34" charset="0"/>
                <a:ea typeface="Calibri" pitchFamily="34" charset="-122"/>
                <a:cs typeface="Calibri" pitchFamily="34" charset="-120"/>
              </a:rPr>
              <a:t>Tumour cells may travel along lymphatic channels and lodge in the axillary lymph nodes. Node involvement indicates that disease has moved beyond the breast.</a:t>
            </a:r>
            <a:endParaRPr lang="en-GB" sz="2000" noProof="0" dirty="0"/>
          </a:p>
        </p:txBody>
      </p:sp>
      <p:pic>
        <p:nvPicPr>
          <p:cNvPr id="22" name="Imagen 21">
            <a:extLst>
              <a:ext uri="{FF2B5EF4-FFF2-40B4-BE49-F238E27FC236}">
                <a16:creationId xmlns:a16="http://schemas.microsoft.com/office/drawing/2014/main" id="{11A70566-91A1-A092-4D41-C7CC88C06BF4}"/>
              </a:ext>
            </a:extLst>
          </p:cNvPr>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a:xfrm>
            <a:off x="3780166" y="3145573"/>
            <a:ext cx="4375329" cy="2916886"/>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2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en-GB" sz="1100" b="1" kern="0" spc="100" noProof="0" dirty="0">
                <a:solidFill>
                  <a:srgbClr val="5B7699"/>
                </a:solidFill>
                <a:latin typeface="Calibri" pitchFamily="34" charset="0"/>
                <a:ea typeface="Calibri" pitchFamily="34" charset="-122"/>
                <a:cs typeface="Calibri" pitchFamily="34" charset="-120"/>
              </a:rPr>
              <a:t>S E S S I O N   1</a:t>
            </a:r>
            <a:endParaRPr lang="en-GB"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en-GB" sz="1000" noProof="0" dirty="0">
                <a:solidFill>
                  <a:srgbClr val="5B7699"/>
                </a:solidFill>
                <a:latin typeface="Calibri" pitchFamily="34" charset="0"/>
                <a:ea typeface="Calibri" pitchFamily="34" charset="-122"/>
                <a:cs typeface="Calibri" pitchFamily="34" charset="-120"/>
              </a:rPr>
              <a:t>Breast Cancer  |  Frontline HCP  |  Rwanda Biomedical Centre</a:t>
            </a:r>
            <a:endParaRPr lang="en-GB"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en-GB" sz="3000" b="1" noProof="0" dirty="0">
                <a:solidFill>
                  <a:srgbClr val="12315B"/>
                </a:solidFill>
                <a:latin typeface="Calibri" pitchFamily="34" charset="0"/>
                <a:ea typeface="Calibri" pitchFamily="34" charset="-122"/>
                <a:cs typeface="Calibri" pitchFamily="34" charset="-120"/>
              </a:rPr>
              <a:t>How breast cancer develops</a:t>
            </a:r>
            <a:endParaRPr lang="en-GB" sz="3000" noProof="0" dirty="0"/>
          </a:p>
        </p:txBody>
      </p:sp>
      <p:sp>
        <p:nvSpPr>
          <p:cNvPr id="5" name="Shape 3"/>
          <p:cNvSpPr/>
          <p:nvPr/>
        </p:nvSpPr>
        <p:spPr>
          <a:xfrm>
            <a:off x="548640" y="1325880"/>
            <a:ext cx="1727149" cy="566928"/>
          </a:xfrm>
          <a:prstGeom prst="roundRect">
            <a:avLst>
              <a:gd name="adj" fmla="val 14516"/>
            </a:avLst>
          </a:prstGeom>
          <a:solidFill>
            <a:srgbClr val="EDF3FA"/>
          </a:solidFill>
          <a:ln w="12700">
            <a:solidFill>
              <a:srgbClr val="C8D8EC"/>
            </a:solidFill>
            <a:prstDash val="solid"/>
          </a:ln>
        </p:spPr>
        <p:txBody>
          <a:bodyPr/>
          <a:lstStyle/>
          <a:p>
            <a:endParaRPr lang="en-GB" noProof="0" dirty="0"/>
          </a:p>
        </p:txBody>
      </p:sp>
      <p:sp>
        <p:nvSpPr>
          <p:cNvPr id="6" name="Text 4"/>
          <p:cNvSpPr txBox="1"/>
          <p:nvPr/>
        </p:nvSpPr>
        <p:spPr>
          <a:xfrm>
            <a:off x="603504" y="1325880"/>
            <a:ext cx="1617421" cy="566928"/>
          </a:xfrm>
          <a:prstGeom prst="rect">
            <a:avLst/>
          </a:prstGeom>
          <a:noFill/>
          <a:ln/>
        </p:spPr>
        <p:txBody>
          <a:bodyPr wrap="square" lIns="0" tIns="0" rIns="0" bIns="0" rtlCol="0" anchor="ctr"/>
          <a:lstStyle/>
          <a:p>
            <a:pPr marL="0" indent="0" algn="ctr">
              <a:buNone/>
            </a:pPr>
            <a:r>
              <a:rPr lang="en-GB" sz="1300" b="1" noProof="0" dirty="0">
                <a:solidFill>
                  <a:srgbClr val="5B7699"/>
                </a:solidFill>
                <a:latin typeface="Calibri" pitchFamily="34" charset="0"/>
                <a:ea typeface="Calibri" pitchFamily="34" charset="-122"/>
                <a:cs typeface="Calibri" pitchFamily="34" charset="-120"/>
              </a:rPr>
              <a:t>Abnormal growth</a:t>
            </a:r>
            <a:endParaRPr lang="en-GB" sz="1300" noProof="0" dirty="0"/>
          </a:p>
        </p:txBody>
      </p:sp>
      <p:sp>
        <p:nvSpPr>
          <p:cNvPr id="7" name="Shape 5"/>
          <p:cNvSpPr/>
          <p:nvPr/>
        </p:nvSpPr>
        <p:spPr>
          <a:xfrm>
            <a:off x="2422093" y="1325880"/>
            <a:ext cx="1727149" cy="566928"/>
          </a:xfrm>
          <a:prstGeom prst="roundRect">
            <a:avLst>
              <a:gd name="adj" fmla="val 14516"/>
            </a:avLst>
          </a:prstGeom>
          <a:solidFill>
            <a:srgbClr val="EDF3FA"/>
          </a:solidFill>
          <a:ln w="12700">
            <a:solidFill>
              <a:srgbClr val="C8D8EC"/>
            </a:solidFill>
            <a:prstDash val="solid"/>
          </a:ln>
        </p:spPr>
        <p:txBody>
          <a:bodyPr/>
          <a:lstStyle/>
          <a:p>
            <a:endParaRPr lang="en-GB" noProof="0" dirty="0"/>
          </a:p>
        </p:txBody>
      </p:sp>
      <p:sp>
        <p:nvSpPr>
          <p:cNvPr id="8" name="Text 6"/>
          <p:cNvSpPr txBox="1"/>
          <p:nvPr/>
        </p:nvSpPr>
        <p:spPr>
          <a:xfrm>
            <a:off x="2476957" y="1325880"/>
            <a:ext cx="1617421" cy="566928"/>
          </a:xfrm>
          <a:prstGeom prst="rect">
            <a:avLst/>
          </a:prstGeom>
          <a:noFill/>
          <a:ln/>
        </p:spPr>
        <p:txBody>
          <a:bodyPr wrap="square" lIns="0" tIns="0" rIns="0" bIns="0" rtlCol="0" anchor="ctr"/>
          <a:lstStyle/>
          <a:p>
            <a:pPr marL="0" indent="0" algn="ctr">
              <a:buNone/>
            </a:pPr>
            <a:r>
              <a:rPr lang="en-GB" sz="1300" b="1" noProof="0" dirty="0">
                <a:solidFill>
                  <a:srgbClr val="5B7699"/>
                </a:solidFill>
                <a:latin typeface="Calibri" pitchFamily="34" charset="0"/>
                <a:ea typeface="Calibri" pitchFamily="34" charset="-122"/>
                <a:cs typeface="Calibri" pitchFamily="34" charset="-120"/>
              </a:rPr>
              <a:t>In situ disease</a:t>
            </a:r>
            <a:endParaRPr lang="en-GB" sz="1300" noProof="0" dirty="0"/>
          </a:p>
        </p:txBody>
      </p:sp>
      <p:sp>
        <p:nvSpPr>
          <p:cNvPr id="9" name="Shape 7"/>
          <p:cNvSpPr/>
          <p:nvPr/>
        </p:nvSpPr>
        <p:spPr>
          <a:xfrm>
            <a:off x="4295546" y="1325880"/>
            <a:ext cx="1727149" cy="566928"/>
          </a:xfrm>
          <a:prstGeom prst="roundRect">
            <a:avLst>
              <a:gd name="adj" fmla="val 14516"/>
            </a:avLst>
          </a:prstGeom>
          <a:solidFill>
            <a:srgbClr val="EDF3FA"/>
          </a:solidFill>
          <a:ln w="12700">
            <a:solidFill>
              <a:srgbClr val="C8D8EC"/>
            </a:solidFill>
            <a:prstDash val="solid"/>
          </a:ln>
        </p:spPr>
        <p:txBody>
          <a:bodyPr/>
          <a:lstStyle/>
          <a:p>
            <a:endParaRPr lang="en-GB" noProof="0" dirty="0"/>
          </a:p>
        </p:txBody>
      </p:sp>
      <p:sp>
        <p:nvSpPr>
          <p:cNvPr id="10" name="Text 8"/>
          <p:cNvSpPr txBox="1"/>
          <p:nvPr/>
        </p:nvSpPr>
        <p:spPr>
          <a:xfrm>
            <a:off x="4350410" y="1325880"/>
            <a:ext cx="1617421" cy="566928"/>
          </a:xfrm>
          <a:prstGeom prst="rect">
            <a:avLst/>
          </a:prstGeom>
          <a:noFill/>
          <a:ln/>
        </p:spPr>
        <p:txBody>
          <a:bodyPr wrap="square" lIns="0" tIns="0" rIns="0" bIns="0" rtlCol="0" anchor="ctr"/>
          <a:lstStyle/>
          <a:p>
            <a:pPr marL="0" indent="0" algn="ctr">
              <a:buNone/>
            </a:pPr>
            <a:r>
              <a:rPr lang="en-GB" sz="1300" b="1" noProof="0" dirty="0">
                <a:solidFill>
                  <a:srgbClr val="5B7699"/>
                </a:solidFill>
                <a:latin typeface="Calibri" pitchFamily="34" charset="0"/>
                <a:ea typeface="Calibri" pitchFamily="34" charset="-122"/>
                <a:cs typeface="Calibri" pitchFamily="34" charset="-120"/>
              </a:rPr>
              <a:t>Invasive cancer</a:t>
            </a:r>
            <a:endParaRPr lang="en-GB" sz="1300" noProof="0" dirty="0"/>
          </a:p>
        </p:txBody>
      </p:sp>
      <p:sp>
        <p:nvSpPr>
          <p:cNvPr id="11" name="Shape 9"/>
          <p:cNvSpPr/>
          <p:nvPr/>
        </p:nvSpPr>
        <p:spPr>
          <a:xfrm>
            <a:off x="6169000" y="1325880"/>
            <a:ext cx="1727149" cy="566928"/>
          </a:xfrm>
          <a:prstGeom prst="roundRect">
            <a:avLst>
              <a:gd name="adj" fmla="val 14516"/>
            </a:avLst>
          </a:prstGeom>
          <a:solidFill>
            <a:srgbClr val="EDF3FA"/>
          </a:solidFill>
          <a:ln w="12700">
            <a:solidFill>
              <a:srgbClr val="C8D8EC"/>
            </a:solidFill>
            <a:prstDash val="solid"/>
          </a:ln>
        </p:spPr>
        <p:txBody>
          <a:bodyPr/>
          <a:lstStyle/>
          <a:p>
            <a:endParaRPr lang="en-GB" noProof="0" dirty="0"/>
          </a:p>
        </p:txBody>
      </p:sp>
      <p:sp>
        <p:nvSpPr>
          <p:cNvPr id="12" name="Text 10"/>
          <p:cNvSpPr txBox="1"/>
          <p:nvPr/>
        </p:nvSpPr>
        <p:spPr>
          <a:xfrm>
            <a:off x="6223864" y="1325880"/>
            <a:ext cx="1617421" cy="566928"/>
          </a:xfrm>
          <a:prstGeom prst="rect">
            <a:avLst/>
          </a:prstGeom>
          <a:noFill/>
          <a:ln/>
        </p:spPr>
        <p:txBody>
          <a:bodyPr wrap="square" lIns="0" tIns="0" rIns="0" bIns="0" rtlCol="0" anchor="ctr"/>
          <a:lstStyle/>
          <a:p>
            <a:pPr marL="0" indent="0" algn="ctr">
              <a:buNone/>
            </a:pPr>
            <a:r>
              <a:rPr lang="en-GB" sz="1300" b="1" noProof="0" dirty="0">
                <a:solidFill>
                  <a:srgbClr val="5B7699"/>
                </a:solidFill>
                <a:latin typeface="Calibri" pitchFamily="34" charset="0"/>
                <a:ea typeface="Calibri" pitchFamily="34" charset="-122"/>
                <a:cs typeface="Calibri" pitchFamily="34" charset="-120"/>
              </a:rPr>
              <a:t>Lymph node spread</a:t>
            </a:r>
            <a:endParaRPr lang="en-GB" sz="1300" noProof="0" dirty="0"/>
          </a:p>
        </p:txBody>
      </p:sp>
      <p:sp>
        <p:nvSpPr>
          <p:cNvPr id="13" name="Shape 11"/>
          <p:cNvSpPr/>
          <p:nvPr/>
        </p:nvSpPr>
        <p:spPr>
          <a:xfrm>
            <a:off x="8042453" y="1325880"/>
            <a:ext cx="1727149" cy="566928"/>
          </a:xfrm>
          <a:prstGeom prst="roundRect">
            <a:avLst>
              <a:gd name="adj" fmla="val 14516"/>
            </a:avLst>
          </a:prstGeom>
          <a:solidFill>
            <a:srgbClr val="12315B"/>
          </a:solidFill>
          <a:ln w="12700">
            <a:solidFill>
              <a:srgbClr val="12315B"/>
            </a:solidFill>
            <a:prstDash val="solid"/>
          </a:ln>
        </p:spPr>
        <p:txBody>
          <a:bodyPr/>
          <a:lstStyle/>
          <a:p>
            <a:endParaRPr lang="en-GB" noProof="0" dirty="0"/>
          </a:p>
        </p:txBody>
      </p:sp>
      <p:sp>
        <p:nvSpPr>
          <p:cNvPr id="14" name="Text 12"/>
          <p:cNvSpPr txBox="1"/>
          <p:nvPr/>
        </p:nvSpPr>
        <p:spPr>
          <a:xfrm>
            <a:off x="8097317" y="1325880"/>
            <a:ext cx="1617421" cy="566928"/>
          </a:xfrm>
          <a:prstGeom prst="rect">
            <a:avLst/>
          </a:prstGeom>
          <a:noFill/>
          <a:ln/>
        </p:spPr>
        <p:txBody>
          <a:bodyPr wrap="square" lIns="0" tIns="0" rIns="0" bIns="0" rtlCol="0" anchor="ctr"/>
          <a:lstStyle/>
          <a:p>
            <a:pPr marL="0" indent="0" algn="ctr">
              <a:buNone/>
            </a:pPr>
            <a:r>
              <a:rPr lang="en-GB" sz="1300" b="1" noProof="0" dirty="0">
                <a:solidFill>
                  <a:srgbClr val="FFFFFF"/>
                </a:solidFill>
                <a:latin typeface="Calibri" pitchFamily="34" charset="0"/>
                <a:ea typeface="Calibri" pitchFamily="34" charset="-122"/>
                <a:cs typeface="Calibri" pitchFamily="34" charset="-120"/>
              </a:rPr>
              <a:t>Distant spread</a:t>
            </a:r>
            <a:endParaRPr lang="en-GB" sz="1300" noProof="0" dirty="0"/>
          </a:p>
        </p:txBody>
      </p:sp>
      <p:sp>
        <p:nvSpPr>
          <p:cNvPr id="15" name="Shape 13"/>
          <p:cNvSpPr/>
          <p:nvPr/>
        </p:nvSpPr>
        <p:spPr>
          <a:xfrm>
            <a:off x="9915906" y="1325880"/>
            <a:ext cx="1727149" cy="566928"/>
          </a:xfrm>
          <a:prstGeom prst="roundRect">
            <a:avLst>
              <a:gd name="adj" fmla="val 14516"/>
            </a:avLst>
          </a:prstGeom>
          <a:solidFill>
            <a:srgbClr val="EDF3FA"/>
          </a:solidFill>
          <a:ln w="12700">
            <a:solidFill>
              <a:srgbClr val="C8D8EC"/>
            </a:solidFill>
            <a:prstDash val="solid"/>
          </a:ln>
        </p:spPr>
        <p:txBody>
          <a:bodyPr/>
          <a:lstStyle/>
          <a:p>
            <a:endParaRPr lang="en-GB" noProof="0" dirty="0"/>
          </a:p>
        </p:txBody>
      </p:sp>
      <p:sp>
        <p:nvSpPr>
          <p:cNvPr id="16" name="Text 14"/>
          <p:cNvSpPr txBox="1"/>
          <p:nvPr/>
        </p:nvSpPr>
        <p:spPr>
          <a:xfrm>
            <a:off x="9970770" y="1325880"/>
            <a:ext cx="1617421" cy="566928"/>
          </a:xfrm>
          <a:prstGeom prst="rect">
            <a:avLst/>
          </a:prstGeom>
          <a:noFill/>
          <a:ln/>
        </p:spPr>
        <p:txBody>
          <a:bodyPr wrap="square" lIns="0" tIns="0" rIns="0" bIns="0" rtlCol="0" anchor="ctr"/>
          <a:lstStyle/>
          <a:p>
            <a:pPr marL="0" indent="0" algn="ctr">
              <a:buNone/>
            </a:pPr>
            <a:r>
              <a:rPr lang="en-GB" sz="1300" b="1" noProof="0" dirty="0">
                <a:solidFill>
                  <a:srgbClr val="5B7699"/>
                </a:solidFill>
                <a:latin typeface="Calibri" pitchFamily="34" charset="0"/>
                <a:ea typeface="Calibri" pitchFamily="34" charset="-122"/>
                <a:cs typeface="Calibri" pitchFamily="34" charset="-120"/>
              </a:rPr>
              <a:t>Time and size</a:t>
            </a:r>
            <a:endParaRPr lang="en-GB" sz="1300" noProof="0" dirty="0"/>
          </a:p>
        </p:txBody>
      </p:sp>
      <p:sp>
        <p:nvSpPr>
          <p:cNvPr id="17" name="Shape 15"/>
          <p:cNvSpPr/>
          <p:nvPr/>
        </p:nvSpPr>
        <p:spPr>
          <a:xfrm>
            <a:off x="548640" y="2148840"/>
            <a:ext cx="11094415" cy="4233672"/>
          </a:xfrm>
          <a:prstGeom prst="roundRect">
            <a:avLst>
              <a:gd name="adj" fmla="val 2286"/>
            </a:avLst>
          </a:prstGeom>
          <a:solidFill>
            <a:srgbClr val="F4F8FC"/>
          </a:solidFill>
          <a:ln w="15875">
            <a:solidFill>
              <a:srgbClr val="C8D8EC"/>
            </a:solidFill>
            <a:prstDash val="solid"/>
          </a:ln>
        </p:spPr>
        <p:txBody>
          <a:bodyPr/>
          <a:lstStyle/>
          <a:p>
            <a:endParaRPr lang="en-GB" noProof="0" dirty="0"/>
          </a:p>
        </p:txBody>
      </p:sp>
      <p:sp>
        <p:nvSpPr>
          <p:cNvPr id="21" name="Text 19"/>
          <p:cNvSpPr txBox="1"/>
          <p:nvPr/>
        </p:nvSpPr>
        <p:spPr>
          <a:xfrm>
            <a:off x="862404" y="2387302"/>
            <a:ext cx="10725787" cy="1737360"/>
          </a:xfrm>
          <a:prstGeom prst="rect">
            <a:avLst/>
          </a:prstGeom>
          <a:noFill/>
          <a:ln/>
        </p:spPr>
        <p:txBody>
          <a:bodyPr wrap="square" lIns="0" tIns="0" rIns="0" bIns="0" rtlCol="0" anchor="t"/>
          <a:lstStyle/>
          <a:p>
            <a:pPr marL="0" indent="0">
              <a:lnSpc>
                <a:spcPct val="98000"/>
              </a:lnSpc>
              <a:buNone/>
            </a:pPr>
            <a:r>
              <a:rPr lang="en-GB" sz="2000" noProof="0" dirty="0">
                <a:solidFill>
                  <a:srgbClr val="0B1F3F"/>
                </a:solidFill>
                <a:latin typeface="Calibri" pitchFamily="34" charset="0"/>
                <a:ea typeface="Calibri" pitchFamily="34" charset="-122"/>
                <a:cs typeface="Calibri" pitchFamily="34" charset="-120"/>
              </a:rPr>
              <a:t>Cells carried in the bloodstream may establish deposits at distant sites. In breast cancer the common sites are bone, liver, lung and brain.</a:t>
            </a:r>
            <a:endParaRPr lang="en-GB" sz="2000" noProof="0" dirty="0"/>
          </a:p>
        </p:txBody>
      </p:sp>
      <p:pic>
        <p:nvPicPr>
          <p:cNvPr id="18" name="Imagen 17">
            <a:extLst>
              <a:ext uri="{FF2B5EF4-FFF2-40B4-BE49-F238E27FC236}">
                <a16:creationId xmlns:a16="http://schemas.microsoft.com/office/drawing/2014/main" id="{188B2F72-100A-C165-EF0B-081A877A9418}"/>
              </a:ext>
            </a:extLst>
          </p:cNvPr>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a:xfrm>
            <a:off x="3285667" y="2786117"/>
            <a:ext cx="5178096" cy="3452064"/>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en-GB" sz="1100" b="1" kern="0" spc="100" noProof="0" dirty="0">
                <a:solidFill>
                  <a:srgbClr val="5B7699"/>
                </a:solidFill>
                <a:latin typeface="Calibri" pitchFamily="34" charset="0"/>
                <a:ea typeface="Calibri" pitchFamily="34" charset="-122"/>
                <a:cs typeface="Calibri" pitchFamily="34" charset="-120"/>
              </a:rPr>
              <a:t>S E S S I O N   1</a:t>
            </a:r>
            <a:endParaRPr lang="en-GB"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en-GB" sz="1000" noProof="0" dirty="0">
                <a:solidFill>
                  <a:srgbClr val="5B7699"/>
                </a:solidFill>
                <a:latin typeface="Calibri" pitchFamily="34" charset="0"/>
                <a:ea typeface="Calibri" pitchFamily="34" charset="-122"/>
                <a:cs typeface="Calibri" pitchFamily="34" charset="-120"/>
              </a:rPr>
              <a:t>Breast Cancer  |  Frontline HCP  |  Rwanda Biomedical Centre</a:t>
            </a:r>
            <a:endParaRPr lang="en-GB"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en-GB" sz="3000" b="1" noProof="0" dirty="0">
                <a:solidFill>
                  <a:srgbClr val="12315B"/>
                </a:solidFill>
                <a:latin typeface="Calibri" pitchFamily="34" charset="0"/>
                <a:ea typeface="Calibri" pitchFamily="34" charset="-122"/>
                <a:cs typeface="Calibri" pitchFamily="34" charset="-120"/>
              </a:rPr>
              <a:t>How breast cancer develops</a:t>
            </a:r>
            <a:endParaRPr lang="en-GB" sz="3000" noProof="0" dirty="0"/>
          </a:p>
        </p:txBody>
      </p:sp>
      <p:sp>
        <p:nvSpPr>
          <p:cNvPr id="5" name="Shape 3"/>
          <p:cNvSpPr/>
          <p:nvPr/>
        </p:nvSpPr>
        <p:spPr>
          <a:xfrm>
            <a:off x="548640" y="1325880"/>
            <a:ext cx="1727149" cy="566928"/>
          </a:xfrm>
          <a:prstGeom prst="roundRect">
            <a:avLst>
              <a:gd name="adj" fmla="val 14516"/>
            </a:avLst>
          </a:prstGeom>
          <a:solidFill>
            <a:srgbClr val="EDF3FA"/>
          </a:solidFill>
          <a:ln w="12700">
            <a:solidFill>
              <a:srgbClr val="C8D8EC"/>
            </a:solidFill>
            <a:prstDash val="solid"/>
          </a:ln>
        </p:spPr>
        <p:txBody>
          <a:bodyPr/>
          <a:lstStyle/>
          <a:p>
            <a:endParaRPr lang="en-GB" noProof="0" dirty="0"/>
          </a:p>
        </p:txBody>
      </p:sp>
      <p:sp>
        <p:nvSpPr>
          <p:cNvPr id="6" name="Text 4"/>
          <p:cNvSpPr txBox="1"/>
          <p:nvPr/>
        </p:nvSpPr>
        <p:spPr>
          <a:xfrm>
            <a:off x="603504" y="1325880"/>
            <a:ext cx="1617421" cy="566928"/>
          </a:xfrm>
          <a:prstGeom prst="rect">
            <a:avLst/>
          </a:prstGeom>
          <a:noFill/>
          <a:ln/>
        </p:spPr>
        <p:txBody>
          <a:bodyPr wrap="square" lIns="0" tIns="0" rIns="0" bIns="0" rtlCol="0" anchor="ctr"/>
          <a:lstStyle/>
          <a:p>
            <a:pPr marL="0" indent="0" algn="ctr">
              <a:buNone/>
            </a:pPr>
            <a:r>
              <a:rPr lang="en-GB" sz="1300" b="1" noProof="0" dirty="0">
                <a:solidFill>
                  <a:srgbClr val="5B7699"/>
                </a:solidFill>
                <a:latin typeface="Calibri" pitchFamily="34" charset="0"/>
                <a:ea typeface="Calibri" pitchFamily="34" charset="-122"/>
                <a:cs typeface="Calibri" pitchFamily="34" charset="-120"/>
              </a:rPr>
              <a:t>Abnormal growth</a:t>
            </a:r>
            <a:endParaRPr lang="en-GB" sz="1300" noProof="0" dirty="0"/>
          </a:p>
        </p:txBody>
      </p:sp>
      <p:sp>
        <p:nvSpPr>
          <p:cNvPr id="7" name="Shape 5"/>
          <p:cNvSpPr/>
          <p:nvPr/>
        </p:nvSpPr>
        <p:spPr>
          <a:xfrm>
            <a:off x="2422093" y="1325880"/>
            <a:ext cx="1727149" cy="566928"/>
          </a:xfrm>
          <a:prstGeom prst="roundRect">
            <a:avLst>
              <a:gd name="adj" fmla="val 14516"/>
            </a:avLst>
          </a:prstGeom>
          <a:solidFill>
            <a:srgbClr val="EDF3FA"/>
          </a:solidFill>
          <a:ln w="12700">
            <a:solidFill>
              <a:srgbClr val="C8D8EC"/>
            </a:solidFill>
            <a:prstDash val="solid"/>
          </a:ln>
        </p:spPr>
        <p:txBody>
          <a:bodyPr/>
          <a:lstStyle/>
          <a:p>
            <a:endParaRPr lang="en-GB" noProof="0" dirty="0"/>
          </a:p>
        </p:txBody>
      </p:sp>
      <p:sp>
        <p:nvSpPr>
          <p:cNvPr id="8" name="Text 6"/>
          <p:cNvSpPr txBox="1"/>
          <p:nvPr/>
        </p:nvSpPr>
        <p:spPr>
          <a:xfrm>
            <a:off x="2476957" y="1325880"/>
            <a:ext cx="1617421" cy="566928"/>
          </a:xfrm>
          <a:prstGeom prst="rect">
            <a:avLst/>
          </a:prstGeom>
          <a:noFill/>
          <a:ln/>
        </p:spPr>
        <p:txBody>
          <a:bodyPr wrap="square" lIns="0" tIns="0" rIns="0" bIns="0" rtlCol="0" anchor="ctr"/>
          <a:lstStyle/>
          <a:p>
            <a:pPr marL="0" indent="0" algn="ctr">
              <a:buNone/>
            </a:pPr>
            <a:r>
              <a:rPr lang="en-GB" sz="1300" b="1" noProof="0" dirty="0">
                <a:solidFill>
                  <a:srgbClr val="5B7699"/>
                </a:solidFill>
                <a:latin typeface="Calibri" pitchFamily="34" charset="0"/>
                <a:ea typeface="Calibri" pitchFamily="34" charset="-122"/>
                <a:cs typeface="Calibri" pitchFamily="34" charset="-120"/>
              </a:rPr>
              <a:t>In situ disease</a:t>
            </a:r>
            <a:endParaRPr lang="en-GB" sz="1300" noProof="0" dirty="0"/>
          </a:p>
        </p:txBody>
      </p:sp>
      <p:sp>
        <p:nvSpPr>
          <p:cNvPr id="9" name="Shape 7"/>
          <p:cNvSpPr/>
          <p:nvPr/>
        </p:nvSpPr>
        <p:spPr>
          <a:xfrm>
            <a:off x="4295546" y="1325880"/>
            <a:ext cx="1727149" cy="566928"/>
          </a:xfrm>
          <a:prstGeom prst="roundRect">
            <a:avLst>
              <a:gd name="adj" fmla="val 14516"/>
            </a:avLst>
          </a:prstGeom>
          <a:solidFill>
            <a:srgbClr val="EDF3FA"/>
          </a:solidFill>
          <a:ln w="12700">
            <a:solidFill>
              <a:srgbClr val="C8D8EC"/>
            </a:solidFill>
            <a:prstDash val="solid"/>
          </a:ln>
        </p:spPr>
        <p:txBody>
          <a:bodyPr/>
          <a:lstStyle/>
          <a:p>
            <a:endParaRPr lang="en-GB" noProof="0" dirty="0"/>
          </a:p>
        </p:txBody>
      </p:sp>
      <p:sp>
        <p:nvSpPr>
          <p:cNvPr id="10" name="Text 8"/>
          <p:cNvSpPr txBox="1"/>
          <p:nvPr/>
        </p:nvSpPr>
        <p:spPr>
          <a:xfrm>
            <a:off x="4350410" y="1325880"/>
            <a:ext cx="1617421" cy="566928"/>
          </a:xfrm>
          <a:prstGeom prst="rect">
            <a:avLst/>
          </a:prstGeom>
          <a:noFill/>
          <a:ln/>
        </p:spPr>
        <p:txBody>
          <a:bodyPr wrap="square" lIns="0" tIns="0" rIns="0" bIns="0" rtlCol="0" anchor="ctr"/>
          <a:lstStyle/>
          <a:p>
            <a:pPr marL="0" indent="0" algn="ctr">
              <a:buNone/>
            </a:pPr>
            <a:r>
              <a:rPr lang="en-GB" sz="1300" b="1" noProof="0" dirty="0">
                <a:solidFill>
                  <a:srgbClr val="5B7699"/>
                </a:solidFill>
                <a:latin typeface="Calibri" pitchFamily="34" charset="0"/>
                <a:ea typeface="Calibri" pitchFamily="34" charset="-122"/>
                <a:cs typeface="Calibri" pitchFamily="34" charset="-120"/>
              </a:rPr>
              <a:t>Invasive cancer</a:t>
            </a:r>
            <a:endParaRPr lang="en-GB" sz="1300" noProof="0" dirty="0"/>
          </a:p>
        </p:txBody>
      </p:sp>
      <p:sp>
        <p:nvSpPr>
          <p:cNvPr id="11" name="Shape 9"/>
          <p:cNvSpPr/>
          <p:nvPr/>
        </p:nvSpPr>
        <p:spPr>
          <a:xfrm>
            <a:off x="6169000" y="1325880"/>
            <a:ext cx="1727149" cy="566928"/>
          </a:xfrm>
          <a:prstGeom prst="roundRect">
            <a:avLst>
              <a:gd name="adj" fmla="val 14516"/>
            </a:avLst>
          </a:prstGeom>
          <a:solidFill>
            <a:srgbClr val="EDF3FA"/>
          </a:solidFill>
          <a:ln w="12700">
            <a:solidFill>
              <a:srgbClr val="C8D8EC"/>
            </a:solidFill>
            <a:prstDash val="solid"/>
          </a:ln>
        </p:spPr>
        <p:txBody>
          <a:bodyPr/>
          <a:lstStyle/>
          <a:p>
            <a:endParaRPr lang="en-GB" noProof="0" dirty="0"/>
          </a:p>
        </p:txBody>
      </p:sp>
      <p:sp>
        <p:nvSpPr>
          <p:cNvPr id="12" name="Text 10"/>
          <p:cNvSpPr txBox="1"/>
          <p:nvPr/>
        </p:nvSpPr>
        <p:spPr>
          <a:xfrm>
            <a:off x="6223864" y="1325880"/>
            <a:ext cx="1617421" cy="566928"/>
          </a:xfrm>
          <a:prstGeom prst="rect">
            <a:avLst/>
          </a:prstGeom>
          <a:noFill/>
          <a:ln/>
        </p:spPr>
        <p:txBody>
          <a:bodyPr wrap="square" lIns="0" tIns="0" rIns="0" bIns="0" rtlCol="0" anchor="ctr"/>
          <a:lstStyle/>
          <a:p>
            <a:pPr marL="0" indent="0" algn="ctr">
              <a:buNone/>
            </a:pPr>
            <a:r>
              <a:rPr lang="en-GB" sz="1300" b="1" noProof="0" dirty="0">
                <a:solidFill>
                  <a:srgbClr val="5B7699"/>
                </a:solidFill>
                <a:latin typeface="Calibri" pitchFamily="34" charset="0"/>
                <a:ea typeface="Calibri" pitchFamily="34" charset="-122"/>
                <a:cs typeface="Calibri" pitchFamily="34" charset="-120"/>
              </a:rPr>
              <a:t>Lymph node spread</a:t>
            </a:r>
            <a:endParaRPr lang="en-GB" sz="1300" noProof="0" dirty="0"/>
          </a:p>
        </p:txBody>
      </p:sp>
      <p:sp>
        <p:nvSpPr>
          <p:cNvPr id="13" name="Shape 11"/>
          <p:cNvSpPr/>
          <p:nvPr/>
        </p:nvSpPr>
        <p:spPr>
          <a:xfrm>
            <a:off x="8042453" y="1325880"/>
            <a:ext cx="1727149" cy="566928"/>
          </a:xfrm>
          <a:prstGeom prst="roundRect">
            <a:avLst>
              <a:gd name="adj" fmla="val 14516"/>
            </a:avLst>
          </a:prstGeom>
          <a:solidFill>
            <a:srgbClr val="EDF3FA"/>
          </a:solidFill>
          <a:ln w="12700">
            <a:solidFill>
              <a:srgbClr val="C8D8EC"/>
            </a:solidFill>
            <a:prstDash val="solid"/>
          </a:ln>
        </p:spPr>
        <p:txBody>
          <a:bodyPr/>
          <a:lstStyle/>
          <a:p>
            <a:endParaRPr lang="en-GB" noProof="0" dirty="0"/>
          </a:p>
        </p:txBody>
      </p:sp>
      <p:sp>
        <p:nvSpPr>
          <p:cNvPr id="14" name="Text 12"/>
          <p:cNvSpPr txBox="1"/>
          <p:nvPr/>
        </p:nvSpPr>
        <p:spPr>
          <a:xfrm>
            <a:off x="8097317" y="1325880"/>
            <a:ext cx="1617421" cy="566928"/>
          </a:xfrm>
          <a:prstGeom prst="rect">
            <a:avLst/>
          </a:prstGeom>
          <a:noFill/>
          <a:ln/>
        </p:spPr>
        <p:txBody>
          <a:bodyPr wrap="square" lIns="0" tIns="0" rIns="0" bIns="0" rtlCol="0" anchor="ctr"/>
          <a:lstStyle/>
          <a:p>
            <a:pPr marL="0" indent="0" algn="ctr">
              <a:buNone/>
            </a:pPr>
            <a:r>
              <a:rPr lang="en-GB" sz="1300" b="1" noProof="0" dirty="0">
                <a:solidFill>
                  <a:srgbClr val="5B7699"/>
                </a:solidFill>
                <a:latin typeface="Calibri" pitchFamily="34" charset="0"/>
                <a:ea typeface="Calibri" pitchFamily="34" charset="-122"/>
                <a:cs typeface="Calibri" pitchFamily="34" charset="-120"/>
              </a:rPr>
              <a:t>Distant spread</a:t>
            </a:r>
            <a:endParaRPr lang="en-GB" sz="1300" noProof="0" dirty="0"/>
          </a:p>
        </p:txBody>
      </p:sp>
      <p:sp>
        <p:nvSpPr>
          <p:cNvPr id="15" name="Shape 13"/>
          <p:cNvSpPr/>
          <p:nvPr/>
        </p:nvSpPr>
        <p:spPr>
          <a:xfrm>
            <a:off x="9915906" y="1325880"/>
            <a:ext cx="1727149" cy="566928"/>
          </a:xfrm>
          <a:prstGeom prst="roundRect">
            <a:avLst>
              <a:gd name="adj" fmla="val 14516"/>
            </a:avLst>
          </a:prstGeom>
          <a:solidFill>
            <a:srgbClr val="12315B"/>
          </a:solidFill>
          <a:ln w="12700">
            <a:solidFill>
              <a:srgbClr val="12315B"/>
            </a:solidFill>
            <a:prstDash val="solid"/>
          </a:ln>
        </p:spPr>
        <p:txBody>
          <a:bodyPr/>
          <a:lstStyle/>
          <a:p>
            <a:endParaRPr lang="en-GB" noProof="0" dirty="0"/>
          </a:p>
        </p:txBody>
      </p:sp>
      <p:sp>
        <p:nvSpPr>
          <p:cNvPr id="16" name="Text 14"/>
          <p:cNvSpPr txBox="1"/>
          <p:nvPr/>
        </p:nvSpPr>
        <p:spPr>
          <a:xfrm>
            <a:off x="9970770" y="1325880"/>
            <a:ext cx="1617421" cy="566928"/>
          </a:xfrm>
          <a:prstGeom prst="rect">
            <a:avLst/>
          </a:prstGeom>
          <a:noFill/>
          <a:ln/>
        </p:spPr>
        <p:txBody>
          <a:bodyPr wrap="square" lIns="0" tIns="0" rIns="0" bIns="0" rtlCol="0" anchor="ctr"/>
          <a:lstStyle/>
          <a:p>
            <a:pPr marL="0" indent="0" algn="ctr">
              <a:buNone/>
            </a:pPr>
            <a:r>
              <a:rPr lang="en-GB" sz="1300" b="1" noProof="0" dirty="0">
                <a:solidFill>
                  <a:srgbClr val="FFFFFF"/>
                </a:solidFill>
                <a:latin typeface="Calibri" pitchFamily="34" charset="0"/>
                <a:ea typeface="Calibri" pitchFamily="34" charset="-122"/>
                <a:cs typeface="Calibri" pitchFamily="34" charset="-120"/>
              </a:rPr>
              <a:t>Time and size</a:t>
            </a:r>
            <a:endParaRPr lang="en-GB" sz="1300" noProof="0" dirty="0"/>
          </a:p>
        </p:txBody>
      </p:sp>
      <p:sp>
        <p:nvSpPr>
          <p:cNvPr id="17" name="Shape 15"/>
          <p:cNvSpPr/>
          <p:nvPr/>
        </p:nvSpPr>
        <p:spPr>
          <a:xfrm>
            <a:off x="548640" y="2148840"/>
            <a:ext cx="11094415" cy="4233672"/>
          </a:xfrm>
          <a:prstGeom prst="roundRect">
            <a:avLst>
              <a:gd name="adj" fmla="val 2286"/>
            </a:avLst>
          </a:prstGeom>
          <a:solidFill>
            <a:srgbClr val="F4F8FC"/>
          </a:solidFill>
          <a:ln w="15875">
            <a:solidFill>
              <a:srgbClr val="C8D8EC"/>
            </a:solidFill>
            <a:prstDash val="solid"/>
          </a:ln>
        </p:spPr>
        <p:txBody>
          <a:bodyPr/>
          <a:lstStyle/>
          <a:p>
            <a:endParaRPr lang="en-GB" noProof="0" dirty="0"/>
          </a:p>
        </p:txBody>
      </p:sp>
      <p:sp>
        <p:nvSpPr>
          <p:cNvPr id="21" name="Text 19"/>
          <p:cNvSpPr txBox="1"/>
          <p:nvPr/>
        </p:nvSpPr>
        <p:spPr>
          <a:xfrm>
            <a:off x="862404" y="2387301"/>
            <a:ext cx="10725787" cy="1737360"/>
          </a:xfrm>
          <a:prstGeom prst="rect">
            <a:avLst/>
          </a:prstGeom>
          <a:noFill/>
          <a:ln/>
        </p:spPr>
        <p:txBody>
          <a:bodyPr wrap="square" lIns="0" tIns="0" rIns="0" bIns="0" rtlCol="0" anchor="t"/>
          <a:lstStyle/>
          <a:p>
            <a:pPr marL="0" indent="0">
              <a:lnSpc>
                <a:spcPct val="98000"/>
              </a:lnSpc>
              <a:buNone/>
            </a:pPr>
            <a:r>
              <a:rPr lang="en-GB" sz="2000" noProof="0" dirty="0">
                <a:solidFill>
                  <a:srgbClr val="0B1F3F"/>
                </a:solidFill>
                <a:latin typeface="Calibri" pitchFamily="34" charset="0"/>
                <a:ea typeface="Calibri" pitchFamily="34" charset="-122"/>
                <a:cs typeface="Calibri" pitchFamily="34" charset="-120"/>
              </a:rPr>
              <a:t>Tumours found while small and node negative are treated very differently from tumours found late. Shortening the interval between a change appearing and a diagnosis is what changes outcomes.</a:t>
            </a:r>
            <a:endParaRPr lang="en-GB" sz="2000" noProof="0" dirty="0"/>
          </a:p>
        </p:txBody>
      </p:sp>
      <p:pic>
        <p:nvPicPr>
          <p:cNvPr id="23" name="Imagen 22">
            <a:extLst>
              <a:ext uri="{FF2B5EF4-FFF2-40B4-BE49-F238E27FC236}">
                <a16:creationId xmlns:a16="http://schemas.microsoft.com/office/drawing/2014/main" id="{6F57D06D-C8DC-900D-037C-D0E611A18A39}"/>
              </a:ext>
            </a:extLst>
          </p:cNvPr>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a:xfrm>
            <a:off x="1688203" y="3126216"/>
            <a:ext cx="8957021" cy="3145806"/>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en-GB" sz="1100" b="1" kern="0" spc="100" noProof="0" dirty="0">
                <a:solidFill>
                  <a:srgbClr val="5B7699"/>
                </a:solidFill>
                <a:latin typeface="Calibri" pitchFamily="34" charset="0"/>
                <a:ea typeface="Calibri" pitchFamily="34" charset="-122"/>
                <a:cs typeface="Calibri" pitchFamily="34" charset="-120"/>
              </a:rPr>
              <a:t>S E S S I O N   1</a:t>
            </a:r>
            <a:endParaRPr lang="en-GB"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en-GB" sz="1000" noProof="0" dirty="0">
                <a:solidFill>
                  <a:srgbClr val="5B7699"/>
                </a:solidFill>
                <a:latin typeface="Calibri" pitchFamily="34" charset="0"/>
                <a:ea typeface="Calibri" pitchFamily="34" charset="-122"/>
                <a:cs typeface="Calibri" pitchFamily="34" charset="-120"/>
              </a:rPr>
              <a:t>Breast Cancer  |  Frontline HCP  |  Rwanda Biomedical Centre</a:t>
            </a:r>
            <a:endParaRPr lang="en-GB"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en-GB" sz="3000" b="1" noProof="0" dirty="0">
                <a:solidFill>
                  <a:srgbClr val="12315B"/>
                </a:solidFill>
                <a:latin typeface="Calibri" pitchFamily="34" charset="0"/>
                <a:ea typeface="Calibri" pitchFamily="34" charset="-122"/>
                <a:cs typeface="Calibri" pitchFamily="34" charset="-120"/>
              </a:rPr>
              <a:t>In situ and invasive disease</a:t>
            </a:r>
            <a:endParaRPr lang="en-GB" sz="3000" noProof="0" dirty="0"/>
          </a:p>
        </p:txBody>
      </p:sp>
      <p:sp>
        <p:nvSpPr>
          <p:cNvPr id="5" name="Shape 3"/>
          <p:cNvSpPr/>
          <p:nvPr/>
        </p:nvSpPr>
        <p:spPr>
          <a:xfrm>
            <a:off x="548640" y="1371600"/>
            <a:ext cx="5394960" cy="4781550"/>
          </a:xfrm>
          <a:prstGeom prst="roundRect">
            <a:avLst>
              <a:gd name="adj" fmla="val 2553"/>
            </a:avLst>
          </a:prstGeom>
          <a:solidFill>
            <a:srgbClr val="F4F8FC"/>
          </a:solidFill>
          <a:ln w="12700">
            <a:solidFill>
              <a:srgbClr val="C8D8EC"/>
            </a:solidFill>
            <a:prstDash val="solid"/>
          </a:ln>
        </p:spPr>
        <p:txBody>
          <a:bodyPr/>
          <a:lstStyle/>
          <a:p>
            <a:endParaRPr lang="en-GB" noProof="0" dirty="0"/>
          </a:p>
        </p:txBody>
      </p:sp>
      <p:sp>
        <p:nvSpPr>
          <p:cNvPr id="6" name="Text 4"/>
          <p:cNvSpPr txBox="1"/>
          <p:nvPr/>
        </p:nvSpPr>
        <p:spPr>
          <a:xfrm>
            <a:off x="713232" y="1463040"/>
            <a:ext cx="5065776" cy="292608"/>
          </a:xfrm>
          <a:prstGeom prst="rect">
            <a:avLst/>
          </a:prstGeom>
          <a:noFill/>
          <a:ln/>
        </p:spPr>
        <p:txBody>
          <a:bodyPr wrap="square" lIns="0" tIns="0" rIns="0" bIns="0" rtlCol="0" anchor="t"/>
          <a:lstStyle/>
          <a:p>
            <a:pPr marL="0" indent="0">
              <a:buNone/>
            </a:pPr>
            <a:r>
              <a:rPr lang="en-GB" b="1" noProof="0" dirty="0">
                <a:solidFill>
                  <a:srgbClr val="12315B"/>
                </a:solidFill>
                <a:latin typeface="Calibri" pitchFamily="34" charset="0"/>
                <a:ea typeface="Calibri" pitchFamily="34" charset="-122"/>
                <a:cs typeface="Calibri" pitchFamily="34" charset="-120"/>
              </a:rPr>
              <a:t>In situ disease</a:t>
            </a:r>
            <a:endParaRPr lang="en-GB" noProof="0" dirty="0"/>
          </a:p>
        </p:txBody>
      </p:sp>
      <p:sp>
        <p:nvSpPr>
          <p:cNvPr id="7" name="Text 5"/>
          <p:cNvSpPr txBox="1"/>
          <p:nvPr/>
        </p:nvSpPr>
        <p:spPr>
          <a:xfrm>
            <a:off x="713232" y="1855155"/>
            <a:ext cx="5065776" cy="1664208"/>
          </a:xfrm>
          <a:prstGeom prst="rect">
            <a:avLst/>
          </a:prstGeom>
          <a:noFill/>
          <a:ln/>
        </p:spPr>
        <p:txBody>
          <a:bodyPr wrap="square" lIns="0" tIns="0" rIns="0" bIns="0" rtlCol="0" anchor="t"/>
          <a:lstStyle/>
          <a:p>
            <a:pPr marL="0" indent="0">
              <a:lnSpc>
                <a:spcPct val="90000"/>
              </a:lnSpc>
              <a:buNone/>
            </a:pPr>
            <a:r>
              <a:rPr lang="en-GB" sz="1800" noProof="0" dirty="0">
                <a:solidFill>
                  <a:srgbClr val="1F3A63"/>
                </a:solidFill>
                <a:latin typeface="Calibri" pitchFamily="34" charset="0"/>
                <a:ea typeface="Calibri" pitchFamily="34" charset="-122"/>
                <a:cs typeface="Calibri" pitchFamily="34" charset="-120"/>
              </a:rPr>
              <a:t>Malignant cells remain inside the duct or lobule where they arose and have not invaded surrounding breast tissue. Ductal carcinoma in situ, DCIS, is the main example. It is most often found through imaging rather than as a lump.</a:t>
            </a:r>
            <a:endParaRPr lang="en-GB" sz="1800" noProof="0" dirty="0"/>
          </a:p>
        </p:txBody>
      </p:sp>
      <p:sp>
        <p:nvSpPr>
          <p:cNvPr id="8" name="Shape 6"/>
          <p:cNvSpPr/>
          <p:nvPr/>
        </p:nvSpPr>
        <p:spPr>
          <a:xfrm>
            <a:off x="6217920" y="1371600"/>
            <a:ext cx="5425135" cy="4781550"/>
          </a:xfrm>
          <a:prstGeom prst="roundRect">
            <a:avLst>
              <a:gd name="adj" fmla="val 2553"/>
            </a:avLst>
          </a:prstGeom>
          <a:solidFill>
            <a:srgbClr val="F4F8FC"/>
          </a:solidFill>
          <a:ln w="12700">
            <a:solidFill>
              <a:srgbClr val="C8D8EC"/>
            </a:solidFill>
            <a:prstDash val="solid"/>
          </a:ln>
        </p:spPr>
        <p:txBody>
          <a:bodyPr/>
          <a:lstStyle/>
          <a:p>
            <a:endParaRPr lang="en-GB" noProof="0" dirty="0"/>
          </a:p>
        </p:txBody>
      </p:sp>
      <p:sp>
        <p:nvSpPr>
          <p:cNvPr id="9" name="Text 7"/>
          <p:cNvSpPr txBox="1"/>
          <p:nvPr/>
        </p:nvSpPr>
        <p:spPr>
          <a:xfrm>
            <a:off x="6382512" y="1463040"/>
            <a:ext cx="5095951" cy="292608"/>
          </a:xfrm>
          <a:prstGeom prst="rect">
            <a:avLst/>
          </a:prstGeom>
          <a:noFill/>
          <a:ln/>
        </p:spPr>
        <p:txBody>
          <a:bodyPr wrap="square" lIns="0" tIns="0" rIns="0" bIns="0" rtlCol="0" anchor="t"/>
          <a:lstStyle/>
          <a:p>
            <a:pPr marL="0" indent="0">
              <a:buNone/>
            </a:pPr>
            <a:r>
              <a:rPr lang="en-GB" b="1" noProof="0" dirty="0">
                <a:solidFill>
                  <a:srgbClr val="12315B"/>
                </a:solidFill>
                <a:latin typeface="Calibri" pitchFamily="34" charset="0"/>
                <a:ea typeface="Calibri" pitchFamily="34" charset="-122"/>
                <a:cs typeface="Calibri" pitchFamily="34" charset="-120"/>
              </a:rPr>
              <a:t>Invasive breast cancer</a:t>
            </a:r>
            <a:endParaRPr lang="en-GB" noProof="0" dirty="0"/>
          </a:p>
        </p:txBody>
      </p:sp>
      <p:sp>
        <p:nvSpPr>
          <p:cNvPr id="10" name="Text 8"/>
          <p:cNvSpPr txBox="1"/>
          <p:nvPr/>
        </p:nvSpPr>
        <p:spPr>
          <a:xfrm>
            <a:off x="6382512" y="1855155"/>
            <a:ext cx="5095951" cy="1664208"/>
          </a:xfrm>
          <a:prstGeom prst="rect">
            <a:avLst/>
          </a:prstGeom>
          <a:noFill/>
          <a:ln/>
        </p:spPr>
        <p:txBody>
          <a:bodyPr wrap="square" lIns="0" tIns="0" rIns="0" bIns="0" rtlCol="0" anchor="t"/>
          <a:lstStyle/>
          <a:p>
            <a:pPr marL="0" indent="0">
              <a:lnSpc>
                <a:spcPct val="90000"/>
              </a:lnSpc>
              <a:buNone/>
            </a:pPr>
            <a:r>
              <a:rPr lang="en-GB" sz="1800" noProof="0" dirty="0">
                <a:solidFill>
                  <a:srgbClr val="1F3A63"/>
                </a:solidFill>
                <a:latin typeface="Calibri" pitchFamily="34" charset="0"/>
                <a:ea typeface="Calibri" pitchFamily="34" charset="-122"/>
                <a:cs typeface="Calibri" pitchFamily="34" charset="-120"/>
              </a:rPr>
              <a:t>Malignant cells have crossed into surrounding breast tissue. From there they can reach lymphatics and blood vessels, and so may involve axillary nodes or distant organs. Most breast cancers diagnosed are invasive.</a:t>
            </a:r>
            <a:endParaRPr lang="en-GB" sz="1800" noProof="0" dirty="0"/>
          </a:p>
        </p:txBody>
      </p:sp>
      <p:pic>
        <p:nvPicPr>
          <p:cNvPr id="21" name="Imagen 20">
            <a:extLst>
              <a:ext uri="{FF2B5EF4-FFF2-40B4-BE49-F238E27FC236}">
                <a16:creationId xmlns:a16="http://schemas.microsoft.com/office/drawing/2014/main" id="{BA9BC86B-D6B3-4E61-0788-6DCFDB3A7765}"/>
              </a:ext>
            </a:extLst>
          </p:cNvPr>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a:xfrm>
            <a:off x="6869141" y="3194411"/>
            <a:ext cx="4230265" cy="2820177"/>
          </a:xfrm>
          <a:prstGeom prst="rect">
            <a:avLst/>
          </a:prstGeom>
        </p:spPr>
      </p:pic>
      <p:pic>
        <p:nvPicPr>
          <p:cNvPr id="11" name="Imagen 10">
            <a:extLst>
              <a:ext uri="{FF2B5EF4-FFF2-40B4-BE49-F238E27FC236}">
                <a16:creationId xmlns:a16="http://schemas.microsoft.com/office/drawing/2014/main" id="{7F9224EB-2339-076B-F8E3-BB6051F7171B}"/>
              </a:ext>
            </a:extLst>
          </p:cNvPr>
          <p:cNvPicPr>
            <a:picLocks noChangeAspect="1"/>
          </p:cNvPicPr>
          <p:nvPr/>
        </p:nvPicPr>
        <p:blipFill>
          <a:blip r:embed="rId4" cstate="email">
            <a:extLst>
              <a:ext uri="{28A0092B-C50C-407E-A947-70E740481C1C}">
                <a14:useLocalDpi xmlns:a14="http://schemas.microsoft.com/office/drawing/2010/main"/>
              </a:ext>
            </a:extLst>
          </a:blip>
          <a:srcRect/>
          <a:stretch>
            <a:fillRect/>
          </a:stretch>
        </p:blipFill>
        <p:spPr>
          <a:xfrm>
            <a:off x="713232" y="3312200"/>
            <a:ext cx="5175027" cy="2584597"/>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85FFC0CB-0AB3-22CE-9673-CAD81C5C613D}"/>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122B312-89C6-35B8-05E5-A0B98ED6A192}"/>
              </a:ext>
            </a:extLst>
          </p:cNvPr>
          <p:cNvSpPr txBox="1"/>
          <p:nvPr/>
        </p:nvSpPr>
        <p:spPr>
          <a:xfrm>
            <a:off x="548640" y="274320"/>
            <a:ext cx="11094415" cy="256032"/>
          </a:xfrm>
          <a:prstGeom prst="rect">
            <a:avLst/>
          </a:prstGeom>
          <a:noFill/>
          <a:ln/>
        </p:spPr>
        <p:txBody>
          <a:bodyPr wrap="square" lIns="0" tIns="0" rIns="0" bIns="0" rtlCol="0" anchor="ctr"/>
          <a:lstStyle/>
          <a:p>
            <a:pPr marL="0" indent="0">
              <a:buNone/>
            </a:pPr>
            <a:r>
              <a:rPr lang="en-GB" sz="1100" b="1" kern="0" spc="100" noProof="0" dirty="0">
                <a:solidFill>
                  <a:srgbClr val="5B7699"/>
                </a:solidFill>
                <a:latin typeface="Calibri" pitchFamily="34" charset="0"/>
                <a:ea typeface="Calibri" pitchFamily="34" charset="-122"/>
                <a:cs typeface="Calibri" pitchFamily="34" charset="-120"/>
              </a:rPr>
              <a:t>S E S S I O N   1</a:t>
            </a:r>
            <a:endParaRPr lang="en-GB" sz="1100" noProof="0" dirty="0"/>
          </a:p>
        </p:txBody>
      </p:sp>
      <p:sp>
        <p:nvSpPr>
          <p:cNvPr id="3" name="Text 1">
            <a:extLst>
              <a:ext uri="{FF2B5EF4-FFF2-40B4-BE49-F238E27FC236}">
                <a16:creationId xmlns:a16="http://schemas.microsoft.com/office/drawing/2014/main" id="{E16C750B-B18A-88BC-1E17-105C8678FE75}"/>
              </a:ext>
            </a:extLst>
          </p:cNvPr>
          <p:cNvSpPr txBox="1"/>
          <p:nvPr/>
        </p:nvSpPr>
        <p:spPr>
          <a:xfrm>
            <a:off x="548640" y="6382512"/>
            <a:ext cx="11094415" cy="274320"/>
          </a:xfrm>
          <a:prstGeom prst="rect">
            <a:avLst/>
          </a:prstGeom>
          <a:noFill/>
          <a:ln/>
        </p:spPr>
        <p:txBody>
          <a:bodyPr wrap="square" lIns="0" tIns="0" rIns="0" bIns="0" rtlCol="0" anchor="ctr"/>
          <a:lstStyle/>
          <a:p>
            <a:pPr marL="0" indent="0">
              <a:buNone/>
            </a:pPr>
            <a:r>
              <a:rPr lang="en-GB" sz="1000" noProof="0" dirty="0">
                <a:solidFill>
                  <a:srgbClr val="5B7699"/>
                </a:solidFill>
                <a:latin typeface="Calibri" pitchFamily="34" charset="0"/>
                <a:ea typeface="Calibri" pitchFamily="34" charset="-122"/>
                <a:cs typeface="Calibri" pitchFamily="34" charset="-120"/>
              </a:rPr>
              <a:t>Breast Cancer  |  Frontline HCP  |  Rwanda Biomedical Centre</a:t>
            </a:r>
            <a:endParaRPr lang="en-GB" sz="1000" noProof="0" dirty="0"/>
          </a:p>
        </p:txBody>
      </p:sp>
      <p:sp>
        <p:nvSpPr>
          <p:cNvPr id="4" name="Text 2">
            <a:extLst>
              <a:ext uri="{FF2B5EF4-FFF2-40B4-BE49-F238E27FC236}">
                <a16:creationId xmlns:a16="http://schemas.microsoft.com/office/drawing/2014/main" id="{B8BC672C-338A-454B-8C9F-FE84B0333192}"/>
              </a:ext>
            </a:extLst>
          </p:cNvPr>
          <p:cNvSpPr txBox="1"/>
          <p:nvPr/>
        </p:nvSpPr>
        <p:spPr>
          <a:xfrm>
            <a:off x="548640" y="566928"/>
            <a:ext cx="11094415" cy="566928"/>
          </a:xfrm>
          <a:prstGeom prst="rect">
            <a:avLst/>
          </a:prstGeom>
          <a:noFill/>
          <a:ln/>
        </p:spPr>
        <p:txBody>
          <a:bodyPr wrap="square" lIns="0" tIns="0" rIns="0" bIns="0" rtlCol="0" anchor="t"/>
          <a:lstStyle/>
          <a:p>
            <a:pPr marL="0" indent="0">
              <a:buNone/>
            </a:pPr>
            <a:r>
              <a:rPr lang="en-GB" sz="3000" b="1" noProof="0" dirty="0">
                <a:solidFill>
                  <a:srgbClr val="12315B"/>
                </a:solidFill>
                <a:latin typeface="Calibri" pitchFamily="34" charset="0"/>
                <a:ea typeface="Calibri" pitchFamily="34" charset="-122"/>
                <a:cs typeface="Calibri" pitchFamily="34" charset="-120"/>
              </a:rPr>
              <a:t>In situ and invasive disease</a:t>
            </a:r>
            <a:endParaRPr lang="en-GB" sz="3000" noProof="0" dirty="0"/>
          </a:p>
        </p:txBody>
      </p:sp>
      <p:sp>
        <p:nvSpPr>
          <p:cNvPr id="11" name="Shape 9">
            <a:extLst>
              <a:ext uri="{FF2B5EF4-FFF2-40B4-BE49-F238E27FC236}">
                <a16:creationId xmlns:a16="http://schemas.microsoft.com/office/drawing/2014/main" id="{7BD129E7-2D87-9824-EBAE-A97DD09A0063}"/>
              </a:ext>
            </a:extLst>
          </p:cNvPr>
          <p:cNvSpPr/>
          <p:nvPr/>
        </p:nvSpPr>
        <p:spPr>
          <a:xfrm>
            <a:off x="548640" y="1169670"/>
            <a:ext cx="3527450" cy="2240280"/>
          </a:xfrm>
          <a:prstGeom prst="roundRect">
            <a:avLst>
              <a:gd name="adj" fmla="val 2449"/>
            </a:avLst>
          </a:prstGeom>
          <a:solidFill>
            <a:srgbClr val="F4F8FC"/>
          </a:solidFill>
          <a:ln w="12700">
            <a:solidFill>
              <a:srgbClr val="C8D8EC"/>
            </a:solidFill>
            <a:prstDash val="solid"/>
          </a:ln>
        </p:spPr>
        <p:txBody>
          <a:bodyPr/>
          <a:lstStyle/>
          <a:p>
            <a:endParaRPr lang="en-GB" noProof="0" dirty="0"/>
          </a:p>
        </p:txBody>
      </p:sp>
      <p:sp>
        <p:nvSpPr>
          <p:cNvPr id="12" name="Text 10">
            <a:extLst>
              <a:ext uri="{FF2B5EF4-FFF2-40B4-BE49-F238E27FC236}">
                <a16:creationId xmlns:a16="http://schemas.microsoft.com/office/drawing/2014/main" id="{0A658BB3-8158-72A6-BDCE-C5480F302BBC}"/>
              </a:ext>
            </a:extLst>
          </p:cNvPr>
          <p:cNvSpPr txBox="1"/>
          <p:nvPr/>
        </p:nvSpPr>
        <p:spPr>
          <a:xfrm>
            <a:off x="713232" y="1261110"/>
            <a:ext cx="3198266" cy="292608"/>
          </a:xfrm>
          <a:prstGeom prst="rect">
            <a:avLst/>
          </a:prstGeom>
          <a:noFill/>
          <a:ln/>
        </p:spPr>
        <p:txBody>
          <a:bodyPr wrap="square" lIns="0" tIns="0" rIns="0" bIns="0" rtlCol="0" anchor="t"/>
          <a:lstStyle/>
          <a:p>
            <a:pPr marL="0" indent="0">
              <a:buNone/>
            </a:pPr>
            <a:r>
              <a:rPr lang="en-GB" sz="1700" b="1" noProof="0" dirty="0">
                <a:solidFill>
                  <a:srgbClr val="12315B"/>
                </a:solidFill>
                <a:latin typeface="Calibri" pitchFamily="34" charset="0"/>
                <a:ea typeface="Calibri" pitchFamily="34" charset="-122"/>
                <a:cs typeface="Calibri" pitchFamily="34" charset="-120"/>
              </a:rPr>
              <a:t>Not an inevitable sequence</a:t>
            </a:r>
            <a:endParaRPr lang="en-GB" sz="1700" noProof="0" dirty="0"/>
          </a:p>
        </p:txBody>
      </p:sp>
      <p:sp>
        <p:nvSpPr>
          <p:cNvPr id="13" name="Text 11">
            <a:extLst>
              <a:ext uri="{FF2B5EF4-FFF2-40B4-BE49-F238E27FC236}">
                <a16:creationId xmlns:a16="http://schemas.microsoft.com/office/drawing/2014/main" id="{1BF246C5-6342-90CE-AF4B-D3B1E47D99C4}"/>
              </a:ext>
            </a:extLst>
          </p:cNvPr>
          <p:cNvSpPr txBox="1"/>
          <p:nvPr/>
        </p:nvSpPr>
        <p:spPr>
          <a:xfrm>
            <a:off x="713232" y="1599438"/>
            <a:ext cx="3198266" cy="1755648"/>
          </a:xfrm>
          <a:prstGeom prst="rect">
            <a:avLst/>
          </a:prstGeom>
          <a:noFill/>
          <a:ln/>
        </p:spPr>
        <p:txBody>
          <a:bodyPr wrap="square" lIns="0" tIns="0" rIns="0" bIns="0" rtlCol="0" anchor="t"/>
          <a:lstStyle/>
          <a:p>
            <a:pPr marL="0" indent="0">
              <a:lnSpc>
                <a:spcPct val="90000"/>
              </a:lnSpc>
              <a:buNone/>
            </a:pPr>
            <a:r>
              <a:rPr lang="en-GB" sz="1800" noProof="0" dirty="0">
                <a:solidFill>
                  <a:srgbClr val="1F3A63"/>
                </a:solidFill>
                <a:latin typeface="Calibri" pitchFamily="34" charset="0"/>
                <a:ea typeface="Calibri" pitchFamily="34" charset="-122"/>
                <a:cs typeface="Calibri" pitchFamily="34" charset="-120"/>
              </a:rPr>
              <a:t>Not all in situ disease progresses to invasive cancer. Treatment of DCIS aims to prevent the proportion that would.</a:t>
            </a:r>
            <a:endParaRPr lang="en-GB" sz="1800" noProof="0" dirty="0"/>
          </a:p>
        </p:txBody>
      </p:sp>
      <p:sp>
        <p:nvSpPr>
          <p:cNvPr id="14" name="Shape 12">
            <a:extLst>
              <a:ext uri="{FF2B5EF4-FFF2-40B4-BE49-F238E27FC236}">
                <a16:creationId xmlns:a16="http://schemas.microsoft.com/office/drawing/2014/main" id="{8952625A-FD70-EF37-5446-51DE00444048}"/>
              </a:ext>
            </a:extLst>
          </p:cNvPr>
          <p:cNvSpPr/>
          <p:nvPr/>
        </p:nvSpPr>
        <p:spPr>
          <a:xfrm>
            <a:off x="4332122" y="1169670"/>
            <a:ext cx="3527450" cy="2240280"/>
          </a:xfrm>
          <a:prstGeom prst="roundRect">
            <a:avLst>
              <a:gd name="adj" fmla="val 2449"/>
            </a:avLst>
          </a:prstGeom>
          <a:solidFill>
            <a:srgbClr val="F4F8FC"/>
          </a:solidFill>
          <a:ln w="12700">
            <a:solidFill>
              <a:srgbClr val="C8D8EC"/>
            </a:solidFill>
            <a:prstDash val="solid"/>
          </a:ln>
        </p:spPr>
        <p:txBody>
          <a:bodyPr/>
          <a:lstStyle/>
          <a:p>
            <a:endParaRPr lang="en-GB" noProof="0" dirty="0"/>
          </a:p>
        </p:txBody>
      </p:sp>
      <p:sp>
        <p:nvSpPr>
          <p:cNvPr id="15" name="Text 13">
            <a:extLst>
              <a:ext uri="{FF2B5EF4-FFF2-40B4-BE49-F238E27FC236}">
                <a16:creationId xmlns:a16="http://schemas.microsoft.com/office/drawing/2014/main" id="{51577A11-2842-8896-F39A-445B0B5AC61F}"/>
              </a:ext>
            </a:extLst>
          </p:cNvPr>
          <p:cNvSpPr txBox="1"/>
          <p:nvPr/>
        </p:nvSpPr>
        <p:spPr>
          <a:xfrm>
            <a:off x="4496714" y="1261110"/>
            <a:ext cx="3198266" cy="292608"/>
          </a:xfrm>
          <a:prstGeom prst="rect">
            <a:avLst/>
          </a:prstGeom>
          <a:noFill/>
          <a:ln/>
        </p:spPr>
        <p:txBody>
          <a:bodyPr wrap="square" lIns="0" tIns="0" rIns="0" bIns="0" rtlCol="0" anchor="t"/>
          <a:lstStyle/>
          <a:p>
            <a:pPr marL="0" indent="0">
              <a:buNone/>
            </a:pPr>
            <a:r>
              <a:rPr lang="en-GB" sz="1700" b="1" noProof="0" dirty="0">
                <a:solidFill>
                  <a:srgbClr val="12315B"/>
                </a:solidFill>
                <a:latin typeface="Calibri" pitchFamily="34" charset="0"/>
                <a:ea typeface="Calibri" pitchFamily="34" charset="-122"/>
                <a:cs typeface="Calibri" pitchFamily="34" charset="-120"/>
              </a:rPr>
              <a:t>Why the difference matters</a:t>
            </a:r>
            <a:endParaRPr lang="en-GB" sz="1700" noProof="0" dirty="0"/>
          </a:p>
        </p:txBody>
      </p:sp>
      <p:sp>
        <p:nvSpPr>
          <p:cNvPr id="16" name="Text 14">
            <a:extLst>
              <a:ext uri="{FF2B5EF4-FFF2-40B4-BE49-F238E27FC236}">
                <a16:creationId xmlns:a16="http://schemas.microsoft.com/office/drawing/2014/main" id="{E380E0E6-3EFE-94E3-3968-1318F64624D0}"/>
              </a:ext>
            </a:extLst>
          </p:cNvPr>
          <p:cNvSpPr txBox="1"/>
          <p:nvPr/>
        </p:nvSpPr>
        <p:spPr>
          <a:xfrm>
            <a:off x="4496714" y="1599438"/>
            <a:ext cx="3198266" cy="1755648"/>
          </a:xfrm>
          <a:prstGeom prst="rect">
            <a:avLst/>
          </a:prstGeom>
          <a:noFill/>
          <a:ln/>
        </p:spPr>
        <p:txBody>
          <a:bodyPr wrap="square" lIns="0" tIns="0" rIns="0" bIns="0" rtlCol="0" anchor="t"/>
          <a:lstStyle/>
          <a:p>
            <a:pPr marL="0" indent="0">
              <a:lnSpc>
                <a:spcPct val="90000"/>
              </a:lnSpc>
              <a:buNone/>
            </a:pPr>
            <a:r>
              <a:rPr lang="en-GB" sz="1800" noProof="0" dirty="0">
                <a:solidFill>
                  <a:srgbClr val="1F3A63"/>
                </a:solidFill>
                <a:latin typeface="Calibri" pitchFamily="34" charset="0"/>
                <a:ea typeface="Calibri" pitchFamily="34" charset="-122"/>
                <a:cs typeface="Calibri" pitchFamily="34" charset="-120"/>
              </a:rPr>
              <a:t>In situ disease does not spread to nodes or distant organs. Staging, prognosis and treatment differ accordingly.</a:t>
            </a:r>
            <a:endParaRPr lang="en-GB" sz="1800" noProof="0" dirty="0"/>
          </a:p>
        </p:txBody>
      </p:sp>
      <p:sp>
        <p:nvSpPr>
          <p:cNvPr id="17" name="Shape 15">
            <a:extLst>
              <a:ext uri="{FF2B5EF4-FFF2-40B4-BE49-F238E27FC236}">
                <a16:creationId xmlns:a16="http://schemas.microsoft.com/office/drawing/2014/main" id="{9BC5FBF2-140C-BBEF-1383-72130E46D0C3}"/>
              </a:ext>
            </a:extLst>
          </p:cNvPr>
          <p:cNvSpPr/>
          <p:nvPr/>
        </p:nvSpPr>
        <p:spPr>
          <a:xfrm>
            <a:off x="8115605" y="1169670"/>
            <a:ext cx="3527450" cy="2240280"/>
          </a:xfrm>
          <a:prstGeom prst="roundRect">
            <a:avLst>
              <a:gd name="adj" fmla="val 2449"/>
            </a:avLst>
          </a:prstGeom>
          <a:solidFill>
            <a:srgbClr val="F4F8FC"/>
          </a:solidFill>
          <a:ln w="12700">
            <a:solidFill>
              <a:srgbClr val="C8D8EC"/>
            </a:solidFill>
            <a:prstDash val="solid"/>
          </a:ln>
        </p:spPr>
        <p:txBody>
          <a:bodyPr/>
          <a:lstStyle/>
          <a:p>
            <a:endParaRPr lang="en-GB" noProof="0" dirty="0"/>
          </a:p>
        </p:txBody>
      </p:sp>
      <p:sp>
        <p:nvSpPr>
          <p:cNvPr id="18" name="Text 16">
            <a:extLst>
              <a:ext uri="{FF2B5EF4-FFF2-40B4-BE49-F238E27FC236}">
                <a16:creationId xmlns:a16="http://schemas.microsoft.com/office/drawing/2014/main" id="{01F1D671-C6AE-0FD0-DDE1-C669E4D5F3F2}"/>
              </a:ext>
            </a:extLst>
          </p:cNvPr>
          <p:cNvSpPr txBox="1"/>
          <p:nvPr/>
        </p:nvSpPr>
        <p:spPr>
          <a:xfrm>
            <a:off x="8280197" y="1261110"/>
            <a:ext cx="3198266" cy="292608"/>
          </a:xfrm>
          <a:prstGeom prst="rect">
            <a:avLst/>
          </a:prstGeom>
          <a:noFill/>
          <a:ln/>
        </p:spPr>
        <p:txBody>
          <a:bodyPr wrap="square" lIns="0" tIns="0" rIns="0" bIns="0" rtlCol="0" anchor="t"/>
          <a:lstStyle/>
          <a:p>
            <a:pPr marL="0" indent="0">
              <a:buNone/>
            </a:pPr>
            <a:r>
              <a:rPr lang="en-GB" sz="1700" b="1" noProof="0" dirty="0">
                <a:solidFill>
                  <a:srgbClr val="12315B"/>
                </a:solidFill>
                <a:latin typeface="Calibri" pitchFamily="34" charset="0"/>
                <a:ea typeface="Calibri" pitchFamily="34" charset="-122"/>
                <a:cs typeface="Calibri" pitchFamily="34" charset="-120"/>
              </a:rPr>
              <a:t>What patients hear</a:t>
            </a:r>
            <a:endParaRPr lang="en-GB" sz="1700" noProof="0" dirty="0"/>
          </a:p>
        </p:txBody>
      </p:sp>
      <p:sp>
        <p:nvSpPr>
          <p:cNvPr id="19" name="Text 17">
            <a:extLst>
              <a:ext uri="{FF2B5EF4-FFF2-40B4-BE49-F238E27FC236}">
                <a16:creationId xmlns:a16="http://schemas.microsoft.com/office/drawing/2014/main" id="{8DC125BE-D3AF-AD83-ACA4-FCDDE9FAF91C}"/>
              </a:ext>
            </a:extLst>
          </p:cNvPr>
          <p:cNvSpPr txBox="1"/>
          <p:nvPr/>
        </p:nvSpPr>
        <p:spPr>
          <a:xfrm>
            <a:off x="8280197" y="1599438"/>
            <a:ext cx="3198266" cy="1755648"/>
          </a:xfrm>
          <a:prstGeom prst="rect">
            <a:avLst/>
          </a:prstGeom>
          <a:noFill/>
          <a:ln/>
        </p:spPr>
        <p:txBody>
          <a:bodyPr wrap="square" lIns="0" tIns="0" rIns="0" bIns="0" rtlCol="0" anchor="t"/>
          <a:lstStyle/>
          <a:p>
            <a:pPr marL="0" indent="0">
              <a:lnSpc>
                <a:spcPct val="90000"/>
              </a:lnSpc>
              <a:buNone/>
            </a:pPr>
            <a:r>
              <a:rPr lang="en-GB" sz="1800" noProof="0" dirty="0">
                <a:solidFill>
                  <a:srgbClr val="1F3A63"/>
                </a:solidFill>
                <a:latin typeface="Calibri" pitchFamily="34" charset="0"/>
                <a:ea typeface="Calibri" pitchFamily="34" charset="-122"/>
                <a:cs typeface="Calibri" pitchFamily="34" charset="-120"/>
              </a:rPr>
              <a:t>People often hear only the word carcinoma. Explain plainly that in situ means contained, and that this is a different situation from invasive cancer.</a:t>
            </a:r>
            <a:endParaRPr lang="en-GB" sz="1800" noProof="0" dirty="0"/>
          </a:p>
        </p:txBody>
      </p:sp>
      <p:pic>
        <p:nvPicPr>
          <p:cNvPr id="6" name="Imagen 5">
            <a:extLst>
              <a:ext uri="{FF2B5EF4-FFF2-40B4-BE49-F238E27FC236}">
                <a16:creationId xmlns:a16="http://schemas.microsoft.com/office/drawing/2014/main" id="{6B24988C-B3DA-14EF-6A3D-437CEBC011E7}"/>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885113" y="2651252"/>
            <a:ext cx="2776587" cy="3639820"/>
          </a:xfrm>
          <a:prstGeom prst="rect">
            <a:avLst/>
          </a:prstGeom>
        </p:spPr>
      </p:pic>
      <p:pic>
        <p:nvPicPr>
          <p:cNvPr id="8" name="Imagen 7">
            <a:extLst>
              <a:ext uri="{FF2B5EF4-FFF2-40B4-BE49-F238E27FC236}">
                <a16:creationId xmlns:a16="http://schemas.microsoft.com/office/drawing/2014/main" id="{87539ED0-D464-D187-D325-CF25C61BD2B8}"/>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4581448" y="2651252"/>
            <a:ext cx="3028798" cy="3731260"/>
          </a:xfrm>
          <a:prstGeom prst="rect">
            <a:avLst/>
          </a:prstGeom>
        </p:spPr>
      </p:pic>
      <p:pic>
        <p:nvPicPr>
          <p:cNvPr id="10" name="Imagen 9">
            <a:extLst>
              <a:ext uri="{FF2B5EF4-FFF2-40B4-BE49-F238E27FC236}">
                <a16:creationId xmlns:a16="http://schemas.microsoft.com/office/drawing/2014/main" id="{2B6C10FB-4F33-58CF-12E6-D49870F94BD6}"/>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8529994" y="2856042"/>
            <a:ext cx="2715986" cy="3526470"/>
          </a:xfrm>
          <a:prstGeom prst="rect">
            <a:avLst/>
          </a:prstGeom>
        </p:spPr>
      </p:pic>
    </p:spTree>
    <p:extLst>
      <p:ext uri="{BB962C8B-B14F-4D97-AF65-F5344CB8AC3E}">
        <p14:creationId xmlns:p14="http://schemas.microsoft.com/office/powerpoint/2010/main" val="58578630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en-GB" sz="1100" b="1" kern="0" spc="100" noProof="0" dirty="0">
                <a:solidFill>
                  <a:srgbClr val="5B7699"/>
                </a:solidFill>
                <a:latin typeface="Calibri" pitchFamily="34" charset="0"/>
                <a:ea typeface="Calibri" pitchFamily="34" charset="-122"/>
                <a:cs typeface="Calibri" pitchFamily="34" charset="-120"/>
              </a:rPr>
              <a:t>S E S S I O N   1</a:t>
            </a:r>
            <a:endParaRPr lang="en-GB"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en-GB" sz="1000" noProof="0" dirty="0">
                <a:solidFill>
                  <a:srgbClr val="5B7699"/>
                </a:solidFill>
                <a:latin typeface="Calibri" pitchFamily="34" charset="0"/>
                <a:ea typeface="Calibri" pitchFamily="34" charset="-122"/>
                <a:cs typeface="Calibri" pitchFamily="34" charset="-120"/>
              </a:rPr>
              <a:t>Breast Cancer  |  Frontline HCP  |  Rwanda Biomedical Centre</a:t>
            </a:r>
            <a:endParaRPr lang="en-GB"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en-GB" sz="3000" b="1" noProof="0" dirty="0">
                <a:solidFill>
                  <a:srgbClr val="12315B"/>
                </a:solidFill>
                <a:latin typeface="Calibri" pitchFamily="34" charset="0"/>
                <a:ea typeface="Calibri" pitchFamily="34" charset="-122"/>
                <a:cs typeface="Calibri" pitchFamily="34" charset="-120"/>
              </a:rPr>
              <a:t>Types of breast cancer</a:t>
            </a:r>
            <a:endParaRPr lang="en-GB" sz="3000" noProof="0" dirty="0"/>
          </a:p>
        </p:txBody>
      </p:sp>
      <p:sp>
        <p:nvSpPr>
          <p:cNvPr id="5" name="Shape 3"/>
          <p:cNvSpPr/>
          <p:nvPr/>
        </p:nvSpPr>
        <p:spPr>
          <a:xfrm>
            <a:off x="548639" y="1156451"/>
            <a:ext cx="11094415" cy="1102657"/>
          </a:xfrm>
          <a:prstGeom prst="roundRect">
            <a:avLst>
              <a:gd name="adj" fmla="val 2347"/>
            </a:avLst>
          </a:prstGeom>
          <a:solidFill>
            <a:srgbClr val="F4F8FC"/>
          </a:solidFill>
          <a:ln w="12700">
            <a:solidFill>
              <a:srgbClr val="C8D8EC"/>
            </a:solidFill>
            <a:prstDash val="solid"/>
          </a:ln>
        </p:spPr>
        <p:txBody>
          <a:bodyPr/>
          <a:lstStyle/>
          <a:p>
            <a:endParaRPr lang="en-GB" sz="2000" noProof="0" dirty="0"/>
          </a:p>
        </p:txBody>
      </p:sp>
      <p:sp>
        <p:nvSpPr>
          <p:cNvPr id="6" name="Text 4"/>
          <p:cNvSpPr txBox="1"/>
          <p:nvPr/>
        </p:nvSpPr>
        <p:spPr>
          <a:xfrm>
            <a:off x="713231" y="1247890"/>
            <a:ext cx="10059077" cy="292608"/>
          </a:xfrm>
          <a:prstGeom prst="rect">
            <a:avLst/>
          </a:prstGeom>
          <a:noFill/>
          <a:ln/>
        </p:spPr>
        <p:txBody>
          <a:bodyPr wrap="square" lIns="0" tIns="0" rIns="0" bIns="0" rtlCol="0" anchor="t"/>
          <a:lstStyle/>
          <a:p>
            <a:pPr marL="0" indent="0">
              <a:buNone/>
            </a:pPr>
            <a:r>
              <a:rPr lang="en-GB" sz="2000" b="1" noProof="0" dirty="0">
                <a:solidFill>
                  <a:srgbClr val="12315B"/>
                </a:solidFill>
                <a:latin typeface="Calibri" pitchFamily="34" charset="0"/>
                <a:ea typeface="Calibri" pitchFamily="34" charset="-122"/>
                <a:cs typeface="Calibri" pitchFamily="34" charset="-120"/>
              </a:rPr>
              <a:t>Ductal carcinoma in situ</a:t>
            </a:r>
            <a:endParaRPr lang="en-GB" sz="2000" noProof="0" dirty="0"/>
          </a:p>
        </p:txBody>
      </p:sp>
      <p:sp>
        <p:nvSpPr>
          <p:cNvPr id="7" name="Text 5"/>
          <p:cNvSpPr txBox="1"/>
          <p:nvPr/>
        </p:nvSpPr>
        <p:spPr>
          <a:xfrm>
            <a:off x="713231" y="1640005"/>
            <a:ext cx="10059077" cy="619103"/>
          </a:xfrm>
          <a:prstGeom prst="rect">
            <a:avLst/>
          </a:prstGeom>
          <a:noFill/>
          <a:ln/>
        </p:spPr>
        <p:txBody>
          <a:bodyPr wrap="square" lIns="0" tIns="0" rIns="0" bIns="0" rtlCol="0" anchor="t"/>
          <a:lstStyle/>
          <a:p>
            <a:pPr marL="0" indent="0">
              <a:lnSpc>
                <a:spcPct val="90000"/>
              </a:lnSpc>
              <a:buNone/>
            </a:pPr>
            <a:r>
              <a:rPr lang="en-GB" sz="2000" noProof="0" dirty="0">
                <a:solidFill>
                  <a:srgbClr val="1F3A63"/>
                </a:solidFill>
                <a:latin typeface="Calibri" pitchFamily="34" charset="0"/>
                <a:ea typeface="Calibri" pitchFamily="34" charset="-122"/>
                <a:cs typeface="Calibri" pitchFamily="34" charset="-120"/>
              </a:rPr>
              <a:t>Malignant cells confined within the duct. Non-invasive. Often detected as calcifications on mammography rather than as a lump.</a:t>
            </a:r>
            <a:endParaRPr lang="en-GB" sz="2000" noProof="0" dirty="0"/>
          </a:p>
        </p:txBody>
      </p:sp>
      <p:pic>
        <p:nvPicPr>
          <p:cNvPr id="23" name="Imagen 22">
            <a:extLst>
              <a:ext uri="{FF2B5EF4-FFF2-40B4-BE49-F238E27FC236}">
                <a16:creationId xmlns:a16="http://schemas.microsoft.com/office/drawing/2014/main" id="{2F8E5440-6AA4-7249-729D-7E68E27F0E2E}"/>
              </a:ext>
            </a:extLst>
          </p:cNvPr>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a:xfrm>
            <a:off x="2273712" y="2473093"/>
            <a:ext cx="7644576" cy="3817979"/>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8E4DBC50-AFB9-B624-1504-8AD500E3775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471D26E-1F7D-B4F9-0A26-8B942A23D69C}"/>
              </a:ext>
            </a:extLst>
          </p:cNvPr>
          <p:cNvSpPr txBox="1"/>
          <p:nvPr/>
        </p:nvSpPr>
        <p:spPr>
          <a:xfrm>
            <a:off x="548640" y="274320"/>
            <a:ext cx="11094415" cy="256032"/>
          </a:xfrm>
          <a:prstGeom prst="rect">
            <a:avLst/>
          </a:prstGeom>
          <a:noFill/>
          <a:ln/>
        </p:spPr>
        <p:txBody>
          <a:bodyPr wrap="square" lIns="0" tIns="0" rIns="0" bIns="0" rtlCol="0" anchor="ctr"/>
          <a:lstStyle/>
          <a:p>
            <a:pPr marL="0" indent="0">
              <a:buNone/>
            </a:pPr>
            <a:r>
              <a:rPr lang="en-GB" sz="1100" b="1" kern="0" spc="100" noProof="0" dirty="0">
                <a:solidFill>
                  <a:srgbClr val="5B7699"/>
                </a:solidFill>
                <a:latin typeface="Calibri" pitchFamily="34" charset="0"/>
                <a:ea typeface="Calibri" pitchFamily="34" charset="-122"/>
                <a:cs typeface="Calibri" pitchFamily="34" charset="-120"/>
              </a:rPr>
              <a:t>S E S S I O N   1</a:t>
            </a:r>
            <a:endParaRPr lang="en-GB" sz="1100" noProof="0" dirty="0"/>
          </a:p>
        </p:txBody>
      </p:sp>
      <p:sp>
        <p:nvSpPr>
          <p:cNvPr id="3" name="Text 1">
            <a:extLst>
              <a:ext uri="{FF2B5EF4-FFF2-40B4-BE49-F238E27FC236}">
                <a16:creationId xmlns:a16="http://schemas.microsoft.com/office/drawing/2014/main" id="{3C74763A-B025-BBA6-E8CB-F975D216D24B}"/>
              </a:ext>
            </a:extLst>
          </p:cNvPr>
          <p:cNvSpPr txBox="1"/>
          <p:nvPr/>
        </p:nvSpPr>
        <p:spPr>
          <a:xfrm>
            <a:off x="548640" y="6382512"/>
            <a:ext cx="11094415" cy="274320"/>
          </a:xfrm>
          <a:prstGeom prst="rect">
            <a:avLst/>
          </a:prstGeom>
          <a:noFill/>
          <a:ln/>
        </p:spPr>
        <p:txBody>
          <a:bodyPr wrap="square" lIns="0" tIns="0" rIns="0" bIns="0" rtlCol="0" anchor="ctr"/>
          <a:lstStyle/>
          <a:p>
            <a:pPr marL="0" indent="0">
              <a:buNone/>
            </a:pPr>
            <a:r>
              <a:rPr lang="en-GB" sz="1000" noProof="0" dirty="0">
                <a:solidFill>
                  <a:srgbClr val="5B7699"/>
                </a:solidFill>
                <a:latin typeface="Calibri" pitchFamily="34" charset="0"/>
                <a:ea typeface="Calibri" pitchFamily="34" charset="-122"/>
                <a:cs typeface="Calibri" pitchFamily="34" charset="-120"/>
              </a:rPr>
              <a:t>Breast Cancer  |  Frontline HCP  |  Rwanda Biomedical Centre</a:t>
            </a:r>
            <a:endParaRPr lang="en-GB" sz="1000" noProof="0" dirty="0"/>
          </a:p>
        </p:txBody>
      </p:sp>
      <p:sp>
        <p:nvSpPr>
          <p:cNvPr id="4" name="Text 2">
            <a:extLst>
              <a:ext uri="{FF2B5EF4-FFF2-40B4-BE49-F238E27FC236}">
                <a16:creationId xmlns:a16="http://schemas.microsoft.com/office/drawing/2014/main" id="{A7A1F3F0-AD4C-96C2-9791-5E782055E922}"/>
              </a:ext>
            </a:extLst>
          </p:cNvPr>
          <p:cNvSpPr txBox="1"/>
          <p:nvPr/>
        </p:nvSpPr>
        <p:spPr>
          <a:xfrm>
            <a:off x="548640" y="566928"/>
            <a:ext cx="11094415" cy="566928"/>
          </a:xfrm>
          <a:prstGeom prst="rect">
            <a:avLst/>
          </a:prstGeom>
          <a:noFill/>
          <a:ln/>
        </p:spPr>
        <p:txBody>
          <a:bodyPr wrap="square" lIns="0" tIns="0" rIns="0" bIns="0" rtlCol="0" anchor="t"/>
          <a:lstStyle/>
          <a:p>
            <a:pPr marL="0" indent="0">
              <a:buNone/>
            </a:pPr>
            <a:r>
              <a:rPr lang="en-GB" sz="3000" b="1" noProof="0" dirty="0">
                <a:solidFill>
                  <a:srgbClr val="12315B"/>
                </a:solidFill>
                <a:latin typeface="Calibri" pitchFamily="34" charset="0"/>
                <a:ea typeface="Calibri" pitchFamily="34" charset="-122"/>
                <a:cs typeface="Calibri" pitchFamily="34" charset="-120"/>
              </a:rPr>
              <a:t>Types of breast cancer</a:t>
            </a:r>
            <a:endParaRPr lang="en-GB" sz="3000" noProof="0" dirty="0"/>
          </a:p>
        </p:txBody>
      </p:sp>
      <p:sp>
        <p:nvSpPr>
          <p:cNvPr id="8" name="Shape 6">
            <a:extLst>
              <a:ext uri="{FF2B5EF4-FFF2-40B4-BE49-F238E27FC236}">
                <a16:creationId xmlns:a16="http://schemas.microsoft.com/office/drawing/2014/main" id="{16A0341C-2DC6-9516-C99F-0E6C48946E83}"/>
              </a:ext>
            </a:extLst>
          </p:cNvPr>
          <p:cNvSpPr/>
          <p:nvPr/>
        </p:nvSpPr>
        <p:spPr>
          <a:xfrm>
            <a:off x="548640" y="1138523"/>
            <a:ext cx="11094414" cy="1138516"/>
          </a:xfrm>
          <a:prstGeom prst="roundRect">
            <a:avLst>
              <a:gd name="adj" fmla="val 2347"/>
            </a:avLst>
          </a:prstGeom>
          <a:solidFill>
            <a:srgbClr val="F4F8FC"/>
          </a:solidFill>
          <a:ln w="12700">
            <a:solidFill>
              <a:srgbClr val="C8D8EC"/>
            </a:solidFill>
            <a:prstDash val="solid"/>
          </a:ln>
        </p:spPr>
        <p:txBody>
          <a:bodyPr/>
          <a:lstStyle/>
          <a:p>
            <a:endParaRPr lang="en-GB" noProof="0" dirty="0"/>
          </a:p>
        </p:txBody>
      </p:sp>
      <p:sp>
        <p:nvSpPr>
          <p:cNvPr id="9" name="Text 7">
            <a:extLst>
              <a:ext uri="{FF2B5EF4-FFF2-40B4-BE49-F238E27FC236}">
                <a16:creationId xmlns:a16="http://schemas.microsoft.com/office/drawing/2014/main" id="{CCCA96E8-8863-64D4-860F-5907DF18B340}"/>
              </a:ext>
            </a:extLst>
          </p:cNvPr>
          <p:cNvSpPr txBox="1"/>
          <p:nvPr/>
        </p:nvSpPr>
        <p:spPr>
          <a:xfrm>
            <a:off x="761516" y="1229962"/>
            <a:ext cx="10059076" cy="292608"/>
          </a:xfrm>
          <a:prstGeom prst="rect">
            <a:avLst/>
          </a:prstGeom>
          <a:noFill/>
          <a:ln/>
        </p:spPr>
        <p:txBody>
          <a:bodyPr wrap="square" lIns="0" tIns="0" rIns="0" bIns="0" rtlCol="0" anchor="t"/>
          <a:lstStyle/>
          <a:p>
            <a:pPr marL="0" indent="0">
              <a:buNone/>
            </a:pPr>
            <a:r>
              <a:rPr lang="en-GB" sz="2000" b="1" noProof="0" dirty="0">
                <a:solidFill>
                  <a:srgbClr val="12315B"/>
                </a:solidFill>
                <a:latin typeface="Calibri" pitchFamily="34" charset="0"/>
                <a:ea typeface="Calibri" pitchFamily="34" charset="-122"/>
                <a:cs typeface="Calibri" pitchFamily="34" charset="-120"/>
              </a:rPr>
              <a:t>Invasive carcinoma of no special type</a:t>
            </a:r>
            <a:endParaRPr lang="en-GB" sz="2000" noProof="0" dirty="0"/>
          </a:p>
        </p:txBody>
      </p:sp>
      <p:sp>
        <p:nvSpPr>
          <p:cNvPr id="10" name="Text 8">
            <a:extLst>
              <a:ext uri="{FF2B5EF4-FFF2-40B4-BE49-F238E27FC236}">
                <a16:creationId xmlns:a16="http://schemas.microsoft.com/office/drawing/2014/main" id="{7FC9628D-7EEA-994B-B7AB-B7E89D144C2A}"/>
              </a:ext>
            </a:extLst>
          </p:cNvPr>
          <p:cNvSpPr txBox="1"/>
          <p:nvPr/>
        </p:nvSpPr>
        <p:spPr>
          <a:xfrm>
            <a:off x="761507" y="1622077"/>
            <a:ext cx="10716955" cy="654961"/>
          </a:xfrm>
          <a:prstGeom prst="rect">
            <a:avLst/>
          </a:prstGeom>
          <a:noFill/>
          <a:ln/>
        </p:spPr>
        <p:txBody>
          <a:bodyPr wrap="square" lIns="0" tIns="0" rIns="0" bIns="0" rtlCol="0" anchor="t"/>
          <a:lstStyle/>
          <a:p>
            <a:pPr marL="0" indent="0">
              <a:lnSpc>
                <a:spcPct val="90000"/>
              </a:lnSpc>
              <a:buNone/>
            </a:pPr>
            <a:r>
              <a:rPr lang="en-GB" sz="1800" noProof="0" dirty="0">
                <a:solidFill>
                  <a:srgbClr val="1F3A63"/>
                </a:solidFill>
                <a:latin typeface="Calibri" pitchFamily="34" charset="0"/>
                <a:ea typeface="Calibri" pitchFamily="34" charset="-122"/>
                <a:cs typeface="Calibri" pitchFamily="34" charset="-120"/>
              </a:rPr>
              <a:t>Also called invasive ductal carcinoma. This is the most common invasive breast cancer and usually presents as a firm mass.</a:t>
            </a:r>
            <a:endParaRPr lang="en-GB" sz="1800" noProof="0" dirty="0"/>
          </a:p>
        </p:txBody>
      </p:sp>
      <p:pic>
        <p:nvPicPr>
          <p:cNvPr id="23" name="Imagen 22">
            <a:extLst>
              <a:ext uri="{FF2B5EF4-FFF2-40B4-BE49-F238E27FC236}">
                <a16:creationId xmlns:a16="http://schemas.microsoft.com/office/drawing/2014/main" id="{4186C23E-54C5-0B55-542F-F3BB0C78B9BA}"/>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2049221" y="2340295"/>
            <a:ext cx="8093558" cy="4042216"/>
          </a:xfrm>
          <a:prstGeom prst="rect">
            <a:avLst/>
          </a:prstGeom>
        </p:spPr>
      </p:pic>
    </p:spTree>
    <p:extLst>
      <p:ext uri="{BB962C8B-B14F-4D97-AF65-F5344CB8AC3E}">
        <p14:creationId xmlns:p14="http://schemas.microsoft.com/office/powerpoint/2010/main" val="31875046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AF5CEAAB-C3E6-B872-91D3-F5F21F5DE67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80364BC-7B6C-F742-93AE-DE8EFBC4FC85}"/>
              </a:ext>
            </a:extLst>
          </p:cNvPr>
          <p:cNvSpPr txBox="1"/>
          <p:nvPr/>
        </p:nvSpPr>
        <p:spPr>
          <a:xfrm>
            <a:off x="548640" y="274320"/>
            <a:ext cx="11094415" cy="256032"/>
          </a:xfrm>
          <a:prstGeom prst="rect">
            <a:avLst/>
          </a:prstGeom>
          <a:noFill/>
          <a:ln/>
        </p:spPr>
        <p:txBody>
          <a:bodyPr wrap="square" lIns="0" tIns="0" rIns="0" bIns="0" rtlCol="0" anchor="ctr"/>
          <a:lstStyle/>
          <a:p>
            <a:pPr marL="0" indent="0">
              <a:buNone/>
            </a:pPr>
            <a:r>
              <a:rPr lang="en-GB" sz="1100" b="1" kern="0" spc="100" noProof="0" dirty="0">
                <a:solidFill>
                  <a:srgbClr val="5B7699"/>
                </a:solidFill>
                <a:latin typeface="Calibri" pitchFamily="34" charset="0"/>
                <a:ea typeface="Calibri" pitchFamily="34" charset="-122"/>
                <a:cs typeface="Calibri" pitchFamily="34" charset="-120"/>
              </a:rPr>
              <a:t>S E S S I O N   1</a:t>
            </a:r>
            <a:endParaRPr lang="en-GB" sz="1100" noProof="0" dirty="0"/>
          </a:p>
        </p:txBody>
      </p:sp>
      <p:sp>
        <p:nvSpPr>
          <p:cNvPr id="3" name="Text 1">
            <a:extLst>
              <a:ext uri="{FF2B5EF4-FFF2-40B4-BE49-F238E27FC236}">
                <a16:creationId xmlns:a16="http://schemas.microsoft.com/office/drawing/2014/main" id="{2223C5A3-4E4F-1B19-5990-3958231AAA33}"/>
              </a:ext>
            </a:extLst>
          </p:cNvPr>
          <p:cNvSpPr txBox="1"/>
          <p:nvPr/>
        </p:nvSpPr>
        <p:spPr>
          <a:xfrm>
            <a:off x="548640" y="6382512"/>
            <a:ext cx="11094415" cy="274320"/>
          </a:xfrm>
          <a:prstGeom prst="rect">
            <a:avLst/>
          </a:prstGeom>
          <a:noFill/>
          <a:ln/>
        </p:spPr>
        <p:txBody>
          <a:bodyPr wrap="square" lIns="0" tIns="0" rIns="0" bIns="0" rtlCol="0" anchor="ctr"/>
          <a:lstStyle/>
          <a:p>
            <a:pPr marL="0" indent="0">
              <a:buNone/>
            </a:pPr>
            <a:r>
              <a:rPr lang="en-GB" sz="1000" noProof="0" dirty="0">
                <a:solidFill>
                  <a:srgbClr val="5B7699"/>
                </a:solidFill>
                <a:latin typeface="Calibri" pitchFamily="34" charset="0"/>
                <a:ea typeface="Calibri" pitchFamily="34" charset="-122"/>
                <a:cs typeface="Calibri" pitchFamily="34" charset="-120"/>
              </a:rPr>
              <a:t>Breast Cancer  |  Frontline HCP  |  Rwanda Biomedical Centre</a:t>
            </a:r>
            <a:endParaRPr lang="en-GB" sz="1000" noProof="0" dirty="0"/>
          </a:p>
        </p:txBody>
      </p:sp>
      <p:sp>
        <p:nvSpPr>
          <p:cNvPr id="4" name="Text 2">
            <a:extLst>
              <a:ext uri="{FF2B5EF4-FFF2-40B4-BE49-F238E27FC236}">
                <a16:creationId xmlns:a16="http://schemas.microsoft.com/office/drawing/2014/main" id="{7D81E5C2-CF27-F457-5ECD-5F7DDA7C2EC8}"/>
              </a:ext>
            </a:extLst>
          </p:cNvPr>
          <p:cNvSpPr txBox="1"/>
          <p:nvPr/>
        </p:nvSpPr>
        <p:spPr>
          <a:xfrm>
            <a:off x="548640" y="566928"/>
            <a:ext cx="11094415" cy="566928"/>
          </a:xfrm>
          <a:prstGeom prst="rect">
            <a:avLst/>
          </a:prstGeom>
          <a:noFill/>
          <a:ln/>
        </p:spPr>
        <p:txBody>
          <a:bodyPr wrap="square" lIns="0" tIns="0" rIns="0" bIns="0" rtlCol="0" anchor="t"/>
          <a:lstStyle/>
          <a:p>
            <a:pPr marL="0" indent="0">
              <a:buNone/>
            </a:pPr>
            <a:r>
              <a:rPr lang="en-GB" sz="3000" b="1" noProof="0" dirty="0">
                <a:solidFill>
                  <a:srgbClr val="12315B"/>
                </a:solidFill>
                <a:latin typeface="Calibri" pitchFamily="34" charset="0"/>
                <a:ea typeface="Calibri" pitchFamily="34" charset="-122"/>
                <a:cs typeface="Calibri" pitchFamily="34" charset="-120"/>
              </a:rPr>
              <a:t>Types of breast cancer</a:t>
            </a:r>
            <a:endParaRPr lang="en-GB" sz="3000" noProof="0" dirty="0"/>
          </a:p>
        </p:txBody>
      </p:sp>
      <p:sp>
        <p:nvSpPr>
          <p:cNvPr id="11" name="Shape 9">
            <a:extLst>
              <a:ext uri="{FF2B5EF4-FFF2-40B4-BE49-F238E27FC236}">
                <a16:creationId xmlns:a16="http://schemas.microsoft.com/office/drawing/2014/main" id="{B0FA495F-B3C7-DE8E-098D-9E3C60370532}"/>
              </a:ext>
            </a:extLst>
          </p:cNvPr>
          <p:cNvSpPr/>
          <p:nvPr/>
        </p:nvSpPr>
        <p:spPr>
          <a:xfrm>
            <a:off x="548640" y="1102663"/>
            <a:ext cx="11094415" cy="1066801"/>
          </a:xfrm>
          <a:prstGeom prst="roundRect">
            <a:avLst>
              <a:gd name="adj" fmla="val 2347"/>
            </a:avLst>
          </a:prstGeom>
          <a:solidFill>
            <a:srgbClr val="F4F8FC"/>
          </a:solidFill>
          <a:ln w="12700">
            <a:solidFill>
              <a:srgbClr val="C8D8EC"/>
            </a:solidFill>
            <a:prstDash val="solid"/>
          </a:ln>
        </p:spPr>
        <p:txBody>
          <a:bodyPr/>
          <a:lstStyle/>
          <a:p>
            <a:endParaRPr lang="en-GB" noProof="0" dirty="0"/>
          </a:p>
        </p:txBody>
      </p:sp>
      <p:sp>
        <p:nvSpPr>
          <p:cNvPr id="12" name="Text 10">
            <a:extLst>
              <a:ext uri="{FF2B5EF4-FFF2-40B4-BE49-F238E27FC236}">
                <a16:creationId xmlns:a16="http://schemas.microsoft.com/office/drawing/2014/main" id="{4D657473-7B42-3D0F-7846-213C50043AAC}"/>
              </a:ext>
            </a:extLst>
          </p:cNvPr>
          <p:cNvSpPr txBox="1"/>
          <p:nvPr/>
        </p:nvSpPr>
        <p:spPr>
          <a:xfrm>
            <a:off x="713232" y="1194103"/>
            <a:ext cx="10765231" cy="292608"/>
          </a:xfrm>
          <a:prstGeom prst="rect">
            <a:avLst/>
          </a:prstGeom>
          <a:noFill/>
          <a:ln/>
        </p:spPr>
        <p:txBody>
          <a:bodyPr wrap="square" lIns="0" tIns="0" rIns="0" bIns="0" rtlCol="0" anchor="t"/>
          <a:lstStyle/>
          <a:p>
            <a:pPr marL="0" indent="0">
              <a:buNone/>
            </a:pPr>
            <a:r>
              <a:rPr lang="en-GB" sz="2000" b="1" noProof="0" dirty="0">
                <a:solidFill>
                  <a:srgbClr val="12315B"/>
                </a:solidFill>
                <a:latin typeface="Calibri" pitchFamily="34" charset="0"/>
                <a:ea typeface="Calibri" pitchFamily="34" charset="-122"/>
                <a:cs typeface="Calibri" pitchFamily="34" charset="-120"/>
              </a:rPr>
              <a:t>Invasive lobular carcinoma</a:t>
            </a:r>
            <a:endParaRPr lang="en-GB" sz="2000" noProof="0" dirty="0"/>
          </a:p>
        </p:txBody>
      </p:sp>
      <p:sp>
        <p:nvSpPr>
          <p:cNvPr id="13" name="Text 11">
            <a:extLst>
              <a:ext uri="{FF2B5EF4-FFF2-40B4-BE49-F238E27FC236}">
                <a16:creationId xmlns:a16="http://schemas.microsoft.com/office/drawing/2014/main" id="{DE4C0E01-8B28-D58D-A819-4FF5F04B277B}"/>
              </a:ext>
            </a:extLst>
          </p:cNvPr>
          <p:cNvSpPr txBox="1"/>
          <p:nvPr/>
        </p:nvSpPr>
        <p:spPr>
          <a:xfrm>
            <a:off x="713232" y="1532432"/>
            <a:ext cx="10765231" cy="637032"/>
          </a:xfrm>
          <a:prstGeom prst="rect">
            <a:avLst/>
          </a:prstGeom>
          <a:noFill/>
          <a:ln/>
        </p:spPr>
        <p:txBody>
          <a:bodyPr wrap="square" lIns="0" tIns="0" rIns="0" bIns="0" rtlCol="0" anchor="t"/>
          <a:lstStyle/>
          <a:p>
            <a:pPr marL="0" indent="0">
              <a:lnSpc>
                <a:spcPct val="90000"/>
              </a:lnSpc>
              <a:buNone/>
            </a:pPr>
            <a:r>
              <a:rPr lang="en-GB" sz="1800" noProof="0" dirty="0">
                <a:solidFill>
                  <a:srgbClr val="1F3A63"/>
                </a:solidFill>
                <a:latin typeface="Calibri" pitchFamily="34" charset="0"/>
                <a:ea typeface="Calibri" pitchFamily="34" charset="-122"/>
                <a:cs typeface="Calibri" pitchFamily="34" charset="-120"/>
              </a:rPr>
              <a:t>The second most common invasive type. It can grow diffusely, so it may present as thickening rather than a discrete lump and can be harder to see on imaging.</a:t>
            </a:r>
            <a:endParaRPr lang="en-GB" sz="1800" noProof="0" dirty="0"/>
          </a:p>
        </p:txBody>
      </p:sp>
      <p:sp>
        <p:nvSpPr>
          <p:cNvPr id="24" name="CuadroTexto 23">
            <a:extLst>
              <a:ext uri="{FF2B5EF4-FFF2-40B4-BE49-F238E27FC236}">
                <a16:creationId xmlns:a16="http://schemas.microsoft.com/office/drawing/2014/main" id="{84A3CABE-49C1-0870-A167-F126FC4D7EF6}"/>
              </a:ext>
            </a:extLst>
          </p:cNvPr>
          <p:cNvSpPr txBox="1"/>
          <p:nvPr/>
        </p:nvSpPr>
        <p:spPr>
          <a:xfrm>
            <a:off x="548641" y="5882065"/>
            <a:ext cx="11094414" cy="535531"/>
          </a:xfrm>
          <a:prstGeom prst="rect">
            <a:avLst/>
          </a:prstGeom>
          <a:noFill/>
        </p:spPr>
        <p:txBody>
          <a:bodyPr wrap="square">
            <a:spAutoFit/>
          </a:bodyPr>
          <a:lstStyle/>
          <a:p>
            <a:pPr marL="0" indent="0">
              <a:lnSpc>
                <a:spcPct val="90000"/>
              </a:lnSpc>
              <a:buNone/>
            </a:pPr>
            <a:r>
              <a:rPr lang="en-GB" sz="1600" i="1" noProof="0" dirty="0">
                <a:solidFill>
                  <a:srgbClr val="1F3A63"/>
                </a:solidFill>
                <a:latin typeface="Calibri" pitchFamily="34" charset="0"/>
                <a:ea typeface="Calibri" pitchFamily="34" charset="-122"/>
                <a:cs typeface="Calibri" pitchFamily="34" charset="-120"/>
              </a:rPr>
              <a:t>Histological type describes what the cells look like. Receptor subtype describes the biology that guides treatment. Both appear on the report.</a:t>
            </a:r>
            <a:endParaRPr lang="en-GB" sz="1600" i="1" noProof="0" dirty="0"/>
          </a:p>
        </p:txBody>
      </p:sp>
      <p:pic>
        <p:nvPicPr>
          <p:cNvPr id="25" name="Imagen 24">
            <a:extLst>
              <a:ext uri="{FF2B5EF4-FFF2-40B4-BE49-F238E27FC236}">
                <a16:creationId xmlns:a16="http://schemas.microsoft.com/office/drawing/2014/main" id="{A80532A4-2C01-A674-D14D-BEF1EE396E66}"/>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2485465" y="2215185"/>
            <a:ext cx="7221070" cy="3606463"/>
          </a:xfrm>
          <a:prstGeom prst="rect">
            <a:avLst/>
          </a:prstGeom>
        </p:spPr>
      </p:pic>
    </p:spTree>
    <p:extLst>
      <p:ext uri="{BB962C8B-B14F-4D97-AF65-F5344CB8AC3E}">
        <p14:creationId xmlns:p14="http://schemas.microsoft.com/office/powerpoint/2010/main" val="373243110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93FE95D7-40D4-AADB-AF3E-6186B73B349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1505C7A-183C-551B-4CEA-6CD652BC1308}"/>
              </a:ext>
            </a:extLst>
          </p:cNvPr>
          <p:cNvSpPr txBox="1"/>
          <p:nvPr/>
        </p:nvSpPr>
        <p:spPr>
          <a:xfrm>
            <a:off x="548640" y="274320"/>
            <a:ext cx="11094415" cy="256032"/>
          </a:xfrm>
          <a:prstGeom prst="rect">
            <a:avLst/>
          </a:prstGeom>
          <a:noFill/>
          <a:ln/>
        </p:spPr>
        <p:txBody>
          <a:bodyPr wrap="square" lIns="0" tIns="0" rIns="0" bIns="0" rtlCol="0" anchor="ctr"/>
          <a:lstStyle/>
          <a:p>
            <a:pPr marL="0" indent="0">
              <a:buNone/>
            </a:pPr>
            <a:r>
              <a:rPr lang="en-GB" sz="1100" b="1" kern="0" spc="100" noProof="0" dirty="0">
                <a:solidFill>
                  <a:srgbClr val="5B7699"/>
                </a:solidFill>
                <a:latin typeface="Calibri" pitchFamily="34" charset="0"/>
                <a:ea typeface="Calibri" pitchFamily="34" charset="-122"/>
                <a:cs typeface="Calibri" pitchFamily="34" charset="-120"/>
              </a:rPr>
              <a:t>S E S S I O N   1</a:t>
            </a:r>
            <a:endParaRPr lang="en-GB" sz="1100" noProof="0" dirty="0"/>
          </a:p>
        </p:txBody>
      </p:sp>
      <p:sp>
        <p:nvSpPr>
          <p:cNvPr id="3" name="Text 1">
            <a:extLst>
              <a:ext uri="{FF2B5EF4-FFF2-40B4-BE49-F238E27FC236}">
                <a16:creationId xmlns:a16="http://schemas.microsoft.com/office/drawing/2014/main" id="{B0C120A0-AF13-059A-EDE0-E27DB1DE1E39}"/>
              </a:ext>
            </a:extLst>
          </p:cNvPr>
          <p:cNvSpPr txBox="1"/>
          <p:nvPr/>
        </p:nvSpPr>
        <p:spPr>
          <a:xfrm>
            <a:off x="548640" y="6382512"/>
            <a:ext cx="11094415" cy="274320"/>
          </a:xfrm>
          <a:prstGeom prst="rect">
            <a:avLst/>
          </a:prstGeom>
          <a:noFill/>
          <a:ln/>
        </p:spPr>
        <p:txBody>
          <a:bodyPr wrap="square" lIns="0" tIns="0" rIns="0" bIns="0" rtlCol="0" anchor="ctr"/>
          <a:lstStyle/>
          <a:p>
            <a:pPr marL="0" indent="0">
              <a:buNone/>
            </a:pPr>
            <a:r>
              <a:rPr lang="en-GB" sz="1000" noProof="0" dirty="0">
                <a:solidFill>
                  <a:srgbClr val="5B7699"/>
                </a:solidFill>
                <a:latin typeface="Calibri" pitchFamily="34" charset="0"/>
                <a:ea typeface="Calibri" pitchFamily="34" charset="-122"/>
                <a:cs typeface="Calibri" pitchFamily="34" charset="-120"/>
              </a:rPr>
              <a:t>Breast Cancer  |  Frontline HCP  |  Rwanda Biomedical Centre</a:t>
            </a:r>
            <a:endParaRPr lang="en-GB" sz="1000" noProof="0" dirty="0"/>
          </a:p>
        </p:txBody>
      </p:sp>
      <p:sp>
        <p:nvSpPr>
          <p:cNvPr id="4" name="Text 2">
            <a:extLst>
              <a:ext uri="{FF2B5EF4-FFF2-40B4-BE49-F238E27FC236}">
                <a16:creationId xmlns:a16="http://schemas.microsoft.com/office/drawing/2014/main" id="{B1F99508-7F1B-1B74-8F0F-B45E546D12AB}"/>
              </a:ext>
            </a:extLst>
          </p:cNvPr>
          <p:cNvSpPr txBox="1"/>
          <p:nvPr/>
        </p:nvSpPr>
        <p:spPr>
          <a:xfrm>
            <a:off x="548640" y="566928"/>
            <a:ext cx="11094415" cy="566928"/>
          </a:xfrm>
          <a:prstGeom prst="rect">
            <a:avLst/>
          </a:prstGeom>
          <a:noFill/>
          <a:ln/>
        </p:spPr>
        <p:txBody>
          <a:bodyPr wrap="square" lIns="0" tIns="0" rIns="0" bIns="0" rtlCol="0" anchor="t"/>
          <a:lstStyle/>
          <a:p>
            <a:pPr marL="0" indent="0">
              <a:buNone/>
            </a:pPr>
            <a:r>
              <a:rPr lang="en-GB" sz="3000" b="1" noProof="0" dirty="0">
                <a:solidFill>
                  <a:srgbClr val="12315B"/>
                </a:solidFill>
                <a:latin typeface="Calibri" pitchFamily="34" charset="0"/>
                <a:ea typeface="Calibri" pitchFamily="34" charset="-122"/>
                <a:cs typeface="Calibri" pitchFamily="34" charset="-120"/>
              </a:rPr>
              <a:t>Types of breast cancer</a:t>
            </a:r>
            <a:endParaRPr lang="en-GB" sz="3000" noProof="0" dirty="0"/>
          </a:p>
        </p:txBody>
      </p:sp>
      <p:sp>
        <p:nvSpPr>
          <p:cNvPr id="14" name="Shape 12">
            <a:extLst>
              <a:ext uri="{FF2B5EF4-FFF2-40B4-BE49-F238E27FC236}">
                <a16:creationId xmlns:a16="http://schemas.microsoft.com/office/drawing/2014/main" id="{2D9CD7EA-D95D-E460-530E-CB42306B9189}"/>
              </a:ext>
            </a:extLst>
          </p:cNvPr>
          <p:cNvSpPr/>
          <p:nvPr/>
        </p:nvSpPr>
        <p:spPr>
          <a:xfrm>
            <a:off x="548639" y="1204254"/>
            <a:ext cx="11094415" cy="983134"/>
          </a:xfrm>
          <a:prstGeom prst="roundRect">
            <a:avLst>
              <a:gd name="adj" fmla="val 2711"/>
            </a:avLst>
          </a:prstGeom>
          <a:solidFill>
            <a:srgbClr val="F4F8FC"/>
          </a:solidFill>
          <a:ln w="12700">
            <a:solidFill>
              <a:srgbClr val="C8D8EC"/>
            </a:solidFill>
            <a:prstDash val="solid"/>
          </a:ln>
        </p:spPr>
        <p:txBody>
          <a:bodyPr/>
          <a:lstStyle/>
          <a:p>
            <a:endParaRPr lang="en-GB" noProof="0" dirty="0"/>
          </a:p>
        </p:txBody>
      </p:sp>
      <p:sp>
        <p:nvSpPr>
          <p:cNvPr id="15" name="Text 13">
            <a:extLst>
              <a:ext uri="{FF2B5EF4-FFF2-40B4-BE49-F238E27FC236}">
                <a16:creationId xmlns:a16="http://schemas.microsoft.com/office/drawing/2014/main" id="{BF2599ED-3865-86A0-4AB4-FBC90FD8F367}"/>
              </a:ext>
            </a:extLst>
          </p:cNvPr>
          <p:cNvSpPr txBox="1"/>
          <p:nvPr/>
        </p:nvSpPr>
        <p:spPr>
          <a:xfrm>
            <a:off x="713231" y="1241906"/>
            <a:ext cx="10059077" cy="292608"/>
          </a:xfrm>
          <a:prstGeom prst="rect">
            <a:avLst/>
          </a:prstGeom>
          <a:noFill/>
          <a:ln/>
        </p:spPr>
        <p:txBody>
          <a:bodyPr wrap="square" lIns="0" tIns="0" rIns="0" bIns="0" rtlCol="0" anchor="t"/>
          <a:lstStyle/>
          <a:p>
            <a:pPr marL="0" indent="0">
              <a:buNone/>
            </a:pPr>
            <a:r>
              <a:rPr lang="en-GB" sz="2000" b="1" noProof="0" dirty="0">
                <a:solidFill>
                  <a:srgbClr val="12315B"/>
                </a:solidFill>
                <a:latin typeface="Calibri" pitchFamily="34" charset="0"/>
                <a:ea typeface="Calibri" pitchFamily="34" charset="-122"/>
                <a:cs typeface="Calibri" pitchFamily="34" charset="-120"/>
              </a:rPr>
              <a:t>Other special types</a:t>
            </a:r>
            <a:endParaRPr lang="en-GB" sz="2000" noProof="0" dirty="0"/>
          </a:p>
        </p:txBody>
      </p:sp>
      <p:sp>
        <p:nvSpPr>
          <p:cNvPr id="16" name="Text 14">
            <a:extLst>
              <a:ext uri="{FF2B5EF4-FFF2-40B4-BE49-F238E27FC236}">
                <a16:creationId xmlns:a16="http://schemas.microsoft.com/office/drawing/2014/main" id="{CF0BF90E-CEEA-2266-6EAF-6146E12BD454}"/>
              </a:ext>
            </a:extLst>
          </p:cNvPr>
          <p:cNvSpPr txBox="1"/>
          <p:nvPr/>
        </p:nvSpPr>
        <p:spPr>
          <a:xfrm>
            <a:off x="713231" y="1634021"/>
            <a:ext cx="10765232" cy="691449"/>
          </a:xfrm>
          <a:prstGeom prst="rect">
            <a:avLst/>
          </a:prstGeom>
          <a:noFill/>
          <a:ln/>
        </p:spPr>
        <p:txBody>
          <a:bodyPr wrap="square" lIns="0" tIns="0" rIns="0" bIns="0" rtlCol="0" anchor="t"/>
          <a:lstStyle/>
          <a:p>
            <a:pPr marL="0" indent="0">
              <a:lnSpc>
                <a:spcPct val="90000"/>
              </a:lnSpc>
              <a:buNone/>
            </a:pPr>
            <a:r>
              <a:rPr lang="en-GB" sz="1800" noProof="0" dirty="0">
                <a:solidFill>
                  <a:srgbClr val="1F3A63"/>
                </a:solidFill>
                <a:latin typeface="Calibri" pitchFamily="34" charset="0"/>
                <a:ea typeface="Calibri" pitchFamily="34" charset="-122"/>
                <a:cs typeface="Calibri" pitchFamily="34" charset="-120"/>
              </a:rPr>
              <a:t>Several less common carcinomas exist, such as mucinous and tubular carcinoma. Their names appear on pathology reports and do not change your actions.</a:t>
            </a:r>
            <a:endParaRPr lang="en-GB" sz="1800" noProof="0" dirty="0"/>
          </a:p>
        </p:txBody>
      </p:sp>
      <p:sp>
        <p:nvSpPr>
          <p:cNvPr id="19" name="Text 17">
            <a:extLst>
              <a:ext uri="{FF2B5EF4-FFF2-40B4-BE49-F238E27FC236}">
                <a16:creationId xmlns:a16="http://schemas.microsoft.com/office/drawing/2014/main" id="{65F7590B-0F60-E11D-82B1-DB92AECDCBF9}"/>
              </a:ext>
            </a:extLst>
          </p:cNvPr>
          <p:cNvSpPr txBox="1"/>
          <p:nvPr/>
        </p:nvSpPr>
        <p:spPr>
          <a:xfrm>
            <a:off x="569799" y="6116356"/>
            <a:ext cx="10929823" cy="274320"/>
          </a:xfrm>
          <a:prstGeom prst="rect">
            <a:avLst/>
          </a:prstGeom>
          <a:noFill/>
          <a:ln/>
        </p:spPr>
        <p:txBody>
          <a:bodyPr wrap="square" lIns="0" tIns="0" rIns="0" bIns="0" rtlCol="0" anchor="t"/>
          <a:lstStyle/>
          <a:p>
            <a:pPr marL="0" indent="0">
              <a:lnSpc>
                <a:spcPct val="90000"/>
              </a:lnSpc>
              <a:buNone/>
            </a:pPr>
            <a:r>
              <a:rPr lang="en-GB" sz="1600" i="1" noProof="0" dirty="0">
                <a:solidFill>
                  <a:srgbClr val="1F3A63"/>
                </a:solidFill>
                <a:latin typeface="Calibri" pitchFamily="34" charset="0"/>
                <a:ea typeface="Calibri" pitchFamily="34" charset="-122"/>
                <a:cs typeface="Calibri" pitchFamily="34" charset="-120"/>
              </a:rPr>
              <a:t>Nearly all breast cancers are carcinomas arising from epithelium. Sarcomas and lymphomas of the breast are rare.</a:t>
            </a:r>
            <a:endParaRPr lang="en-GB" sz="1600" i="1" noProof="0" dirty="0"/>
          </a:p>
        </p:txBody>
      </p:sp>
      <p:sp>
        <p:nvSpPr>
          <p:cNvPr id="22" name="Text 20">
            <a:extLst>
              <a:ext uri="{FF2B5EF4-FFF2-40B4-BE49-F238E27FC236}">
                <a16:creationId xmlns:a16="http://schemas.microsoft.com/office/drawing/2014/main" id="{EF61E87D-5A14-A1D1-3900-ECB3FD481695}"/>
              </a:ext>
            </a:extLst>
          </p:cNvPr>
          <p:cNvSpPr txBox="1"/>
          <p:nvPr/>
        </p:nvSpPr>
        <p:spPr>
          <a:xfrm>
            <a:off x="8280197" y="4395139"/>
            <a:ext cx="3198266" cy="1539317"/>
          </a:xfrm>
          <a:prstGeom prst="rect">
            <a:avLst/>
          </a:prstGeom>
          <a:noFill/>
          <a:ln/>
        </p:spPr>
        <p:txBody>
          <a:bodyPr wrap="square" lIns="0" tIns="0" rIns="0" bIns="0" rtlCol="0" anchor="t"/>
          <a:lstStyle/>
          <a:p>
            <a:pPr marL="0" indent="0">
              <a:lnSpc>
                <a:spcPct val="90000"/>
              </a:lnSpc>
              <a:buNone/>
            </a:pPr>
            <a:endParaRPr lang="en-GB" sz="1800" noProof="0" dirty="0"/>
          </a:p>
        </p:txBody>
      </p:sp>
      <p:pic>
        <p:nvPicPr>
          <p:cNvPr id="23" name="Imagen 22">
            <a:extLst>
              <a:ext uri="{FF2B5EF4-FFF2-40B4-BE49-F238E27FC236}">
                <a16:creationId xmlns:a16="http://schemas.microsoft.com/office/drawing/2014/main" id="{71C1A722-715E-DD3D-1B60-B96B88B95B99}"/>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2278040" y="2257786"/>
            <a:ext cx="7635920" cy="3813655"/>
          </a:xfrm>
          <a:prstGeom prst="rect">
            <a:avLst/>
          </a:prstGeom>
        </p:spPr>
      </p:pic>
    </p:spTree>
    <p:extLst>
      <p:ext uri="{BB962C8B-B14F-4D97-AF65-F5344CB8AC3E}">
        <p14:creationId xmlns:p14="http://schemas.microsoft.com/office/powerpoint/2010/main" val="142418191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en-GB" sz="1100" b="1" kern="0" spc="100" noProof="0" dirty="0">
                <a:solidFill>
                  <a:srgbClr val="5B7699"/>
                </a:solidFill>
                <a:latin typeface="Calibri" pitchFamily="34" charset="0"/>
                <a:ea typeface="Calibri" pitchFamily="34" charset="-122"/>
                <a:cs typeface="Calibri" pitchFamily="34" charset="-120"/>
              </a:rPr>
              <a:t>S E S S I O N   1</a:t>
            </a:r>
            <a:endParaRPr lang="en-GB"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en-GB" sz="1000" noProof="0" dirty="0">
                <a:solidFill>
                  <a:srgbClr val="5B7699"/>
                </a:solidFill>
                <a:latin typeface="Calibri" pitchFamily="34" charset="0"/>
                <a:ea typeface="Calibri" pitchFamily="34" charset="-122"/>
                <a:cs typeface="Calibri" pitchFamily="34" charset="-120"/>
              </a:rPr>
              <a:t>Breast Cancer  |  Frontline HCP  |  Rwanda Biomedical Centre</a:t>
            </a:r>
            <a:endParaRPr lang="en-GB"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en-GB" sz="3000" b="1" noProof="0" dirty="0">
                <a:solidFill>
                  <a:srgbClr val="12315B"/>
                </a:solidFill>
                <a:latin typeface="Calibri" pitchFamily="34" charset="0"/>
                <a:ea typeface="Calibri" pitchFamily="34" charset="-122"/>
                <a:cs typeface="Calibri" pitchFamily="34" charset="-120"/>
              </a:rPr>
              <a:t>Presentations you must not miss</a:t>
            </a:r>
            <a:endParaRPr lang="en-GB" sz="3000" noProof="0" dirty="0"/>
          </a:p>
        </p:txBody>
      </p:sp>
      <p:sp>
        <p:nvSpPr>
          <p:cNvPr id="15" name="Text 13"/>
          <p:cNvSpPr txBox="1"/>
          <p:nvPr/>
        </p:nvSpPr>
        <p:spPr>
          <a:xfrm>
            <a:off x="548640" y="5916700"/>
            <a:ext cx="11094415" cy="443215"/>
          </a:xfrm>
          <a:prstGeom prst="rect">
            <a:avLst/>
          </a:prstGeom>
          <a:noFill/>
          <a:ln/>
        </p:spPr>
        <p:txBody>
          <a:bodyPr wrap="square" lIns="0" tIns="0" rIns="0" bIns="0" rtlCol="0" anchor="ctr"/>
          <a:lstStyle/>
          <a:p>
            <a:pPr marL="0" indent="0">
              <a:lnSpc>
                <a:spcPct val="95000"/>
              </a:lnSpc>
              <a:buNone/>
            </a:pPr>
            <a:r>
              <a:rPr lang="en-GB" sz="1400" i="1" noProof="0" dirty="0">
                <a:solidFill>
                  <a:srgbClr val="0B1F3F"/>
                </a:solidFill>
                <a:latin typeface="Calibri" pitchFamily="34" charset="0"/>
                <a:ea typeface="Calibri" pitchFamily="34" charset="-122"/>
                <a:cs typeface="Calibri" pitchFamily="34" charset="-120"/>
              </a:rPr>
              <a:t>Rapid redness and swelling of a breast has several causes, including infection. Do not assume that a red breast is inflammatory breast cancer, and do not assume that it is only mastitis. Reassess deliberately and refer if the picture does not settle as expected.</a:t>
            </a:r>
            <a:endParaRPr lang="en-GB" sz="1400" i="1" noProof="0" dirty="0"/>
          </a:p>
        </p:txBody>
      </p:sp>
      <p:grpSp>
        <p:nvGrpSpPr>
          <p:cNvPr id="14" name="Grupo 13">
            <a:extLst>
              <a:ext uri="{FF2B5EF4-FFF2-40B4-BE49-F238E27FC236}">
                <a16:creationId xmlns:a16="http://schemas.microsoft.com/office/drawing/2014/main" id="{72EE0F88-F5F8-9F5B-687F-07E4BC3E3E12}"/>
              </a:ext>
            </a:extLst>
          </p:cNvPr>
          <p:cNvGrpSpPr/>
          <p:nvPr/>
        </p:nvGrpSpPr>
        <p:grpSpPr>
          <a:xfrm>
            <a:off x="548640" y="1192309"/>
            <a:ext cx="3527450" cy="4579521"/>
            <a:chOff x="548640" y="1192309"/>
            <a:chExt cx="3527450" cy="4579521"/>
          </a:xfrm>
        </p:grpSpPr>
        <p:sp>
          <p:nvSpPr>
            <p:cNvPr id="5" name="Shape 3"/>
            <p:cNvSpPr/>
            <p:nvPr/>
          </p:nvSpPr>
          <p:spPr>
            <a:xfrm>
              <a:off x="548640" y="1192309"/>
              <a:ext cx="3527450" cy="4579521"/>
            </a:xfrm>
            <a:prstGeom prst="roundRect">
              <a:avLst>
                <a:gd name="adj" fmla="val 1555"/>
              </a:avLst>
            </a:prstGeom>
            <a:solidFill>
              <a:srgbClr val="FBECEA"/>
            </a:solidFill>
            <a:ln w="12700">
              <a:solidFill>
                <a:srgbClr val="E7B6B0"/>
              </a:solidFill>
              <a:prstDash val="solid"/>
            </a:ln>
          </p:spPr>
          <p:txBody>
            <a:bodyPr/>
            <a:lstStyle/>
            <a:p>
              <a:endParaRPr lang="en-GB" noProof="0" dirty="0"/>
            </a:p>
          </p:txBody>
        </p:sp>
        <p:sp>
          <p:nvSpPr>
            <p:cNvPr id="6" name="Text 4"/>
            <p:cNvSpPr txBox="1"/>
            <p:nvPr/>
          </p:nvSpPr>
          <p:spPr>
            <a:xfrm>
              <a:off x="713232" y="1283750"/>
              <a:ext cx="3198266" cy="292608"/>
            </a:xfrm>
            <a:prstGeom prst="rect">
              <a:avLst/>
            </a:prstGeom>
            <a:noFill/>
            <a:ln/>
          </p:spPr>
          <p:txBody>
            <a:bodyPr wrap="square" lIns="0" tIns="0" rIns="0" bIns="0" rtlCol="0" anchor="t"/>
            <a:lstStyle/>
            <a:p>
              <a:pPr marL="0" indent="0">
                <a:buNone/>
              </a:pPr>
              <a:r>
                <a:rPr lang="en-GB" sz="1700" b="1" noProof="0" dirty="0">
                  <a:solidFill>
                    <a:srgbClr val="A32319"/>
                  </a:solidFill>
                  <a:latin typeface="Calibri" pitchFamily="34" charset="0"/>
                  <a:ea typeface="Calibri" pitchFamily="34" charset="-122"/>
                  <a:cs typeface="Calibri" pitchFamily="34" charset="-120"/>
                </a:rPr>
                <a:t>Inflammatory breast cancer</a:t>
              </a:r>
              <a:endParaRPr lang="en-GB" sz="1700" noProof="0" dirty="0"/>
            </a:p>
          </p:txBody>
        </p:sp>
        <p:sp>
          <p:nvSpPr>
            <p:cNvPr id="7" name="Text 5"/>
            <p:cNvSpPr txBox="1"/>
            <p:nvPr/>
          </p:nvSpPr>
          <p:spPr>
            <a:xfrm>
              <a:off x="713232" y="1622078"/>
              <a:ext cx="3198266" cy="3355848"/>
            </a:xfrm>
            <a:prstGeom prst="rect">
              <a:avLst/>
            </a:prstGeom>
            <a:noFill/>
            <a:ln/>
          </p:spPr>
          <p:txBody>
            <a:bodyPr wrap="square" lIns="0" tIns="0" rIns="0" bIns="0" rtlCol="0" anchor="t"/>
            <a:lstStyle/>
            <a:p>
              <a:pPr marL="0" indent="0">
                <a:lnSpc>
                  <a:spcPct val="90000"/>
                </a:lnSpc>
                <a:buNone/>
              </a:pPr>
              <a:r>
                <a:rPr lang="en-GB" sz="1800" noProof="0" dirty="0">
                  <a:solidFill>
                    <a:srgbClr val="1F3A63"/>
                  </a:solidFill>
                  <a:latin typeface="Calibri" pitchFamily="34" charset="0"/>
                  <a:ea typeface="Calibri" pitchFamily="34" charset="-122"/>
                  <a:cs typeface="Calibri" pitchFamily="34" charset="-120"/>
                </a:rPr>
                <a:t>Rapid breast swelling, diffuse redness, warmth, skin thickening and </a:t>
              </a:r>
              <a:r>
                <a:rPr lang="en-GB" sz="1800" noProof="0" dirty="0" err="1">
                  <a:solidFill>
                    <a:srgbClr val="1F3A63"/>
                  </a:solidFill>
                  <a:latin typeface="Calibri" pitchFamily="34" charset="0"/>
                  <a:ea typeface="Calibri" pitchFamily="34" charset="-122"/>
                  <a:cs typeface="Calibri" pitchFamily="34" charset="-120"/>
                </a:rPr>
                <a:t>peau</a:t>
              </a:r>
              <a:r>
                <a:rPr lang="en-GB" sz="1800" noProof="0" dirty="0">
                  <a:solidFill>
                    <a:srgbClr val="1F3A63"/>
                  </a:solidFill>
                  <a:latin typeface="Calibri" pitchFamily="34" charset="0"/>
                  <a:ea typeface="Calibri" pitchFamily="34" charset="-122"/>
                  <a:cs typeface="Calibri" pitchFamily="34" charset="-120"/>
                </a:rPr>
                <a:t> </a:t>
              </a:r>
              <a:r>
                <a:rPr lang="en-GB" sz="1800" noProof="0" dirty="0" err="1">
                  <a:solidFill>
                    <a:srgbClr val="1F3A63"/>
                  </a:solidFill>
                  <a:latin typeface="Calibri" pitchFamily="34" charset="0"/>
                  <a:ea typeface="Calibri" pitchFamily="34" charset="-122"/>
                  <a:cs typeface="Calibri" pitchFamily="34" charset="-120"/>
                </a:rPr>
                <a:t>d'orange</a:t>
              </a:r>
              <a:r>
                <a:rPr lang="en-GB" sz="1800" noProof="0" dirty="0">
                  <a:solidFill>
                    <a:srgbClr val="1F3A63"/>
                  </a:solidFill>
                  <a:latin typeface="Calibri" pitchFamily="34" charset="0"/>
                  <a:ea typeface="Calibri" pitchFamily="34" charset="-122"/>
                  <a:cs typeface="Calibri" pitchFamily="34" charset="-120"/>
                </a:rPr>
                <a:t>, often with no discrete lump. It can be mistaken for mastitis. Breast changes that do not resolve promptly with appropriate treatment need urgent assessment.</a:t>
              </a:r>
              <a:endParaRPr lang="en-GB" sz="1800" noProof="0" dirty="0"/>
            </a:p>
          </p:txBody>
        </p:sp>
        <p:pic>
          <p:nvPicPr>
            <p:cNvPr id="16" name="Imagen 15">
              <a:extLst>
                <a:ext uri="{FF2B5EF4-FFF2-40B4-BE49-F238E27FC236}">
                  <a16:creationId xmlns:a16="http://schemas.microsoft.com/office/drawing/2014/main" id="{1770A403-454A-9E23-B852-B2BD87BA9B03}"/>
                </a:ext>
              </a:extLst>
            </p:cNvPr>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a:xfrm>
              <a:off x="1189364" y="3596843"/>
              <a:ext cx="2145505" cy="2145505"/>
            </a:xfrm>
            <a:prstGeom prst="rect">
              <a:avLst/>
            </a:prstGeom>
          </p:spPr>
        </p:pic>
      </p:grpSp>
      <p:grpSp>
        <p:nvGrpSpPr>
          <p:cNvPr id="17" name="Grupo 16">
            <a:extLst>
              <a:ext uri="{FF2B5EF4-FFF2-40B4-BE49-F238E27FC236}">
                <a16:creationId xmlns:a16="http://schemas.microsoft.com/office/drawing/2014/main" id="{2BD511EE-D36A-C808-63BF-DEFDDA887C52}"/>
              </a:ext>
            </a:extLst>
          </p:cNvPr>
          <p:cNvGrpSpPr/>
          <p:nvPr/>
        </p:nvGrpSpPr>
        <p:grpSpPr>
          <a:xfrm>
            <a:off x="4332122" y="1192309"/>
            <a:ext cx="3527450" cy="4579521"/>
            <a:chOff x="4332122" y="1192309"/>
            <a:chExt cx="3527450" cy="4579521"/>
          </a:xfrm>
        </p:grpSpPr>
        <p:sp>
          <p:nvSpPr>
            <p:cNvPr id="8" name="Shape 6"/>
            <p:cNvSpPr/>
            <p:nvPr/>
          </p:nvSpPr>
          <p:spPr>
            <a:xfrm>
              <a:off x="4332122" y="1192309"/>
              <a:ext cx="3527450" cy="4579521"/>
            </a:xfrm>
            <a:prstGeom prst="roundRect">
              <a:avLst>
                <a:gd name="adj" fmla="val 1555"/>
              </a:avLst>
            </a:prstGeom>
            <a:solidFill>
              <a:srgbClr val="FBECEA"/>
            </a:solidFill>
            <a:ln w="12700">
              <a:solidFill>
                <a:srgbClr val="E7B6B0"/>
              </a:solidFill>
              <a:prstDash val="solid"/>
            </a:ln>
          </p:spPr>
          <p:txBody>
            <a:bodyPr/>
            <a:lstStyle/>
            <a:p>
              <a:endParaRPr lang="en-GB" noProof="0" dirty="0"/>
            </a:p>
          </p:txBody>
        </p:sp>
        <p:sp>
          <p:nvSpPr>
            <p:cNvPr id="9" name="Text 7"/>
            <p:cNvSpPr txBox="1"/>
            <p:nvPr/>
          </p:nvSpPr>
          <p:spPr>
            <a:xfrm>
              <a:off x="4496714" y="1283750"/>
              <a:ext cx="3198266" cy="292608"/>
            </a:xfrm>
            <a:prstGeom prst="rect">
              <a:avLst/>
            </a:prstGeom>
            <a:noFill/>
            <a:ln/>
          </p:spPr>
          <p:txBody>
            <a:bodyPr wrap="square" lIns="0" tIns="0" rIns="0" bIns="0" rtlCol="0" anchor="t"/>
            <a:lstStyle/>
            <a:p>
              <a:pPr marL="0" indent="0">
                <a:buNone/>
              </a:pPr>
              <a:r>
                <a:rPr lang="en-GB" sz="1700" b="1" noProof="0" dirty="0">
                  <a:solidFill>
                    <a:srgbClr val="A32319"/>
                  </a:solidFill>
                  <a:latin typeface="Calibri" pitchFamily="34" charset="0"/>
                  <a:ea typeface="Calibri" pitchFamily="34" charset="-122"/>
                  <a:cs typeface="Calibri" pitchFamily="34" charset="-120"/>
                </a:rPr>
                <a:t>Paget disease of the nipple</a:t>
              </a:r>
              <a:endParaRPr lang="en-GB" sz="1700" noProof="0" dirty="0"/>
            </a:p>
          </p:txBody>
        </p:sp>
        <p:sp>
          <p:nvSpPr>
            <p:cNvPr id="10" name="Text 8"/>
            <p:cNvSpPr txBox="1"/>
            <p:nvPr/>
          </p:nvSpPr>
          <p:spPr>
            <a:xfrm>
              <a:off x="4496714" y="1622078"/>
              <a:ext cx="3198266" cy="3355848"/>
            </a:xfrm>
            <a:prstGeom prst="rect">
              <a:avLst/>
            </a:prstGeom>
            <a:noFill/>
            <a:ln/>
          </p:spPr>
          <p:txBody>
            <a:bodyPr wrap="square" lIns="0" tIns="0" rIns="0" bIns="0" rtlCol="0" anchor="t"/>
            <a:lstStyle/>
            <a:p>
              <a:pPr marL="0" indent="0">
                <a:lnSpc>
                  <a:spcPct val="90000"/>
                </a:lnSpc>
                <a:buNone/>
              </a:pPr>
              <a:r>
                <a:rPr lang="en-GB" sz="1800" noProof="0" dirty="0">
                  <a:solidFill>
                    <a:srgbClr val="1F3A63"/>
                  </a:solidFill>
                  <a:latin typeface="Calibri" pitchFamily="34" charset="0"/>
                  <a:ea typeface="Calibri" pitchFamily="34" charset="-122"/>
                  <a:cs typeface="Calibri" pitchFamily="34" charset="-120"/>
                </a:rPr>
                <a:t>A persistent scaly, eczema-like or ulcerated change of the nipple and areola, sometimes with discharge. It can be associated with underlying in situ or invasive cancer. A nipple change that does not settle needs assessment, not repeated creams.</a:t>
              </a:r>
              <a:endParaRPr lang="en-GB" sz="1800" noProof="0" dirty="0"/>
            </a:p>
          </p:txBody>
        </p:sp>
        <p:pic>
          <p:nvPicPr>
            <p:cNvPr id="18" name="Imagen 17">
              <a:extLst>
                <a:ext uri="{FF2B5EF4-FFF2-40B4-BE49-F238E27FC236}">
                  <a16:creationId xmlns:a16="http://schemas.microsoft.com/office/drawing/2014/main" id="{9042F659-1B5A-BE65-9EF0-FC7A8970BB14}"/>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4595571" y="3669411"/>
              <a:ext cx="3000551" cy="2000367"/>
            </a:xfrm>
            <a:prstGeom prst="rect">
              <a:avLst/>
            </a:prstGeom>
          </p:spPr>
        </p:pic>
      </p:grpSp>
      <p:grpSp>
        <p:nvGrpSpPr>
          <p:cNvPr id="19" name="Grupo 18">
            <a:extLst>
              <a:ext uri="{FF2B5EF4-FFF2-40B4-BE49-F238E27FC236}">
                <a16:creationId xmlns:a16="http://schemas.microsoft.com/office/drawing/2014/main" id="{B5F10EAF-87A4-BE96-2195-BDA371CDC514}"/>
              </a:ext>
            </a:extLst>
          </p:cNvPr>
          <p:cNvGrpSpPr/>
          <p:nvPr/>
        </p:nvGrpSpPr>
        <p:grpSpPr>
          <a:xfrm>
            <a:off x="8115605" y="1192309"/>
            <a:ext cx="3527450" cy="4579521"/>
            <a:chOff x="8115605" y="1192309"/>
            <a:chExt cx="3527450" cy="4579521"/>
          </a:xfrm>
        </p:grpSpPr>
        <p:sp>
          <p:nvSpPr>
            <p:cNvPr id="11" name="Shape 9"/>
            <p:cNvSpPr/>
            <p:nvPr/>
          </p:nvSpPr>
          <p:spPr>
            <a:xfrm>
              <a:off x="8115605" y="1192309"/>
              <a:ext cx="3527450" cy="4579521"/>
            </a:xfrm>
            <a:prstGeom prst="roundRect">
              <a:avLst>
                <a:gd name="adj" fmla="val 1555"/>
              </a:avLst>
            </a:prstGeom>
            <a:solidFill>
              <a:srgbClr val="FBECEA"/>
            </a:solidFill>
            <a:ln w="12700">
              <a:solidFill>
                <a:srgbClr val="E7B6B0"/>
              </a:solidFill>
              <a:prstDash val="solid"/>
            </a:ln>
          </p:spPr>
          <p:txBody>
            <a:bodyPr/>
            <a:lstStyle/>
            <a:p>
              <a:endParaRPr lang="en-GB" noProof="0" dirty="0"/>
            </a:p>
          </p:txBody>
        </p:sp>
        <p:sp>
          <p:nvSpPr>
            <p:cNvPr id="12" name="Text 10"/>
            <p:cNvSpPr txBox="1"/>
            <p:nvPr/>
          </p:nvSpPr>
          <p:spPr>
            <a:xfrm>
              <a:off x="8280197" y="1283750"/>
              <a:ext cx="3198266" cy="292608"/>
            </a:xfrm>
            <a:prstGeom prst="rect">
              <a:avLst/>
            </a:prstGeom>
            <a:noFill/>
            <a:ln/>
          </p:spPr>
          <p:txBody>
            <a:bodyPr wrap="square" lIns="0" tIns="0" rIns="0" bIns="0" rtlCol="0" anchor="t"/>
            <a:lstStyle/>
            <a:p>
              <a:pPr marL="0" indent="0">
                <a:buNone/>
              </a:pPr>
              <a:r>
                <a:rPr lang="en-GB" sz="1700" b="1" noProof="0" dirty="0">
                  <a:solidFill>
                    <a:srgbClr val="A32319"/>
                  </a:solidFill>
                  <a:latin typeface="Calibri" pitchFamily="34" charset="0"/>
                  <a:ea typeface="Calibri" pitchFamily="34" charset="-122"/>
                  <a:cs typeface="Calibri" pitchFamily="34" charset="-120"/>
                </a:rPr>
                <a:t>Male breast cancer</a:t>
              </a:r>
              <a:endParaRPr lang="en-GB" sz="1700" noProof="0" dirty="0"/>
            </a:p>
          </p:txBody>
        </p:sp>
        <p:sp>
          <p:nvSpPr>
            <p:cNvPr id="13" name="Text 11"/>
            <p:cNvSpPr txBox="1"/>
            <p:nvPr/>
          </p:nvSpPr>
          <p:spPr>
            <a:xfrm>
              <a:off x="8280197" y="1622078"/>
              <a:ext cx="3198266" cy="3355848"/>
            </a:xfrm>
            <a:prstGeom prst="rect">
              <a:avLst/>
            </a:prstGeom>
            <a:noFill/>
            <a:ln/>
          </p:spPr>
          <p:txBody>
            <a:bodyPr wrap="square" lIns="0" tIns="0" rIns="0" bIns="0" rtlCol="0" anchor="t"/>
            <a:lstStyle/>
            <a:p>
              <a:pPr marL="0" indent="0">
                <a:lnSpc>
                  <a:spcPct val="90000"/>
                </a:lnSpc>
                <a:buNone/>
              </a:pPr>
              <a:r>
                <a:rPr lang="en-GB" sz="1800" noProof="0" dirty="0">
                  <a:solidFill>
                    <a:srgbClr val="1F3A63"/>
                  </a:solidFill>
                  <a:latin typeface="Calibri" pitchFamily="34" charset="0"/>
                  <a:ea typeface="Calibri" pitchFamily="34" charset="-122"/>
                  <a:cs typeface="Calibri" pitchFamily="34" charset="-120"/>
                </a:rPr>
                <a:t>Uncommon but real. It usually presents as a firm, often painless lump behind or near the nipple, sometimes with nipple retraction or discharge. Assess a male breast mass rather than assuming gynaecomastia.</a:t>
              </a:r>
              <a:endParaRPr lang="en-GB" sz="1800" noProof="0" dirty="0"/>
            </a:p>
          </p:txBody>
        </p:sp>
        <p:pic>
          <p:nvPicPr>
            <p:cNvPr id="25" name="Imagen 24">
              <a:extLst>
                <a:ext uri="{FF2B5EF4-FFF2-40B4-BE49-F238E27FC236}">
                  <a16:creationId xmlns:a16="http://schemas.microsoft.com/office/drawing/2014/main" id="{EDD7E265-5B15-AD0A-7C8B-64F6F913627F}"/>
                </a:ext>
              </a:extLst>
            </p:cNvPr>
            <p:cNvPicPr>
              <a:picLocks noChangeAspect="1"/>
            </p:cNvPicPr>
            <p:nvPr/>
          </p:nvPicPr>
          <p:blipFill>
            <a:blip r:embed="rId5" cstate="email">
              <a:extLst>
                <a:ext uri="{28A0092B-C50C-407E-A947-70E740481C1C}">
                  <a14:useLocalDpi xmlns:a14="http://schemas.microsoft.com/office/drawing/2010/main"/>
                </a:ext>
              </a:extLst>
            </a:blip>
            <a:srcRect/>
            <a:stretch>
              <a:fillRect/>
            </a:stretch>
          </p:blipFill>
          <p:spPr>
            <a:xfrm>
              <a:off x="8174864" y="3707692"/>
              <a:ext cx="3408931" cy="1640727"/>
            </a:xfrm>
            <a:prstGeom prst="rect">
              <a:avLst/>
            </a:prstGeom>
          </p:spPr>
        </p:pic>
      </p:gr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en-GB" sz="1100" b="1" kern="0" spc="100" noProof="0" dirty="0">
                <a:solidFill>
                  <a:srgbClr val="5B7699"/>
                </a:solidFill>
                <a:latin typeface="Calibri" pitchFamily="34" charset="0"/>
                <a:ea typeface="Calibri" pitchFamily="34" charset="-122"/>
                <a:cs typeface="Calibri" pitchFamily="34" charset="-120"/>
              </a:rPr>
              <a:t>S E S S I O N   1</a:t>
            </a:r>
            <a:endParaRPr lang="en-GB"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en-GB" sz="1000" noProof="0" dirty="0">
                <a:solidFill>
                  <a:srgbClr val="5B7699"/>
                </a:solidFill>
                <a:latin typeface="Calibri" pitchFamily="34" charset="0"/>
                <a:ea typeface="Calibri" pitchFamily="34" charset="-122"/>
                <a:cs typeface="Calibri" pitchFamily="34" charset="-120"/>
              </a:rPr>
              <a:t>Breast Cancer  |  Frontline HCP  |  Rwanda Biomedical Centre</a:t>
            </a:r>
            <a:endParaRPr lang="en-GB"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en-GB" sz="3000" b="1" noProof="0" dirty="0">
                <a:solidFill>
                  <a:srgbClr val="12315B"/>
                </a:solidFill>
                <a:latin typeface="Calibri" pitchFamily="34" charset="0"/>
                <a:ea typeface="Calibri" pitchFamily="34" charset="-122"/>
                <a:cs typeface="Calibri" pitchFamily="34" charset="-120"/>
              </a:rPr>
              <a:t>Tumour biology: the three results that shape treatment</a:t>
            </a:r>
            <a:endParaRPr lang="en-GB" sz="3000" noProof="0" dirty="0"/>
          </a:p>
        </p:txBody>
      </p:sp>
      <p:pic>
        <p:nvPicPr>
          <p:cNvPr id="23" name="Imagen 22">
            <a:extLst>
              <a:ext uri="{FF2B5EF4-FFF2-40B4-BE49-F238E27FC236}">
                <a16:creationId xmlns:a16="http://schemas.microsoft.com/office/drawing/2014/main" id="{007B8B6C-1189-2667-C40A-F02AA4232887}"/>
              </a:ext>
            </a:extLst>
          </p:cNvPr>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a:xfrm>
            <a:off x="1013347" y="1075392"/>
            <a:ext cx="9314599" cy="5215679"/>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en-GB" sz="1100" b="1" kern="0" spc="100" noProof="0" dirty="0">
                <a:solidFill>
                  <a:srgbClr val="5B7699"/>
                </a:solidFill>
                <a:latin typeface="Calibri" pitchFamily="34" charset="0"/>
                <a:ea typeface="Calibri" pitchFamily="34" charset="-122"/>
                <a:cs typeface="Calibri" pitchFamily="34" charset="-120"/>
              </a:rPr>
              <a:t>S E S S I O N   1</a:t>
            </a:r>
            <a:endParaRPr lang="en-GB"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en-GB" sz="1000" noProof="0" dirty="0">
                <a:solidFill>
                  <a:srgbClr val="5B7699"/>
                </a:solidFill>
                <a:latin typeface="Calibri" pitchFamily="34" charset="0"/>
                <a:ea typeface="Calibri" pitchFamily="34" charset="-122"/>
                <a:cs typeface="Calibri" pitchFamily="34" charset="-120"/>
              </a:rPr>
              <a:t>Breast Cancer  |  Frontline HCP  |  Rwanda Biomedical Centre</a:t>
            </a:r>
            <a:endParaRPr lang="en-GB"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en-GB" sz="3000" b="1" noProof="0" dirty="0">
                <a:solidFill>
                  <a:srgbClr val="12315B"/>
                </a:solidFill>
                <a:latin typeface="Calibri" pitchFamily="34" charset="0"/>
                <a:ea typeface="Calibri" pitchFamily="34" charset="-122"/>
                <a:cs typeface="Calibri" pitchFamily="34" charset="-120"/>
              </a:rPr>
              <a:t>Check your understanding</a:t>
            </a:r>
            <a:endParaRPr lang="en-GB" sz="3000" noProof="0" dirty="0"/>
          </a:p>
        </p:txBody>
      </p:sp>
      <p:sp>
        <p:nvSpPr>
          <p:cNvPr id="5" name="Shape 3"/>
          <p:cNvSpPr/>
          <p:nvPr/>
        </p:nvSpPr>
        <p:spPr>
          <a:xfrm>
            <a:off x="548640" y="1371600"/>
            <a:ext cx="7589520" cy="868680"/>
          </a:xfrm>
          <a:prstGeom prst="roundRect">
            <a:avLst>
              <a:gd name="adj" fmla="val 6316"/>
            </a:avLst>
          </a:prstGeom>
          <a:solidFill>
            <a:srgbClr val="FDF6E3"/>
          </a:solidFill>
          <a:ln w="12700">
            <a:solidFill>
              <a:srgbClr val="E0C07A"/>
            </a:solidFill>
            <a:prstDash val="solid"/>
          </a:ln>
        </p:spPr>
        <p:txBody>
          <a:bodyPr/>
          <a:lstStyle/>
          <a:p>
            <a:endParaRPr lang="en-GB" noProof="0" dirty="0"/>
          </a:p>
        </p:txBody>
      </p:sp>
      <p:sp>
        <p:nvSpPr>
          <p:cNvPr id="6" name="Text 4"/>
          <p:cNvSpPr txBox="1"/>
          <p:nvPr/>
        </p:nvSpPr>
        <p:spPr>
          <a:xfrm>
            <a:off x="713232" y="1444752"/>
            <a:ext cx="7260336" cy="731520"/>
          </a:xfrm>
          <a:prstGeom prst="rect">
            <a:avLst/>
          </a:prstGeom>
          <a:noFill/>
          <a:ln/>
        </p:spPr>
        <p:txBody>
          <a:bodyPr wrap="square" lIns="0" tIns="0" rIns="0" bIns="0" rtlCol="0" anchor="ctr"/>
          <a:lstStyle/>
          <a:p>
            <a:pPr marL="0" indent="0">
              <a:lnSpc>
                <a:spcPct val="92000"/>
              </a:lnSpc>
              <a:buNone/>
            </a:pPr>
            <a:r>
              <a:rPr lang="en-GB" sz="1600" b="1" noProof="0" dirty="0">
                <a:solidFill>
                  <a:srgbClr val="C9761A"/>
                </a:solidFill>
                <a:latin typeface="Calibri" pitchFamily="34" charset="0"/>
                <a:ea typeface="Calibri" pitchFamily="34" charset="-122"/>
                <a:cs typeface="Calibri" pitchFamily="34" charset="-120"/>
              </a:rPr>
              <a:t>Scenario   </a:t>
            </a:r>
            <a:r>
              <a:rPr lang="en-GB" sz="1600" noProof="0" dirty="0">
                <a:solidFill>
                  <a:srgbClr val="0B1F3F"/>
                </a:solidFill>
                <a:latin typeface="Calibri" pitchFamily="34" charset="0"/>
                <a:ea typeface="Calibri" pitchFamily="34" charset="-122"/>
                <a:cs typeface="Calibri" pitchFamily="34" charset="-120"/>
              </a:rPr>
              <a:t>A pathology report describes a 1.8 cm invasive carcinoma of no special type, grade 2, ER positive, PR positive, HER2 negative.</a:t>
            </a:r>
            <a:endParaRPr lang="en-GB" sz="1600" noProof="0" dirty="0"/>
          </a:p>
        </p:txBody>
      </p:sp>
      <p:sp>
        <p:nvSpPr>
          <p:cNvPr id="7" name="Text 5"/>
          <p:cNvSpPr txBox="1"/>
          <p:nvPr/>
        </p:nvSpPr>
        <p:spPr>
          <a:xfrm>
            <a:off x="548640" y="2377440"/>
            <a:ext cx="7589520" cy="365760"/>
          </a:xfrm>
          <a:prstGeom prst="rect">
            <a:avLst/>
          </a:prstGeom>
          <a:noFill/>
          <a:ln/>
        </p:spPr>
        <p:txBody>
          <a:bodyPr wrap="square" lIns="0" tIns="0" rIns="0" bIns="0" rtlCol="0" anchor="ctr"/>
          <a:lstStyle/>
          <a:p>
            <a:pPr marL="0" indent="0">
              <a:buNone/>
            </a:pPr>
            <a:r>
              <a:rPr lang="en-GB" sz="1900" b="1" noProof="0" dirty="0">
                <a:solidFill>
                  <a:srgbClr val="12315B"/>
                </a:solidFill>
                <a:latin typeface="Calibri" pitchFamily="34" charset="0"/>
                <a:ea typeface="Calibri" pitchFamily="34" charset="-122"/>
                <a:cs typeface="Calibri" pitchFamily="34" charset="-120"/>
              </a:rPr>
              <a:t>Which statement is accurate?</a:t>
            </a:r>
            <a:endParaRPr lang="en-GB" sz="1900" noProof="0" dirty="0"/>
          </a:p>
        </p:txBody>
      </p:sp>
      <p:sp>
        <p:nvSpPr>
          <p:cNvPr id="8" name="Shape 6"/>
          <p:cNvSpPr/>
          <p:nvPr/>
        </p:nvSpPr>
        <p:spPr>
          <a:xfrm>
            <a:off x="548640" y="2816352"/>
            <a:ext cx="7589520" cy="466344"/>
          </a:xfrm>
          <a:prstGeom prst="roundRect">
            <a:avLst>
              <a:gd name="adj" fmla="val 9804"/>
            </a:avLst>
          </a:prstGeom>
          <a:solidFill>
            <a:srgbClr val="FFFFFF"/>
          </a:solidFill>
          <a:ln w="12700">
            <a:solidFill>
              <a:srgbClr val="C8D8EC"/>
            </a:solidFill>
            <a:prstDash val="solid"/>
          </a:ln>
        </p:spPr>
        <p:txBody>
          <a:bodyPr/>
          <a:lstStyle/>
          <a:p>
            <a:endParaRPr lang="en-GB" noProof="0" dirty="0"/>
          </a:p>
        </p:txBody>
      </p:sp>
      <p:sp>
        <p:nvSpPr>
          <p:cNvPr id="9" name="Text 7"/>
          <p:cNvSpPr txBox="1"/>
          <p:nvPr/>
        </p:nvSpPr>
        <p:spPr>
          <a:xfrm>
            <a:off x="713232" y="2871216"/>
            <a:ext cx="7260336" cy="356616"/>
          </a:xfrm>
          <a:prstGeom prst="rect">
            <a:avLst/>
          </a:prstGeom>
          <a:noFill/>
          <a:ln/>
        </p:spPr>
        <p:txBody>
          <a:bodyPr wrap="square" lIns="0" tIns="0" rIns="0" bIns="0" rtlCol="0" anchor="ctr"/>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A   </a:t>
            </a:r>
            <a:r>
              <a:rPr lang="en-GB" sz="1800" noProof="0" dirty="0">
                <a:solidFill>
                  <a:srgbClr val="1F3A63"/>
                </a:solidFill>
                <a:latin typeface="Calibri" pitchFamily="34" charset="0"/>
                <a:ea typeface="Calibri" pitchFamily="34" charset="-122"/>
                <a:cs typeface="Calibri" pitchFamily="34" charset="-120"/>
              </a:rPr>
              <a:t>The receptor results tell you how far the cancer has spread</a:t>
            </a:r>
            <a:endParaRPr lang="en-GB" sz="1800" noProof="0" dirty="0"/>
          </a:p>
        </p:txBody>
      </p:sp>
      <p:sp>
        <p:nvSpPr>
          <p:cNvPr id="10" name="Shape 8"/>
          <p:cNvSpPr/>
          <p:nvPr/>
        </p:nvSpPr>
        <p:spPr>
          <a:xfrm>
            <a:off x="548640" y="3374136"/>
            <a:ext cx="7589520" cy="466344"/>
          </a:xfrm>
          <a:prstGeom prst="roundRect">
            <a:avLst>
              <a:gd name="adj" fmla="val 9804"/>
            </a:avLst>
          </a:prstGeom>
          <a:solidFill>
            <a:srgbClr val="FFFFFF"/>
          </a:solidFill>
          <a:ln w="12700">
            <a:solidFill>
              <a:srgbClr val="C8D8EC"/>
            </a:solidFill>
            <a:prstDash val="solid"/>
          </a:ln>
        </p:spPr>
        <p:txBody>
          <a:bodyPr/>
          <a:lstStyle/>
          <a:p>
            <a:endParaRPr lang="en-GB" noProof="0" dirty="0"/>
          </a:p>
        </p:txBody>
      </p:sp>
      <p:sp>
        <p:nvSpPr>
          <p:cNvPr id="11" name="Text 9"/>
          <p:cNvSpPr txBox="1"/>
          <p:nvPr/>
        </p:nvSpPr>
        <p:spPr>
          <a:xfrm>
            <a:off x="713232" y="3429000"/>
            <a:ext cx="7260336" cy="356616"/>
          </a:xfrm>
          <a:prstGeom prst="rect">
            <a:avLst/>
          </a:prstGeom>
          <a:noFill/>
          <a:ln/>
        </p:spPr>
        <p:txBody>
          <a:bodyPr wrap="square" lIns="0" tIns="0" rIns="0" bIns="0" rtlCol="0" anchor="ctr"/>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B   </a:t>
            </a:r>
            <a:r>
              <a:rPr lang="en-GB" sz="1800" noProof="0" dirty="0">
                <a:solidFill>
                  <a:srgbClr val="1F3A63"/>
                </a:solidFill>
                <a:latin typeface="Calibri" pitchFamily="34" charset="0"/>
                <a:ea typeface="Calibri" pitchFamily="34" charset="-122"/>
                <a:cs typeface="Calibri" pitchFamily="34" charset="-120"/>
              </a:rPr>
              <a:t>Grade 2 means the cancer has reached the lymph nodes</a:t>
            </a:r>
            <a:endParaRPr lang="en-GB" sz="1800" noProof="0" dirty="0"/>
          </a:p>
        </p:txBody>
      </p:sp>
      <p:sp>
        <p:nvSpPr>
          <p:cNvPr id="12" name="Shape 10"/>
          <p:cNvSpPr/>
          <p:nvPr/>
        </p:nvSpPr>
        <p:spPr>
          <a:xfrm>
            <a:off x="548640" y="3931920"/>
            <a:ext cx="7589520" cy="713232"/>
          </a:xfrm>
          <a:prstGeom prst="roundRect">
            <a:avLst>
              <a:gd name="adj" fmla="val 6410"/>
            </a:avLst>
          </a:prstGeom>
          <a:solidFill>
            <a:srgbClr val="EAF5EF"/>
          </a:solidFill>
          <a:ln w="19050">
            <a:solidFill>
              <a:srgbClr val="8FC4A9"/>
            </a:solidFill>
            <a:prstDash val="solid"/>
          </a:ln>
        </p:spPr>
        <p:txBody>
          <a:bodyPr/>
          <a:lstStyle/>
          <a:p>
            <a:endParaRPr lang="en-GB" noProof="0" dirty="0"/>
          </a:p>
        </p:txBody>
      </p:sp>
      <p:sp>
        <p:nvSpPr>
          <p:cNvPr id="13" name="Text 11"/>
          <p:cNvSpPr txBox="1"/>
          <p:nvPr/>
        </p:nvSpPr>
        <p:spPr>
          <a:xfrm>
            <a:off x="713232" y="3986784"/>
            <a:ext cx="7260336" cy="603504"/>
          </a:xfrm>
          <a:prstGeom prst="rect">
            <a:avLst/>
          </a:prstGeom>
          <a:noFill/>
          <a:ln/>
        </p:spPr>
        <p:txBody>
          <a:bodyPr wrap="square" lIns="0" tIns="0" rIns="0" bIns="0" rtlCol="0" anchor="ctr"/>
          <a:lstStyle/>
          <a:p>
            <a:pPr marL="0" indent="0">
              <a:lnSpc>
                <a:spcPct val="90000"/>
              </a:lnSpc>
              <a:buNone/>
            </a:pPr>
            <a:r>
              <a:rPr lang="en-GB" sz="1800" b="1" noProof="0" dirty="0">
                <a:solidFill>
                  <a:srgbClr val="1B6E4A"/>
                </a:solidFill>
                <a:latin typeface="Calibri" pitchFamily="34" charset="0"/>
                <a:ea typeface="Calibri" pitchFamily="34" charset="-122"/>
                <a:cs typeface="Calibri" pitchFamily="34" charset="-120"/>
              </a:rPr>
              <a:t>C   The receptor results describe tumour biology and indicate that endocrine therapy is likely to be relevant   ✓</a:t>
            </a:r>
            <a:endParaRPr lang="en-GB" sz="1800" noProof="0" dirty="0"/>
          </a:p>
        </p:txBody>
      </p:sp>
      <p:sp>
        <p:nvSpPr>
          <p:cNvPr id="14" name="Shape 12"/>
          <p:cNvSpPr/>
          <p:nvPr/>
        </p:nvSpPr>
        <p:spPr>
          <a:xfrm>
            <a:off x="548640" y="4736592"/>
            <a:ext cx="7589520" cy="466344"/>
          </a:xfrm>
          <a:prstGeom prst="roundRect">
            <a:avLst>
              <a:gd name="adj" fmla="val 9804"/>
            </a:avLst>
          </a:prstGeom>
          <a:solidFill>
            <a:srgbClr val="FFFFFF"/>
          </a:solidFill>
          <a:ln w="12700">
            <a:solidFill>
              <a:srgbClr val="C8D8EC"/>
            </a:solidFill>
            <a:prstDash val="solid"/>
          </a:ln>
        </p:spPr>
        <p:txBody>
          <a:bodyPr/>
          <a:lstStyle/>
          <a:p>
            <a:endParaRPr lang="en-GB" noProof="0" dirty="0"/>
          </a:p>
        </p:txBody>
      </p:sp>
      <p:sp>
        <p:nvSpPr>
          <p:cNvPr id="15" name="Text 13"/>
          <p:cNvSpPr txBox="1"/>
          <p:nvPr/>
        </p:nvSpPr>
        <p:spPr>
          <a:xfrm>
            <a:off x="713232" y="4791456"/>
            <a:ext cx="7260336" cy="356616"/>
          </a:xfrm>
          <a:prstGeom prst="rect">
            <a:avLst/>
          </a:prstGeom>
          <a:noFill/>
          <a:ln/>
        </p:spPr>
        <p:txBody>
          <a:bodyPr wrap="square" lIns="0" tIns="0" rIns="0" bIns="0" rtlCol="0" anchor="ctr"/>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D   </a:t>
            </a:r>
            <a:r>
              <a:rPr lang="en-GB" sz="1800" noProof="0" dirty="0">
                <a:solidFill>
                  <a:srgbClr val="1F3A63"/>
                </a:solidFill>
                <a:latin typeface="Calibri" pitchFamily="34" charset="0"/>
                <a:ea typeface="Calibri" pitchFamily="34" charset="-122"/>
                <a:cs typeface="Calibri" pitchFamily="34" charset="-120"/>
              </a:rPr>
              <a:t>In situ disease has been described in this report</a:t>
            </a:r>
            <a:endParaRPr lang="en-GB" sz="1800" noProof="0" dirty="0"/>
          </a:p>
        </p:txBody>
      </p:sp>
      <p:sp>
        <p:nvSpPr>
          <p:cNvPr id="16" name="Shape 14"/>
          <p:cNvSpPr/>
          <p:nvPr/>
        </p:nvSpPr>
        <p:spPr>
          <a:xfrm>
            <a:off x="8412480" y="1371600"/>
            <a:ext cx="3230575" cy="4754880"/>
          </a:xfrm>
          <a:prstGeom prst="roundRect">
            <a:avLst>
              <a:gd name="adj" fmla="val 1698"/>
            </a:avLst>
          </a:prstGeom>
          <a:solidFill>
            <a:srgbClr val="EAF5EF"/>
          </a:solidFill>
          <a:ln w="12700">
            <a:solidFill>
              <a:srgbClr val="8FC4A9"/>
            </a:solidFill>
            <a:prstDash val="solid"/>
          </a:ln>
        </p:spPr>
        <p:txBody>
          <a:bodyPr/>
          <a:lstStyle/>
          <a:p>
            <a:endParaRPr lang="en-GB" noProof="0" dirty="0"/>
          </a:p>
        </p:txBody>
      </p:sp>
      <p:sp>
        <p:nvSpPr>
          <p:cNvPr id="17" name="Text 15"/>
          <p:cNvSpPr txBox="1"/>
          <p:nvPr/>
        </p:nvSpPr>
        <p:spPr>
          <a:xfrm>
            <a:off x="8595360" y="1508760"/>
            <a:ext cx="2864815" cy="365760"/>
          </a:xfrm>
          <a:prstGeom prst="rect">
            <a:avLst/>
          </a:prstGeom>
          <a:noFill/>
          <a:ln/>
        </p:spPr>
        <p:txBody>
          <a:bodyPr wrap="square" lIns="0" tIns="0" rIns="0" bIns="0" rtlCol="0" anchor="ctr"/>
          <a:lstStyle/>
          <a:p>
            <a:pPr marL="0" indent="0">
              <a:buNone/>
            </a:pPr>
            <a:r>
              <a:rPr lang="en-GB" sz="1800" b="1" noProof="0" dirty="0">
                <a:solidFill>
                  <a:srgbClr val="1B6E4A"/>
                </a:solidFill>
                <a:latin typeface="Calibri" pitchFamily="34" charset="0"/>
                <a:ea typeface="Calibri" pitchFamily="34" charset="-122"/>
                <a:cs typeface="Calibri" pitchFamily="34" charset="-120"/>
              </a:rPr>
              <a:t>Correct answer: C</a:t>
            </a:r>
            <a:endParaRPr lang="en-GB" sz="1800" noProof="0" dirty="0"/>
          </a:p>
        </p:txBody>
      </p:sp>
      <p:sp>
        <p:nvSpPr>
          <p:cNvPr id="18" name="Text 16"/>
          <p:cNvSpPr txBox="1"/>
          <p:nvPr/>
        </p:nvSpPr>
        <p:spPr>
          <a:xfrm>
            <a:off x="8595360" y="1938528"/>
            <a:ext cx="2864815" cy="4069080"/>
          </a:xfrm>
          <a:prstGeom prst="rect">
            <a:avLst/>
          </a:prstGeom>
          <a:noFill/>
          <a:ln/>
        </p:spPr>
        <p:txBody>
          <a:bodyPr wrap="square" lIns="0" tIns="0" rIns="0" bIns="0" rtlCol="0" anchor="t"/>
          <a:lstStyle/>
          <a:p>
            <a:pPr marL="0" indent="0">
              <a:lnSpc>
                <a:spcPct val="95000"/>
              </a:lnSpc>
              <a:buNone/>
            </a:pPr>
            <a:r>
              <a:rPr lang="en-GB" sz="1800" noProof="0" dirty="0">
                <a:solidFill>
                  <a:srgbClr val="0B1F3F"/>
                </a:solidFill>
                <a:latin typeface="Calibri" pitchFamily="34" charset="0"/>
                <a:ea typeface="Calibri" pitchFamily="34" charset="-122"/>
                <a:cs typeface="Calibri" pitchFamily="34" charset="-120"/>
              </a:rPr>
              <a:t>Stage describes extent of spread, and it comes from tumour size, node status and distant assessment, not from the receptors. Grade describes how abnormal the cells look under the microscope. ER and PR positivity describes biology and indicates that endocrine therapy is likely to be part of treatment. Invasive carcinoma of no special type is invasive, not in situ.</a:t>
            </a:r>
            <a:endParaRPr lang="en-GB" sz="1800" noProof="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3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631160"/>
            <a:ext cx="11094415" cy="256032"/>
          </a:xfrm>
          <a:prstGeom prst="rect">
            <a:avLst/>
          </a:prstGeom>
          <a:noFill/>
          <a:ln/>
        </p:spPr>
        <p:txBody>
          <a:bodyPr wrap="square" lIns="0" tIns="0" rIns="0" bIns="0" rtlCol="0" anchor="ctr"/>
          <a:lstStyle/>
          <a:p>
            <a:pPr marL="0" indent="0">
              <a:buNone/>
            </a:pPr>
            <a:r>
              <a:rPr lang="en-GB" sz="1100" b="1" kern="0" spc="100" noProof="0" dirty="0">
                <a:solidFill>
                  <a:srgbClr val="5B7699"/>
                </a:solidFill>
                <a:latin typeface="Calibri" pitchFamily="34" charset="0"/>
                <a:ea typeface="Calibri" pitchFamily="34" charset="-122"/>
                <a:cs typeface="Calibri" pitchFamily="34" charset="-120"/>
              </a:rPr>
              <a:t>S E S S I O N   1</a:t>
            </a:r>
            <a:endParaRPr lang="en-GB"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en-GB" sz="1000" noProof="0" dirty="0">
                <a:solidFill>
                  <a:srgbClr val="5B7699"/>
                </a:solidFill>
                <a:latin typeface="Calibri" pitchFamily="34" charset="0"/>
                <a:ea typeface="Calibri" pitchFamily="34" charset="-122"/>
                <a:cs typeface="Calibri" pitchFamily="34" charset="-120"/>
              </a:rPr>
              <a:t>Breast Cancer  |  Frontline HCP  |  Rwanda Biomedical Centre</a:t>
            </a:r>
            <a:endParaRPr lang="en-GB" sz="1000" noProof="0" dirty="0"/>
          </a:p>
        </p:txBody>
      </p:sp>
      <p:sp>
        <p:nvSpPr>
          <p:cNvPr id="4" name="Text 2"/>
          <p:cNvSpPr txBox="1"/>
          <p:nvPr/>
        </p:nvSpPr>
        <p:spPr>
          <a:xfrm>
            <a:off x="548640" y="923768"/>
            <a:ext cx="11094415" cy="566928"/>
          </a:xfrm>
          <a:prstGeom prst="rect">
            <a:avLst/>
          </a:prstGeom>
          <a:noFill/>
          <a:ln/>
        </p:spPr>
        <p:txBody>
          <a:bodyPr wrap="square" lIns="0" tIns="0" rIns="0" bIns="0" rtlCol="0" anchor="t"/>
          <a:lstStyle/>
          <a:p>
            <a:pPr marL="0" indent="0">
              <a:buNone/>
            </a:pPr>
            <a:r>
              <a:rPr lang="en-GB" sz="3000" b="1" noProof="0" dirty="0">
                <a:solidFill>
                  <a:srgbClr val="12315B"/>
                </a:solidFill>
                <a:latin typeface="Calibri" pitchFamily="34" charset="0"/>
                <a:ea typeface="Calibri" pitchFamily="34" charset="-122"/>
                <a:cs typeface="Calibri" pitchFamily="34" charset="-120"/>
              </a:rPr>
              <a:t>Staging: the TNM system</a:t>
            </a:r>
            <a:endParaRPr lang="en-GB" sz="3000" noProof="0" dirty="0"/>
          </a:p>
        </p:txBody>
      </p:sp>
      <p:sp>
        <p:nvSpPr>
          <p:cNvPr id="23" name="Shape 21"/>
          <p:cNvSpPr/>
          <p:nvPr/>
        </p:nvSpPr>
        <p:spPr>
          <a:xfrm>
            <a:off x="548640" y="5838988"/>
            <a:ext cx="11094415" cy="566928"/>
          </a:xfrm>
          <a:prstGeom prst="roundRect">
            <a:avLst>
              <a:gd name="adj" fmla="val 8065"/>
            </a:avLst>
          </a:prstGeom>
          <a:solidFill>
            <a:srgbClr val="FDF1E0"/>
          </a:solidFill>
          <a:ln w="12700">
            <a:solidFill>
              <a:srgbClr val="EFD3AA"/>
            </a:solidFill>
            <a:prstDash val="solid"/>
          </a:ln>
        </p:spPr>
        <p:txBody>
          <a:bodyPr/>
          <a:lstStyle/>
          <a:p>
            <a:endParaRPr lang="en-GB" noProof="0" dirty="0"/>
          </a:p>
        </p:txBody>
      </p:sp>
      <p:sp>
        <p:nvSpPr>
          <p:cNvPr id="24" name="Text 22"/>
          <p:cNvSpPr txBox="1"/>
          <p:nvPr/>
        </p:nvSpPr>
        <p:spPr>
          <a:xfrm>
            <a:off x="713232" y="5912140"/>
            <a:ext cx="10765231" cy="420624"/>
          </a:xfrm>
          <a:prstGeom prst="rect">
            <a:avLst/>
          </a:prstGeom>
          <a:noFill/>
          <a:ln/>
        </p:spPr>
        <p:txBody>
          <a:bodyPr wrap="square" lIns="0" tIns="0" rIns="0" bIns="0" rtlCol="0" anchor="ctr"/>
          <a:lstStyle/>
          <a:p>
            <a:pPr marL="0" indent="0">
              <a:lnSpc>
                <a:spcPct val="95000"/>
              </a:lnSpc>
              <a:buNone/>
            </a:pPr>
            <a:r>
              <a:rPr lang="en-GB" sz="1300" noProof="0" dirty="0">
                <a:solidFill>
                  <a:srgbClr val="0B1F3F"/>
                </a:solidFill>
                <a:latin typeface="Calibri" pitchFamily="34" charset="0"/>
                <a:ea typeface="Calibri" pitchFamily="34" charset="-122"/>
                <a:cs typeface="Calibri" pitchFamily="34" charset="-120"/>
              </a:rPr>
              <a:t>Stage combines T, N and M. It communicates how far the disease has spread, informs prognosis, and shapes treatment planning. You are not expected to assign a stage yourself, and you are expected to understand what the stage you are told actually means.</a:t>
            </a:r>
            <a:endParaRPr lang="en-GB" sz="1300" noProof="0" dirty="0"/>
          </a:p>
        </p:txBody>
      </p:sp>
      <p:pic>
        <p:nvPicPr>
          <p:cNvPr id="6" name="Imagen 5">
            <a:extLst>
              <a:ext uri="{FF2B5EF4-FFF2-40B4-BE49-F238E27FC236}">
                <a16:creationId xmlns:a16="http://schemas.microsoft.com/office/drawing/2014/main" id="{03841CDF-F26D-DB27-FE2F-B1769876FC24}"/>
              </a:ext>
            </a:extLst>
          </p:cNvPr>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a:xfrm>
            <a:off x="548640" y="1773936"/>
            <a:ext cx="11021298" cy="3565714"/>
          </a:xfrm>
          <a:prstGeom prst="rect">
            <a:avLst/>
          </a:prstGeom>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B288B1A6-5DC8-B13D-3B34-7A5EB92820EE}"/>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E079EE7-7D47-EA2F-57DE-A070BC4255E9}"/>
              </a:ext>
            </a:extLst>
          </p:cNvPr>
          <p:cNvSpPr txBox="1"/>
          <p:nvPr/>
        </p:nvSpPr>
        <p:spPr>
          <a:xfrm>
            <a:off x="548640" y="274320"/>
            <a:ext cx="11094415" cy="256032"/>
          </a:xfrm>
          <a:prstGeom prst="rect">
            <a:avLst/>
          </a:prstGeom>
          <a:noFill/>
          <a:ln/>
        </p:spPr>
        <p:txBody>
          <a:bodyPr wrap="square" lIns="0" tIns="0" rIns="0" bIns="0" rtlCol="0" anchor="ctr"/>
          <a:lstStyle/>
          <a:p>
            <a:pPr marL="0" indent="0">
              <a:buNone/>
            </a:pPr>
            <a:r>
              <a:rPr lang="en-GB" sz="1100" b="1" kern="0" spc="100" noProof="0" dirty="0">
                <a:solidFill>
                  <a:srgbClr val="5B7699"/>
                </a:solidFill>
                <a:latin typeface="Calibri" pitchFamily="34" charset="0"/>
                <a:ea typeface="Calibri" pitchFamily="34" charset="-122"/>
                <a:cs typeface="Calibri" pitchFamily="34" charset="-120"/>
              </a:rPr>
              <a:t>S E S S I O N   1</a:t>
            </a:r>
            <a:endParaRPr lang="en-GB" sz="1100" noProof="0" dirty="0"/>
          </a:p>
        </p:txBody>
      </p:sp>
      <p:sp>
        <p:nvSpPr>
          <p:cNvPr id="3" name="Text 1">
            <a:extLst>
              <a:ext uri="{FF2B5EF4-FFF2-40B4-BE49-F238E27FC236}">
                <a16:creationId xmlns:a16="http://schemas.microsoft.com/office/drawing/2014/main" id="{A24F47ED-0DFE-26F4-E6E4-BC5DA6F62ACB}"/>
              </a:ext>
            </a:extLst>
          </p:cNvPr>
          <p:cNvSpPr txBox="1"/>
          <p:nvPr/>
        </p:nvSpPr>
        <p:spPr>
          <a:xfrm>
            <a:off x="548640" y="6382512"/>
            <a:ext cx="11094415" cy="274320"/>
          </a:xfrm>
          <a:prstGeom prst="rect">
            <a:avLst/>
          </a:prstGeom>
          <a:noFill/>
          <a:ln/>
        </p:spPr>
        <p:txBody>
          <a:bodyPr wrap="square" lIns="0" tIns="0" rIns="0" bIns="0" rtlCol="0" anchor="ctr"/>
          <a:lstStyle/>
          <a:p>
            <a:pPr marL="0" indent="0">
              <a:buNone/>
            </a:pPr>
            <a:r>
              <a:rPr lang="en-GB" sz="1000" noProof="0" dirty="0">
                <a:solidFill>
                  <a:srgbClr val="5B7699"/>
                </a:solidFill>
                <a:latin typeface="Calibri" pitchFamily="34" charset="0"/>
                <a:ea typeface="Calibri" pitchFamily="34" charset="-122"/>
                <a:cs typeface="Calibri" pitchFamily="34" charset="-120"/>
              </a:rPr>
              <a:t>Breast Cancer  |  Frontline HCP  |  Rwanda Biomedical Centre</a:t>
            </a:r>
            <a:endParaRPr lang="en-GB" sz="1000" noProof="0" dirty="0"/>
          </a:p>
        </p:txBody>
      </p:sp>
      <p:sp>
        <p:nvSpPr>
          <p:cNvPr id="4" name="Text 2">
            <a:extLst>
              <a:ext uri="{FF2B5EF4-FFF2-40B4-BE49-F238E27FC236}">
                <a16:creationId xmlns:a16="http://schemas.microsoft.com/office/drawing/2014/main" id="{3BEA417E-6313-AA3E-1522-B23F1B338CA3}"/>
              </a:ext>
            </a:extLst>
          </p:cNvPr>
          <p:cNvSpPr txBox="1"/>
          <p:nvPr/>
        </p:nvSpPr>
        <p:spPr>
          <a:xfrm>
            <a:off x="548640" y="566928"/>
            <a:ext cx="11094415" cy="566928"/>
          </a:xfrm>
          <a:prstGeom prst="rect">
            <a:avLst/>
          </a:prstGeom>
          <a:noFill/>
          <a:ln/>
        </p:spPr>
        <p:txBody>
          <a:bodyPr wrap="square" lIns="0" tIns="0" rIns="0" bIns="0" rtlCol="0" anchor="t"/>
          <a:lstStyle/>
          <a:p>
            <a:r>
              <a:rPr lang="en-GB" sz="3000" b="1" dirty="0">
                <a:solidFill>
                  <a:srgbClr val="12315B"/>
                </a:solidFill>
                <a:latin typeface="Calibri" pitchFamily="34" charset="0"/>
                <a:ea typeface="Calibri" pitchFamily="34" charset="-122"/>
                <a:cs typeface="Calibri" pitchFamily="34" charset="-120"/>
              </a:rPr>
              <a:t>Stage: the extent or spread of the disease</a:t>
            </a:r>
            <a:endParaRPr lang="en-GB" sz="3000" noProof="0" dirty="0"/>
          </a:p>
        </p:txBody>
      </p:sp>
      <p:pic>
        <p:nvPicPr>
          <p:cNvPr id="6" name="Imagen 5">
            <a:extLst>
              <a:ext uri="{FF2B5EF4-FFF2-40B4-BE49-F238E27FC236}">
                <a16:creationId xmlns:a16="http://schemas.microsoft.com/office/drawing/2014/main" id="{561DD6CA-DBCC-808F-E0E4-4814ADDA63C9}"/>
              </a:ext>
            </a:extLst>
          </p:cNvPr>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a:xfrm>
            <a:off x="623552" y="1089847"/>
            <a:ext cx="10944590" cy="5201225"/>
          </a:xfrm>
          <a:prstGeom prst="rect">
            <a:avLst/>
          </a:prstGeom>
        </p:spPr>
      </p:pic>
    </p:spTree>
    <p:extLst>
      <p:ext uri="{BB962C8B-B14F-4D97-AF65-F5344CB8AC3E}">
        <p14:creationId xmlns:p14="http://schemas.microsoft.com/office/powerpoint/2010/main" val="196610288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en-GB" sz="1100" b="1" kern="0" spc="100" noProof="0" dirty="0">
                <a:solidFill>
                  <a:srgbClr val="5B7699"/>
                </a:solidFill>
                <a:latin typeface="Calibri" pitchFamily="34" charset="0"/>
                <a:ea typeface="Calibri" pitchFamily="34" charset="-122"/>
                <a:cs typeface="Calibri" pitchFamily="34" charset="-120"/>
              </a:rPr>
              <a:t>S E S S I O N   1</a:t>
            </a:r>
            <a:endParaRPr lang="en-GB"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en-GB" sz="1000" noProof="0" dirty="0">
                <a:solidFill>
                  <a:srgbClr val="5B7699"/>
                </a:solidFill>
                <a:latin typeface="Calibri" pitchFamily="34" charset="0"/>
                <a:ea typeface="Calibri" pitchFamily="34" charset="-122"/>
                <a:cs typeface="Calibri" pitchFamily="34" charset="-120"/>
              </a:rPr>
              <a:t>Breast Cancer  |  Frontline HCP  |  Rwanda Biomedical Centre</a:t>
            </a:r>
            <a:endParaRPr lang="en-GB"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r>
              <a:rPr lang="en-GB" sz="3000" b="1" dirty="0">
                <a:solidFill>
                  <a:srgbClr val="12315B"/>
                </a:solidFill>
                <a:latin typeface="Calibri" pitchFamily="34" charset="0"/>
                <a:ea typeface="Calibri" pitchFamily="34" charset="-122"/>
                <a:cs typeface="Calibri" pitchFamily="34" charset="-120"/>
              </a:rPr>
              <a:t>Grade: how abnormal the cells look</a:t>
            </a:r>
            <a:endParaRPr lang="en-GB" sz="3000" noProof="0" dirty="0"/>
          </a:p>
        </p:txBody>
      </p:sp>
      <p:pic>
        <p:nvPicPr>
          <p:cNvPr id="20" name="Imagen 19">
            <a:extLst>
              <a:ext uri="{FF2B5EF4-FFF2-40B4-BE49-F238E27FC236}">
                <a16:creationId xmlns:a16="http://schemas.microsoft.com/office/drawing/2014/main" id="{43DEB964-D8FF-E34C-14C6-1480BCFA24D5}"/>
              </a:ext>
            </a:extLst>
          </p:cNvPr>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a:xfrm>
            <a:off x="1424065" y="1133856"/>
            <a:ext cx="9848642" cy="5120640"/>
          </a:xfrm>
          <a:prstGeom prst="rect">
            <a:avLst/>
          </a:prstGeom>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en-GB" sz="1100" b="1" kern="0" spc="100" noProof="0" dirty="0">
                <a:solidFill>
                  <a:srgbClr val="5B7699"/>
                </a:solidFill>
                <a:latin typeface="Calibri" pitchFamily="34" charset="0"/>
                <a:ea typeface="Calibri" pitchFamily="34" charset="-122"/>
                <a:cs typeface="Calibri" pitchFamily="34" charset="-120"/>
              </a:rPr>
              <a:t>S E S S I O N   1</a:t>
            </a:r>
            <a:endParaRPr lang="en-GB"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en-GB" sz="1000" noProof="0" dirty="0">
                <a:solidFill>
                  <a:srgbClr val="5B7699"/>
                </a:solidFill>
                <a:latin typeface="Calibri" pitchFamily="34" charset="0"/>
                <a:ea typeface="Calibri" pitchFamily="34" charset="-122"/>
                <a:cs typeface="Calibri" pitchFamily="34" charset="-120"/>
              </a:rPr>
              <a:t>Breast Cancer  |  Frontline HCP  |  Rwanda Biomedical Centre</a:t>
            </a:r>
            <a:endParaRPr lang="en-GB"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en-GB" sz="3000" b="1" noProof="0" dirty="0">
                <a:solidFill>
                  <a:srgbClr val="12315B"/>
                </a:solidFill>
                <a:latin typeface="Calibri" pitchFamily="34" charset="0"/>
                <a:ea typeface="Calibri" pitchFamily="34" charset="-122"/>
                <a:cs typeface="Calibri" pitchFamily="34" charset="-120"/>
              </a:rPr>
              <a:t>Knowledge check (1 of 3)</a:t>
            </a:r>
            <a:endParaRPr lang="en-GB" sz="3000" noProof="0" dirty="0"/>
          </a:p>
        </p:txBody>
      </p:sp>
      <p:sp>
        <p:nvSpPr>
          <p:cNvPr id="5" name="Shape 3"/>
          <p:cNvSpPr/>
          <p:nvPr/>
        </p:nvSpPr>
        <p:spPr>
          <a:xfrm>
            <a:off x="548640" y="1832915"/>
            <a:ext cx="11094415" cy="1652321"/>
          </a:xfrm>
          <a:prstGeom prst="roundRect">
            <a:avLst>
              <a:gd name="adj" fmla="val 3320"/>
            </a:avLst>
          </a:prstGeom>
          <a:solidFill>
            <a:srgbClr val="F4F8FC"/>
          </a:solidFill>
          <a:ln w="12700">
            <a:solidFill>
              <a:srgbClr val="C8D8EC"/>
            </a:solidFill>
            <a:prstDash val="solid"/>
          </a:ln>
        </p:spPr>
        <p:txBody>
          <a:bodyPr/>
          <a:lstStyle/>
          <a:p>
            <a:endParaRPr lang="en-GB" noProof="0" dirty="0"/>
          </a:p>
        </p:txBody>
      </p:sp>
      <p:sp>
        <p:nvSpPr>
          <p:cNvPr id="6" name="Text 4"/>
          <p:cNvSpPr txBox="1"/>
          <p:nvPr/>
        </p:nvSpPr>
        <p:spPr>
          <a:xfrm>
            <a:off x="731520" y="1942643"/>
            <a:ext cx="10728655" cy="384048"/>
          </a:xfrm>
          <a:prstGeom prst="rect">
            <a:avLst/>
          </a:prstGeom>
          <a:noFill/>
          <a:ln/>
        </p:spPr>
        <p:txBody>
          <a:bodyPr wrap="square" lIns="0" tIns="0" rIns="0" bIns="0" rtlCol="0" anchor="t"/>
          <a:lstStyle/>
          <a:p>
            <a:pPr marL="0" indent="0">
              <a:buNone/>
            </a:pPr>
            <a:r>
              <a:rPr lang="en-GB" sz="1800" b="1" noProof="0" dirty="0">
                <a:solidFill>
                  <a:srgbClr val="12315B"/>
                </a:solidFill>
                <a:latin typeface="Calibri" pitchFamily="34" charset="0"/>
                <a:ea typeface="Calibri" pitchFamily="34" charset="-122"/>
                <a:cs typeface="Calibri" pitchFamily="34" charset="-120"/>
              </a:rPr>
              <a:t>Q1. Most breast cancers arise from which tissue?</a:t>
            </a:r>
            <a:endParaRPr lang="en-GB" sz="1800" noProof="0" dirty="0"/>
          </a:p>
        </p:txBody>
      </p:sp>
      <p:sp>
        <p:nvSpPr>
          <p:cNvPr id="7" name="Text 5"/>
          <p:cNvSpPr txBox="1"/>
          <p:nvPr/>
        </p:nvSpPr>
        <p:spPr>
          <a:xfrm>
            <a:off x="731520" y="2363267"/>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A. </a:t>
            </a:r>
            <a:r>
              <a:rPr lang="en-GB" sz="1800" noProof="0" dirty="0">
                <a:solidFill>
                  <a:srgbClr val="1F3A63"/>
                </a:solidFill>
                <a:latin typeface="Calibri" pitchFamily="34" charset="0"/>
                <a:ea typeface="Calibri" pitchFamily="34" charset="-122"/>
                <a:cs typeface="Calibri" pitchFamily="34" charset="-120"/>
              </a:rPr>
              <a:t>Chest wall muscle</a:t>
            </a:r>
            <a:endParaRPr lang="en-GB" sz="1800" noProof="0" dirty="0"/>
          </a:p>
        </p:txBody>
      </p:sp>
      <p:sp>
        <p:nvSpPr>
          <p:cNvPr id="8" name="Text 6"/>
          <p:cNvSpPr txBox="1"/>
          <p:nvPr/>
        </p:nvSpPr>
        <p:spPr>
          <a:xfrm>
            <a:off x="6210148" y="2363267"/>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1B6E4A"/>
                </a:solidFill>
                <a:latin typeface="Calibri" pitchFamily="34" charset="0"/>
                <a:ea typeface="Calibri" pitchFamily="34" charset="-122"/>
                <a:cs typeface="Calibri" pitchFamily="34" charset="-120"/>
              </a:rPr>
              <a:t>B. Epithelium of the ducts and lobules</a:t>
            </a:r>
            <a:endParaRPr lang="en-GB" sz="1800" noProof="0" dirty="0"/>
          </a:p>
        </p:txBody>
      </p:sp>
      <p:sp>
        <p:nvSpPr>
          <p:cNvPr id="9" name="Text 7"/>
          <p:cNvSpPr txBox="1"/>
          <p:nvPr/>
        </p:nvSpPr>
        <p:spPr>
          <a:xfrm>
            <a:off x="731520" y="2738171"/>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C. </a:t>
            </a:r>
            <a:r>
              <a:rPr lang="en-GB" sz="1800" noProof="0" dirty="0">
                <a:solidFill>
                  <a:srgbClr val="1F3A63"/>
                </a:solidFill>
                <a:latin typeface="Calibri" pitchFamily="34" charset="0"/>
                <a:ea typeface="Calibri" pitchFamily="34" charset="-122"/>
                <a:cs typeface="Calibri" pitchFamily="34" charset="-120"/>
              </a:rPr>
              <a:t>Axillary lymph node tissue</a:t>
            </a:r>
            <a:endParaRPr lang="en-GB" sz="1800" noProof="0" dirty="0"/>
          </a:p>
        </p:txBody>
      </p:sp>
      <p:sp>
        <p:nvSpPr>
          <p:cNvPr id="10" name="Text 8"/>
          <p:cNvSpPr txBox="1"/>
          <p:nvPr/>
        </p:nvSpPr>
        <p:spPr>
          <a:xfrm>
            <a:off x="6210148" y="2738171"/>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D. </a:t>
            </a:r>
            <a:r>
              <a:rPr lang="en-GB" sz="1800" noProof="0" dirty="0">
                <a:solidFill>
                  <a:srgbClr val="1F3A63"/>
                </a:solidFill>
                <a:latin typeface="Calibri" pitchFamily="34" charset="0"/>
                <a:ea typeface="Calibri" pitchFamily="34" charset="-122"/>
                <a:cs typeface="Calibri" pitchFamily="34" charset="-120"/>
              </a:rPr>
              <a:t>Fat within the breast</a:t>
            </a:r>
            <a:endParaRPr lang="en-GB" sz="1800" noProof="0" dirty="0"/>
          </a:p>
        </p:txBody>
      </p:sp>
      <p:sp>
        <p:nvSpPr>
          <p:cNvPr id="11" name="Text 9"/>
          <p:cNvSpPr txBox="1"/>
          <p:nvPr/>
        </p:nvSpPr>
        <p:spPr>
          <a:xfrm>
            <a:off x="731520" y="3167939"/>
            <a:ext cx="10728655" cy="244145"/>
          </a:xfrm>
          <a:prstGeom prst="rect">
            <a:avLst/>
          </a:prstGeom>
          <a:noFill/>
          <a:ln/>
        </p:spPr>
        <p:txBody>
          <a:bodyPr wrap="square" lIns="0" tIns="0" rIns="0" bIns="0" rtlCol="0" anchor="t"/>
          <a:lstStyle/>
          <a:p>
            <a:pPr marL="0" indent="0">
              <a:lnSpc>
                <a:spcPct val="92000"/>
              </a:lnSpc>
              <a:buNone/>
            </a:pPr>
            <a:r>
              <a:rPr lang="en-GB" sz="1350" b="1" noProof="0" dirty="0">
                <a:solidFill>
                  <a:srgbClr val="1B6E4A"/>
                </a:solidFill>
                <a:latin typeface="Calibri" pitchFamily="34" charset="0"/>
                <a:ea typeface="Calibri" pitchFamily="34" charset="-122"/>
                <a:cs typeface="Calibri" pitchFamily="34" charset="-120"/>
              </a:rPr>
              <a:t>Correct: B. </a:t>
            </a:r>
            <a:r>
              <a:rPr lang="en-GB" sz="1350" noProof="0" dirty="0">
                <a:solidFill>
                  <a:srgbClr val="0B1F3F"/>
                </a:solidFill>
                <a:latin typeface="Calibri" pitchFamily="34" charset="0"/>
                <a:ea typeface="Calibri" pitchFamily="34" charset="-122"/>
                <a:cs typeface="Calibri" pitchFamily="34" charset="-120"/>
              </a:rPr>
              <a:t>Breast cancers are overwhelmingly carcinomas arising from the epithelial cells lining the ducts and lobules.</a:t>
            </a:r>
            <a:endParaRPr lang="en-GB" sz="1350" noProof="0" dirty="0"/>
          </a:p>
        </p:txBody>
      </p:sp>
      <p:sp>
        <p:nvSpPr>
          <p:cNvPr id="12" name="Shape 10"/>
          <p:cNvSpPr/>
          <p:nvPr/>
        </p:nvSpPr>
        <p:spPr>
          <a:xfrm>
            <a:off x="548640" y="3686404"/>
            <a:ext cx="11094415" cy="2088490"/>
          </a:xfrm>
          <a:prstGeom prst="roundRect">
            <a:avLst>
              <a:gd name="adj" fmla="val 2627"/>
            </a:avLst>
          </a:prstGeom>
          <a:solidFill>
            <a:srgbClr val="F4F8FC"/>
          </a:solidFill>
          <a:ln w="12700">
            <a:solidFill>
              <a:srgbClr val="C8D8EC"/>
            </a:solidFill>
            <a:prstDash val="solid"/>
          </a:ln>
        </p:spPr>
        <p:txBody>
          <a:bodyPr/>
          <a:lstStyle/>
          <a:p>
            <a:endParaRPr lang="en-GB" noProof="0" dirty="0"/>
          </a:p>
        </p:txBody>
      </p:sp>
      <p:sp>
        <p:nvSpPr>
          <p:cNvPr id="13" name="Text 11"/>
          <p:cNvSpPr txBox="1"/>
          <p:nvPr/>
        </p:nvSpPr>
        <p:spPr>
          <a:xfrm>
            <a:off x="731520" y="3796132"/>
            <a:ext cx="10728655" cy="384048"/>
          </a:xfrm>
          <a:prstGeom prst="rect">
            <a:avLst/>
          </a:prstGeom>
          <a:noFill/>
          <a:ln/>
        </p:spPr>
        <p:txBody>
          <a:bodyPr wrap="square" lIns="0" tIns="0" rIns="0" bIns="0" rtlCol="0" anchor="t"/>
          <a:lstStyle/>
          <a:p>
            <a:pPr marL="0" indent="0">
              <a:buNone/>
            </a:pPr>
            <a:r>
              <a:rPr lang="en-GB" sz="1800" b="1" noProof="0" dirty="0">
                <a:solidFill>
                  <a:srgbClr val="12315B"/>
                </a:solidFill>
                <a:latin typeface="Calibri" pitchFamily="34" charset="0"/>
                <a:ea typeface="Calibri" pitchFamily="34" charset="-122"/>
                <a:cs typeface="Calibri" pitchFamily="34" charset="-120"/>
              </a:rPr>
              <a:t>Q2. A patient is told she has ductal carcinoma in situ. The accurate explanation is:</a:t>
            </a:r>
            <a:endParaRPr lang="en-GB" sz="1800" noProof="0" dirty="0"/>
          </a:p>
        </p:txBody>
      </p:sp>
      <p:sp>
        <p:nvSpPr>
          <p:cNvPr id="14" name="Text 12"/>
          <p:cNvSpPr txBox="1"/>
          <p:nvPr/>
        </p:nvSpPr>
        <p:spPr>
          <a:xfrm>
            <a:off x="731520" y="4216756"/>
            <a:ext cx="5250028" cy="566928"/>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A. </a:t>
            </a:r>
            <a:r>
              <a:rPr lang="en-GB" sz="1800" noProof="0" dirty="0">
                <a:solidFill>
                  <a:srgbClr val="1F3A63"/>
                </a:solidFill>
                <a:latin typeface="Calibri" pitchFamily="34" charset="0"/>
                <a:ea typeface="Calibri" pitchFamily="34" charset="-122"/>
                <a:cs typeface="Calibri" pitchFamily="34" charset="-120"/>
              </a:rPr>
              <a:t>The cancer has spread to her lymph nodes</a:t>
            </a:r>
            <a:endParaRPr lang="en-GB" sz="1800" noProof="0" dirty="0"/>
          </a:p>
        </p:txBody>
      </p:sp>
      <p:sp>
        <p:nvSpPr>
          <p:cNvPr id="15" name="Text 13"/>
          <p:cNvSpPr txBox="1"/>
          <p:nvPr/>
        </p:nvSpPr>
        <p:spPr>
          <a:xfrm>
            <a:off x="6210148" y="4216756"/>
            <a:ext cx="5250028" cy="566928"/>
          </a:xfrm>
          <a:prstGeom prst="rect">
            <a:avLst/>
          </a:prstGeom>
          <a:noFill/>
          <a:ln/>
        </p:spPr>
        <p:txBody>
          <a:bodyPr wrap="square" lIns="0" tIns="0" rIns="0" bIns="0" rtlCol="0" anchor="t"/>
          <a:lstStyle/>
          <a:p>
            <a:pPr marL="0" indent="0">
              <a:lnSpc>
                <a:spcPct val="90000"/>
              </a:lnSpc>
              <a:buNone/>
            </a:pPr>
            <a:r>
              <a:rPr lang="en-GB" sz="1800" b="1" noProof="0" dirty="0">
                <a:solidFill>
                  <a:srgbClr val="1B6E4A"/>
                </a:solidFill>
                <a:latin typeface="Calibri" pitchFamily="34" charset="0"/>
                <a:ea typeface="Calibri" pitchFamily="34" charset="-122"/>
                <a:cs typeface="Calibri" pitchFamily="34" charset="-120"/>
              </a:rPr>
              <a:t>B. Abnormal cells are contained within the duct and have not invaded surrounding tissue</a:t>
            </a:r>
            <a:endParaRPr lang="en-GB" sz="1800" noProof="0" dirty="0"/>
          </a:p>
        </p:txBody>
      </p:sp>
      <p:sp>
        <p:nvSpPr>
          <p:cNvPr id="16" name="Text 14"/>
          <p:cNvSpPr txBox="1"/>
          <p:nvPr/>
        </p:nvSpPr>
        <p:spPr>
          <a:xfrm>
            <a:off x="731520" y="4838548"/>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C. </a:t>
            </a:r>
            <a:r>
              <a:rPr lang="en-GB" sz="1800" noProof="0" dirty="0">
                <a:solidFill>
                  <a:srgbClr val="1F3A63"/>
                </a:solidFill>
                <a:latin typeface="Calibri" pitchFamily="34" charset="0"/>
                <a:ea typeface="Calibri" pitchFamily="34" charset="-122"/>
                <a:cs typeface="Calibri" pitchFamily="34" charset="-120"/>
              </a:rPr>
              <a:t>This is a benign cyst</a:t>
            </a:r>
            <a:endParaRPr lang="en-GB" sz="1800" noProof="0" dirty="0"/>
          </a:p>
        </p:txBody>
      </p:sp>
      <p:sp>
        <p:nvSpPr>
          <p:cNvPr id="17" name="Text 15"/>
          <p:cNvSpPr txBox="1"/>
          <p:nvPr/>
        </p:nvSpPr>
        <p:spPr>
          <a:xfrm>
            <a:off x="6210148" y="4838548"/>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D. </a:t>
            </a:r>
            <a:r>
              <a:rPr lang="en-GB" sz="1800" noProof="0" dirty="0">
                <a:solidFill>
                  <a:srgbClr val="1F3A63"/>
                </a:solidFill>
                <a:latin typeface="Calibri" pitchFamily="34" charset="0"/>
                <a:ea typeface="Calibri" pitchFamily="34" charset="-122"/>
                <a:cs typeface="Calibri" pitchFamily="34" charset="-120"/>
              </a:rPr>
              <a:t>No treatment or follow-up will be needed</a:t>
            </a:r>
            <a:endParaRPr lang="en-GB" sz="1800" noProof="0" dirty="0"/>
          </a:p>
        </p:txBody>
      </p:sp>
      <p:sp>
        <p:nvSpPr>
          <p:cNvPr id="18" name="Text 16"/>
          <p:cNvSpPr txBox="1"/>
          <p:nvPr/>
        </p:nvSpPr>
        <p:spPr>
          <a:xfrm>
            <a:off x="731520" y="5268316"/>
            <a:ext cx="10728655" cy="433426"/>
          </a:xfrm>
          <a:prstGeom prst="rect">
            <a:avLst/>
          </a:prstGeom>
          <a:noFill/>
          <a:ln/>
        </p:spPr>
        <p:txBody>
          <a:bodyPr wrap="square" lIns="0" tIns="0" rIns="0" bIns="0" rtlCol="0" anchor="t"/>
          <a:lstStyle/>
          <a:p>
            <a:pPr marL="0" indent="0">
              <a:lnSpc>
                <a:spcPct val="92000"/>
              </a:lnSpc>
              <a:buNone/>
            </a:pPr>
            <a:r>
              <a:rPr lang="en-GB" sz="1350" b="1" noProof="0" dirty="0">
                <a:solidFill>
                  <a:srgbClr val="1B6E4A"/>
                </a:solidFill>
                <a:latin typeface="Calibri" pitchFamily="34" charset="0"/>
                <a:ea typeface="Calibri" pitchFamily="34" charset="-122"/>
                <a:cs typeface="Calibri" pitchFamily="34" charset="-120"/>
              </a:rPr>
              <a:t>Correct: B. </a:t>
            </a:r>
            <a:r>
              <a:rPr lang="en-GB" sz="1350" noProof="0" dirty="0">
                <a:solidFill>
                  <a:srgbClr val="0B1F3F"/>
                </a:solidFill>
                <a:latin typeface="Calibri" pitchFamily="34" charset="0"/>
                <a:ea typeface="Calibri" pitchFamily="34" charset="-122"/>
                <a:cs typeface="Calibri" pitchFamily="34" charset="-120"/>
              </a:rPr>
              <a:t>In situ means contained within the duct. It has not invaded, so it does not spread to nodes or distant sites, and it is still treated because a proportion would progress.</a:t>
            </a:r>
            <a:endParaRPr lang="en-GB" sz="1350" noProof="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en-GB" sz="1100" b="1" kern="0" spc="100" noProof="0" dirty="0">
                <a:solidFill>
                  <a:srgbClr val="5B7699"/>
                </a:solidFill>
                <a:latin typeface="Calibri" pitchFamily="34" charset="0"/>
                <a:ea typeface="Calibri" pitchFamily="34" charset="-122"/>
                <a:cs typeface="Calibri" pitchFamily="34" charset="-120"/>
              </a:rPr>
              <a:t>S E S S I O N   1</a:t>
            </a:r>
            <a:endParaRPr lang="en-GB"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en-GB" sz="1000" noProof="0" dirty="0">
                <a:solidFill>
                  <a:srgbClr val="5B7699"/>
                </a:solidFill>
                <a:latin typeface="Calibri" pitchFamily="34" charset="0"/>
                <a:ea typeface="Calibri" pitchFamily="34" charset="-122"/>
                <a:cs typeface="Calibri" pitchFamily="34" charset="-120"/>
              </a:rPr>
              <a:t>Breast Cancer  |  Frontline HCP  |  Rwanda Biomedical Centre</a:t>
            </a:r>
            <a:endParaRPr lang="en-GB"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en-GB" sz="3000" b="1" noProof="0" dirty="0">
                <a:solidFill>
                  <a:srgbClr val="12315B"/>
                </a:solidFill>
                <a:latin typeface="Calibri" pitchFamily="34" charset="0"/>
                <a:ea typeface="Calibri" pitchFamily="34" charset="-122"/>
                <a:cs typeface="Calibri" pitchFamily="34" charset="-120"/>
              </a:rPr>
              <a:t>Knowledge check (2 of 3)</a:t>
            </a:r>
            <a:endParaRPr lang="en-GB" sz="3000" noProof="0" dirty="0"/>
          </a:p>
        </p:txBody>
      </p:sp>
      <p:sp>
        <p:nvSpPr>
          <p:cNvPr id="5" name="Shape 3"/>
          <p:cNvSpPr/>
          <p:nvPr/>
        </p:nvSpPr>
        <p:spPr>
          <a:xfrm>
            <a:off x="548640" y="1832915"/>
            <a:ext cx="11094415" cy="1899209"/>
          </a:xfrm>
          <a:prstGeom prst="roundRect">
            <a:avLst>
              <a:gd name="adj" fmla="val 2889"/>
            </a:avLst>
          </a:prstGeom>
          <a:solidFill>
            <a:srgbClr val="F4F8FC"/>
          </a:solidFill>
          <a:ln w="12700">
            <a:solidFill>
              <a:srgbClr val="C8D8EC"/>
            </a:solidFill>
            <a:prstDash val="solid"/>
          </a:ln>
        </p:spPr>
        <p:txBody>
          <a:bodyPr/>
          <a:lstStyle/>
          <a:p>
            <a:endParaRPr lang="en-GB" noProof="0" dirty="0"/>
          </a:p>
        </p:txBody>
      </p:sp>
      <p:sp>
        <p:nvSpPr>
          <p:cNvPr id="6" name="Text 4"/>
          <p:cNvSpPr txBox="1"/>
          <p:nvPr/>
        </p:nvSpPr>
        <p:spPr>
          <a:xfrm>
            <a:off x="731520" y="1942643"/>
            <a:ext cx="10728655" cy="384048"/>
          </a:xfrm>
          <a:prstGeom prst="rect">
            <a:avLst/>
          </a:prstGeom>
          <a:noFill/>
          <a:ln/>
        </p:spPr>
        <p:txBody>
          <a:bodyPr wrap="square" lIns="0" tIns="0" rIns="0" bIns="0" rtlCol="0" anchor="t"/>
          <a:lstStyle/>
          <a:p>
            <a:pPr marL="0" indent="0">
              <a:buNone/>
            </a:pPr>
            <a:r>
              <a:rPr lang="en-GB" sz="1800" b="1" noProof="0" dirty="0">
                <a:solidFill>
                  <a:srgbClr val="12315B"/>
                </a:solidFill>
                <a:latin typeface="Calibri" pitchFamily="34" charset="0"/>
                <a:ea typeface="Calibri" pitchFamily="34" charset="-122"/>
                <a:cs typeface="Calibri" pitchFamily="34" charset="-120"/>
              </a:rPr>
              <a:t>Q3. Stage and grade differ because:</a:t>
            </a:r>
            <a:endParaRPr lang="en-GB" sz="1800" noProof="0" dirty="0"/>
          </a:p>
        </p:txBody>
      </p:sp>
      <p:sp>
        <p:nvSpPr>
          <p:cNvPr id="7" name="Text 5"/>
          <p:cNvSpPr txBox="1"/>
          <p:nvPr/>
        </p:nvSpPr>
        <p:spPr>
          <a:xfrm>
            <a:off x="731520" y="2363267"/>
            <a:ext cx="5250028" cy="566928"/>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A. </a:t>
            </a:r>
            <a:r>
              <a:rPr lang="en-GB" sz="1800" noProof="0" dirty="0">
                <a:solidFill>
                  <a:srgbClr val="1F3A63"/>
                </a:solidFill>
                <a:latin typeface="Calibri" pitchFamily="34" charset="0"/>
                <a:ea typeface="Calibri" pitchFamily="34" charset="-122"/>
                <a:cs typeface="Calibri" pitchFamily="34" charset="-120"/>
              </a:rPr>
              <a:t>They mean the same thing</a:t>
            </a:r>
            <a:endParaRPr lang="en-GB" sz="1800" noProof="0" dirty="0"/>
          </a:p>
        </p:txBody>
      </p:sp>
      <p:sp>
        <p:nvSpPr>
          <p:cNvPr id="8" name="Text 6"/>
          <p:cNvSpPr txBox="1"/>
          <p:nvPr/>
        </p:nvSpPr>
        <p:spPr>
          <a:xfrm>
            <a:off x="6210148" y="2363267"/>
            <a:ext cx="5250028" cy="566928"/>
          </a:xfrm>
          <a:prstGeom prst="rect">
            <a:avLst/>
          </a:prstGeom>
          <a:noFill/>
          <a:ln/>
        </p:spPr>
        <p:txBody>
          <a:bodyPr wrap="square" lIns="0" tIns="0" rIns="0" bIns="0" rtlCol="0" anchor="t"/>
          <a:lstStyle/>
          <a:p>
            <a:pPr marL="0" indent="0">
              <a:lnSpc>
                <a:spcPct val="90000"/>
              </a:lnSpc>
              <a:buNone/>
            </a:pPr>
            <a:r>
              <a:rPr lang="en-GB" sz="1800" b="1" noProof="0" dirty="0">
                <a:solidFill>
                  <a:srgbClr val="1B6E4A"/>
                </a:solidFill>
                <a:latin typeface="Calibri" pitchFamily="34" charset="0"/>
                <a:ea typeface="Calibri" pitchFamily="34" charset="-122"/>
                <a:cs typeface="Calibri" pitchFamily="34" charset="-120"/>
              </a:rPr>
              <a:t>B. Stage is extent of spread and grade is how abnormal the cells look</a:t>
            </a:r>
            <a:endParaRPr lang="en-GB" sz="1800" noProof="0" dirty="0"/>
          </a:p>
        </p:txBody>
      </p:sp>
      <p:sp>
        <p:nvSpPr>
          <p:cNvPr id="9" name="Text 7"/>
          <p:cNvSpPr txBox="1"/>
          <p:nvPr/>
        </p:nvSpPr>
        <p:spPr>
          <a:xfrm>
            <a:off x="731520" y="2985059"/>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C. </a:t>
            </a:r>
            <a:r>
              <a:rPr lang="en-GB" sz="1800" noProof="0" dirty="0">
                <a:solidFill>
                  <a:srgbClr val="1F3A63"/>
                </a:solidFill>
                <a:latin typeface="Calibri" pitchFamily="34" charset="0"/>
                <a:ea typeface="Calibri" pitchFamily="34" charset="-122"/>
                <a:cs typeface="Calibri" pitchFamily="34" charset="-120"/>
              </a:rPr>
              <a:t>Grade is the extent of spread</a:t>
            </a:r>
            <a:endParaRPr lang="en-GB" sz="1800" noProof="0" dirty="0"/>
          </a:p>
        </p:txBody>
      </p:sp>
      <p:sp>
        <p:nvSpPr>
          <p:cNvPr id="10" name="Text 8"/>
          <p:cNvSpPr txBox="1"/>
          <p:nvPr/>
        </p:nvSpPr>
        <p:spPr>
          <a:xfrm>
            <a:off x="6210148" y="2985059"/>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D. </a:t>
            </a:r>
            <a:r>
              <a:rPr lang="en-GB" sz="1800" noProof="0" dirty="0">
                <a:solidFill>
                  <a:srgbClr val="1F3A63"/>
                </a:solidFill>
                <a:latin typeface="Calibri" pitchFamily="34" charset="0"/>
                <a:ea typeface="Calibri" pitchFamily="34" charset="-122"/>
                <a:cs typeface="Calibri" pitchFamily="34" charset="-120"/>
              </a:rPr>
              <a:t>Stage refers only to tumour size</a:t>
            </a:r>
            <a:endParaRPr lang="en-GB" sz="1800" noProof="0" dirty="0"/>
          </a:p>
        </p:txBody>
      </p:sp>
      <p:sp>
        <p:nvSpPr>
          <p:cNvPr id="11" name="Text 9"/>
          <p:cNvSpPr txBox="1"/>
          <p:nvPr/>
        </p:nvSpPr>
        <p:spPr>
          <a:xfrm>
            <a:off x="731520" y="3414827"/>
            <a:ext cx="10728655" cy="244145"/>
          </a:xfrm>
          <a:prstGeom prst="rect">
            <a:avLst/>
          </a:prstGeom>
          <a:noFill/>
          <a:ln/>
        </p:spPr>
        <p:txBody>
          <a:bodyPr wrap="square" lIns="0" tIns="0" rIns="0" bIns="0" rtlCol="0" anchor="t"/>
          <a:lstStyle/>
          <a:p>
            <a:pPr marL="0" indent="0">
              <a:lnSpc>
                <a:spcPct val="92000"/>
              </a:lnSpc>
              <a:buNone/>
            </a:pPr>
            <a:r>
              <a:rPr lang="en-GB" sz="1350" b="1" noProof="0" dirty="0">
                <a:solidFill>
                  <a:srgbClr val="1B6E4A"/>
                </a:solidFill>
                <a:latin typeface="Calibri" pitchFamily="34" charset="0"/>
                <a:ea typeface="Calibri" pitchFamily="34" charset="-122"/>
                <a:cs typeface="Calibri" pitchFamily="34" charset="-120"/>
              </a:rPr>
              <a:t>Correct: B. </a:t>
            </a:r>
            <a:r>
              <a:rPr lang="en-GB" sz="1350" noProof="0" dirty="0">
                <a:solidFill>
                  <a:srgbClr val="0B1F3F"/>
                </a:solidFill>
                <a:latin typeface="Calibri" pitchFamily="34" charset="0"/>
                <a:ea typeface="Calibri" pitchFamily="34" charset="-122"/>
                <a:cs typeface="Calibri" pitchFamily="34" charset="-120"/>
              </a:rPr>
              <a:t>Stage is where and how far, built from T, N and M. Grade is the microscopic appearance of the tumour cells.</a:t>
            </a:r>
            <a:endParaRPr lang="en-GB" sz="1350" noProof="0" dirty="0"/>
          </a:p>
        </p:txBody>
      </p:sp>
      <p:sp>
        <p:nvSpPr>
          <p:cNvPr id="12" name="Shape 10"/>
          <p:cNvSpPr/>
          <p:nvPr/>
        </p:nvSpPr>
        <p:spPr>
          <a:xfrm>
            <a:off x="548640" y="3933292"/>
            <a:ext cx="11094415" cy="1841602"/>
          </a:xfrm>
          <a:prstGeom prst="roundRect">
            <a:avLst>
              <a:gd name="adj" fmla="val 2979"/>
            </a:avLst>
          </a:prstGeom>
          <a:solidFill>
            <a:srgbClr val="F4F8FC"/>
          </a:solidFill>
          <a:ln w="12700">
            <a:solidFill>
              <a:srgbClr val="C8D8EC"/>
            </a:solidFill>
            <a:prstDash val="solid"/>
          </a:ln>
        </p:spPr>
        <p:txBody>
          <a:bodyPr/>
          <a:lstStyle/>
          <a:p>
            <a:endParaRPr lang="en-GB" noProof="0" dirty="0"/>
          </a:p>
        </p:txBody>
      </p:sp>
      <p:sp>
        <p:nvSpPr>
          <p:cNvPr id="13" name="Text 11"/>
          <p:cNvSpPr txBox="1"/>
          <p:nvPr/>
        </p:nvSpPr>
        <p:spPr>
          <a:xfrm>
            <a:off x="731520" y="4043020"/>
            <a:ext cx="10728655" cy="384048"/>
          </a:xfrm>
          <a:prstGeom prst="rect">
            <a:avLst/>
          </a:prstGeom>
          <a:noFill/>
          <a:ln/>
        </p:spPr>
        <p:txBody>
          <a:bodyPr wrap="square" lIns="0" tIns="0" rIns="0" bIns="0" rtlCol="0" anchor="t"/>
          <a:lstStyle/>
          <a:p>
            <a:pPr marL="0" indent="0">
              <a:buNone/>
            </a:pPr>
            <a:r>
              <a:rPr lang="en-GB" sz="1800" b="1" noProof="0" dirty="0">
                <a:solidFill>
                  <a:srgbClr val="12315B"/>
                </a:solidFill>
                <a:latin typeface="Calibri" pitchFamily="34" charset="0"/>
                <a:ea typeface="Calibri" pitchFamily="34" charset="-122"/>
                <a:cs typeface="Calibri" pitchFamily="34" charset="-120"/>
              </a:rPr>
              <a:t>Q4. Breast cancer most commonly spreads to distant sites in the:</a:t>
            </a:r>
            <a:endParaRPr lang="en-GB" sz="1800" noProof="0" dirty="0"/>
          </a:p>
        </p:txBody>
      </p:sp>
      <p:sp>
        <p:nvSpPr>
          <p:cNvPr id="14" name="Text 12"/>
          <p:cNvSpPr txBox="1"/>
          <p:nvPr/>
        </p:nvSpPr>
        <p:spPr>
          <a:xfrm>
            <a:off x="731520" y="4463644"/>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1B6E4A"/>
                </a:solidFill>
                <a:latin typeface="Calibri" pitchFamily="34" charset="0"/>
                <a:ea typeface="Calibri" pitchFamily="34" charset="-122"/>
                <a:cs typeface="Calibri" pitchFamily="34" charset="-120"/>
              </a:rPr>
              <a:t>A. Bone, liver, lung and brain</a:t>
            </a:r>
            <a:endParaRPr lang="en-GB" sz="1800" noProof="0" dirty="0"/>
          </a:p>
        </p:txBody>
      </p:sp>
      <p:sp>
        <p:nvSpPr>
          <p:cNvPr id="15" name="Text 13"/>
          <p:cNvSpPr txBox="1"/>
          <p:nvPr/>
        </p:nvSpPr>
        <p:spPr>
          <a:xfrm>
            <a:off x="6210148" y="4463644"/>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B. </a:t>
            </a:r>
            <a:r>
              <a:rPr lang="en-GB" sz="1800" noProof="0" dirty="0">
                <a:solidFill>
                  <a:srgbClr val="1F3A63"/>
                </a:solidFill>
                <a:latin typeface="Calibri" pitchFamily="34" charset="0"/>
                <a:ea typeface="Calibri" pitchFamily="34" charset="-122"/>
                <a:cs typeface="Calibri" pitchFamily="34" charset="-120"/>
              </a:rPr>
              <a:t>Thyroid and parathyroid</a:t>
            </a:r>
            <a:endParaRPr lang="en-GB" sz="1800" noProof="0" dirty="0"/>
          </a:p>
        </p:txBody>
      </p:sp>
      <p:sp>
        <p:nvSpPr>
          <p:cNvPr id="16" name="Text 14"/>
          <p:cNvSpPr txBox="1"/>
          <p:nvPr/>
        </p:nvSpPr>
        <p:spPr>
          <a:xfrm>
            <a:off x="731520" y="4838548"/>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C. </a:t>
            </a:r>
            <a:r>
              <a:rPr lang="en-GB" sz="1800" noProof="0" dirty="0">
                <a:solidFill>
                  <a:srgbClr val="1F3A63"/>
                </a:solidFill>
                <a:latin typeface="Calibri" pitchFamily="34" charset="0"/>
                <a:ea typeface="Calibri" pitchFamily="34" charset="-122"/>
                <a:cs typeface="Calibri" pitchFamily="34" charset="-120"/>
              </a:rPr>
              <a:t>Stomach and pancreas</a:t>
            </a:r>
            <a:endParaRPr lang="en-GB" sz="1800" noProof="0" dirty="0"/>
          </a:p>
        </p:txBody>
      </p:sp>
      <p:sp>
        <p:nvSpPr>
          <p:cNvPr id="17" name="Text 15"/>
          <p:cNvSpPr txBox="1"/>
          <p:nvPr/>
        </p:nvSpPr>
        <p:spPr>
          <a:xfrm>
            <a:off x="6210148" y="4838548"/>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D. </a:t>
            </a:r>
            <a:r>
              <a:rPr lang="en-GB" sz="1800" noProof="0" dirty="0">
                <a:solidFill>
                  <a:srgbClr val="1F3A63"/>
                </a:solidFill>
                <a:latin typeface="Calibri" pitchFamily="34" charset="0"/>
                <a:ea typeface="Calibri" pitchFamily="34" charset="-122"/>
                <a:cs typeface="Calibri" pitchFamily="34" charset="-120"/>
              </a:rPr>
              <a:t>Kidneys only</a:t>
            </a:r>
            <a:endParaRPr lang="en-GB" sz="1800" noProof="0" dirty="0"/>
          </a:p>
        </p:txBody>
      </p:sp>
      <p:sp>
        <p:nvSpPr>
          <p:cNvPr id="18" name="Text 16"/>
          <p:cNvSpPr txBox="1"/>
          <p:nvPr/>
        </p:nvSpPr>
        <p:spPr>
          <a:xfrm>
            <a:off x="731520" y="5268316"/>
            <a:ext cx="10728655" cy="433426"/>
          </a:xfrm>
          <a:prstGeom prst="rect">
            <a:avLst/>
          </a:prstGeom>
          <a:noFill/>
          <a:ln/>
        </p:spPr>
        <p:txBody>
          <a:bodyPr wrap="square" lIns="0" tIns="0" rIns="0" bIns="0" rtlCol="0" anchor="t"/>
          <a:lstStyle/>
          <a:p>
            <a:pPr marL="0" indent="0">
              <a:lnSpc>
                <a:spcPct val="92000"/>
              </a:lnSpc>
              <a:buNone/>
            </a:pPr>
            <a:r>
              <a:rPr lang="en-GB" sz="1350" b="1" noProof="0" dirty="0">
                <a:solidFill>
                  <a:srgbClr val="1B6E4A"/>
                </a:solidFill>
                <a:latin typeface="Calibri" pitchFamily="34" charset="0"/>
                <a:ea typeface="Calibri" pitchFamily="34" charset="-122"/>
                <a:cs typeface="Calibri" pitchFamily="34" charset="-120"/>
              </a:rPr>
              <a:t>Correct: A. </a:t>
            </a:r>
            <a:r>
              <a:rPr lang="en-GB" sz="1350" noProof="0" dirty="0">
                <a:solidFill>
                  <a:srgbClr val="0B1F3F"/>
                </a:solidFill>
                <a:latin typeface="Calibri" pitchFamily="34" charset="0"/>
                <a:ea typeface="Calibri" pitchFamily="34" charset="-122"/>
                <a:cs typeface="Calibri" pitchFamily="34" charset="-120"/>
              </a:rPr>
              <a:t>Bone is the most frequent site of distant spread in breast cancer, followed by liver, lung and brain. New persistent bone pain in someone treated for breast cancer should be assessed.</a:t>
            </a:r>
            <a:endParaRPr lang="en-GB" sz="1350" noProof="0"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en-GB" sz="1100" b="1" kern="0" spc="100" noProof="0" dirty="0">
                <a:solidFill>
                  <a:srgbClr val="5B7699"/>
                </a:solidFill>
                <a:latin typeface="Calibri" pitchFamily="34" charset="0"/>
                <a:ea typeface="Calibri" pitchFamily="34" charset="-122"/>
                <a:cs typeface="Calibri" pitchFamily="34" charset="-120"/>
              </a:rPr>
              <a:t>S E S S I O N   1</a:t>
            </a:r>
            <a:endParaRPr lang="en-GB"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en-GB" sz="1000" noProof="0" dirty="0">
                <a:solidFill>
                  <a:srgbClr val="5B7699"/>
                </a:solidFill>
                <a:latin typeface="Calibri" pitchFamily="34" charset="0"/>
                <a:ea typeface="Calibri" pitchFamily="34" charset="-122"/>
                <a:cs typeface="Calibri" pitchFamily="34" charset="-120"/>
              </a:rPr>
              <a:t>Breast Cancer  |  Frontline HCP  |  Rwanda Biomedical Centre</a:t>
            </a:r>
            <a:endParaRPr lang="en-GB"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en-GB" sz="3000" b="1" noProof="0" dirty="0">
                <a:solidFill>
                  <a:srgbClr val="12315B"/>
                </a:solidFill>
                <a:latin typeface="Calibri" pitchFamily="34" charset="0"/>
                <a:ea typeface="Calibri" pitchFamily="34" charset="-122"/>
                <a:cs typeface="Calibri" pitchFamily="34" charset="-120"/>
              </a:rPr>
              <a:t>Knowledge check (3 of 3)</a:t>
            </a:r>
            <a:endParaRPr lang="en-GB" sz="3000" noProof="0" dirty="0"/>
          </a:p>
        </p:txBody>
      </p:sp>
      <p:sp>
        <p:nvSpPr>
          <p:cNvPr id="5" name="Shape 3"/>
          <p:cNvSpPr/>
          <p:nvPr/>
        </p:nvSpPr>
        <p:spPr>
          <a:xfrm>
            <a:off x="548640" y="1738274"/>
            <a:ext cx="11094415" cy="1841602"/>
          </a:xfrm>
          <a:prstGeom prst="roundRect">
            <a:avLst>
              <a:gd name="adj" fmla="val 2979"/>
            </a:avLst>
          </a:prstGeom>
          <a:solidFill>
            <a:srgbClr val="F4F8FC"/>
          </a:solidFill>
          <a:ln w="12700">
            <a:solidFill>
              <a:srgbClr val="C8D8EC"/>
            </a:solidFill>
            <a:prstDash val="solid"/>
          </a:ln>
        </p:spPr>
        <p:txBody>
          <a:bodyPr/>
          <a:lstStyle/>
          <a:p>
            <a:endParaRPr lang="en-GB" noProof="0" dirty="0"/>
          </a:p>
        </p:txBody>
      </p:sp>
      <p:sp>
        <p:nvSpPr>
          <p:cNvPr id="6" name="Text 4"/>
          <p:cNvSpPr txBox="1"/>
          <p:nvPr/>
        </p:nvSpPr>
        <p:spPr>
          <a:xfrm>
            <a:off x="731520" y="1848002"/>
            <a:ext cx="10728655" cy="384048"/>
          </a:xfrm>
          <a:prstGeom prst="rect">
            <a:avLst/>
          </a:prstGeom>
          <a:noFill/>
          <a:ln/>
        </p:spPr>
        <p:txBody>
          <a:bodyPr wrap="square" lIns="0" tIns="0" rIns="0" bIns="0" rtlCol="0" anchor="t"/>
          <a:lstStyle/>
          <a:p>
            <a:pPr marL="0" indent="0">
              <a:buNone/>
            </a:pPr>
            <a:r>
              <a:rPr lang="en-GB" sz="1800" b="1" noProof="0" dirty="0">
                <a:solidFill>
                  <a:srgbClr val="12315B"/>
                </a:solidFill>
                <a:latin typeface="Calibri" pitchFamily="34" charset="0"/>
                <a:ea typeface="Calibri" pitchFamily="34" charset="-122"/>
                <a:cs typeface="Calibri" pitchFamily="34" charset="-120"/>
              </a:rPr>
              <a:t>Q5. A tumour that lacks ER, lacks PR and is not HER2 positive is described as:</a:t>
            </a:r>
            <a:endParaRPr lang="en-GB" sz="1800" noProof="0" dirty="0"/>
          </a:p>
        </p:txBody>
      </p:sp>
      <p:sp>
        <p:nvSpPr>
          <p:cNvPr id="7" name="Text 5"/>
          <p:cNvSpPr txBox="1"/>
          <p:nvPr/>
        </p:nvSpPr>
        <p:spPr>
          <a:xfrm>
            <a:off x="731520" y="2268626"/>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A. </a:t>
            </a:r>
            <a:r>
              <a:rPr lang="en-GB" sz="1800" noProof="0" dirty="0">
                <a:solidFill>
                  <a:srgbClr val="1F3A63"/>
                </a:solidFill>
                <a:latin typeface="Calibri" pitchFamily="34" charset="0"/>
                <a:ea typeface="Calibri" pitchFamily="34" charset="-122"/>
                <a:cs typeface="Calibri" pitchFamily="34" charset="-120"/>
              </a:rPr>
              <a:t>Hormone receptor positive</a:t>
            </a:r>
            <a:endParaRPr lang="en-GB" sz="1800" noProof="0" dirty="0"/>
          </a:p>
        </p:txBody>
      </p:sp>
      <p:sp>
        <p:nvSpPr>
          <p:cNvPr id="8" name="Text 6"/>
          <p:cNvSpPr txBox="1"/>
          <p:nvPr/>
        </p:nvSpPr>
        <p:spPr>
          <a:xfrm>
            <a:off x="6210148" y="2268626"/>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B. </a:t>
            </a:r>
            <a:r>
              <a:rPr lang="en-GB" sz="1800" noProof="0" dirty="0">
                <a:solidFill>
                  <a:srgbClr val="1F3A63"/>
                </a:solidFill>
                <a:latin typeface="Calibri" pitchFamily="34" charset="0"/>
                <a:ea typeface="Calibri" pitchFamily="34" charset="-122"/>
                <a:cs typeface="Calibri" pitchFamily="34" charset="-120"/>
              </a:rPr>
              <a:t>HER2 positive</a:t>
            </a:r>
            <a:endParaRPr lang="en-GB" sz="1800" noProof="0" dirty="0"/>
          </a:p>
        </p:txBody>
      </p:sp>
      <p:sp>
        <p:nvSpPr>
          <p:cNvPr id="9" name="Text 7"/>
          <p:cNvSpPr txBox="1"/>
          <p:nvPr/>
        </p:nvSpPr>
        <p:spPr>
          <a:xfrm>
            <a:off x="731520" y="2643530"/>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1B6E4A"/>
                </a:solidFill>
                <a:latin typeface="Calibri" pitchFamily="34" charset="0"/>
                <a:ea typeface="Calibri" pitchFamily="34" charset="-122"/>
                <a:cs typeface="Calibri" pitchFamily="34" charset="-120"/>
              </a:rPr>
              <a:t>C. Triple negative</a:t>
            </a:r>
            <a:endParaRPr lang="en-GB" sz="1800" noProof="0" dirty="0"/>
          </a:p>
        </p:txBody>
      </p:sp>
      <p:sp>
        <p:nvSpPr>
          <p:cNvPr id="10" name="Text 8"/>
          <p:cNvSpPr txBox="1"/>
          <p:nvPr/>
        </p:nvSpPr>
        <p:spPr>
          <a:xfrm>
            <a:off x="6210148" y="2643530"/>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D. </a:t>
            </a:r>
            <a:r>
              <a:rPr lang="en-GB" sz="1800" noProof="0" dirty="0">
                <a:solidFill>
                  <a:srgbClr val="1F3A63"/>
                </a:solidFill>
                <a:latin typeface="Calibri" pitchFamily="34" charset="0"/>
                <a:ea typeface="Calibri" pitchFamily="34" charset="-122"/>
                <a:cs typeface="Calibri" pitchFamily="34" charset="-120"/>
              </a:rPr>
              <a:t>In situ</a:t>
            </a:r>
            <a:endParaRPr lang="en-GB" sz="1800" noProof="0" dirty="0"/>
          </a:p>
        </p:txBody>
      </p:sp>
      <p:sp>
        <p:nvSpPr>
          <p:cNvPr id="11" name="Text 9"/>
          <p:cNvSpPr txBox="1"/>
          <p:nvPr/>
        </p:nvSpPr>
        <p:spPr>
          <a:xfrm>
            <a:off x="731520" y="3073298"/>
            <a:ext cx="10728655" cy="433426"/>
          </a:xfrm>
          <a:prstGeom prst="rect">
            <a:avLst/>
          </a:prstGeom>
          <a:noFill/>
          <a:ln/>
        </p:spPr>
        <p:txBody>
          <a:bodyPr wrap="square" lIns="0" tIns="0" rIns="0" bIns="0" rtlCol="0" anchor="t"/>
          <a:lstStyle/>
          <a:p>
            <a:pPr marL="0" indent="0">
              <a:lnSpc>
                <a:spcPct val="92000"/>
              </a:lnSpc>
              <a:buNone/>
            </a:pPr>
            <a:r>
              <a:rPr lang="en-GB" sz="1350" b="1" noProof="0" dirty="0">
                <a:solidFill>
                  <a:srgbClr val="1B6E4A"/>
                </a:solidFill>
                <a:latin typeface="Calibri" pitchFamily="34" charset="0"/>
                <a:ea typeface="Calibri" pitchFamily="34" charset="-122"/>
                <a:cs typeface="Calibri" pitchFamily="34" charset="-120"/>
              </a:rPr>
              <a:t>Correct: C. </a:t>
            </a:r>
            <a:r>
              <a:rPr lang="en-GB" sz="1350" noProof="0" dirty="0">
                <a:solidFill>
                  <a:srgbClr val="0B1F3F"/>
                </a:solidFill>
                <a:latin typeface="Calibri" pitchFamily="34" charset="0"/>
                <a:ea typeface="Calibri" pitchFamily="34" charset="-122"/>
                <a:cs typeface="Calibri" pitchFamily="34" charset="-120"/>
              </a:rPr>
              <a:t>Triple negative describes the absence of all three markers. Endocrine and HER2-directed therapies are not options, so treatment relies on other systemic approaches.</a:t>
            </a:r>
            <a:endParaRPr lang="en-GB" sz="1350" noProof="0" dirty="0"/>
          </a:p>
        </p:txBody>
      </p:sp>
      <p:sp>
        <p:nvSpPr>
          <p:cNvPr id="12" name="Shape 10"/>
          <p:cNvSpPr/>
          <p:nvPr/>
        </p:nvSpPr>
        <p:spPr>
          <a:xfrm>
            <a:off x="548640" y="3781044"/>
            <a:ext cx="11094415" cy="2361848"/>
          </a:xfrm>
          <a:prstGeom prst="roundRect">
            <a:avLst>
              <a:gd name="adj" fmla="val 2627"/>
            </a:avLst>
          </a:prstGeom>
          <a:solidFill>
            <a:srgbClr val="F4F8FC"/>
          </a:solidFill>
          <a:ln w="12700">
            <a:solidFill>
              <a:srgbClr val="C8D8EC"/>
            </a:solidFill>
            <a:prstDash val="solid"/>
          </a:ln>
        </p:spPr>
        <p:txBody>
          <a:bodyPr/>
          <a:lstStyle/>
          <a:p>
            <a:endParaRPr lang="en-GB" noProof="0" dirty="0"/>
          </a:p>
        </p:txBody>
      </p:sp>
      <p:sp>
        <p:nvSpPr>
          <p:cNvPr id="13" name="Text 11"/>
          <p:cNvSpPr txBox="1"/>
          <p:nvPr/>
        </p:nvSpPr>
        <p:spPr>
          <a:xfrm>
            <a:off x="731520" y="3890772"/>
            <a:ext cx="10728655" cy="384048"/>
          </a:xfrm>
          <a:prstGeom prst="rect">
            <a:avLst/>
          </a:prstGeom>
          <a:noFill/>
          <a:ln/>
        </p:spPr>
        <p:txBody>
          <a:bodyPr wrap="square" lIns="0" tIns="0" rIns="0" bIns="0" rtlCol="0" anchor="t"/>
          <a:lstStyle/>
          <a:p>
            <a:pPr marL="0" indent="0">
              <a:buNone/>
            </a:pPr>
            <a:r>
              <a:rPr lang="en-GB" sz="1800" b="1" noProof="0" dirty="0">
                <a:solidFill>
                  <a:srgbClr val="12315B"/>
                </a:solidFill>
                <a:latin typeface="Calibri" pitchFamily="34" charset="0"/>
                <a:ea typeface="Calibri" pitchFamily="34" charset="-122"/>
                <a:cs typeface="Calibri" pitchFamily="34" charset="-120"/>
              </a:rPr>
              <a:t>Q6. A woman describes a breast that became red, swollen and warm over two weeks, with thickened skin and no distinct lump. You should:</a:t>
            </a:r>
            <a:endParaRPr lang="en-GB" sz="1800" noProof="0" dirty="0"/>
          </a:p>
        </p:txBody>
      </p:sp>
      <p:sp>
        <p:nvSpPr>
          <p:cNvPr id="14" name="Text 12"/>
          <p:cNvSpPr txBox="1"/>
          <p:nvPr/>
        </p:nvSpPr>
        <p:spPr>
          <a:xfrm>
            <a:off x="731520" y="4534133"/>
            <a:ext cx="5250028" cy="566928"/>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A. </a:t>
            </a:r>
            <a:r>
              <a:rPr lang="en-GB" sz="1800" noProof="0" dirty="0">
                <a:solidFill>
                  <a:srgbClr val="1F3A63"/>
                </a:solidFill>
                <a:latin typeface="Calibri" pitchFamily="34" charset="0"/>
                <a:ea typeface="Calibri" pitchFamily="34" charset="-122"/>
                <a:cs typeface="Calibri" pitchFamily="34" charset="-120"/>
              </a:rPr>
              <a:t>Reassure her that this cannot be cancer without a lump</a:t>
            </a:r>
            <a:endParaRPr lang="en-GB" sz="1800" noProof="0" dirty="0"/>
          </a:p>
        </p:txBody>
      </p:sp>
      <p:sp>
        <p:nvSpPr>
          <p:cNvPr id="15" name="Text 13"/>
          <p:cNvSpPr txBox="1"/>
          <p:nvPr/>
        </p:nvSpPr>
        <p:spPr>
          <a:xfrm>
            <a:off x="6210148" y="4534133"/>
            <a:ext cx="5250028" cy="566928"/>
          </a:xfrm>
          <a:prstGeom prst="rect">
            <a:avLst/>
          </a:prstGeom>
          <a:noFill/>
          <a:ln/>
        </p:spPr>
        <p:txBody>
          <a:bodyPr wrap="square" lIns="0" tIns="0" rIns="0" bIns="0" rtlCol="0" anchor="t"/>
          <a:lstStyle/>
          <a:p>
            <a:pPr marL="0" indent="0">
              <a:lnSpc>
                <a:spcPct val="90000"/>
              </a:lnSpc>
              <a:buNone/>
            </a:pPr>
            <a:r>
              <a:rPr lang="en-GB" sz="1800" b="1" noProof="0" dirty="0">
                <a:solidFill>
                  <a:srgbClr val="1B6E4A"/>
                </a:solidFill>
                <a:latin typeface="Calibri" pitchFamily="34" charset="0"/>
                <a:ea typeface="Calibri" pitchFamily="34" charset="-122"/>
                <a:cs typeface="Calibri" pitchFamily="34" charset="-120"/>
              </a:rPr>
              <a:t>B. Treat as infection and arrange review, with prompt referral if it does not settle as expected</a:t>
            </a:r>
            <a:endParaRPr lang="en-GB" sz="1800" noProof="0" dirty="0"/>
          </a:p>
        </p:txBody>
      </p:sp>
      <p:sp>
        <p:nvSpPr>
          <p:cNvPr id="16" name="Text 14"/>
          <p:cNvSpPr txBox="1"/>
          <p:nvPr/>
        </p:nvSpPr>
        <p:spPr>
          <a:xfrm>
            <a:off x="731520" y="5155925"/>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C. </a:t>
            </a:r>
            <a:r>
              <a:rPr lang="en-GB" sz="1800" noProof="0" dirty="0">
                <a:solidFill>
                  <a:srgbClr val="1F3A63"/>
                </a:solidFill>
                <a:latin typeface="Calibri" pitchFamily="34" charset="0"/>
                <a:ea typeface="Calibri" pitchFamily="34" charset="-122"/>
                <a:cs typeface="Calibri" pitchFamily="34" charset="-120"/>
              </a:rPr>
              <a:t>Wait six months</a:t>
            </a:r>
            <a:endParaRPr lang="en-GB" sz="1800" noProof="0" dirty="0"/>
          </a:p>
        </p:txBody>
      </p:sp>
      <p:sp>
        <p:nvSpPr>
          <p:cNvPr id="17" name="Text 15"/>
          <p:cNvSpPr txBox="1"/>
          <p:nvPr/>
        </p:nvSpPr>
        <p:spPr>
          <a:xfrm>
            <a:off x="6210148" y="5155925"/>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D. </a:t>
            </a:r>
            <a:r>
              <a:rPr lang="en-GB" sz="1800" noProof="0" dirty="0">
                <a:solidFill>
                  <a:srgbClr val="1F3A63"/>
                </a:solidFill>
                <a:latin typeface="Calibri" pitchFamily="34" charset="0"/>
                <a:ea typeface="Calibri" pitchFamily="34" charset="-122"/>
                <a:cs typeface="Calibri" pitchFamily="34" charset="-120"/>
              </a:rPr>
              <a:t>Book routine screening</a:t>
            </a:r>
            <a:endParaRPr lang="en-GB" sz="1800" noProof="0" dirty="0"/>
          </a:p>
        </p:txBody>
      </p:sp>
      <p:sp>
        <p:nvSpPr>
          <p:cNvPr id="18" name="Text 16"/>
          <p:cNvSpPr txBox="1"/>
          <p:nvPr/>
        </p:nvSpPr>
        <p:spPr>
          <a:xfrm>
            <a:off x="731520" y="5585693"/>
            <a:ext cx="10728655" cy="433426"/>
          </a:xfrm>
          <a:prstGeom prst="rect">
            <a:avLst/>
          </a:prstGeom>
          <a:noFill/>
          <a:ln/>
        </p:spPr>
        <p:txBody>
          <a:bodyPr wrap="square" lIns="0" tIns="0" rIns="0" bIns="0" rtlCol="0" anchor="t"/>
          <a:lstStyle/>
          <a:p>
            <a:pPr marL="0" indent="0">
              <a:lnSpc>
                <a:spcPct val="92000"/>
              </a:lnSpc>
              <a:buNone/>
            </a:pPr>
            <a:r>
              <a:rPr lang="en-GB" sz="1350" b="1" noProof="0" dirty="0">
                <a:solidFill>
                  <a:srgbClr val="1B6E4A"/>
                </a:solidFill>
                <a:latin typeface="Calibri" pitchFamily="34" charset="0"/>
                <a:ea typeface="Calibri" pitchFamily="34" charset="-122"/>
                <a:cs typeface="Calibri" pitchFamily="34" charset="-120"/>
              </a:rPr>
              <a:t>Correct: B. </a:t>
            </a:r>
            <a:r>
              <a:rPr lang="en-GB" sz="1350" noProof="0" dirty="0">
                <a:solidFill>
                  <a:srgbClr val="0B1F3F"/>
                </a:solidFill>
                <a:latin typeface="Calibri" pitchFamily="34" charset="0"/>
                <a:ea typeface="Calibri" pitchFamily="34" charset="-122"/>
                <a:cs typeface="Calibri" pitchFamily="34" charset="-120"/>
              </a:rPr>
              <a:t>Inflammatory breast cancer can present exactly like this and often has no discrete lump. Infection is more common, so treat appropriately, but reassess deliberately and refer promptly if the picture does not resolve.</a:t>
            </a:r>
            <a:endParaRPr lang="en-GB" sz="1350" noProof="0" dirty="0"/>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en-GB" sz="1100" b="1" kern="0" spc="100" noProof="0" dirty="0">
                <a:solidFill>
                  <a:srgbClr val="5B7699"/>
                </a:solidFill>
                <a:latin typeface="Calibri" pitchFamily="34" charset="0"/>
                <a:ea typeface="Calibri" pitchFamily="34" charset="-122"/>
                <a:cs typeface="Calibri" pitchFamily="34" charset="-120"/>
              </a:rPr>
              <a:t>S E S S I O N   1</a:t>
            </a:r>
            <a:endParaRPr lang="en-GB"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en-GB" sz="1000" noProof="0" dirty="0">
                <a:solidFill>
                  <a:srgbClr val="5B7699"/>
                </a:solidFill>
                <a:latin typeface="Calibri" pitchFamily="34" charset="0"/>
                <a:ea typeface="Calibri" pitchFamily="34" charset="-122"/>
                <a:cs typeface="Calibri" pitchFamily="34" charset="-120"/>
              </a:rPr>
              <a:t>Breast Cancer  |  Frontline HCP  |  Rwanda Biomedical Centre</a:t>
            </a:r>
            <a:endParaRPr lang="en-GB"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en-GB" sz="3000" b="1" noProof="0" dirty="0">
                <a:solidFill>
                  <a:srgbClr val="12315B"/>
                </a:solidFill>
                <a:latin typeface="Calibri" pitchFamily="34" charset="0"/>
                <a:ea typeface="Calibri" pitchFamily="34" charset="-122"/>
                <a:cs typeface="Calibri" pitchFamily="34" charset="-120"/>
              </a:rPr>
              <a:t>Session reflection</a:t>
            </a:r>
            <a:endParaRPr lang="en-GB" sz="3000" noProof="0" dirty="0"/>
          </a:p>
        </p:txBody>
      </p:sp>
      <p:sp>
        <p:nvSpPr>
          <p:cNvPr id="5" name="Text 3"/>
          <p:cNvSpPr txBox="1"/>
          <p:nvPr/>
        </p:nvSpPr>
        <p:spPr>
          <a:xfrm>
            <a:off x="548640" y="1234440"/>
            <a:ext cx="11094415" cy="411480"/>
          </a:xfrm>
          <a:prstGeom prst="rect">
            <a:avLst/>
          </a:prstGeom>
          <a:noFill/>
          <a:ln/>
        </p:spPr>
        <p:txBody>
          <a:bodyPr wrap="square" lIns="0" tIns="0" rIns="0" bIns="0" rtlCol="0" anchor="ctr"/>
          <a:lstStyle/>
          <a:p>
            <a:pPr marL="0" indent="0">
              <a:lnSpc>
                <a:spcPct val="95000"/>
              </a:lnSpc>
              <a:buNone/>
            </a:pPr>
            <a:r>
              <a:rPr lang="en-GB" sz="1500" i="1" noProof="0" dirty="0">
                <a:solidFill>
                  <a:srgbClr val="5B7699"/>
                </a:solidFill>
                <a:latin typeface="Calibri" pitchFamily="34" charset="0"/>
                <a:ea typeface="Calibri" pitchFamily="34" charset="-122"/>
                <a:cs typeface="Calibri" pitchFamily="34" charset="-120"/>
              </a:rPr>
              <a:t>Enter your response in the text box. There is no single correct answer. These prompts are not scored, and are for your own practice and for discussion.</a:t>
            </a:r>
            <a:endParaRPr lang="en-GB" sz="1500" noProof="0" dirty="0"/>
          </a:p>
        </p:txBody>
      </p:sp>
      <p:sp>
        <p:nvSpPr>
          <p:cNvPr id="6" name="Shape 4"/>
          <p:cNvSpPr/>
          <p:nvPr/>
        </p:nvSpPr>
        <p:spPr>
          <a:xfrm>
            <a:off x="548640" y="1828800"/>
            <a:ext cx="11094415" cy="1188720"/>
          </a:xfrm>
          <a:prstGeom prst="roundRect">
            <a:avLst>
              <a:gd name="adj" fmla="val 4615"/>
            </a:avLst>
          </a:prstGeom>
          <a:solidFill>
            <a:srgbClr val="F4F8FC"/>
          </a:solidFill>
          <a:ln w="12700">
            <a:solidFill>
              <a:srgbClr val="C8D8EC"/>
            </a:solidFill>
            <a:prstDash val="solid"/>
          </a:ln>
        </p:spPr>
        <p:txBody>
          <a:bodyPr/>
          <a:lstStyle/>
          <a:p>
            <a:endParaRPr lang="en-GB" noProof="0" dirty="0"/>
          </a:p>
        </p:txBody>
      </p:sp>
      <p:sp>
        <p:nvSpPr>
          <p:cNvPr id="7" name="Shape 5"/>
          <p:cNvSpPr/>
          <p:nvPr/>
        </p:nvSpPr>
        <p:spPr>
          <a:xfrm>
            <a:off x="777240" y="2203704"/>
            <a:ext cx="438912" cy="438912"/>
          </a:xfrm>
          <a:prstGeom prst="ellipse">
            <a:avLst/>
          </a:prstGeom>
          <a:solidFill>
            <a:srgbClr val="12315B"/>
          </a:solidFill>
          <a:ln/>
        </p:spPr>
        <p:txBody>
          <a:bodyPr/>
          <a:lstStyle/>
          <a:p>
            <a:endParaRPr lang="en-GB" noProof="0" dirty="0"/>
          </a:p>
        </p:txBody>
      </p:sp>
      <p:sp>
        <p:nvSpPr>
          <p:cNvPr id="8" name="Text 6"/>
          <p:cNvSpPr txBox="1"/>
          <p:nvPr/>
        </p:nvSpPr>
        <p:spPr>
          <a:xfrm>
            <a:off x="777240" y="2203704"/>
            <a:ext cx="438912" cy="438912"/>
          </a:xfrm>
          <a:prstGeom prst="rect">
            <a:avLst/>
          </a:prstGeom>
          <a:noFill/>
          <a:ln/>
        </p:spPr>
        <p:txBody>
          <a:bodyPr wrap="square" lIns="0" tIns="0" rIns="0" bIns="0" rtlCol="0" anchor="ctr"/>
          <a:lstStyle/>
          <a:p>
            <a:pPr marL="0" indent="0" algn="ctr">
              <a:buNone/>
            </a:pPr>
            <a:r>
              <a:rPr lang="en-GB" sz="1800" b="1" noProof="0" dirty="0">
                <a:solidFill>
                  <a:srgbClr val="FFFFFF"/>
                </a:solidFill>
                <a:latin typeface="Calibri" pitchFamily="34" charset="0"/>
                <a:ea typeface="Calibri" pitchFamily="34" charset="-122"/>
                <a:cs typeface="Calibri" pitchFamily="34" charset="-120"/>
              </a:rPr>
              <a:t>1</a:t>
            </a:r>
            <a:endParaRPr lang="en-GB" sz="1800" noProof="0" dirty="0"/>
          </a:p>
        </p:txBody>
      </p:sp>
      <p:sp>
        <p:nvSpPr>
          <p:cNvPr id="9" name="Text 7"/>
          <p:cNvSpPr txBox="1"/>
          <p:nvPr/>
        </p:nvSpPr>
        <p:spPr>
          <a:xfrm>
            <a:off x="1417320" y="1938528"/>
            <a:ext cx="9997135" cy="969264"/>
          </a:xfrm>
          <a:prstGeom prst="rect">
            <a:avLst/>
          </a:prstGeom>
          <a:noFill/>
          <a:ln/>
        </p:spPr>
        <p:txBody>
          <a:bodyPr wrap="square" lIns="0" tIns="0" rIns="0" bIns="0" rtlCol="0" anchor="ctr"/>
          <a:lstStyle/>
          <a:p>
            <a:pPr marL="0" indent="0">
              <a:lnSpc>
                <a:spcPct val="95000"/>
              </a:lnSpc>
              <a:buNone/>
            </a:pPr>
            <a:r>
              <a:rPr lang="en-GB" sz="1800" noProof="0" dirty="0">
                <a:solidFill>
                  <a:srgbClr val="0B1F3F"/>
                </a:solidFill>
                <a:latin typeface="Calibri" pitchFamily="34" charset="0"/>
                <a:ea typeface="Calibri" pitchFamily="34" charset="-122"/>
                <a:cs typeface="Calibri" pitchFamily="34" charset="-120"/>
              </a:rPr>
              <a:t>In your own words, how would you explain to a patient that carcinoma in situ is not the same as invasive breast cancer?</a:t>
            </a:r>
            <a:endParaRPr lang="en-GB" sz="1800" noProof="0" dirty="0"/>
          </a:p>
        </p:txBody>
      </p:sp>
      <p:sp>
        <p:nvSpPr>
          <p:cNvPr id="10" name="Shape 8"/>
          <p:cNvSpPr/>
          <p:nvPr/>
        </p:nvSpPr>
        <p:spPr>
          <a:xfrm>
            <a:off x="548640" y="3218688"/>
            <a:ext cx="11094415" cy="1188720"/>
          </a:xfrm>
          <a:prstGeom prst="roundRect">
            <a:avLst>
              <a:gd name="adj" fmla="val 4615"/>
            </a:avLst>
          </a:prstGeom>
          <a:solidFill>
            <a:srgbClr val="F4F8FC"/>
          </a:solidFill>
          <a:ln w="12700">
            <a:solidFill>
              <a:srgbClr val="C8D8EC"/>
            </a:solidFill>
            <a:prstDash val="solid"/>
          </a:ln>
        </p:spPr>
        <p:txBody>
          <a:bodyPr/>
          <a:lstStyle/>
          <a:p>
            <a:endParaRPr lang="en-GB" noProof="0" dirty="0"/>
          </a:p>
        </p:txBody>
      </p:sp>
      <p:sp>
        <p:nvSpPr>
          <p:cNvPr id="11" name="Shape 9"/>
          <p:cNvSpPr/>
          <p:nvPr/>
        </p:nvSpPr>
        <p:spPr>
          <a:xfrm>
            <a:off x="777240" y="3593592"/>
            <a:ext cx="438912" cy="438912"/>
          </a:xfrm>
          <a:prstGeom prst="ellipse">
            <a:avLst/>
          </a:prstGeom>
          <a:solidFill>
            <a:srgbClr val="12315B"/>
          </a:solidFill>
          <a:ln/>
        </p:spPr>
        <p:txBody>
          <a:bodyPr/>
          <a:lstStyle/>
          <a:p>
            <a:endParaRPr lang="en-GB" noProof="0" dirty="0"/>
          </a:p>
        </p:txBody>
      </p:sp>
      <p:sp>
        <p:nvSpPr>
          <p:cNvPr id="12" name="Text 10"/>
          <p:cNvSpPr txBox="1"/>
          <p:nvPr/>
        </p:nvSpPr>
        <p:spPr>
          <a:xfrm>
            <a:off x="777240" y="3593592"/>
            <a:ext cx="438912" cy="438912"/>
          </a:xfrm>
          <a:prstGeom prst="rect">
            <a:avLst/>
          </a:prstGeom>
          <a:noFill/>
          <a:ln/>
        </p:spPr>
        <p:txBody>
          <a:bodyPr wrap="square" lIns="0" tIns="0" rIns="0" bIns="0" rtlCol="0" anchor="ctr"/>
          <a:lstStyle/>
          <a:p>
            <a:pPr marL="0" indent="0" algn="ctr">
              <a:buNone/>
            </a:pPr>
            <a:r>
              <a:rPr lang="en-GB" sz="1800" b="1" noProof="0" dirty="0">
                <a:solidFill>
                  <a:srgbClr val="FFFFFF"/>
                </a:solidFill>
                <a:latin typeface="Calibri" pitchFamily="34" charset="0"/>
                <a:ea typeface="Calibri" pitchFamily="34" charset="-122"/>
                <a:cs typeface="Calibri" pitchFamily="34" charset="-120"/>
              </a:rPr>
              <a:t>2</a:t>
            </a:r>
            <a:endParaRPr lang="en-GB" sz="1800" noProof="0" dirty="0"/>
          </a:p>
        </p:txBody>
      </p:sp>
      <p:sp>
        <p:nvSpPr>
          <p:cNvPr id="13" name="Text 11"/>
          <p:cNvSpPr txBox="1"/>
          <p:nvPr/>
        </p:nvSpPr>
        <p:spPr>
          <a:xfrm>
            <a:off x="1417320" y="3328416"/>
            <a:ext cx="9997135" cy="969264"/>
          </a:xfrm>
          <a:prstGeom prst="rect">
            <a:avLst/>
          </a:prstGeom>
          <a:noFill/>
          <a:ln/>
        </p:spPr>
        <p:txBody>
          <a:bodyPr wrap="square" lIns="0" tIns="0" rIns="0" bIns="0" rtlCol="0" anchor="ctr"/>
          <a:lstStyle/>
          <a:p>
            <a:pPr marL="0" indent="0">
              <a:lnSpc>
                <a:spcPct val="95000"/>
              </a:lnSpc>
              <a:buNone/>
            </a:pPr>
            <a:r>
              <a:rPr lang="en-GB" sz="1800" noProof="0" dirty="0">
                <a:solidFill>
                  <a:srgbClr val="0B1F3F"/>
                </a:solidFill>
                <a:latin typeface="Calibri" pitchFamily="34" charset="0"/>
                <a:ea typeface="Calibri" pitchFamily="34" charset="-122"/>
                <a:cs typeface="Calibri" pitchFamily="34" charset="-120"/>
              </a:rPr>
              <a:t>Which single point about the burden of breast cancer in Rwanda would you most want a community member to understand, and why?</a:t>
            </a:r>
            <a:endParaRPr lang="en-GB" sz="1800" noProof="0" dirty="0"/>
          </a:p>
        </p:txBody>
      </p:sp>
      <p:sp>
        <p:nvSpPr>
          <p:cNvPr id="14" name="Shape 12"/>
          <p:cNvSpPr/>
          <p:nvPr/>
        </p:nvSpPr>
        <p:spPr>
          <a:xfrm>
            <a:off x="548640" y="4608576"/>
            <a:ext cx="11094415" cy="1188720"/>
          </a:xfrm>
          <a:prstGeom prst="roundRect">
            <a:avLst>
              <a:gd name="adj" fmla="val 4615"/>
            </a:avLst>
          </a:prstGeom>
          <a:solidFill>
            <a:srgbClr val="F4F8FC"/>
          </a:solidFill>
          <a:ln w="12700">
            <a:solidFill>
              <a:srgbClr val="C8D8EC"/>
            </a:solidFill>
            <a:prstDash val="solid"/>
          </a:ln>
        </p:spPr>
        <p:txBody>
          <a:bodyPr/>
          <a:lstStyle/>
          <a:p>
            <a:endParaRPr lang="en-GB" noProof="0" dirty="0"/>
          </a:p>
        </p:txBody>
      </p:sp>
      <p:sp>
        <p:nvSpPr>
          <p:cNvPr id="15" name="Shape 13"/>
          <p:cNvSpPr/>
          <p:nvPr/>
        </p:nvSpPr>
        <p:spPr>
          <a:xfrm>
            <a:off x="777240" y="4983480"/>
            <a:ext cx="438912" cy="438912"/>
          </a:xfrm>
          <a:prstGeom prst="ellipse">
            <a:avLst/>
          </a:prstGeom>
          <a:solidFill>
            <a:srgbClr val="12315B"/>
          </a:solidFill>
          <a:ln/>
        </p:spPr>
        <p:txBody>
          <a:bodyPr/>
          <a:lstStyle/>
          <a:p>
            <a:endParaRPr lang="en-GB" noProof="0" dirty="0"/>
          </a:p>
        </p:txBody>
      </p:sp>
      <p:sp>
        <p:nvSpPr>
          <p:cNvPr id="16" name="Text 14"/>
          <p:cNvSpPr txBox="1"/>
          <p:nvPr/>
        </p:nvSpPr>
        <p:spPr>
          <a:xfrm>
            <a:off x="777240" y="4983480"/>
            <a:ext cx="438912" cy="438912"/>
          </a:xfrm>
          <a:prstGeom prst="rect">
            <a:avLst/>
          </a:prstGeom>
          <a:noFill/>
          <a:ln/>
        </p:spPr>
        <p:txBody>
          <a:bodyPr wrap="square" lIns="0" tIns="0" rIns="0" bIns="0" rtlCol="0" anchor="ctr"/>
          <a:lstStyle/>
          <a:p>
            <a:pPr marL="0" indent="0" algn="ctr">
              <a:buNone/>
            </a:pPr>
            <a:r>
              <a:rPr lang="en-GB" sz="1800" b="1" noProof="0" dirty="0">
                <a:solidFill>
                  <a:srgbClr val="FFFFFF"/>
                </a:solidFill>
                <a:latin typeface="Calibri" pitchFamily="34" charset="0"/>
                <a:ea typeface="Calibri" pitchFamily="34" charset="-122"/>
                <a:cs typeface="Calibri" pitchFamily="34" charset="-120"/>
              </a:rPr>
              <a:t>3</a:t>
            </a:r>
            <a:endParaRPr lang="en-GB" sz="1800" noProof="0" dirty="0"/>
          </a:p>
        </p:txBody>
      </p:sp>
      <p:sp>
        <p:nvSpPr>
          <p:cNvPr id="17" name="Text 15"/>
          <p:cNvSpPr txBox="1"/>
          <p:nvPr/>
        </p:nvSpPr>
        <p:spPr>
          <a:xfrm>
            <a:off x="1417320" y="4718304"/>
            <a:ext cx="9997135" cy="969264"/>
          </a:xfrm>
          <a:prstGeom prst="rect">
            <a:avLst/>
          </a:prstGeom>
          <a:noFill/>
          <a:ln/>
        </p:spPr>
        <p:txBody>
          <a:bodyPr wrap="square" lIns="0" tIns="0" rIns="0" bIns="0" rtlCol="0" anchor="ctr"/>
          <a:lstStyle/>
          <a:p>
            <a:pPr marL="0" indent="0">
              <a:lnSpc>
                <a:spcPct val="95000"/>
              </a:lnSpc>
              <a:buNone/>
            </a:pPr>
            <a:r>
              <a:rPr lang="en-GB" sz="1800" noProof="0" dirty="0">
                <a:solidFill>
                  <a:srgbClr val="0B1F3F"/>
                </a:solidFill>
                <a:latin typeface="Calibri" pitchFamily="34" charset="0"/>
                <a:ea typeface="Calibri" pitchFamily="34" charset="-122"/>
                <a:cs typeface="Calibri" pitchFamily="34" charset="-120"/>
              </a:rPr>
              <a:t>Almost three quarters of staged breast cancers in Rwanda were advanced at diagnosis. Where in your own setting does that delay happen, and what part of it could you influence?</a:t>
            </a:r>
            <a:endParaRPr lang="en-GB" sz="1800" noProof="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42">
    <p:bg>
      <p:bgPr>
        <a:solidFill>
          <a:srgbClr val="12315B"/>
        </a:solidFill>
        <a:effectLst/>
      </p:bgPr>
    </p:bg>
    <p:spTree>
      <p:nvGrpSpPr>
        <p:cNvPr id="1" name=""/>
        <p:cNvGrpSpPr/>
        <p:nvPr/>
      </p:nvGrpSpPr>
      <p:grpSpPr>
        <a:xfrm>
          <a:off x="0" y="0"/>
          <a:ext cx="0" cy="0"/>
          <a:chOff x="0" y="0"/>
          <a:chExt cx="0" cy="0"/>
        </a:xfrm>
      </p:grpSpPr>
      <p:sp>
        <p:nvSpPr>
          <p:cNvPr id="2" name="Text 0"/>
          <p:cNvSpPr txBox="1"/>
          <p:nvPr/>
        </p:nvSpPr>
        <p:spPr>
          <a:xfrm>
            <a:off x="868680" y="1417320"/>
            <a:ext cx="2011680" cy="1737360"/>
          </a:xfrm>
          <a:prstGeom prst="rect">
            <a:avLst/>
          </a:prstGeom>
          <a:noFill/>
          <a:ln/>
        </p:spPr>
        <p:txBody>
          <a:bodyPr wrap="square" lIns="0" tIns="0" rIns="0" bIns="0" rtlCol="0" anchor="ctr"/>
          <a:lstStyle/>
          <a:p>
            <a:pPr marL="0" indent="0">
              <a:buNone/>
            </a:pPr>
            <a:r>
              <a:rPr lang="en-GB" sz="12000" b="1" noProof="0" dirty="0">
                <a:solidFill>
                  <a:srgbClr val="2C5C99"/>
                </a:solidFill>
                <a:latin typeface="Calibri" pitchFamily="34" charset="0"/>
                <a:ea typeface="Calibri" pitchFamily="34" charset="-122"/>
                <a:cs typeface="Calibri" pitchFamily="34" charset="-120"/>
              </a:rPr>
              <a:t>2</a:t>
            </a:r>
            <a:endParaRPr lang="en-GB" sz="12000" noProof="0" dirty="0"/>
          </a:p>
        </p:txBody>
      </p:sp>
      <p:sp>
        <p:nvSpPr>
          <p:cNvPr id="3" name="Text 1"/>
          <p:cNvSpPr txBox="1"/>
          <p:nvPr/>
        </p:nvSpPr>
        <p:spPr>
          <a:xfrm>
            <a:off x="960120" y="3063240"/>
            <a:ext cx="9144000" cy="365760"/>
          </a:xfrm>
          <a:prstGeom prst="rect">
            <a:avLst/>
          </a:prstGeom>
          <a:noFill/>
          <a:ln/>
        </p:spPr>
        <p:txBody>
          <a:bodyPr wrap="square" lIns="0" tIns="0" rIns="0" bIns="0" rtlCol="0" anchor="ctr"/>
          <a:lstStyle/>
          <a:p>
            <a:pPr marL="0" indent="0">
              <a:buNone/>
            </a:pPr>
            <a:r>
              <a:rPr lang="en-GB" sz="1600" b="1" noProof="0" dirty="0">
                <a:solidFill>
                  <a:srgbClr val="9FC2E8"/>
                </a:solidFill>
                <a:latin typeface="Calibri" pitchFamily="34" charset="0"/>
                <a:ea typeface="Calibri" pitchFamily="34" charset="-122"/>
                <a:cs typeface="Calibri" pitchFamily="34" charset="-120"/>
              </a:rPr>
              <a:t>S e s s </a:t>
            </a:r>
            <a:r>
              <a:rPr lang="en-GB" sz="1600" b="1" noProof="0" dirty="0" err="1">
                <a:solidFill>
                  <a:srgbClr val="9FC2E8"/>
                </a:solidFill>
                <a:latin typeface="Calibri" pitchFamily="34" charset="0"/>
                <a:ea typeface="Calibri" pitchFamily="34" charset="-122"/>
                <a:cs typeface="Calibri" pitchFamily="34" charset="-120"/>
              </a:rPr>
              <a:t>i</a:t>
            </a:r>
            <a:r>
              <a:rPr lang="en-GB" sz="1600" b="1" noProof="0" dirty="0">
                <a:solidFill>
                  <a:srgbClr val="9FC2E8"/>
                </a:solidFill>
                <a:latin typeface="Calibri" pitchFamily="34" charset="0"/>
                <a:ea typeface="Calibri" pitchFamily="34" charset="-122"/>
                <a:cs typeface="Calibri" pitchFamily="34" charset="-120"/>
              </a:rPr>
              <a:t> o n  2</a:t>
            </a:r>
            <a:endParaRPr lang="en-GB" sz="1600" noProof="0" dirty="0"/>
          </a:p>
        </p:txBody>
      </p:sp>
      <p:sp>
        <p:nvSpPr>
          <p:cNvPr id="4" name="Text 2"/>
          <p:cNvSpPr txBox="1"/>
          <p:nvPr/>
        </p:nvSpPr>
        <p:spPr>
          <a:xfrm>
            <a:off x="914400" y="3429000"/>
            <a:ext cx="10241280" cy="777240"/>
          </a:xfrm>
          <a:prstGeom prst="rect">
            <a:avLst/>
          </a:prstGeom>
          <a:noFill/>
          <a:ln/>
        </p:spPr>
        <p:txBody>
          <a:bodyPr wrap="square" lIns="0" tIns="0" rIns="0" bIns="0" rtlCol="0" anchor="ctr"/>
          <a:lstStyle/>
          <a:p>
            <a:pPr marL="0" indent="0">
              <a:buNone/>
            </a:pPr>
            <a:r>
              <a:rPr lang="en-GB" sz="4000" b="1" noProof="0" dirty="0">
                <a:solidFill>
                  <a:srgbClr val="FFFFFF"/>
                </a:solidFill>
                <a:latin typeface="Calibri" pitchFamily="34" charset="0"/>
                <a:ea typeface="Calibri" pitchFamily="34" charset="-122"/>
                <a:cs typeface="Calibri" pitchFamily="34" charset="-120"/>
              </a:rPr>
              <a:t>Screening and early detection</a:t>
            </a:r>
            <a:endParaRPr lang="en-GB" sz="4000" noProof="0" dirty="0"/>
          </a:p>
        </p:txBody>
      </p:sp>
      <p:sp>
        <p:nvSpPr>
          <p:cNvPr id="5" name="Text 3"/>
          <p:cNvSpPr txBox="1"/>
          <p:nvPr/>
        </p:nvSpPr>
        <p:spPr>
          <a:xfrm>
            <a:off x="914400" y="4297680"/>
            <a:ext cx="9692640" cy="914400"/>
          </a:xfrm>
          <a:prstGeom prst="rect">
            <a:avLst/>
          </a:prstGeom>
          <a:noFill/>
          <a:ln/>
        </p:spPr>
        <p:txBody>
          <a:bodyPr wrap="square" lIns="0" tIns="0" rIns="0" bIns="0" rtlCol="0" anchor="ctr"/>
          <a:lstStyle/>
          <a:p>
            <a:pPr marL="0" indent="0">
              <a:lnSpc>
                <a:spcPct val="100000"/>
              </a:lnSpc>
              <a:buNone/>
            </a:pPr>
            <a:r>
              <a:rPr lang="en-GB" sz="1800" noProof="0" dirty="0">
                <a:solidFill>
                  <a:srgbClr val="CFE0F4"/>
                </a:solidFill>
                <a:latin typeface="Calibri" pitchFamily="34" charset="0"/>
                <a:ea typeface="Calibri" pitchFamily="34" charset="-122"/>
                <a:cs typeface="Calibri" pitchFamily="34" charset="-120"/>
              </a:rPr>
              <a:t>Follow Immaculée, 48, as you work through what screening is, which breast conditions are benign, what to look for, how to examine, and what an abnormal result actually means.</a:t>
            </a:r>
            <a:endParaRPr lang="en-GB" sz="1800" noProof="0" dirty="0"/>
          </a:p>
        </p:txBody>
      </p:sp>
      <p:sp>
        <p:nvSpPr>
          <p:cNvPr id="6" name="Text 4"/>
          <p:cNvSpPr txBox="1"/>
          <p:nvPr/>
        </p:nvSpPr>
        <p:spPr>
          <a:xfrm>
            <a:off x="914400" y="6035040"/>
            <a:ext cx="10058400" cy="274320"/>
          </a:xfrm>
          <a:prstGeom prst="rect">
            <a:avLst/>
          </a:prstGeom>
          <a:noFill/>
          <a:ln/>
        </p:spPr>
        <p:txBody>
          <a:bodyPr wrap="square" lIns="0" tIns="0" rIns="0" bIns="0" rtlCol="0" anchor="ctr"/>
          <a:lstStyle/>
          <a:p>
            <a:pPr marL="0" indent="0">
              <a:buNone/>
            </a:pPr>
            <a:r>
              <a:rPr lang="en-GB" sz="1000" noProof="0" dirty="0">
                <a:solidFill>
                  <a:srgbClr val="7FA6D4"/>
                </a:solidFill>
                <a:latin typeface="Calibri" pitchFamily="34" charset="0"/>
                <a:ea typeface="Calibri" pitchFamily="34" charset="-122"/>
                <a:cs typeface="Calibri" pitchFamily="34" charset="-120"/>
              </a:rPr>
              <a:t>Breast Cancer  |  Frontline HCP  |  Rwanda Biomedical Centre</a:t>
            </a:r>
            <a:endParaRPr lang="en-GB" sz="1000" noProof="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en-GB" sz="1100" b="1" kern="0" spc="100" noProof="0" dirty="0">
                <a:solidFill>
                  <a:srgbClr val="5B7699"/>
                </a:solidFill>
                <a:latin typeface="Calibri" pitchFamily="34" charset="0"/>
                <a:ea typeface="Calibri" pitchFamily="34" charset="-122"/>
                <a:cs typeface="Calibri" pitchFamily="34" charset="-120"/>
              </a:rPr>
              <a:t>S E S S I O N   2</a:t>
            </a:r>
            <a:endParaRPr lang="en-GB"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en-GB" sz="1000" noProof="0" dirty="0">
                <a:solidFill>
                  <a:srgbClr val="5B7699"/>
                </a:solidFill>
                <a:latin typeface="Calibri" pitchFamily="34" charset="0"/>
                <a:ea typeface="Calibri" pitchFamily="34" charset="-122"/>
                <a:cs typeface="Calibri" pitchFamily="34" charset="-120"/>
              </a:rPr>
              <a:t>Breast Cancer  |  Frontline HCP  |  Rwanda Biomedical Centre</a:t>
            </a:r>
            <a:endParaRPr lang="en-GB"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en-GB" sz="3000" b="1" noProof="0" dirty="0">
                <a:solidFill>
                  <a:srgbClr val="12315B"/>
                </a:solidFill>
                <a:latin typeface="Calibri" pitchFamily="34" charset="0"/>
                <a:ea typeface="Calibri" pitchFamily="34" charset="-122"/>
                <a:cs typeface="Calibri" pitchFamily="34" charset="-120"/>
              </a:rPr>
              <a:t>Learning objectives</a:t>
            </a:r>
            <a:endParaRPr lang="en-GB" sz="3000" noProof="0" dirty="0"/>
          </a:p>
        </p:txBody>
      </p:sp>
      <p:sp>
        <p:nvSpPr>
          <p:cNvPr id="5" name="Shape 3"/>
          <p:cNvSpPr/>
          <p:nvPr/>
        </p:nvSpPr>
        <p:spPr>
          <a:xfrm>
            <a:off x="548640" y="1417320"/>
            <a:ext cx="3527450" cy="1960557"/>
          </a:xfrm>
          <a:prstGeom prst="roundRect">
            <a:avLst>
              <a:gd name="adj" fmla="val 2285"/>
            </a:avLst>
          </a:prstGeom>
          <a:solidFill>
            <a:srgbClr val="F4F8FC"/>
          </a:solidFill>
          <a:ln w="12700">
            <a:solidFill>
              <a:srgbClr val="C8D8EC"/>
            </a:solidFill>
            <a:prstDash val="solid"/>
          </a:ln>
        </p:spPr>
        <p:txBody>
          <a:bodyPr/>
          <a:lstStyle/>
          <a:p>
            <a:endParaRPr lang="en-GB" noProof="0" dirty="0"/>
          </a:p>
        </p:txBody>
      </p:sp>
      <p:sp>
        <p:nvSpPr>
          <p:cNvPr id="6" name="Text 4"/>
          <p:cNvSpPr txBox="1"/>
          <p:nvPr/>
        </p:nvSpPr>
        <p:spPr>
          <a:xfrm>
            <a:off x="713232" y="1508760"/>
            <a:ext cx="3198266" cy="292608"/>
          </a:xfrm>
          <a:prstGeom prst="rect">
            <a:avLst/>
          </a:prstGeom>
          <a:noFill/>
          <a:ln/>
        </p:spPr>
        <p:txBody>
          <a:bodyPr wrap="square" lIns="0" tIns="0" rIns="0" bIns="0" rtlCol="0" anchor="t"/>
          <a:lstStyle/>
          <a:p>
            <a:pPr marL="0" indent="0">
              <a:buNone/>
            </a:pPr>
            <a:r>
              <a:rPr lang="en-GB" sz="1700" b="1" noProof="0" dirty="0">
                <a:solidFill>
                  <a:srgbClr val="12315B"/>
                </a:solidFill>
                <a:latin typeface="Calibri" pitchFamily="34" charset="0"/>
                <a:ea typeface="Calibri" pitchFamily="34" charset="-122"/>
                <a:cs typeface="Calibri" pitchFamily="34" charset="-120"/>
              </a:rPr>
              <a:t>Distinguish</a:t>
            </a:r>
            <a:endParaRPr lang="en-GB" sz="1700" noProof="0" dirty="0"/>
          </a:p>
        </p:txBody>
      </p:sp>
      <p:sp>
        <p:nvSpPr>
          <p:cNvPr id="7" name="Text 5"/>
          <p:cNvSpPr txBox="1"/>
          <p:nvPr/>
        </p:nvSpPr>
        <p:spPr>
          <a:xfrm>
            <a:off x="713232" y="1847088"/>
            <a:ext cx="3198266" cy="1916499"/>
          </a:xfrm>
          <a:prstGeom prst="rect">
            <a:avLst/>
          </a:prstGeom>
          <a:noFill/>
          <a:ln/>
        </p:spPr>
        <p:txBody>
          <a:bodyPr wrap="square" lIns="0" tIns="0" rIns="0" bIns="0" rtlCol="0" anchor="t"/>
          <a:lstStyle/>
          <a:p>
            <a:pPr marL="0" indent="0">
              <a:lnSpc>
                <a:spcPct val="90000"/>
              </a:lnSpc>
              <a:buNone/>
            </a:pPr>
            <a:r>
              <a:rPr lang="en-GB" sz="1800" noProof="0" dirty="0">
                <a:solidFill>
                  <a:srgbClr val="1F3A63"/>
                </a:solidFill>
                <a:latin typeface="Calibri" pitchFamily="34" charset="0"/>
                <a:ea typeface="Calibri" pitchFamily="34" charset="-122"/>
                <a:cs typeface="Calibri" pitchFamily="34" charset="-120"/>
              </a:rPr>
              <a:t>Distinguish screening of a person without symptoms from assessment of a person with a breast change.</a:t>
            </a:r>
            <a:endParaRPr lang="en-GB" sz="1800" noProof="0" dirty="0"/>
          </a:p>
        </p:txBody>
      </p:sp>
      <p:sp>
        <p:nvSpPr>
          <p:cNvPr id="8" name="Shape 6"/>
          <p:cNvSpPr/>
          <p:nvPr/>
        </p:nvSpPr>
        <p:spPr>
          <a:xfrm>
            <a:off x="4332122" y="1417320"/>
            <a:ext cx="3527450" cy="1960557"/>
          </a:xfrm>
          <a:prstGeom prst="roundRect">
            <a:avLst>
              <a:gd name="adj" fmla="val 2285"/>
            </a:avLst>
          </a:prstGeom>
          <a:solidFill>
            <a:srgbClr val="F4F8FC"/>
          </a:solidFill>
          <a:ln w="12700">
            <a:solidFill>
              <a:srgbClr val="C8D8EC"/>
            </a:solidFill>
            <a:prstDash val="solid"/>
          </a:ln>
        </p:spPr>
        <p:txBody>
          <a:bodyPr/>
          <a:lstStyle/>
          <a:p>
            <a:endParaRPr lang="en-GB" noProof="0" dirty="0"/>
          </a:p>
        </p:txBody>
      </p:sp>
      <p:sp>
        <p:nvSpPr>
          <p:cNvPr id="9" name="Text 7"/>
          <p:cNvSpPr txBox="1"/>
          <p:nvPr/>
        </p:nvSpPr>
        <p:spPr>
          <a:xfrm>
            <a:off x="4496714" y="1508760"/>
            <a:ext cx="3198266" cy="292608"/>
          </a:xfrm>
          <a:prstGeom prst="rect">
            <a:avLst/>
          </a:prstGeom>
          <a:noFill/>
          <a:ln/>
        </p:spPr>
        <p:txBody>
          <a:bodyPr wrap="square" lIns="0" tIns="0" rIns="0" bIns="0" rtlCol="0" anchor="t"/>
          <a:lstStyle/>
          <a:p>
            <a:pPr marL="0" indent="0">
              <a:buNone/>
            </a:pPr>
            <a:r>
              <a:rPr lang="en-GB" sz="1700" b="1" noProof="0" dirty="0">
                <a:solidFill>
                  <a:srgbClr val="12315B"/>
                </a:solidFill>
                <a:latin typeface="Calibri" pitchFamily="34" charset="0"/>
                <a:ea typeface="Calibri" pitchFamily="34" charset="-122"/>
                <a:cs typeface="Calibri" pitchFamily="34" charset="-120"/>
              </a:rPr>
              <a:t>Differentiate</a:t>
            </a:r>
            <a:endParaRPr lang="en-GB" sz="1700" noProof="0" dirty="0"/>
          </a:p>
        </p:txBody>
      </p:sp>
      <p:sp>
        <p:nvSpPr>
          <p:cNvPr id="10" name="Text 8"/>
          <p:cNvSpPr txBox="1"/>
          <p:nvPr/>
        </p:nvSpPr>
        <p:spPr>
          <a:xfrm>
            <a:off x="4496714" y="1847088"/>
            <a:ext cx="3198266" cy="1916499"/>
          </a:xfrm>
          <a:prstGeom prst="rect">
            <a:avLst/>
          </a:prstGeom>
          <a:noFill/>
          <a:ln/>
        </p:spPr>
        <p:txBody>
          <a:bodyPr wrap="square" lIns="0" tIns="0" rIns="0" bIns="0" rtlCol="0" anchor="t"/>
          <a:lstStyle/>
          <a:p>
            <a:pPr marL="0" indent="0">
              <a:lnSpc>
                <a:spcPct val="90000"/>
              </a:lnSpc>
              <a:buNone/>
            </a:pPr>
            <a:r>
              <a:rPr lang="en-GB" sz="1800" noProof="0" dirty="0">
                <a:solidFill>
                  <a:srgbClr val="1F3A63"/>
                </a:solidFill>
                <a:latin typeface="Calibri" pitchFamily="34" charset="0"/>
                <a:ea typeface="Calibri" pitchFamily="34" charset="-122"/>
                <a:cs typeface="Calibri" pitchFamily="34" charset="-120"/>
              </a:rPr>
              <a:t>Differentiate common benign breast conditions from findings that need urgent assessment.</a:t>
            </a:r>
            <a:endParaRPr lang="en-GB" sz="1800" noProof="0" dirty="0"/>
          </a:p>
        </p:txBody>
      </p:sp>
      <p:sp>
        <p:nvSpPr>
          <p:cNvPr id="11" name="Shape 9"/>
          <p:cNvSpPr/>
          <p:nvPr/>
        </p:nvSpPr>
        <p:spPr>
          <a:xfrm>
            <a:off x="8115605" y="1417320"/>
            <a:ext cx="3527450" cy="1960557"/>
          </a:xfrm>
          <a:prstGeom prst="roundRect">
            <a:avLst>
              <a:gd name="adj" fmla="val 2285"/>
            </a:avLst>
          </a:prstGeom>
          <a:solidFill>
            <a:srgbClr val="F4F8FC"/>
          </a:solidFill>
          <a:ln w="12700">
            <a:solidFill>
              <a:srgbClr val="C8D8EC"/>
            </a:solidFill>
            <a:prstDash val="solid"/>
          </a:ln>
        </p:spPr>
        <p:txBody>
          <a:bodyPr/>
          <a:lstStyle/>
          <a:p>
            <a:endParaRPr lang="en-GB" noProof="0" dirty="0"/>
          </a:p>
        </p:txBody>
      </p:sp>
      <p:sp>
        <p:nvSpPr>
          <p:cNvPr id="12" name="Text 10"/>
          <p:cNvSpPr txBox="1"/>
          <p:nvPr/>
        </p:nvSpPr>
        <p:spPr>
          <a:xfrm>
            <a:off x="8280197" y="1508760"/>
            <a:ext cx="3198266" cy="292608"/>
          </a:xfrm>
          <a:prstGeom prst="rect">
            <a:avLst/>
          </a:prstGeom>
          <a:noFill/>
          <a:ln/>
        </p:spPr>
        <p:txBody>
          <a:bodyPr wrap="square" lIns="0" tIns="0" rIns="0" bIns="0" rtlCol="0" anchor="t"/>
          <a:lstStyle/>
          <a:p>
            <a:pPr marL="0" indent="0">
              <a:buNone/>
            </a:pPr>
            <a:r>
              <a:rPr lang="en-GB" sz="1700" b="1" noProof="0" dirty="0">
                <a:solidFill>
                  <a:srgbClr val="12315B"/>
                </a:solidFill>
                <a:latin typeface="Calibri" pitchFamily="34" charset="0"/>
                <a:ea typeface="Calibri" pitchFamily="34" charset="-122"/>
                <a:cs typeface="Calibri" pitchFamily="34" charset="-120"/>
              </a:rPr>
              <a:t>Identify</a:t>
            </a:r>
            <a:endParaRPr lang="en-GB" sz="1700" noProof="0" dirty="0"/>
          </a:p>
        </p:txBody>
      </p:sp>
      <p:sp>
        <p:nvSpPr>
          <p:cNvPr id="13" name="Text 11"/>
          <p:cNvSpPr txBox="1"/>
          <p:nvPr/>
        </p:nvSpPr>
        <p:spPr>
          <a:xfrm>
            <a:off x="8280197" y="1847088"/>
            <a:ext cx="3198266" cy="1916499"/>
          </a:xfrm>
          <a:prstGeom prst="rect">
            <a:avLst/>
          </a:prstGeom>
          <a:noFill/>
          <a:ln/>
        </p:spPr>
        <p:txBody>
          <a:bodyPr wrap="square" lIns="0" tIns="0" rIns="0" bIns="0" rtlCol="0" anchor="t"/>
          <a:lstStyle/>
          <a:p>
            <a:pPr marL="0" indent="0">
              <a:lnSpc>
                <a:spcPct val="90000"/>
              </a:lnSpc>
              <a:buNone/>
            </a:pPr>
            <a:r>
              <a:rPr lang="en-GB" sz="1800" noProof="0" dirty="0">
                <a:solidFill>
                  <a:srgbClr val="1F3A63"/>
                </a:solidFill>
                <a:latin typeface="Calibri" pitchFamily="34" charset="0"/>
                <a:ea typeface="Calibri" pitchFamily="34" charset="-122"/>
                <a:cs typeface="Calibri" pitchFamily="34" charset="-120"/>
              </a:rPr>
              <a:t>Identify established risk factors and separate average risk from increased risk.</a:t>
            </a:r>
            <a:endParaRPr lang="en-GB" sz="1800" noProof="0" dirty="0"/>
          </a:p>
        </p:txBody>
      </p:sp>
      <p:sp>
        <p:nvSpPr>
          <p:cNvPr id="14" name="Shape 12"/>
          <p:cNvSpPr/>
          <p:nvPr/>
        </p:nvSpPr>
        <p:spPr>
          <a:xfrm>
            <a:off x="548640" y="3834643"/>
            <a:ext cx="3527450" cy="1960557"/>
          </a:xfrm>
          <a:prstGeom prst="roundRect">
            <a:avLst>
              <a:gd name="adj" fmla="val 2798"/>
            </a:avLst>
          </a:prstGeom>
          <a:solidFill>
            <a:srgbClr val="F4F8FC"/>
          </a:solidFill>
          <a:ln w="12700">
            <a:solidFill>
              <a:srgbClr val="C8D8EC"/>
            </a:solidFill>
            <a:prstDash val="solid"/>
          </a:ln>
        </p:spPr>
        <p:txBody>
          <a:bodyPr/>
          <a:lstStyle/>
          <a:p>
            <a:endParaRPr lang="en-GB" noProof="0" dirty="0"/>
          </a:p>
        </p:txBody>
      </p:sp>
      <p:sp>
        <p:nvSpPr>
          <p:cNvPr id="15" name="Text 13"/>
          <p:cNvSpPr txBox="1"/>
          <p:nvPr/>
        </p:nvSpPr>
        <p:spPr>
          <a:xfrm>
            <a:off x="713232" y="3926083"/>
            <a:ext cx="3198266" cy="292608"/>
          </a:xfrm>
          <a:prstGeom prst="rect">
            <a:avLst/>
          </a:prstGeom>
          <a:noFill/>
          <a:ln/>
        </p:spPr>
        <p:txBody>
          <a:bodyPr wrap="square" lIns="0" tIns="0" rIns="0" bIns="0" rtlCol="0" anchor="t"/>
          <a:lstStyle/>
          <a:p>
            <a:pPr marL="0" indent="0">
              <a:buNone/>
            </a:pPr>
            <a:r>
              <a:rPr lang="en-GB" sz="1700" b="1" noProof="0" dirty="0">
                <a:solidFill>
                  <a:srgbClr val="12315B"/>
                </a:solidFill>
                <a:latin typeface="Calibri" pitchFamily="34" charset="0"/>
                <a:ea typeface="Calibri" pitchFamily="34" charset="-122"/>
                <a:cs typeface="Calibri" pitchFamily="34" charset="-120"/>
              </a:rPr>
              <a:t>Recognise</a:t>
            </a:r>
            <a:endParaRPr lang="en-GB" sz="1700" noProof="0" dirty="0"/>
          </a:p>
        </p:txBody>
      </p:sp>
      <p:sp>
        <p:nvSpPr>
          <p:cNvPr id="16" name="Text 14"/>
          <p:cNvSpPr txBox="1"/>
          <p:nvPr/>
        </p:nvSpPr>
        <p:spPr>
          <a:xfrm>
            <a:off x="713232" y="4264411"/>
            <a:ext cx="3198266" cy="1475925"/>
          </a:xfrm>
          <a:prstGeom prst="rect">
            <a:avLst/>
          </a:prstGeom>
          <a:noFill/>
          <a:ln/>
        </p:spPr>
        <p:txBody>
          <a:bodyPr wrap="square" lIns="0" tIns="0" rIns="0" bIns="0" rtlCol="0" anchor="t"/>
          <a:lstStyle/>
          <a:p>
            <a:pPr marL="0" indent="0">
              <a:lnSpc>
                <a:spcPct val="90000"/>
              </a:lnSpc>
              <a:buNone/>
            </a:pPr>
            <a:r>
              <a:rPr lang="en-GB" sz="1800" noProof="0" dirty="0">
                <a:solidFill>
                  <a:srgbClr val="1F3A63"/>
                </a:solidFill>
                <a:latin typeface="Calibri" pitchFamily="34" charset="0"/>
                <a:ea typeface="Calibri" pitchFamily="34" charset="-122"/>
                <a:cs typeface="Calibri" pitchFamily="34" charset="-120"/>
              </a:rPr>
              <a:t>Recognise concerning breast changes and the findings that need action without delay.</a:t>
            </a:r>
            <a:endParaRPr lang="en-GB" sz="1800" noProof="0" dirty="0"/>
          </a:p>
        </p:txBody>
      </p:sp>
      <p:sp>
        <p:nvSpPr>
          <p:cNvPr id="17" name="Shape 15"/>
          <p:cNvSpPr/>
          <p:nvPr/>
        </p:nvSpPr>
        <p:spPr>
          <a:xfrm>
            <a:off x="4332122" y="3834643"/>
            <a:ext cx="3527450" cy="1960557"/>
          </a:xfrm>
          <a:prstGeom prst="roundRect">
            <a:avLst>
              <a:gd name="adj" fmla="val 2798"/>
            </a:avLst>
          </a:prstGeom>
          <a:solidFill>
            <a:srgbClr val="F4F8FC"/>
          </a:solidFill>
          <a:ln w="12700">
            <a:solidFill>
              <a:srgbClr val="C8D8EC"/>
            </a:solidFill>
            <a:prstDash val="solid"/>
          </a:ln>
        </p:spPr>
        <p:txBody>
          <a:bodyPr/>
          <a:lstStyle/>
          <a:p>
            <a:endParaRPr lang="en-GB" noProof="0" dirty="0"/>
          </a:p>
        </p:txBody>
      </p:sp>
      <p:sp>
        <p:nvSpPr>
          <p:cNvPr id="18" name="Text 16"/>
          <p:cNvSpPr txBox="1"/>
          <p:nvPr/>
        </p:nvSpPr>
        <p:spPr>
          <a:xfrm>
            <a:off x="4496714" y="3926083"/>
            <a:ext cx="3198266" cy="292608"/>
          </a:xfrm>
          <a:prstGeom prst="rect">
            <a:avLst/>
          </a:prstGeom>
          <a:noFill/>
          <a:ln/>
        </p:spPr>
        <p:txBody>
          <a:bodyPr wrap="square" lIns="0" tIns="0" rIns="0" bIns="0" rtlCol="0" anchor="t"/>
          <a:lstStyle/>
          <a:p>
            <a:pPr marL="0" indent="0">
              <a:buNone/>
            </a:pPr>
            <a:r>
              <a:rPr lang="en-GB" sz="1700" b="1" noProof="0" dirty="0">
                <a:solidFill>
                  <a:srgbClr val="12315B"/>
                </a:solidFill>
                <a:latin typeface="Calibri" pitchFamily="34" charset="0"/>
                <a:ea typeface="Calibri" pitchFamily="34" charset="-122"/>
                <a:cs typeface="Calibri" pitchFamily="34" charset="-120"/>
              </a:rPr>
              <a:t>Assess</a:t>
            </a:r>
            <a:endParaRPr lang="en-GB" sz="1700" noProof="0" dirty="0"/>
          </a:p>
        </p:txBody>
      </p:sp>
      <p:sp>
        <p:nvSpPr>
          <p:cNvPr id="19" name="Text 17"/>
          <p:cNvSpPr txBox="1"/>
          <p:nvPr/>
        </p:nvSpPr>
        <p:spPr>
          <a:xfrm>
            <a:off x="4496714" y="4264411"/>
            <a:ext cx="3198266" cy="1475925"/>
          </a:xfrm>
          <a:prstGeom prst="rect">
            <a:avLst/>
          </a:prstGeom>
          <a:noFill/>
          <a:ln/>
        </p:spPr>
        <p:txBody>
          <a:bodyPr wrap="square" lIns="0" tIns="0" rIns="0" bIns="0" rtlCol="0" anchor="t"/>
          <a:lstStyle/>
          <a:p>
            <a:pPr marL="0" indent="0">
              <a:lnSpc>
                <a:spcPct val="90000"/>
              </a:lnSpc>
              <a:buNone/>
            </a:pPr>
            <a:r>
              <a:rPr lang="en-GB" sz="1800" noProof="0" dirty="0">
                <a:solidFill>
                  <a:srgbClr val="1F3A63"/>
                </a:solidFill>
                <a:latin typeface="Calibri" pitchFamily="34" charset="0"/>
                <a:ea typeface="Calibri" pitchFamily="34" charset="-122"/>
                <a:cs typeface="Calibri" pitchFamily="34" charset="-120"/>
              </a:rPr>
              <a:t>Perform a systematic breast and axillary examination and teach breast self-examination.</a:t>
            </a:r>
            <a:endParaRPr lang="en-GB" sz="1800" noProof="0" dirty="0"/>
          </a:p>
        </p:txBody>
      </p:sp>
      <p:sp>
        <p:nvSpPr>
          <p:cNvPr id="20" name="Shape 18"/>
          <p:cNvSpPr/>
          <p:nvPr/>
        </p:nvSpPr>
        <p:spPr>
          <a:xfrm>
            <a:off x="8115605" y="3834643"/>
            <a:ext cx="3527450" cy="1960557"/>
          </a:xfrm>
          <a:prstGeom prst="roundRect">
            <a:avLst>
              <a:gd name="adj" fmla="val 2798"/>
            </a:avLst>
          </a:prstGeom>
          <a:solidFill>
            <a:srgbClr val="F4F8FC"/>
          </a:solidFill>
          <a:ln w="12700">
            <a:solidFill>
              <a:srgbClr val="C8D8EC"/>
            </a:solidFill>
            <a:prstDash val="solid"/>
          </a:ln>
        </p:spPr>
        <p:txBody>
          <a:bodyPr/>
          <a:lstStyle/>
          <a:p>
            <a:endParaRPr lang="en-GB" noProof="0" dirty="0"/>
          </a:p>
        </p:txBody>
      </p:sp>
      <p:sp>
        <p:nvSpPr>
          <p:cNvPr id="21" name="Text 19"/>
          <p:cNvSpPr txBox="1"/>
          <p:nvPr/>
        </p:nvSpPr>
        <p:spPr>
          <a:xfrm>
            <a:off x="8280197" y="3926083"/>
            <a:ext cx="3198266" cy="292608"/>
          </a:xfrm>
          <a:prstGeom prst="rect">
            <a:avLst/>
          </a:prstGeom>
          <a:noFill/>
          <a:ln/>
        </p:spPr>
        <p:txBody>
          <a:bodyPr wrap="square" lIns="0" tIns="0" rIns="0" bIns="0" rtlCol="0" anchor="t"/>
          <a:lstStyle/>
          <a:p>
            <a:pPr marL="0" indent="0">
              <a:buNone/>
            </a:pPr>
            <a:r>
              <a:rPr lang="en-GB" sz="1700" b="1" noProof="0" dirty="0">
                <a:solidFill>
                  <a:srgbClr val="12315B"/>
                </a:solidFill>
                <a:latin typeface="Calibri" pitchFamily="34" charset="0"/>
                <a:ea typeface="Calibri" pitchFamily="34" charset="-122"/>
                <a:cs typeface="Calibri" pitchFamily="34" charset="-120"/>
              </a:rPr>
              <a:t>Interpret</a:t>
            </a:r>
            <a:endParaRPr lang="en-GB" sz="1700" noProof="0" dirty="0"/>
          </a:p>
        </p:txBody>
      </p:sp>
      <p:sp>
        <p:nvSpPr>
          <p:cNvPr id="22" name="Text 20"/>
          <p:cNvSpPr txBox="1"/>
          <p:nvPr/>
        </p:nvSpPr>
        <p:spPr>
          <a:xfrm>
            <a:off x="8280197" y="4264411"/>
            <a:ext cx="3198266" cy="1475925"/>
          </a:xfrm>
          <a:prstGeom prst="rect">
            <a:avLst/>
          </a:prstGeom>
          <a:noFill/>
          <a:ln/>
        </p:spPr>
        <p:txBody>
          <a:bodyPr wrap="square" lIns="0" tIns="0" rIns="0" bIns="0" rtlCol="0" anchor="t"/>
          <a:lstStyle/>
          <a:p>
            <a:pPr marL="0" indent="0">
              <a:lnSpc>
                <a:spcPct val="90000"/>
              </a:lnSpc>
              <a:buNone/>
            </a:pPr>
            <a:r>
              <a:rPr lang="en-GB" sz="1800" noProof="0" dirty="0">
                <a:solidFill>
                  <a:srgbClr val="1F3A63"/>
                </a:solidFill>
                <a:latin typeface="Calibri" pitchFamily="34" charset="0"/>
                <a:ea typeface="Calibri" pitchFamily="34" charset="-122"/>
                <a:cs typeface="Calibri" pitchFamily="34" charset="-120"/>
              </a:rPr>
              <a:t>Interpret an abnormal imaging or examination finding and state the correct next step.</a:t>
            </a:r>
            <a:endParaRPr lang="en-GB" sz="1800" noProof="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4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en-GB" sz="1100" b="1" kern="0" spc="100" noProof="0" dirty="0">
                <a:solidFill>
                  <a:srgbClr val="5B7699"/>
                </a:solidFill>
                <a:latin typeface="Calibri" pitchFamily="34" charset="0"/>
                <a:ea typeface="Calibri" pitchFamily="34" charset="-122"/>
                <a:cs typeface="Calibri" pitchFamily="34" charset="-120"/>
              </a:rPr>
              <a:t>S E S S I O N   2</a:t>
            </a:r>
            <a:endParaRPr lang="en-GB"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en-GB" sz="1000" noProof="0" dirty="0">
                <a:solidFill>
                  <a:srgbClr val="5B7699"/>
                </a:solidFill>
                <a:latin typeface="Calibri" pitchFamily="34" charset="0"/>
                <a:ea typeface="Calibri" pitchFamily="34" charset="-122"/>
                <a:cs typeface="Calibri" pitchFamily="34" charset="-120"/>
              </a:rPr>
              <a:t>Breast Cancer  |  Frontline HCP  |  Rwanda Biomedical Centre</a:t>
            </a:r>
            <a:endParaRPr lang="en-GB"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en-GB" sz="3000" b="1" noProof="0" dirty="0">
                <a:solidFill>
                  <a:srgbClr val="12315B"/>
                </a:solidFill>
                <a:latin typeface="Calibri" pitchFamily="34" charset="0"/>
                <a:ea typeface="Calibri" pitchFamily="34" charset="-122"/>
                <a:cs typeface="Calibri" pitchFamily="34" charset="-120"/>
              </a:rPr>
              <a:t>Meet Immaculée</a:t>
            </a:r>
            <a:endParaRPr lang="en-GB" sz="3000" noProof="0" dirty="0"/>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en-GB" sz="1100" b="1" kern="0" spc="100" noProof="0" dirty="0">
                <a:solidFill>
                  <a:srgbClr val="5B7699"/>
                </a:solidFill>
                <a:latin typeface="Calibri" pitchFamily="34" charset="0"/>
                <a:ea typeface="Calibri" pitchFamily="34" charset="-122"/>
                <a:cs typeface="Calibri" pitchFamily="34" charset="-120"/>
              </a:rPr>
              <a:t>S E S S I O N   2</a:t>
            </a:r>
            <a:endParaRPr lang="en-GB"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en-GB" sz="1000" noProof="0" dirty="0">
                <a:solidFill>
                  <a:srgbClr val="5B7699"/>
                </a:solidFill>
                <a:latin typeface="Calibri" pitchFamily="34" charset="0"/>
                <a:ea typeface="Calibri" pitchFamily="34" charset="-122"/>
                <a:cs typeface="Calibri" pitchFamily="34" charset="-120"/>
              </a:rPr>
              <a:t>Breast Cancer  |  Frontline HCP  |  Rwanda Biomedical Centre</a:t>
            </a:r>
            <a:endParaRPr lang="en-GB"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en-GB" sz="3000" b="1" noProof="0" dirty="0">
                <a:solidFill>
                  <a:srgbClr val="12315B"/>
                </a:solidFill>
                <a:latin typeface="Calibri" pitchFamily="34" charset="0"/>
                <a:ea typeface="Calibri" pitchFamily="34" charset="-122"/>
                <a:cs typeface="Calibri" pitchFamily="34" charset="-120"/>
              </a:rPr>
              <a:t>What screening is</a:t>
            </a:r>
            <a:endParaRPr lang="en-GB" sz="3000" noProof="0" dirty="0"/>
          </a:p>
        </p:txBody>
      </p:sp>
      <p:sp>
        <p:nvSpPr>
          <p:cNvPr id="23" name="Shape 21"/>
          <p:cNvSpPr/>
          <p:nvPr/>
        </p:nvSpPr>
        <p:spPr>
          <a:xfrm>
            <a:off x="548640" y="5760720"/>
            <a:ext cx="11094415" cy="548640"/>
          </a:xfrm>
          <a:prstGeom prst="roundRect">
            <a:avLst>
              <a:gd name="adj" fmla="val 8333"/>
            </a:avLst>
          </a:prstGeom>
          <a:solidFill>
            <a:srgbClr val="FDF1E0"/>
          </a:solidFill>
          <a:ln w="12700">
            <a:solidFill>
              <a:srgbClr val="EFD3AA"/>
            </a:solidFill>
            <a:prstDash val="solid"/>
          </a:ln>
        </p:spPr>
        <p:txBody>
          <a:bodyPr/>
          <a:lstStyle/>
          <a:p>
            <a:endParaRPr lang="en-GB" noProof="0" dirty="0"/>
          </a:p>
        </p:txBody>
      </p:sp>
      <p:sp>
        <p:nvSpPr>
          <p:cNvPr id="24" name="Text 22"/>
          <p:cNvSpPr txBox="1"/>
          <p:nvPr/>
        </p:nvSpPr>
        <p:spPr>
          <a:xfrm>
            <a:off x="713232" y="5833872"/>
            <a:ext cx="10765231" cy="402336"/>
          </a:xfrm>
          <a:prstGeom prst="rect">
            <a:avLst/>
          </a:prstGeom>
          <a:noFill/>
          <a:ln/>
        </p:spPr>
        <p:txBody>
          <a:bodyPr wrap="square" lIns="0" tIns="0" rIns="0" bIns="0" rtlCol="0" anchor="ctr"/>
          <a:lstStyle/>
          <a:p>
            <a:pPr marL="0" indent="0">
              <a:lnSpc>
                <a:spcPct val="95000"/>
              </a:lnSpc>
              <a:buNone/>
            </a:pPr>
            <a:r>
              <a:rPr lang="en-GB" sz="1300" noProof="0" dirty="0">
                <a:solidFill>
                  <a:srgbClr val="0B1F3F"/>
                </a:solidFill>
                <a:latin typeface="Calibri" pitchFamily="34" charset="0"/>
                <a:ea typeface="Calibri" pitchFamily="34" charset="-122"/>
                <a:cs typeface="Calibri" pitchFamily="34" charset="-120"/>
              </a:rPr>
              <a:t>Never describe the investigation of a symptomatic breast lump as screening. It misrepresents the reason for the test to the patient, and it risks placing a person who needs assessment into a routine queue.</a:t>
            </a:r>
            <a:endParaRPr lang="en-GB" sz="1300" noProof="0" dirty="0"/>
          </a:p>
        </p:txBody>
      </p:sp>
      <p:grpSp>
        <p:nvGrpSpPr>
          <p:cNvPr id="14" name="Grupo 13">
            <a:extLst>
              <a:ext uri="{FF2B5EF4-FFF2-40B4-BE49-F238E27FC236}">
                <a16:creationId xmlns:a16="http://schemas.microsoft.com/office/drawing/2014/main" id="{0977FC23-E9F2-8C8F-DDB5-AF4D1CA74578}"/>
              </a:ext>
            </a:extLst>
          </p:cNvPr>
          <p:cNvGrpSpPr/>
          <p:nvPr/>
        </p:nvGrpSpPr>
        <p:grpSpPr>
          <a:xfrm>
            <a:off x="548640" y="1176730"/>
            <a:ext cx="3527450" cy="4157068"/>
            <a:chOff x="548640" y="1176730"/>
            <a:chExt cx="3527450" cy="4157068"/>
          </a:xfrm>
        </p:grpSpPr>
        <p:sp>
          <p:nvSpPr>
            <p:cNvPr id="5" name="Shape 3"/>
            <p:cNvSpPr/>
            <p:nvPr/>
          </p:nvSpPr>
          <p:spPr>
            <a:xfrm>
              <a:off x="548640" y="1176730"/>
              <a:ext cx="3527450" cy="4157068"/>
            </a:xfrm>
            <a:prstGeom prst="roundRect">
              <a:avLst>
                <a:gd name="adj" fmla="val 2727"/>
              </a:avLst>
            </a:prstGeom>
            <a:solidFill>
              <a:srgbClr val="F4F8FC"/>
            </a:solidFill>
            <a:ln w="12700">
              <a:solidFill>
                <a:srgbClr val="C8D8EC"/>
              </a:solidFill>
              <a:prstDash val="solid"/>
            </a:ln>
          </p:spPr>
          <p:txBody>
            <a:bodyPr/>
            <a:lstStyle/>
            <a:p>
              <a:endParaRPr lang="en-GB" noProof="0" dirty="0"/>
            </a:p>
          </p:txBody>
        </p:sp>
        <p:sp>
          <p:nvSpPr>
            <p:cNvPr id="6" name="Text 4"/>
            <p:cNvSpPr txBox="1"/>
            <p:nvPr/>
          </p:nvSpPr>
          <p:spPr>
            <a:xfrm>
              <a:off x="713232" y="1268170"/>
              <a:ext cx="3198266" cy="292608"/>
            </a:xfrm>
            <a:prstGeom prst="rect">
              <a:avLst/>
            </a:prstGeom>
            <a:noFill/>
            <a:ln/>
          </p:spPr>
          <p:txBody>
            <a:bodyPr wrap="square" lIns="0" tIns="0" rIns="0" bIns="0" rtlCol="0" anchor="t"/>
            <a:lstStyle/>
            <a:p>
              <a:pPr marL="0" indent="0">
                <a:buNone/>
              </a:pPr>
              <a:r>
                <a:rPr lang="en-GB" sz="2000" b="1" noProof="0" dirty="0">
                  <a:solidFill>
                    <a:srgbClr val="12315B"/>
                  </a:solidFill>
                  <a:latin typeface="Calibri" pitchFamily="34" charset="0"/>
                  <a:ea typeface="Calibri" pitchFamily="34" charset="-122"/>
                  <a:cs typeface="Calibri" pitchFamily="34" charset="-120"/>
                </a:rPr>
                <a:t>Screening</a:t>
              </a:r>
              <a:endParaRPr lang="en-GB" sz="2000" noProof="0" dirty="0"/>
            </a:p>
          </p:txBody>
        </p:sp>
        <p:sp>
          <p:nvSpPr>
            <p:cNvPr id="7" name="Text 5"/>
            <p:cNvSpPr txBox="1"/>
            <p:nvPr/>
          </p:nvSpPr>
          <p:spPr>
            <a:xfrm>
              <a:off x="713232" y="1764156"/>
              <a:ext cx="3198266" cy="1527048"/>
            </a:xfrm>
            <a:prstGeom prst="rect">
              <a:avLst/>
            </a:prstGeom>
            <a:noFill/>
            <a:ln/>
          </p:spPr>
          <p:txBody>
            <a:bodyPr wrap="square" lIns="0" tIns="0" rIns="0" bIns="0" rtlCol="0" anchor="t"/>
            <a:lstStyle/>
            <a:p>
              <a:pPr marL="0" indent="0">
                <a:lnSpc>
                  <a:spcPct val="90000"/>
                </a:lnSpc>
                <a:buNone/>
              </a:pPr>
              <a:r>
                <a:rPr lang="en-GB" noProof="0" dirty="0">
                  <a:solidFill>
                    <a:srgbClr val="1F3A63"/>
                  </a:solidFill>
                  <a:latin typeface="Calibri" pitchFamily="34" charset="0"/>
                  <a:ea typeface="Calibri" pitchFamily="34" charset="-122"/>
                  <a:cs typeface="Calibri" pitchFamily="34" charset="-120"/>
                </a:rPr>
                <a:t>Assessing people who have no breast symptoms, in order to find breast cancer earlier than it would otherwise be found.</a:t>
              </a:r>
              <a:endParaRPr lang="en-GB" noProof="0" dirty="0"/>
            </a:p>
          </p:txBody>
        </p:sp>
        <p:pic>
          <p:nvPicPr>
            <p:cNvPr id="26" name="Imagen 25">
              <a:extLst>
                <a:ext uri="{FF2B5EF4-FFF2-40B4-BE49-F238E27FC236}">
                  <a16:creationId xmlns:a16="http://schemas.microsoft.com/office/drawing/2014/main" id="{90514808-73DA-B154-72CE-DA3DE51A8F10}"/>
                </a:ext>
              </a:extLst>
            </p:cNvPr>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a:xfrm>
              <a:off x="1232062" y="3349698"/>
              <a:ext cx="2160604" cy="1450902"/>
            </a:xfrm>
            <a:prstGeom prst="rect">
              <a:avLst/>
            </a:prstGeom>
          </p:spPr>
        </p:pic>
      </p:grpSp>
      <p:grpSp>
        <p:nvGrpSpPr>
          <p:cNvPr id="16" name="Grupo 15">
            <a:extLst>
              <a:ext uri="{FF2B5EF4-FFF2-40B4-BE49-F238E27FC236}">
                <a16:creationId xmlns:a16="http://schemas.microsoft.com/office/drawing/2014/main" id="{87545748-7AE7-614D-8781-7182F4628B6F}"/>
              </a:ext>
            </a:extLst>
          </p:cNvPr>
          <p:cNvGrpSpPr/>
          <p:nvPr/>
        </p:nvGrpSpPr>
        <p:grpSpPr>
          <a:xfrm>
            <a:off x="8115605" y="1176730"/>
            <a:ext cx="3527450" cy="4157068"/>
            <a:chOff x="8115605" y="1176730"/>
            <a:chExt cx="3527450" cy="4157068"/>
          </a:xfrm>
        </p:grpSpPr>
        <p:sp>
          <p:nvSpPr>
            <p:cNvPr id="11" name="Shape 9"/>
            <p:cNvSpPr/>
            <p:nvPr/>
          </p:nvSpPr>
          <p:spPr>
            <a:xfrm>
              <a:off x="8115605" y="1176730"/>
              <a:ext cx="3527450" cy="4157068"/>
            </a:xfrm>
            <a:prstGeom prst="roundRect">
              <a:avLst>
                <a:gd name="adj" fmla="val 2727"/>
              </a:avLst>
            </a:prstGeom>
            <a:solidFill>
              <a:srgbClr val="F4F8FC"/>
            </a:solidFill>
            <a:ln w="12700">
              <a:solidFill>
                <a:srgbClr val="C8D8EC"/>
              </a:solidFill>
              <a:prstDash val="solid"/>
            </a:ln>
          </p:spPr>
          <p:txBody>
            <a:bodyPr/>
            <a:lstStyle/>
            <a:p>
              <a:endParaRPr lang="en-GB" noProof="0" dirty="0"/>
            </a:p>
          </p:txBody>
        </p:sp>
        <p:sp>
          <p:nvSpPr>
            <p:cNvPr id="12" name="Text 10"/>
            <p:cNvSpPr txBox="1"/>
            <p:nvPr/>
          </p:nvSpPr>
          <p:spPr>
            <a:xfrm>
              <a:off x="8280197" y="1268170"/>
              <a:ext cx="3198266" cy="292608"/>
            </a:xfrm>
            <a:prstGeom prst="rect">
              <a:avLst/>
            </a:prstGeom>
            <a:noFill/>
            <a:ln/>
          </p:spPr>
          <p:txBody>
            <a:bodyPr wrap="square" lIns="0" tIns="0" rIns="0" bIns="0" rtlCol="0" anchor="t"/>
            <a:lstStyle/>
            <a:p>
              <a:pPr marL="0" indent="0">
                <a:buNone/>
              </a:pPr>
              <a:r>
                <a:rPr lang="en-GB" sz="2000" b="1" noProof="0" dirty="0">
                  <a:solidFill>
                    <a:srgbClr val="12315B"/>
                  </a:solidFill>
                  <a:latin typeface="Calibri" pitchFamily="34" charset="0"/>
                  <a:ea typeface="Calibri" pitchFamily="34" charset="-122"/>
                  <a:cs typeface="Calibri" pitchFamily="34" charset="-120"/>
                </a:rPr>
                <a:t>Surveillance</a:t>
              </a:r>
              <a:endParaRPr lang="en-GB" sz="2000" noProof="0" dirty="0"/>
            </a:p>
          </p:txBody>
        </p:sp>
        <p:sp>
          <p:nvSpPr>
            <p:cNvPr id="13" name="Text 11"/>
            <p:cNvSpPr txBox="1"/>
            <p:nvPr/>
          </p:nvSpPr>
          <p:spPr>
            <a:xfrm>
              <a:off x="8280197" y="1764156"/>
              <a:ext cx="3198266" cy="1527048"/>
            </a:xfrm>
            <a:prstGeom prst="rect">
              <a:avLst/>
            </a:prstGeom>
            <a:noFill/>
            <a:ln/>
          </p:spPr>
          <p:txBody>
            <a:bodyPr wrap="square" lIns="0" tIns="0" rIns="0" bIns="0" rtlCol="0" anchor="t"/>
            <a:lstStyle/>
            <a:p>
              <a:pPr marL="0" indent="0">
                <a:lnSpc>
                  <a:spcPct val="90000"/>
                </a:lnSpc>
                <a:buNone/>
              </a:pPr>
              <a:r>
                <a:rPr lang="en-GB" noProof="0" dirty="0">
                  <a:solidFill>
                    <a:srgbClr val="1F3A63"/>
                  </a:solidFill>
                  <a:latin typeface="Calibri" pitchFamily="34" charset="0"/>
                  <a:ea typeface="Calibri" pitchFamily="34" charset="-122"/>
                  <a:cs typeface="Calibri" pitchFamily="34" charset="-120"/>
                </a:rPr>
                <a:t>Planned repeat assessment of someone already known to be at higher risk, for example after previous breast cancer or a high-risk lesion.</a:t>
              </a:r>
              <a:endParaRPr lang="en-GB" noProof="0" dirty="0"/>
            </a:p>
          </p:txBody>
        </p:sp>
        <p:pic>
          <p:nvPicPr>
            <p:cNvPr id="27" name="Imagen 26">
              <a:extLst>
                <a:ext uri="{FF2B5EF4-FFF2-40B4-BE49-F238E27FC236}">
                  <a16:creationId xmlns:a16="http://schemas.microsoft.com/office/drawing/2014/main" id="{3E72C8D1-FC47-3389-1D25-ED94F1C049FD}"/>
                </a:ext>
              </a:extLst>
            </p:cNvPr>
            <p:cNvPicPr>
              <a:picLocks noChangeAspect="1"/>
            </p:cNvPicPr>
            <p:nvPr/>
          </p:nvPicPr>
          <p:blipFill>
            <a:blip r:embed="rId4" cstate="email">
              <a:extLst>
                <a:ext uri="{28A0092B-C50C-407E-A947-70E740481C1C}">
                  <a14:useLocalDpi xmlns:a14="http://schemas.microsoft.com/office/drawing/2010/main"/>
                </a:ext>
              </a:extLst>
            </a:blip>
            <a:srcRect/>
            <a:stretch>
              <a:fillRect/>
            </a:stretch>
          </p:blipFill>
          <p:spPr>
            <a:xfrm>
              <a:off x="8829007" y="3349698"/>
              <a:ext cx="2122445" cy="1450902"/>
            </a:xfrm>
            <a:prstGeom prst="rect">
              <a:avLst/>
            </a:prstGeom>
          </p:spPr>
        </p:pic>
      </p:grpSp>
      <p:grpSp>
        <p:nvGrpSpPr>
          <p:cNvPr id="15" name="Grupo 14">
            <a:extLst>
              <a:ext uri="{FF2B5EF4-FFF2-40B4-BE49-F238E27FC236}">
                <a16:creationId xmlns:a16="http://schemas.microsoft.com/office/drawing/2014/main" id="{66A043EE-E80A-3749-745D-E7D9EDD7504D}"/>
              </a:ext>
            </a:extLst>
          </p:cNvPr>
          <p:cNvGrpSpPr/>
          <p:nvPr/>
        </p:nvGrpSpPr>
        <p:grpSpPr>
          <a:xfrm>
            <a:off x="4332122" y="1176730"/>
            <a:ext cx="3527450" cy="4157068"/>
            <a:chOff x="4332122" y="1176730"/>
            <a:chExt cx="3527450" cy="4157068"/>
          </a:xfrm>
        </p:grpSpPr>
        <p:sp>
          <p:nvSpPr>
            <p:cNvPr id="8" name="Shape 6"/>
            <p:cNvSpPr/>
            <p:nvPr/>
          </p:nvSpPr>
          <p:spPr>
            <a:xfrm>
              <a:off x="4332122" y="1176730"/>
              <a:ext cx="3527450" cy="4157068"/>
            </a:xfrm>
            <a:prstGeom prst="roundRect">
              <a:avLst>
                <a:gd name="adj" fmla="val 2727"/>
              </a:avLst>
            </a:prstGeom>
            <a:solidFill>
              <a:srgbClr val="F4F8FC"/>
            </a:solidFill>
            <a:ln w="12700">
              <a:solidFill>
                <a:srgbClr val="C8D8EC"/>
              </a:solidFill>
              <a:prstDash val="solid"/>
            </a:ln>
          </p:spPr>
          <p:txBody>
            <a:bodyPr/>
            <a:lstStyle/>
            <a:p>
              <a:endParaRPr lang="en-GB" noProof="0" dirty="0"/>
            </a:p>
          </p:txBody>
        </p:sp>
        <p:sp>
          <p:nvSpPr>
            <p:cNvPr id="9" name="Text 7"/>
            <p:cNvSpPr txBox="1"/>
            <p:nvPr/>
          </p:nvSpPr>
          <p:spPr>
            <a:xfrm>
              <a:off x="4496714" y="1268170"/>
              <a:ext cx="3198266" cy="292608"/>
            </a:xfrm>
            <a:prstGeom prst="rect">
              <a:avLst/>
            </a:prstGeom>
            <a:noFill/>
            <a:ln/>
          </p:spPr>
          <p:txBody>
            <a:bodyPr wrap="square" lIns="0" tIns="0" rIns="0" bIns="0" rtlCol="0" anchor="t"/>
            <a:lstStyle/>
            <a:p>
              <a:pPr marL="0" indent="0">
                <a:buNone/>
              </a:pPr>
              <a:r>
                <a:rPr lang="en-GB" sz="2000" b="1" noProof="0" dirty="0">
                  <a:solidFill>
                    <a:srgbClr val="12315B"/>
                  </a:solidFill>
                  <a:latin typeface="Calibri" pitchFamily="34" charset="0"/>
                  <a:ea typeface="Calibri" pitchFamily="34" charset="-122"/>
                  <a:cs typeface="Calibri" pitchFamily="34" charset="-120"/>
                </a:rPr>
                <a:t>Diagnostic assessment</a:t>
              </a:r>
              <a:endParaRPr lang="en-GB" sz="2000" noProof="0" dirty="0"/>
            </a:p>
          </p:txBody>
        </p:sp>
        <p:sp>
          <p:nvSpPr>
            <p:cNvPr id="10" name="Text 8"/>
            <p:cNvSpPr txBox="1"/>
            <p:nvPr/>
          </p:nvSpPr>
          <p:spPr>
            <a:xfrm>
              <a:off x="4496714" y="1764156"/>
              <a:ext cx="3198266" cy="1527048"/>
            </a:xfrm>
            <a:prstGeom prst="rect">
              <a:avLst/>
            </a:prstGeom>
            <a:noFill/>
            <a:ln/>
          </p:spPr>
          <p:txBody>
            <a:bodyPr wrap="square" lIns="0" tIns="0" rIns="0" bIns="0" rtlCol="0" anchor="t"/>
            <a:lstStyle/>
            <a:p>
              <a:pPr marL="0" indent="0">
                <a:lnSpc>
                  <a:spcPct val="90000"/>
                </a:lnSpc>
                <a:buNone/>
              </a:pPr>
              <a:r>
                <a:rPr lang="en-GB" noProof="0" dirty="0">
                  <a:solidFill>
                    <a:srgbClr val="1F3A63"/>
                  </a:solidFill>
                  <a:latin typeface="Calibri" pitchFamily="34" charset="0"/>
                  <a:ea typeface="Calibri" pitchFamily="34" charset="-122"/>
                  <a:cs typeface="Calibri" pitchFamily="34" charset="-120"/>
                </a:rPr>
                <a:t>Investigating a person who has a breast change, a suspicious examination, or an abnormal screening result. This is not screening.</a:t>
              </a:r>
              <a:endParaRPr lang="en-GB" noProof="0" dirty="0"/>
            </a:p>
          </p:txBody>
        </p:sp>
        <p:pic>
          <p:nvPicPr>
            <p:cNvPr id="28" name="Imagen 27">
              <a:extLst>
                <a:ext uri="{FF2B5EF4-FFF2-40B4-BE49-F238E27FC236}">
                  <a16:creationId xmlns:a16="http://schemas.microsoft.com/office/drawing/2014/main" id="{0F0509CA-D695-D08D-B5DD-5BCE5D1F3206}"/>
                </a:ext>
              </a:extLst>
            </p:cNvPr>
            <p:cNvPicPr>
              <a:picLocks noChangeAspect="1"/>
            </p:cNvPicPr>
            <p:nvPr/>
          </p:nvPicPr>
          <p:blipFill>
            <a:blip r:embed="rId5" cstate="email">
              <a:extLst>
                <a:ext uri="{28A0092B-C50C-407E-A947-70E740481C1C}">
                  <a14:useLocalDpi xmlns:a14="http://schemas.microsoft.com/office/drawing/2010/main"/>
                </a:ext>
              </a:extLst>
            </a:blip>
            <a:srcRect/>
            <a:stretch>
              <a:fillRect/>
            </a:stretch>
          </p:blipFill>
          <p:spPr>
            <a:xfrm>
              <a:off x="5015545" y="3329320"/>
              <a:ext cx="2160604" cy="1450902"/>
            </a:xfrm>
            <a:prstGeom prst="rect">
              <a:avLst/>
            </a:prstGeom>
          </p:spPr>
        </p:pic>
      </p:gr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455BA659-DDE7-3C0B-4166-88F490B32F7E}"/>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0AAF767-3363-721E-7E0C-6D687CB980D3}"/>
              </a:ext>
            </a:extLst>
          </p:cNvPr>
          <p:cNvSpPr txBox="1"/>
          <p:nvPr/>
        </p:nvSpPr>
        <p:spPr>
          <a:xfrm>
            <a:off x="548640" y="274320"/>
            <a:ext cx="11094415" cy="256032"/>
          </a:xfrm>
          <a:prstGeom prst="rect">
            <a:avLst/>
          </a:prstGeom>
          <a:noFill/>
          <a:ln/>
        </p:spPr>
        <p:txBody>
          <a:bodyPr wrap="square" lIns="0" tIns="0" rIns="0" bIns="0" rtlCol="0" anchor="ctr"/>
          <a:lstStyle/>
          <a:p>
            <a:pPr marL="0" indent="0">
              <a:buNone/>
            </a:pPr>
            <a:r>
              <a:rPr lang="en-GB" sz="1100" b="1" kern="0" spc="100" noProof="0" dirty="0">
                <a:solidFill>
                  <a:srgbClr val="5B7699"/>
                </a:solidFill>
                <a:latin typeface="Calibri" pitchFamily="34" charset="0"/>
                <a:ea typeface="Calibri" pitchFamily="34" charset="-122"/>
                <a:cs typeface="Calibri" pitchFamily="34" charset="-120"/>
              </a:rPr>
              <a:t>S E S S I O N   2</a:t>
            </a:r>
            <a:endParaRPr lang="en-GB" sz="1100" noProof="0" dirty="0"/>
          </a:p>
        </p:txBody>
      </p:sp>
      <p:sp>
        <p:nvSpPr>
          <p:cNvPr id="3" name="Text 1">
            <a:extLst>
              <a:ext uri="{FF2B5EF4-FFF2-40B4-BE49-F238E27FC236}">
                <a16:creationId xmlns:a16="http://schemas.microsoft.com/office/drawing/2014/main" id="{6FACCB67-D842-8E59-F3B3-E33FF3D37FB0}"/>
              </a:ext>
            </a:extLst>
          </p:cNvPr>
          <p:cNvSpPr txBox="1"/>
          <p:nvPr/>
        </p:nvSpPr>
        <p:spPr>
          <a:xfrm>
            <a:off x="548640" y="6382512"/>
            <a:ext cx="11094415" cy="274320"/>
          </a:xfrm>
          <a:prstGeom prst="rect">
            <a:avLst/>
          </a:prstGeom>
          <a:noFill/>
          <a:ln/>
        </p:spPr>
        <p:txBody>
          <a:bodyPr wrap="square" lIns="0" tIns="0" rIns="0" bIns="0" rtlCol="0" anchor="ctr"/>
          <a:lstStyle/>
          <a:p>
            <a:pPr marL="0" indent="0">
              <a:buNone/>
            </a:pPr>
            <a:r>
              <a:rPr lang="en-GB" sz="1000" noProof="0" dirty="0">
                <a:solidFill>
                  <a:srgbClr val="5B7699"/>
                </a:solidFill>
                <a:latin typeface="Calibri" pitchFamily="34" charset="0"/>
                <a:ea typeface="Calibri" pitchFamily="34" charset="-122"/>
                <a:cs typeface="Calibri" pitchFamily="34" charset="-120"/>
              </a:rPr>
              <a:t>Breast Cancer  |  Frontline HCP  |  Rwanda Biomedical Centre</a:t>
            </a:r>
            <a:endParaRPr lang="en-GB" sz="1000" noProof="0" dirty="0"/>
          </a:p>
        </p:txBody>
      </p:sp>
      <p:sp>
        <p:nvSpPr>
          <p:cNvPr id="4" name="Text 2">
            <a:extLst>
              <a:ext uri="{FF2B5EF4-FFF2-40B4-BE49-F238E27FC236}">
                <a16:creationId xmlns:a16="http://schemas.microsoft.com/office/drawing/2014/main" id="{430F4562-9879-56BE-3E90-EF219AC7C4A7}"/>
              </a:ext>
            </a:extLst>
          </p:cNvPr>
          <p:cNvSpPr txBox="1"/>
          <p:nvPr/>
        </p:nvSpPr>
        <p:spPr>
          <a:xfrm>
            <a:off x="548640" y="566928"/>
            <a:ext cx="11094415" cy="566928"/>
          </a:xfrm>
          <a:prstGeom prst="rect">
            <a:avLst/>
          </a:prstGeom>
          <a:noFill/>
          <a:ln/>
        </p:spPr>
        <p:txBody>
          <a:bodyPr wrap="square" lIns="0" tIns="0" rIns="0" bIns="0" rtlCol="0" anchor="t"/>
          <a:lstStyle/>
          <a:p>
            <a:pPr marL="0" indent="0">
              <a:buNone/>
            </a:pPr>
            <a:r>
              <a:rPr lang="en-GB" sz="3000" b="1" noProof="0" dirty="0">
                <a:solidFill>
                  <a:srgbClr val="12315B"/>
                </a:solidFill>
                <a:latin typeface="Calibri" pitchFamily="34" charset="0"/>
                <a:ea typeface="Calibri" pitchFamily="34" charset="-122"/>
                <a:cs typeface="Calibri" pitchFamily="34" charset="-120"/>
              </a:rPr>
              <a:t>What screening is not</a:t>
            </a:r>
            <a:endParaRPr lang="en-GB" sz="3000" noProof="0" dirty="0"/>
          </a:p>
        </p:txBody>
      </p:sp>
      <p:grpSp>
        <p:nvGrpSpPr>
          <p:cNvPr id="5" name="Grupo 4">
            <a:extLst>
              <a:ext uri="{FF2B5EF4-FFF2-40B4-BE49-F238E27FC236}">
                <a16:creationId xmlns:a16="http://schemas.microsoft.com/office/drawing/2014/main" id="{079E6C9B-CE8C-DB29-8767-3DA3F6049CFA}"/>
              </a:ext>
            </a:extLst>
          </p:cNvPr>
          <p:cNvGrpSpPr/>
          <p:nvPr/>
        </p:nvGrpSpPr>
        <p:grpSpPr>
          <a:xfrm>
            <a:off x="548640" y="1212712"/>
            <a:ext cx="3527450" cy="5078360"/>
            <a:chOff x="548640" y="1212712"/>
            <a:chExt cx="3527450" cy="5078360"/>
          </a:xfrm>
        </p:grpSpPr>
        <p:sp>
          <p:nvSpPr>
            <p:cNvPr id="14" name="Shape 12">
              <a:extLst>
                <a:ext uri="{FF2B5EF4-FFF2-40B4-BE49-F238E27FC236}">
                  <a16:creationId xmlns:a16="http://schemas.microsoft.com/office/drawing/2014/main" id="{1E8A730B-E8F2-D5C9-C1F9-6C7E103BF008}"/>
                </a:ext>
              </a:extLst>
            </p:cNvPr>
            <p:cNvSpPr/>
            <p:nvPr/>
          </p:nvSpPr>
          <p:spPr>
            <a:xfrm>
              <a:off x="548640" y="1212712"/>
              <a:ext cx="3527450" cy="5078360"/>
            </a:xfrm>
            <a:prstGeom prst="roundRect">
              <a:avLst>
                <a:gd name="adj" fmla="val 2667"/>
              </a:avLst>
            </a:prstGeom>
            <a:solidFill>
              <a:srgbClr val="F4F8FC"/>
            </a:solidFill>
            <a:ln w="12700">
              <a:solidFill>
                <a:srgbClr val="C8D8EC"/>
              </a:solidFill>
              <a:prstDash val="solid"/>
            </a:ln>
          </p:spPr>
          <p:txBody>
            <a:bodyPr/>
            <a:lstStyle/>
            <a:p>
              <a:endParaRPr lang="en-GB" noProof="0" dirty="0"/>
            </a:p>
          </p:txBody>
        </p:sp>
        <p:sp>
          <p:nvSpPr>
            <p:cNvPr id="15" name="Text 13">
              <a:extLst>
                <a:ext uri="{FF2B5EF4-FFF2-40B4-BE49-F238E27FC236}">
                  <a16:creationId xmlns:a16="http://schemas.microsoft.com/office/drawing/2014/main" id="{BA2D8514-3D11-0B3F-F9B4-B0B2A504DC6C}"/>
                </a:ext>
              </a:extLst>
            </p:cNvPr>
            <p:cNvSpPr txBox="1"/>
            <p:nvPr/>
          </p:nvSpPr>
          <p:spPr>
            <a:xfrm>
              <a:off x="713232" y="1304152"/>
              <a:ext cx="3198266" cy="292608"/>
            </a:xfrm>
            <a:prstGeom prst="rect">
              <a:avLst/>
            </a:prstGeom>
            <a:noFill/>
            <a:ln/>
          </p:spPr>
          <p:txBody>
            <a:bodyPr wrap="square" lIns="0" tIns="0" rIns="0" bIns="0" rtlCol="0" anchor="t"/>
            <a:lstStyle/>
            <a:p>
              <a:pPr marL="0" indent="0">
                <a:buNone/>
              </a:pPr>
              <a:r>
                <a:rPr lang="en-GB" sz="1700" b="1" noProof="0" dirty="0">
                  <a:solidFill>
                    <a:srgbClr val="12315B"/>
                  </a:solidFill>
                  <a:latin typeface="Calibri" pitchFamily="34" charset="0"/>
                  <a:ea typeface="Calibri" pitchFamily="34" charset="-122"/>
                  <a:cs typeface="Calibri" pitchFamily="34" charset="-120"/>
                </a:rPr>
                <a:t>Immaculée is not a screening candidate</a:t>
              </a:r>
              <a:endParaRPr lang="en-GB" sz="1700" noProof="0" dirty="0"/>
            </a:p>
          </p:txBody>
        </p:sp>
        <p:sp>
          <p:nvSpPr>
            <p:cNvPr id="16" name="Text 14">
              <a:extLst>
                <a:ext uri="{FF2B5EF4-FFF2-40B4-BE49-F238E27FC236}">
                  <a16:creationId xmlns:a16="http://schemas.microsoft.com/office/drawing/2014/main" id="{7EDE5187-5804-E76F-7D41-20A7AC39C18E}"/>
                </a:ext>
              </a:extLst>
            </p:cNvPr>
            <p:cNvSpPr txBox="1"/>
            <p:nvPr/>
          </p:nvSpPr>
          <p:spPr>
            <a:xfrm>
              <a:off x="713232" y="1927290"/>
              <a:ext cx="3198266" cy="1287958"/>
            </a:xfrm>
            <a:prstGeom prst="rect">
              <a:avLst/>
            </a:prstGeom>
            <a:noFill/>
            <a:ln/>
          </p:spPr>
          <p:txBody>
            <a:bodyPr wrap="square" lIns="0" tIns="0" rIns="0" bIns="0" rtlCol="0" anchor="t"/>
            <a:lstStyle/>
            <a:p>
              <a:pPr marL="0" indent="0">
                <a:lnSpc>
                  <a:spcPct val="90000"/>
                </a:lnSpc>
                <a:buNone/>
              </a:pPr>
              <a:r>
                <a:rPr lang="en-GB" sz="1800" noProof="0" dirty="0">
                  <a:solidFill>
                    <a:srgbClr val="1F3A63"/>
                  </a:solidFill>
                  <a:latin typeface="Calibri" pitchFamily="34" charset="0"/>
                  <a:ea typeface="Calibri" pitchFamily="34" charset="-122"/>
                  <a:cs typeface="Calibri" pitchFamily="34" charset="-120"/>
                </a:rPr>
                <a:t>She has a persistent breast lump. That is a symptom. She needs assessment of the breast itself, and a screening test would only add delay.</a:t>
              </a:r>
              <a:endParaRPr lang="en-GB" sz="1800" noProof="0" dirty="0"/>
            </a:p>
          </p:txBody>
        </p:sp>
        <p:pic>
          <p:nvPicPr>
            <p:cNvPr id="25" name="Imagen 24">
              <a:extLst>
                <a:ext uri="{FF2B5EF4-FFF2-40B4-BE49-F238E27FC236}">
                  <a16:creationId xmlns:a16="http://schemas.microsoft.com/office/drawing/2014/main" id="{973FB07C-1C10-0887-F99B-95A4D25EE18B}"/>
                </a:ext>
              </a:extLst>
            </p:cNvPr>
            <p:cNvPicPr>
              <a:picLocks noChangeAspect="1"/>
            </p:cNvPicPr>
            <p:nvPr/>
          </p:nvPicPr>
          <p:blipFill>
            <a:blip r:embed="rId3" cstate="email">
              <a:extLst>
                <a:ext uri="{28A0092B-C50C-407E-A947-70E740481C1C}">
                  <a14:useLocalDpi xmlns:a14="http://schemas.microsoft.com/office/drawing/2010/main"/>
                </a:ext>
              </a:extLst>
            </a:blip>
            <a:srcRect b="-3853"/>
            <a:stretch>
              <a:fillRect/>
            </a:stretch>
          </p:blipFill>
          <p:spPr>
            <a:xfrm>
              <a:off x="1458985" y="3347619"/>
              <a:ext cx="1705072" cy="2639491"/>
            </a:xfrm>
            <a:prstGeom prst="rect">
              <a:avLst/>
            </a:prstGeom>
          </p:spPr>
        </p:pic>
      </p:grpSp>
      <p:grpSp>
        <p:nvGrpSpPr>
          <p:cNvPr id="7" name="Grupo 6">
            <a:extLst>
              <a:ext uri="{FF2B5EF4-FFF2-40B4-BE49-F238E27FC236}">
                <a16:creationId xmlns:a16="http://schemas.microsoft.com/office/drawing/2014/main" id="{C1376A5C-4511-CA11-FEF8-E3EE63C7622D}"/>
              </a:ext>
            </a:extLst>
          </p:cNvPr>
          <p:cNvGrpSpPr/>
          <p:nvPr/>
        </p:nvGrpSpPr>
        <p:grpSpPr>
          <a:xfrm>
            <a:off x="8115605" y="1212712"/>
            <a:ext cx="3527450" cy="5078360"/>
            <a:chOff x="8115605" y="1212712"/>
            <a:chExt cx="3527450" cy="5078360"/>
          </a:xfrm>
        </p:grpSpPr>
        <p:sp>
          <p:nvSpPr>
            <p:cNvPr id="20" name="Shape 18">
              <a:extLst>
                <a:ext uri="{FF2B5EF4-FFF2-40B4-BE49-F238E27FC236}">
                  <a16:creationId xmlns:a16="http://schemas.microsoft.com/office/drawing/2014/main" id="{5F245617-A4AF-ADC6-63A6-FA98BDD6E58F}"/>
                </a:ext>
              </a:extLst>
            </p:cNvPr>
            <p:cNvSpPr/>
            <p:nvPr/>
          </p:nvSpPr>
          <p:spPr>
            <a:xfrm>
              <a:off x="8115605" y="1212712"/>
              <a:ext cx="3527450" cy="5078360"/>
            </a:xfrm>
            <a:prstGeom prst="roundRect">
              <a:avLst>
                <a:gd name="adj" fmla="val 2667"/>
              </a:avLst>
            </a:prstGeom>
            <a:solidFill>
              <a:srgbClr val="F4F8FC"/>
            </a:solidFill>
            <a:ln w="12700">
              <a:solidFill>
                <a:srgbClr val="C8D8EC"/>
              </a:solidFill>
              <a:prstDash val="solid"/>
            </a:ln>
          </p:spPr>
          <p:txBody>
            <a:bodyPr/>
            <a:lstStyle/>
            <a:p>
              <a:endParaRPr lang="en-GB" noProof="0" dirty="0"/>
            </a:p>
          </p:txBody>
        </p:sp>
        <p:sp>
          <p:nvSpPr>
            <p:cNvPr id="21" name="Text 19">
              <a:extLst>
                <a:ext uri="{FF2B5EF4-FFF2-40B4-BE49-F238E27FC236}">
                  <a16:creationId xmlns:a16="http://schemas.microsoft.com/office/drawing/2014/main" id="{AD6AC777-F95D-954B-AE1C-8A297BD9A6DD}"/>
                </a:ext>
              </a:extLst>
            </p:cNvPr>
            <p:cNvSpPr txBox="1"/>
            <p:nvPr/>
          </p:nvSpPr>
          <p:spPr>
            <a:xfrm>
              <a:off x="8280197" y="1304152"/>
              <a:ext cx="3198266" cy="292608"/>
            </a:xfrm>
            <a:prstGeom prst="rect">
              <a:avLst/>
            </a:prstGeom>
            <a:noFill/>
            <a:ln/>
          </p:spPr>
          <p:txBody>
            <a:bodyPr wrap="square" lIns="0" tIns="0" rIns="0" bIns="0" rtlCol="0" anchor="t"/>
            <a:lstStyle/>
            <a:p>
              <a:pPr marL="0" indent="0">
                <a:buNone/>
              </a:pPr>
              <a:r>
                <a:rPr lang="en-GB" sz="1700" b="1" noProof="0" dirty="0">
                  <a:solidFill>
                    <a:srgbClr val="12315B"/>
                  </a:solidFill>
                  <a:latin typeface="Calibri" pitchFamily="34" charset="0"/>
                  <a:ea typeface="Calibri" pitchFamily="34" charset="-122"/>
                  <a:cs typeface="Calibri" pitchFamily="34" charset="-120"/>
                </a:rPr>
                <a:t>A normal test does not close the door</a:t>
              </a:r>
              <a:endParaRPr lang="en-GB" sz="1700" noProof="0" dirty="0"/>
            </a:p>
          </p:txBody>
        </p:sp>
        <p:sp>
          <p:nvSpPr>
            <p:cNvPr id="22" name="Text 20">
              <a:extLst>
                <a:ext uri="{FF2B5EF4-FFF2-40B4-BE49-F238E27FC236}">
                  <a16:creationId xmlns:a16="http://schemas.microsoft.com/office/drawing/2014/main" id="{C52E9DB1-0553-C7D1-0BC9-01C946F9048C}"/>
                </a:ext>
              </a:extLst>
            </p:cNvPr>
            <p:cNvSpPr txBox="1"/>
            <p:nvPr/>
          </p:nvSpPr>
          <p:spPr>
            <a:xfrm>
              <a:off x="8280197" y="1912300"/>
              <a:ext cx="3198266" cy="1242988"/>
            </a:xfrm>
            <a:prstGeom prst="rect">
              <a:avLst/>
            </a:prstGeom>
            <a:noFill/>
            <a:ln/>
          </p:spPr>
          <p:txBody>
            <a:bodyPr wrap="square" lIns="0" tIns="0" rIns="0" bIns="0" rtlCol="0" anchor="t"/>
            <a:lstStyle/>
            <a:p>
              <a:pPr marL="0" indent="0">
                <a:lnSpc>
                  <a:spcPct val="90000"/>
                </a:lnSpc>
                <a:buNone/>
              </a:pPr>
              <a:r>
                <a:rPr lang="en-GB" sz="1800" noProof="0" dirty="0">
                  <a:solidFill>
                    <a:srgbClr val="1F3A63"/>
                  </a:solidFill>
                  <a:latin typeface="Calibri" pitchFamily="34" charset="0"/>
                  <a:ea typeface="Calibri" pitchFamily="34" charset="-122"/>
                  <a:cs typeface="Calibri" pitchFamily="34" charset="-120"/>
                </a:rPr>
                <a:t>A previous normal screening result says nothing about a new breast change. New symptoms are always assessed on their own merits.</a:t>
              </a:r>
              <a:endParaRPr lang="en-GB" sz="1800" noProof="0" dirty="0"/>
            </a:p>
          </p:txBody>
        </p:sp>
        <p:pic>
          <p:nvPicPr>
            <p:cNvPr id="26" name="Imagen 25">
              <a:extLst>
                <a:ext uri="{FF2B5EF4-FFF2-40B4-BE49-F238E27FC236}">
                  <a16:creationId xmlns:a16="http://schemas.microsoft.com/office/drawing/2014/main" id="{8822EE98-632D-215B-6128-AA33761767A7}"/>
                </a:ext>
              </a:extLst>
            </p:cNvPr>
            <p:cNvPicPr>
              <a:picLocks noChangeAspect="1"/>
            </p:cNvPicPr>
            <p:nvPr/>
          </p:nvPicPr>
          <p:blipFill>
            <a:blip r:embed="rId4" cstate="email">
              <a:extLst>
                <a:ext uri="{28A0092B-C50C-407E-A947-70E740481C1C}">
                  <a14:useLocalDpi xmlns:a14="http://schemas.microsoft.com/office/drawing/2010/main"/>
                </a:ext>
              </a:extLst>
            </a:blip>
            <a:srcRect t="-1" b="-4632"/>
            <a:stretch>
              <a:fillRect/>
            </a:stretch>
          </p:blipFill>
          <p:spPr>
            <a:xfrm>
              <a:off x="8983005" y="3347619"/>
              <a:ext cx="1750010" cy="2676749"/>
            </a:xfrm>
            <a:prstGeom prst="rect">
              <a:avLst/>
            </a:prstGeom>
          </p:spPr>
        </p:pic>
      </p:grpSp>
      <p:grpSp>
        <p:nvGrpSpPr>
          <p:cNvPr id="6" name="Grupo 5">
            <a:extLst>
              <a:ext uri="{FF2B5EF4-FFF2-40B4-BE49-F238E27FC236}">
                <a16:creationId xmlns:a16="http://schemas.microsoft.com/office/drawing/2014/main" id="{9C2F4FCA-1A06-76BA-A7A3-2389718E88E6}"/>
              </a:ext>
            </a:extLst>
          </p:cNvPr>
          <p:cNvGrpSpPr/>
          <p:nvPr/>
        </p:nvGrpSpPr>
        <p:grpSpPr>
          <a:xfrm>
            <a:off x="4332122" y="1212712"/>
            <a:ext cx="3527450" cy="5078360"/>
            <a:chOff x="4332122" y="1212712"/>
            <a:chExt cx="3527450" cy="5078360"/>
          </a:xfrm>
        </p:grpSpPr>
        <p:sp>
          <p:nvSpPr>
            <p:cNvPr id="17" name="Shape 15">
              <a:extLst>
                <a:ext uri="{FF2B5EF4-FFF2-40B4-BE49-F238E27FC236}">
                  <a16:creationId xmlns:a16="http://schemas.microsoft.com/office/drawing/2014/main" id="{40EDA642-A020-B88E-21E5-B890BD3FCC4A}"/>
                </a:ext>
              </a:extLst>
            </p:cNvPr>
            <p:cNvSpPr/>
            <p:nvPr/>
          </p:nvSpPr>
          <p:spPr>
            <a:xfrm>
              <a:off x="4332122" y="1212712"/>
              <a:ext cx="3527450" cy="5078360"/>
            </a:xfrm>
            <a:prstGeom prst="roundRect">
              <a:avLst>
                <a:gd name="adj" fmla="val 2667"/>
              </a:avLst>
            </a:prstGeom>
            <a:solidFill>
              <a:srgbClr val="F4F8FC"/>
            </a:solidFill>
            <a:ln w="12700">
              <a:solidFill>
                <a:srgbClr val="C8D8EC"/>
              </a:solidFill>
              <a:prstDash val="solid"/>
            </a:ln>
          </p:spPr>
          <p:txBody>
            <a:bodyPr/>
            <a:lstStyle/>
            <a:p>
              <a:endParaRPr lang="en-GB" noProof="0" dirty="0"/>
            </a:p>
          </p:txBody>
        </p:sp>
        <p:sp>
          <p:nvSpPr>
            <p:cNvPr id="18" name="Text 16">
              <a:extLst>
                <a:ext uri="{FF2B5EF4-FFF2-40B4-BE49-F238E27FC236}">
                  <a16:creationId xmlns:a16="http://schemas.microsoft.com/office/drawing/2014/main" id="{561FF33E-98D3-0724-608A-CA74E2D0AE60}"/>
                </a:ext>
              </a:extLst>
            </p:cNvPr>
            <p:cNvSpPr txBox="1"/>
            <p:nvPr/>
          </p:nvSpPr>
          <p:spPr>
            <a:xfrm>
              <a:off x="4496714" y="1304152"/>
              <a:ext cx="3198266" cy="292608"/>
            </a:xfrm>
            <a:prstGeom prst="rect">
              <a:avLst/>
            </a:prstGeom>
            <a:noFill/>
            <a:ln/>
          </p:spPr>
          <p:txBody>
            <a:bodyPr wrap="square" lIns="0" tIns="0" rIns="0" bIns="0" rtlCol="0" anchor="t"/>
            <a:lstStyle/>
            <a:p>
              <a:pPr marL="0" indent="0">
                <a:buNone/>
              </a:pPr>
              <a:r>
                <a:rPr lang="en-GB" sz="1700" b="1" noProof="0" dirty="0">
                  <a:solidFill>
                    <a:srgbClr val="12315B"/>
                  </a:solidFill>
                  <a:latin typeface="Calibri" pitchFamily="34" charset="0"/>
                  <a:ea typeface="Calibri" pitchFamily="34" charset="-122"/>
                  <a:cs typeface="Calibri" pitchFamily="34" charset="-120"/>
                </a:rPr>
                <a:t>Screening finds what cannot be felt</a:t>
              </a:r>
              <a:endParaRPr lang="en-GB" sz="1700" noProof="0" dirty="0"/>
            </a:p>
          </p:txBody>
        </p:sp>
        <p:sp>
          <p:nvSpPr>
            <p:cNvPr id="19" name="Text 17">
              <a:extLst>
                <a:ext uri="{FF2B5EF4-FFF2-40B4-BE49-F238E27FC236}">
                  <a16:creationId xmlns:a16="http://schemas.microsoft.com/office/drawing/2014/main" id="{5029B1A2-D23E-0638-321B-83A35A6D9DED}"/>
                </a:ext>
              </a:extLst>
            </p:cNvPr>
            <p:cNvSpPr txBox="1"/>
            <p:nvPr/>
          </p:nvSpPr>
          <p:spPr>
            <a:xfrm>
              <a:off x="4496714" y="1642480"/>
              <a:ext cx="3198266" cy="1572768"/>
            </a:xfrm>
            <a:prstGeom prst="rect">
              <a:avLst/>
            </a:prstGeom>
            <a:noFill/>
            <a:ln/>
          </p:spPr>
          <p:txBody>
            <a:bodyPr wrap="square" lIns="0" tIns="0" rIns="0" bIns="0" rtlCol="0" anchor="t"/>
            <a:lstStyle/>
            <a:p>
              <a:pPr marL="0" indent="0">
                <a:lnSpc>
                  <a:spcPct val="90000"/>
                </a:lnSpc>
                <a:buNone/>
              </a:pPr>
              <a:r>
                <a:rPr lang="en-GB" sz="1800" noProof="0" dirty="0">
                  <a:solidFill>
                    <a:srgbClr val="1F3A63"/>
                  </a:solidFill>
                  <a:latin typeface="Calibri" pitchFamily="34" charset="0"/>
                  <a:ea typeface="Calibri" pitchFamily="34" charset="-122"/>
                  <a:cs typeface="Calibri" pitchFamily="34" charset="-120"/>
                </a:rPr>
                <a:t>Screening aims to detect disease before anything is noticeable. It cannot do its job for a person who already has a change.</a:t>
              </a:r>
              <a:endParaRPr lang="en-GB" sz="1800" noProof="0" dirty="0"/>
            </a:p>
          </p:txBody>
        </p:sp>
        <p:pic>
          <p:nvPicPr>
            <p:cNvPr id="27" name="Imagen 26">
              <a:extLst>
                <a:ext uri="{FF2B5EF4-FFF2-40B4-BE49-F238E27FC236}">
                  <a16:creationId xmlns:a16="http://schemas.microsoft.com/office/drawing/2014/main" id="{E047C305-4CBE-3F9D-388B-35C4D41522F5}"/>
                </a:ext>
              </a:extLst>
            </p:cNvPr>
            <p:cNvPicPr>
              <a:picLocks noChangeAspect="1"/>
            </p:cNvPicPr>
            <p:nvPr/>
          </p:nvPicPr>
          <p:blipFill>
            <a:blip r:embed="rId5" cstate="email">
              <a:extLst>
                <a:ext uri="{28A0092B-C50C-407E-A947-70E740481C1C}">
                  <a14:useLocalDpi xmlns:a14="http://schemas.microsoft.com/office/drawing/2010/main"/>
                </a:ext>
              </a:extLst>
            </a:blip>
            <a:srcRect b="-3400"/>
            <a:stretch>
              <a:fillRect/>
            </a:stretch>
          </p:blipFill>
          <p:spPr>
            <a:xfrm>
              <a:off x="5276235" y="3347619"/>
              <a:ext cx="1639530" cy="2661110"/>
            </a:xfrm>
            <a:prstGeom prst="rect">
              <a:avLst/>
            </a:prstGeom>
          </p:spPr>
        </p:pic>
      </p:grpSp>
    </p:spTree>
    <p:extLst>
      <p:ext uri="{BB962C8B-B14F-4D97-AF65-F5344CB8AC3E}">
        <p14:creationId xmlns:p14="http://schemas.microsoft.com/office/powerpoint/2010/main" val="419217505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en-GB" sz="1100" b="1" kern="0" spc="100" noProof="0" dirty="0">
                <a:solidFill>
                  <a:srgbClr val="5B7699"/>
                </a:solidFill>
                <a:latin typeface="Calibri" pitchFamily="34" charset="0"/>
                <a:ea typeface="Calibri" pitchFamily="34" charset="-122"/>
                <a:cs typeface="Calibri" pitchFamily="34" charset="-120"/>
              </a:rPr>
              <a:t>S E S S I O N   2</a:t>
            </a:r>
            <a:endParaRPr lang="en-GB"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en-GB" sz="1000" noProof="0" dirty="0">
                <a:solidFill>
                  <a:srgbClr val="5B7699"/>
                </a:solidFill>
                <a:latin typeface="Calibri" pitchFamily="34" charset="0"/>
                <a:ea typeface="Calibri" pitchFamily="34" charset="-122"/>
                <a:cs typeface="Calibri" pitchFamily="34" charset="-120"/>
              </a:rPr>
              <a:t>Breast Cancer  |  Frontline HCP  |  Rwanda Biomedical Centre</a:t>
            </a:r>
            <a:endParaRPr lang="en-GB"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en-GB" sz="3000" b="1" noProof="0" dirty="0">
                <a:solidFill>
                  <a:srgbClr val="12315B"/>
                </a:solidFill>
                <a:latin typeface="Calibri" pitchFamily="34" charset="0"/>
                <a:ea typeface="Calibri" pitchFamily="34" charset="-122"/>
                <a:cs typeface="Calibri" pitchFamily="34" charset="-120"/>
              </a:rPr>
              <a:t>Benign breast conditions you will see</a:t>
            </a:r>
            <a:endParaRPr lang="en-GB" sz="3000" noProof="0" dirty="0"/>
          </a:p>
        </p:txBody>
      </p:sp>
      <p:sp>
        <p:nvSpPr>
          <p:cNvPr id="25" name="Text 22">
            <a:extLst>
              <a:ext uri="{FF2B5EF4-FFF2-40B4-BE49-F238E27FC236}">
                <a16:creationId xmlns:a16="http://schemas.microsoft.com/office/drawing/2014/main" id="{4BBCB1BE-A009-F804-A73E-D7891B150B37}"/>
              </a:ext>
            </a:extLst>
          </p:cNvPr>
          <p:cNvSpPr txBox="1"/>
          <p:nvPr/>
        </p:nvSpPr>
        <p:spPr>
          <a:xfrm>
            <a:off x="548640" y="6063817"/>
            <a:ext cx="11094415" cy="274320"/>
          </a:xfrm>
          <a:prstGeom prst="rect">
            <a:avLst/>
          </a:prstGeom>
          <a:noFill/>
          <a:ln/>
        </p:spPr>
        <p:txBody>
          <a:bodyPr wrap="square" lIns="0" tIns="0" rIns="0" bIns="0" rtlCol="0" anchor="ctr"/>
          <a:lstStyle/>
          <a:p>
            <a:pPr marL="0" indent="0">
              <a:lnSpc>
                <a:spcPct val="95000"/>
              </a:lnSpc>
              <a:buNone/>
            </a:pPr>
            <a:r>
              <a:rPr lang="en-GB" sz="1400" i="1" noProof="0" dirty="0">
                <a:solidFill>
                  <a:srgbClr val="0B1F3F"/>
                </a:solidFill>
                <a:latin typeface="Calibri" pitchFamily="34" charset="0"/>
                <a:ea typeface="Calibri" pitchFamily="34" charset="-122"/>
                <a:cs typeface="Calibri" pitchFamily="34" charset="-120"/>
              </a:rPr>
              <a:t>Benign conditions are far more common than cancer, and a benign explanation is never assumed. Two things can coexist, so a finding that does not behave as expected is assessed rather than relabelled.</a:t>
            </a:r>
            <a:endParaRPr lang="en-GB" sz="1400" i="1" noProof="0" dirty="0"/>
          </a:p>
        </p:txBody>
      </p:sp>
      <p:grpSp>
        <p:nvGrpSpPr>
          <p:cNvPr id="11" name="Grupo 10">
            <a:extLst>
              <a:ext uri="{FF2B5EF4-FFF2-40B4-BE49-F238E27FC236}">
                <a16:creationId xmlns:a16="http://schemas.microsoft.com/office/drawing/2014/main" id="{54039B23-827D-8133-9012-A40D6FC08F4A}"/>
              </a:ext>
            </a:extLst>
          </p:cNvPr>
          <p:cNvGrpSpPr/>
          <p:nvPr/>
        </p:nvGrpSpPr>
        <p:grpSpPr>
          <a:xfrm>
            <a:off x="548639" y="1116770"/>
            <a:ext cx="5296245" cy="4778252"/>
            <a:chOff x="548639" y="1116770"/>
            <a:chExt cx="5296245" cy="4778252"/>
          </a:xfrm>
        </p:grpSpPr>
        <p:sp>
          <p:nvSpPr>
            <p:cNvPr id="5" name="Shape 3"/>
            <p:cNvSpPr/>
            <p:nvPr/>
          </p:nvSpPr>
          <p:spPr>
            <a:xfrm>
              <a:off x="548639" y="1116770"/>
              <a:ext cx="5296245" cy="4778252"/>
            </a:xfrm>
            <a:prstGeom prst="roundRect">
              <a:avLst>
                <a:gd name="adj" fmla="val 3023"/>
              </a:avLst>
            </a:prstGeom>
            <a:solidFill>
              <a:srgbClr val="F4F8FC"/>
            </a:solidFill>
            <a:ln w="12700">
              <a:solidFill>
                <a:srgbClr val="C8D8EC"/>
              </a:solidFill>
              <a:prstDash val="solid"/>
            </a:ln>
          </p:spPr>
          <p:txBody>
            <a:bodyPr/>
            <a:lstStyle/>
            <a:p>
              <a:endParaRPr lang="en-GB" noProof="0" dirty="0"/>
            </a:p>
          </p:txBody>
        </p:sp>
        <p:sp>
          <p:nvSpPr>
            <p:cNvPr id="6" name="Text 4"/>
            <p:cNvSpPr txBox="1"/>
            <p:nvPr/>
          </p:nvSpPr>
          <p:spPr>
            <a:xfrm>
              <a:off x="713232" y="1208210"/>
              <a:ext cx="4801996" cy="292608"/>
            </a:xfrm>
            <a:prstGeom prst="rect">
              <a:avLst/>
            </a:prstGeom>
            <a:noFill/>
            <a:ln/>
          </p:spPr>
          <p:txBody>
            <a:bodyPr wrap="square" lIns="0" tIns="0" rIns="0" bIns="0" rtlCol="0" anchor="t"/>
            <a:lstStyle/>
            <a:p>
              <a:pPr marL="0" indent="0">
                <a:buNone/>
              </a:pPr>
              <a:r>
                <a:rPr lang="en-GB" sz="2000" b="1" noProof="0" dirty="0">
                  <a:solidFill>
                    <a:srgbClr val="12315B"/>
                  </a:solidFill>
                  <a:latin typeface="Calibri" pitchFamily="34" charset="0"/>
                  <a:ea typeface="Calibri" pitchFamily="34" charset="-122"/>
                  <a:cs typeface="Calibri" pitchFamily="34" charset="-120"/>
                </a:rPr>
                <a:t>Fibroadenoma</a:t>
              </a:r>
              <a:endParaRPr lang="en-GB" sz="2000" noProof="0" dirty="0"/>
            </a:p>
          </p:txBody>
        </p:sp>
        <p:sp>
          <p:nvSpPr>
            <p:cNvPr id="7" name="Text 5"/>
            <p:cNvSpPr txBox="1"/>
            <p:nvPr/>
          </p:nvSpPr>
          <p:spPr>
            <a:xfrm>
              <a:off x="713232" y="1576518"/>
              <a:ext cx="4801996" cy="1330452"/>
            </a:xfrm>
            <a:prstGeom prst="rect">
              <a:avLst/>
            </a:prstGeom>
            <a:noFill/>
            <a:ln/>
          </p:spPr>
          <p:txBody>
            <a:bodyPr wrap="square" lIns="0" tIns="0" rIns="0" bIns="0" rtlCol="0" anchor="t"/>
            <a:lstStyle/>
            <a:p>
              <a:pPr marL="0" indent="0">
                <a:lnSpc>
                  <a:spcPct val="90000"/>
                </a:lnSpc>
                <a:buNone/>
              </a:pPr>
              <a:r>
                <a:rPr lang="en-GB" noProof="0" dirty="0">
                  <a:solidFill>
                    <a:srgbClr val="1F3A63"/>
                  </a:solidFill>
                  <a:latin typeface="Calibri" pitchFamily="34" charset="0"/>
                  <a:ea typeface="Calibri" pitchFamily="34" charset="-122"/>
                  <a:cs typeface="Calibri" pitchFamily="34" charset="-120"/>
                </a:rPr>
                <a:t>A smooth, firm, well-defined and often mobile lump, most common in younger women. Benign, and still assessed to confirm what it is.</a:t>
              </a:r>
            </a:p>
            <a:p>
              <a:pPr>
                <a:lnSpc>
                  <a:spcPct val="90000"/>
                </a:lnSpc>
              </a:pPr>
              <a:r>
                <a:rPr lang="en-GB" noProof="0" dirty="0">
                  <a:solidFill>
                    <a:srgbClr val="1F3A63"/>
                  </a:solidFill>
                  <a:latin typeface="Calibri" pitchFamily="34" charset="0"/>
                  <a:ea typeface="Calibri" pitchFamily="34" charset="-122"/>
                  <a:cs typeface="Calibri" pitchFamily="34" charset="-120"/>
                </a:rPr>
                <a:t>Confirmed by assessment, then usually observed. Excision is considered if it is large, growing, symptomatic, or if the diagnosis is uncertain.</a:t>
              </a:r>
              <a:endParaRPr lang="en-GB" noProof="0" dirty="0"/>
            </a:p>
            <a:p>
              <a:pPr marL="0" indent="0">
                <a:lnSpc>
                  <a:spcPct val="90000"/>
                </a:lnSpc>
                <a:buNone/>
              </a:pPr>
              <a:endParaRPr lang="en-GB" noProof="0" dirty="0"/>
            </a:p>
          </p:txBody>
        </p:sp>
        <p:pic>
          <p:nvPicPr>
            <p:cNvPr id="26" name="Imagen 25">
              <a:extLst>
                <a:ext uri="{FF2B5EF4-FFF2-40B4-BE49-F238E27FC236}">
                  <a16:creationId xmlns:a16="http://schemas.microsoft.com/office/drawing/2014/main" id="{8F5990B5-A970-A626-741B-2FDA9D96F11A}"/>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966413" y="3287079"/>
              <a:ext cx="4460696" cy="2227833"/>
            </a:xfrm>
            <a:prstGeom prst="rect">
              <a:avLst/>
            </a:prstGeom>
          </p:spPr>
        </p:pic>
      </p:grpSp>
      <p:grpSp>
        <p:nvGrpSpPr>
          <p:cNvPr id="12" name="Grupo 11">
            <a:extLst>
              <a:ext uri="{FF2B5EF4-FFF2-40B4-BE49-F238E27FC236}">
                <a16:creationId xmlns:a16="http://schemas.microsoft.com/office/drawing/2014/main" id="{8CA560B3-DD44-5ECE-30D5-F2BCE06450C9}"/>
              </a:ext>
            </a:extLst>
          </p:cNvPr>
          <p:cNvGrpSpPr/>
          <p:nvPr/>
        </p:nvGrpSpPr>
        <p:grpSpPr>
          <a:xfrm>
            <a:off x="6340839" y="1116769"/>
            <a:ext cx="5296246" cy="4778251"/>
            <a:chOff x="6340839" y="1116769"/>
            <a:chExt cx="5296246" cy="4778251"/>
          </a:xfrm>
        </p:grpSpPr>
        <p:sp>
          <p:nvSpPr>
            <p:cNvPr id="8" name="Shape 6"/>
            <p:cNvSpPr/>
            <p:nvPr/>
          </p:nvSpPr>
          <p:spPr>
            <a:xfrm>
              <a:off x="6340839" y="1116769"/>
              <a:ext cx="5296246" cy="4778251"/>
            </a:xfrm>
            <a:prstGeom prst="roundRect">
              <a:avLst>
                <a:gd name="adj" fmla="val 3023"/>
              </a:avLst>
            </a:prstGeom>
            <a:solidFill>
              <a:srgbClr val="F4F8FC"/>
            </a:solidFill>
            <a:ln w="12700">
              <a:solidFill>
                <a:srgbClr val="C8D8EC"/>
              </a:solidFill>
              <a:prstDash val="solid"/>
            </a:ln>
          </p:spPr>
          <p:txBody>
            <a:bodyPr/>
            <a:lstStyle/>
            <a:p>
              <a:endParaRPr lang="en-GB" noProof="0" dirty="0"/>
            </a:p>
          </p:txBody>
        </p:sp>
        <p:sp>
          <p:nvSpPr>
            <p:cNvPr id="9" name="Text 7"/>
            <p:cNvSpPr txBox="1"/>
            <p:nvPr/>
          </p:nvSpPr>
          <p:spPr>
            <a:xfrm>
              <a:off x="6670496" y="1208210"/>
              <a:ext cx="4801997" cy="292608"/>
            </a:xfrm>
            <a:prstGeom prst="rect">
              <a:avLst/>
            </a:prstGeom>
            <a:noFill/>
            <a:ln/>
          </p:spPr>
          <p:txBody>
            <a:bodyPr wrap="square" lIns="0" tIns="0" rIns="0" bIns="0" rtlCol="0" anchor="t"/>
            <a:lstStyle/>
            <a:p>
              <a:pPr marL="0" indent="0">
                <a:buNone/>
              </a:pPr>
              <a:r>
                <a:rPr lang="en-GB" sz="2000" b="1" noProof="0" dirty="0">
                  <a:solidFill>
                    <a:srgbClr val="12315B"/>
                  </a:solidFill>
                  <a:latin typeface="Calibri" pitchFamily="34" charset="0"/>
                  <a:ea typeface="Calibri" pitchFamily="34" charset="-122"/>
                  <a:cs typeface="Calibri" pitchFamily="34" charset="-120"/>
                </a:rPr>
                <a:t>Fibrocystic change</a:t>
              </a:r>
              <a:endParaRPr lang="en-GB" sz="2000" noProof="0" dirty="0"/>
            </a:p>
          </p:txBody>
        </p:sp>
        <p:sp>
          <p:nvSpPr>
            <p:cNvPr id="10" name="Text 8"/>
            <p:cNvSpPr txBox="1"/>
            <p:nvPr/>
          </p:nvSpPr>
          <p:spPr>
            <a:xfrm>
              <a:off x="6670496" y="1576518"/>
              <a:ext cx="4801997" cy="1330452"/>
            </a:xfrm>
            <a:prstGeom prst="rect">
              <a:avLst/>
            </a:prstGeom>
            <a:noFill/>
            <a:ln/>
          </p:spPr>
          <p:txBody>
            <a:bodyPr wrap="square" lIns="0" tIns="0" rIns="0" bIns="0" rtlCol="0" anchor="t"/>
            <a:lstStyle/>
            <a:p>
              <a:pPr marL="0" indent="0">
                <a:lnSpc>
                  <a:spcPct val="90000"/>
                </a:lnSpc>
                <a:buNone/>
              </a:pPr>
              <a:r>
                <a:rPr lang="en-GB" noProof="0" dirty="0">
                  <a:solidFill>
                    <a:srgbClr val="1F3A63"/>
                  </a:solidFill>
                  <a:latin typeface="Calibri" pitchFamily="34" charset="0"/>
                  <a:ea typeface="Calibri" pitchFamily="34" charset="-122"/>
                  <a:cs typeface="Calibri" pitchFamily="34" charset="-120"/>
                </a:rPr>
                <a:t>Lumpy or nodular breast tissue, often tender and often varying with the menstrual cycle. Common and benign.</a:t>
              </a:r>
            </a:p>
            <a:p>
              <a:pPr>
                <a:lnSpc>
                  <a:spcPct val="90000"/>
                </a:lnSpc>
              </a:pPr>
              <a:r>
                <a:rPr lang="en-GB" noProof="0" dirty="0">
                  <a:solidFill>
                    <a:srgbClr val="1F3A63"/>
                  </a:solidFill>
                  <a:latin typeface="Calibri" pitchFamily="34" charset="0"/>
                  <a:ea typeface="Calibri" pitchFamily="34" charset="-122"/>
                  <a:cs typeface="Calibri" pitchFamily="34" charset="-120"/>
                </a:rPr>
                <a:t>Reassurance once assessed, with a well-fitting bra and simple analgesia for cyclical discomfort. No procedure is needed for the change itself.</a:t>
              </a:r>
              <a:endParaRPr lang="en-GB" noProof="0" dirty="0"/>
            </a:p>
            <a:p>
              <a:pPr marL="0" indent="0">
                <a:lnSpc>
                  <a:spcPct val="90000"/>
                </a:lnSpc>
                <a:buNone/>
              </a:pPr>
              <a:endParaRPr lang="en-GB" noProof="0" dirty="0"/>
            </a:p>
          </p:txBody>
        </p:sp>
        <p:pic>
          <p:nvPicPr>
            <p:cNvPr id="34" name="Imagen 33">
              <a:extLst>
                <a:ext uri="{FF2B5EF4-FFF2-40B4-BE49-F238E27FC236}">
                  <a16:creationId xmlns:a16="http://schemas.microsoft.com/office/drawing/2014/main" id="{75960077-D314-9ADE-40D9-5557AC7042C5}"/>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6877247" y="3287079"/>
              <a:ext cx="4342061" cy="2225457"/>
            </a:xfrm>
            <a:prstGeom prst="rect">
              <a:avLst/>
            </a:prstGeom>
          </p:spPr>
        </p:pic>
      </p:gr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BEB0BA27-6A9F-D342-B31B-6AF2F5D9CAB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F1BCEBA2-85A3-F9A5-E240-C6A2B30E1BD9}"/>
              </a:ext>
            </a:extLst>
          </p:cNvPr>
          <p:cNvSpPr txBox="1"/>
          <p:nvPr/>
        </p:nvSpPr>
        <p:spPr>
          <a:xfrm>
            <a:off x="548640" y="274320"/>
            <a:ext cx="11094415" cy="256032"/>
          </a:xfrm>
          <a:prstGeom prst="rect">
            <a:avLst/>
          </a:prstGeom>
          <a:noFill/>
          <a:ln/>
        </p:spPr>
        <p:txBody>
          <a:bodyPr wrap="square" lIns="0" tIns="0" rIns="0" bIns="0" rtlCol="0" anchor="ctr"/>
          <a:lstStyle/>
          <a:p>
            <a:pPr marL="0" indent="0">
              <a:buNone/>
            </a:pPr>
            <a:r>
              <a:rPr lang="en-GB" sz="1100" b="1" kern="0" spc="100" noProof="0" dirty="0">
                <a:solidFill>
                  <a:srgbClr val="5B7699"/>
                </a:solidFill>
                <a:latin typeface="Calibri" pitchFamily="34" charset="0"/>
                <a:ea typeface="Calibri" pitchFamily="34" charset="-122"/>
                <a:cs typeface="Calibri" pitchFamily="34" charset="-120"/>
              </a:rPr>
              <a:t>S E S S I O N   2</a:t>
            </a:r>
            <a:endParaRPr lang="en-GB" sz="1100" noProof="0" dirty="0"/>
          </a:p>
        </p:txBody>
      </p:sp>
      <p:sp>
        <p:nvSpPr>
          <p:cNvPr id="3" name="Text 1">
            <a:extLst>
              <a:ext uri="{FF2B5EF4-FFF2-40B4-BE49-F238E27FC236}">
                <a16:creationId xmlns:a16="http://schemas.microsoft.com/office/drawing/2014/main" id="{F471D10B-E0E8-9169-CD53-2ED6379B33CB}"/>
              </a:ext>
            </a:extLst>
          </p:cNvPr>
          <p:cNvSpPr txBox="1"/>
          <p:nvPr/>
        </p:nvSpPr>
        <p:spPr>
          <a:xfrm>
            <a:off x="548640" y="6382512"/>
            <a:ext cx="11094415" cy="274320"/>
          </a:xfrm>
          <a:prstGeom prst="rect">
            <a:avLst/>
          </a:prstGeom>
          <a:noFill/>
          <a:ln/>
        </p:spPr>
        <p:txBody>
          <a:bodyPr wrap="square" lIns="0" tIns="0" rIns="0" bIns="0" rtlCol="0" anchor="ctr"/>
          <a:lstStyle/>
          <a:p>
            <a:pPr marL="0" indent="0">
              <a:buNone/>
            </a:pPr>
            <a:r>
              <a:rPr lang="en-GB" sz="1000" noProof="0" dirty="0">
                <a:solidFill>
                  <a:srgbClr val="5B7699"/>
                </a:solidFill>
                <a:latin typeface="Calibri" pitchFamily="34" charset="0"/>
                <a:ea typeface="Calibri" pitchFamily="34" charset="-122"/>
                <a:cs typeface="Calibri" pitchFamily="34" charset="-120"/>
              </a:rPr>
              <a:t>Breast Cancer  |  Frontline HCP  |  Rwanda Biomedical Centre</a:t>
            </a:r>
            <a:endParaRPr lang="en-GB" sz="1000" noProof="0" dirty="0"/>
          </a:p>
        </p:txBody>
      </p:sp>
      <p:sp>
        <p:nvSpPr>
          <p:cNvPr id="4" name="Text 2">
            <a:extLst>
              <a:ext uri="{FF2B5EF4-FFF2-40B4-BE49-F238E27FC236}">
                <a16:creationId xmlns:a16="http://schemas.microsoft.com/office/drawing/2014/main" id="{97974E5E-E8D2-8367-3D65-75E398B383C3}"/>
              </a:ext>
            </a:extLst>
          </p:cNvPr>
          <p:cNvSpPr txBox="1"/>
          <p:nvPr/>
        </p:nvSpPr>
        <p:spPr>
          <a:xfrm>
            <a:off x="548640" y="566928"/>
            <a:ext cx="11094415" cy="566928"/>
          </a:xfrm>
          <a:prstGeom prst="rect">
            <a:avLst/>
          </a:prstGeom>
          <a:noFill/>
          <a:ln/>
        </p:spPr>
        <p:txBody>
          <a:bodyPr wrap="square" lIns="0" tIns="0" rIns="0" bIns="0" rtlCol="0" anchor="t"/>
          <a:lstStyle/>
          <a:p>
            <a:pPr marL="0" indent="0">
              <a:buNone/>
            </a:pPr>
            <a:r>
              <a:rPr lang="en-GB" sz="3000" b="1" noProof="0" dirty="0">
                <a:solidFill>
                  <a:srgbClr val="12315B"/>
                </a:solidFill>
                <a:latin typeface="Calibri" pitchFamily="34" charset="0"/>
                <a:ea typeface="Calibri" pitchFamily="34" charset="-122"/>
                <a:cs typeface="Calibri" pitchFamily="34" charset="-120"/>
              </a:rPr>
              <a:t>Benign breast conditions you will see</a:t>
            </a:r>
            <a:endParaRPr lang="en-GB" sz="3000" noProof="0" dirty="0"/>
          </a:p>
        </p:txBody>
      </p:sp>
      <p:grpSp>
        <p:nvGrpSpPr>
          <p:cNvPr id="5" name="Grupo 4">
            <a:extLst>
              <a:ext uri="{FF2B5EF4-FFF2-40B4-BE49-F238E27FC236}">
                <a16:creationId xmlns:a16="http://schemas.microsoft.com/office/drawing/2014/main" id="{0DF56287-EA66-A766-CCF9-B8CB57953D61}"/>
              </a:ext>
            </a:extLst>
          </p:cNvPr>
          <p:cNvGrpSpPr/>
          <p:nvPr/>
        </p:nvGrpSpPr>
        <p:grpSpPr>
          <a:xfrm>
            <a:off x="575547" y="1236690"/>
            <a:ext cx="5225646" cy="4919472"/>
            <a:chOff x="575547" y="1236690"/>
            <a:chExt cx="5225646" cy="4919472"/>
          </a:xfrm>
        </p:grpSpPr>
        <p:sp>
          <p:nvSpPr>
            <p:cNvPr id="11" name="Shape 9">
              <a:extLst>
                <a:ext uri="{FF2B5EF4-FFF2-40B4-BE49-F238E27FC236}">
                  <a16:creationId xmlns:a16="http://schemas.microsoft.com/office/drawing/2014/main" id="{B2268CCD-F4F4-B407-7886-F6B99D126269}"/>
                </a:ext>
              </a:extLst>
            </p:cNvPr>
            <p:cNvSpPr/>
            <p:nvPr/>
          </p:nvSpPr>
          <p:spPr>
            <a:xfrm>
              <a:off x="575547" y="1236690"/>
              <a:ext cx="5225646" cy="4919472"/>
            </a:xfrm>
            <a:prstGeom prst="roundRect">
              <a:avLst>
                <a:gd name="adj" fmla="val 3023"/>
              </a:avLst>
            </a:prstGeom>
            <a:solidFill>
              <a:srgbClr val="F4F8FC"/>
            </a:solidFill>
            <a:ln w="12700">
              <a:solidFill>
                <a:srgbClr val="C8D8EC"/>
              </a:solidFill>
              <a:prstDash val="solid"/>
            </a:ln>
          </p:spPr>
          <p:txBody>
            <a:bodyPr/>
            <a:lstStyle/>
            <a:p>
              <a:endParaRPr lang="en-GB" noProof="0" dirty="0"/>
            </a:p>
          </p:txBody>
        </p:sp>
        <p:sp>
          <p:nvSpPr>
            <p:cNvPr id="12" name="Text 10">
              <a:extLst>
                <a:ext uri="{FF2B5EF4-FFF2-40B4-BE49-F238E27FC236}">
                  <a16:creationId xmlns:a16="http://schemas.microsoft.com/office/drawing/2014/main" id="{F86D5B3D-F124-CF67-88FD-1187F4584AE4}"/>
                </a:ext>
              </a:extLst>
            </p:cNvPr>
            <p:cNvSpPr txBox="1"/>
            <p:nvPr/>
          </p:nvSpPr>
          <p:spPr>
            <a:xfrm>
              <a:off x="740138" y="1328130"/>
              <a:ext cx="4737985" cy="292608"/>
            </a:xfrm>
            <a:prstGeom prst="rect">
              <a:avLst/>
            </a:prstGeom>
            <a:noFill/>
            <a:ln/>
          </p:spPr>
          <p:txBody>
            <a:bodyPr wrap="square" lIns="0" tIns="0" rIns="0" bIns="0" rtlCol="0" anchor="t"/>
            <a:lstStyle/>
            <a:p>
              <a:pPr marL="0" indent="0">
                <a:buNone/>
              </a:pPr>
              <a:r>
                <a:rPr lang="en-GB" sz="2000" b="1" noProof="0" dirty="0">
                  <a:solidFill>
                    <a:srgbClr val="12315B"/>
                  </a:solidFill>
                  <a:latin typeface="Calibri" pitchFamily="34" charset="0"/>
                  <a:ea typeface="Calibri" pitchFamily="34" charset="-122"/>
                  <a:cs typeface="Calibri" pitchFamily="34" charset="-120"/>
                </a:rPr>
                <a:t>Simple cyst</a:t>
              </a:r>
              <a:endParaRPr lang="en-GB" sz="2000" noProof="0" dirty="0"/>
            </a:p>
          </p:txBody>
        </p:sp>
        <p:sp>
          <p:nvSpPr>
            <p:cNvPr id="13" name="Text 11">
              <a:extLst>
                <a:ext uri="{FF2B5EF4-FFF2-40B4-BE49-F238E27FC236}">
                  <a16:creationId xmlns:a16="http://schemas.microsoft.com/office/drawing/2014/main" id="{61CFB67C-20E3-99F6-074C-3254EB031AC3}"/>
                </a:ext>
              </a:extLst>
            </p:cNvPr>
            <p:cNvSpPr txBox="1"/>
            <p:nvPr/>
          </p:nvSpPr>
          <p:spPr>
            <a:xfrm>
              <a:off x="740138" y="1711428"/>
              <a:ext cx="4737985" cy="1330452"/>
            </a:xfrm>
            <a:prstGeom prst="rect">
              <a:avLst/>
            </a:prstGeom>
            <a:noFill/>
            <a:ln/>
          </p:spPr>
          <p:txBody>
            <a:bodyPr wrap="square" lIns="0" tIns="0" rIns="0" bIns="0" rtlCol="0" anchor="t"/>
            <a:lstStyle/>
            <a:p>
              <a:pPr marL="0" indent="0">
                <a:lnSpc>
                  <a:spcPct val="90000"/>
                </a:lnSpc>
                <a:buNone/>
              </a:pPr>
              <a:r>
                <a:rPr lang="en-GB" sz="1800" noProof="0" dirty="0">
                  <a:solidFill>
                    <a:srgbClr val="1F3A63"/>
                  </a:solidFill>
                  <a:latin typeface="Calibri" pitchFamily="34" charset="0"/>
                  <a:ea typeface="Calibri" pitchFamily="34" charset="-122"/>
                  <a:cs typeface="Calibri" pitchFamily="34" charset="-120"/>
                </a:rPr>
                <a:t>A fluid-filled swelling that may appear quickly and feel smooth and tense. Ultrasound distinguishes cystic from solid.</a:t>
              </a:r>
            </a:p>
            <a:p>
              <a:pPr>
                <a:lnSpc>
                  <a:spcPct val="90000"/>
                </a:lnSpc>
              </a:pPr>
              <a:r>
                <a:rPr lang="en-GB" noProof="0" dirty="0">
                  <a:solidFill>
                    <a:srgbClr val="1F3A63"/>
                  </a:solidFill>
                  <a:latin typeface="Calibri" pitchFamily="34" charset="0"/>
                  <a:ea typeface="Calibri" pitchFamily="34" charset="-122"/>
                  <a:cs typeface="Calibri" pitchFamily="34" charset="-120"/>
                </a:rPr>
                <a:t>Left alone if it causes no trouble. A tense, painful cyst can be aspirated. Blood stained fluid, or a lump remaining afterwards, needs assessment.</a:t>
              </a:r>
              <a:endParaRPr lang="en-GB" noProof="0" dirty="0"/>
            </a:p>
            <a:p>
              <a:pPr marL="0" indent="0">
                <a:lnSpc>
                  <a:spcPct val="90000"/>
                </a:lnSpc>
                <a:buNone/>
              </a:pPr>
              <a:endParaRPr lang="en-GB" sz="1800" noProof="0" dirty="0"/>
            </a:p>
          </p:txBody>
        </p:sp>
        <p:pic>
          <p:nvPicPr>
            <p:cNvPr id="26" name="Imagen 25">
              <a:extLst>
                <a:ext uri="{FF2B5EF4-FFF2-40B4-BE49-F238E27FC236}">
                  <a16:creationId xmlns:a16="http://schemas.microsoft.com/office/drawing/2014/main" id="{462591C7-BB66-310E-9A9D-2D54A849B174}"/>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015593" y="3315614"/>
              <a:ext cx="4094970" cy="2729980"/>
            </a:xfrm>
            <a:prstGeom prst="rect">
              <a:avLst/>
            </a:prstGeom>
          </p:spPr>
        </p:pic>
      </p:grpSp>
      <p:grpSp>
        <p:nvGrpSpPr>
          <p:cNvPr id="6" name="Grupo 5">
            <a:extLst>
              <a:ext uri="{FF2B5EF4-FFF2-40B4-BE49-F238E27FC236}">
                <a16:creationId xmlns:a16="http://schemas.microsoft.com/office/drawing/2014/main" id="{4872D002-03B8-4202-0B3E-0E8FFA5FEE69}"/>
              </a:ext>
            </a:extLst>
          </p:cNvPr>
          <p:cNvGrpSpPr/>
          <p:nvPr/>
        </p:nvGrpSpPr>
        <p:grpSpPr>
          <a:xfrm>
            <a:off x="6160653" y="1236690"/>
            <a:ext cx="5455799" cy="4919472"/>
            <a:chOff x="6160653" y="1236690"/>
            <a:chExt cx="5455799" cy="4919472"/>
          </a:xfrm>
        </p:grpSpPr>
        <p:sp>
          <p:nvSpPr>
            <p:cNvPr id="14" name="Shape 12">
              <a:extLst>
                <a:ext uri="{FF2B5EF4-FFF2-40B4-BE49-F238E27FC236}">
                  <a16:creationId xmlns:a16="http://schemas.microsoft.com/office/drawing/2014/main" id="{8B301545-CE5C-CD49-F52B-1B69844A0467}"/>
                </a:ext>
              </a:extLst>
            </p:cNvPr>
            <p:cNvSpPr/>
            <p:nvPr/>
          </p:nvSpPr>
          <p:spPr>
            <a:xfrm>
              <a:off x="6160653" y="1236690"/>
              <a:ext cx="5455799" cy="4919472"/>
            </a:xfrm>
            <a:prstGeom prst="roundRect">
              <a:avLst>
                <a:gd name="adj" fmla="val 3023"/>
              </a:avLst>
            </a:prstGeom>
            <a:solidFill>
              <a:srgbClr val="F4F8FC"/>
            </a:solidFill>
            <a:ln w="12700">
              <a:solidFill>
                <a:srgbClr val="C8D8EC"/>
              </a:solidFill>
              <a:prstDash val="solid"/>
            </a:ln>
          </p:spPr>
          <p:txBody>
            <a:bodyPr/>
            <a:lstStyle/>
            <a:p>
              <a:endParaRPr lang="en-GB" noProof="0" dirty="0"/>
            </a:p>
          </p:txBody>
        </p:sp>
        <p:sp>
          <p:nvSpPr>
            <p:cNvPr id="16" name="Text 14">
              <a:extLst>
                <a:ext uri="{FF2B5EF4-FFF2-40B4-BE49-F238E27FC236}">
                  <a16:creationId xmlns:a16="http://schemas.microsoft.com/office/drawing/2014/main" id="{847E9ACD-EC52-5313-8268-74E8CF244CA0}"/>
                </a:ext>
              </a:extLst>
            </p:cNvPr>
            <p:cNvSpPr txBox="1"/>
            <p:nvPr/>
          </p:nvSpPr>
          <p:spPr>
            <a:xfrm>
              <a:off x="6325246" y="1366658"/>
              <a:ext cx="4946660" cy="1330452"/>
            </a:xfrm>
            <a:prstGeom prst="rect">
              <a:avLst/>
            </a:prstGeom>
            <a:noFill/>
            <a:ln/>
          </p:spPr>
          <p:txBody>
            <a:bodyPr wrap="square" lIns="0" tIns="0" rIns="0" bIns="0" rtlCol="0" anchor="t"/>
            <a:lstStyle/>
            <a:p>
              <a:r>
                <a:rPr lang="en-GB" sz="2000" b="1" noProof="0" dirty="0">
                  <a:solidFill>
                    <a:schemeClr val="accent1">
                      <a:lumMod val="50000"/>
                    </a:schemeClr>
                  </a:solidFill>
                </a:rPr>
                <a:t>Mastitis</a:t>
              </a:r>
            </a:p>
            <a:p>
              <a:r>
                <a:rPr lang="en-GB" noProof="0" dirty="0">
                  <a:solidFill>
                    <a:schemeClr val="accent1">
                      <a:lumMod val="50000"/>
                    </a:schemeClr>
                  </a:solidFill>
                </a:rPr>
                <a:t>Painful, red, warm, swollen breast, often with fever and commonly during breastfeeding. Continue feeding/expressing, ensure effective drainage, give analgesia and antibiotics when indicated; refer if it does not improve.</a:t>
              </a:r>
            </a:p>
            <a:p>
              <a:endParaRPr lang="en-GB" noProof="0" dirty="0">
                <a:solidFill>
                  <a:schemeClr val="accent1">
                    <a:lumMod val="50000"/>
                  </a:schemeClr>
                </a:solidFill>
              </a:endParaRPr>
            </a:p>
            <a:p>
              <a:r>
                <a:rPr lang="en-GB" sz="2000" b="1" noProof="0" dirty="0">
                  <a:solidFill>
                    <a:schemeClr val="accent1">
                      <a:lumMod val="50000"/>
                    </a:schemeClr>
                  </a:solidFill>
                </a:rPr>
                <a:t>Breast abscess</a:t>
              </a:r>
            </a:p>
            <a:p>
              <a:r>
                <a:rPr lang="en-GB" noProof="0" dirty="0">
                  <a:solidFill>
                    <a:schemeClr val="accent1">
                      <a:lumMod val="50000"/>
                    </a:schemeClr>
                  </a:solidFill>
                </a:rPr>
                <a:t>Usually a fluctuant collection. It requires drainage by aspiration or incision plus antibiotics, with referral according to local capacity.</a:t>
              </a:r>
            </a:p>
            <a:p>
              <a:pPr>
                <a:lnSpc>
                  <a:spcPct val="90000"/>
                </a:lnSpc>
              </a:pPr>
              <a:endParaRPr lang="en-GB" noProof="0" dirty="0"/>
            </a:p>
            <a:p>
              <a:pPr marL="0" indent="0">
                <a:lnSpc>
                  <a:spcPct val="90000"/>
                </a:lnSpc>
                <a:buNone/>
              </a:pPr>
              <a:endParaRPr lang="en-GB" sz="1800" noProof="0" dirty="0"/>
            </a:p>
          </p:txBody>
        </p:sp>
        <p:pic>
          <p:nvPicPr>
            <p:cNvPr id="27" name="Imagen 26">
              <a:extLst>
                <a:ext uri="{FF2B5EF4-FFF2-40B4-BE49-F238E27FC236}">
                  <a16:creationId xmlns:a16="http://schemas.microsoft.com/office/drawing/2014/main" id="{E79B1C89-BDA9-6334-1808-A4A9D0EDCC1E}"/>
                </a:ext>
              </a:extLst>
            </p:cNvPr>
            <p:cNvPicPr>
              <a:picLocks noChangeAspect="1"/>
            </p:cNvPicPr>
            <p:nvPr/>
          </p:nvPicPr>
          <p:blipFill>
            <a:blip r:embed="rId4" cstate="email">
              <a:extLst>
                <a:ext uri="{28A0092B-C50C-407E-A947-70E740481C1C}">
                  <a14:useLocalDpi xmlns:a14="http://schemas.microsoft.com/office/drawing/2010/main"/>
                </a:ext>
              </a:extLst>
            </a:blip>
            <a:srcRect/>
            <a:stretch>
              <a:fillRect/>
            </a:stretch>
          </p:blipFill>
          <p:spPr>
            <a:xfrm>
              <a:off x="6390809" y="4509541"/>
              <a:ext cx="5083682" cy="1536053"/>
            </a:xfrm>
            <a:prstGeom prst="rect">
              <a:avLst/>
            </a:prstGeom>
          </p:spPr>
        </p:pic>
      </p:grpSp>
    </p:spTree>
    <p:extLst>
      <p:ext uri="{BB962C8B-B14F-4D97-AF65-F5344CB8AC3E}">
        <p14:creationId xmlns:p14="http://schemas.microsoft.com/office/powerpoint/2010/main" val="429411062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F6D14BD4-5C80-4780-4BAC-26D3AE7287F0}"/>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58B0B84F-C255-6658-E541-79A989C778BD}"/>
              </a:ext>
            </a:extLst>
          </p:cNvPr>
          <p:cNvSpPr txBox="1"/>
          <p:nvPr/>
        </p:nvSpPr>
        <p:spPr>
          <a:xfrm>
            <a:off x="548640" y="274320"/>
            <a:ext cx="11094415" cy="256032"/>
          </a:xfrm>
          <a:prstGeom prst="rect">
            <a:avLst/>
          </a:prstGeom>
          <a:noFill/>
          <a:ln/>
        </p:spPr>
        <p:txBody>
          <a:bodyPr wrap="square" lIns="0" tIns="0" rIns="0" bIns="0" rtlCol="0" anchor="ctr"/>
          <a:lstStyle/>
          <a:p>
            <a:pPr marL="0" indent="0">
              <a:buNone/>
            </a:pPr>
            <a:r>
              <a:rPr lang="en-GB" sz="1100" b="1" kern="0" spc="100" noProof="0" dirty="0">
                <a:solidFill>
                  <a:srgbClr val="5B7699"/>
                </a:solidFill>
                <a:latin typeface="Calibri" pitchFamily="34" charset="0"/>
                <a:ea typeface="Calibri" pitchFamily="34" charset="-122"/>
                <a:cs typeface="Calibri" pitchFamily="34" charset="-120"/>
              </a:rPr>
              <a:t>S E S S I O N   2</a:t>
            </a:r>
            <a:endParaRPr lang="en-GB" sz="1100" noProof="0" dirty="0"/>
          </a:p>
        </p:txBody>
      </p:sp>
      <p:sp>
        <p:nvSpPr>
          <p:cNvPr id="3" name="Text 1">
            <a:extLst>
              <a:ext uri="{FF2B5EF4-FFF2-40B4-BE49-F238E27FC236}">
                <a16:creationId xmlns:a16="http://schemas.microsoft.com/office/drawing/2014/main" id="{FFC91F42-8464-BAB9-E397-EF71B3B144CA}"/>
              </a:ext>
            </a:extLst>
          </p:cNvPr>
          <p:cNvSpPr txBox="1"/>
          <p:nvPr/>
        </p:nvSpPr>
        <p:spPr>
          <a:xfrm>
            <a:off x="548640" y="6382512"/>
            <a:ext cx="11094415" cy="274320"/>
          </a:xfrm>
          <a:prstGeom prst="rect">
            <a:avLst/>
          </a:prstGeom>
          <a:noFill/>
          <a:ln/>
        </p:spPr>
        <p:txBody>
          <a:bodyPr wrap="square" lIns="0" tIns="0" rIns="0" bIns="0" rtlCol="0" anchor="ctr"/>
          <a:lstStyle/>
          <a:p>
            <a:pPr marL="0" indent="0">
              <a:buNone/>
            </a:pPr>
            <a:r>
              <a:rPr lang="en-GB" sz="1000" noProof="0" dirty="0">
                <a:solidFill>
                  <a:srgbClr val="5B7699"/>
                </a:solidFill>
                <a:latin typeface="Calibri" pitchFamily="34" charset="0"/>
                <a:ea typeface="Calibri" pitchFamily="34" charset="-122"/>
                <a:cs typeface="Calibri" pitchFamily="34" charset="-120"/>
              </a:rPr>
              <a:t>Breast Cancer  |  Frontline HCP  |  Rwanda Biomedical Centre</a:t>
            </a:r>
            <a:endParaRPr lang="en-GB" sz="1000" noProof="0" dirty="0"/>
          </a:p>
        </p:txBody>
      </p:sp>
      <p:sp>
        <p:nvSpPr>
          <p:cNvPr id="4" name="Text 2">
            <a:extLst>
              <a:ext uri="{FF2B5EF4-FFF2-40B4-BE49-F238E27FC236}">
                <a16:creationId xmlns:a16="http://schemas.microsoft.com/office/drawing/2014/main" id="{84A3DD56-9942-4040-B31A-FD3059B013CD}"/>
              </a:ext>
            </a:extLst>
          </p:cNvPr>
          <p:cNvSpPr txBox="1"/>
          <p:nvPr/>
        </p:nvSpPr>
        <p:spPr>
          <a:xfrm>
            <a:off x="548640" y="566928"/>
            <a:ext cx="11094415" cy="566928"/>
          </a:xfrm>
          <a:prstGeom prst="rect">
            <a:avLst/>
          </a:prstGeom>
          <a:noFill/>
          <a:ln/>
        </p:spPr>
        <p:txBody>
          <a:bodyPr wrap="square" lIns="0" tIns="0" rIns="0" bIns="0" rtlCol="0" anchor="t"/>
          <a:lstStyle/>
          <a:p>
            <a:pPr marL="0" indent="0">
              <a:buNone/>
            </a:pPr>
            <a:r>
              <a:rPr lang="en-GB" sz="3000" b="1" noProof="0" dirty="0">
                <a:solidFill>
                  <a:srgbClr val="12315B"/>
                </a:solidFill>
                <a:latin typeface="Calibri" pitchFamily="34" charset="0"/>
                <a:ea typeface="Calibri" pitchFamily="34" charset="-122"/>
                <a:cs typeface="Calibri" pitchFamily="34" charset="-120"/>
              </a:rPr>
              <a:t>Benign breast conditions you will see</a:t>
            </a:r>
            <a:endParaRPr lang="en-GB" sz="3000" noProof="0" dirty="0"/>
          </a:p>
        </p:txBody>
      </p:sp>
      <p:sp>
        <p:nvSpPr>
          <p:cNvPr id="25" name="Text 22">
            <a:extLst>
              <a:ext uri="{FF2B5EF4-FFF2-40B4-BE49-F238E27FC236}">
                <a16:creationId xmlns:a16="http://schemas.microsoft.com/office/drawing/2014/main" id="{E55AE822-726C-4AF7-DBD1-36FE3BCB86E7}"/>
              </a:ext>
            </a:extLst>
          </p:cNvPr>
          <p:cNvSpPr txBox="1"/>
          <p:nvPr/>
        </p:nvSpPr>
        <p:spPr>
          <a:xfrm>
            <a:off x="548640" y="5919466"/>
            <a:ext cx="10938551" cy="585216"/>
          </a:xfrm>
          <a:prstGeom prst="rect">
            <a:avLst/>
          </a:prstGeom>
          <a:noFill/>
          <a:ln/>
        </p:spPr>
        <p:txBody>
          <a:bodyPr wrap="square" lIns="0" tIns="0" rIns="0" bIns="0" rtlCol="0" anchor="ctr"/>
          <a:lstStyle/>
          <a:p>
            <a:pPr marL="0" indent="0">
              <a:lnSpc>
                <a:spcPct val="95000"/>
              </a:lnSpc>
              <a:buNone/>
            </a:pPr>
            <a:r>
              <a:rPr lang="en-GB" sz="1400" b="1" i="1" noProof="0" dirty="0">
                <a:solidFill>
                  <a:srgbClr val="0B1F3F"/>
                </a:solidFill>
                <a:latin typeface="Calibri" pitchFamily="34" charset="0"/>
                <a:ea typeface="Calibri" pitchFamily="34" charset="-122"/>
                <a:cs typeface="Calibri" pitchFamily="34" charset="-120"/>
              </a:rPr>
              <a:t>Gynaecomastia</a:t>
            </a:r>
            <a:r>
              <a:rPr lang="en-GB" sz="1400" i="1" noProof="0" dirty="0">
                <a:solidFill>
                  <a:srgbClr val="0B1F3F"/>
                </a:solidFill>
                <a:latin typeface="Calibri" pitchFamily="34" charset="0"/>
                <a:ea typeface="Calibri" pitchFamily="34" charset="-122"/>
                <a:cs typeface="Calibri" pitchFamily="34" charset="-120"/>
              </a:rPr>
              <a:t> in men is benign enlargement of breast tissue, usually symmetrical, soft and centred behind the nipple. A firm, hard or eccentric mass, skin change, nipple retraction or bloody discharge in a man is not gynaecomastia and needs assessment.</a:t>
            </a:r>
            <a:endParaRPr lang="en-GB" sz="1400" i="1" noProof="0" dirty="0"/>
          </a:p>
        </p:txBody>
      </p:sp>
      <p:grpSp>
        <p:nvGrpSpPr>
          <p:cNvPr id="6" name="Grupo 5">
            <a:extLst>
              <a:ext uri="{FF2B5EF4-FFF2-40B4-BE49-F238E27FC236}">
                <a16:creationId xmlns:a16="http://schemas.microsoft.com/office/drawing/2014/main" id="{2800C598-5D63-7E86-98A3-F467828E6C27}"/>
              </a:ext>
            </a:extLst>
          </p:cNvPr>
          <p:cNvGrpSpPr/>
          <p:nvPr/>
        </p:nvGrpSpPr>
        <p:grpSpPr>
          <a:xfrm>
            <a:off x="6310861" y="1239160"/>
            <a:ext cx="5176330" cy="4621993"/>
            <a:chOff x="6310861" y="1239160"/>
            <a:chExt cx="5176330" cy="4621993"/>
          </a:xfrm>
        </p:grpSpPr>
        <p:sp>
          <p:nvSpPr>
            <p:cNvPr id="20" name="Shape 18">
              <a:extLst>
                <a:ext uri="{FF2B5EF4-FFF2-40B4-BE49-F238E27FC236}">
                  <a16:creationId xmlns:a16="http://schemas.microsoft.com/office/drawing/2014/main" id="{4A77C27B-A518-3894-EE70-A7F2F1F7B1A0}"/>
                </a:ext>
              </a:extLst>
            </p:cNvPr>
            <p:cNvSpPr/>
            <p:nvPr/>
          </p:nvSpPr>
          <p:spPr>
            <a:xfrm>
              <a:off x="6310861" y="1239160"/>
              <a:ext cx="5176330" cy="4621993"/>
            </a:xfrm>
            <a:prstGeom prst="roundRect">
              <a:avLst>
                <a:gd name="adj" fmla="val 3023"/>
              </a:avLst>
            </a:prstGeom>
            <a:solidFill>
              <a:srgbClr val="F4F8FC"/>
            </a:solidFill>
            <a:ln w="12700">
              <a:solidFill>
                <a:srgbClr val="C8D8EC"/>
              </a:solidFill>
              <a:prstDash val="solid"/>
            </a:ln>
          </p:spPr>
          <p:txBody>
            <a:bodyPr/>
            <a:lstStyle/>
            <a:p>
              <a:endParaRPr lang="en-GB" noProof="0" dirty="0"/>
            </a:p>
          </p:txBody>
        </p:sp>
        <p:sp>
          <p:nvSpPr>
            <p:cNvPr id="21" name="Text 19">
              <a:extLst>
                <a:ext uri="{FF2B5EF4-FFF2-40B4-BE49-F238E27FC236}">
                  <a16:creationId xmlns:a16="http://schemas.microsoft.com/office/drawing/2014/main" id="{A6AD6562-3EF9-5740-ABD2-FA54AEDB16AD}"/>
                </a:ext>
              </a:extLst>
            </p:cNvPr>
            <p:cNvSpPr txBox="1"/>
            <p:nvPr/>
          </p:nvSpPr>
          <p:spPr>
            <a:xfrm>
              <a:off x="6539387" y="1330601"/>
              <a:ext cx="4693271" cy="292608"/>
            </a:xfrm>
            <a:prstGeom prst="rect">
              <a:avLst/>
            </a:prstGeom>
            <a:noFill/>
            <a:ln/>
          </p:spPr>
          <p:txBody>
            <a:bodyPr wrap="square" lIns="0" tIns="0" rIns="0" bIns="0" rtlCol="0" anchor="t"/>
            <a:lstStyle/>
            <a:p>
              <a:pPr marL="0" indent="0">
                <a:buNone/>
              </a:pPr>
              <a:r>
                <a:rPr lang="en-GB" sz="2000" b="1" noProof="0" dirty="0">
                  <a:solidFill>
                    <a:srgbClr val="12315B"/>
                  </a:solidFill>
                  <a:latin typeface="Calibri" pitchFamily="34" charset="0"/>
                  <a:ea typeface="Calibri" pitchFamily="34" charset="-122"/>
                  <a:cs typeface="Calibri" pitchFamily="34" charset="-120"/>
                </a:rPr>
                <a:t>Intraductal papilloma</a:t>
              </a:r>
              <a:endParaRPr lang="en-GB" sz="2000" noProof="0" dirty="0"/>
            </a:p>
          </p:txBody>
        </p:sp>
        <p:sp>
          <p:nvSpPr>
            <p:cNvPr id="22" name="Text 20">
              <a:extLst>
                <a:ext uri="{FF2B5EF4-FFF2-40B4-BE49-F238E27FC236}">
                  <a16:creationId xmlns:a16="http://schemas.microsoft.com/office/drawing/2014/main" id="{205CDD01-C676-A712-B1D0-EE21F3546F84}"/>
                </a:ext>
              </a:extLst>
            </p:cNvPr>
            <p:cNvSpPr txBox="1"/>
            <p:nvPr/>
          </p:nvSpPr>
          <p:spPr>
            <a:xfrm>
              <a:off x="6539387" y="1728889"/>
              <a:ext cx="4693271" cy="1330452"/>
            </a:xfrm>
            <a:prstGeom prst="rect">
              <a:avLst/>
            </a:prstGeom>
            <a:noFill/>
            <a:ln/>
          </p:spPr>
          <p:txBody>
            <a:bodyPr wrap="square" lIns="0" tIns="0" rIns="0" bIns="0" rtlCol="0" anchor="t"/>
            <a:lstStyle/>
            <a:p>
              <a:pPr>
                <a:lnSpc>
                  <a:spcPct val="90000"/>
                </a:lnSpc>
              </a:pPr>
              <a:r>
                <a:rPr lang="en-GB" sz="1800" noProof="0" dirty="0">
                  <a:solidFill>
                    <a:srgbClr val="1F3A63"/>
                  </a:solidFill>
                  <a:latin typeface="Calibri" pitchFamily="34" charset="0"/>
                  <a:ea typeface="Calibri" pitchFamily="34" charset="-122"/>
                  <a:cs typeface="Calibri" pitchFamily="34" charset="-120"/>
                </a:rPr>
                <a:t>A small benign growth within a duct. A common cause of single-duct nipple discharge, which may be blood stained</a:t>
              </a:r>
              <a:r>
                <a:rPr lang="en-GB" dirty="0">
                  <a:solidFill>
                    <a:srgbClr val="1F3A63"/>
                  </a:solidFill>
                  <a:latin typeface="Calibri" pitchFamily="34" charset="0"/>
                  <a:ea typeface="Calibri" pitchFamily="34" charset="-122"/>
                  <a:cs typeface="Calibri" pitchFamily="34" charset="-120"/>
                </a:rPr>
                <a:t>.</a:t>
              </a:r>
              <a:br>
                <a:rPr lang="en-GB" dirty="0">
                  <a:solidFill>
                    <a:srgbClr val="1F3A63"/>
                  </a:solidFill>
                  <a:latin typeface="Calibri" pitchFamily="34" charset="0"/>
                  <a:ea typeface="Calibri" pitchFamily="34" charset="-122"/>
                  <a:cs typeface="Calibri" pitchFamily="34" charset="-120"/>
                </a:rPr>
              </a:br>
              <a:r>
                <a:rPr lang="en-GB" dirty="0">
                  <a:solidFill>
                    <a:srgbClr val="1F3A63"/>
                  </a:solidFill>
                  <a:latin typeface="Calibri" pitchFamily="34" charset="0"/>
                  <a:ea typeface="Calibri" pitchFamily="34" charset="-122"/>
                  <a:cs typeface="Calibri" pitchFamily="34" charset="-120"/>
                </a:rPr>
                <a:t>Assessed and usually excised, both to treat the discharge and to confirm the diagnosis on tissue.</a:t>
              </a:r>
              <a:endParaRPr lang="en-GB" dirty="0"/>
            </a:p>
            <a:p>
              <a:pPr marL="0" indent="0">
                <a:lnSpc>
                  <a:spcPct val="90000"/>
                </a:lnSpc>
                <a:buNone/>
              </a:pPr>
              <a:endParaRPr lang="en-GB" sz="1800" noProof="0" dirty="0"/>
            </a:p>
          </p:txBody>
        </p:sp>
        <p:pic>
          <p:nvPicPr>
            <p:cNvPr id="26" name="Imagen 25">
              <a:extLst>
                <a:ext uri="{FF2B5EF4-FFF2-40B4-BE49-F238E27FC236}">
                  <a16:creationId xmlns:a16="http://schemas.microsoft.com/office/drawing/2014/main" id="{60276543-656B-5FA4-9DD9-51C13AE6EDE0}"/>
                </a:ext>
              </a:extLst>
            </p:cNvPr>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a:xfrm>
              <a:off x="6539387" y="3429000"/>
              <a:ext cx="4705523" cy="1731444"/>
            </a:xfrm>
            <a:prstGeom prst="rect">
              <a:avLst/>
            </a:prstGeom>
          </p:spPr>
        </p:pic>
      </p:grpSp>
      <p:grpSp>
        <p:nvGrpSpPr>
          <p:cNvPr id="5" name="Grupo 4">
            <a:extLst>
              <a:ext uri="{FF2B5EF4-FFF2-40B4-BE49-F238E27FC236}">
                <a16:creationId xmlns:a16="http://schemas.microsoft.com/office/drawing/2014/main" id="{ED2A95C5-66A6-6515-167E-9940833BB85C}"/>
              </a:ext>
            </a:extLst>
          </p:cNvPr>
          <p:cNvGrpSpPr/>
          <p:nvPr/>
        </p:nvGrpSpPr>
        <p:grpSpPr>
          <a:xfrm>
            <a:off x="548640" y="1239160"/>
            <a:ext cx="5332502" cy="4621993"/>
            <a:chOff x="548640" y="1239160"/>
            <a:chExt cx="5332502" cy="4621993"/>
          </a:xfrm>
        </p:grpSpPr>
        <p:sp>
          <p:nvSpPr>
            <p:cNvPr id="17" name="Shape 15">
              <a:extLst>
                <a:ext uri="{FF2B5EF4-FFF2-40B4-BE49-F238E27FC236}">
                  <a16:creationId xmlns:a16="http://schemas.microsoft.com/office/drawing/2014/main" id="{E59CD0CE-F352-F141-0340-72DC40D8E600}"/>
                </a:ext>
              </a:extLst>
            </p:cNvPr>
            <p:cNvSpPr/>
            <p:nvPr/>
          </p:nvSpPr>
          <p:spPr>
            <a:xfrm>
              <a:off x="548640" y="1239160"/>
              <a:ext cx="5332502" cy="4621993"/>
            </a:xfrm>
            <a:prstGeom prst="roundRect">
              <a:avLst>
                <a:gd name="adj" fmla="val 3023"/>
              </a:avLst>
            </a:prstGeom>
            <a:solidFill>
              <a:srgbClr val="F4F8FC"/>
            </a:solidFill>
            <a:ln w="12700">
              <a:solidFill>
                <a:srgbClr val="C8D8EC"/>
              </a:solidFill>
              <a:prstDash val="solid"/>
            </a:ln>
          </p:spPr>
          <p:txBody>
            <a:bodyPr/>
            <a:lstStyle/>
            <a:p>
              <a:endParaRPr lang="en-GB" noProof="0" dirty="0"/>
            </a:p>
          </p:txBody>
        </p:sp>
        <p:sp>
          <p:nvSpPr>
            <p:cNvPr id="18" name="Text 16">
              <a:extLst>
                <a:ext uri="{FF2B5EF4-FFF2-40B4-BE49-F238E27FC236}">
                  <a16:creationId xmlns:a16="http://schemas.microsoft.com/office/drawing/2014/main" id="{FDB2CD78-9CCA-6B18-4637-80FD46D3113B}"/>
                </a:ext>
              </a:extLst>
            </p:cNvPr>
            <p:cNvSpPr txBox="1"/>
            <p:nvPr/>
          </p:nvSpPr>
          <p:spPr>
            <a:xfrm>
              <a:off x="713231" y="1330601"/>
              <a:ext cx="4834869" cy="292608"/>
            </a:xfrm>
            <a:prstGeom prst="rect">
              <a:avLst/>
            </a:prstGeom>
            <a:noFill/>
            <a:ln/>
          </p:spPr>
          <p:txBody>
            <a:bodyPr wrap="square" lIns="0" tIns="0" rIns="0" bIns="0" rtlCol="0" anchor="t"/>
            <a:lstStyle/>
            <a:p>
              <a:pPr marL="0" indent="0">
                <a:buNone/>
              </a:pPr>
              <a:r>
                <a:rPr lang="en-GB" sz="2000" b="1" noProof="0" dirty="0">
                  <a:solidFill>
                    <a:srgbClr val="12315B"/>
                  </a:solidFill>
                  <a:latin typeface="Calibri" pitchFamily="34" charset="0"/>
                  <a:ea typeface="Calibri" pitchFamily="34" charset="-122"/>
                  <a:cs typeface="Calibri" pitchFamily="34" charset="-120"/>
                </a:rPr>
                <a:t>Duct ectasia and periductal changes</a:t>
              </a:r>
              <a:endParaRPr lang="en-GB" sz="2000" noProof="0" dirty="0"/>
            </a:p>
          </p:txBody>
        </p:sp>
        <p:sp>
          <p:nvSpPr>
            <p:cNvPr id="19" name="Text 17">
              <a:extLst>
                <a:ext uri="{FF2B5EF4-FFF2-40B4-BE49-F238E27FC236}">
                  <a16:creationId xmlns:a16="http://schemas.microsoft.com/office/drawing/2014/main" id="{A05AAB74-CC5D-F110-C0A3-1E29D3563153}"/>
                </a:ext>
              </a:extLst>
            </p:cNvPr>
            <p:cNvSpPr txBox="1"/>
            <p:nvPr/>
          </p:nvSpPr>
          <p:spPr>
            <a:xfrm>
              <a:off x="713231" y="1728889"/>
              <a:ext cx="4834869" cy="1330452"/>
            </a:xfrm>
            <a:prstGeom prst="rect">
              <a:avLst/>
            </a:prstGeom>
            <a:noFill/>
            <a:ln/>
          </p:spPr>
          <p:txBody>
            <a:bodyPr wrap="square" lIns="0" tIns="0" rIns="0" bIns="0" rtlCol="0" anchor="t"/>
            <a:lstStyle/>
            <a:p>
              <a:pPr marL="0" indent="0">
                <a:lnSpc>
                  <a:spcPct val="90000"/>
                </a:lnSpc>
                <a:buNone/>
              </a:pPr>
              <a:r>
                <a:rPr lang="en-GB" sz="1800" noProof="0" dirty="0">
                  <a:solidFill>
                    <a:srgbClr val="1F3A63"/>
                  </a:solidFill>
                  <a:latin typeface="Calibri" pitchFamily="34" charset="0"/>
                  <a:ea typeface="Calibri" pitchFamily="34" charset="-122"/>
                  <a:cs typeface="Calibri" pitchFamily="34" charset="-120"/>
                </a:rPr>
                <a:t>Dilated ducts beneath the areola, sometimes with thick discharge, nipple tenderness or nipple retraction, usually around the menopause.</a:t>
              </a:r>
            </a:p>
            <a:p>
              <a:pPr marL="0" indent="0">
                <a:lnSpc>
                  <a:spcPct val="90000"/>
                </a:lnSpc>
                <a:buNone/>
              </a:pPr>
              <a:r>
                <a:rPr lang="en-GB" dirty="0">
                  <a:solidFill>
                    <a:schemeClr val="accent1">
                      <a:lumMod val="50000"/>
                    </a:schemeClr>
                  </a:solidFill>
                </a:rPr>
                <a:t>M</a:t>
              </a:r>
              <a:r>
                <a:rPr lang="en-GB" sz="1800" noProof="0" dirty="0" err="1">
                  <a:solidFill>
                    <a:schemeClr val="accent1">
                      <a:lumMod val="50000"/>
                    </a:schemeClr>
                  </a:solidFill>
                </a:rPr>
                <a:t>anaged</a:t>
              </a:r>
              <a:r>
                <a:rPr lang="en-GB" sz="1800" noProof="0" dirty="0">
                  <a:solidFill>
                    <a:schemeClr val="accent1">
                      <a:lumMod val="50000"/>
                    </a:schemeClr>
                  </a:solidFill>
                </a:rPr>
                <a:t> conservatively with reassurance, analgesia, warm compresses and smoking cessation where relevant</a:t>
              </a:r>
              <a:r>
                <a:rPr lang="en-GB" sz="1800" noProof="0" dirty="0"/>
                <a:t>. </a:t>
              </a:r>
            </a:p>
            <a:p>
              <a:pPr marL="0" indent="0">
                <a:lnSpc>
                  <a:spcPct val="90000"/>
                </a:lnSpc>
                <a:buNone/>
              </a:pPr>
              <a:endParaRPr lang="en-GB" sz="1800" noProof="0" dirty="0"/>
            </a:p>
          </p:txBody>
        </p:sp>
        <p:pic>
          <p:nvPicPr>
            <p:cNvPr id="28" name="Imagen 27">
              <a:extLst>
                <a:ext uri="{FF2B5EF4-FFF2-40B4-BE49-F238E27FC236}">
                  <a16:creationId xmlns:a16="http://schemas.microsoft.com/office/drawing/2014/main" id="{95BF432C-067C-7D31-AE3B-1A096AD332A0}"/>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752987" y="3278453"/>
              <a:ext cx="4834869" cy="2390869"/>
            </a:xfrm>
            <a:prstGeom prst="rect">
              <a:avLst/>
            </a:prstGeom>
          </p:spPr>
        </p:pic>
      </p:grpSp>
    </p:spTree>
    <p:extLst>
      <p:ext uri="{BB962C8B-B14F-4D97-AF65-F5344CB8AC3E}">
        <p14:creationId xmlns:p14="http://schemas.microsoft.com/office/powerpoint/2010/main" val="1708543913"/>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en-GB" sz="1100" b="1" kern="0" spc="100" noProof="0" dirty="0">
                <a:solidFill>
                  <a:srgbClr val="5B7699"/>
                </a:solidFill>
                <a:latin typeface="Calibri" pitchFamily="34" charset="0"/>
                <a:ea typeface="Calibri" pitchFamily="34" charset="-122"/>
                <a:cs typeface="Calibri" pitchFamily="34" charset="-120"/>
              </a:rPr>
              <a:t>S E S S I O N   2</a:t>
            </a:r>
            <a:endParaRPr lang="en-GB"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en-GB" sz="1000" noProof="0" dirty="0">
                <a:solidFill>
                  <a:srgbClr val="5B7699"/>
                </a:solidFill>
                <a:latin typeface="Calibri" pitchFamily="34" charset="0"/>
                <a:ea typeface="Calibri" pitchFamily="34" charset="-122"/>
                <a:cs typeface="Calibri" pitchFamily="34" charset="-120"/>
              </a:rPr>
              <a:t>Breast Cancer  |  Frontline HCP  |  Rwanda Biomedical Centre</a:t>
            </a:r>
            <a:endParaRPr lang="en-GB"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en-GB" sz="3000" b="1" noProof="0" dirty="0">
                <a:solidFill>
                  <a:srgbClr val="12315B"/>
                </a:solidFill>
                <a:latin typeface="Calibri" pitchFamily="34" charset="0"/>
                <a:ea typeface="Calibri" pitchFamily="34" charset="-122"/>
                <a:cs typeface="Calibri" pitchFamily="34" charset="-120"/>
              </a:rPr>
              <a:t>Lesions that carry increased risk</a:t>
            </a:r>
            <a:endParaRPr lang="en-GB" sz="3000" noProof="0" dirty="0"/>
          </a:p>
        </p:txBody>
      </p:sp>
      <p:grpSp>
        <p:nvGrpSpPr>
          <p:cNvPr id="27" name="Grupo 26">
            <a:extLst>
              <a:ext uri="{FF2B5EF4-FFF2-40B4-BE49-F238E27FC236}">
                <a16:creationId xmlns:a16="http://schemas.microsoft.com/office/drawing/2014/main" id="{3B4C9325-D7DD-EFD3-3FF2-47529D6C8501}"/>
              </a:ext>
            </a:extLst>
          </p:cNvPr>
          <p:cNvGrpSpPr/>
          <p:nvPr/>
        </p:nvGrpSpPr>
        <p:grpSpPr>
          <a:xfrm>
            <a:off x="8115605" y="1371599"/>
            <a:ext cx="3527450" cy="4389121"/>
            <a:chOff x="8115605" y="1371599"/>
            <a:chExt cx="3527450" cy="4389121"/>
          </a:xfrm>
        </p:grpSpPr>
        <p:sp>
          <p:nvSpPr>
            <p:cNvPr id="11" name="Shape 9"/>
            <p:cNvSpPr/>
            <p:nvPr/>
          </p:nvSpPr>
          <p:spPr>
            <a:xfrm>
              <a:off x="8115605" y="1371599"/>
              <a:ext cx="3527450" cy="4389121"/>
            </a:xfrm>
            <a:prstGeom prst="roundRect">
              <a:avLst>
                <a:gd name="adj" fmla="val 2553"/>
              </a:avLst>
            </a:prstGeom>
            <a:solidFill>
              <a:srgbClr val="F4F8FC"/>
            </a:solidFill>
            <a:ln w="12700">
              <a:solidFill>
                <a:srgbClr val="C8D8EC"/>
              </a:solidFill>
              <a:prstDash val="solid"/>
            </a:ln>
          </p:spPr>
          <p:txBody>
            <a:bodyPr/>
            <a:lstStyle/>
            <a:p>
              <a:endParaRPr lang="en-GB" noProof="0" dirty="0"/>
            </a:p>
          </p:txBody>
        </p:sp>
        <p:sp>
          <p:nvSpPr>
            <p:cNvPr id="12" name="Text 10"/>
            <p:cNvSpPr txBox="1"/>
            <p:nvPr/>
          </p:nvSpPr>
          <p:spPr>
            <a:xfrm>
              <a:off x="8280197" y="1463040"/>
              <a:ext cx="3198266" cy="292608"/>
            </a:xfrm>
            <a:prstGeom prst="rect">
              <a:avLst/>
            </a:prstGeom>
            <a:noFill/>
            <a:ln/>
          </p:spPr>
          <p:txBody>
            <a:bodyPr wrap="square" lIns="0" tIns="0" rIns="0" bIns="0" rtlCol="0" anchor="t"/>
            <a:lstStyle/>
            <a:p>
              <a:pPr marL="0" indent="0">
                <a:buNone/>
              </a:pPr>
              <a:r>
                <a:rPr lang="en-GB" sz="1700" b="1" noProof="0" dirty="0">
                  <a:solidFill>
                    <a:srgbClr val="12315B"/>
                  </a:solidFill>
                  <a:latin typeface="Calibri" pitchFamily="34" charset="0"/>
                  <a:ea typeface="Calibri" pitchFamily="34" charset="-122"/>
                  <a:cs typeface="Calibri" pitchFamily="34" charset="-120"/>
                </a:rPr>
                <a:t>Ductal carcinoma in situ</a:t>
              </a:r>
              <a:endParaRPr lang="en-GB" sz="1700" noProof="0" dirty="0"/>
            </a:p>
          </p:txBody>
        </p:sp>
        <p:sp>
          <p:nvSpPr>
            <p:cNvPr id="13" name="Text 11"/>
            <p:cNvSpPr txBox="1"/>
            <p:nvPr/>
          </p:nvSpPr>
          <p:spPr>
            <a:xfrm>
              <a:off x="8280197" y="1801368"/>
              <a:ext cx="3198266" cy="1664208"/>
            </a:xfrm>
            <a:prstGeom prst="rect">
              <a:avLst/>
            </a:prstGeom>
            <a:noFill/>
            <a:ln/>
          </p:spPr>
          <p:txBody>
            <a:bodyPr wrap="square" lIns="0" tIns="0" rIns="0" bIns="0" rtlCol="0" anchor="t"/>
            <a:lstStyle/>
            <a:p>
              <a:pPr marL="0" indent="0">
                <a:lnSpc>
                  <a:spcPct val="90000"/>
                </a:lnSpc>
                <a:buNone/>
              </a:pPr>
              <a:r>
                <a:rPr lang="en-GB" sz="1800" noProof="0" dirty="0">
                  <a:solidFill>
                    <a:srgbClr val="1F3A63"/>
                  </a:solidFill>
                  <a:latin typeface="Calibri" pitchFamily="34" charset="0"/>
                  <a:ea typeface="Calibri" pitchFamily="34" charset="-122"/>
                  <a:cs typeface="Calibri" pitchFamily="34" charset="-120"/>
                </a:rPr>
                <a:t>A true non-invasive malignancy confined to the duct. It is treated, usually with surgery and sometimes radiotherapy or endocrine therapy.</a:t>
              </a:r>
              <a:endParaRPr lang="en-GB" sz="1800" noProof="0" dirty="0"/>
            </a:p>
          </p:txBody>
        </p:sp>
        <p:pic>
          <p:nvPicPr>
            <p:cNvPr id="25" name="Imagen 24">
              <a:extLst>
                <a:ext uri="{FF2B5EF4-FFF2-40B4-BE49-F238E27FC236}">
                  <a16:creationId xmlns:a16="http://schemas.microsoft.com/office/drawing/2014/main" id="{242D3A17-0085-A241-DABF-C2C8ACA243D5}"/>
                </a:ext>
              </a:extLst>
            </p:cNvPr>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a:xfrm>
              <a:off x="8280197" y="3428999"/>
              <a:ext cx="3198266" cy="2132177"/>
            </a:xfrm>
            <a:prstGeom prst="rect">
              <a:avLst/>
            </a:prstGeom>
          </p:spPr>
        </p:pic>
      </p:grpSp>
      <p:grpSp>
        <p:nvGrpSpPr>
          <p:cNvPr id="16" name="Grupo 15">
            <a:extLst>
              <a:ext uri="{FF2B5EF4-FFF2-40B4-BE49-F238E27FC236}">
                <a16:creationId xmlns:a16="http://schemas.microsoft.com/office/drawing/2014/main" id="{FAB0EC15-020E-2E9F-96C4-905444935355}"/>
              </a:ext>
            </a:extLst>
          </p:cNvPr>
          <p:cNvGrpSpPr/>
          <p:nvPr/>
        </p:nvGrpSpPr>
        <p:grpSpPr>
          <a:xfrm>
            <a:off x="548640" y="1371600"/>
            <a:ext cx="3527450" cy="4389122"/>
            <a:chOff x="548640" y="1371600"/>
            <a:chExt cx="3527450" cy="4389122"/>
          </a:xfrm>
        </p:grpSpPr>
        <p:sp>
          <p:nvSpPr>
            <p:cNvPr id="5" name="Shape 3"/>
            <p:cNvSpPr/>
            <p:nvPr/>
          </p:nvSpPr>
          <p:spPr>
            <a:xfrm>
              <a:off x="548640" y="1371600"/>
              <a:ext cx="3527450" cy="4389122"/>
            </a:xfrm>
            <a:prstGeom prst="roundRect">
              <a:avLst>
                <a:gd name="adj" fmla="val 2553"/>
              </a:avLst>
            </a:prstGeom>
            <a:solidFill>
              <a:srgbClr val="F4F8FC"/>
            </a:solidFill>
            <a:ln w="12700">
              <a:solidFill>
                <a:srgbClr val="C8D8EC"/>
              </a:solidFill>
              <a:prstDash val="solid"/>
            </a:ln>
          </p:spPr>
          <p:txBody>
            <a:bodyPr/>
            <a:lstStyle/>
            <a:p>
              <a:endParaRPr lang="en-GB" noProof="0" dirty="0"/>
            </a:p>
          </p:txBody>
        </p:sp>
        <p:sp>
          <p:nvSpPr>
            <p:cNvPr id="6" name="Text 4"/>
            <p:cNvSpPr txBox="1"/>
            <p:nvPr/>
          </p:nvSpPr>
          <p:spPr>
            <a:xfrm>
              <a:off x="713232" y="1463040"/>
              <a:ext cx="3198266" cy="292608"/>
            </a:xfrm>
            <a:prstGeom prst="rect">
              <a:avLst/>
            </a:prstGeom>
            <a:noFill/>
            <a:ln/>
          </p:spPr>
          <p:txBody>
            <a:bodyPr wrap="square" lIns="0" tIns="0" rIns="0" bIns="0" rtlCol="0" anchor="t"/>
            <a:lstStyle/>
            <a:p>
              <a:pPr marL="0" indent="0">
                <a:buNone/>
              </a:pPr>
              <a:r>
                <a:rPr lang="en-GB" sz="1700" b="1" noProof="0" dirty="0">
                  <a:solidFill>
                    <a:srgbClr val="12315B"/>
                  </a:solidFill>
                  <a:latin typeface="Calibri" pitchFamily="34" charset="0"/>
                  <a:ea typeface="Calibri" pitchFamily="34" charset="-122"/>
                  <a:cs typeface="Calibri" pitchFamily="34" charset="-120"/>
                </a:rPr>
                <a:t>Atypical ductal hyperplasia</a:t>
              </a:r>
              <a:endParaRPr lang="en-GB" sz="1700" noProof="0" dirty="0"/>
            </a:p>
          </p:txBody>
        </p:sp>
        <p:sp>
          <p:nvSpPr>
            <p:cNvPr id="7" name="Text 5"/>
            <p:cNvSpPr txBox="1"/>
            <p:nvPr/>
          </p:nvSpPr>
          <p:spPr>
            <a:xfrm>
              <a:off x="713232" y="1801368"/>
              <a:ext cx="3198266" cy="1664208"/>
            </a:xfrm>
            <a:prstGeom prst="rect">
              <a:avLst/>
            </a:prstGeom>
            <a:noFill/>
            <a:ln/>
          </p:spPr>
          <p:txBody>
            <a:bodyPr wrap="square" lIns="0" tIns="0" rIns="0" bIns="0" rtlCol="0" anchor="t"/>
            <a:lstStyle/>
            <a:p>
              <a:pPr marL="0" indent="0">
                <a:lnSpc>
                  <a:spcPct val="90000"/>
                </a:lnSpc>
                <a:buNone/>
              </a:pPr>
              <a:r>
                <a:rPr lang="en-GB" sz="1800" noProof="0" dirty="0">
                  <a:solidFill>
                    <a:srgbClr val="1F3A63"/>
                  </a:solidFill>
                  <a:latin typeface="Calibri" pitchFamily="34" charset="0"/>
                  <a:ea typeface="Calibri" pitchFamily="34" charset="-122"/>
                  <a:cs typeface="Calibri" pitchFamily="34" charset="-120"/>
                </a:rPr>
                <a:t>Abnormal cells within a duct that fall short of carcinoma in situ. It is not cancer, and it marks an increased future risk in both breasts.</a:t>
              </a:r>
              <a:endParaRPr lang="en-GB" sz="1800" noProof="0" dirty="0"/>
            </a:p>
          </p:txBody>
        </p:sp>
        <p:grpSp>
          <p:nvGrpSpPr>
            <p:cNvPr id="21" name="Grupo 20">
              <a:extLst>
                <a:ext uri="{FF2B5EF4-FFF2-40B4-BE49-F238E27FC236}">
                  <a16:creationId xmlns:a16="http://schemas.microsoft.com/office/drawing/2014/main" id="{20F1D920-0A9A-DB0B-689F-793FF9396790}"/>
                </a:ext>
              </a:extLst>
            </p:cNvPr>
            <p:cNvGrpSpPr/>
            <p:nvPr/>
          </p:nvGrpSpPr>
          <p:grpSpPr>
            <a:xfrm>
              <a:off x="713232" y="3429000"/>
              <a:ext cx="3198266" cy="2132177"/>
              <a:chOff x="713232" y="3429000"/>
              <a:chExt cx="3198266" cy="2132177"/>
            </a:xfrm>
          </p:grpSpPr>
          <p:pic>
            <p:nvPicPr>
              <p:cNvPr id="23" name="Imagen 22">
                <a:extLst>
                  <a:ext uri="{FF2B5EF4-FFF2-40B4-BE49-F238E27FC236}">
                    <a16:creationId xmlns:a16="http://schemas.microsoft.com/office/drawing/2014/main" id="{961FC062-4026-F11C-A18F-4894AF013057}"/>
                  </a:ext>
                </a:extLst>
              </p:cNvPr>
              <p:cNvPicPr>
                <a:picLocks noChangeAspect="1"/>
              </p:cNvPicPr>
              <p:nvPr/>
            </p:nvPicPr>
            <p:blipFill>
              <a:blip r:embed="rId4" cstate="email">
                <a:extLst>
                  <a:ext uri="{28A0092B-C50C-407E-A947-70E740481C1C}">
                    <a14:useLocalDpi xmlns:a14="http://schemas.microsoft.com/office/drawing/2010/main"/>
                  </a:ext>
                </a:extLst>
              </a:blip>
              <a:srcRect/>
              <a:stretch>
                <a:fillRect/>
              </a:stretch>
            </p:blipFill>
            <p:spPr>
              <a:xfrm>
                <a:off x="713232" y="3429000"/>
                <a:ext cx="3198266" cy="2132177"/>
              </a:xfrm>
              <a:prstGeom prst="rect">
                <a:avLst/>
              </a:prstGeom>
            </p:spPr>
          </p:pic>
          <p:sp>
            <p:nvSpPr>
              <p:cNvPr id="14" name="Rectángulo redondeado 13">
                <a:extLst>
                  <a:ext uri="{FF2B5EF4-FFF2-40B4-BE49-F238E27FC236}">
                    <a16:creationId xmlns:a16="http://schemas.microsoft.com/office/drawing/2014/main" id="{0CEB83A2-EBB8-DF87-DBFD-67476BE2C690}"/>
                  </a:ext>
                </a:extLst>
              </p:cNvPr>
              <p:cNvSpPr/>
              <p:nvPr/>
            </p:nvSpPr>
            <p:spPr>
              <a:xfrm>
                <a:off x="770708" y="5122106"/>
                <a:ext cx="777240" cy="35922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dirty="0"/>
                  <a:t>Normal Duct</a:t>
                </a:r>
              </a:p>
            </p:txBody>
          </p:sp>
          <p:sp>
            <p:nvSpPr>
              <p:cNvPr id="15" name="Rectángulo redondeado 14">
                <a:extLst>
                  <a:ext uri="{FF2B5EF4-FFF2-40B4-BE49-F238E27FC236}">
                    <a16:creationId xmlns:a16="http://schemas.microsoft.com/office/drawing/2014/main" id="{CAF1130B-34B7-EE69-B517-CA9F1E84B09B}"/>
                  </a:ext>
                </a:extLst>
              </p:cNvPr>
              <p:cNvSpPr/>
              <p:nvPr/>
            </p:nvSpPr>
            <p:spPr>
              <a:xfrm>
                <a:off x="1657044" y="5122106"/>
                <a:ext cx="1151471" cy="35922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dirty="0"/>
                  <a:t>Atypical ductal hyperplasia</a:t>
                </a:r>
              </a:p>
            </p:txBody>
          </p:sp>
          <p:sp>
            <p:nvSpPr>
              <p:cNvPr id="17" name="Rectángulo redondeado 16">
                <a:extLst>
                  <a:ext uri="{FF2B5EF4-FFF2-40B4-BE49-F238E27FC236}">
                    <a16:creationId xmlns:a16="http://schemas.microsoft.com/office/drawing/2014/main" id="{9CB413A0-21A1-D8D5-ACBB-E410D5B637D4}"/>
                  </a:ext>
                </a:extLst>
              </p:cNvPr>
              <p:cNvSpPr/>
              <p:nvPr/>
            </p:nvSpPr>
            <p:spPr>
              <a:xfrm>
                <a:off x="2850363" y="5122106"/>
                <a:ext cx="958239" cy="37371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dirty="0"/>
                  <a:t>Increased future risk</a:t>
                </a:r>
              </a:p>
            </p:txBody>
          </p:sp>
        </p:grpSp>
      </p:grpSp>
      <p:grpSp>
        <p:nvGrpSpPr>
          <p:cNvPr id="26" name="Grupo 25">
            <a:extLst>
              <a:ext uri="{FF2B5EF4-FFF2-40B4-BE49-F238E27FC236}">
                <a16:creationId xmlns:a16="http://schemas.microsoft.com/office/drawing/2014/main" id="{1A816001-D4D7-B42A-5C10-B39012718CA5}"/>
              </a:ext>
            </a:extLst>
          </p:cNvPr>
          <p:cNvGrpSpPr/>
          <p:nvPr/>
        </p:nvGrpSpPr>
        <p:grpSpPr>
          <a:xfrm>
            <a:off x="4332122" y="1371599"/>
            <a:ext cx="3527450" cy="4389121"/>
            <a:chOff x="4332122" y="1371599"/>
            <a:chExt cx="3527450" cy="4389121"/>
          </a:xfrm>
        </p:grpSpPr>
        <p:sp>
          <p:nvSpPr>
            <p:cNvPr id="8" name="Shape 6"/>
            <p:cNvSpPr/>
            <p:nvPr/>
          </p:nvSpPr>
          <p:spPr>
            <a:xfrm>
              <a:off x="4332122" y="1371599"/>
              <a:ext cx="3527450" cy="4389121"/>
            </a:xfrm>
            <a:prstGeom prst="roundRect">
              <a:avLst>
                <a:gd name="adj" fmla="val 2553"/>
              </a:avLst>
            </a:prstGeom>
            <a:solidFill>
              <a:srgbClr val="F4F8FC"/>
            </a:solidFill>
            <a:ln w="12700">
              <a:solidFill>
                <a:srgbClr val="C8D8EC"/>
              </a:solidFill>
              <a:prstDash val="solid"/>
            </a:ln>
          </p:spPr>
          <p:txBody>
            <a:bodyPr/>
            <a:lstStyle/>
            <a:p>
              <a:endParaRPr lang="en-GB" noProof="0" dirty="0"/>
            </a:p>
          </p:txBody>
        </p:sp>
        <p:sp>
          <p:nvSpPr>
            <p:cNvPr id="9" name="Text 7"/>
            <p:cNvSpPr txBox="1"/>
            <p:nvPr/>
          </p:nvSpPr>
          <p:spPr>
            <a:xfrm>
              <a:off x="4496714" y="1463040"/>
              <a:ext cx="3198266" cy="292608"/>
            </a:xfrm>
            <a:prstGeom prst="rect">
              <a:avLst/>
            </a:prstGeom>
            <a:noFill/>
            <a:ln/>
          </p:spPr>
          <p:txBody>
            <a:bodyPr wrap="square" lIns="0" tIns="0" rIns="0" bIns="0" rtlCol="0" anchor="t"/>
            <a:lstStyle/>
            <a:p>
              <a:pPr marL="0" indent="0">
                <a:buNone/>
              </a:pPr>
              <a:r>
                <a:rPr lang="en-GB" sz="1700" b="1" noProof="0" dirty="0">
                  <a:solidFill>
                    <a:srgbClr val="12315B"/>
                  </a:solidFill>
                  <a:latin typeface="Calibri" pitchFamily="34" charset="0"/>
                  <a:ea typeface="Calibri" pitchFamily="34" charset="-122"/>
                  <a:cs typeface="Calibri" pitchFamily="34" charset="-120"/>
                </a:rPr>
                <a:t>Lobular carcinoma in situ</a:t>
              </a:r>
              <a:endParaRPr lang="en-GB" sz="1700" noProof="0" dirty="0"/>
            </a:p>
          </p:txBody>
        </p:sp>
        <p:sp>
          <p:nvSpPr>
            <p:cNvPr id="10" name="Text 8"/>
            <p:cNvSpPr txBox="1"/>
            <p:nvPr/>
          </p:nvSpPr>
          <p:spPr>
            <a:xfrm>
              <a:off x="4496714" y="1801368"/>
              <a:ext cx="3198266" cy="1664208"/>
            </a:xfrm>
            <a:prstGeom prst="rect">
              <a:avLst/>
            </a:prstGeom>
            <a:noFill/>
            <a:ln/>
          </p:spPr>
          <p:txBody>
            <a:bodyPr wrap="square" lIns="0" tIns="0" rIns="0" bIns="0" rtlCol="0" anchor="t"/>
            <a:lstStyle/>
            <a:p>
              <a:pPr marL="0" indent="0">
                <a:lnSpc>
                  <a:spcPct val="90000"/>
                </a:lnSpc>
                <a:buNone/>
              </a:pPr>
              <a:r>
                <a:rPr lang="en-GB" sz="1800" noProof="0" dirty="0">
                  <a:solidFill>
                    <a:srgbClr val="1F3A63"/>
                  </a:solidFill>
                  <a:latin typeface="Calibri" pitchFamily="34" charset="0"/>
                  <a:ea typeface="Calibri" pitchFamily="34" charset="-122"/>
                  <a:cs typeface="Calibri" pitchFamily="34" charset="-120"/>
                </a:rPr>
                <a:t>Despite its name it is treated as a risk marker rather than as a cancer that must be removed. It signals increased future risk in both breasts.</a:t>
              </a:r>
              <a:endParaRPr lang="en-GB" sz="1800" noProof="0" dirty="0"/>
            </a:p>
          </p:txBody>
        </p:sp>
        <p:grpSp>
          <p:nvGrpSpPr>
            <p:cNvPr id="22" name="Grupo 21">
              <a:extLst>
                <a:ext uri="{FF2B5EF4-FFF2-40B4-BE49-F238E27FC236}">
                  <a16:creationId xmlns:a16="http://schemas.microsoft.com/office/drawing/2014/main" id="{26A26263-7AEE-8EE2-1579-8EDD53A514FC}"/>
                </a:ext>
              </a:extLst>
            </p:cNvPr>
            <p:cNvGrpSpPr/>
            <p:nvPr/>
          </p:nvGrpSpPr>
          <p:grpSpPr>
            <a:xfrm>
              <a:off x="4496715" y="3429001"/>
              <a:ext cx="3198266" cy="2228681"/>
              <a:chOff x="4496715" y="3429001"/>
              <a:chExt cx="3198266" cy="2228681"/>
            </a:xfrm>
          </p:grpSpPr>
          <p:pic>
            <p:nvPicPr>
              <p:cNvPr id="24" name="Imagen 23">
                <a:extLst>
                  <a:ext uri="{FF2B5EF4-FFF2-40B4-BE49-F238E27FC236}">
                    <a16:creationId xmlns:a16="http://schemas.microsoft.com/office/drawing/2014/main" id="{841112E2-BE31-FEC4-6A5A-5026088C846A}"/>
                  </a:ext>
                </a:extLst>
              </p:cNvPr>
              <p:cNvPicPr>
                <a:picLocks noChangeAspect="1"/>
              </p:cNvPicPr>
              <p:nvPr/>
            </p:nvPicPr>
            <p:blipFill>
              <a:blip r:embed="rId5" cstate="email">
                <a:extLst>
                  <a:ext uri="{28A0092B-C50C-407E-A947-70E740481C1C}">
                    <a14:useLocalDpi xmlns:a14="http://schemas.microsoft.com/office/drawing/2010/main"/>
                  </a:ext>
                </a:extLst>
              </a:blip>
              <a:srcRect/>
              <a:stretch>
                <a:fillRect/>
              </a:stretch>
            </p:blipFill>
            <p:spPr>
              <a:xfrm>
                <a:off x="4496715" y="3429001"/>
                <a:ext cx="3198266" cy="2132178"/>
              </a:xfrm>
              <a:prstGeom prst="rect">
                <a:avLst/>
              </a:prstGeom>
            </p:spPr>
          </p:pic>
          <p:sp>
            <p:nvSpPr>
              <p:cNvPr id="18" name="Rectángulo redondeado 17">
                <a:extLst>
                  <a:ext uri="{FF2B5EF4-FFF2-40B4-BE49-F238E27FC236}">
                    <a16:creationId xmlns:a16="http://schemas.microsoft.com/office/drawing/2014/main" id="{5472A482-DD58-6915-6EA5-565380D83D10}"/>
                  </a:ext>
                </a:extLst>
              </p:cNvPr>
              <p:cNvSpPr/>
              <p:nvPr/>
            </p:nvSpPr>
            <p:spPr>
              <a:xfrm>
                <a:off x="4517638" y="5132237"/>
                <a:ext cx="900415" cy="525445"/>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dirty="0"/>
                  <a:t>Lobular carcinoma in situ</a:t>
                </a:r>
              </a:p>
            </p:txBody>
          </p:sp>
          <p:sp>
            <p:nvSpPr>
              <p:cNvPr id="19" name="Rectángulo redondeado 18">
                <a:extLst>
                  <a:ext uri="{FF2B5EF4-FFF2-40B4-BE49-F238E27FC236}">
                    <a16:creationId xmlns:a16="http://schemas.microsoft.com/office/drawing/2014/main" id="{996D7733-D1A7-78CC-DD71-76342360E77D}"/>
                  </a:ext>
                </a:extLst>
              </p:cNvPr>
              <p:cNvSpPr/>
              <p:nvPr/>
            </p:nvSpPr>
            <p:spPr>
              <a:xfrm>
                <a:off x="5495525" y="5144454"/>
                <a:ext cx="947220" cy="359229"/>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dirty="0"/>
                  <a:t>Lobular carcinoma</a:t>
                </a:r>
              </a:p>
            </p:txBody>
          </p:sp>
          <p:sp>
            <p:nvSpPr>
              <p:cNvPr id="20" name="Rectángulo redondeado 19">
                <a:extLst>
                  <a:ext uri="{FF2B5EF4-FFF2-40B4-BE49-F238E27FC236}">
                    <a16:creationId xmlns:a16="http://schemas.microsoft.com/office/drawing/2014/main" id="{A7D6DFE0-A6EB-CA42-882A-21F5714B07EB}"/>
                  </a:ext>
                </a:extLst>
              </p:cNvPr>
              <p:cNvSpPr/>
              <p:nvPr/>
            </p:nvSpPr>
            <p:spPr>
              <a:xfrm>
                <a:off x="6569049" y="5142753"/>
                <a:ext cx="1031377" cy="37371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GB" sz="1200" dirty="0"/>
                  <a:t>Increased future risk</a:t>
                </a:r>
              </a:p>
            </p:txBody>
          </p:sp>
        </p:grpSp>
      </p:gr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913951E0-703D-5BD7-F8D0-EB686B844B31}"/>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F076ED4A-8B78-8028-4933-AC40AEE8A49C}"/>
              </a:ext>
            </a:extLst>
          </p:cNvPr>
          <p:cNvSpPr txBox="1"/>
          <p:nvPr/>
        </p:nvSpPr>
        <p:spPr>
          <a:xfrm>
            <a:off x="548640" y="274320"/>
            <a:ext cx="11094415" cy="256032"/>
          </a:xfrm>
          <a:prstGeom prst="rect">
            <a:avLst/>
          </a:prstGeom>
          <a:noFill/>
          <a:ln/>
        </p:spPr>
        <p:txBody>
          <a:bodyPr wrap="square" lIns="0" tIns="0" rIns="0" bIns="0" rtlCol="0" anchor="ctr"/>
          <a:lstStyle/>
          <a:p>
            <a:pPr marL="0" indent="0">
              <a:buNone/>
            </a:pPr>
            <a:r>
              <a:rPr lang="en-GB" sz="1100" b="1" kern="0" spc="100" noProof="0" dirty="0">
                <a:solidFill>
                  <a:srgbClr val="5B7699"/>
                </a:solidFill>
                <a:latin typeface="Calibri" pitchFamily="34" charset="0"/>
                <a:ea typeface="Calibri" pitchFamily="34" charset="-122"/>
                <a:cs typeface="Calibri" pitchFamily="34" charset="-120"/>
              </a:rPr>
              <a:t>S E S S I O N   2</a:t>
            </a:r>
            <a:endParaRPr lang="en-GB" sz="1100" noProof="0" dirty="0"/>
          </a:p>
        </p:txBody>
      </p:sp>
      <p:sp>
        <p:nvSpPr>
          <p:cNvPr id="3" name="Text 1">
            <a:extLst>
              <a:ext uri="{FF2B5EF4-FFF2-40B4-BE49-F238E27FC236}">
                <a16:creationId xmlns:a16="http://schemas.microsoft.com/office/drawing/2014/main" id="{EE3D6D54-AE01-9CD2-E632-DFCDAAD35FE7}"/>
              </a:ext>
            </a:extLst>
          </p:cNvPr>
          <p:cNvSpPr txBox="1"/>
          <p:nvPr/>
        </p:nvSpPr>
        <p:spPr>
          <a:xfrm>
            <a:off x="548640" y="6382512"/>
            <a:ext cx="11094415" cy="274320"/>
          </a:xfrm>
          <a:prstGeom prst="rect">
            <a:avLst/>
          </a:prstGeom>
          <a:noFill/>
          <a:ln/>
        </p:spPr>
        <p:txBody>
          <a:bodyPr wrap="square" lIns="0" tIns="0" rIns="0" bIns="0" rtlCol="0" anchor="ctr"/>
          <a:lstStyle/>
          <a:p>
            <a:pPr marL="0" indent="0">
              <a:buNone/>
            </a:pPr>
            <a:r>
              <a:rPr lang="en-GB" sz="1000" noProof="0" dirty="0">
                <a:solidFill>
                  <a:srgbClr val="5B7699"/>
                </a:solidFill>
                <a:latin typeface="Calibri" pitchFamily="34" charset="0"/>
                <a:ea typeface="Calibri" pitchFamily="34" charset="-122"/>
                <a:cs typeface="Calibri" pitchFamily="34" charset="-120"/>
              </a:rPr>
              <a:t>Breast Cancer  |  Frontline HCP  |  Rwanda Biomedical Centre</a:t>
            </a:r>
            <a:endParaRPr lang="en-GB" sz="1000" noProof="0" dirty="0"/>
          </a:p>
        </p:txBody>
      </p:sp>
      <p:sp>
        <p:nvSpPr>
          <p:cNvPr id="4" name="Text 2">
            <a:extLst>
              <a:ext uri="{FF2B5EF4-FFF2-40B4-BE49-F238E27FC236}">
                <a16:creationId xmlns:a16="http://schemas.microsoft.com/office/drawing/2014/main" id="{71966C85-F862-EDFC-BD07-9F7A3D751BDF}"/>
              </a:ext>
            </a:extLst>
          </p:cNvPr>
          <p:cNvSpPr txBox="1"/>
          <p:nvPr/>
        </p:nvSpPr>
        <p:spPr>
          <a:xfrm>
            <a:off x="548640" y="566928"/>
            <a:ext cx="11094415" cy="566928"/>
          </a:xfrm>
          <a:prstGeom prst="rect">
            <a:avLst/>
          </a:prstGeom>
          <a:noFill/>
          <a:ln/>
        </p:spPr>
        <p:txBody>
          <a:bodyPr wrap="square" lIns="0" tIns="0" rIns="0" bIns="0" rtlCol="0" anchor="t"/>
          <a:lstStyle/>
          <a:p>
            <a:pPr marL="0" indent="0">
              <a:buNone/>
            </a:pPr>
            <a:r>
              <a:rPr lang="en-GB" sz="3000" b="1" dirty="0">
                <a:solidFill>
                  <a:srgbClr val="12315B"/>
                </a:solidFill>
                <a:latin typeface="Calibri" pitchFamily="34" charset="0"/>
                <a:ea typeface="Calibri" pitchFamily="34" charset="-122"/>
                <a:cs typeface="Calibri" pitchFamily="34" charset="-120"/>
              </a:rPr>
              <a:t>How to inform about l</a:t>
            </a:r>
            <a:r>
              <a:rPr lang="en-GB" sz="3000" b="1" noProof="0" dirty="0" err="1">
                <a:solidFill>
                  <a:srgbClr val="12315B"/>
                </a:solidFill>
                <a:latin typeface="Calibri" pitchFamily="34" charset="0"/>
                <a:ea typeface="Calibri" pitchFamily="34" charset="-122"/>
                <a:cs typeface="Calibri" pitchFamily="34" charset="-120"/>
              </a:rPr>
              <a:t>esions</a:t>
            </a:r>
            <a:r>
              <a:rPr lang="en-GB" sz="3000" b="1" noProof="0" dirty="0">
                <a:solidFill>
                  <a:srgbClr val="12315B"/>
                </a:solidFill>
                <a:latin typeface="Calibri" pitchFamily="34" charset="0"/>
                <a:ea typeface="Calibri" pitchFamily="34" charset="-122"/>
                <a:cs typeface="Calibri" pitchFamily="34" charset="-120"/>
              </a:rPr>
              <a:t> that carry increased risk</a:t>
            </a:r>
            <a:endParaRPr lang="en-GB" sz="3000" noProof="0" dirty="0"/>
          </a:p>
        </p:txBody>
      </p:sp>
      <p:pic>
        <p:nvPicPr>
          <p:cNvPr id="23" name="Imagen 22">
            <a:extLst>
              <a:ext uri="{FF2B5EF4-FFF2-40B4-BE49-F238E27FC236}">
                <a16:creationId xmlns:a16="http://schemas.microsoft.com/office/drawing/2014/main" id="{CBDB3698-A880-7A20-2E44-9055E728BFB0}"/>
              </a:ext>
            </a:extLst>
          </p:cNvPr>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a:xfrm>
            <a:off x="1595440" y="1014604"/>
            <a:ext cx="8797773" cy="5396484"/>
          </a:xfrm>
          <a:prstGeom prst="rect">
            <a:avLst/>
          </a:prstGeom>
        </p:spPr>
      </p:pic>
    </p:spTree>
    <p:extLst>
      <p:ext uri="{BB962C8B-B14F-4D97-AF65-F5344CB8AC3E}">
        <p14:creationId xmlns:p14="http://schemas.microsoft.com/office/powerpoint/2010/main" val="159717724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en-GB" sz="1100" b="1" kern="0" spc="100" noProof="0" dirty="0">
                <a:solidFill>
                  <a:srgbClr val="5B7699"/>
                </a:solidFill>
                <a:latin typeface="Calibri" pitchFamily="34" charset="0"/>
                <a:ea typeface="Calibri" pitchFamily="34" charset="-122"/>
                <a:cs typeface="Calibri" pitchFamily="34" charset="-120"/>
              </a:rPr>
              <a:t>S E S S I O N   2</a:t>
            </a:r>
            <a:endParaRPr lang="en-GB"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en-GB" sz="1000" noProof="0" dirty="0">
                <a:solidFill>
                  <a:srgbClr val="5B7699"/>
                </a:solidFill>
                <a:latin typeface="Calibri" pitchFamily="34" charset="0"/>
                <a:ea typeface="Calibri" pitchFamily="34" charset="-122"/>
                <a:cs typeface="Calibri" pitchFamily="34" charset="-120"/>
              </a:rPr>
              <a:t>Breast Cancer  |  Frontline HCP  |  Rwanda Biomedical Centre</a:t>
            </a:r>
            <a:endParaRPr lang="en-GB"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en-GB" sz="3000" b="1" noProof="0" dirty="0">
                <a:solidFill>
                  <a:srgbClr val="12315B"/>
                </a:solidFill>
                <a:latin typeface="Calibri" pitchFamily="34" charset="0"/>
                <a:ea typeface="Calibri" pitchFamily="34" charset="-122"/>
                <a:cs typeface="Calibri" pitchFamily="34" charset="-120"/>
              </a:rPr>
              <a:t>Risk factors</a:t>
            </a:r>
            <a:endParaRPr lang="en-GB" sz="3000" noProof="0" dirty="0"/>
          </a:p>
        </p:txBody>
      </p:sp>
      <p:sp>
        <p:nvSpPr>
          <p:cNvPr id="15" name="Text 13"/>
          <p:cNvSpPr txBox="1"/>
          <p:nvPr/>
        </p:nvSpPr>
        <p:spPr>
          <a:xfrm>
            <a:off x="548640" y="5912251"/>
            <a:ext cx="11094415" cy="493776"/>
          </a:xfrm>
          <a:prstGeom prst="rect">
            <a:avLst/>
          </a:prstGeom>
          <a:noFill/>
          <a:ln/>
        </p:spPr>
        <p:txBody>
          <a:bodyPr wrap="square" lIns="0" tIns="0" rIns="0" bIns="0" rtlCol="0" anchor="ctr"/>
          <a:lstStyle/>
          <a:p>
            <a:pPr marL="0" indent="0">
              <a:lnSpc>
                <a:spcPct val="95000"/>
              </a:lnSpc>
              <a:buNone/>
            </a:pPr>
            <a:r>
              <a:rPr lang="en-GB" sz="1400" i="1" noProof="0" dirty="0">
                <a:solidFill>
                  <a:srgbClr val="0B1F3F"/>
                </a:solidFill>
                <a:latin typeface="Calibri" pitchFamily="34" charset="0"/>
                <a:ea typeface="Calibri" pitchFamily="34" charset="-122"/>
                <a:cs typeface="Calibri" pitchFamily="34" charset="-120"/>
              </a:rPr>
              <a:t>Risk factors help you decide who needs a lower threshold for assessment and a fuller history. They do not diagnose anyone. Many people who develop breast cancer have no identifiable risk factor beyond age and sex, and no one should be blamed for their diagnosis.</a:t>
            </a:r>
            <a:endParaRPr lang="en-GB" sz="1400" i="1" noProof="0" dirty="0"/>
          </a:p>
        </p:txBody>
      </p:sp>
      <p:pic>
        <p:nvPicPr>
          <p:cNvPr id="16" name="Imagen 15">
            <a:extLst>
              <a:ext uri="{FF2B5EF4-FFF2-40B4-BE49-F238E27FC236}">
                <a16:creationId xmlns:a16="http://schemas.microsoft.com/office/drawing/2014/main" id="{AE1227C6-24FF-6D0F-9E98-8A97A172DC34}"/>
              </a:ext>
            </a:extLst>
          </p:cNvPr>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a:xfrm>
            <a:off x="1640840" y="1034636"/>
            <a:ext cx="8541184" cy="4877615"/>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name="Slide 5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en-GB" sz="1100" b="1" kern="0" spc="100" noProof="0" dirty="0">
                <a:solidFill>
                  <a:srgbClr val="5B7699"/>
                </a:solidFill>
                <a:latin typeface="Calibri" pitchFamily="34" charset="0"/>
                <a:ea typeface="Calibri" pitchFamily="34" charset="-122"/>
                <a:cs typeface="Calibri" pitchFamily="34" charset="-120"/>
              </a:rPr>
              <a:t>S E S S I O N   2</a:t>
            </a:r>
            <a:endParaRPr lang="en-GB" sz="1100" noProof="0" dirty="0"/>
          </a:p>
        </p:txBody>
      </p:sp>
      <p:sp>
        <p:nvSpPr>
          <p:cNvPr id="3" name="Text 1"/>
          <p:cNvSpPr txBox="1"/>
          <p:nvPr/>
        </p:nvSpPr>
        <p:spPr>
          <a:xfrm>
            <a:off x="548640" y="6317197"/>
            <a:ext cx="11094415" cy="274320"/>
          </a:xfrm>
          <a:prstGeom prst="rect">
            <a:avLst/>
          </a:prstGeom>
          <a:noFill/>
          <a:ln/>
        </p:spPr>
        <p:txBody>
          <a:bodyPr wrap="square" lIns="0" tIns="0" rIns="0" bIns="0" rtlCol="0" anchor="ctr"/>
          <a:lstStyle/>
          <a:p>
            <a:pPr marL="0" indent="0">
              <a:buNone/>
            </a:pPr>
            <a:r>
              <a:rPr lang="en-GB" sz="1000" noProof="0" dirty="0">
                <a:solidFill>
                  <a:srgbClr val="5B7699"/>
                </a:solidFill>
                <a:latin typeface="Calibri" pitchFamily="34" charset="0"/>
                <a:ea typeface="Calibri" pitchFamily="34" charset="-122"/>
                <a:cs typeface="Calibri" pitchFamily="34" charset="-120"/>
              </a:rPr>
              <a:t>Breast Cancer  |  Frontline HCP  |  Rwanda Biomedical Centre</a:t>
            </a:r>
            <a:endParaRPr lang="en-GB"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en-GB" sz="3000" b="1" noProof="0" dirty="0">
                <a:solidFill>
                  <a:srgbClr val="12315B"/>
                </a:solidFill>
                <a:latin typeface="Calibri" pitchFamily="34" charset="0"/>
                <a:ea typeface="Calibri" pitchFamily="34" charset="-122"/>
                <a:cs typeface="Calibri" pitchFamily="34" charset="-120"/>
              </a:rPr>
              <a:t>Family history and hereditary risk</a:t>
            </a:r>
            <a:endParaRPr lang="en-GB" sz="3000" noProof="0" dirty="0"/>
          </a:p>
        </p:txBody>
      </p:sp>
      <p:sp>
        <p:nvSpPr>
          <p:cNvPr id="5" name="Shape 3"/>
          <p:cNvSpPr/>
          <p:nvPr/>
        </p:nvSpPr>
        <p:spPr>
          <a:xfrm>
            <a:off x="548640" y="1110340"/>
            <a:ext cx="11094414" cy="745893"/>
          </a:xfrm>
          <a:prstGeom prst="roundRect">
            <a:avLst>
              <a:gd name="adj" fmla="val 2844"/>
            </a:avLst>
          </a:prstGeom>
          <a:solidFill>
            <a:srgbClr val="F4F8FC"/>
          </a:solidFill>
          <a:ln w="12700">
            <a:solidFill>
              <a:srgbClr val="C8D8EC"/>
            </a:solidFill>
            <a:prstDash val="solid"/>
          </a:ln>
        </p:spPr>
        <p:txBody>
          <a:bodyPr/>
          <a:lstStyle/>
          <a:p>
            <a:endParaRPr lang="en-GB" sz="1600" noProof="0" dirty="0"/>
          </a:p>
        </p:txBody>
      </p:sp>
      <p:sp>
        <p:nvSpPr>
          <p:cNvPr id="6" name="Text 4"/>
          <p:cNvSpPr txBox="1"/>
          <p:nvPr/>
        </p:nvSpPr>
        <p:spPr>
          <a:xfrm>
            <a:off x="713232" y="1136465"/>
            <a:ext cx="10059076" cy="292608"/>
          </a:xfrm>
          <a:prstGeom prst="rect">
            <a:avLst/>
          </a:prstGeom>
          <a:noFill/>
          <a:ln/>
        </p:spPr>
        <p:txBody>
          <a:bodyPr wrap="square" lIns="0" tIns="0" rIns="0" bIns="0" rtlCol="0" anchor="t"/>
          <a:lstStyle/>
          <a:p>
            <a:pPr marL="0" indent="0">
              <a:buNone/>
            </a:pPr>
            <a:r>
              <a:rPr lang="en-GB" sz="1600" b="1" noProof="0" dirty="0">
                <a:solidFill>
                  <a:srgbClr val="12315B"/>
                </a:solidFill>
                <a:latin typeface="Calibri" pitchFamily="34" charset="0"/>
                <a:ea typeface="Calibri" pitchFamily="34" charset="-122"/>
                <a:cs typeface="Calibri" pitchFamily="34" charset="-120"/>
              </a:rPr>
              <a:t>What to ask</a:t>
            </a:r>
            <a:endParaRPr lang="en-GB" sz="1600" noProof="0" dirty="0"/>
          </a:p>
        </p:txBody>
      </p:sp>
      <p:sp>
        <p:nvSpPr>
          <p:cNvPr id="7" name="Text 5"/>
          <p:cNvSpPr txBox="1"/>
          <p:nvPr/>
        </p:nvSpPr>
        <p:spPr>
          <a:xfrm>
            <a:off x="713231" y="1409478"/>
            <a:ext cx="10765232" cy="602202"/>
          </a:xfrm>
          <a:prstGeom prst="rect">
            <a:avLst/>
          </a:prstGeom>
          <a:noFill/>
          <a:ln/>
        </p:spPr>
        <p:txBody>
          <a:bodyPr wrap="square" lIns="0" tIns="0" rIns="0" bIns="0" rtlCol="0" anchor="t"/>
          <a:lstStyle/>
          <a:p>
            <a:pPr marL="0" indent="0">
              <a:lnSpc>
                <a:spcPct val="90000"/>
              </a:lnSpc>
              <a:buNone/>
            </a:pPr>
            <a:r>
              <a:rPr lang="en-GB" sz="1600" noProof="0" dirty="0">
                <a:solidFill>
                  <a:srgbClr val="1F3A63"/>
                </a:solidFill>
                <a:latin typeface="Calibri" pitchFamily="34" charset="0"/>
                <a:ea typeface="Calibri" pitchFamily="34" charset="-122"/>
                <a:cs typeface="Calibri" pitchFamily="34" charset="-120"/>
              </a:rPr>
              <a:t>Ask about breast, ovarian, prostate and pancreatic cancer in parents, siblings, children and grandparents, and at what age each occurred.</a:t>
            </a:r>
            <a:endParaRPr lang="en-GB" sz="1600" noProof="0" dirty="0"/>
          </a:p>
        </p:txBody>
      </p:sp>
      <p:sp>
        <p:nvSpPr>
          <p:cNvPr id="8" name="Shape 6"/>
          <p:cNvSpPr/>
          <p:nvPr/>
        </p:nvSpPr>
        <p:spPr>
          <a:xfrm>
            <a:off x="562660" y="1928077"/>
            <a:ext cx="11080394" cy="741966"/>
          </a:xfrm>
          <a:prstGeom prst="roundRect">
            <a:avLst>
              <a:gd name="adj" fmla="val 2844"/>
            </a:avLst>
          </a:prstGeom>
          <a:solidFill>
            <a:srgbClr val="F4F8FC"/>
          </a:solidFill>
          <a:ln w="12700">
            <a:solidFill>
              <a:srgbClr val="C8D8EC"/>
            </a:solidFill>
            <a:prstDash val="solid"/>
          </a:ln>
        </p:spPr>
        <p:txBody>
          <a:bodyPr/>
          <a:lstStyle/>
          <a:p>
            <a:endParaRPr lang="en-GB" sz="1600" noProof="0" dirty="0"/>
          </a:p>
        </p:txBody>
      </p:sp>
      <p:sp>
        <p:nvSpPr>
          <p:cNvPr id="9" name="Text 7"/>
          <p:cNvSpPr txBox="1"/>
          <p:nvPr/>
        </p:nvSpPr>
        <p:spPr>
          <a:xfrm>
            <a:off x="727252" y="1954201"/>
            <a:ext cx="10046364" cy="292608"/>
          </a:xfrm>
          <a:prstGeom prst="rect">
            <a:avLst/>
          </a:prstGeom>
          <a:noFill/>
          <a:ln/>
        </p:spPr>
        <p:txBody>
          <a:bodyPr wrap="square" lIns="0" tIns="0" rIns="0" bIns="0" rtlCol="0" anchor="t"/>
          <a:lstStyle/>
          <a:p>
            <a:pPr marL="0" indent="0">
              <a:buNone/>
            </a:pPr>
            <a:r>
              <a:rPr lang="en-GB" sz="1600" b="1" noProof="0" dirty="0">
                <a:solidFill>
                  <a:srgbClr val="12315B"/>
                </a:solidFill>
                <a:latin typeface="Calibri" pitchFamily="34" charset="0"/>
                <a:ea typeface="Calibri" pitchFamily="34" charset="-122"/>
                <a:cs typeface="Calibri" pitchFamily="34" charset="-120"/>
              </a:rPr>
              <a:t>Patterns that stand out</a:t>
            </a:r>
            <a:endParaRPr lang="en-GB" sz="1600" noProof="0" dirty="0"/>
          </a:p>
        </p:txBody>
      </p:sp>
      <p:sp>
        <p:nvSpPr>
          <p:cNvPr id="10" name="Text 8"/>
          <p:cNvSpPr txBox="1"/>
          <p:nvPr/>
        </p:nvSpPr>
        <p:spPr>
          <a:xfrm>
            <a:off x="727252" y="2227214"/>
            <a:ext cx="10765232" cy="535575"/>
          </a:xfrm>
          <a:prstGeom prst="rect">
            <a:avLst/>
          </a:prstGeom>
          <a:noFill/>
          <a:ln/>
        </p:spPr>
        <p:txBody>
          <a:bodyPr wrap="square" lIns="0" tIns="0" rIns="0" bIns="0" rtlCol="0" anchor="t"/>
          <a:lstStyle/>
          <a:p>
            <a:pPr marL="0" indent="0">
              <a:lnSpc>
                <a:spcPct val="90000"/>
              </a:lnSpc>
              <a:buNone/>
            </a:pPr>
            <a:r>
              <a:rPr lang="en-GB" sz="1600" noProof="0" dirty="0">
                <a:solidFill>
                  <a:srgbClr val="1F3A63"/>
                </a:solidFill>
                <a:latin typeface="Calibri" pitchFamily="34" charset="0"/>
                <a:ea typeface="Calibri" pitchFamily="34" charset="-122"/>
                <a:cs typeface="Calibri" pitchFamily="34" charset="-120"/>
              </a:rPr>
              <a:t>Breast cancer at a young age, breast and ovarian cancer in one family, male breast cancer, cancer in both breasts, or several affected relatives.</a:t>
            </a:r>
            <a:endParaRPr lang="en-GB" sz="1600" noProof="0" dirty="0"/>
          </a:p>
        </p:txBody>
      </p:sp>
      <p:sp>
        <p:nvSpPr>
          <p:cNvPr id="11" name="Shape 9"/>
          <p:cNvSpPr/>
          <p:nvPr/>
        </p:nvSpPr>
        <p:spPr>
          <a:xfrm>
            <a:off x="548639" y="2749725"/>
            <a:ext cx="11094414" cy="735441"/>
          </a:xfrm>
          <a:prstGeom prst="roundRect">
            <a:avLst>
              <a:gd name="adj" fmla="val 2844"/>
            </a:avLst>
          </a:prstGeom>
          <a:solidFill>
            <a:srgbClr val="F4F8FC"/>
          </a:solidFill>
          <a:ln w="12700">
            <a:solidFill>
              <a:srgbClr val="C8D8EC"/>
            </a:solidFill>
            <a:prstDash val="solid"/>
          </a:ln>
        </p:spPr>
        <p:txBody>
          <a:bodyPr/>
          <a:lstStyle/>
          <a:p>
            <a:endParaRPr lang="en-GB" sz="1600" noProof="0" dirty="0"/>
          </a:p>
        </p:txBody>
      </p:sp>
      <p:sp>
        <p:nvSpPr>
          <p:cNvPr id="12" name="Text 10"/>
          <p:cNvSpPr txBox="1"/>
          <p:nvPr/>
        </p:nvSpPr>
        <p:spPr>
          <a:xfrm>
            <a:off x="713231" y="2775850"/>
            <a:ext cx="10059076" cy="292608"/>
          </a:xfrm>
          <a:prstGeom prst="rect">
            <a:avLst/>
          </a:prstGeom>
          <a:noFill/>
          <a:ln/>
        </p:spPr>
        <p:txBody>
          <a:bodyPr wrap="square" lIns="0" tIns="0" rIns="0" bIns="0" rtlCol="0" anchor="t"/>
          <a:lstStyle/>
          <a:p>
            <a:pPr marL="0" indent="0">
              <a:buNone/>
            </a:pPr>
            <a:r>
              <a:rPr lang="en-GB" sz="1600" b="1" noProof="0" dirty="0">
                <a:solidFill>
                  <a:srgbClr val="12315B"/>
                </a:solidFill>
                <a:latin typeface="Calibri" pitchFamily="34" charset="0"/>
                <a:ea typeface="Calibri" pitchFamily="34" charset="-122"/>
                <a:cs typeface="Calibri" pitchFamily="34" charset="-120"/>
              </a:rPr>
              <a:t>BRCA1 and BRCA2</a:t>
            </a:r>
            <a:endParaRPr lang="en-GB" sz="1600" noProof="0" dirty="0"/>
          </a:p>
        </p:txBody>
      </p:sp>
      <p:sp>
        <p:nvSpPr>
          <p:cNvPr id="13" name="Text 11"/>
          <p:cNvSpPr txBox="1"/>
          <p:nvPr/>
        </p:nvSpPr>
        <p:spPr>
          <a:xfrm>
            <a:off x="713231" y="3048863"/>
            <a:ext cx="10765232" cy="534272"/>
          </a:xfrm>
          <a:prstGeom prst="rect">
            <a:avLst/>
          </a:prstGeom>
          <a:noFill/>
          <a:ln/>
        </p:spPr>
        <p:txBody>
          <a:bodyPr wrap="square" lIns="0" tIns="0" rIns="0" bIns="0" rtlCol="0" anchor="t"/>
          <a:lstStyle/>
          <a:p>
            <a:pPr marL="0" indent="0">
              <a:lnSpc>
                <a:spcPct val="90000"/>
              </a:lnSpc>
              <a:buNone/>
            </a:pPr>
            <a:r>
              <a:rPr lang="en-GB" sz="1600" noProof="0" dirty="0">
                <a:solidFill>
                  <a:srgbClr val="1F3A63"/>
                </a:solidFill>
                <a:latin typeface="Calibri" pitchFamily="34" charset="0"/>
                <a:ea typeface="Calibri" pitchFamily="34" charset="-122"/>
                <a:cs typeface="Calibri" pitchFamily="34" charset="-120"/>
              </a:rPr>
              <a:t>Inherited pathogenic variants in these genes substantially increase breast and ovarian cancer risk. They explain a minority of all breast cancers.</a:t>
            </a:r>
            <a:endParaRPr lang="en-GB" sz="1600" noProof="0" dirty="0"/>
          </a:p>
        </p:txBody>
      </p:sp>
      <p:sp>
        <p:nvSpPr>
          <p:cNvPr id="14" name="Shape 12"/>
          <p:cNvSpPr/>
          <p:nvPr/>
        </p:nvSpPr>
        <p:spPr>
          <a:xfrm>
            <a:off x="548637" y="5195096"/>
            <a:ext cx="11094413" cy="807287"/>
          </a:xfrm>
          <a:prstGeom prst="roundRect">
            <a:avLst>
              <a:gd name="adj" fmla="val 2844"/>
            </a:avLst>
          </a:prstGeom>
          <a:solidFill>
            <a:srgbClr val="F4F8FC"/>
          </a:solidFill>
          <a:ln w="12700">
            <a:solidFill>
              <a:srgbClr val="C8D8EC"/>
            </a:solidFill>
            <a:prstDash val="solid"/>
          </a:ln>
        </p:spPr>
        <p:txBody>
          <a:bodyPr/>
          <a:lstStyle/>
          <a:p>
            <a:endParaRPr lang="en-GB" sz="1600" noProof="0" dirty="0"/>
          </a:p>
        </p:txBody>
      </p:sp>
      <p:sp>
        <p:nvSpPr>
          <p:cNvPr id="15" name="Text 13"/>
          <p:cNvSpPr txBox="1"/>
          <p:nvPr/>
        </p:nvSpPr>
        <p:spPr>
          <a:xfrm>
            <a:off x="713229" y="5208158"/>
            <a:ext cx="10059075" cy="292608"/>
          </a:xfrm>
          <a:prstGeom prst="rect">
            <a:avLst/>
          </a:prstGeom>
          <a:noFill/>
          <a:ln/>
        </p:spPr>
        <p:txBody>
          <a:bodyPr wrap="square" lIns="0" tIns="0" rIns="0" bIns="0" rtlCol="0" anchor="t"/>
          <a:lstStyle/>
          <a:p>
            <a:pPr marL="0" indent="0">
              <a:buNone/>
            </a:pPr>
            <a:r>
              <a:rPr lang="en-GB" sz="1600" b="1" noProof="0" dirty="0">
                <a:solidFill>
                  <a:srgbClr val="12315B"/>
                </a:solidFill>
                <a:latin typeface="Calibri" pitchFamily="34" charset="0"/>
                <a:ea typeface="Calibri" pitchFamily="34" charset="-122"/>
                <a:cs typeface="Calibri" pitchFamily="34" charset="-120"/>
              </a:rPr>
              <a:t>Most cancers are not inherited</a:t>
            </a:r>
            <a:endParaRPr lang="en-GB" sz="1600" noProof="0" dirty="0"/>
          </a:p>
        </p:txBody>
      </p:sp>
      <p:sp>
        <p:nvSpPr>
          <p:cNvPr id="16" name="Text 14"/>
          <p:cNvSpPr txBox="1"/>
          <p:nvPr/>
        </p:nvSpPr>
        <p:spPr>
          <a:xfrm>
            <a:off x="713229" y="5546486"/>
            <a:ext cx="10765231" cy="434341"/>
          </a:xfrm>
          <a:prstGeom prst="rect">
            <a:avLst/>
          </a:prstGeom>
          <a:noFill/>
          <a:ln/>
        </p:spPr>
        <p:txBody>
          <a:bodyPr wrap="square" lIns="0" tIns="0" rIns="0" bIns="0" rtlCol="0" anchor="t"/>
          <a:lstStyle/>
          <a:p>
            <a:pPr marL="0" indent="0">
              <a:lnSpc>
                <a:spcPct val="90000"/>
              </a:lnSpc>
              <a:buNone/>
            </a:pPr>
            <a:r>
              <a:rPr lang="en-GB" sz="1600" noProof="0" dirty="0">
                <a:solidFill>
                  <a:srgbClr val="1F3A63"/>
                </a:solidFill>
                <a:latin typeface="Calibri" pitchFamily="34" charset="0"/>
                <a:ea typeface="Calibri" pitchFamily="34" charset="-122"/>
                <a:cs typeface="Calibri" pitchFamily="34" charset="-120"/>
              </a:rPr>
              <a:t>The majority of people with breast cancer have no strong family history. Absence of family history never makes a breast change less worth assessing.</a:t>
            </a:r>
            <a:endParaRPr lang="en-GB" sz="1600" noProof="0" dirty="0"/>
          </a:p>
        </p:txBody>
      </p:sp>
      <p:sp>
        <p:nvSpPr>
          <p:cNvPr id="17" name="Shape 15"/>
          <p:cNvSpPr/>
          <p:nvPr/>
        </p:nvSpPr>
        <p:spPr>
          <a:xfrm>
            <a:off x="548639" y="3556363"/>
            <a:ext cx="11094414" cy="782465"/>
          </a:xfrm>
          <a:prstGeom prst="roundRect">
            <a:avLst>
              <a:gd name="adj" fmla="val 2844"/>
            </a:avLst>
          </a:prstGeom>
          <a:solidFill>
            <a:srgbClr val="F4F8FC"/>
          </a:solidFill>
          <a:ln w="12700">
            <a:solidFill>
              <a:srgbClr val="C8D8EC"/>
            </a:solidFill>
            <a:prstDash val="solid"/>
          </a:ln>
        </p:spPr>
        <p:txBody>
          <a:bodyPr/>
          <a:lstStyle/>
          <a:p>
            <a:endParaRPr lang="en-GB" noProof="0" dirty="0"/>
          </a:p>
        </p:txBody>
      </p:sp>
      <p:sp>
        <p:nvSpPr>
          <p:cNvPr id="18" name="Text 16"/>
          <p:cNvSpPr txBox="1"/>
          <p:nvPr/>
        </p:nvSpPr>
        <p:spPr>
          <a:xfrm>
            <a:off x="713231" y="3582488"/>
            <a:ext cx="10059076" cy="292608"/>
          </a:xfrm>
          <a:prstGeom prst="rect">
            <a:avLst/>
          </a:prstGeom>
          <a:noFill/>
          <a:ln/>
        </p:spPr>
        <p:txBody>
          <a:bodyPr wrap="square" lIns="0" tIns="0" rIns="0" bIns="0" rtlCol="0" anchor="t"/>
          <a:lstStyle/>
          <a:p>
            <a:pPr marL="0" indent="0">
              <a:buNone/>
            </a:pPr>
            <a:r>
              <a:rPr lang="en-GB" sz="1600" b="1" noProof="0" dirty="0">
                <a:solidFill>
                  <a:srgbClr val="12315B"/>
                </a:solidFill>
                <a:latin typeface="Calibri" pitchFamily="34" charset="0"/>
                <a:ea typeface="Calibri" pitchFamily="34" charset="-122"/>
                <a:cs typeface="Calibri" pitchFamily="34" charset="-120"/>
              </a:rPr>
              <a:t>Your role</a:t>
            </a:r>
            <a:endParaRPr lang="en-GB" sz="1600" noProof="0" dirty="0"/>
          </a:p>
        </p:txBody>
      </p:sp>
      <p:sp>
        <p:nvSpPr>
          <p:cNvPr id="19" name="Text 17"/>
          <p:cNvSpPr txBox="1"/>
          <p:nvPr/>
        </p:nvSpPr>
        <p:spPr>
          <a:xfrm>
            <a:off x="713231" y="3868564"/>
            <a:ext cx="10765232" cy="480051"/>
          </a:xfrm>
          <a:prstGeom prst="rect">
            <a:avLst/>
          </a:prstGeom>
          <a:noFill/>
          <a:ln/>
        </p:spPr>
        <p:txBody>
          <a:bodyPr wrap="square" lIns="0" tIns="0" rIns="0" bIns="0" rtlCol="0" anchor="t"/>
          <a:lstStyle/>
          <a:p>
            <a:pPr marL="0" indent="0">
              <a:lnSpc>
                <a:spcPct val="90000"/>
              </a:lnSpc>
              <a:buNone/>
            </a:pPr>
            <a:r>
              <a:rPr lang="en-GB" sz="1600" noProof="0" dirty="0">
                <a:solidFill>
                  <a:srgbClr val="1F3A63"/>
                </a:solidFill>
                <a:latin typeface="Calibri" pitchFamily="34" charset="0"/>
                <a:ea typeface="Calibri" pitchFamily="34" charset="-122"/>
                <a:cs typeface="Calibri" pitchFamily="34" charset="-120"/>
              </a:rPr>
              <a:t>Take the family history, record it, explain that a pattern may justify specialist assessment, and refer. You are not expected to diagnose a syndrome.</a:t>
            </a:r>
            <a:endParaRPr lang="en-GB" sz="1600" noProof="0" dirty="0"/>
          </a:p>
        </p:txBody>
      </p:sp>
      <p:sp>
        <p:nvSpPr>
          <p:cNvPr id="20" name="Shape 18"/>
          <p:cNvSpPr/>
          <p:nvPr/>
        </p:nvSpPr>
        <p:spPr>
          <a:xfrm>
            <a:off x="548638" y="4419812"/>
            <a:ext cx="11094413" cy="704747"/>
          </a:xfrm>
          <a:prstGeom prst="roundRect">
            <a:avLst>
              <a:gd name="adj" fmla="val 2844"/>
            </a:avLst>
          </a:prstGeom>
          <a:solidFill>
            <a:srgbClr val="F4F8FC"/>
          </a:solidFill>
          <a:ln w="12700">
            <a:solidFill>
              <a:srgbClr val="C8D8EC"/>
            </a:solidFill>
            <a:prstDash val="solid"/>
          </a:ln>
        </p:spPr>
        <p:txBody>
          <a:bodyPr/>
          <a:lstStyle/>
          <a:p>
            <a:endParaRPr lang="en-GB" noProof="0" dirty="0"/>
          </a:p>
        </p:txBody>
      </p:sp>
      <p:sp>
        <p:nvSpPr>
          <p:cNvPr id="21" name="Text 19"/>
          <p:cNvSpPr txBox="1"/>
          <p:nvPr/>
        </p:nvSpPr>
        <p:spPr>
          <a:xfrm>
            <a:off x="713230" y="4445937"/>
            <a:ext cx="10059075" cy="292608"/>
          </a:xfrm>
          <a:prstGeom prst="rect">
            <a:avLst/>
          </a:prstGeom>
          <a:noFill/>
          <a:ln/>
        </p:spPr>
        <p:txBody>
          <a:bodyPr wrap="square" lIns="0" tIns="0" rIns="0" bIns="0" rtlCol="0" anchor="t"/>
          <a:lstStyle/>
          <a:p>
            <a:pPr marL="0" indent="0">
              <a:buNone/>
            </a:pPr>
            <a:r>
              <a:rPr lang="en-GB" sz="1600" b="1" noProof="0" dirty="0">
                <a:solidFill>
                  <a:srgbClr val="12315B"/>
                </a:solidFill>
                <a:latin typeface="Calibri" pitchFamily="34" charset="0"/>
                <a:ea typeface="Calibri" pitchFamily="34" charset="-122"/>
                <a:cs typeface="Calibri" pitchFamily="34" charset="-120"/>
              </a:rPr>
              <a:t>Avoid alarm</a:t>
            </a:r>
            <a:endParaRPr lang="en-GB" sz="1600" noProof="0" dirty="0"/>
          </a:p>
        </p:txBody>
      </p:sp>
      <p:sp>
        <p:nvSpPr>
          <p:cNvPr id="22" name="Text 20"/>
          <p:cNvSpPr txBox="1"/>
          <p:nvPr/>
        </p:nvSpPr>
        <p:spPr>
          <a:xfrm>
            <a:off x="713230" y="4692824"/>
            <a:ext cx="10765233" cy="448056"/>
          </a:xfrm>
          <a:prstGeom prst="rect">
            <a:avLst/>
          </a:prstGeom>
          <a:noFill/>
          <a:ln/>
        </p:spPr>
        <p:txBody>
          <a:bodyPr wrap="square" lIns="0" tIns="0" rIns="0" bIns="0" rtlCol="0" anchor="t"/>
          <a:lstStyle/>
          <a:p>
            <a:pPr marL="0" indent="0">
              <a:lnSpc>
                <a:spcPct val="90000"/>
              </a:lnSpc>
              <a:buNone/>
            </a:pPr>
            <a:r>
              <a:rPr lang="en-GB" sz="1600" noProof="0" dirty="0">
                <a:solidFill>
                  <a:srgbClr val="1F3A63"/>
                </a:solidFill>
                <a:latin typeface="Calibri" pitchFamily="34" charset="0"/>
                <a:ea typeface="Calibri" pitchFamily="34" charset="-122"/>
                <a:cs typeface="Calibri" pitchFamily="34" charset="-120"/>
              </a:rPr>
              <a:t>A family history is a reason for assessment, not a diagnosis. Say what is known and what the next step is, without predicting an outcome.</a:t>
            </a:r>
            <a:endParaRPr lang="en-GB" sz="1600" noProof="0" dirty="0"/>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name="Slide 5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en-GB" sz="1100" b="1" kern="0" spc="100" noProof="0" dirty="0">
                <a:solidFill>
                  <a:srgbClr val="5B7699"/>
                </a:solidFill>
                <a:latin typeface="Calibri" pitchFamily="34" charset="0"/>
                <a:ea typeface="Calibri" pitchFamily="34" charset="-122"/>
                <a:cs typeface="Calibri" pitchFamily="34" charset="-120"/>
              </a:rPr>
              <a:t>S E S S I O N   2</a:t>
            </a:r>
            <a:endParaRPr lang="en-GB"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en-GB" sz="1000" noProof="0" dirty="0">
                <a:solidFill>
                  <a:srgbClr val="5B7699"/>
                </a:solidFill>
                <a:latin typeface="Calibri" pitchFamily="34" charset="0"/>
                <a:ea typeface="Calibri" pitchFamily="34" charset="-122"/>
                <a:cs typeface="Calibri" pitchFamily="34" charset="-120"/>
              </a:rPr>
              <a:t>Breast Cancer  |  Frontline HCP  |  Rwanda Biomedical Centre</a:t>
            </a:r>
            <a:endParaRPr lang="en-GB"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en-GB" sz="3000" b="1" noProof="0" dirty="0">
                <a:solidFill>
                  <a:srgbClr val="12315B"/>
                </a:solidFill>
                <a:latin typeface="Calibri" pitchFamily="34" charset="0"/>
                <a:ea typeface="Calibri" pitchFamily="34" charset="-122"/>
                <a:cs typeface="Calibri" pitchFamily="34" charset="-120"/>
              </a:rPr>
              <a:t>Breast changes that need assessment</a:t>
            </a:r>
            <a:endParaRPr lang="en-GB" sz="3000" noProof="0" dirty="0"/>
          </a:p>
        </p:txBody>
      </p:sp>
      <p:sp>
        <p:nvSpPr>
          <p:cNvPr id="24" name="Text 22"/>
          <p:cNvSpPr txBox="1"/>
          <p:nvPr/>
        </p:nvSpPr>
        <p:spPr>
          <a:xfrm>
            <a:off x="713232" y="5995854"/>
            <a:ext cx="10765231" cy="370985"/>
          </a:xfrm>
          <a:prstGeom prst="rect">
            <a:avLst/>
          </a:prstGeom>
          <a:noFill/>
          <a:ln/>
        </p:spPr>
        <p:txBody>
          <a:bodyPr wrap="square" lIns="0" tIns="0" rIns="0" bIns="0" rtlCol="0" anchor="ctr"/>
          <a:lstStyle/>
          <a:p>
            <a:pPr marL="0" indent="0">
              <a:lnSpc>
                <a:spcPct val="95000"/>
              </a:lnSpc>
              <a:buNone/>
            </a:pPr>
            <a:r>
              <a:rPr lang="en-GB" sz="1400" i="1" noProof="0" dirty="0">
                <a:solidFill>
                  <a:srgbClr val="0B1F3F"/>
                </a:solidFill>
                <a:latin typeface="Calibri" pitchFamily="34" charset="0"/>
                <a:ea typeface="Calibri" pitchFamily="34" charset="-122"/>
                <a:cs typeface="Calibri" pitchFamily="34" charset="-120"/>
              </a:rPr>
              <a:t>Most breast lumps are benign, and pain alone is not the typical presentation of breast cancer. What matters is that a change is new for that person, persistent, and unexplained. Ask how long it has been there, whether it has changed, and whether it varies with the menstrual cycle.</a:t>
            </a:r>
            <a:endParaRPr lang="en-GB" sz="1400" i="1" noProof="0" dirty="0"/>
          </a:p>
        </p:txBody>
      </p:sp>
      <p:grpSp>
        <p:nvGrpSpPr>
          <p:cNvPr id="37" name="Grupo 36">
            <a:extLst>
              <a:ext uri="{FF2B5EF4-FFF2-40B4-BE49-F238E27FC236}">
                <a16:creationId xmlns:a16="http://schemas.microsoft.com/office/drawing/2014/main" id="{D3D99915-18DF-85FF-FE1D-5A16F3D1F6EF}"/>
              </a:ext>
            </a:extLst>
          </p:cNvPr>
          <p:cNvGrpSpPr/>
          <p:nvPr/>
        </p:nvGrpSpPr>
        <p:grpSpPr>
          <a:xfrm>
            <a:off x="548640" y="3419856"/>
            <a:ext cx="3527450" cy="2288616"/>
            <a:chOff x="548640" y="3419856"/>
            <a:chExt cx="3527450" cy="2288616"/>
          </a:xfrm>
        </p:grpSpPr>
        <p:sp>
          <p:nvSpPr>
            <p:cNvPr id="14" name="Shape 12"/>
            <p:cNvSpPr/>
            <p:nvPr/>
          </p:nvSpPr>
          <p:spPr>
            <a:xfrm>
              <a:off x="548640" y="3419856"/>
              <a:ext cx="3527450" cy="2288616"/>
            </a:xfrm>
            <a:prstGeom prst="roundRect">
              <a:avLst>
                <a:gd name="adj" fmla="val 3061"/>
              </a:avLst>
            </a:prstGeom>
            <a:solidFill>
              <a:srgbClr val="F4F8FC"/>
            </a:solidFill>
            <a:ln w="12700">
              <a:solidFill>
                <a:srgbClr val="C8D8EC"/>
              </a:solidFill>
              <a:prstDash val="solid"/>
            </a:ln>
          </p:spPr>
          <p:txBody>
            <a:bodyPr/>
            <a:lstStyle/>
            <a:p>
              <a:endParaRPr lang="en-GB" noProof="0" dirty="0"/>
            </a:p>
          </p:txBody>
        </p:sp>
        <p:sp>
          <p:nvSpPr>
            <p:cNvPr id="15" name="Text 13"/>
            <p:cNvSpPr txBox="1"/>
            <p:nvPr/>
          </p:nvSpPr>
          <p:spPr>
            <a:xfrm>
              <a:off x="713232" y="3511296"/>
              <a:ext cx="3198266" cy="292608"/>
            </a:xfrm>
            <a:prstGeom prst="rect">
              <a:avLst/>
            </a:prstGeom>
            <a:noFill/>
            <a:ln/>
          </p:spPr>
          <p:txBody>
            <a:bodyPr wrap="square" lIns="0" tIns="0" rIns="0" bIns="0" rtlCol="0" anchor="t"/>
            <a:lstStyle/>
            <a:p>
              <a:pPr marL="0" indent="0">
                <a:buNone/>
              </a:pPr>
              <a:r>
                <a:rPr lang="en-GB" sz="1700" b="1" noProof="0" dirty="0">
                  <a:solidFill>
                    <a:srgbClr val="12315B"/>
                  </a:solidFill>
                  <a:latin typeface="Calibri" pitchFamily="34" charset="0"/>
                  <a:ea typeface="Calibri" pitchFamily="34" charset="-122"/>
                  <a:cs typeface="Calibri" pitchFamily="34" charset="-120"/>
                </a:rPr>
                <a:t>Nipple changes</a:t>
              </a:r>
              <a:endParaRPr lang="en-GB" sz="1700" noProof="0" dirty="0"/>
            </a:p>
          </p:txBody>
        </p:sp>
        <p:sp>
          <p:nvSpPr>
            <p:cNvPr id="16" name="Text 14"/>
            <p:cNvSpPr txBox="1"/>
            <p:nvPr/>
          </p:nvSpPr>
          <p:spPr>
            <a:xfrm>
              <a:off x="713232" y="3849624"/>
              <a:ext cx="1703397" cy="1307592"/>
            </a:xfrm>
            <a:prstGeom prst="rect">
              <a:avLst/>
            </a:prstGeom>
            <a:noFill/>
            <a:ln/>
          </p:spPr>
          <p:txBody>
            <a:bodyPr wrap="square" lIns="0" tIns="0" rIns="0" bIns="0" rtlCol="0" anchor="t"/>
            <a:lstStyle/>
            <a:p>
              <a:pPr marL="0" indent="0">
                <a:lnSpc>
                  <a:spcPct val="90000"/>
                </a:lnSpc>
                <a:buNone/>
              </a:pPr>
              <a:r>
                <a:rPr lang="en-GB" sz="1800" noProof="0" dirty="0">
                  <a:solidFill>
                    <a:srgbClr val="1F3A63"/>
                  </a:solidFill>
                  <a:latin typeface="Calibri" pitchFamily="34" charset="0"/>
                  <a:ea typeface="Calibri" pitchFamily="34" charset="-122"/>
                  <a:cs typeface="Calibri" pitchFamily="34" charset="-120"/>
                </a:rPr>
                <a:t>New inversion or retraction, distortion, or a persistent scaly or ulcerated change of the nipple and areola.</a:t>
              </a:r>
              <a:endParaRPr lang="en-GB" sz="1800" noProof="0" dirty="0"/>
            </a:p>
          </p:txBody>
        </p:sp>
        <p:pic>
          <p:nvPicPr>
            <p:cNvPr id="25" name="Imagen 24">
              <a:extLst>
                <a:ext uri="{FF2B5EF4-FFF2-40B4-BE49-F238E27FC236}">
                  <a16:creationId xmlns:a16="http://schemas.microsoft.com/office/drawing/2014/main" id="{BA7924EE-EB11-D98E-5067-D3ECB642C9F7}"/>
                </a:ext>
              </a:extLst>
            </p:cNvPr>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a:xfrm>
              <a:off x="2447325" y="4022712"/>
              <a:ext cx="1557169" cy="1307592"/>
            </a:xfrm>
            <a:prstGeom prst="rect">
              <a:avLst/>
            </a:prstGeom>
          </p:spPr>
        </p:pic>
      </p:grpSp>
      <p:grpSp>
        <p:nvGrpSpPr>
          <p:cNvPr id="26" name="Grupo 25">
            <a:extLst>
              <a:ext uri="{FF2B5EF4-FFF2-40B4-BE49-F238E27FC236}">
                <a16:creationId xmlns:a16="http://schemas.microsoft.com/office/drawing/2014/main" id="{BEE9E90F-5CF1-0442-8D1E-0CD16446D632}"/>
              </a:ext>
            </a:extLst>
          </p:cNvPr>
          <p:cNvGrpSpPr/>
          <p:nvPr/>
        </p:nvGrpSpPr>
        <p:grpSpPr>
          <a:xfrm>
            <a:off x="4332122" y="1149528"/>
            <a:ext cx="3527450" cy="2116185"/>
            <a:chOff x="4332122" y="1149528"/>
            <a:chExt cx="3527450" cy="2116185"/>
          </a:xfrm>
        </p:grpSpPr>
        <p:sp>
          <p:nvSpPr>
            <p:cNvPr id="8" name="Shape 6"/>
            <p:cNvSpPr/>
            <p:nvPr/>
          </p:nvSpPr>
          <p:spPr>
            <a:xfrm>
              <a:off x="4332122" y="1149528"/>
              <a:ext cx="3527450" cy="2116185"/>
            </a:xfrm>
            <a:prstGeom prst="roundRect">
              <a:avLst>
                <a:gd name="adj" fmla="val 3061"/>
              </a:avLst>
            </a:prstGeom>
            <a:solidFill>
              <a:srgbClr val="F4F8FC"/>
            </a:solidFill>
            <a:ln w="12700">
              <a:solidFill>
                <a:srgbClr val="C8D8EC"/>
              </a:solidFill>
              <a:prstDash val="solid"/>
            </a:ln>
          </p:spPr>
          <p:txBody>
            <a:bodyPr/>
            <a:lstStyle/>
            <a:p>
              <a:endParaRPr lang="en-GB" noProof="0" dirty="0"/>
            </a:p>
          </p:txBody>
        </p:sp>
        <p:sp>
          <p:nvSpPr>
            <p:cNvPr id="9" name="Text 7"/>
            <p:cNvSpPr txBox="1"/>
            <p:nvPr/>
          </p:nvSpPr>
          <p:spPr>
            <a:xfrm>
              <a:off x="4496714" y="1240969"/>
              <a:ext cx="3198266" cy="292608"/>
            </a:xfrm>
            <a:prstGeom prst="rect">
              <a:avLst/>
            </a:prstGeom>
            <a:noFill/>
            <a:ln/>
          </p:spPr>
          <p:txBody>
            <a:bodyPr wrap="square" lIns="0" tIns="0" rIns="0" bIns="0" rtlCol="0" anchor="t"/>
            <a:lstStyle/>
            <a:p>
              <a:pPr marL="0" indent="0">
                <a:buNone/>
              </a:pPr>
              <a:r>
                <a:rPr lang="en-GB" sz="1700" b="1" noProof="0" dirty="0">
                  <a:solidFill>
                    <a:srgbClr val="12315B"/>
                  </a:solidFill>
                  <a:latin typeface="Calibri" pitchFamily="34" charset="0"/>
                  <a:ea typeface="Calibri" pitchFamily="34" charset="-122"/>
                  <a:cs typeface="Calibri" pitchFamily="34" charset="-120"/>
                </a:rPr>
                <a:t>Change in size or shape</a:t>
              </a:r>
              <a:endParaRPr lang="en-GB" sz="1700" noProof="0" dirty="0"/>
            </a:p>
          </p:txBody>
        </p:sp>
        <p:sp>
          <p:nvSpPr>
            <p:cNvPr id="10" name="Text 8"/>
            <p:cNvSpPr txBox="1"/>
            <p:nvPr/>
          </p:nvSpPr>
          <p:spPr>
            <a:xfrm>
              <a:off x="4496714" y="1579297"/>
              <a:ext cx="1599286" cy="1307592"/>
            </a:xfrm>
            <a:prstGeom prst="rect">
              <a:avLst/>
            </a:prstGeom>
            <a:noFill/>
            <a:ln/>
          </p:spPr>
          <p:txBody>
            <a:bodyPr wrap="square" lIns="0" tIns="0" rIns="0" bIns="0" rtlCol="0" anchor="t"/>
            <a:lstStyle/>
            <a:p>
              <a:pPr marL="0" indent="0">
                <a:lnSpc>
                  <a:spcPct val="90000"/>
                </a:lnSpc>
                <a:buNone/>
              </a:pPr>
              <a:r>
                <a:rPr lang="en-GB" sz="1800" noProof="0" dirty="0">
                  <a:solidFill>
                    <a:srgbClr val="1F3A63"/>
                  </a:solidFill>
                  <a:latin typeface="Calibri" pitchFamily="34" charset="0"/>
                  <a:ea typeface="Calibri" pitchFamily="34" charset="-122"/>
                  <a:cs typeface="Calibri" pitchFamily="34" charset="-120"/>
                </a:rPr>
                <a:t>New asymmetry, a change in contour, or a part of the breast that looks pulled in.</a:t>
              </a:r>
              <a:endParaRPr lang="en-GB" sz="1800" noProof="0" dirty="0"/>
            </a:p>
          </p:txBody>
        </p:sp>
        <p:pic>
          <p:nvPicPr>
            <p:cNvPr id="27" name="Imagen 26">
              <a:extLst>
                <a:ext uri="{FF2B5EF4-FFF2-40B4-BE49-F238E27FC236}">
                  <a16:creationId xmlns:a16="http://schemas.microsoft.com/office/drawing/2014/main" id="{D0EE0C60-4FA3-CE3E-3C23-D55626CF2705}"/>
                </a:ext>
              </a:extLst>
            </p:cNvPr>
            <p:cNvPicPr>
              <a:picLocks noChangeAspect="1"/>
            </p:cNvPicPr>
            <p:nvPr/>
          </p:nvPicPr>
          <p:blipFill>
            <a:blip r:embed="rId4" cstate="email">
              <a:extLst>
                <a:ext uri="{28A0092B-C50C-407E-A947-70E740481C1C}">
                  <a14:useLocalDpi xmlns:a14="http://schemas.microsoft.com/office/drawing/2010/main"/>
                </a:ext>
              </a:extLst>
            </a:blip>
            <a:srcRect/>
            <a:stretch>
              <a:fillRect/>
            </a:stretch>
          </p:blipFill>
          <p:spPr>
            <a:xfrm>
              <a:off x="6212126" y="1558518"/>
              <a:ext cx="1482854" cy="1541996"/>
            </a:xfrm>
            <a:prstGeom prst="rect">
              <a:avLst/>
            </a:prstGeom>
          </p:spPr>
        </p:pic>
      </p:grpSp>
      <p:grpSp>
        <p:nvGrpSpPr>
          <p:cNvPr id="23" name="Grupo 22">
            <a:extLst>
              <a:ext uri="{FF2B5EF4-FFF2-40B4-BE49-F238E27FC236}">
                <a16:creationId xmlns:a16="http://schemas.microsoft.com/office/drawing/2014/main" id="{1DF2E1BA-F26D-5BA3-D2C6-05E109782459}"/>
              </a:ext>
            </a:extLst>
          </p:cNvPr>
          <p:cNvGrpSpPr/>
          <p:nvPr/>
        </p:nvGrpSpPr>
        <p:grpSpPr>
          <a:xfrm>
            <a:off x="548640" y="1149528"/>
            <a:ext cx="3527450" cy="2116185"/>
            <a:chOff x="548640" y="1149528"/>
            <a:chExt cx="3527450" cy="2116185"/>
          </a:xfrm>
        </p:grpSpPr>
        <p:sp>
          <p:nvSpPr>
            <p:cNvPr id="5" name="Shape 3"/>
            <p:cNvSpPr/>
            <p:nvPr/>
          </p:nvSpPr>
          <p:spPr>
            <a:xfrm>
              <a:off x="548640" y="1149528"/>
              <a:ext cx="3527450" cy="2116185"/>
            </a:xfrm>
            <a:prstGeom prst="roundRect">
              <a:avLst>
                <a:gd name="adj" fmla="val 3061"/>
              </a:avLst>
            </a:prstGeom>
            <a:solidFill>
              <a:srgbClr val="F4F8FC"/>
            </a:solidFill>
            <a:ln w="12700">
              <a:solidFill>
                <a:srgbClr val="C8D8EC"/>
              </a:solidFill>
              <a:prstDash val="solid"/>
            </a:ln>
          </p:spPr>
          <p:txBody>
            <a:bodyPr/>
            <a:lstStyle/>
            <a:p>
              <a:endParaRPr lang="en-GB" noProof="0" dirty="0"/>
            </a:p>
          </p:txBody>
        </p:sp>
        <p:sp>
          <p:nvSpPr>
            <p:cNvPr id="6" name="Text 4"/>
            <p:cNvSpPr txBox="1"/>
            <p:nvPr/>
          </p:nvSpPr>
          <p:spPr>
            <a:xfrm>
              <a:off x="713232" y="1240969"/>
              <a:ext cx="3198266" cy="292608"/>
            </a:xfrm>
            <a:prstGeom prst="rect">
              <a:avLst/>
            </a:prstGeom>
            <a:noFill/>
            <a:ln/>
          </p:spPr>
          <p:txBody>
            <a:bodyPr wrap="square" lIns="0" tIns="0" rIns="0" bIns="0" rtlCol="0" anchor="t"/>
            <a:lstStyle/>
            <a:p>
              <a:pPr marL="0" indent="0">
                <a:buNone/>
              </a:pPr>
              <a:r>
                <a:rPr lang="en-GB" sz="1700" b="1" noProof="0" dirty="0">
                  <a:solidFill>
                    <a:srgbClr val="12315B"/>
                  </a:solidFill>
                  <a:latin typeface="Calibri" pitchFamily="34" charset="0"/>
                  <a:ea typeface="Calibri" pitchFamily="34" charset="-122"/>
                  <a:cs typeface="Calibri" pitchFamily="34" charset="-120"/>
                </a:rPr>
                <a:t>A new lump or thickening</a:t>
              </a:r>
              <a:endParaRPr lang="en-GB" sz="1700" noProof="0" dirty="0"/>
            </a:p>
          </p:txBody>
        </p:sp>
        <p:sp>
          <p:nvSpPr>
            <p:cNvPr id="7" name="Text 5"/>
            <p:cNvSpPr txBox="1"/>
            <p:nvPr/>
          </p:nvSpPr>
          <p:spPr>
            <a:xfrm>
              <a:off x="665106" y="1579297"/>
              <a:ext cx="1929036" cy="1307592"/>
            </a:xfrm>
            <a:prstGeom prst="rect">
              <a:avLst/>
            </a:prstGeom>
            <a:noFill/>
            <a:ln/>
          </p:spPr>
          <p:txBody>
            <a:bodyPr wrap="square" lIns="0" tIns="0" rIns="0" bIns="0" rtlCol="0" anchor="t"/>
            <a:lstStyle/>
            <a:p>
              <a:pPr marL="0" indent="0">
                <a:lnSpc>
                  <a:spcPct val="90000"/>
                </a:lnSpc>
                <a:buNone/>
              </a:pPr>
              <a:r>
                <a:rPr lang="en-GB" sz="1800" noProof="0" dirty="0">
                  <a:solidFill>
                    <a:srgbClr val="1F3A63"/>
                  </a:solidFill>
                  <a:latin typeface="Calibri" pitchFamily="34" charset="0"/>
                  <a:ea typeface="Calibri" pitchFamily="34" charset="-122"/>
                  <a:cs typeface="Calibri" pitchFamily="34" charset="-120"/>
                </a:rPr>
                <a:t>In the breast or in the axilla. Persistent, and often painless. Pain does not confirm or exclude anything.</a:t>
              </a:r>
              <a:endParaRPr lang="en-GB" sz="1800" noProof="0" dirty="0"/>
            </a:p>
          </p:txBody>
        </p:sp>
        <p:pic>
          <p:nvPicPr>
            <p:cNvPr id="28" name="Imagen 27">
              <a:extLst>
                <a:ext uri="{FF2B5EF4-FFF2-40B4-BE49-F238E27FC236}">
                  <a16:creationId xmlns:a16="http://schemas.microsoft.com/office/drawing/2014/main" id="{D88F2F7D-E43A-B8A1-283E-A47BFC3E6FC8}"/>
                </a:ext>
              </a:extLst>
            </p:cNvPr>
            <p:cNvPicPr>
              <a:picLocks noChangeAspect="1"/>
            </p:cNvPicPr>
            <p:nvPr/>
          </p:nvPicPr>
          <p:blipFill>
            <a:blip r:embed="rId5" cstate="email">
              <a:extLst>
                <a:ext uri="{28A0092B-C50C-407E-A947-70E740481C1C}">
                  <a14:useLocalDpi xmlns:a14="http://schemas.microsoft.com/office/drawing/2010/main"/>
                </a:ext>
              </a:extLst>
            </a:blip>
            <a:srcRect/>
            <a:stretch>
              <a:fillRect/>
            </a:stretch>
          </p:blipFill>
          <p:spPr>
            <a:xfrm>
              <a:off x="2617612" y="1685843"/>
              <a:ext cx="1386882" cy="1307592"/>
            </a:xfrm>
            <a:prstGeom prst="rect">
              <a:avLst/>
            </a:prstGeom>
          </p:spPr>
        </p:pic>
      </p:grpSp>
      <p:grpSp>
        <p:nvGrpSpPr>
          <p:cNvPr id="34" name="Grupo 33">
            <a:extLst>
              <a:ext uri="{FF2B5EF4-FFF2-40B4-BE49-F238E27FC236}">
                <a16:creationId xmlns:a16="http://schemas.microsoft.com/office/drawing/2014/main" id="{81E50A48-48E4-4A75-CAC5-5DAEBE63D844}"/>
              </a:ext>
            </a:extLst>
          </p:cNvPr>
          <p:cNvGrpSpPr/>
          <p:nvPr/>
        </p:nvGrpSpPr>
        <p:grpSpPr>
          <a:xfrm>
            <a:off x="8115605" y="1149528"/>
            <a:ext cx="3527450" cy="2116185"/>
            <a:chOff x="8115605" y="1149528"/>
            <a:chExt cx="3527450" cy="2116185"/>
          </a:xfrm>
        </p:grpSpPr>
        <p:sp>
          <p:nvSpPr>
            <p:cNvPr id="11" name="Shape 9"/>
            <p:cNvSpPr/>
            <p:nvPr/>
          </p:nvSpPr>
          <p:spPr>
            <a:xfrm>
              <a:off x="8115605" y="1149528"/>
              <a:ext cx="3527450" cy="2116185"/>
            </a:xfrm>
            <a:prstGeom prst="roundRect">
              <a:avLst>
                <a:gd name="adj" fmla="val 3061"/>
              </a:avLst>
            </a:prstGeom>
            <a:solidFill>
              <a:srgbClr val="F4F8FC"/>
            </a:solidFill>
            <a:ln w="12700">
              <a:solidFill>
                <a:srgbClr val="C8D8EC"/>
              </a:solidFill>
              <a:prstDash val="solid"/>
            </a:ln>
          </p:spPr>
          <p:txBody>
            <a:bodyPr/>
            <a:lstStyle/>
            <a:p>
              <a:endParaRPr lang="en-GB" noProof="0" dirty="0"/>
            </a:p>
          </p:txBody>
        </p:sp>
        <p:sp>
          <p:nvSpPr>
            <p:cNvPr id="12" name="Text 10"/>
            <p:cNvSpPr txBox="1"/>
            <p:nvPr/>
          </p:nvSpPr>
          <p:spPr>
            <a:xfrm>
              <a:off x="8280197" y="1240969"/>
              <a:ext cx="3198266" cy="292608"/>
            </a:xfrm>
            <a:prstGeom prst="rect">
              <a:avLst/>
            </a:prstGeom>
            <a:noFill/>
            <a:ln/>
          </p:spPr>
          <p:txBody>
            <a:bodyPr wrap="square" lIns="0" tIns="0" rIns="0" bIns="0" rtlCol="0" anchor="t"/>
            <a:lstStyle/>
            <a:p>
              <a:pPr marL="0" indent="0">
                <a:buNone/>
              </a:pPr>
              <a:r>
                <a:rPr lang="en-GB" sz="1700" b="1" noProof="0" dirty="0">
                  <a:solidFill>
                    <a:srgbClr val="12315B"/>
                  </a:solidFill>
                  <a:latin typeface="Calibri" pitchFamily="34" charset="0"/>
                  <a:ea typeface="Calibri" pitchFamily="34" charset="-122"/>
                  <a:cs typeface="Calibri" pitchFamily="34" charset="-120"/>
                </a:rPr>
                <a:t>Skin changes</a:t>
              </a:r>
              <a:endParaRPr lang="en-GB" sz="1700" noProof="0" dirty="0"/>
            </a:p>
          </p:txBody>
        </p:sp>
        <p:sp>
          <p:nvSpPr>
            <p:cNvPr id="13" name="Text 11"/>
            <p:cNvSpPr txBox="1"/>
            <p:nvPr/>
          </p:nvSpPr>
          <p:spPr>
            <a:xfrm>
              <a:off x="8280197" y="1579297"/>
              <a:ext cx="1981403" cy="1307592"/>
            </a:xfrm>
            <a:prstGeom prst="rect">
              <a:avLst/>
            </a:prstGeom>
            <a:noFill/>
            <a:ln/>
          </p:spPr>
          <p:txBody>
            <a:bodyPr wrap="square" lIns="0" tIns="0" rIns="0" bIns="0" rtlCol="0" anchor="t"/>
            <a:lstStyle/>
            <a:p>
              <a:pPr marL="0" indent="0">
                <a:lnSpc>
                  <a:spcPct val="90000"/>
                </a:lnSpc>
                <a:buNone/>
              </a:pPr>
              <a:r>
                <a:rPr lang="en-GB" sz="1800" noProof="0" dirty="0">
                  <a:solidFill>
                    <a:srgbClr val="1F3A63"/>
                  </a:solidFill>
                  <a:latin typeface="Calibri" pitchFamily="34" charset="0"/>
                  <a:ea typeface="Calibri" pitchFamily="34" charset="-122"/>
                  <a:cs typeface="Calibri" pitchFamily="34" charset="-120"/>
                </a:rPr>
                <a:t>Dimpling, tethering, retraction, thickening, or a </a:t>
              </a:r>
              <a:r>
                <a:rPr lang="en-GB" sz="1800" noProof="0" dirty="0" err="1">
                  <a:solidFill>
                    <a:srgbClr val="1F3A63"/>
                  </a:solidFill>
                  <a:latin typeface="Calibri" pitchFamily="34" charset="0"/>
                  <a:ea typeface="Calibri" pitchFamily="34" charset="-122"/>
                  <a:cs typeface="Calibri" pitchFamily="34" charset="-120"/>
                </a:rPr>
                <a:t>peau</a:t>
              </a:r>
              <a:r>
                <a:rPr lang="en-GB" sz="1800" noProof="0" dirty="0">
                  <a:solidFill>
                    <a:srgbClr val="1F3A63"/>
                  </a:solidFill>
                  <a:latin typeface="Calibri" pitchFamily="34" charset="0"/>
                  <a:ea typeface="Calibri" pitchFamily="34" charset="-122"/>
                  <a:cs typeface="Calibri" pitchFamily="34" charset="-120"/>
                </a:rPr>
                <a:t> </a:t>
              </a:r>
              <a:r>
                <a:rPr lang="en-GB" sz="1800" noProof="0" dirty="0" err="1">
                  <a:solidFill>
                    <a:srgbClr val="1F3A63"/>
                  </a:solidFill>
                  <a:latin typeface="Calibri" pitchFamily="34" charset="0"/>
                  <a:ea typeface="Calibri" pitchFamily="34" charset="-122"/>
                  <a:cs typeface="Calibri" pitchFamily="34" charset="-120"/>
                </a:rPr>
                <a:t>d'orange</a:t>
              </a:r>
              <a:r>
                <a:rPr lang="en-GB" sz="1800" noProof="0" dirty="0">
                  <a:solidFill>
                    <a:srgbClr val="1F3A63"/>
                  </a:solidFill>
                  <a:latin typeface="Calibri" pitchFamily="34" charset="0"/>
                  <a:ea typeface="Calibri" pitchFamily="34" charset="-122"/>
                  <a:cs typeface="Calibri" pitchFamily="34" charset="-120"/>
                </a:rPr>
                <a:t> appearance resembling orange peel.</a:t>
              </a:r>
              <a:endParaRPr lang="en-GB" sz="1800" noProof="0" dirty="0"/>
            </a:p>
          </p:txBody>
        </p:sp>
        <p:grpSp>
          <p:nvGrpSpPr>
            <p:cNvPr id="31" name="Grupo 30">
              <a:extLst>
                <a:ext uri="{FF2B5EF4-FFF2-40B4-BE49-F238E27FC236}">
                  <a16:creationId xmlns:a16="http://schemas.microsoft.com/office/drawing/2014/main" id="{A7391032-969B-CAC6-327E-E923645AE32B}"/>
                </a:ext>
              </a:extLst>
            </p:cNvPr>
            <p:cNvGrpSpPr/>
            <p:nvPr/>
          </p:nvGrpSpPr>
          <p:grpSpPr>
            <a:xfrm>
              <a:off x="10317054" y="1551864"/>
              <a:ext cx="1268394" cy="1396867"/>
              <a:chOff x="10298766" y="1606728"/>
              <a:chExt cx="1268394" cy="1396867"/>
            </a:xfrm>
          </p:grpSpPr>
          <p:pic>
            <p:nvPicPr>
              <p:cNvPr id="29" name="Imagen 28">
                <a:extLst>
                  <a:ext uri="{FF2B5EF4-FFF2-40B4-BE49-F238E27FC236}">
                    <a16:creationId xmlns:a16="http://schemas.microsoft.com/office/drawing/2014/main" id="{0D349096-0F26-5CB0-F2EF-C54712E382F9}"/>
                  </a:ext>
                </a:extLst>
              </p:cNvPr>
              <p:cNvPicPr>
                <a:picLocks noChangeAspect="1"/>
              </p:cNvPicPr>
              <p:nvPr/>
            </p:nvPicPr>
            <p:blipFill>
              <a:blip r:embed="rId6" cstate="email">
                <a:extLst>
                  <a:ext uri="{28A0092B-C50C-407E-A947-70E740481C1C}">
                    <a14:useLocalDpi xmlns:a14="http://schemas.microsoft.com/office/drawing/2010/main"/>
                  </a:ext>
                </a:extLst>
              </a:blip>
              <a:srcRect/>
              <a:stretch>
                <a:fillRect/>
              </a:stretch>
            </p:blipFill>
            <p:spPr>
              <a:xfrm>
                <a:off x="10298766" y="1606728"/>
                <a:ext cx="1228128" cy="698607"/>
              </a:xfrm>
              <a:prstGeom prst="rect">
                <a:avLst/>
              </a:prstGeom>
            </p:spPr>
          </p:pic>
          <p:pic>
            <p:nvPicPr>
              <p:cNvPr id="30" name="Imagen 29">
                <a:extLst>
                  <a:ext uri="{FF2B5EF4-FFF2-40B4-BE49-F238E27FC236}">
                    <a16:creationId xmlns:a16="http://schemas.microsoft.com/office/drawing/2014/main" id="{29242D3A-1714-C2A4-A58F-F184D6CE9E2F}"/>
                  </a:ext>
                </a:extLst>
              </p:cNvPr>
              <p:cNvPicPr>
                <a:picLocks noChangeAspect="1"/>
              </p:cNvPicPr>
              <p:nvPr/>
            </p:nvPicPr>
            <p:blipFill>
              <a:blip r:embed="rId7" cstate="email">
                <a:extLst>
                  <a:ext uri="{28A0092B-C50C-407E-A947-70E740481C1C}">
                    <a14:useLocalDpi xmlns:a14="http://schemas.microsoft.com/office/drawing/2010/main"/>
                  </a:ext>
                </a:extLst>
              </a:blip>
              <a:srcRect/>
              <a:stretch>
                <a:fillRect/>
              </a:stretch>
            </p:blipFill>
            <p:spPr>
              <a:xfrm>
                <a:off x="10298766" y="2287385"/>
                <a:ext cx="1268394" cy="716210"/>
              </a:xfrm>
              <a:prstGeom prst="rect">
                <a:avLst/>
              </a:prstGeom>
            </p:spPr>
          </p:pic>
        </p:grpSp>
      </p:grpSp>
      <p:grpSp>
        <p:nvGrpSpPr>
          <p:cNvPr id="36" name="Grupo 35">
            <a:extLst>
              <a:ext uri="{FF2B5EF4-FFF2-40B4-BE49-F238E27FC236}">
                <a16:creationId xmlns:a16="http://schemas.microsoft.com/office/drawing/2014/main" id="{D9F04483-3664-C65A-9484-C78C92B73AA4}"/>
              </a:ext>
            </a:extLst>
          </p:cNvPr>
          <p:cNvGrpSpPr/>
          <p:nvPr/>
        </p:nvGrpSpPr>
        <p:grpSpPr>
          <a:xfrm>
            <a:off x="4332122" y="3419856"/>
            <a:ext cx="3527450" cy="2288616"/>
            <a:chOff x="4332122" y="3419856"/>
            <a:chExt cx="3527450" cy="2288616"/>
          </a:xfrm>
        </p:grpSpPr>
        <p:sp>
          <p:nvSpPr>
            <p:cNvPr id="17" name="Shape 15"/>
            <p:cNvSpPr/>
            <p:nvPr/>
          </p:nvSpPr>
          <p:spPr>
            <a:xfrm>
              <a:off x="4332122" y="3419856"/>
              <a:ext cx="3527450" cy="2288616"/>
            </a:xfrm>
            <a:prstGeom prst="roundRect">
              <a:avLst>
                <a:gd name="adj" fmla="val 3061"/>
              </a:avLst>
            </a:prstGeom>
            <a:solidFill>
              <a:srgbClr val="F4F8FC"/>
            </a:solidFill>
            <a:ln w="12700">
              <a:solidFill>
                <a:srgbClr val="C8D8EC"/>
              </a:solidFill>
              <a:prstDash val="solid"/>
            </a:ln>
          </p:spPr>
          <p:txBody>
            <a:bodyPr/>
            <a:lstStyle/>
            <a:p>
              <a:endParaRPr lang="en-GB" noProof="0" dirty="0"/>
            </a:p>
          </p:txBody>
        </p:sp>
        <p:sp>
          <p:nvSpPr>
            <p:cNvPr id="18" name="Text 16"/>
            <p:cNvSpPr txBox="1"/>
            <p:nvPr/>
          </p:nvSpPr>
          <p:spPr>
            <a:xfrm>
              <a:off x="4496714" y="3511296"/>
              <a:ext cx="3198266" cy="292608"/>
            </a:xfrm>
            <a:prstGeom prst="rect">
              <a:avLst/>
            </a:prstGeom>
            <a:noFill/>
            <a:ln/>
          </p:spPr>
          <p:txBody>
            <a:bodyPr wrap="square" lIns="0" tIns="0" rIns="0" bIns="0" rtlCol="0" anchor="t"/>
            <a:lstStyle/>
            <a:p>
              <a:pPr marL="0" indent="0">
                <a:buNone/>
              </a:pPr>
              <a:r>
                <a:rPr lang="en-GB" sz="1700" b="1" noProof="0" dirty="0">
                  <a:solidFill>
                    <a:srgbClr val="12315B"/>
                  </a:solidFill>
                  <a:latin typeface="Calibri" pitchFamily="34" charset="0"/>
                  <a:ea typeface="Calibri" pitchFamily="34" charset="-122"/>
                  <a:cs typeface="Calibri" pitchFamily="34" charset="-120"/>
                </a:rPr>
                <a:t>Nipple discharge</a:t>
              </a:r>
              <a:endParaRPr lang="en-GB" sz="1700" noProof="0" dirty="0"/>
            </a:p>
          </p:txBody>
        </p:sp>
        <p:sp>
          <p:nvSpPr>
            <p:cNvPr id="19" name="Text 17"/>
            <p:cNvSpPr txBox="1"/>
            <p:nvPr/>
          </p:nvSpPr>
          <p:spPr>
            <a:xfrm>
              <a:off x="4496714" y="3849624"/>
              <a:ext cx="1599286" cy="1307592"/>
            </a:xfrm>
            <a:prstGeom prst="rect">
              <a:avLst/>
            </a:prstGeom>
            <a:noFill/>
            <a:ln/>
          </p:spPr>
          <p:txBody>
            <a:bodyPr wrap="square" lIns="0" tIns="0" rIns="0" bIns="0" rtlCol="0" anchor="t"/>
            <a:lstStyle/>
            <a:p>
              <a:pPr marL="0" indent="0">
                <a:lnSpc>
                  <a:spcPct val="90000"/>
                </a:lnSpc>
                <a:buNone/>
              </a:pPr>
              <a:r>
                <a:rPr lang="en-GB" sz="1800" noProof="0" dirty="0">
                  <a:solidFill>
                    <a:srgbClr val="1F3A63"/>
                  </a:solidFill>
                  <a:latin typeface="Calibri" pitchFamily="34" charset="0"/>
                  <a:ea typeface="Calibri" pitchFamily="34" charset="-122"/>
                  <a:cs typeface="Calibri" pitchFamily="34" charset="-120"/>
                </a:rPr>
                <a:t>Spontaneous discharge, particularly from a single duct, and particularly if blood stained.</a:t>
              </a:r>
              <a:endParaRPr lang="en-GB" sz="1800" noProof="0" dirty="0"/>
            </a:p>
          </p:txBody>
        </p:sp>
        <p:pic>
          <p:nvPicPr>
            <p:cNvPr id="32" name="Imagen 31">
              <a:extLst>
                <a:ext uri="{FF2B5EF4-FFF2-40B4-BE49-F238E27FC236}">
                  <a16:creationId xmlns:a16="http://schemas.microsoft.com/office/drawing/2014/main" id="{DA64CA39-50F1-0B2C-F5C8-0BDD0B29BAE6}"/>
                </a:ext>
              </a:extLst>
            </p:cNvPr>
            <p:cNvPicPr>
              <a:picLocks noChangeAspect="1"/>
            </p:cNvPicPr>
            <p:nvPr/>
          </p:nvPicPr>
          <p:blipFill>
            <a:blip r:embed="rId8" cstate="email">
              <a:extLst>
                <a:ext uri="{28A0092B-C50C-407E-A947-70E740481C1C}">
                  <a14:useLocalDpi xmlns:a14="http://schemas.microsoft.com/office/drawing/2010/main"/>
                </a:ext>
              </a:extLst>
            </a:blip>
            <a:srcRect/>
            <a:stretch>
              <a:fillRect/>
            </a:stretch>
          </p:blipFill>
          <p:spPr>
            <a:xfrm>
              <a:off x="6159758" y="3953526"/>
              <a:ext cx="1575037" cy="1345956"/>
            </a:xfrm>
            <a:prstGeom prst="rect">
              <a:avLst/>
            </a:prstGeom>
          </p:spPr>
        </p:pic>
      </p:grpSp>
      <p:grpSp>
        <p:nvGrpSpPr>
          <p:cNvPr id="35" name="Grupo 34">
            <a:extLst>
              <a:ext uri="{FF2B5EF4-FFF2-40B4-BE49-F238E27FC236}">
                <a16:creationId xmlns:a16="http://schemas.microsoft.com/office/drawing/2014/main" id="{8CE3EB9C-F477-CCDA-1414-90ABC8E8966C}"/>
              </a:ext>
            </a:extLst>
          </p:cNvPr>
          <p:cNvGrpSpPr/>
          <p:nvPr/>
        </p:nvGrpSpPr>
        <p:grpSpPr>
          <a:xfrm>
            <a:off x="8115605" y="3419856"/>
            <a:ext cx="3527450" cy="2288616"/>
            <a:chOff x="8115605" y="3419856"/>
            <a:chExt cx="3527450" cy="2288616"/>
          </a:xfrm>
        </p:grpSpPr>
        <p:sp>
          <p:nvSpPr>
            <p:cNvPr id="20" name="Shape 18"/>
            <p:cNvSpPr/>
            <p:nvPr/>
          </p:nvSpPr>
          <p:spPr>
            <a:xfrm>
              <a:off x="8115605" y="3419856"/>
              <a:ext cx="3527450" cy="2288616"/>
            </a:xfrm>
            <a:prstGeom prst="roundRect">
              <a:avLst>
                <a:gd name="adj" fmla="val 3061"/>
              </a:avLst>
            </a:prstGeom>
            <a:solidFill>
              <a:srgbClr val="F4F8FC"/>
            </a:solidFill>
            <a:ln w="12700">
              <a:solidFill>
                <a:srgbClr val="C8D8EC"/>
              </a:solidFill>
              <a:prstDash val="solid"/>
            </a:ln>
          </p:spPr>
          <p:txBody>
            <a:bodyPr/>
            <a:lstStyle/>
            <a:p>
              <a:endParaRPr lang="en-GB" noProof="0" dirty="0"/>
            </a:p>
          </p:txBody>
        </p:sp>
        <p:sp>
          <p:nvSpPr>
            <p:cNvPr id="21" name="Text 19"/>
            <p:cNvSpPr txBox="1"/>
            <p:nvPr/>
          </p:nvSpPr>
          <p:spPr>
            <a:xfrm>
              <a:off x="8280197" y="3511296"/>
              <a:ext cx="3198266" cy="292608"/>
            </a:xfrm>
            <a:prstGeom prst="rect">
              <a:avLst/>
            </a:prstGeom>
            <a:noFill/>
            <a:ln/>
          </p:spPr>
          <p:txBody>
            <a:bodyPr wrap="square" lIns="0" tIns="0" rIns="0" bIns="0" rtlCol="0" anchor="t"/>
            <a:lstStyle/>
            <a:p>
              <a:pPr marL="0" indent="0">
                <a:buNone/>
              </a:pPr>
              <a:r>
                <a:rPr lang="en-GB" sz="1700" b="1" noProof="0" dirty="0">
                  <a:solidFill>
                    <a:srgbClr val="12315B"/>
                  </a:solidFill>
                  <a:latin typeface="Calibri" pitchFamily="34" charset="0"/>
                  <a:ea typeface="Calibri" pitchFamily="34" charset="-122"/>
                  <a:cs typeface="Calibri" pitchFamily="34" charset="-120"/>
                </a:rPr>
                <a:t>Axillary findings</a:t>
              </a:r>
              <a:endParaRPr lang="en-GB" sz="1700" noProof="0" dirty="0"/>
            </a:p>
          </p:txBody>
        </p:sp>
        <p:sp>
          <p:nvSpPr>
            <p:cNvPr id="22" name="Text 20"/>
            <p:cNvSpPr txBox="1"/>
            <p:nvPr/>
          </p:nvSpPr>
          <p:spPr>
            <a:xfrm>
              <a:off x="8280197" y="3849624"/>
              <a:ext cx="1569197" cy="1307592"/>
            </a:xfrm>
            <a:prstGeom prst="rect">
              <a:avLst/>
            </a:prstGeom>
            <a:noFill/>
            <a:ln/>
          </p:spPr>
          <p:txBody>
            <a:bodyPr wrap="square" lIns="0" tIns="0" rIns="0" bIns="0" rtlCol="0" anchor="t"/>
            <a:lstStyle/>
            <a:p>
              <a:pPr marL="0" indent="0">
                <a:lnSpc>
                  <a:spcPct val="90000"/>
                </a:lnSpc>
                <a:buNone/>
              </a:pPr>
              <a:r>
                <a:rPr lang="en-GB" sz="1800" noProof="0" dirty="0">
                  <a:solidFill>
                    <a:srgbClr val="1F3A63"/>
                  </a:solidFill>
                  <a:latin typeface="Calibri" pitchFamily="34" charset="0"/>
                  <a:ea typeface="Calibri" pitchFamily="34" charset="-122"/>
                  <a:cs typeface="Calibri" pitchFamily="34" charset="-120"/>
                </a:rPr>
                <a:t>A persistent lump or swelling in the armpit, or above or below the collarbone.</a:t>
              </a:r>
              <a:endParaRPr lang="en-GB" sz="1800" noProof="0" dirty="0"/>
            </a:p>
          </p:txBody>
        </p:sp>
        <p:pic>
          <p:nvPicPr>
            <p:cNvPr id="33" name="Imagen 32">
              <a:extLst>
                <a:ext uri="{FF2B5EF4-FFF2-40B4-BE49-F238E27FC236}">
                  <a16:creationId xmlns:a16="http://schemas.microsoft.com/office/drawing/2014/main" id="{3906BCC8-5EB5-7C57-77F5-DA46DFFE9764}"/>
                </a:ext>
              </a:extLst>
            </p:cNvPr>
            <p:cNvPicPr>
              <a:picLocks noChangeAspect="1"/>
            </p:cNvPicPr>
            <p:nvPr/>
          </p:nvPicPr>
          <p:blipFill>
            <a:blip r:embed="rId9" cstate="email">
              <a:extLst>
                <a:ext uri="{28A0092B-C50C-407E-A947-70E740481C1C}">
                  <a14:useLocalDpi xmlns:a14="http://schemas.microsoft.com/office/drawing/2010/main"/>
                </a:ext>
              </a:extLst>
            </a:blip>
            <a:srcRect/>
            <a:stretch>
              <a:fillRect/>
            </a:stretch>
          </p:blipFill>
          <p:spPr>
            <a:xfrm>
              <a:off x="9879241" y="4074045"/>
              <a:ext cx="1665941" cy="906567"/>
            </a:xfrm>
            <a:prstGeom prst="rect">
              <a:avLst/>
            </a:prstGeom>
          </p:spPr>
        </p:pic>
      </p:gr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name="Slide 5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en-GB" sz="1100" b="1" kern="0" spc="100" noProof="0" dirty="0">
                <a:solidFill>
                  <a:srgbClr val="5B7699"/>
                </a:solidFill>
                <a:latin typeface="Calibri" pitchFamily="34" charset="0"/>
                <a:ea typeface="Calibri" pitchFamily="34" charset="-122"/>
                <a:cs typeface="Calibri" pitchFamily="34" charset="-120"/>
              </a:rPr>
              <a:t>S E S S I O N   2</a:t>
            </a:r>
            <a:endParaRPr lang="en-GB"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en-GB" sz="1000" noProof="0" dirty="0">
                <a:solidFill>
                  <a:srgbClr val="5B7699"/>
                </a:solidFill>
                <a:latin typeface="Calibri" pitchFamily="34" charset="0"/>
                <a:ea typeface="Calibri" pitchFamily="34" charset="-122"/>
                <a:cs typeface="Calibri" pitchFamily="34" charset="-120"/>
              </a:rPr>
              <a:t>Breast Cancer  |  Frontline HCP  |  Rwanda Biomedical Centre</a:t>
            </a:r>
            <a:endParaRPr lang="en-GB"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en-GB" sz="3000" b="1" noProof="0" dirty="0">
                <a:solidFill>
                  <a:srgbClr val="12315B"/>
                </a:solidFill>
                <a:latin typeface="Calibri" pitchFamily="34" charset="0"/>
                <a:ea typeface="Calibri" pitchFamily="34" charset="-122"/>
                <a:cs typeface="Calibri" pitchFamily="34" charset="-120"/>
              </a:rPr>
              <a:t>Findings that need action without delay</a:t>
            </a:r>
            <a:endParaRPr lang="en-GB" sz="3000" noProof="0" dirty="0"/>
          </a:p>
        </p:txBody>
      </p:sp>
      <p:sp>
        <p:nvSpPr>
          <p:cNvPr id="5" name="Shape 3"/>
          <p:cNvSpPr/>
          <p:nvPr/>
        </p:nvSpPr>
        <p:spPr>
          <a:xfrm>
            <a:off x="548640" y="1325880"/>
            <a:ext cx="3527450" cy="4572000"/>
          </a:xfrm>
          <a:prstGeom prst="roundRect">
            <a:avLst>
              <a:gd name="adj" fmla="val 1555"/>
            </a:avLst>
          </a:prstGeom>
          <a:solidFill>
            <a:srgbClr val="FBECEA"/>
          </a:solidFill>
          <a:ln w="12700">
            <a:solidFill>
              <a:srgbClr val="E7B6B0"/>
            </a:solidFill>
            <a:prstDash val="solid"/>
          </a:ln>
        </p:spPr>
        <p:txBody>
          <a:bodyPr/>
          <a:lstStyle/>
          <a:p>
            <a:endParaRPr lang="en-GB" noProof="0" dirty="0"/>
          </a:p>
        </p:txBody>
      </p:sp>
      <p:sp>
        <p:nvSpPr>
          <p:cNvPr id="6" name="Text 4"/>
          <p:cNvSpPr txBox="1"/>
          <p:nvPr/>
        </p:nvSpPr>
        <p:spPr>
          <a:xfrm>
            <a:off x="713232" y="1453896"/>
            <a:ext cx="3198266" cy="384048"/>
          </a:xfrm>
          <a:prstGeom prst="rect">
            <a:avLst/>
          </a:prstGeom>
          <a:noFill/>
          <a:ln/>
        </p:spPr>
        <p:txBody>
          <a:bodyPr wrap="square" lIns="0" tIns="0" rIns="0" bIns="0" rtlCol="0" anchor="t"/>
          <a:lstStyle/>
          <a:p>
            <a:pPr marL="0" indent="0">
              <a:buNone/>
            </a:pPr>
            <a:r>
              <a:rPr lang="en-GB" sz="1800" b="1" noProof="0" dirty="0">
                <a:solidFill>
                  <a:srgbClr val="A32319"/>
                </a:solidFill>
                <a:latin typeface="Calibri" pitchFamily="34" charset="0"/>
                <a:ea typeface="Calibri" pitchFamily="34" charset="-122"/>
                <a:cs typeface="Calibri" pitchFamily="34" charset="-120"/>
              </a:rPr>
              <a:t>Refer urgently: within 24 hours</a:t>
            </a:r>
            <a:endParaRPr lang="en-GB" sz="1800" noProof="0" dirty="0"/>
          </a:p>
        </p:txBody>
      </p:sp>
      <p:sp>
        <p:nvSpPr>
          <p:cNvPr id="7" name="Text 5"/>
          <p:cNvSpPr txBox="1"/>
          <p:nvPr/>
        </p:nvSpPr>
        <p:spPr>
          <a:xfrm>
            <a:off x="713232" y="1892808"/>
            <a:ext cx="3198266" cy="3858768"/>
          </a:xfrm>
          <a:prstGeom prst="rect">
            <a:avLst/>
          </a:prstGeom>
          <a:noFill/>
          <a:ln/>
        </p:spPr>
        <p:txBody>
          <a:bodyPr wrap="square" lIns="0" tIns="0" rIns="0" bIns="0" rtlCol="0" anchor="t"/>
          <a:lstStyle/>
          <a:p>
            <a:pPr marL="342900" indent="-342900">
              <a:lnSpc>
                <a:spcPct val="95000"/>
              </a:lnSpc>
              <a:spcAft>
                <a:spcPts val="600"/>
              </a:spcAft>
              <a:buSzPct val="100000"/>
              <a:buChar char="•"/>
            </a:pPr>
            <a:r>
              <a:rPr lang="en-GB" sz="1600" noProof="0" dirty="0">
                <a:solidFill>
                  <a:srgbClr val="0B1F3F"/>
                </a:solidFill>
                <a:latin typeface="Calibri" pitchFamily="34" charset="0"/>
                <a:ea typeface="Calibri" pitchFamily="34" charset="-122"/>
                <a:cs typeface="Calibri" pitchFamily="34" charset="-120"/>
              </a:rPr>
              <a:t>A rapidly enlarging breast mass</a:t>
            </a:r>
            <a:endParaRPr lang="en-GB" sz="1600" noProof="0" dirty="0"/>
          </a:p>
          <a:p>
            <a:pPr marL="342900" indent="-342900">
              <a:lnSpc>
                <a:spcPct val="95000"/>
              </a:lnSpc>
              <a:spcAft>
                <a:spcPts val="600"/>
              </a:spcAft>
              <a:buSzPct val="100000"/>
              <a:buChar char="•"/>
            </a:pPr>
            <a:r>
              <a:rPr lang="en-GB" sz="1600" noProof="0" dirty="0">
                <a:solidFill>
                  <a:srgbClr val="0B1F3F"/>
                </a:solidFill>
                <a:latin typeface="Calibri" pitchFamily="34" charset="0"/>
                <a:ea typeface="Calibri" pitchFamily="34" charset="-122"/>
                <a:cs typeface="Calibri" pitchFamily="34" charset="-120"/>
              </a:rPr>
              <a:t>Rapid breast swelling, redness and skin thickening that does not settle as expected with treatment for infection</a:t>
            </a:r>
            <a:endParaRPr lang="en-GB" sz="1600" noProof="0" dirty="0"/>
          </a:p>
          <a:p>
            <a:pPr marL="342900" indent="-342900">
              <a:lnSpc>
                <a:spcPct val="95000"/>
              </a:lnSpc>
              <a:spcAft>
                <a:spcPts val="600"/>
              </a:spcAft>
              <a:buSzPct val="100000"/>
              <a:buChar char="•"/>
            </a:pPr>
            <a:r>
              <a:rPr lang="en-GB" sz="1600" noProof="0" dirty="0">
                <a:solidFill>
                  <a:srgbClr val="0B1F3F"/>
                </a:solidFill>
                <a:latin typeface="Calibri" pitchFamily="34" charset="0"/>
                <a:ea typeface="Calibri" pitchFamily="34" charset="-122"/>
                <a:cs typeface="Calibri" pitchFamily="34" charset="-120"/>
              </a:rPr>
              <a:t>A fixed or ulcerating breast mass</a:t>
            </a:r>
            <a:endParaRPr lang="en-GB" sz="1600" noProof="0" dirty="0"/>
          </a:p>
          <a:p>
            <a:pPr marL="342900" indent="-342900">
              <a:lnSpc>
                <a:spcPct val="95000"/>
              </a:lnSpc>
              <a:spcAft>
                <a:spcPts val="600"/>
              </a:spcAft>
              <a:buSzPct val="100000"/>
              <a:buChar char="•"/>
            </a:pPr>
            <a:r>
              <a:rPr lang="en-GB" sz="1600" noProof="0" dirty="0">
                <a:solidFill>
                  <a:srgbClr val="0B1F3F"/>
                </a:solidFill>
                <a:latin typeface="Calibri" pitchFamily="34" charset="0"/>
                <a:ea typeface="Calibri" pitchFamily="34" charset="-122"/>
                <a:cs typeface="Calibri" pitchFamily="34" charset="-120"/>
              </a:rPr>
              <a:t>A persistent scaly or ulcerated nipple change</a:t>
            </a:r>
            <a:endParaRPr lang="en-GB" sz="1600" noProof="0" dirty="0"/>
          </a:p>
          <a:p>
            <a:pPr marL="342900" indent="-342900">
              <a:lnSpc>
                <a:spcPct val="95000"/>
              </a:lnSpc>
              <a:spcAft>
                <a:spcPts val="600"/>
              </a:spcAft>
              <a:buSzPct val="100000"/>
              <a:buChar char="•"/>
            </a:pPr>
            <a:r>
              <a:rPr lang="en-GB" sz="1600" noProof="0" dirty="0">
                <a:solidFill>
                  <a:srgbClr val="0B1F3F"/>
                </a:solidFill>
                <a:latin typeface="Calibri" pitchFamily="34" charset="0"/>
                <a:ea typeface="Calibri" pitchFamily="34" charset="-122"/>
                <a:cs typeface="Calibri" pitchFamily="34" charset="-120"/>
              </a:rPr>
              <a:t>A fixed or enlarging axillary or supraclavicular node</a:t>
            </a:r>
            <a:endParaRPr lang="en-GB" sz="1600" noProof="0" dirty="0"/>
          </a:p>
          <a:p>
            <a:pPr marL="342900" indent="-342900">
              <a:lnSpc>
                <a:spcPct val="95000"/>
              </a:lnSpc>
              <a:spcAft>
                <a:spcPts val="600"/>
              </a:spcAft>
              <a:buSzPct val="100000"/>
              <a:buChar char="•"/>
            </a:pPr>
            <a:r>
              <a:rPr lang="en-GB" sz="1600" noProof="0" dirty="0">
                <a:solidFill>
                  <a:srgbClr val="0B1F3F"/>
                </a:solidFill>
                <a:latin typeface="Calibri" pitchFamily="34" charset="0"/>
                <a:ea typeface="Calibri" pitchFamily="34" charset="-122"/>
                <a:cs typeface="Calibri" pitchFamily="34" charset="-120"/>
              </a:rPr>
              <a:t>Any breast finding with new bone pain, breathlessness, jaundice or neurological symptoms</a:t>
            </a:r>
            <a:endParaRPr lang="en-GB" sz="1600" noProof="0" dirty="0"/>
          </a:p>
        </p:txBody>
      </p:sp>
      <p:sp>
        <p:nvSpPr>
          <p:cNvPr id="8" name="Shape 6"/>
          <p:cNvSpPr/>
          <p:nvPr/>
        </p:nvSpPr>
        <p:spPr>
          <a:xfrm>
            <a:off x="4332122" y="1325880"/>
            <a:ext cx="3527450" cy="4572000"/>
          </a:xfrm>
          <a:prstGeom prst="roundRect">
            <a:avLst>
              <a:gd name="adj" fmla="val 1555"/>
            </a:avLst>
          </a:prstGeom>
          <a:solidFill>
            <a:srgbClr val="FDF1E0"/>
          </a:solidFill>
          <a:ln w="12700">
            <a:solidFill>
              <a:srgbClr val="EFD3AA"/>
            </a:solidFill>
            <a:prstDash val="solid"/>
          </a:ln>
        </p:spPr>
        <p:txBody>
          <a:bodyPr/>
          <a:lstStyle/>
          <a:p>
            <a:endParaRPr lang="en-GB" noProof="0" dirty="0"/>
          </a:p>
        </p:txBody>
      </p:sp>
      <p:sp>
        <p:nvSpPr>
          <p:cNvPr id="9" name="Text 7"/>
          <p:cNvSpPr txBox="1"/>
          <p:nvPr/>
        </p:nvSpPr>
        <p:spPr>
          <a:xfrm>
            <a:off x="4496714" y="1453896"/>
            <a:ext cx="3198266" cy="384048"/>
          </a:xfrm>
          <a:prstGeom prst="rect">
            <a:avLst/>
          </a:prstGeom>
          <a:noFill/>
          <a:ln/>
        </p:spPr>
        <p:txBody>
          <a:bodyPr wrap="square" lIns="0" tIns="0" rIns="0" bIns="0" rtlCol="0" anchor="t"/>
          <a:lstStyle/>
          <a:p>
            <a:pPr marL="0" indent="0">
              <a:buNone/>
            </a:pPr>
            <a:r>
              <a:rPr lang="en-GB" sz="1800" b="1" noProof="0" dirty="0">
                <a:solidFill>
                  <a:srgbClr val="C9761A"/>
                </a:solidFill>
                <a:latin typeface="Calibri" pitchFamily="34" charset="0"/>
                <a:ea typeface="Calibri" pitchFamily="34" charset="-122"/>
                <a:cs typeface="Calibri" pitchFamily="34" charset="-120"/>
              </a:rPr>
              <a:t>Refer promptly</a:t>
            </a:r>
            <a:endParaRPr lang="en-GB" sz="1800" noProof="0" dirty="0"/>
          </a:p>
        </p:txBody>
      </p:sp>
      <p:sp>
        <p:nvSpPr>
          <p:cNvPr id="10" name="Text 8"/>
          <p:cNvSpPr txBox="1"/>
          <p:nvPr/>
        </p:nvSpPr>
        <p:spPr>
          <a:xfrm>
            <a:off x="4496714" y="1892808"/>
            <a:ext cx="3198266" cy="3858768"/>
          </a:xfrm>
          <a:prstGeom prst="rect">
            <a:avLst/>
          </a:prstGeom>
          <a:noFill/>
          <a:ln/>
        </p:spPr>
        <p:txBody>
          <a:bodyPr wrap="square" lIns="0" tIns="0" rIns="0" bIns="0" rtlCol="0" anchor="t"/>
          <a:lstStyle/>
          <a:p>
            <a:pPr marL="342900" indent="-342900">
              <a:lnSpc>
                <a:spcPct val="95000"/>
              </a:lnSpc>
              <a:spcAft>
                <a:spcPts val="600"/>
              </a:spcAft>
              <a:buSzPct val="100000"/>
              <a:buChar char="•"/>
            </a:pPr>
            <a:r>
              <a:rPr lang="en-GB" sz="1600" noProof="0" dirty="0">
                <a:solidFill>
                  <a:srgbClr val="0B1F3F"/>
                </a:solidFill>
                <a:latin typeface="Calibri" pitchFamily="34" charset="0"/>
                <a:ea typeface="Calibri" pitchFamily="34" charset="-122"/>
                <a:cs typeface="Calibri" pitchFamily="34" charset="-120"/>
              </a:rPr>
              <a:t>Any new discrete breast lump that persists</a:t>
            </a:r>
            <a:endParaRPr lang="en-GB" sz="1600" noProof="0" dirty="0"/>
          </a:p>
          <a:p>
            <a:pPr marL="342900" indent="-342900">
              <a:lnSpc>
                <a:spcPct val="95000"/>
              </a:lnSpc>
              <a:spcAft>
                <a:spcPts val="600"/>
              </a:spcAft>
              <a:buSzPct val="100000"/>
              <a:buChar char="•"/>
            </a:pPr>
            <a:r>
              <a:rPr lang="en-GB" sz="1600" noProof="0" dirty="0">
                <a:solidFill>
                  <a:srgbClr val="0B1F3F"/>
                </a:solidFill>
                <a:latin typeface="Calibri" pitchFamily="34" charset="0"/>
                <a:ea typeface="Calibri" pitchFamily="34" charset="-122"/>
                <a:cs typeface="Calibri" pitchFamily="34" charset="-120"/>
              </a:rPr>
              <a:t>Persistent focal thickening or a change in breast contour</a:t>
            </a:r>
            <a:endParaRPr lang="en-GB" sz="1600" noProof="0" dirty="0"/>
          </a:p>
          <a:p>
            <a:pPr marL="342900" indent="-342900">
              <a:lnSpc>
                <a:spcPct val="95000"/>
              </a:lnSpc>
              <a:spcAft>
                <a:spcPts val="600"/>
              </a:spcAft>
              <a:buSzPct val="100000"/>
              <a:buChar char="•"/>
            </a:pPr>
            <a:r>
              <a:rPr lang="en-GB" sz="1600" noProof="0" dirty="0">
                <a:solidFill>
                  <a:srgbClr val="0B1F3F"/>
                </a:solidFill>
                <a:latin typeface="Calibri" pitchFamily="34" charset="0"/>
                <a:ea typeface="Calibri" pitchFamily="34" charset="-122"/>
                <a:cs typeface="Calibri" pitchFamily="34" charset="-120"/>
              </a:rPr>
              <a:t>New nipple retraction or distortion</a:t>
            </a:r>
            <a:endParaRPr lang="en-GB" sz="1600" noProof="0" dirty="0"/>
          </a:p>
          <a:p>
            <a:pPr marL="342900" indent="-342900">
              <a:lnSpc>
                <a:spcPct val="95000"/>
              </a:lnSpc>
              <a:spcAft>
                <a:spcPts val="600"/>
              </a:spcAft>
              <a:buSzPct val="100000"/>
              <a:buChar char="•"/>
            </a:pPr>
            <a:r>
              <a:rPr lang="en-GB" sz="1600" noProof="0" dirty="0">
                <a:solidFill>
                  <a:srgbClr val="0B1F3F"/>
                </a:solidFill>
                <a:latin typeface="Calibri" pitchFamily="34" charset="0"/>
                <a:ea typeface="Calibri" pitchFamily="34" charset="-122"/>
                <a:cs typeface="Calibri" pitchFamily="34" charset="-120"/>
              </a:rPr>
              <a:t>Spontaneous single-duct or blood-stained nipple discharge</a:t>
            </a:r>
            <a:endParaRPr lang="en-GB" sz="1600" noProof="0" dirty="0"/>
          </a:p>
          <a:p>
            <a:pPr marL="342900" indent="-342900">
              <a:lnSpc>
                <a:spcPct val="95000"/>
              </a:lnSpc>
              <a:spcAft>
                <a:spcPts val="600"/>
              </a:spcAft>
              <a:buSzPct val="100000"/>
              <a:buChar char="•"/>
            </a:pPr>
            <a:r>
              <a:rPr lang="en-GB" sz="1600" noProof="0" dirty="0">
                <a:solidFill>
                  <a:srgbClr val="0B1F3F"/>
                </a:solidFill>
                <a:latin typeface="Calibri" pitchFamily="34" charset="0"/>
                <a:ea typeface="Calibri" pitchFamily="34" charset="-122"/>
                <a:cs typeface="Calibri" pitchFamily="34" charset="-120"/>
              </a:rPr>
              <a:t>A new breast mass in a man</a:t>
            </a:r>
            <a:endParaRPr lang="en-GB" sz="1600" noProof="0" dirty="0"/>
          </a:p>
          <a:p>
            <a:pPr marL="342900" indent="-342900">
              <a:lnSpc>
                <a:spcPct val="95000"/>
              </a:lnSpc>
              <a:spcAft>
                <a:spcPts val="600"/>
              </a:spcAft>
              <a:buSzPct val="100000"/>
              <a:buChar char="•"/>
            </a:pPr>
            <a:r>
              <a:rPr lang="en-GB" sz="1600" noProof="0" dirty="0">
                <a:solidFill>
                  <a:srgbClr val="0B1F3F"/>
                </a:solidFill>
                <a:latin typeface="Calibri" pitchFamily="34" charset="0"/>
                <a:ea typeface="Calibri" pitchFamily="34" charset="-122"/>
                <a:cs typeface="Calibri" pitchFamily="34" charset="-120"/>
              </a:rPr>
              <a:t>A persistent breast change during pregnancy or breastfeeding, which is assessed and not attributed to feeding</a:t>
            </a:r>
            <a:endParaRPr lang="en-GB" sz="1600" noProof="0" dirty="0"/>
          </a:p>
        </p:txBody>
      </p:sp>
      <p:sp>
        <p:nvSpPr>
          <p:cNvPr id="11" name="Shape 9"/>
          <p:cNvSpPr/>
          <p:nvPr/>
        </p:nvSpPr>
        <p:spPr>
          <a:xfrm>
            <a:off x="8115605" y="1325880"/>
            <a:ext cx="3527450" cy="4572000"/>
          </a:xfrm>
          <a:prstGeom prst="roundRect">
            <a:avLst>
              <a:gd name="adj" fmla="val 1555"/>
            </a:avLst>
          </a:prstGeom>
          <a:solidFill>
            <a:srgbClr val="F4F8FC"/>
          </a:solidFill>
          <a:ln w="12700">
            <a:solidFill>
              <a:srgbClr val="C8D8EC"/>
            </a:solidFill>
            <a:prstDash val="solid"/>
          </a:ln>
        </p:spPr>
        <p:txBody>
          <a:bodyPr/>
          <a:lstStyle/>
          <a:p>
            <a:endParaRPr lang="en-GB" noProof="0" dirty="0"/>
          </a:p>
        </p:txBody>
      </p:sp>
      <p:sp>
        <p:nvSpPr>
          <p:cNvPr id="12" name="Text 10"/>
          <p:cNvSpPr txBox="1"/>
          <p:nvPr/>
        </p:nvSpPr>
        <p:spPr>
          <a:xfrm>
            <a:off x="8280197" y="1453896"/>
            <a:ext cx="3198266" cy="384048"/>
          </a:xfrm>
          <a:prstGeom prst="rect">
            <a:avLst/>
          </a:prstGeom>
          <a:noFill/>
          <a:ln/>
        </p:spPr>
        <p:txBody>
          <a:bodyPr wrap="square" lIns="0" tIns="0" rIns="0" bIns="0" rtlCol="0" anchor="t"/>
          <a:lstStyle/>
          <a:p>
            <a:pPr marL="0" indent="0">
              <a:buNone/>
            </a:pPr>
            <a:r>
              <a:rPr lang="en-GB" sz="1800" b="1" noProof="0" dirty="0">
                <a:solidFill>
                  <a:srgbClr val="12315B"/>
                </a:solidFill>
                <a:latin typeface="Calibri" pitchFamily="34" charset="0"/>
                <a:ea typeface="Calibri" pitchFamily="34" charset="-122"/>
                <a:cs typeface="Calibri" pitchFamily="34" charset="-120"/>
              </a:rPr>
              <a:t>Assess, then decide</a:t>
            </a:r>
            <a:endParaRPr lang="en-GB" sz="1800" noProof="0" dirty="0"/>
          </a:p>
        </p:txBody>
      </p:sp>
      <p:sp>
        <p:nvSpPr>
          <p:cNvPr id="13" name="Text 11"/>
          <p:cNvSpPr txBox="1"/>
          <p:nvPr/>
        </p:nvSpPr>
        <p:spPr>
          <a:xfrm>
            <a:off x="8280197" y="1892808"/>
            <a:ext cx="3198266" cy="3858768"/>
          </a:xfrm>
          <a:prstGeom prst="rect">
            <a:avLst/>
          </a:prstGeom>
          <a:noFill/>
          <a:ln/>
        </p:spPr>
        <p:txBody>
          <a:bodyPr wrap="square" lIns="0" tIns="0" rIns="0" bIns="0" rtlCol="0" anchor="t"/>
          <a:lstStyle/>
          <a:p>
            <a:pPr marL="342900" indent="-342900">
              <a:lnSpc>
                <a:spcPct val="95000"/>
              </a:lnSpc>
              <a:spcAft>
                <a:spcPts val="600"/>
              </a:spcAft>
              <a:buSzPct val="100000"/>
              <a:buChar char="•"/>
            </a:pPr>
            <a:r>
              <a:rPr lang="en-GB" sz="1600" noProof="0" dirty="0">
                <a:solidFill>
                  <a:srgbClr val="0B1F3F"/>
                </a:solidFill>
                <a:latin typeface="Calibri" pitchFamily="34" charset="0"/>
                <a:ea typeface="Calibri" pitchFamily="34" charset="-122"/>
                <a:cs typeface="Calibri" pitchFamily="34" charset="-120"/>
              </a:rPr>
              <a:t>Cyclical bilateral breast pain with normal examination</a:t>
            </a:r>
            <a:endParaRPr lang="en-GB" sz="1600" noProof="0" dirty="0"/>
          </a:p>
          <a:p>
            <a:pPr marL="342900" indent="-342900">
              <a:lnSpc>
                <a:spcPct val="95000"/>
              </a:lnSpc>
              <a:spcAft>
                <a:spcPts val="600"/>
              </a:spcAft>
              <a:buSzPct val="100000"/>
              <a:buChar char="•"/>
            </a:pPr>
            <a:r>
              <a:rPr lang="en-GB" sz="1600" noProof="0" dirty="0">
                <a:solidFill>
                  <a:srgbClr val="0B1F3F"/>
                </a:solidFill>
                <a:latin typeface="Calibri" pitchFamily="34" charset="0"/>
                <a:ea typeface="Calibri" pitchFamily="34" charset="-122"/>
                <a:cs typeface="Calibri" pitchFamily="34" charset="-120"/>
              </a:rPr>
              <a:t>Long-standing nodularity that is unchanged and has been assessed before</a:t>
            </a:r>
            <a:endParaRPr lang="en-GB" sz="1600" noProof="0" dirty="0"/>
          </a:p>
          <a:p>
            <a:pPr marL="342900" indent="-342900">
              <a:lnSpc>
                <a:spcPct val="95000"/>
              </a:lnSpc>
              <a:spcAft>
                <a:spcPts val="600"/>
              </a:spcAft>
              <a:buSzPct val="100000"/>
              <a:buChar char="•"/>
            </a:pPr>
            <a:r>
              <a:rPr lang="en-GB" sz="1600" noProof="0" dirty="0">
                <a:solidFill>
                  <a:srgbClr val="0B1F3F"/>
                </a:solidFill>
                <a:latin typeface="Calibri" pitchFamily="34" charset="0"/>
                <a:ea typeface="Calibri" pitchFamily="34" charset="-122"/>
                <a:cs typeface="Calibri" pitchFamily="34" charset="-120"/>
              </a:rPr>
              <a:t>Bilateral milky discharge, which prompts a different line of enquiry</a:t>
            </a:r>
            <a:endParaRPr lang="en-GB" sz="1600" noProof="0" dirty="0"/>
          </a:p>
          <a:p>
            <a:pPr marL="342900" indent="-342900">
              <a:lnSpc>
                <a:spcPct val="95000"/>
              </a:lnSpc>
              <a:spcAft>
                <a:spcPts val="600"/>
              </a:spcAft>
              <a:buSzPct val="100000"/>
              <a:buChar char="•"/>
            </a:pPr>
            <a:r>
              <a:rPr lang="en-GB" sz="1600" noProof="0" dirty="0">
                <a:solidFill>
                  <a:srgbClr val="0B1F3F"/>
                </a:solidFill>
                <a:latin typeface="Calibri" pitchFamily="34" charset="0"/>
                <a:ea typeface="Calibri" pitchFamily="34" charset="-122"/>
                <a:cs typeface="Calibri" pitchFamily="34" charset="-120"/>
              </a:rPr>
              <a:t>Any of these that changes, persists or becomes focal moves into the prompt column</a:t>
            </a:r>
            <a:endParaRPr lang="en-GB" sz="1600" noProof="0" dirty="0"/>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en-GB" sz="1100" b="1" kern="0" spc="100" noProof="0" dirty="0">
                <a:solidFill>
                  <a:srgbClr val="5B7699"/>
                </a:solidFill>
                <a:latin typeface="Calibri" pitchFamily="34" charset="0"/>
                <a:ea typeface="Calibri" pitchFamily="34" charset="-122"/>
                <a:cs typeface="Calibri" pitchFamily="34" charset="-120"/>
              </a:rPr>
              <a:t>S E S S I O N   2</a:t>
            </a:r>
            <a:endParaRPr lang="en-GB"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en-GB" sz="1000" noProof="0" dirty="0">
                <a:solidFill>
                  <a:srgbClr val="5B7699"/>
                </a:solidFill>
                <a:latin typeface="Calibri" pitchFamily="34" charset="0"/>
                <a:ea typeface="Calibri" pitchFamily="34" charset="-122"/>
                <a:cs typeface="Calibri" pitchFamily="34" charset="-120"/>
              </a:rPr>
              <a:t>Breast Cancer  |  Frontline HCP  |  Rwanda Biomedical Centre</a:t>
            </a:r>
            <a:endParaRPr lang="en-GB" sz="1000" noProof="0" dirty="0"/>
          </a:p>
        </p:txBody>
      </p:sp>
      <p:sp>
        <p:nvSpPr>
          <p:cNvPr id="4" name="Text 2"/>
          <p:cNvSpPr txBox="1"/>
          <p:nvPr/>
        </p:nvSpPr>
        <p:spPr>
          <a:xfrm>
            <a:off x="548638" y="530352"/>
            <a:ext cx="11094415" cy="566928"/>
          </a:xfrm>
          <a:prstGeom prst="rect">
            <a:avLst/>
          </a:prstGeom>
          <a:noFill/>
          <a:ln/>
        </p:spPr>
        <p:txBody>
          <a:bodyPr wrap="square" lIns="0" tIns="0" rIns="0" bIns="0" rtlCol="0" anchor="t"/>
          <a:lstStyle/>
          <a:p>
            <a:pPr marL="0" indent="0">
              <a:buNone/>
            </a:pPr>
            <a:r>
              <a:rPr lang="en-GB" sz="3000" b="1" noProof="0" dirty="0">
                <a:solidFill>
                  <a:srgbClr val="12315B"/>
                </a:solidFill>
                <a:latin typeface="Calibri" pitchFamily="34" charset="0"/>
                <a:ea typeface="Calibri" pitchFamily="34" charset="-122"/>
                <a:cs typeface="Calibri" pitchFamily="34" charset="-120"/>
              </a:rPr>
              <a:t>Breast awareness</a:t>
            </a:r>
            <a:endParaRPr lang="en-GB" sz="3000" noProof="0" dirty="0"/>
          </a:p>
        </p:txBody>
      </p:sp>
      <p:pic>
        <p:nvPicPr>
          <p:cNvPr id="7" name="Imagen 6">
            <a:extLst>
              <a:ext uri="{FF2B5EF4-FFF2-40B4-BE49-F238E27FC236}">
                <a16:creationId xmlns:a16="http://schemas.microsoft.com/office/drawing/2014/main" id="{85D7E4E4-D61E-AFCB-9CF9-C63931BED1AA}"/>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48635" y="1005254"/>
            <a:ext cx="10893087" cy="5446544"/>
          </a:xfrm>
          <a:prstGeom prst="rect">
            <a:avLst/>
          </a:prstGeom>
        </p:spPr>
      </p:pic>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en-GB" sz="1100" b="1" kern="0" spc="100" noProof="0" dirty="0">
                <a:solidFill>
                  <a:srgbClr val="5B7699"/>
                </a:solidFill>
                <a:latin typeface="Calibri" pitchFamily="34" charset="0"/>
                <a:ea typeface="Calibri" pitchFamily="34" charset="-122"/>
                <a:cs typeface="Calibri" pitchFamily="34" charset="-120"/>
              </a:rPr>
              <a:t>S E S S I O N   2</a:t>
            </a:r>
            <a:endParaRPr lang="en-GB"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en-GB" sz="1000" noProof="0" dirty="0">
                <a:solidFill>
                  <a:srgbClr val="5B7699"/>
                </a:solidFill>
                <a:latin typeface="Calibri" pitchFamily="34" charset="0"/>
                <a:ea typeface="Calibri" pitchFamily="34" charset="-122"/>
                <a:cs typeface="Calibri" pitchFamily="34" charset="-120"/>
              </a:rPr>
              <a:t>Breast Cancer  |  Frontline HCP  |  Rwanda Biomedical Centre</a:t>
            </a:r>
            <a:endParaRPr lang="en-GB"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en-GB" sz="3000" b="1" noProof="0" dirty="0">
                <a:solidFill>
                  <a:srgbClr val="12315B"/>
                </a:solidFill>
                <a:latin typeface="Calibri" pitchFamily="34" charset="0"/>
                <a:ea typeface="Calibri" pitchFamily="34" charset="-122"/>
                <a:cs typeface="Calibri" pitchFamily="34" charset="-120"/>
              </a:rPr>
              <a:t>Teaching breast self-examination in a consultation</a:t>
            </a:r>
            <a:endParaRPr lang="en-GB" sz="3000" noProof="0" dirty="0"/>
          </a:p>
        </p:txBody>
      </p:sp>
      <p:sp>
        <p:nvSpPr>
          <p:cNvPr id="5" name="Shape 3"/>
          <p:cNvSpPr/>
          <p:nvPr/>
        </p:nvSpPr>
        <p:spPr>
          <a:xfrm>
            <a:off x="548640" y="1325880"/>
            <a:ext cx="11094415" cy="733183"/>
          </a:xfrm>
          <a:prstGeom prst="roundRect">
            <a:avLst>
              <a:gd name="adj" fmla="val 6236"/>
            </a:avLst>
          </a:prstGeom>
          <a:solidFill>
            <a:srgbClr val="F4F8FC"/>
          </a:solidFill>
          <a:ln w="12700">
            <a:solidFill>
              <a:srgbClr val="C8D8EC"/>
            </a:solidFill>
            <a:prstDash val="solid"/>
          </a:ln>
        </p:spPr>
        <p:txBody>
          <a:bodyPr/>
          <a:lstStyle/>
          <a:p>
            <a:endParaRPr lang="en-GB" noProof="0" dirty="0"/>
          </a:p>
        </p:txBody>
      </p:sp>
      <p:sp>
        <p:nvSpPr>
          <p:cNvPr id="6" name="Shape 4"/>
          <p:cNvSpPr/>
          <p:nvPr/>
        </p:nvSpPr>
        <p:spPr>
          <a:xfrm>
            <a:off x="694944" y="1435608"/>
            <a:ext cx="932688" cy="513727"/>
          </a:xfrm>
          <a:prstGeom prst="roundRect">
            <a:avLst>
              <a:gd name="adj" fmla="val 8900"/>
            </a:avLst>
          </a:prstGeom>
          <a:solidFill>
            <a:srgbClr val="12315B"/>
          </a:solidFill>
          <a:ln/>
        </p:spPr>
        <p:txBody>
          <a:bodyPr/>
          <a:lstStyle/>
          <a:p>
            <a:endParaRPr lang="en-GB" noProof="0" dirty="0"/>
          </a:p>
        </p:txBody>
      </p:sp>
      <p:sp>
        <p:nvSpPr>
          <p:cNvPr id="7" name="Text 5"/>
          <p:cNvSpPr txBox="1"/>
          <p:nvPr/>
        </p:nvSpPr>
        <p:spPr>
          <a:xfrm>
            <a:off x="694944" y="1435608"/>
            <a:ext cx="932688" cy="513727"/>
          </a:xfrm>
          <a:prstGeom prst="rect">
            <a:avLst/>
          </a:prstGeom>
          <a:noFill/>
          <a:ln/>
        </p:spPr>
        <p:txBody>
          <a:bodyPr wrap="square" lIns="0" tIns="0" rIns="0" bIns="0" rtlCol="0" anchor="ctr"/>
          <a:lstStyle/>
          <a:p>
            <a:pPr marL="0" indent="0" algn="ctr">
              <a:buNone/>
            </a:pPr>
            <a:r>
              <a:rPr lang="en-GB" sz="1400" b="1" noProof="0" dirty="0">
                <a:solidFill>
                  <a:srgbClr val="FFFFFF"/>
                </a:solidFill>
                <a:latin typeface="Calibri" pitchFamily="34" charset="0"/>
                <a:ea typeface="Calibri" pitchFamily="34" charset="-122"/>
                <a:cs typeface="Calibri" pitchFamily="34" charset="-120"/>
              </a:rPr>
              <a:t>Say</a:t>
            </a:r>
            <a:endParaRPr lang="en-GB" sz="1400" noProof="0" dirty="0"/>
          </a:p>
        </p:txBody>
      </p:sp>
      <p:sp>
        <p:nvSpPr>
          <p:cNvPr id="8" name="Text 6"/>
          <p:cNvSpPr txBox="1"/>
          <p:nvPr/>
        </p:nvSpPr>
        <p:spPr>
          <a:xfrm>
            <a:off x="1783080" y="1399032"/>
            <a:ext cx="9677095" cy="586879"/>
          </a:xfrm>
          <a:prstGeom prst="rect">
            <a:avLst/>
          </a:prstGeom>
          <a:noFill/>
          <a:ln/>
        </p:spPr>
        <p:txBody>
          <a:bodyPr wrap="square" lIns="0" tIns="0" rIns="0" bIns="0" rtlCol="0" anchor="ctr"/>
          <a:lstStyle/>
          <a:p>
            <a:pPr marL="0" indent="0">
              <a:lnSpc>
                <a:spcPct val="95000"/>
              </a:lnSpc>
              <a:buNone/>
            </a:pPr>
            <a:r>
              <a:rPr lang="en-GB" sz="1800" b="1" noProof="0" dirty="0">
                <a:solidFill>
                  <a:srgbClr val="12315B"/>
                </a:solidFill>
                <a:latin typeface="Calibri" pitchFamily="34" charset="0"/>
                <a:ea typeface="Calibri" pitchFamily="34" charset="-122"/>
                <a:cs typeface="Calibri" pitchFamily="34" charset="-120"/>
              </a:rPr>
              <a:t>Know your own normal: </a:t>
            </a:r>
            <a:r>
              <a:rPr lang="en-GB" sz="1800" noProof="0" dirty="0">
                <a:solidFill>
                  <a:srgbClr val="0B1F3F"/>
                </a:solidFill>
                <a:latin typeface="Calibri" pitchFamily="34" charset="0"/>
                <a:ea typeface="Calibri" pitchFamily="34" charset="-122"/>
                <a:cs typeface="Calibri" pitchFamily="34" charset="-120"/>
              </a:rPr>
              <a:t>Breasts differ between people and change across the cycle, in pregnancy and after the menopause. The aim is to know what is usual for her.</a:t>
            </a:r>
            <a:endParaRPr lang="en-GB" sz="1800" noProof="0" dirty="0"/>
          </a:p>
        </p:txBody>
      </p:sp>
      <p:sp>
        <p:nvSpPr>
          <p:cNvPr id="9" name="Shape 7"/>
          <p:cNvSpPr/>
          <p:nvPr/>
        </p:nvSpPr>
        <p:spPr>
          <a:xfrm>
            <a:off x="548640" y="2205367"/>
            <a:ext cx="11094415" cy="1099774"/>
          </a:xfrm>
          <a:prstGeom prst="roundRect">
            <a:avLst>
              <a:gd name="adj" fmla="val 4157"/>
            </a:avLst>
          </a:prstGeom>
          <a:solidFill>
            <a:srgbClr val="F4F8FC"/>
          </a:solidFill>
          <a:ln w="12700">
            <a:solidFill>
              <a:srgbClr val="C8D8EC"/>
            </a:solidFill>
            <a:prstDash val="solid"/>
          </a:ln>
        </p:spPr>
        <p:txBody>
          <a:bodyPr/>
          <a:lstStyle/>
          <a:p>
            <a:endParaRPr lang="en-GB" noProof="0" dirty="0"/>
          </a:p>
        </p:txBody>
      </p:sp>
      <p:sp>
        <p:nvSpPr>
          <p:cNvPr id="10" name="Shape 8"/>
          <p:cNvSpPr/>
          <p:nvPr/>
        </p:nvSpPr>
        <p:spPr>
          <a:xfrm>
            <a:off x="694944" y="2315095"/>
            <a:ext cx="932688" cy="880318"/>
          </a:xfrm>
          <a:prstGeom prst="roundRect">
            <a:avLst>
              <a:gd name="adj" fmla="val 5194"/>
            </a:avLst>
          </a:prstGeom>
          <a:solidFill>
            <a:srgbClr val="12315B"/>
          </a:solidFill>
          <a:ln/>
        </p:spPr>
        <p:txBody>
          <a:bodyPr/>
          <a:lstStyle/>
          <a:p>
            <a:endParaRPr lang="en-GB" noProof="0" dirty="0"/>
          </a:p>
        </p:txBody>
      </p:sp>
      <p:sp>
        <p:nvSpPr>
          <p:cNvPr id="11" name="Text 9"/>
          <p:cNvSpPr txBox="1"/>
          <p:nvPr/>
        </p:nvSpPr>
        <p:spPr>
          <a:xfrm>
            <a:off x="694944" y="2315095"/>
            <a:ext cx="932688" cy="880318"/>
          </a:xfrm>
          <a:prstGeom prst="rect">
            <a:avLst/>
          </a:prstGeom>
          <a:noFill/>
          <a:ln/>
        </p:spPr>
        <p:txBody>
          <a:bodyPr wrap="square" lIns="0" tIns="0" rIns="0" bIns="0" rtlCol="0" anchor="ctr"/>
          <a:lstStyle/>
          <a:p>
            <a:pPr marL="0" indent="0" algn="ctr">
              <a:buNone/>
            </a:pPr>
            <a:r>
              <a:rPr lang="en-GB" sz="1400" b="1" noProof="0" dirty="0">
                <a:solidFill>
                  <a:srgbClr val="FFFFFF"/>
                </a:solidFill>
                <a:latin typeface="Calibri" pitchFamily="34" charset="0"/>
                <a:ea typeface="Calibri" pitchFamily="34" charset="-122"/>
                <a:cs typeface="Calibri" pitchFamily="34" charset="-120"/>
              </a:rPr>
              <a:t>Show</a:t>
            </a:r>
            <a:endParaRPr lang="en-GB" sz="1400" noProof="0" dirty="0"/>
          </a:p>
        </p:txBody>
      </p:sp>
      <p:sp>
        <p:nvSpPr>
          <p:cNvPr id="12" name="Text 10"/>
          <p:cNvSpPr txBox="1"/>
          <p:nvPr/>
        </p:nvSpPr>
        <p:spPr>
          <a:xfrm>
            <a:off x="1783080" y="2278519"/>
            <a:ext cx="9677095" cy="953470"/>
          </a:xfrm>
          <a:prstGeom prst="rect">
            <a:avLst/>
          </a:prstGeom>
          <a:noFill/>
          <a:ln/>
        </p:spPr>
        <p:txBody>
          <a:bodyPr wrap="square" lIns="0" tIns="0" rIns="0" bIns="0" rtlCol="0" anchor="ctr"/>
          <a:lstStyle/>
          <a:p>
            <a:pPr marL="0" indent="0">
              <a:lnSpc>
                <a:spcPct val="95000"/>
              </a:lnSpc>
              <a:buNone/>
            </a:pPr>
            <a:r>
              <a:rPr lang="en-GB" sz="1800" b="1" noProof="0" dirty="0">
                <a:solidFill>
                  <a:srgbClr val="12315B"/>
                </a:solidFill>
                <a:latin typeface="Calibri" pitchFamily="34" charset="0"/>
                <a:ea typeface="Calibri" pitchFamily="34" charset="-122"/>
                <a:cs typeface="Calibri" pitchFamily="34" charset="-120"/>
              </a:rPr>
              <a:t>Look and feel, once a month: </a:t>
            </a:r>
            <a:r>
              <a:rPr lang="en-GB" sz="1800" noProof="0" dirty="0">
                <a:solidFill>
                  <a:srgbClr val="0B1F3F"/>
                </a:solidFill>
                <a:latin typeface="Calibri" pitchFamily="34" charset="0"/>
                <a:ea typeface="Calibri" pitchFamily="34" charset="-122"/>
                <a:cs typeface="Calibri" pitchFamily="34" charset="-120"/>
              </a:rPr>
              <a:t>From age 25, teach monthly breast self-examination: looking in a mirror, then feeling the whole breast and armpit, standing and lying down. The next two screens show the steps.</a:t>
            </a:r>
            <a:endParaRPr lang="en-GB" sz="1800" noProof="0" dirty="0"/>
          </a:p>
        </p:txBody>
      </p:sp>
      <p:sp>
        <p:nvSpPr>
          <p:cNvPr id="13" name="Shape 11"/>
          <p:cNvSpPr/>
          <p:nvPr/>
        </p:nvSpPr>
        <p:spPr>
          <a:xfrm>
            <a:off x="548640" y="3451444"/>
            <a:ext cx="11094415" cy="733183"/>
          </a:xfrm>
          <a:prstGeom prst="roundRect">
            <a:avLst>
              <a:gd name="adj" fmla="val 6236"/>
            </a:avLst>
          </a:prstGeom>
          <a:solidFill>
            <a:srgbClr val="F4F8FC"/>
          </a:solidFill>
          <a:ln w="12700">
            <a:solidFill>
              <a:srgbClr val="C8D8EC"/>
            </a:solidFill>
            <a:prstDash val="solid"/>
          </a:ln>
        </p:spPr>
        <p:txBody>
          <a:bodyPr/>
          <a:lstStyle/>
          <a:p>
            <a:endParaRPr lang="en-GB" noProof="0" dirty="0"/>
          </a:p>
        </p:txBody>
      </p:sp>
      <p:sp>
        <p:nvSpPr>
          <p:cNvPr id="14" name="Shape 12"/>
          <p:cNvSpPr/>
          <p:nvPr/>
        </p:nvSpPr>
        <p:spPr>
          <a:xfrm>
            <a:off x="694944" y="3561172"/>
            <a:ext cx="932688" cy="513727"/>
          </a:xfrm>
          <a:prstGeom prst="roundRect">
            <a:avLst>
              <a:gd name="adj" fmla="val 8900"/>
            </a:avLst>
          </a:prstGeom>
          <a:solidFill>
            <a:srgbClr val="12315B"/>
          </a:solidFill>
          <a:ln/>
        </p:spPr>
        <p:txBody>
          <a:bodyPr/>
          <a:lstStyle/>
          <a:p>
            <a:endParaRPr lang="en-GB" noProof="0" dirty="0"/>
          </a:p>
        </p:txBody>
      </p:sp>
      <p:sp>
        <p:nvSpPr>
          <p:cNvPr id="15" name="Text 13"/>
          <p:cNvSpPr txBox="1"/>
          <p:nvPr/>
        </p:nvSpPr>
        <p:spPr>
          <a:xfrm>
            <a:off x="694944" y="3561172"/>
            <a:ext cx="932688" cy="513727"/>
          </a:xfrm>
          <a:prstGeom prst="rect">
            <a:avLst/>
          </a:prstGeom>
          <a:noFill/>
          <a:ln/>
        </p:spPr>
        <p:txBody>
          <a:bodyPr wrap="square" lIns="0" tIns="0" rIns="0" bIns="0" rtlCol="0" anchor="ctr"/>
          <a:lstStyle/>
          <a:p>
            <a:pPr marL="0" indent="0" algn="ctr">
              <a:buNone/>
            </a:pPr>
            <a:r>
              <a:rPr lang="en-GB" sz="1400" b="1" noProof="0" dirty="0">
                <a:solidFill>
                  <a:srgbClr val="FFFFFF"/>
                </a:solidFill>
                <a:latin typeface="Calibri" pitchFamily="34" charset="0"/>
                <a:ea typeface="Calibri" pitchFamily="34" charset="-122"/>
                <a:cs typeface="Calibri" pitchFamily="34" charset="-120"/>
              </a:rPr>
              <a:t>Name</a:t>
            </a:r>
            <a:endParaRPr lang="en-GB" sz="1400" noProof="0" dirty="0"/>
          </a:p>
        </p:txBody>
      </p:sp>
      <p:sp>
        <p:nvSpPr>
          <p:cNvPr id="16" name="Text 14"/>
          <p:cNvSpPr txBox="1"/>
          <p:nvPr/>
        </p:nvSpPr>
        <p:spPr>
          <a:xfrm>
            <a:off x="1783080" y="3524596"/>
            <a:ext cx="9677095" cy="586879"/>
          </a:xfrm>
          <a:prstGeom prst="rect">
            <a:avLst/>
          </a:prstGeom>
          <a:noFill/>
          <a:ln/>
        </p:spPr>
        <p:txBody>
          <a:bodyPr wrap="square" lIns="0" tIns="0" rIns="0" bIns="0" rtlCol="0" anchor="ctr"/>
          <a:lstStyle/>
          <a:p>
            <a:pPr marL="0" indent="0">
              <a:lnSpc>
                <a:spcPct val="95000"/>
              </a:lnSpc>
              <a:buNone/>
            </a:pPr>
            <a:r>
              <a:rPr lang="en-GB" sz="1800" b="1" noProof="0" dirty="0">
                <a:solidFill>
                  <a:srgbClr val="12315B"/>
                </a:solidFill>
                <a:latin typeface="Calibri" pitchFamily="34" charset="0"/>
                <a:ea typeface="Calibri" pitchFamily="34" charset="-122"/>
                <a:cs typeface="Calibri" pitchFamily="34" charset="-120"/>
              </a:rPr>
              <a:t>The changes worth reporting: </a:t>
            </a:r>
            <a:r>
              <a:rPr lang="en-GB" sz="1800" noProof="0" dirty="0">
                <a:solidFill>
                  <a:srgbClr val="0B1F3F"/>
                </a:solidFill>
                <a:latin typeface="Calibri" pitchFamily="34" charset="0"/>
                <a:ea typeface="Calibri" pitchFamily="34" charset="-122"/>
                <a:cs typeface="Calibri" pitchFamily="34" charset="-120"/>
              </a:rPr>
              <a:t>A new lump or thickened area, a change in size or shape, skin dimpling, a nipple that turns in or changes, discharge, or a lump in the armpit.</a:t>
            </a:r>
            <a:endParaRPr lang="en-GB" sz="1800" noProof="0" dirty="0"/>
          </a:p>
        </p:txBody>
      </p:sp>
      <p:sp>
        <p:nvSpPr>
          <p:cNvPr id="17" name="Shape 15"/>
          <p:cNvSpPr/>
          <p:nvPr/>
        </p:nvSpPr>
        <p:spPr>
          <a:xfrm>
            <a:off x="548640" y="4330931"/>
            <a:ext cx="11094415" cy="733183"/>
          </a:xfrm>
          <a:prstGeom prst="roundRect">
            <a:avLst>
              <a:gd name="adj" fmla="val 6236"/>
            </a:avLst>
          </a:prstGeom>
          <a:solidFill>
            <a:srgbClr val="F4F8FC"/>
          </a:solidFill>
          <a:ln w="12700">
            <a:solidFill>
              <a:srgbClr val="C8D8EC"/>
            </a:solidFill>
            <a:prstDash val="solid"/>
          </a:ln>
        </p:spPr>
        <p:txBody>
          <a:bodyPr/>
          <a:lstStyle/>
          <a:p>
            <a:endParaRPr lang="en-GB" noProof="0" dirty="0"/>
          </a:p>
        </p:txBody>
      </p:sp>
      <p:sp>
        <p:nvSpPr>
          <p:cNvPr id="18" name="Shape 16"/>
          <p:cNvSpPr/>
          <p:nvPr/>
        </p:nvSpPr>
        <p:spPr>
          <a:xfrm>
            <a:off x="694944" y="4440659"/>
            <a:ext cx="932688" cy="513727"/>
          </a:xfrm>
          <a:prstGeom prst="roundRect">
            <a:avLst>
              <a:gd name="adj" fmla="val 8900"/>
            </a:avLst>
          </a:prstGeom>
          <a:solidFill>
            <a:srgbClr val="12315B"/>
          </a:solidFill>
          <a:ln/>
        </p:spPr>
        <p:txBody>
          <a:bodyPr/>
          <a:lstStyle/>
          <a:p>
            <a:endParaRPr lang="en-GB" noProof="0" dirty="0"/>
          </a:p>
        </p:txBody>
      </p:sp>
      <p:sp>
        <p:nvSpPr>
          <p:cNvPr id="19" name="Text 17"/>
          <p:cNvSpPr txBox="1"/>
          <p:nvPr/>
        </p:nvSpPr>
        <p:spPr>
          <a:xfrm>
            <a:off x="694944" y="4440659"/>
            <a:ext cx="932688" cy="513727"/>
          </a:xfrm>
          <a:prstGeom prst="rect">
            <a:avLst/>
          </a:prstGeom>
          <a:noFill/>
          <a:ln/>
        </p:spPr>
        <p:txBody>
          <a:bodyPr wrap="square" lIns="0" tIns="0" rIns="0" bIns="0" rtlCol="0" anchor="ctr"/>
          <a:lstStyle/>
          <a:p>
            <a:pPr marL="0" indent="0" algn="ctr">
              <a:buNone/>
            </a:pPr>
            <a:r>
              <a:rPr lang="en-GB" sz="1400" b="1" noProof="0" dirty="0">
                <a:solidFill>
                  <a:srgbClr val="FFFFFF"/>
                </a:solidFill>
                <a:latin typeface="Calibri" pitchFamily="34" charset="0"/>
                <a:ea typeface="Calibri" pitchFamily="34" charset="-122"/>
                <a:cs typeface="Calibri" pitchFamily="34" charset="-120"/>
              </a:rPr>
              <a:t>Agree</a:t>
            </a:r>
            <a:endParaRPr lang="en-GB" sz="1400" noProof="0" dirty="0"/>
          </a:p>
        </p:txBody>
      </p:sp>
      <p:sp>
        <p:nvSpPr>
          <p:cNvPr id="20" name="Text 18"/>
          <p:cNvSpPr txBox="1"/>
          <p:nvPr/>
        </p:nvSpPr>
        <p:spPr>
          <a:xfrm>
            <a:off x="1783080" y="4404083"/>
            <a:ext cx="9677095" cy="586879"/>
          </a:xfrm>
          <a:prstGeom prst="rect">
            <a:avLst/>
          </a:prstGeom>
          <a:noFill/>
          <a:ln/>
        </p:spPr>
        <p:txBody>
          <a:bodyPr wrap="square" lIns="0" tIns="0" rIns="0" bIns="0" rtlCol="0" anchor="ctr"/>
          <a:lstStyle/>
          <a:p>
            <a:pPr marL="0" indent="0">
              <a:lnSpc>
                <a:spcPct val="95000"/>
              </a:lnSpc>
              <a:buNone/>
            </a:pPr>
            <a:r>
              <a:rPr lang="en-GB" sz="1800" b="1" noProof="0" dirty="0">
                <a:solidFill>
                  <a:srgbClr val="12315B"/>
                </a:solidFill>
                <a:latin typeface="Calibri" pitchFamily="34" charset="0"/>
                <a:ea typeface="Calibri" pitchFamily="34" charset="-122"/>
                <a:cs typeface="Calibri" pitchFamily="34" charset="-120"/>
              </a:rPr>
              <a:t>What to do if she finds something: </a:t>
            </a:r>
            <a:r>
              <a:rPr lang="en-GB" sz="1800" noProof="0" dirty="0">
                <a:solidFill>
                  <a:srgbClr val="0B1F3F"/>
                </a:solidFill>
                <a:latin typeface="Calibri" pitchFamily="34" charset="0"/>
                <a:ea typeface="Calibri" pitchFamily="34" charset="-122"/>
                <a:cs typeface="Calibri" pitchFamily="34" charset="-120"/>
              </a:rPr>
              <a:t>Come to the health centre without waiting for the change to disappear and without waiting for pain. Name the facility.</a:t>
            </a:r>
            <a:endParaRPr lang="en-GB" sz="1800" noProof="0" dirty="0"/>
          </a:p>
        </p:txBody>
      </p:sp>
      <p:sp>
        <p:nvSpPr>
          <p:cNvPr id="21" name="Shape 19"/>
          <p:cNvSpPr/>
          <p:nvPr/>
        </p:nvSpPr>
        <p:spPr>
          <a:xfrm>
            <a:off x="548640" y="5210417"/>
            <a:ext cx="11094415" cy="733183"/>
          </a:xfrm>
          <a:prstGeom prst="roundRect">
            <a:avLst>
              <a:gd name="adj" fmla="val 6236"/>
            </a:avLst>
          </a:prstGeom>
          <a:solidFill>
            <a:srgbClr val="F4F8FC"/>
          </a:solidFill>
          <a:ln w="12700">
            <a:solidFill>
              <a:srgbClr val="C8D8EC"/>
            </a:solidFill>
            <a:prstDash val="solid"/>
          </a:ln>
        </p:spPr>
        <p:txBody>
          <a:bodyPr/>
          <a:lstStyle/>
          <a:p>
            <a:endParaRPr lang="en-GB" noProof="0" dirty="0"/>
          </a:p>
        </p:txBody>
      </p:sp>
      <p:sp>
        <p:nvSpPr>
          <p:cNvPr id="22" name="Shape 20"/>
          <p:cNvSpPr/>
          <p:nvPr/>
        </p:nvSpPr>
        <p:spPr>
          <a:xfrm>
            <a:off x="694944" y="5320145"/>
            <a:ext cx="932688" cy="513727"/>
          </a:xfrm>
          <a:prstGeom prst="roundRect">
            <a:avLst>
              <a:gd name="adj" fmla="val 8900"/>
            </a:avLst>
          </a:prstGeom>
          <a:solidFill>
            <a:srgbClr val="12315B"/>
          </a:solidFill>
          <a:ln/>
        </p:spPr>
        <p:txBody>
          <a:bodyPr/>
          <a:lstStyle/>
          <a:p>
            <a:endParaRPr lang="en-GB" noProof="0" dirty="0"/>
          </a:p>
        </p:txBody>
      </p:sp>
      <p:sp>
        <p:nvSpPr>
          <p:cNvPr id="23" name="Text 21"/>
          <p:cNvSpPr txBox="1"/>
          <p:nvPr/>
        </p:nvSpPr>
        <p:spPr>
          <a:xfrm>
            <a:off x="694944" y="5320145"/>
            <a:ext cx="932688" cy="513727"/>
          </a:xfrm>
          <a:prstGeom prst="rect">
            <a:avLst/>
          </a:prstGeom>
          <a:noFill/>
          <a:ln/>
        </p:spPr>
        <p:txBody>
          <a:bodyPr wrap="square" lIns="0" tIns="0" rIns="0" bIns="0" rtlCol="0" anchor="ctr"/>
          <a:lstStyle/>
          <a:p>
            <a:pPr marL="0" indent="0" algn="ctr">
              <a:buNone/>
            </a:pPr>
            <a:r>
              <a:rPr lang="en-GB" sz="1400" b="1" noProof="0" dirty="0">
                <a:solidFill>
                  <a:srgbClr val="FFFFFF"/>
                </a:solidFill>
                <a:latin typeface="Calibri" pitchFamily="34" charset="0"/>
                <a:ea typeface="Calibri" pitchFamily="34" charset="-122"/>
                <a:cs typeface="Calibri" pitchFamily="34" charset="-120"/>
              </a:rPr>
              <a:t>Close</a:t>
            </a:r>
            <a:endParaRPr lang="en-GB" sz="1400" noProof="0" dirty="0"/>
          </a:p>
        </p:txBody>
      </p:sp>
      <p:sp>
        <p:nvSpPr>
          <p:cNvPr id="24" name="Text 22"/>
          <p:cNvSpPr txBox="1"/>
          <p:nvPr/>
        </p:nvSpPr>
        <p:spPr>
          <a:xfrm>
            <a:off x="1783080" y="5283569"/>
            <a:ext cx="9677095" cy="586879"/>
          </a:xfrm>
          <a:prstGeom prst="rect">
            <a:avLst/>
          </a:prstGeom>
          <a:noFill/>
          <a:ln/>
        </p:spPr>
        <p:txBody>
          <a:bodyPr wrap="square" lIns="0" tIns="0" rIns="0" bIns="0" rtlCol="0" anchor="ctr"/>
          <a:lstStyle/>
          <a:p>
            <a:pPr marL="0" indent="0">
              <a:lnSpc>
                <a:spcPct val="95000"/>
              </a:lnSpc>
              <a:buNone/>
            </a:pPr>
            <a:r>
              <a:rPr lang="en-GB" sz="1800" b="1" noProof="0" dirty="0">
                <a:solidFill>
                  <a:srgbClr val="12315B"/>
                </a:solidFill>
                <a:latin typeface="Calibri" pitchFamily="34" charset="0"/>
                <a:ea typeface="Calibri" pitchFamily="34" charset="-122"/>
                <a:cs typeface="Calibri" pitchFamily="34" charset="-120"/>
              </a:rPr>
              <a:t>Remove the blame and the fear: </a:t>
            </a:r>
            <a:r>
              <a:rPr lang="en-GB" sz="1800" noProof="0" dirty="0">
                <a:solidFill>
                  <a:srgbClr val="0B1F3F"/>
                </a:solidFill>
                <a:latin typeface="Calibri" pitchFamily="34" charset="0"/>
                <a:ea typeface="Calibri" pitchFamily="34" charset="-122"/>
                <a:cs typeface="Calibri" pitchFamily="34" charset="-120"/>
              </a:rPr>
              <a:t>Most changes are not cancer, being checked is normal and private, and finding something is not her fault.</a:t>
            </a:r>
            <a:endParaRPr lang="en-GB" sz="1800" noProof="0" dirty="0"/>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 name="Text 136"/>
          <p:cNvSpPr txBox="1"/>
          <p:nvPr/>
        </p:nvSpPr>
        <p:spPr>
          <a:xfrm>
            <a:off x="548640" y="274320"/>
            <a:ext cx="11094415" cy="256032"/>
          </a:xfrm>
          <a:prstGeom prst="rect">
            <a:avLst/>
          </a:prstGeom>
          <a:noFill/>
          <a:ln/>
        </p:spPr>
        <p:txBody>
          <a:bodyPr wrap="square" lIns="0" tIns="0" rIns="0" bIns="0" rtlCol="0" anchor="ctr"/>
          <a:lstStyle/>
          <a:p>
            <a:pPr marL="0" indent="0" algn="l">
              <a:lnSpc>
                <a:spcPct val="95000"/>
              </a:lnSpc>
              <a:buNone/>
            </a:pPr>
            <a:r>
              <a:rPr lang="en-GB" sz="1100" b="1" dirty="0">
                <a:solidFill>
                  <a:srgbClr val="5B7699"/>
                </a:solidFill>
                <a:latin typeface="Calibri" pitchFamily="34" charset="0"/>
                <a:ea typeface="Calibri" pitchFamily="34" charset="-122"/>
                <a:cs typeface="Calibri" pitchFamily="34" charset="-120"/>
              </a:rPr>
              <a:t>S E S S I O N   2</a:t>
            </a:r>
            <a:endParaRPr lang="en-GB" sz="1800" dirty="0"/>
          </a:p>
        </p:txBody>
      </p:sp>
      <p:sp>
        <p:nvSpPr>
          <p:cNvPr id="137" name="Text 137"/>
          <p:cNvSpPr txBox="1"/>
          <p:nvPr/>
        </p:nvSpPr>
        <p:spPr>
          <a:xfrm>
            <a:off x="548640" y="566928"/>
            <a:ext cx="11094415" cy="566928"/>
          </a:xfrm>
          <a:prstGeom prst="rect">
            <a:avLst/>
          </a:prstGeom>
          <a:noFill/>
          <a:ln/>
        </p:spPr>
        <p:txBody>
          <a:bodyPr wrap="square" lIns="0" tIns="0" rIns="0" bIns="0" rtlCol="0" anchor="t"/>
          <a:lstStyle/>
          <a:p>
            <a:pPr marL="0" indent="0" algn="l">
              <a:lnSpc>
                <a:spcPct val="95000"/>
              </a:lnSpc>
              <a:buNone/>
            </a:pPr>
            <a:r>
              <a:rPr lang="en-GB" sz="3000" b="1" dirty="0">
                <a:solidFill>
                  <a:srgbClr val="12315B"/>
                </a:solidFill>
                <a:latin typeface="Calibri" pitchFamily="34" charset="0"/>
                <a:ea typeface="Calibri" pitchFamily="34" charset="-122"/>
                <a:cs typeface="Calibri" pitchFamily="34" charset="-120"/>
              </a:rPr>
              <a:t>Breast self-examination (1 of 2): look</a:t>
            </a:r>
            <a:endParaRPr lang="en-GB" sz="1800" dirty="0"/>
          </a:p>
        </p:txBody>
      </p:sp>
      <p:sp>
        <p:nvSpPr>
          <p:cNvPr id="138" name="Text 138"/>
          <p:cNvSpPr txBox="1"/>
          <p:nvPr/>
        </p:nvSpPr>
        <p:spPr>
          <a:xfrm>
            <a:off x="548640" y="6382512"/>
            <a:ext cx="11094415" cy="274320"/>
          </a:xfrm>
          <a:prstGeom prst="rect">
            <a:avLst/>
          </a:prstGeom>
          <a:noFill/>
          <a:ln/>
        </p:spPr>
        <p:txBody>
          <a:bodyPr wrap="square" lIns="0" tIns="0" rIns="0" bIns="0" rtlCol="0" anchor="ctr"/>
          <a:lstStyle/>
          <a:p>
            <a:pPr marL="0" indent="0" algn="l">
              <a:lnSpc>
                <a:spcPct val="95000"/>
              </a:lnSpc>
              <a:buNone/>
            </a:pPr>
            <a:r>
              <a:rPr lang="en-GB" sz="1000" dirty="0">
                <a:solidFill>
                  <a:srgbClr val="5B7699"/>
                </a:solidFill>
                <a:latin typeface="Calibri" pitchFamily="34" charset="0"/>
                <a:ea typeface="Calibri" pitchFamily="34" charset="-122"/>
                <a:cs typeface="Calibri" pitchFamily="34" charset="-120"/>
              </a:rPr>
              <a:t>Breast Cancer  |  Frontline HCP  |  Rwanda Biomedical Centre</a:t>
            </a:r>
            <a:endParaRPr lang="en-GB" sz="1800" dirty="0"/>
          </a:p>
        </p:txBody>
      </p:sp>
      <p:sp>
        <p:nvSpPr>
          <p:cNvPr id="123" name="Text 123"/>
          <p:cNvSpPr txBox="1"/>
          <p:nvPr/>
        </p:nvSpPr>
        <p:spPr>
          <a:xfrm>
            <a:off x="548640" y="1215000"/>
            <a:ext cx="11094415" cy="420000"/>
          </a:xfrm>
          <a:prstGeom prst="rect">
            <a:avLst/>
          </a:prstGeom>
          <a:noFill/>
          <a:ln/>
        </p:spPr>
        <p:txBody>
          <a:bodyPr wrap="square" lIns="0" tIns="0" rIns="0" bIns="0" rtlCol="0" anchor="t"/>
          <a:lstStyle/>
          <a:p>
            <a:pPr marL="0" indent="0" algn="l">
              <a:lnSpc>
                <a:spcPct val="95000"/>
              </a:lnSpc>
              <a:buNone/>
            </a:pPr>
            <a:r>
              <a:rPr lang="en-GB" sz="1800" dirty="0">
                <a:solidFill>
                  <a:srgbClr val="1F3A63"/>
                </a:solidFill>
                <a:latin typeface="Calibri" pitchFamily="34" charset="0"/>
                <a:ea typeface="Calibri" pitchFamily="34" charset="-122"/>
                <a:cs typeface="Calibri" pitchFamily="34" charset="-120"/>
              </a:rPr>
              <a:t>Teach this from age 25, once a month. She stands in front of a mirror, undressed to the waist.</a:t>
            </a:r>
            <a:endParaRPr lang="en-GB" sz="1800" dirty="0"/>
          </a:p>
        </p:txBody>
      </p:sp>
      <p:sp>
        <p:nvSpPr>
          <p:cNvPr id="124" name="Shape 124"/>
          <p:cNvSpPr/>
          <p:nvPr/>
        </p:nvSpPr>
        <p:spPr>
          <a:xfrm>
            <a:off x="548640" y="1720000"/>
            <a:ext cx="6650000" cy="1060000"/>
          </a:xfrm>
          <a:prstGeom prst="roundRect">
            <a:avLst>
              <a:gd name="adj" fmla="val 5000"/>
            </a:avLst>
          </a:prstGeom>
          <a:solidFill>
            <a:srgbClr val="F4F8FC"/>
          </a:solidFill>
          <a:ln w="12700">
            <a:solidFill>
              <a:srgbClr val="C8D8EC"/>
            </a:solidFill>
            <a:prstDash val="solid"/>
          </a:ln>
        </p:spPr>
        <p:txBody>
          <a:bodyPr wrap="square" lIns="91440" tIns="45720" rIns="91440" bIns="45720" rtlCol="0" anchor="ctr"/>
          <a:lstStyle/>
          <a:p>
            <a:endParaRPr lang="en-GB" dirty="0"/>
          </a:p>
        </p:txBody>
      </p:sp>
      <p:sp>
        <p:nvSpPr>
          <p:cNvPr id="125" name="Shape 125"/>
          <p:cNvSpPr/>
          <p:nvPr/>
        </p:nvSpPr>
        <p:spPr>
          <a:xfrm>
            <a:off x="678640" y="1870000"/>
            <a:ext cx="460000" cy="460000"/>
          </a:xfrm>
          <a:prstGeom prst="ellipse">
            <a:avLst/>
          </a:prstGeom>
          <a:solidFill>
            <a:srgbClr val="12315B"/>
          </a:solidFill>
          <a:ln>
            <a:noFill/>
          </a:ln>
        </p:spPr>
        <p:txBody>
          <a:bodyPr wrap="square" lIns="0" tIns="0" rIns="0" bIns="0" rtlCol="0" anchor="ctr"/>
          <a:lstStyle/>
          <a:p>
            <a:pPr marL="0" indent="0" algn="ctr">
              <a:lnSpc>
                <a:spcPct val="95000"/>
              </a:lnSpc>
              <a:buNone/>
            </a:pPr>
            <a:r>
              <a:rPr lang="en-GB" sz="1800" b="1" dirty="0">
                <a:solidFill>
                  <a:srgbClr val="FFFFFF"/>
                </a:solidFill>
                <a:latin typeface="Calibri" pitchFamily="34" charset="0"/>
                <a:ea typeface="Calibri" pitchFamily="34" charset="-122"/>
                <a:cs typeface="Calibri" pitchFamily="34" charset="-120"/>
              </a:rPr>
              <a:t>1</a:t>
            </a:r>
            <a:endParaRPr lang="en-GB" sz="1800" dirty="0"/>
          </a:p>
        </p:txBody>
      </p:sp>
      <p:sp>
        <p:nvSpPr>
          <p:cNvPr id="126" name="Text 126"/>
          <p:cNvSpPr txBox="1"/>
          <p:nvPr/>
        </p:nvSpPr>
        <p:spPr>
          <a:xfrm>
            <a:off x="1268640" y="1820000"/>
            <a:ext cx="5800000" cy="890000"/>
          </a:xfrm>
          <a:prstGeom prst="rect">
            <a:avLst/>
          </a:prstGeom>
          <a:noFill/>
          <a:ln/>
        </p:spPr>
        <p:txBody>
          <a:bodyPr wrap="square" lIns="0" tIns="0" rIns="0" bIns="0" rtlCol="0" anchor="ctr"/>
          <a:lstStyle/>
          <a:p>
            <a:pPr marL="0" indent="0" algn="l">
              <a:lnSpc>
                <a:spcPct val="95000"/>
              </a:lnSpc>
              <a:buNone/>
            </a:pPr>
            <a:r>
              <a:rPr lang="en-GB" sz="1800" b="1" dirty="0">
                <a:solidFill>
                  <a:srgbClr val="12315B"/>
                </a:solidFill>
                <a:latin typeface="Calibri" pitchFamily="34" charset="0"/>
                <a:ea typeface="Calibri" pitchFamily="34" charset="-122"/>
                <a:cs typeface="Calibri" pitchFamily="34" charset="-120"/>
              </a:rPr>
              <a:t>Arms at her sides: </a:t>
            </a:r>
            <a:r>
              <a:rPr lang="en-GB" sz="1800" dirty="0">
                <a:solidFill>
                  <a:srgbClr val="0B1F3F"/>
                </a:solidFill>
                <a:latin typeface="Calibri" pitchFamily="34" charset="0"/>
                <a:ea typeface="Calibri" pitchFamily="34" charset="-122"/>
                <a:cs typeface="Calibri" pitchFamily="34" charset="-120"/>
              </a:rPr>
              <a:t>Look at both breasts for anything unusual: a change in size or shape, puckering, dimpling, scaling of the skin, or discharge from a nipple.</a:t>
            </a:r>
            <a:endParaRPr lang="en-GB" sz="1800" dirty="0"/>
          </a:p>
        </p:txBody>
      </p:sp>
      <p:sp>
        <p:nvSpPr>
          <p:cNvPr id="127" name="Shape 127"/>
          <p:cNvSpPr/>
          <p:nvPr/>
        </p:nvSpPr>
        <p:spPr>
          <a:xfrm>
            <a:off x="548640" y="2890000"/>
            <a:ext cx="6650000" cy="1060000"/>
          </a:xfrm>
          <a:prstGeom prst="roundRect">
            <a:avLst>
              <a:gd name="adj" fmla="val 5000"/>
            </a:avLst>
          </a:prstGeom>
          <a:solidFill>
            <a:srgbClr val="F4F8FC"/>
          </a:solidFill>
          <a:ln w="12700">
            <a:solidFill>
              <a:srgbClr val="C8D8EC"/>
            </a:solidFill>
            <a:prstDash val="solid"/>
          </a:ln>
        </p:spPr>
        <p:txBody>
          <a:bodyPr wrap="square" lIns="91440" tIns="45720" rIns="91440" bIns="45720" rtlCol="0" anchor="ctr"/>
          <a:lstStyle/>
          <a:p>
            <a:endParaRPr lang="en-GB" dirty="0"/>
          </a:p>
        </p:txBody>
      </p:sp>
      <p:sp>
        <p:nvSpPr>
          <p:cNvPr id="128" name="Shape 128"/>
          <p:cNvSpPr/>
          <p:nvPr/>
        </p:nvSpPr>
        <p:spPr>
          <a:xfrm>
            <a:off x="678640" y="3040000"/>
            <a:ext cx="460000" cy="460000"/>
          </a:xfrm>
          <a:prstGeom prst="ellipse">
            <a:avLst/>
          </a:prstGeom>
          <a:solidFill>
            <a:srgbClr val="12315B"/>
          </a:solidFill>
          <a:ln>
            <a:noFill/>
          </a:ln>
        </p:spPr>
        <p:txBody>
          <a:bodyPr wrap="square" lIns="0" tIns="0" rIns="0" bIns="0" rtlCol="0" anchor="ctr"/>
          <a:lstStyle/>
          <a:p>
            <a:pPr marL="0" indent="0" algn="ctr">
              <a:lnSpc>
                <a:spcPct val="95000"/>
              </a:lnSpc>
              <a:buNone/>
            </a:pPr>
            <a:r>
              <a:rPr lang="en-GB" sz="1800" b="1" dirty="0">
                <a:solidFill>
                  <a:srgbClr val="FFFFFF"/>
                </a:solidFill>
                <a:latin typeface="Calibri" pitchFamily="34" charset="0"/>
                <a:ea typeface="Calibri" pitchFamily="34" charset="-122"/>
                <a:cs typeface="Calibri" pitchFamily="34" charset="-120"/>
              </a:rPr>
              <a:t>2</a:t>
            </a:r>
            <a:endParaRPr lang="en-GB" sz="1800" dirty="0"/>
          </a:p>
        </p:txBody>
      </p:sp>
      <p:sp>
        <p:nvSpPr>
          <p:cNvPr id="129" name="Text 129"/>
          <p:cNvSpPr txBox="1"/>
          <p:nvPr/>
        </p:nvSpPr>
        <p:spPr>
          <a:xfrm>
            <a:off x="1268640" y="2990000"/>
            <a:ext cx="5800000" cy="890000"/>
          </a:xfrm>
          <a:prstGeom prst="rect">
            <a:avLst/>
          </a:prstGeom>
          <a:noFill/>
          <a:ln/>
        </p:spPr>
        <p:txBody>
          <a:bodyPr wrap="square" lIns="0" tIns="0" rIns="0" bIns="0" rtlCol="0" anchor="ctr"/>
          <a:lstStyle/>
          <a:p>
            <a:pPr marL="0" indent="0" algn="l">
              <a:lnSpc>
                <a:spcPct val="95000"/>
              </a:lnSpc>
              <a:buNone/>
            </a:pPr>
            <a:r>
              <a:rPr lang="en-GB" sz="1800" b="1" dirty="0">
                <a:solidFill>
                  <a:srgbClr val="12315B"/>
                </a:solidFill>
                <a:latin typeface="Calibri" pitchFamily="34" charset="0"/>
                <a:ea typeface="Calibri" pitchFamily="34" charset="-122"/>
                <a:cs typeface="Calibri" pitchFamily="34" charset="-120"/>
              </a:rPr>
              <a:t>Hands behind her head: </a:t>
            </a:r>
            <a:r>
              <a:rPr lang="en-GB" sz="1800" dirty="0">
                <a:solidFill>
                  <a:srgbClr val="0B1F3F"/>
                </a:solidFill>
                <a:latin typeface="Calibri" pitchFamily="34" charset="0"/>
                <a:ea typeface="Calibri" pitchFamily="34" charset="-122"/>
                <a:cs typeface="Calibri" pitchFamily="34" charset="-120"/>
              </a:rPr>
              <a:t>Clasp the hands behind the head and press them forward. Watch closely for any change in shape or contour.</a:t>
            </a:r>
            <a:endParaRPr lang="en-GB" sz="1800" dirty="0"/>
          </a:p>
        </p:txBody>
      </p:sp>
      <p:sp>
        <p:nvSpPr>
          <p:cNvPr id="130" name="Shape 130"/>
          <p:cNvSpPr/>
          <p:nvPr/>
        </p:nvSpPr>
        <p:spPr>
          <a:xfrm>
            <a:off x="548640" y="4060000"/>
            <a:ext cx="6650000" cy="1060000"/>
          </a:xfrm>
          <a:prstGeom prst="roundRect">
            <a:avLst>
              <a:gd name="adj" fmla="val 5000"/>
            </a:avLst>
          </a:prstGeom>
          <a:solidFill>
            <a:srgbClr val="F4F8FC"/>
          </a:solidFill>
          <a:ln w="12700">
            <a:solidFill>
              <a:srgbClr val="C8D8EC"/>
            </a:solidFill>
            <a:prstDash val="solid"/>
          </a:ln>
        </p:spPr>
        <p:txBody>
          <a:bodyPr wrap="square" lIns="91440" tIns="45720" rIns="91440" bIns="45720" rtlCol="0" anchor="ctr"/>
          <a:lstStyle/>
          <a:p>
            <a:endParaRPr lang="en-GB" dirty="0"/>
          </a:p>
        </p:txBody>
      </p:sp>
      <p:sp>
        <p:nvSpPr>
          <p:cNvPr id="131" name="Shape 131"/>
          <p:cNvSpPr/>
          <p:nvPr/>
        </p:nvSpPr>
        <p:spPr>
          <a:xfrm>
            <a:off x="678640" y="4210000"/>
            <a:ext cx="460000" cy="460000"/>
          </a:xfrm>
          <a:prstGeom prst="ellipse">
            <a:avLst/>
          </a:prstGeom>
          <a:solidFill>
            <a:srgbClr val="12315B"/>
          </a:solidFill>
          <a:ln>
            <a:noFill/>
          </a:ln>
        </p:spPr>
        <p:txBody>
          <a:bodyPr wrap="square" lIns="0" tIns="0" rIns="0" bIns="0" rtlCol="0" anchor="ctr"/>
          <a:lstStyle/>
          <a:p>
            <a:pPr marL="0" indent="0" algn="ctr">
              <a:lnSpc>
                <a:spcPct val="95000"/>
              </a:lnSpc>
              <a:buNone/>
            </a:pPr>
            <a:r>
              <a:rPr lang="en-GB" sz="1800" b="1" dirty="0">
                <a:solidFill>
                  <a:srgbClr val="FFFFFF"/>
                </a:solidFill>
                <a:latin typeface="Calibri" pitchFamily="34" charset="0"/>
                <a:ea typeface="Calibri" pitchFamily="34" charset="-122"/>
                <a:cs typeface="Calibri" pitchFamily="34" charset="-120"/>
              </a:rPr>
              <a:t>3</a:t>
            </a:r>
            <a:endParaRPr lang="en-GB" sz="1800" dirty="0"/>
          </a:p>
        </p:txBody>
      </p:sp>
      <p:sp>
        <p:nvSpPr>
          <p:cNvPr id="132" name="Text 132"/>
          <p:cNvSpPr txBox="1"/>
          <p:nvPr/>
        </p:nvSpPr>
        <p:spPr>
          <a:xfrm>
            <a:off x="1268640" y="4160000"/>
            <a:ext cx="5800000" cy="890000"/>
          </a:xfrm>
          <a:prstGeom prst="rect">
            <a:avLst/>
          </a:prstGeom>
          <a:noFill/>
          <a:ln/>
        </p:spPr>
        <p:txBody>
          <a:bodyPr wrap="square" lIns="0" tIns="0" rIns="0" bIns="0" rtlCol="0" anchor="ctr"/>
          <a:lstStyle/>
          <a:p>
            <a:pPr marL="0" indent="0" algn="l">
              <a:lnSpc>
                <a:spcPct val="95000"/>
              </a:lnSpc>
              <a:buNone/>
            </a:pPr>
            <a:r>
              <a:rPr lang="en-GB" sz="1800" b="1" dirty="0">
                <a:solidFill>
                  <a:srgbClr val="12315B"/>
                </a:solidFill>
                <a:latin typeface="Calibri" pitchFamily="34" charset="0"/>
                <a:ea typeface="Calibri" pitchFamily="34" charset="-122"/>
                <a:cs typeface="Calibri" pitchFamily="34" charset="-120"/>
              </a:rPr>
              <a:t>Hands on her hips: </a:t>
            </a:r>
            <a:r>
              <a:rPr lang="en-GB" sz="1800" dirty="0">
                <a:solidFill>
                  <a:srgbClr val="0B1F3F"/>
                </a:solidFill>
                <a:latin typeface="Calibri" pitchFamily="34" charset="0"/>
                <a:ea typeface="Calibri" pitchFamily="34" charset="-122"/>
                <a:cs typeface="Calibri" pitchFamily="34" charset="-120"/>
              </a:rPr>
              <a:t>Press the hands firmly on the hips and bow slightly towards the mirror, pulling the shoulders and elbows forward. Look again.</a:t>
            </a:r>
            <a:endParaRPr lang="en-GB" sz="1800" dirty="0"/>
          </a:p>
        </p:txBody>
      </p:sp>
      <p:sp>
        <p:nvSpPr>
          <p:cNvPr id="133" name="Shape 133"/>
          <p:cNvSpPr/>
          <p:nvPr/>
        </p:nvSpPr>
        <p:spPr>
          <a:xfrm>
            <a:off x="548640" y="5320000"/>
            <a:ext cx="11094415" cy="820000"/>
          </a:xfrm>
          <a:prstGeom prst="roundRect">
            <a:avLst>
              <a:gd name="adj" fmla="val 6000"/>
            </a:avLst>
          </a:prstGeom>
          <a:solidFill>
            <a:srgbClr val="FDF1E0"/>
          </a:solidFill>
          <a:ln w="12700">
            <a:solidFill>
              <a:srgbClr val="EFD3AA"/>
            </a:solidFill>
            <a:prstDash val="solid"/>
          </a:ln>
        </p:spPr>
        <p:txBody>
          <a:bodyPr wrap="square" lIns="91440" tIns="45720" rIns="91440" bIns="45720" rtlCol="0" anchor="ctr"/>
          <a:lstStyle/>
          <a:p>
            <a:endParaRPr lang="en-GB" dirty="0"/>
          </a:p>
        </p:txBody>
      </p:sp>
      <p:sp>
        <p:nvSpPr>
          <p:cNvPr id="134" name="Text 134"/>
          <p:cNvSpPr txBox="1"/>
          <p:nvPr/>
        </p:nvSpPr>
        <p:spPr>
          <a:xfrm>
            <a:off x="713232" y="5370000"/>
            <a:ext cx="10765231" cy="720000"/>
          </a:xfrm>
          <a:prstGeom prst="rect">
            <a:avLst/>
          </a:prstGeom>
          <a:noFill/>
          <a:ln/>
        </p:spPr>
        <p:txBody>
          <a:bodyPr wrap="square" lIns="0" tIns="0" rIns="0" bIns="0" rtlCol="0" anchor="ctr"/>
          <a:lstStyle/>
          <a:p>
            <a:pPr marL="0" indent="0" algn="l">
              <a:lnSpc>
                <a:spcPct val="95000"/>
              </a:lnSpc>
              <a:buNone/>
            </a:pPr>
            <a:r>
              <a:rPr lang="en-GB" sz="1800" dirty="0">
                <a:solidFill>
                  <a:srgbClr val="0B1F3F"/>
                </a:solidFill>
                <a:latin typeface="Calibri" pitchFamily="34" charset="0"/>
                <a:ea typeface="Calibri" pitchFamily="34" charset="-122"/>
                <a:cs typeface="Calibri" pitchFamily="34" charset="-120"/>
              </a:rPr>
              <a:t>💡 Steps 2 and 3 tighten the chest muscles, which makes a change in the contour of the breast easier to see.</a:t>
            </a:r>
            <a:endParaRPr lang="en-GB" sz="1800" dirty="0"/>
          </a:p>
        </p:txBody>
      </p:sp>
      <p:pic>
        <p:nvPicPr>
          <p:cNvPr id="2" name="Imagen 1">
            <a:extLst>
              <a:ext uri="{FF2B5EF4-FFF2-40B4-BE49-F238E27FC236}">
                <a16:creationId xmlns:a16="http://schemas.microsoft.com/office/drawing/2014/main" id="{CBB11478-25AF-6F4C-8B64-1DF4923716BB}"/>
              </a:ext>
            </a:extLst>
          </p:cNvPr>
          <p:cNvPicPr>
            <a:picLocks noChangeAspect="1"/>
          </p:cNvPicPr>
          <p:nvPr/>
        </p:nvPicPr>
        <p:blipFill>
          <a:blip r:embed="rId2" cstate="email">
            <a:extLst>
              <a:ext uri="{28A0092B-C50C-407E-A947-70E740481C1C}">
                <a14:useLocalDpi xmlns:a14="http://schemas.microsoft.com/office/drawing/2010/main"/>
              </a:ext>
            </a:extLst>
          </a:blip>
          <a:srcRect/>
          <a:stretch>
            <a:fillRect/>
          </a:stretch>
        </p:blipFill>
        <p:spPr>
          <a:xfrm>
            <a:off x="7668610" y="1716144"/>
            <a:ext cx="3594720" cy="3448512"/>
          </a:xfrm>
          <a:prstGeom prst="rect">
            <a:avLst/>
          </a:prstGeom>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 name="Text 151"/>
          <p:cNvSpPr txBox="1"/>
          <p:nvPr/>
        </p:nvSpPr>
        <p:spPr>
          <a:xfrm>
            <a:off x="548640" y="274320"/>
            <a:ext cx="11094415" cy="256032"/>
          </a:xfrm>
          <a:prstGeom prst="rect">
            <a:avLst/>
          </a:prstGeom>
          <a:noFill/>
          <a:ln/>
        </p:spPr>
        <p:txBody>
          <a:bodyPr wrap="square" lIns="0" tIns="0" rIns="0" bIns="0" rtlCol="0" anchor="ctr"/>
          <a:lstStyle/>
          <a:p>
            <a:pPr marL="0" indent="0" algn="l">
              <a:lnSpc>
                <a:spcPct val="95000"/>
              </a:lnSpc>
              <a:buNone/>
            </a:pPr>
            <a:r>
              <a:rPr lang="en-GB" sz="1100" b="1" dirty="0">
                <a:solidFill>
                  <a:srgbClr val="5B7699"/>
                </a:solidFill>
                <a:latin typeface="Calibri" pitchFamily="34" charset="0"/>
                <a:ea typeface="Calibri" pitchFamily="34" charset="-122"/>
                <a:cs typeface="Calibri" pitchFamily="34" charset="-120"/>
              </a:rPr>
              <a:t>S E S S I O N   2</a:t>
            </a:r>
            <a:endParaRPr lang="en-GB" sz="1800" dirty="0"/>
          </a:p>
        </p:txBody>
      </p:sp>
      <p:sp>
        <p:nvSpPr>
          <p:cNvPr id="152" name="Text 152"/>
          <p:cNvSpPr txBox="1"/>
          <p:nvPr/>
        </p:nvSpPr>
        <p:spPr>
          <a:xfrm>
            <a:off x="548640" y="566928"/>
            <a:ext cx="11094415" cy="566928"/>
          </a:xfrm>
          <a:prstGeom prst="rect">
            <a:avLst/>
          </a:prstGeom>
          <a:noFill/>
          <a:ln/>
        </p:spPr>
        <p:txBody>
          <a:bodyPr wrap="square" lIns="0" tIns="0" rIns="0" bIns="0" rtlCol="0" anchor="t"/>
          <a:lstStyle/>
          <a:p>
            <a:pPr marL="0" indent="0" algn="l">
              <a:lnSpc>
                <a:spcPct val="95000"/>
              </a:lnSpc>
              <a:buNone/>
            </a:pPr>
            <a:r>
              <a:rPr lang="en-GB" sz="3000" b="1" dirty="0">
                <a:solidFill>
                  <a:srgbClr val="12315B"/>
                </a:solidFill>
                <a:latin typeface="Calibri" pitchFamily="34" charset="0"/>
                <a:ea typeface="Calibri" pitchFamily="34" charset="-122"/>
                <a:cs typeface="Calibri" pitchFamily="34" charset="-120"/>
              </a:rPr>
              <a:t>Breast self-examination (2 of 2): feel</a:t>
            </a:r>
            <a:endParaRPr lang="en-GB" sz="1800" dirty="0"/>
          </a:p>
        </p:txBody>
      </p:sp>
      <p:sp>
        <p:nvSpPr>
          <p:cNvPr id="153" name="Text 153"/>
          <p:cNvSpPr txBox="1"/>
          <p:nvPr/>
        </p:nvSpPr>
        <p:spPr>
          <a:xfrm>
            <a:off x="548640" y="6382512"/>
            <a:ext cx="11094415" cy="274320"/>
          </a:xfrm>
          <a:prstGeom prst="rect">
            <a:avLst/>
          </a:prstGeom>
          <a:noFill/>
          <a:ln/>
        </p:spPr>
        <p:txBody>
          <a:bodyPr wrap="square" lIns="0" tIns="0" rIns="0" bIns="0" rtlCol="0" anchor="ctr"/>
          <a:lstStyle/>
          <a:p>
            <a:pPr marL="0" indent="0" algn="l">
              <a:lnSpc>
                <a:spcPct val="95000"/>
              </a:lnSpc>
              <a:buNone/>
            </a:pPr>
            <a:r>
              <a:rPr lang="en-GB" sz="1000" dirty="0">
                <a:solidFill>
                  <a:srgbClr val="5B7699"/>
                </a:solidFill>
                <a:latin typeface="Calibri" pitchFamily="34" charset="0"/>
                <a:ea typeface="Calibri" pitchFamily="34" charset="-122"/>
                <a:cs typeface="Calibri" pitchFamily="34" charset="-120"/>
              </a:rPr>
              <a:t>Breast Cancer  |  Frontline HCP  |  Rwanda Biomedical Centre</a:t>
            </a:r>
            <a:endParaRPr lang="en-GB" sz="1800" dirty="0"/>
          </a:p>
        </p:txBody>
      </p:sp>
      <p:sp>
        <p:nvSpPr>
          <p:cNvPr id="139" name="Shape 139"/>
          <p:cNvSpPr/>
          <p:nvPr/>
        </p:nvSpPr>
        <p:spPr>
          <a:xfrm>
            <a:off x="548640" y="1215000"/>
            <a:ext cx="6650000" cy="1250000"/>
          </a:xfrm>
          <a:prstGeom prst="roundRect">
            <a:avLst>
              <a:gd name="adj" fmla="val 5000"/>
            </a:avLst>
          </a:prstGeom>
          <a:solidFill>
            <a:srgbClr val="F4F8FC"/>
          </a:solidFill>
          <a:ln w="12700">
            <a:solidFill>
              <a:srgbClr val="C8D8EC"/>
            </a:solidFill>
            <a:prstDash val="solid"/>
          </a:ln>
        </p:spPr>
        <p:txBody>
          <a:bodyPr wrap="square" lIns="91440" tIns="45720" rIns="91440" bIns="45720" rtlCol="0" anchor="ctr"/>
          <a:lstStyle/>
          <a:p>
            <a:endParaRPr lang="en-GB" dirty="0"/>
          </a:p>
        </p:txBody>
      </p:sp>
      <p:sp>
        <p:nvSpPr>
          <p:cNvPr id="140" name="Shape 140"/>
          <p:cNvSpPr/>
          <p:nvPr/>
        </p:nvSpPr>
        <p:spPr>
          <a:xfrm>
            <a:off x="678640" y="1365000"/>
            <a:ext cx="460000" cy="460000"/>
          </a:xfrm>
          <a:prstGeom prst="ellipse">
            <a:avLst/>
          </a:prstGeom>
          <a:solidFill>
            <a:srgbClr val="12315B"/>
          </a:solidFill>
          <a:ln>
            <a:noFill/>
          </a:ln>
        </p:spPr>
        <p:txBody>
          <a:bodyPr wrap="square" lIns="0" tIns="0" rIns="0" bIns="0" rtlCol="0" anchor="ctr"/>
          <a:lstStyle/>
          <a:p>
            <a:pPr marL="0" indent="0" algn="ctr">
              <a:lnSpc>
                <a:spcPct val="95000"/>
              </a:lnSpc>
              <a:buNone/>
            </a:pPr>
            <a:r>
              <a:rPr lang="en-GB" sz="1800" b="1" dirty="0">
                <a:solidFill>
                  <a:srgbClr val="FFFFFF"/>
                </a:solidFill>
                <a:latin typeface="Calibri" pitchFamily="34" charset="0"/>
                <a:ea typeface="Calibri" pitchFamily="34" charset="-122"/>
                <a:cs typeface="Calibri" pitchFamily="34" charset="-120"/>
              </a:rPr>
              <a:t>4</a:t>
            </a:r>
            <a:endParaRPr lang="en-GB" sz="1800" dirty="0"/>
          </a:p>
        </p:txBody>
      </p:sp>
      <p:sp>
        <p:nvSpPr>
          <p:cNvPr id="141" name="Text 141"/>
          <p:cNvSpPr txBox="1"/>
          <p:nvPr/>
        </p:nvSpPr>
        <p:spPr>
          <a:xfrm>
            <a:off x="1268640" y="1315000"/>
            <a:ext cx="5800000" cy="1080000"/>
          </a:xfrm>
          <a:prstGeom prst="rect">
            <a:avLst/>
          </a:prstGeom>
          <a:noFill/>
          <a:ln/>
        </p:spPr>
        <p:txBody>
          <a:bodyPr wrap="square" lIns="0" tIns="0" rIns="0" bIns="0" rtlCol="0" anchor="ctr"/>
          <a:lstStyle/>
          <a:p>
            <a:pPr marL="0" indent="0" algn="l">
              <a:lnSpc>
                <a:spcPct val="95000"/>
              </a:lnSpc>
              <a:buNone/>
            </a:pPr>
            <a:r>
              <a:rPr lang="en-GB" sz="1800" b="1" dirty="0">
                <a:solidFill>
                  <a:srgbClr val="12315B"/>
                </a:solidFill>
                <a:latin typeface="Calibri" pitchFamily="34" charset="0"/>
                <a:ea typeface="Calibri" pitchFamily="34" charset="-122"/>
                <a:cs typeface="Calibri" pitchFamily="34" charset="-120"/>
              </a:rPr>
              <a:t>Raise one arm: </a:t>
            </a:r>
            <a:r>
              <a:rPr lang="en-GB" sz="1800" dirty="0">
                <a:solidFill>
                  <a:srgbClr val="0B1F3F"/>
                </a:solidFill>
                <a:latin typeface="Calibri" pitchFamily="34" charset="0"/>
                <a:ea typeface="Calibri" pitchFamily="34" charset="-122"/>
                <a:cs typeface="Calibri" pitchFamily="34" charset="-120"/>
              </a:rPr>
              <a:t>Raise the left arm. With 3 or 4 fingers of the right hand, press with the flat of the fingers in small circles, from the outer edge towards the nipple, covering the whole breast and the armpit. Repeat on the right.</a:t>
            </a:r>
            <a:endParaRPr lang="en-GB" sz="1800" dirty="0"/>
          </a:p>
        </p:txBody>
      </p:sp>
      <p:sp>
        <p:nvSpPr>
          <p:cNvPr id="142" name="Shape 142"/>
          <p:cNvSpPr/>
          <p:nvPr/>
        </p:nvSpPr>
        <p:spPr>
          <a:xfrm>
            <a:off x="548640" y="2575000"/>
            <a:ext cx="6650000" cy="1250000"/>
          </a:xfrm>
          <a:prstGeom prst="roundRect">
            <a:avLst>
              <a:gd name="adj" fmla="val 5000"/>
            </a:avLst>
          </a:prstGeom>
          <a:solidFill>
            <a:srgbClr val="F4F8FC"/>
          </a:solidFill>
          <a:ln w="12700">
            <a:solidFill>
              <a:srgbClr val="C8D8EC"/>
            </a:solidFill>
            <a:prstDash val="solid"/>
          </a:ln>
        </p:spPr>
        <p:txBody>
          <a:bodyPr wrap="square" lIns="91440" tIns="45720" rIns="91440" bIns="45720" rtlCol="0" anchor="ctr"/>
          <a:lstStyle/>
          <a:p>
            <a:endParaRPr lang="en-GB" dirty="0"/>
          </a:p>
        </p:txBody>
      </p:sp>
      <p:sp>
        <p:nvSpPr>
          <p:cNvPr id="143" name="Shape 143"/>
          <p:cNvSpPr/>
          <p:nvPr/>
        </p:nvSpPr>
        <p:spPr>
          <a:xfrm>
            <a:off x="678640" y="2725000"/>
            <a:ext cx="460000" cy="460000"/>
          </a:xfrm>
          <a:prstGeom prst="ellipse">
            <a:avLst/>
          </a:prstGeom>
          <a:solidFill>
            <a:srgbClr val="12315B"/>
          </a:solidFill>
          <a:ln>
            <a:noFill/>
          </a:ln>
        </p:spPr>
        <p:txBody>
          <a:bodyPr wrap="square" lIns="0" tIns="0" rIns="0" bIns="0" rtlCol="0" anchor="ctr"/>
          <a:lstStyle/>
          <a:p>
            <a:pPr marL="0" indent="0" algn="ctr">
              <a:lnSpc>
                <a:spcPct val="95000"/>
              </a:lnSpc>
              <a:buNone/>
            </a:pPr>
            <a:r>
              <a:rPr lang="en-GB" sz="1800" b="1" dirty="0">
                <a:solidFill>
                  <a:srgbClr val="FFFFFF"/>
                </a:solidFill>
                <a:latin typeface="Calibri" pitchFamily="34" charset="0"/>
                <a:ea typeface="Calibri" pitchFamily="34" charset="-122"/>
                <a:cs typeface="Calibri" pitchFamily="34" charset="-120"/>
              </a:rPr>
              <a:t>5</a:t>
            </a:r>
            <a:endParaRPr lang="en-GB" sz="1800" dirty="0"/>
          </a:p>
        </p:txBody>
      </p:sp>
      <p:sp>
        <p:nvSpPr>
          <p:cNvPr id="144" name="Text 144"/>
          <p:cNvSpPr txBox="1"/>
          <p:nvPr/>
        </p:nvSpPr>
        <p:spPr>
          <a:xfrm>
            <a:off x="1268640" y="2675000"/>
            <a:ext cx="5800000" cy="1080000"/>
          </a:xfrm>
          <a:prstGeom prst="rect">
            <a:avLst/>
          </a:prstGeom>
          <a:noFill/>
          <a:ln/>
        </p:spPr>
        <p:txBody>
          <a:bodyPr wrap="square" lIns="0" tIns="0" rIns="0" bIns="0" rtlCol="0" anchor="ctr"/>
          <a:lstStyle/>
          <a:p>
            <a:pPr marL="0" indent="0" algn="l">
              <a:lnSpc>
                <a:spcPct val="95000"/>
              </a:lnSpc>
              <a:buNone/>
            </a:pPr>
            <a:r>
              <a:rPr lang="en-GB" sz="1800" b="1" dirty="0">
                <a:solidFill>
                  <a:srgbClr val="12315B"/>
                </a:solidFill>
                <a:latin typeface="Calibri" pitchFamily="34" charset="0"/>
                <a:ea typeface="Calibri" pitchFamily="34" charset="-122"/>
                <a:cs typeface="Calibri" pitchFamily="34" charset="-120"/>
              </a:rPr>
              <a:t>Check the nipples: </a:t>
            </a:r>
            <a:r>
              <a:rPr lang="en-GB" sz="1800" dirty="0">
                <a:solidFill>
                  <a:srgbClr val="0B1F3F"/>
                </a:solidFill>
                <a:latin typeface="Calibri" pitchFamily="34" charset="0"/>
                <a:ea typeface="Calibri" pitchFamily="34" charset="-122"/>
                <a:cs typeface="Calibri" pitchFamily="34" charset="-120"/>
              </a:rPr>
              <a:t>Gently squeeze each nipple and look for any discharge.</a:t>
            </a:r>
            <a:endParaRPr lang="en-GB" sz="1800" dirty="0"/>
          </a:p>
        </p:txBody>
      </p:sp>
      <p:sp>
        <p:nvSpPr>
          <p:cNvPr id="145" name="Shape 145"/>
          <p:cNvSpPr/>
          <p:nvPr/>
        </p:nvSpPr>
        <p:spPr>
          <a:xfrm>
            <a:off x="548640" y="3935000"/>
            <a:ext cx="6650000" cy="1250000"/>
          </a:xfrm>
          <a:prstGeom prst="roundRect">
            <a:avLst>
              <a:gd name="adj" fmla="val 5000"/>
            </a:avLst>
          </a:prstGeom>
          <a:solidFill>
            <a:srgbClr val="F4F8FC"/>
          </a:solidFill>
          <a:ln w="12700">
            <a:solidFill>
              <a:srgbClr val="C8D8EC"/>
            </a:solidFill>
            <a:prstDash val="solid"/>
          </a:ln>
        </p:spPr>
        <p:txBody>
          <a:bodyPr wrap="square" lIns="91440" tIns="45720" rIns="91440" bIns="45720" rtlCol="0" anchor="ctr"/>
          <a:lstStyle/>
          <a:p>
            <a:endParaRPr lang="en-GB" dirty="0"/>
          </a:p>
        </p:txBody>
      </p:sp>
      <p:sp>
        <p:nvSpPr>
          <p:cNvPr id="146" name="Shape 146"/>
          <p:cNvSpPr/>
          <p:nvPr/>
        </p:nvSpPr>
        <p:spPr>
          <a:xfrm>
            <a:off x="678640" y="4085000"/>
            <a:ext cx="460000" cy="460000"/>
          </a:xfrm>
          <a:prstGeom prst="ellipse">
            <a:avLst/>
          </a:prstGeom>
          <a:solidFill>
            <a:srgbClr val="12315B"/>
          </a:solidFill>
          <a:ln>
            <a:noFill/>
          </a:ln>
        </p:spPr>
        <p:txBody>
          <a:bodyPr wrap="square" lIns="0" tIns="0" rIns="0" bIns="0" rtlCol="0" anchor="ctr"/>
          <a:lstStyle/>
          <a:p>
            <a:pPr marL="0" indent="0" algn="ctr">
              <a:lnSpc>
                <a:spcPct val="95000"/>
              </a:lnSpc>
              <a:buNone/>
            </a:pPr>
            <a:r>
              <a:rPr lang="en-GB" sz="1800" b="1" dirty="0">
                <a:solidFill>
                  <a:srgbClr val="FFFFFF"/>
                </a:solidFill>
                <a:latin typeface="Calibri" pitchFamily="34" charset="0"/>
                <a:ea typeface="Calibri" pitchFamily="34" charset="-122"/>
                <a:cs typeface="Calibri" pitchFamily="34" charset="-120"/>
              </a:rPr>
              <a:t>6</a:t>
            </a:r>
            <a:endParaRPr lang="en-GB" sz="1800" dirty="0"/>
          </a:p>
        </p:txBody>
      </p:sp>
      <p:sp>
        <p:nvSpPr>
          <p:cNvPr id="147" name="Text 147"/>
          <p:cNvSpPr txBox="1"/>
          <p:nvPr/>
        </p:nvSpPr>
        <p:spPr>
          <a:xfrm>
            <a:off x="1268640" y="4035000"/>
            <a:ext cx="5800000" cy="1080000"/>
          </a:xfrm>
          <a:prstGeom prst="rect">
            <a:avLst/>
          </a:prstGeom>
          <a:noFill/>
          <a:ln/>
        </p:spPr>
        <p:txBody>
          <a:bodyPr wrap="square" lIns="0" tIns="0" rIns="0" bIns="0" rtlCol="0" anchor="ctr"/>
          <a:lstStyle/>
          <a:p>
            <a:pPr marL="0" indent="0" algn="l">
              <a:lnSpc>
                <a:spcPct val="95000"/>
              </a:lnSpc>
              <a:buNone/>
            </a:pPr>
            <a:r>
              <a:rPr lang="en-GB" sz="1800" b="1" dirty="0">
                <a:solidFill>
                  <a:srgbClr val="12315B"/>
                </a:solidFill>
                <a:latin typeface="Calibri" pitchFamily="34" charset="0"/>
                <a:ea typeface="Calibri" pitchFamily="34" charset="-122"/>
                <a:cs typeface="Calibri" pitchFamily="34" charset="-120"/>
              </a:rPr>
              <a:t>Repeat lying down: </a:t>
            </a:r>
            <a:r>
              <a:rPr lang="en-GB" sz="1800" dirty="0">
                <a:solidFill>
                  <a:srgbClr val="0B1F3F"/>
                </a:solidFill>
                <a:latin typeface="Calibri" pitchFamily="34" charset="0"/>
                <a:ea typeface="Calibri" pitchFamily="34" charset="-122"/>
                <a:cs typeface="Calibri" pitchFamily="34" charset="-120"/>
              </a:rPr>
              <a:t>Lie flat, one arm behind the head and a small pillow or folded cloth under that shoulder. Repeat steps 4 and 5 on each breast.</a:t>
            </a:r>
            <a:endParaRPr lang="en-GB" sz="1800" dirty="0"/>
          </a:p>
        </p:txBody>
      </p:sp>
      <p:sp>
        <p:nvSpPr>
          <p:cNvPr id="148" name="Shape 148"/>
          <p:cNvSpPr/>
          <p:nvPr/>
        </p:nvSpPr>
        <p:spPr>
          <a:xfrm>
            <a:off x="548640" y="5320000"/>
            <a:ext cx="11094415" cy="820000"/>
          </a:xfrm>
          <a:prstGeom prst="roundRect">
            <a:avLst>
              <a:gd name="adj" fmla="val 6000"/>
            </a:avLst>
          </a:prstGeom>
          <a:solidFill>
            <a:srgbClr val="EAF5EF"/>
          </a:solidFill>
          <a:ln w="12700">
            <a:solidFill>
              <a:srgbClr val="8FC4A9"/>
            </a:solidFill>
            <a:prstDash val="solid"/>
          </a:ln>
        </p:spPr>
        <p:txBody>
          <a:bodyPr wrap="square" lIns="91440" tIns="45720" rIns="91440" bIns="45720" rtlCol="0" anchor="ctr"/>
          <a:lstStyle/>
          <a:p>
            <a:endParaRPr lang="en-GB" dirty="0"/>
          </a:p>
        </p:txBody>
      </p:sp>
      <p:sp>
        <p:nvSpPr>
          <p:cNvPr id="149" name="Text 149"/>
          <p:cNvSpPr txBox="1"/>
          <p:nvPr/>
        </p:nvSpPr>
        <p:spPr>
          <a:xfrm>
            <a:off x="713232" y="5370000"/>
            <a:ext cx="10765231" cy="720000"/>
          </a:xfrm>
          <a:prstGeom prst="rect">
            <a:avLst/>
          </a:prstGeom>
          <a:noFill/>
          <a:ln/>
        </p:spPr>
        <p:txBody>
          <a:bodyPr wrap="square" lIns="0" tIns="0" rIns="0" bIns="0" rtlCol="0" anchor="ctr"/>
          <a:lstStyle/>
          <a:p>
            <a:pPr marL="0" indent="0" algn="l">
              <a:lnSpc>
                <a:spcPct val="95000"/>
              </a:lnSpc>
              <a:buNone/>
            </a:pPr>
            <a:r>
              <a:rPr lang="en-GB" sz="1800" b="1" dirty="0">
                <a:solidFill>
                  <a:srgbClr val="1B6E4A"/>
                </a:solidFill>
                <a:latin typeface="Calibri" pitchFamily="34" charset="0"/>
                <a:ea typeface="Calibri" pitchFamily="34" charset="-122"/>
                <a:cs typeface="Calibri" pitchFamily="34" charset="-120"/>
              </a:rPr>
              <a:t>✅ Any new lump, change in size or skin, nipple change or discharge: come to the health centre promptly. Do not wait for pain.</a:t>
            </a:r>
            <a:endParaRPr lang="en-GB" sz="1800" dirty="0"/>
          </a:p>
        </p:txBody>
      </p:sp>
      <p:pic>
        <p:nvPicPr>
          <p:cNvPr id="2" name="Imagen 1">
            <a:extLst>
              <a:ext uri="{FF2B5EF4-FFF2-40B4-BE49-F238E27FC236}">
                <a16:creationId xmlns:a16="http://schemas.microsoft.com/office/drawing/2014/main" id="{AF6ED917-117C-49A1-5DD0-5B746F4C74BA}"/>
              </a:ext>
            </a:extLst>
          </p:cNvPr>
          <p:cNvPicPr>
            <a:picLocks noChangeAspect="1"/>
          </p:cNvPicPr>
          <p:nvPr/>
        </p:nvPicPr>
        <p:blipFill>
          <a:blip r:embed="rId2" cstate="email">
            <a:extLst>
              <a:ext uri="{28A0092B-C50C-407E-A947-70E740481C1C}">
                <a14:useLocalDpi xmlns:a14="http://schemas.microsoft.com/office/drawing/2010/main"/>
              </a:ext>
            </a:extLst>
          </a:blip>
          <a:srcRect/>
          <a:stretch>
            <a:fillRect/>
          </a:stretch>
        </p:blipFill>
        <p:spPr>
          <a:xfrm>
            <a:off x="7328641" y="1199180"/>
            <a:ext cx="4184720" cy="3999563"/>
          </a:xfrm>
          <a:prstGeom prst="rect">
            <a:avLst/>
          </a:prstGeom>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name="Slide 5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en-GB" sz="1100" b="1" kern="0" spc="100" noProof="0" dirty="0">
                <a:solidFill>
                  <a:srgbClr val="5B7699"/>
                </a:solidFill>
                <a:latin typeface="Calibri" pitchFamily="34" charset="0"/>
                <a:ea typeface="Calibri" pitchFamily="34" charset="-122"/>
                <a:cs typeface="Calibri" pitchFamily="34" charset="-120"/>
              </a:rPr>
              <a:t>S E S S I O N   2</a:t>
            </a:r>
            <a:endParaRPr lang="en-GB"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en-GB" sz="1000" noProof="0" dirty="0">
                <a:solidFill>
                  <a:srgbClr val="5B7699"/>
                </a:solidFill>
                <a:latin typeface="Calibri" pitchFamily="34" charset="0"/>
                <a:ea typeface="Calibri" pitchFamily="34" charset="-122"/>
                <a:cs typeface="Calibri" pitchFamily="34" charset="-120"/>
              </a:rPr>
              <a:t>Breast Cancer  |  Frontline HCP  |  Rwanda Biomedical Centre</a:t>
            </a:r>
            <a:endParaRPr lang="en-GB"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en-GB" sz="3000" b="1" noProof="0" dirty="0">
                <a:solidFill>
                  <a:srgbClr val="12315B"/>
                </a:solidFill>
                <a:latin typeface="Calibri" pitchFamily="34" charset="0"/>
                <a:ea typeface="Calibri" pitchFamily="34" charset="-122"/>
                <a:cs typeface="Calibri" pitchFamily="34" charset="-120"/>
              </a:rPr>
              <a:t>Clinical breast examination: the steps at a glance</a:t>
            </a:r>
            <a:endParaRPr lang="en-GB" sz="3000" noProof="0" dirty="0"/>
          </a:p>
        </p:txBody>
      </p:sp>
      <p:sp>
        <p:nvSpPr>
          <p:cNvPr id="5" name="Shape 3"/>
          <p:cNvSpPr/>
          <p:nvPr/>
        </p:nvSpPr>
        <p:spPr>
          <a:xfrm>
            <a:off x="548640" y="1280160"/>
            <a:ext cx="11094415" cy="688848"/>
          </a:xfrm>
          <a:prstGeom prst="roundRect">
            <a:avLst>
              <a:gd name="adj" fmla="val 6637"/>
            </a:avLst>
          </a:prstGeom>
          <a:solidFill>
            <a:srgbClr val="F4F8FC"/>
          </a:solidFill>
          <a:ln w="12700">
            <a:solidFill>
              <a:srgbClr val="C8D8EC"/>
            </a:solidFill>
            <a:prstDash val="solid"/>
          </a:ln>
        </p:spPr>
        <p:txBody>
          <a:bodyPr/>
          <a:lstStyle/>
          <a:p>
            <a:endParaRPr lang="en-GB" noProof="0" dirty="0"/>
          </a:p>
        </p:txBody>
      </p:sp>
      <p:sp>
        <p:nvSpPr>
          <p:cNvPr id="6" name="Shape 4"/>
          <p:cNvSpPr/>
          <p:nvPr/>
        </p:nvSpPr>
        <p:spPr>
          <a:xfrm>
            <a:off x="694944" y="1389888"/>
            <a:ext cx="932688" cy="469392"/>
          </a:xfrm>
          <a:prstGeom prst="roundRect">
            <a:avLst>
              <a:gd name="adj" fmla="val 9740"/>
            </a:avLst>
          </a:prstGeom>
          <a:solidFill>
            <a:srgbClr val="12315B"/>
          </a:solidFill>
          <a:ln/>
        </p:spPr>
        <p:txBody>
          <a:bodyPr/>
          <a:lstStyle/>
          <a:p>
            <a:endParaRPr lang="en-GB" noProof="0" dirty="0"/>
          </a:p>
        </p:txBody>
      </p:sp>
      <p:sp>
        <p:nvSpPr>
          <p:cNvPr id="7" name="Text 5"/>
          <p:cNvSpPr txBox="1"/>
          <p:nvPr/>
        </p:nvSpPr>
        <p:spPr>
          <a:xfrm>
            <a:off x="694944" y="1389888"/>
            <a:ext cx="932688" cy="469392"/>
          </a:xfrm>
          <a:prstGeom prst="rect">
            <a:avLst/>
          </a:prstGeom>
          <a:noFill/>
          <a:ln/>
        </p:spPr>
        <p:txBody>
          <a:bodyPr wrap="square" lIns="0" tIns="0" rIns="0" bIns="0" rtlCol="0" anchor="ctr"/>
          <a:lstStyle/>
          <a:p>
            <a:pPr marL="0" indent="0" algn="ctr">
              <a:buNone/>
            </a:pPr>
            <a:r>
              <a:rPr lang="en-GB" sz="1400" b="1" noProof="0" dirty="0">
                <a:solidFill>
                  <a:srgbClr val="FFFFFF"/>
                </a:solidFill>
                <a:latin typeface="Calibri" pitchFamily="34" charset="0"/>
                <a:ea typeface="Calibri" pitchFamily="34" charset="-122"/>
                <a:cs typeface="Calibri" pitchFamily="34" charset="-120"/>
              </a:rPr>
              <a:t>Prepare</a:t>
            </a:r>
            <a:endParaRPr lang="en-GB" sz="1400" noProof="0" dirty="0"/>
          </a:p>
        </p:txBody>
      </p:sp>
      <p:sp>
        <p:nvSpPr>
          <p:cNvPr id="8" name="Text 6"/>
          <p:cNvSpPr txBox="1"/>
          <p:nvPr/>
        </p:nvSpPr>
        <p:spPr>
          <a:xfrm>
            <a:off x="1783080" y="1353312"/>
            <a:ext cx="9677095" cy="542544"/>
          </a:xfrm>
          <a:prstGeom prst="rect">
            <a:avLst/>
          </a:prstGeom>
          <a:noFill/>
          <a:ln/>
        </p:spPr>
        <p:txBody>
          <a:bodyPr wrap="square" lIns="0" tIns="0" rIns="0" bIns="0" rtlCol="0" anchor="ctr"/>
          <a:lstStyle/>
          <a:p>
            <a:pPr marL="0" indent="0">
              <a:lnSpc>
                <a:spcPct val="95000"/>
              </a:lnSpc>
              <a:buNone/>
            </a:pPr>
            <a:r>
              <a:rPr lang="en-GB" sz="1800" b="1" noProof="0" dirty="0">
                <a:solidFill>
                  <a:srgbClr val="12315B"/>
                </a:solidFill>
                <a:latin typeface="Calibri" pitchFamily="34" charset="0"/>
                <a:ea typeface="Calibri" pitchFamily="34" charset="-122"/>
                <a:cs typeface="Calibri" pitchFamily="34" charset="-120"/>
              </a:rPr>
              <a:t>Consent, privacy and a chaperone: </a:t>
            </a:r>
            <a:r>
              <a:rPr lang="en-GB" sz="1800" noProof="0" dirty="0">
                <a:solidFill>
                  <a:srgbClr val="0B1F3F"/>
                </a:solidFill>
                <a:latin typeface="Calibri" pitchFamily="34" charset="0"/>
                <a:ea typeface="Calibri" pitchFamily="34" charset="-122"/>
                <a:cs typeface="Calibri" pitchFamily="34" charset="-120"/>
              </a:rPr>
              <a:t>Explain what you will do, obtain consent, use a private room, offer a chaperone, and uncover only as long as needed.</a:t>
            </a:r>
            <a:endParaRPr lang="en-GB" sz="1800" noProof="0" dirty="0"/>
          </a:p>
        </p:txBody>
      </p:sp>
      <p:sp>
        <p:nvSpPr>
          <p:cNvPr id="9" name="Shape 7"/>
          <p:cNvSpPr/>
          <p:nvPr/>
        </p:nvSpPr>
        <p:spPr>
          <a:xfrm>
            <a:off x="548640" y="2115312"/>
            <a:ext cx="11094415" cy="688848"/>
          </a:xfrm>
          <a:prstGeom prst="roundRect">
            <a:avLst>
              <a:gd name="adj" fmla="val 6637"/>
            </a:avLst>
          </a:prstGeom>
          <a:solidFill>
            <a:srgbClr val="F4F8FC"/>
          </a:solidFill>
          <a:ln w="12700">
            <a:solidFill>
              <a:srgbClr val="C8D8EC"/>
            </a:solidFill>
            <a:prstDash val="solid"/>
          </a:ln>
        </p:spPr>
        <p:txBody>
          <a:bodyPr/>
          <a:lstStyle/>
          <a:p>
            <a:endParaRPr lang="en-GB" noProof="0" dirty="0"/>
          </a:p>
        </p:txBody>
      </p:sp>
      <p:sp>
        <p:nvSpPr>
          <p:cNvPr id="10" name="Shape 8"/>
          <p:cNvSpPr/>
          <p:nvPr/>
        </p:nvSpPr>
        <p:spPr>
          <a:xfrm>
            <a:off x="694944" y="2225040"/>
            <a:ext cx="932688" cy="469392"/>
          </a:xfrm>
          <a:prstGeom prst="roundRect">
            <a:avLst>
              <a:gd name="adj" fmla="val 9740"/>
            </a:avLst>
          </a:prstGeom>
          <a:solidFill>
            <a:srgbClr val="12315B"/>
          </a:solidFill>
          <a:ln/>
        </p:spPr>
        <p:txBody>
          <a:bodyPr/>
          <a:lstStyle/>
          <a:p>
            <a:endParaRPr lang="en-GB" noProof="0" dirty="0"/>
          </a:p>
        </p:txBody>
      </p:sp>
      <p:sp>
        <p:nvSpPr>
          <p:cNvPr id="11" name="Text 9"/>
          <p:cNvSpPr txBox="1"/>
          <p:nvPr/>
        </p:nvSpPr>
        <p:spPr>
          <a:xfrm>
            <a:off x="694944" y="2225040"/>
            <a:ext cx="932688" cy="469392"/>
          </a:xfrm>
          <a:prstGeom prst="rect">
            <a:avLst/>
          </a:prstGeom>
          <a:noFill/>
          <a:ln/>
        </p:spPr>
        <p:txBody>
          <a:bodyPr wrap="square" lIns="0" tIns="0" rIns="0" bIns="0" rtlCol="0" anchor="ctr"/>
          <a:lstStyle/>
          <a:p>
            <a:pPr marL="0" indent="0" algn="ctr">
              <a:buNone/>
            </a:pPr>
            <a:r>
              <a:rPr lang="en-GB" sz="1400" b="1" noProof="0" dirty="0">
                <a:solidFill>
                  <a:srgbClr val="FFFFFF"/>
                </a:solidFill>
                <a:latin typeface="Calibri" pitchFamily="34" charset="0"/>
                <a:ea typeface="Calibri" pitchFamily="34" charset="-122"/>
                <a:cs typeface="Calibri" pitchFamily="34" charset="-120"/>
              </a:rPr>
              <a:t>Inspect</a:t>
            </a:r>
            <a:endParaRPr lang="en-GB" sz="1400" noProof="0" dirty="0"/>
          </a:p>
        </p:txBody>
      </p:sp>
      <p:sp>
        <p:nvSpPr>
          <p:cNvPr id="12" name="Text 10"/>
          <p:cNvSpPr txBox="1"/>
          <p:nvPr/>
        </p:nvSpPr>
        <p:spPr>
          <a:xfrm>
            <a:off x="1783080" y="2188464"/>
            <a:ext cx="9677095" cy="542544"/>
          </a:xfrm>
          <a:prstGeom prst="rect">
            <a:avLst/>
          </a:prstGeom>
          <a:noFill/>
          <a:ln/>
        </p:spPr>
        <p:txBody>
          <a:bodyPr wrap="square" lIns="0" tIns="0" rIns="0" bIns="0" rtlCol="0" anchor="ctr"/>
          <a:lstStyle/>
          <a:p>
            <a:pPr marL="0" indent="0">
              <a:lnSpc>
                <a:spcPct val="95000"/>
              </a:lnSpc>
              <a:buNone/>
            </a:pPr>
            <a:r>
              <a:rPr lang="en-GB" sz="1800" b="1" noProof="0" dirty="0">
                <a:solidFill>
                  <a:srgbClr val="12315B"/>
                </a:solidFill>
                <a:latin typeface="Calibri" pitchFamily="34" charset="0"/>
                <a:ea typeface="Calibri" pitchFamily="34" charset="-122"/>
                <a:cs typeface="Calibri" pitchFamily="34" charset="-120"/>
              </a:rPr>
              <a:t>Sitting, in three positions: </a:t>
            </a:r>
            <a:r>
              <a:rPr lang="en-GB" sz="1800" noProof="0" dirty="0">
                <a:solidFill>
                  <a:srgbClr val="0B1F3F"/>
                </a:solidFill>
                <a:latin typeface="Calibri" pitchFamily="34" charset="0"/>
                <a:ea typeface="Calibri" pitchFamily="34" charset="-122"/>
                <a:cs typeface="Calibri" pitchFamily="34" charset="-120"/>
              </a:rPr>
              <a:t>Arms relaxed, hands pressed on the hips, then arms raised. Compare size, shape, skin and nipples on both sides.</a:t>
            </a:r>
            <a:endParaRPr lang="en-GB" sz="1800" noProof="0" dirty="0"/>
          </a:p>
        </p:txBody>
      </p:sp>
      <p:sp>
        <p:nvSpPr>
          <p:cNvPr id="13" name="Shape 11"/>
          <p:cNvSpPr/>
          <p:nvPr/>
        </p:nvSpPr>
        <p:spPr>
          <a:xfrm>
            <a:off x="548640" y="2950464"/>
            <a:ext cx="11094415" cy="688848"/>
          </a:xfrm>
          <a:prstGeom prst="roundRect">
            <a:avLst>
              <a:gd name="adj" fmla="val 6637"/>
            </a:avLst>
          </a:prstGeom>
          <a:solidFill>
            <a:srgbClr val="F4F8FC"/>
          </a:solidFill>
          <a:ln w="12700">
            <a:solidFill>
              <a:srgbClr val="C8D8EC"/>
            </a:solidFill>
            <a:prstDash val="solid"/>
          </a:ln>
        </p:spPr>
        <p:txBody>
          <a:bodyPr/>
          <a:lstStyle/>
          <a:p>
            <a:endParaRPr lang="en-GB" noProof="0" dirty="0"/>
          </a:p>
        </p:txBody>
      </p:sp>
      <p:sp>
        <p:nvSpPr>
          <p:cNvPr id="14" name="Shape 12"/>
          <p:cNvSpPr/>
          <p:nvPr/>
        </p:nvSpPr>
        <p:spPr>
          <a:xfrm>
            <a:off x="694944" y="3060192"/>
            <a:ext cx="932688" cy="469392"/>
          </a:xfrm>
          <a:prstGeom prst="roundRect">
            <a:avLst>
              <a:gd name="adj" fmla="val 9740"/>
            </a:avLst>
          </a:prstGeom>
          <a:solidFill>
            <a:srgbClr val="12315B"/>
          </a:solidFill>
          <a:ln/>
        </p:spPr>
        <p:txBody>
          <a:bodyPr/>
          <a:lstStyle/>
          <a:p>
            <a:endParaRPr lang="en-GB" noProof="0" dirty="0"/>
          </a:p>
        </p:txBody>
      </p:sp>
      <p:sp>
        <p:nvSpPr>
          <p:cNvPr id="15" name="Text 13"/>
          <p:cNvSpPr txBox="1"/>
          <p:nvPr/>
        </p:nvSpPr>
        <p:spPr>
          <a:xfrm>
            <a:off x="694944" y="3060192"/>
            <a:ext cx="932688" cy="469392"/>
          </a:xfrm>
          <a:prstGeom prst="rect">
            <a:avLst/>
          </a:prstGeom>
          <a:noFill/>
          <a:ln/>
        </p:spPr>
        <p:txBody>
          <a:bodyPr wrap="square" lIns="0" tIns="0" rIns="0" bIns="0" rtlCol="0" anchor="ctr"/>
          <a:lstStyle/>
          <a:p>
            <a:pPr marL="0" indent="0" algn="ctr">
              <a:buNone/>
            </a:pPr>
            <a:r>
              <a:rPr lang="en-GB" sz="1400" b="1" noProof="0" dirty="0">
                <a:solidFill>
                  <a:srgbClr val="FFFFFF"/>
                </a:solidFill>
                <a:latin typeface="Calibri" pitchFamily="34" charset="0"/>
                <a:ea typeface="Calibri" pitchFamily="34" charset="-122"/>
                <a:cs typeface="Calibri" pitchFamily="34" charset="-120"/>
              </a:rPr>
              <a:t>Nodes</a:t>
            </a:r>
            <a:endParaRPr lang="en-GB" sz="1400" noProof="0" dirty="0"/>
          </a:p>
        </p:txBody>
      </p:sp>
      <p:sp>
        <p:nvSpPr>
          <p:cNvPr id="16" name="Text 14"/>
          <p:cNvSpPr txBox="1"/>
          <p:nvPr/>
        </p:nvSpPr>
        <p:spPr>
          <a:xfrm>
            <a:off x="1783080" y="3023616"/>
            <a:ext cx="9677095" cy="542544"/>
          </a:xfrm>
          <a:prstGeom prst="rect">
            <a:avLst/>
          </a:prstGeom>
          <a:noFill/>
          <a:ln/>
        </p:spPr>
        <p:txBody>
          <a:bodyPr wrap="square" lIns="0" tIns="0" rIns="0" bIns="0" rtlCol="0" anchor="ctr"/>
          <a:lstStyle/>
          <a:p>
            <a:pPr marL="0" indent="0">
              <a:lnSpc>
                <a:spcPct val="95000"/>
              </a:lnSpc>
              <a:buNone/>
            </a:pPr>
            <a:r>
              <a:rPr lang="en-GB" sz="1800" b="1" noProof="0" dirty="0">
                <a:solidFill>
                  <a:srgbClr val="12315B"/>
                </a:solidFill>
                <a:latin typeface="Calibri" pitchFamily="34" charset="0"/>
                <a:ea typeface="Calibri" pitchFamily="34" charset="-122"/>
                <a:cs typeface="Calibri" pitchFamily="34" charset="-120"/>
              </a:rPr>
              <a:t>Sitting, on both sides: </a:t>
            </a:r>
            <a:r>
              <a:rPr lang="en-GB" sz="1800" noProof="0" dirty="0">
                <a:solidFill>
                  <a:srgbClr val="0B1F3F"/>
                </a:solidFill>
                <a:latin typeface="Calibri" pitchFamily="34" charset="0"/>
                <a:ea typeface="Calibri" pitchFamily="34" charset="-122"/>
                <a:cs typeface="Calibri" pitchFamily="34" charset="-120"/>
              </a:rPr>
              <a:t>Cervical, supraclavicular, infraclavicular and axillary nodes, with her arm resting on your shoulder.</a:t>
            </a:r>
            <a:endParaRPr lang="en-GB" sz="1800" noProof="0" dirty="0"/>
          </a:p>
        </p:txBody>
      </p:sp>
      <p:sp>
        <p:nvSpPr>
          <p:cNvPr id="17" name="Shape 15"/>
          <p:cNvSpPr/>
          <p:nvPr/>
        </p:nvSpPr>
        <p:spPr>
          <a:xfrm>
            <a:off x="548640" y="3785616"/>
            <a:ext cx="11094415" cy="688848"/>
          </a:xfrm>
          <a:prstGeom prst="roundRect">
            <a:avLst>
              <a:gd name="adj" fmla="val 6637"/>
            </a:avLst>
          </a:prstGeom>
          <a:solidFill>
            <a:srgbClr val="F4F8FC"/>
          </a:solidFill>
          <a:ln w="12700">
            <a:solidFill>
              <a:srgbClr val="C8D8EC"/>
            </a:solidFill>
            <a:prstDash val="solid"/>
          </a:ln>
        </p:spPr>
        <p:txBody>
          <a:bodyPr/>
          <a:lstStyle/>
          <a:p>
            <a:endParaRPr lang="en-GB" noProof="0" dirty="0"/>
          </a:p>
        </p:txBody>
      </p:sp>
      <p:sp>
        <p:nvSpPr>
          <p:cNvPr id="18" name="Shape 16"/>
          <p:cNvSpPr/>
          <p:nvPr/>
        </p:nvSpPr>
        <p:spPr>
          <a:xfrm>
            <a:off x="694944" y="3895344"/>
            <a:ext cx="932688" cy="469392"/>
          </a:xfrm>
          <a:prstGeom prst="roundRect">
            <a:avLst>
              <a:gd name="adj" fmla="val 9740"/>
            </a:avLst>
          </a:prstGeom>
          <a:solidFill>
            <a:srgbClr val="12315B"/>
          </a:solidFill>
          <a:ln/>
        </p:spPr>
        <p:txBody>
          <a:bodyPr/>
          <a:lstStyle/>
          <a:p>
            <a:endParaRPr lang="en-GB" noProof="0" dirty="0"/>
          </a:p>
        </p:txBody>
      </p:sp>
      <p:sp>
        <p:nvSpPr>
          <p:cNvPr id="19" name="Text 17"/>
          <p:cNvSpPr txBox="1"/>
          <p:nvPr/>
        </p:nvSpPr>
        <p:spPr>
          <a:xfrm>
            <a:off x="694944" y="3895344"/>
            <a:ext cx="932688" cy="469392"/>
          </a:xfrm>
          <a:prstGeom prst="rect">
            <a:avLst/>
          </a:prstGeom>
          <a:noFill/>
          <a:ln/>
        </p:spPr>
        <p:txBody>
          <a:bodyPr wrap="square" lIns="0" tIns="0" rIns="0" bIns="0" rtlCol="0" anchor="ctr"/>
          <a:lstStyle/>
          <a:p>
            <a:pPr marL="0" indent="0" algn="ctr">
              <a:buNone/>
            </a:pPr>
            <a:r>
              <a:rPr lang="en-GB" sz="1400" b="1" noProof="0" dirty="0">
                <a:solidFill>
                  <a:srgbClr val="FFFFFF"/>
                </a:solidFill>
                <a:latin typeface="Calibri" pitchFamily="34" charset="0"/>
                <a:ea typeface="Calibri" pitchFamily="34" charset="-122"/>
                <a:cs typeface="Calibri" pitchFamily="34" charset="-120"/>
              </a:rPr>
              <a:t>Palpate</a:t>
            </a:r>
            <a:endParaRPr lang="en-GB" sz="1400" noProof="0" dirty="0"/>
          </a:p>
        </p:txBody>
      </p:sp>
      <p:sp>
        <p:nvSpPr>
          <p:cNvPr id="20" name="Text 18"/>
          <p:cNvSpPr txBox="1"/>
          <p:nvPr/>
        </p:nvSpPr>
        <p:spPr>
          <a:xfrm>
            <a:off x="1783080" y="3858768"/>
            <a:ext cx="9677095" cy="542544"/>
          </a:xfrm>
          <a:prstGeom prst="rect">
            <a:avLst/>
          </a:prstGeom>
          <a:noFill/>
          <a:ln/>
        </p:spPr>
        <p:txBody>
          <a:bodyPr wrap="square" lIns="0" tIns="0" rIns="0" bIns="0" rtlCol="0" anchor="ctr"/>
          <a:lstStyle/>
          <a:p>
            <a:pPr marL="0" indent="0">
              <a:lnSpc>
                <a:spcPct val="95000"/>
              </a:lnSpc>
              <a:buNone/>
            </a:pPr>
            <a:r>
              <a:rPr lang="en-GB" sz="1800" b="1" noProof="0" dirty="0">
                <a:solidFill>
                  <a:srgbClr val="12315B"/>
                </a:solidFill>
                <a:latin typeface="Calibri" pitchFamily="34" charset="0"/>
                <a:ea typeface="Calibri" pitchFamily="34" charset="-122"/>
                <a:cs typeface="Calibri" pitchFamily="34" charset="-120"/>
              </a:rPr>
              <a:t>Lying down, arm above the head: </a:t>
            </a:r>
            <a:r>
              <a:rPr lang="en-GB" sz="1800" noProof="0" dirty="0">
                <a:solidFill>
                  <a:srgbClr val="0B1F3F"/>
                </a:solidFill>
                <a:latin typeface="Calibri" pitchFamily="34" charset="0"/>
                <a:ea typeface="Calibri" pitchFamily="34" charset="-122"/>
                <a:cs typeface="Calibri" pitchFamily="34" charset="-120"/>
              </a:rPr>
              <a:t>Pads of three fingers, small circles, three levels of pressure, in vertical strips over the whole breast and axillary tail.</a:t>
            </a:r>
            <a:endParaRPr lang="en-GB" sz="1800" noProof="0" dirty="0"/>
          </a:p>
        </p:txBody>
      </p:sp>
      <p:sp>
        <p:nvSpPr>
          <p:cNvPr id="21" name="Shape 19"/>
          <p:cNvSpPr/>
          <p:nvPr/>
        </p:nvSpPr>
        <p:spPr>
          <a:xfrm>
            <a:off x="548640" y="4620768"/>
            <a:ext cx="11094415" cy="688848"/>
          </a:xfrm>
          <a:prstGeom prst="roundRect">
            <a:avLst>
              <a:gd name="adj" fmla="val 6637"/>
            </a:avLst>
          </a:prstGeom>
          <a:solidFill>
            <a:srgbClr val="F4F8FC"/>
          </a:solidFill>
          <a:ln w="12700">
            <a:solidFill>
              <a:srgbClr val="C8D8EC"/>
            </a:solidFill>
            <a:prstDash val="solid"/>
          </a:ln>
        </p:spPr>
        <p:txBody>
          <a:bodyPr/>
          <a:lstStyle/>
          <a:p>
            <a:endParaRPr lang="en-GB" noProof="0" dirty="0"/>
          </a:p>
        </p:txBody>
      </p:sp>
      <p:sp>
        <p:nvSpPr>
          <p:cNvPr id="22" name="Shape 20"/>
          <p:cNvSpPr/>
          <p:nvPr/>
        </p:nvSpPr>
        <p:spPr>
          <a:xfrm>
            <a:off x="694944" y="4730496"/>
            <a:ext cx="932688" cy="469392"/>
          </a:xfrm>
          <a:prstGeom prst="roundRect">
            <a:avLst>
              <a:gd name="adj" fmla="val 9740"/>
            </a:avLst>
          </a:prstGeom>
          <a:solidFill>
            <a:srgbClr val="12315B"/>
          </a:solidFill>
          <a:ln/>
        </p:spPr>
        <p:txBody>
          <a:bodyPr/>
          <a:lstStyle/>
          <a:p>
            <a:endParaRPr lang="en-GB" noProof="0" dirty="0"/>
          </a:p>
        </p:txBody>
      </p:sp>
      <p:sp>
        <p:nvSpPr>
          <p:cNvPr id="23" name="Text 21"/>
          <p:cNvSpPr txBox="1"/>
          <p:nvPr/>
        </p:nvSpPr>
        <p:spPr>
          <a:xfrm>
            <a:off x="694944" y="4730496"/>
            <a:ext cx="932688" cy="469392"/>
          </a:xfrm>
          <a:prstGeom prst="rect">
            <a:avLst/>
          </a:prstGeom>
          <a:noFill/>
          <a:ln/>
        </p:spPr>
        <p:txBody>
          <a:bodyPr wrap="square" lIns="0" tIns="0" rIns="0" bIns="0" rtlCol="0" anchor="ctr"/>
          <a:lstStyle/>
          <a:p>
            <a:pPr marL="0" indent="0" algn="ctr">
              <a:buNone/>
            </a:pPr>
            <a:r>
              <a:rPr lang="en-GB" sz="1400" b="1" noProof="0" dirty="0">
                <a:solidFill>
                  <a:srgbClr val="FFFFFF"/>
                </a:solidFill>
                <a:latin typeface="Calibri" pitchFamily="34" charset="0"/>
                <a:ea typeface="Calibri" pitchFamily="34" charset="-122"/>
                <a:cs typeface="Calibri" pitchFamily="34" charset="-120"/>
              </a:rPr>
              <a:t>Describe</a:t>
            </a:r>
            <a:endParaRPr lang="en-GB" sz="1400" noProof="0" dirty="0"/>
          </a:p>
        </p:txBody>
      </p:sp>
      <p:sp>
        <p:nvSpPr>
          <p:cNvPr id="24" name="Text 22"/>
          <p:cNvSpPr txBox="1"/>
          <p:nvPr/>
        </p:nvSpPr>
        <p:spPr>
          <a:xfrm>
            <a:off x="1783080" y="4693920"/>
            <a:ext cx="9677095" cy="542544"/>
          </a:xfrm>
          <a:prstGeom prst="rect">
            <a:avLst/>
          </a:prstGeom>
          <a:noFill/>
          <a:ln/>
        </p:spPr>
        <p:txBody>
          <a:bodyPr wrap="square" lIns="0" tIns="0" rIns="0" bIns="0" rtlCol="0" anchor="ctr"/>
          <a:lstStyle/>
          <a:p>
            <a:pPr marL="0" indent="0">
              <a:lnSpc>
                <a:spcPct val="95000"/>
              </a:lnSpc>
              <a:buNone/>
            </a:pPr>
            <a:r>
              <a:rPr lang="en-GB" sz="1800" b="1" noProof="0" dirty="0">
                <a:solidFill>
                  <a:srgbClr val="12315B"/>
                </a:solidFill>
                <a:latin typeface="Calibri" pitchFamily="34" charset="0"/>
                <a:ea typeface="Calibri" pitchFamily="34" charset="-122"/>
                <a:cs typeface="Calibri" pitchFamily="34" charset="-120"/>
              </a:rPr>
              <a:t>Any finding: </a:t>
            </a:r>
            <a:r>
              <a:rPr lang="en-GB" sz="1800" noProof="0" dirty="0">
                <a:solidFill>
                  <a:srgbClr val="0B1F3F"/>
                </a:solidFill>
                <a:latin typeface="Calibri" pitchFamily="34" charset="0"/>
                <a:ea typeface="Calibri" pitchFamily="34" charset="-122"/>
                <a:cs typeface="Calibri" pitchFamily="34" charset="-120"/>
              </a:rPr>
              <a:t>Side, clock position and distance from the nipple, size, shape, consistency, borders, mobility and tenderness.</a:t>
            </a:r>
            <a:endParaRPr lang="en-GB" sz="1800" noProof="0" dirty="0"/>
          </a:p>
        </p:txBody>
      </p:sp>
      <p:sp>
        <p:nvSpPr>
          <p:cNvPr id="25" name="Shape 23"/>
          <p:cNvSpPr/>
          <p:nvPr/>
        </p:nvSpPr>
        <p:spPr>
          <a:xfrm>
            <a:off x="548640" y="5455920"/>
            <a:ext cx="11094415" cy="688848"/>
          </a:xfrm>
          <a:prstGeom prst="roundRect">
            <a:avLst>
              <a:gd name="adj" fmla="val 6637"/>
            </a:avLst>
          </a:prstGeom>
          <a:solidFill>
            <a:srgbClr val="F4F8FC"/>
          </a:solidFill>
          <a:ln w="12700">
            <a:solidFill>
              <a:srgbClr val="C8D8EC"/>
            </a:solidFill>
            <a:prstDash val="solid"/>
          </a:ln>
        </p:spPr>
        <p:txBody>
          <a:bodyPr/>
          <a:lstStyle/>
          <a:p>
            <a:endParaRPr lang="en-GB" noProof="0" dirty="0"/>
          </a:p>
        </p:txBody>
      </p:sp>
      <p:sp>
        <p:nvSpPr>
          <p:cNvPr id="26" name="Shape 24"/>
          <p:cNvSpPr/>
          <p:nvPr/>
        </p:nvSpPr>
        <p:spPr>
          <a:xfrm>
            <a:off x="694944" y="5565648"/>
            <a:ext cx="932688" cy="469392"/>
          </a:xfrm>
          <a:prstGeom prst="roundRect">
            <a:avLst>
              <a:gd name="adj" fmla="val 9740"/>
            </a:avLst>
          </a:prstGeom>
          <a:solidFill>
            <a:srgbClr val="12315B"/>
          </a:solidFill>
          <a:ln/>
        </p:spPr>
        <p:txBody>
          <a:bodyPr/>
          <a:lstStyle/>
          <a:p>
            <a:endParaRPr lang="en-GB" noProof="0" dirty="0"/>
          </a:p>
        </p:txBody>
      </p:sp>
      <p:sp>
        <p:nvSpPr>
          <p:cNvPr id="27" name="Text 25"/>
          <p:cNvSpPr txBox="1"/>
          <p:nvPr/>
        </p:nvSpPr>
        <p:spPr>
          <a:xfrm>
            <a:off x="694944" y="5565648"/>
            <a:ext cx="932688" cy="469392"/>
          </a:xfrm>
          <a:prstGeom prst="rect">
            <a:avLst/>
          </a:prstGeom>
          <a:noFill/>
          <a:ln/>
        </p:spPr>
        <p:txBody>
          <a:bodyPr wrap="square" lIns="0" tIns="0" rIns="0" bIns="0" rtlCol="0" anchor="ctr"/>
          <a:lstStyle/>
          <a:p>
            <a:pPr marL="0" indent="0" algn="ctr">
              <a:buNone/>
            </a:pPr>
            <a:r>
              <a:rPr lang="en-GB" sz="1400" b="1" noProof="0" dirty="0">
                <a:solidFill>
                  <a:srgbClr val="FFFFFF"/>
                </a:solidFill>
                <a:latin typeface="Calibri" pitchFamily="34" charset="0"/>
                <a:ea typeface="Calibri" pitchFamily="34" charset="-122"/>
                <a:cs typeface="Calibri" pitchFamily="34" charset="-120"/>
              </a:rPr>
              <a:t>Record</a:t>
            </a:r>
            <a:endParaRPr lang="en-GB" sz="1400" noProof="0" dirty="0"/>
          </a:p>
        </p:txBody>
      </p:sp>
      <p:sp>
        <p:nvSpPr>
          <p:cNvPr id="28" name="Text 26"/>
          <p:cNvSpPr txBox="1"/>
          <p:nvPr/>
        </p:nvSpPr>
        <p:spPr>
          <a:xfrm>
            <a:off x="1783080" y="5529072"/>
            <a:ext cx="9677095" cy="542544"/>
          </a:xfrm>
          <a:prstGeom prst="rect">
            <a:avLst/>
          </a:prstGeom>
          <a:noFill/>
          <a:ln/>
        </p:spPr>
        <p:txBody>
          <a:bodyPr wrap="square" lIns="0" tIns="0" rIns="0" bIns="0" rtlCol="0" anchor="ctr"/>
          <a:lstStyle/>
          <a:p>
            <a:pPr marL="0" indent="0">
              <a:lnSpc>
                <a:spcPct val="95000"/>
              </a:lnSpc>
              <a:buNone/>
            </a:pPr>
            <a:r>
              <a:rPr lang="en-GB" sz="1800" b="1" noProof="0" dirty="0">
                <a:solidFill>
                  <a:srgbClr val="12315B"/>
                </a:solidFill>
                <a:latin typeface="Calibri" pitchFamily="34" charset="0"/>
                <a:ea typeface="Calibri" pitchFamily="34" charset="-122"/>
                <a:cs typeface="Calibri" pitchFamily="34" charset="-120"/>
              </a:rPr>
              <a:t>Findings and next step: </a:t>
            </a:r>
            <a:r>
              <a:rPr lang="en-GB" sz="1800" noProof="0" dirty="0">
                <a:solidFill>
                  <a:srgbClr val="0B1F3F"/>
                </a:solidFill>
                <a:latin typeface="Calibri" pitchFamily="34" charset="0"/>
                <a:ea typeface="Calibri" pitchFamily="34" charset="-122"/>
                <a:cs typeface="Calibri" pitchFamily="34" charset="-120"/>
              </a:rPr>
              <a:t>Record what you found, including a normal examination, and the action taken, then explain what happens next.</a:t>
            </a:r>
            <a:endParaRPr lang="en-GB" sz="1800" noProof="0"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 name="Text 168"/>
          <p:cNvSpPr txBox="1"/>
          <p:nvPr/>
        </p:nvSpPr>
        <p:spPr>
          <a:xfrm>
            <a:off x="548640" y="274320"/>
            <a:ext cx="11094415" cy="256032"/>
          </a:xfrm>
          <a:prstGeom prst="rect">
            <a:avLst/>
          </a:prstGeom>
          <a:noFill/>
          <a:ln/>
        </p:spPr>
        <p:txBody>
          <a:bodyPr wrap="square" lIns="0" tIns="0" rIns="0" bIns="0" rtlCol="0" anchor="ctr"/>
          <a:lstStyle/>
          <a:p>
            <a:pPr marL="0" indent="0" algn="l">
              <a:lnSpc>
                <a:spcPct val="95000"/>
              </a:lnSpc>
              <a:buNone/>
            </a:pPr>
            <a:r>
              <a:rPr lang="en-GB" sz="1100" b="1" dirty="0">
                <a:solidFill>
                  <a:srgbClr val="5B7699"/>
                </a:solidFill>
                <a:latin typeface="Calibri" pitchFamily="34" charset="0"/>
                <a:ea typeface="Calibri" pitchFamily="34" charset="-122"/>
                <a:cs typeface="Calibri" pitchFamily="34" charset="-120"/>
              </a:rPr>
              <a:t>S E S S I O N   2</a:t>
            </a:r>
            <a:endParaRPr lang="en-GB" sz="1800" dirty="0"/>
          </a:p>
        </p:txBody>
      </p:sp>
      <p:sp>
        <p:nvSpPr>
          <p:cNvPr id="169" name="Text 169"/>
          <p:cNvSpPr txBox="1"/>
          <p:nvPr/>
        </p:nvSpPr>
        <p:spPr>
          <a:xfrm>
            <a:off x="548640" y="566928"/>
            <a:ext cx="11094415" cy="566928"/>
          </a:xfrm>
          <a:prstGeom prst="rect">
            <a:avLst/>
          </a:prstGeom>
          <a:noFill/>
          <a:ln/>
        </p:spPr>
        <p:txBody>
          <a:bodyPr wrap="square" lIns="0" tIns="0" rIns="0" bIns="0" rtlCol="0" anchor="t"/>
          <a:lstStyle/>
          <a:p>
            <a:pPr marL="0" indent="0" algn="l">
              <a:lnSpc>
                <a:spcPct val="95000"/>
              </a:lnSpc>
              <a:buNone/>
            </a:pPr>
            <a:r>
              <a:rPr lang="en-GB" sz="3000" b="1" dirty="0">
                <a:solidFill>
                  <a:srgbClr val="12315B"/>
                </a:solidFill>
                <a:latin typeface="Calibri" pitchFamily="34" charset="0"/>
                <a:ea typeface="Calibri" pitchFamily="34" charset="-122"/>
                <a:cs typeface="Calibri" pitchFamily="34" charset="-120"/>
              </a:rPr>
              <a:t>Before you examine: six questions to ask</a:t>
            </a:r>
            <a:endParaRPr lang="en-GB" sz="1800" dirty="0"/>
          </a:p>
        </p:txBody>
      </p:sp>
      <p:sp>
        <p:nvSpPr>
          <p:cNvPr id="170" name="Text 170"/>
          <p:cNvSpPr txBox="1"/>
          <p:nvPr/>
        </p:nvSpPr>
        <p:spPr>
          <a:xfrm>
            <a:off x="548640" y="6382512"/>
            <a:ext cx="11094415" cy="274320"/>
          </a:xfrm>
          <a:prstGeom prst="rect">
            <a:avLst/>
          </a:prstGeom>
          <a:noFill/>
          <a:ln/>
        </p:spPr>
        <p:txBody>
          <a:bodyPr wrap="square" lIns="0" tIns="0" rIns="0" bIns="0" rtlCol="0" anchor="ctr"/>
          <a:lstStyle/>
          <a:p>
            <a:pPr marL="0" indent="0" algn="l">
              <a:lnSpc>
                <a:spcPct val="95000"/>
              </a:lnSpc>
              <a:buNone/>
            </a:pPr>
            <a:r>
              <a:rPr lang="en-GB" sz="1000" dirty="0">
                <a:solidFill>
                  <a:srgbClr val="5B7699"/>
                </a:solidFill>
                <a:latin typeface="Calibri" pitchFamily="34" charset="0"/>
                <a:ea typeface="Calibri" pitchFamily="34" charset="-122"/>
                <a:cs typeface="Calibri" pitchFamily="34" charset="-120"/>
              </a:rPr>
              <a:t>Breast Cancer  |  Frontline HCP  |  Rwanda Biomedical Centre</a:t>
            </a:r>
            <a:endParaRPr lang="en-GB" sz="1800" dirty="0"/>
          </a:p>
        </p:txBody>
      </p:sp>
      <p:sp>
        <p:nvSpPr>
          <p:cNvPr id="154" name="Shape 154"/>
          <p:cNvSpPr/>
          <p:nvPr/>
        </p:nvSpPr>
        <p:spPr>
          <a:xfrm>
            <a:off x="548640" y="1215000"/>
            <a:ext cx="3527450" cy="1810000"/>
          </a:xfrm>
          <a:prstGeom prst="roundRect">
            <a:avLst>
              <a:gd name="adj" fmla="val 3500"/>
            </a:avLst>
          </a:prstGeom>
          <a:solidFill>
            <a:srgbClr val="F4F8FC"/>
          </a:solidFill>
          <a:ln w="12700">
            <a:solidFill>
              <a:srgbClr val="C8D8EC"/>
            </a:solidFill>
            <a:prstDash val="solid"/>
          </a:ln>
        </p:spPr>
        <p:txBody>
          <a:bodyPr wrap="square" lIns="91440" tIns="45720" rIns="91440" bIns="45720" rtlCol="0" anchor="ctr"/>
          <a:lstStyle/>
          <a:p>
            <a:endParaRPr lang="en-GB" dirty="0"/>
          </a:p>
        </p:txBody>
      </p:sp>
      <p:sp>
        <p:nvSpPr>
          <p:cNvPr id="155" name="Text 155"/>
          <p:cNvSpPr txBox="1"/>
          <p:nvPr/>
        </p:nvSpPr>
        <p:spPr>
          <a:xfrm>
            <a:off x="713232" y="1333872"/>
            <a:ext cx="3198266" cy="1600000"/>
          </a:xfrm>
          <a:prstGeom prst="rect">
            <a:avLst/>
          </a:prstGeom>
          <a:noFill/>
          <a:ln/>
        </p:spPr>
        <p:txBody>
          <a:bodyPr wrap="square" lIns="0" tIns="0" rIns="0" bIns="0" rtlCol="0" anchor="t"/>
          <a:lstStyle/>
          <a:p>
            <a:pPr marL="0" indent="0" algn="l">
              <a:lnSpc>
                <a:spcPct val="95000"/>
              </a:lnSpc>
              <a:spcAft>
                <a:spcPts val="400"/>
              </a:spcAft>
              <a:buNone/>
            </a:pPr>
            <a:r>
              <a:rPr lang="en-GB" sz="1800" b="1" dirty="0">
                <a:solidFill>
                  <a:srgbClr val="12315B"/>
                </a:solidFill>
                <a:latin typeface="Calibri" pitchFamily="34" charset="0"/>
                <a:ea typeface="Calibri" pitchFamily="34" charset="-122"/>
                <a:cs typeface="Calibri" pitchFamily="34" charset="-120"/>
              </a:rPr>
              <a:t>How long?</a:t>
            </a:r>
            <a:endParaRPr lang="en-GB" sz="1800" dirty="0"/>
          </a:p>
          <a:p>
            <a:pPr marL="0" indent="0" algn="l">
              <a:lnSpc>
                <a:spcPct val="95000"/>
              </a:lnSpc>
              <a:spcAft>
                <a:spcPts val="300"/>
              </a:spcAft>
              <a:buNone/>
            </a:pPr>
            <a:r>
              <a:rPr lang="en-GB" sz="1800" dirty="0">
                <a:solidFill>
                  <a:srgbClr val="0B1F3F"/>
                </a:solidFill>
                <a:latin typeface="Calibri" pitchFamily="34" charset="0"/>
                <a:ea typeface="Calibri" pitchFamily="34" charset="-122"/>
                <a:cs typeface="Calibri" pitchFamily="34" charset="-120"/>
              </a:rPr>
              <a:t>When did she first notice the change, and has it changed since?</a:t>
            </a:r>
            <a:endParaRPr lang="en-GB" sz="1800" dirty="0"/>
          </a:p>
        </p:txBody>
      </p:sp>
      <p:sp>
        <p:nvSpPr>
          <p:cNvPr id="156" name="Shape 156"/>
          <p:cNvSpPr/>
          <p:nvPr/>
        </p:nvSpPr>
        <p:spPr>
          <a:xfrm>
            <a:off x="4332122" y="1215000"/>
            <a:ext cx="3527450" cy="1810000"/>
          </a:xfrm>
          <a:prstGeom prst="roundRect">
            <a:avLst>
              <a:gd name="adj" fmla="val 3500"/>
            </a:avLst>
          </a:prstGeom>
          <a:solidFill>
            <a:srgbClr val="F4F8FC"/>
          </a:solidFill>
          <a:ln w="12700">
            <a:solidFill>
              <a:srgbClr val="C8D8EC"/>
            </a:solidFill>
            <a:prstDash val="solid"/>
          </a:ln>
        </p:spPr>
        <p:txBody>
          <a:bodyPr wrap="square" lIns="91440" tIns="45720" rIns="91440" bIns="45720" rtlCol="0" anchor="ctr"/>
          <a:lstStyle/>
          <a:p>
            <a:endParaRPr lang="en-GB" dirty="0"/>
          </a:p>
        </p:txBody>
      </p:sp>
      <p:sp>
        <p:nvSpPr>
          <p:cNvPr id="157" name="Text 157"/>
          <p:cNvSpPr txBox="1"/>
          <p:nvPr/>
        </p:nvSpPr>
        <p:spPr>
          <a:xfrm>
            <a:off x="4496714" y="1333872"/>
            <a:ext cx="3198266" cy="1600000"/>
          </a:xfrm>
          <a:prstGeom prst="rect">
            <a:avLst/>
          </a:prstGeom>
          <a:noFill/>
          <a:ln/>
        </p:spPr>
        <p:txBody>
          <a:bodyPr wrap="square" lIns="0" tIns="0" rIns="0" bIns="0" rtlCol="0" anchor="t"/>
          <a:lstStyle/>
          <a:p>
            <a:pPr marL="0" indent="0" algn="l">
              <a:lnSpc>
                <a:spcPct val="95000"/>
              </a:lnSpc>
              <a:spcAft>
                <a:spcPts val="400"/>
              </a:spcAft>
              <a:buNone/>
            </a:pPr>
            <a:r>
              <a:rPr lang="en-GB" sz="1800" b="1" dirty="0">
                <a:solidFill>
                  <a:srgbClr val="12315B"/>
                </a:solidFill>
                <a:latin typeface="Calibri" pitchFamily="34" charset="0"/>
                <a:ea typeface="Calibri" pitchFamily="34" charset="-122"/>
                <a:cs typeface="Calibri" pitchFamily="34" charset="-120"/>
              </a:rPr>
              <a:t>Other symptoms?</a:t>
            </a:r>
            <a:endParaRPr lang="en-GB" sz="1800" dirty="0"/>
          </a:p>
          <a:p>
            <a:pPr marL="0" indent="0" algn="l">
              <a:lnSpc>
                <a:spcPct val="95000"/>
              </a:lnSpc>
              <a:spcAft>
                <a:spcPts val="300"/>
              </a:spcAft>
              <a:buNone/>
            </a:pPr>
            <a:r>
              <a:rPr lang="en-GB" sz="1800" dirty="0">
                <a:solidFill>
                  <a:srgbClr val="0B1F3F"/>
                </a:solidFill>
                <a:latin typeface="Calibri" pitchFamily="34" charset="0"/>
                <a:ea typeface="Calibri" pitchFamily="34" charset="-122"/>
                <a:cs typeface="Calibri" pitchFamily="34" charset="-120"/>
              </a:rPr>
              <a:t>Pain, nipple discharge, skin change, fever, or a lump in the armpit?</a:t>
            </a:r>
            <a:endParaRPr lang="en-GB" sz="1800" dirty="0"/>
          </a:p>
        </p:txBody>
      </p:sp>
      <p:sp>
        <p:nvSpPr>
          <p:cNvPr id="158" name="Shape 158"/>
          <p:cNvSpPr/>
          <p:nvPr/>
        </p:nvSpPr>
        <p:spPr>
          <a:xfrm>
            <a:off x="8115604" y="1215000"/>
            <a:ext cx="3527450" cy="1810000"/>
          </a:xfrm>
          <a:prstGeom prst="roundRect">
            <a:avLst>
              <a:gd name="adj" fmla="val 3500"/>
            </a:avLst>
          </a:prstGeom>
          <a:solidFill>
            <a:srgbClr val="F4F8FC"/>
          </a:solidFill>
          <a:ln w="12700">
            <a:solidFill>
              <a:srgbClr val="C8D8EC"/>
            </a:solidFill>
            <a:prstDash val="solid"/>
          </a:ln>
        </p:spPr>
        <p:txBody>
          <a:bodyPr wrap="square" lIns="91440" tIns="45720" rIns="91440" bIns="45720" rtlCol="0" anchor="ctr"/>
          <a:lstStyle/>
          <a:p>
            <a:endParaRPr lang="en-GB" dirty="0"/>
          </a:p>
        </p:txBody>
      </p:sp>
      <p:sp>
        <p:nvSpPr>
          <p:cNvPr id="159" name="Text 159"/>
          <p:cNvSpPr txBox="1"/>
          <p:nvPr/>
        </p:nvSpPr>
        <p:spPr>
          <a:xfrm>
            <a:off x="8280196" y="1333872"/>
            <a:ext cx="3198266" cy="1600000"/>
          </a:xfrm>
          <a:prstGeom prst="rect">
            <a:avLst/>
          </a:prstGeom>
          <a:noFill/>
          <a:ln/>
        </p:spPr>
        <p:txBody>
          <a:bodyPr wrap="square" lIns="0" tIns="0" rIns="0" bIns="0" rtlCol="0" anchor="t"/>
          <a:lstStyle/>
          <a:p>
            <a:pPr marL="0" indent="0" algn="l">
              <a:lnSpc>
                <a:spcPct val="95000"/>
              </a:lnSpc>
              <a:spcAft>
                <a:spcPts val="400"/>
              </a:spcAft>
              <a:buNone/>
            </a:pPr>
            <a:r>
              <a:rPr lang="en-GB" sz="1800" b="1" dirty="0">
                <a:solidFill>
                  <a:srgbClr val="12315B"/>
                </a:solidFill>
                <a:latin typeface="Calibri" pitchFamily="34" charset="0"/>
                <a:ea typeface="Calibri" pitchFamily="34" charset="-122"/>
                <a:cs typeface="Calibri" pitchFamily="34" charset="-120"/>
              </a:rPr>
              <a:t>Pregnant or breastfeeding?</a:t>
            </a:r>
            <a:endParaRPr lang="en-GB" sz="1800" dirty="0"/>
          </a:p>
          <a:p>
            <a:pPr marL="0" indent="0" algn="l">
              <a:lnSpc>
                <a:spcPct val="95000"/>
              </a:lnSpc>
              <a:spcAft>
                <a:spcPts val="300"/>
              </a:spcAft>
              <a:buNone/>
            </a:pPr>
            <a:r>
              <a:rPr lang="en-GB" sz="1800" dirty="0">
                <a:solidFill>
                  <a:srgbClr val="0B1F3F"/>
                </a:solidFill>
                <a:latin typeface="Calibri" pitchFamily="34" charset="0"/>
                <a:ea typeface="Calibri" pitchFamily="34" charset="-122"/>
                <a:cs typeface="Calibri" pitchFamily="34" charset="-120"/>
              </a:rPr>
              <a:t>And does the change vary with her menstrual cycle?</a:t>
            </a:r>
            <a:endParaRPr lang="en-GB" sz="1800" dirty="0"/>
          </a:p>
        </p:txBody>
      </p:sp>
      <p:sp>
        <p:nvSpPr>
          <p:cNvPr id="160" name="Shape 160"/>
          <p:cNvSpPr/>
          <p:nvPr/>
        </p:nvSpPr>
        <p:spPr>
          <a:xfrm>
            <a:off x="548640" y="3145000"/>
            <a:ext cx="3527450" cy="1810000"/>
          </a:xfrm>
          <a:prstGeom prst="roundRect">
            <a:avLst>
              <a:gd name="adj" fmla="val 3500"/>
            </a:avLst>
          </a:prstGeom>
          <a:solidFill>
            <a:srgbClr val="F4F8FC"/>
          </a:solidFill>
          <a:ln w="12700">
            <a:solidFill>
              <a:srgbClr val="C8D8EC"/>
            </a:solidFill>
            <a:prstDash val="solid"/>
          </a:ln>
        </p:spPr>
        <p:txBody>
          <a:bodyPr wrap="square" lIns="91440" tIns="45720" rIns="91440" bIns="45720" rtlCol="0" anchor="ctr"/>
          <a:lstStyle/>
          <a:p>
            <a:endParaRPr lang="en-GB" dirty="0"/>
          </a:p>
        </p:txBody>
      </p:sp>
      <p:sp>
        <p:nvSpPr>
          <p:cNvPr id="161" name="Text 161"/>
          <p:cNvSpPr txBox="1"/>
          <p:nvPr/>
        </p:nvSpPr>
        <p:spPr>
          <a:xfrm>
            <a:off x="713232" y="3263872"/>
            <a:ext cx="3198266" cy="1600000"/>
          </a:xfrm>
          <a:prstGeom prst="rect">
            <a:avLst/>
          </a:prstGeom>
          <a:noFill/>
          <a:ln/>
        </p:spPr>
        <p:txBody>
          <a:bodyPr wrap="square" lIns="0" tIns="0" rIns="0" bIns="0" rtlCol="0" anchor="t"/>
          <a:lstStyle/>
          <a:p>
            <a:pPr marL="0" indent="0" algn="l">
              <a:lnSpc>
                <a:spcPct val="95000"/>
              </a:lnSpc>
              <a:spcAft>
                <a:spcPts val="400"/>
              </a:spcAft>
              <a:buNone/>
            </a:pPr>
            <a:r>
              <a:rPr lang="en-GB" sz="1800" b="1" dirty="0">
                <a:solidFill>
                  <a:srgbClr val="12315B"/>
                </a:solidFill>
                <a:latin typeface="Calibri" pitchFamily="34" charset="0"/>
                <a:ea typeface="Calibri" pitchFamily="34" charset="-122"/>
                <a:cs typeface="Calibri" pitchFamily="34" charset="-120"/>
              </a:rPr>
              <a:t>Breast problems before?</a:t>
            </a:r>
            <a:endParaRPr lang="en-GB" sz="1800" dirty="0"/>
          </a:p>
          <a:p>
            <a:pPr marL="0" indent="0" algn="l">
              <a:lnSpc>
                <a:spcPct val="95000"/>
              </a:lnSpc>
              <a:spcAft>
                <a:spcPts val="300"/>
              </a:spcAft>
              <a:buNone/>
            </a:pPr>
            <a:r>
              <a:rPr lang="en-GB" sz="1800" dirty="0">
                <a:solidFill>
                  <a:srgbClr val="0B1F3F"/>
                </a:solidFill>
                <a:latin typeface="Calibri" pitchFamily="34" charset="0"/>
                <a:ea typeface="Calibri" pitchFamily="34" charset="-122"/>
                <a:cs typeface="Calibri" pitchFamily="34" charset="-120"/>
              </a:rPr>
              <a:t>Has she had this before, or treatment for this or another breast problem?</a:t>
            </a:r>
            <a:endParaRPr lang="en-GB" sz="1800" dirty="0"/>
          </a:p>
        </p:txBody>
      </p:sp>
      <p:sp>
        <p:nvSpPr>
          <p:cNvPr id="162" name="Shape 162"/>
          <p:cNvSpPr/>
          <p:nvPr/>
        </p:nvSpPr>
        <p:spPr>
          <a:xfrm>
            <a:off x="4332122" y="3145000"/>
            <a:ext cx="3527450" cy="1810000"/>
          </a:xfrm>
          <a:prstGeom prst="roundRect">
            <a:avLst>
              <a:gd name="adj" fmla="val 3500"/>
            </a:avLst>
          </a:prstGeom>
          <a:solidFill>
            <a:srgbClr val="F4F8FC"/>
          </a:solidFill>
          <a:ln w="12700">
            <a:solidFill>
              <a:srgbClr val="C8D8EC"/>
            </a:solidFill>
            <a:prstDash val="solid"/>
          </a:ln>
        </p:spPr>
        <p:txBody>
          <a:bodyPr wrap="square" lIns="91440" tIns="45720" rIns="91440" bIns="45720" rtlCol="0" anchor="ctr"/>
          <a:lstStyle/>
          <a:p>
            <a:endParaRPr lang="en-GB" dirty="0"/>
          </a:p>
        </p:txBody>
      </p:sp>
      <p:sp>
        <p:nvSpPr>
          <p:cNvPr id="163" name="Text 163"/>
          <p:cNvSpPr txBox="1"/>
          <p:nvPr/>
        </p:nvSpPr>
        <p:spPr>
          <a:xfrm>
            <a:off x="4496714" y="3263872"/>
            <a:ext cx="3198266" cy="1600000"/>
          </a:xfrm>
          <a:prstGeom prst="rect">
            <a:avLst/>
          </a:prstGeom>
          <a:noFill/>
          <a:ln/>
        </p:spPr>
        <p:txBody>
          <a:bodyPr wrap="square" lIns="0" tIns="0" rIns="0" bIns="0" rtlCol="0" anchor="t"/>
          <a:lstStyle/>
          <a:p>
            <a:pPr marL="0" indent="0" algn="l">
              <a:lnSpc>
                <a:spcPct val="95000"/>
              </a:lnSpc>
              <a:spcAft>
                <a:spcPts val="400"/>
              </a:spcAft>
              <a:buNone/>
            </a:pPr>
            <a:r>
              <a:rPr lang="en-GB" sz="1800" b="1" dirty="0">
                <a:solidFill>
                  <a:srgbClr val="12315B"/>
                </a:solidFill>
                <a:latin typeface="Calibri" pitchFamily="34" charset="0"/>
                <a:ea typeface="Calibri" pitchFamily="34" charset="-122"/>
                <a:cs typeface="Calibri" pitchFamily="34" charset="-120"/>
              </a:rPr>
              <a:t>Breast cancer before?</a:t>
            </a:r>
            <a:endParaRPr lang="en-GB" sz="1800" dirty="0"/>
          </a:p>
          <a:p>
            <a:pPr marL="0" indent="0" algn="l">
              <a:lnSpc>
                <a:spcPct val="95000"/>
              </a:lnSpc>
              <a:spcAft>
                <a:spcPts val="300"/>
              </a:spcAft>
              <a:buNone/>
            </a:pPr>
            <a:r>
              <a:rPr lang="en-GB" sz="1800" dirty="0">
                <a:solidFill>
                  <a:srgbClr val="0B1F3F"/>
                </a:solidFill>
                <a:latin typeface="Calibri" pitchFamily="34" charset="0"/>
                <a:ea typeface="Calibri" pitchFamily="34" charset="-122"/>
                <a:cs typeface="Calibri" pitchFamily="34" charset="-120"/>
              </a:rPr>
              <a:t>Has she ever been treated for breast cancer?</a:t>
            </a:r>
            <a:endParaRPr lang="en-GB" sz="1800" dirty="0"/>
          </a:p>
        </p:txBody>
      </p:sp>
      <p:sp>
        <p:nvSpPr>
          <p:cNvPr id="164" name="Shape 164"/>
          <p:cNvSpPr/>
          <p:nvPr/>
        </p:nvSpPr>
        <p:spPr>
          <a:xfrm>
            <a:off x="8115604" y="3145000"/>
            <a:ext cx="3527450" cy="1810000"/>
          </a:xfrm>
          <a:prstGeom prst="roundRect">
            <a:avLst>
              <a:gd name="adj" fmla="val 3500"/>
            </a:avLst>
          </a:prstGeom>
          <a:solidFill>
            <a:srgbClr val="F4F8FC"/>
          </a:solidFill>
          <a:ln w="12700">
            <a:solidFill>
              <a:srgbClr val="C8D8EC"/>
            </a:solidFill>
            <a:prstDash val="solid"/>
          </a:ln>
        </p:spPr>
        <p:txBody>
          <a:bodyPr wrap="square" lIns="91440" tIns="45720" rIns="91440" bIns="45720" rtlCol="0" anchor="ctr"/>
          <a:lstStyle/>
          <a:p>
            <a:endParaRPr lang="en-GB" dirty="0"/>
          </a:p>
        </p:txBody>
      </p:sp>
      <p:sp>
        <p:nvSpPr>
          <p:cNvPr id="165" name="Text 165"/>
          <p:cNvSpPr txBox="1"/>
          <p:nvPr/>
        </p:nvSpPr>
        <p:spPr>
          <a:xfrm>
            <a:off x="8280196" y="3263872"/>
            <a:ext cx="3198266" cy="1600000"/>
          </a:xfrm>
          <a:prstGeom prst="rect">
            <a:avLst/>
          </a:prstGeom>
          <a:noFill/>
          <a:ln/>
        </p:spPr>
        <p:txBody>
          <a:bodyPr wrap="square" lIns="0" tIns="0" rIns="0" bIns="0" rtlCol="0" anchor="t"/>
          <a:lstStyle/>
          <a:p>
            <a:pPr marL="0" indent="0" algn="l">
              <a:lnSpc>
                <a:spcPct val="95000"/>
              </a:lnSpc>
              <a:spcAft>
                <a:spcPts val="400"/>
              </a:spcAft>
              <a:buNone/>
            </a:pPr>
            <a:r>
              <a:rPr lang="en-GB" sz="1800" b="1" dirty="0">
                <a:solidFill>
                  <a:srgbClr val="12315B"/>
                </a:solidFill>
                <a:latin typeface="Calibri" pitchFamily="34" charset="0"/>
                <a:ea typeface="Calibri" pitchFamily="34" charset="-122"/>
                <a:cs typeface="Calibri" pitchFamily="34" charset="-120"/>
              </a:rPr>
              <a:t>Family history?</a:t>
            </a:r>
            <a:endParaRPr lang="en-GB" sz="1800" dirty="0"/>
          </a:p>
          <a:p>
            <a:pPr marL="0" indent="0" algn="l">
              <a:lnSpc>
                <a:spcPct val="95000"/>
              </a:lnSpc>
              <a:spcAft>
                <a:spcPts val="300"/>
              </a:spcAft>
              <a:buNone/>
            </a:pPr>
            <a:r>
              <a:rPr lang="en-GB" sz="1800" dirty="0">
                <a:solidFill>
                  <a:srgbClr val="0B1F3F"/>
                </a:solidFill>
                <a:latin typeface="Calibri" pitchFamily="34" charset="0"/>
                <a:ea typeface="Calibri" pitchFamily="34" charset="-122"/>
                <a:cs typeface="Calibri" pitchFamily="34" charset="-120"/>
              </a:rPr>
              <a:t>Breast or ovarian cancer in close relatives, and at what age?</a:t>
            </a:r>
            <a:endParaRPr lang="en-GB" sz="1800" dirty="0"/>
          </a:p>
        </p:txBody>
      </p:sp>
      <p:sp>
        <p:nvSpPr>
          <p:cNvPr id="166" name="Shape 166"/>
          <p:cNvSpPr/>
          <p:nvPr/>
        </p:nvSpPr>
        <p:spPr>
          <a:xfrm>
            <a:off x="548640" y="5140000"/>
            <a:ext cx="11094415" cy="1000000"/>
          </a:xfrm>
          <a:prstGeom prst="roundRect">
            <a:avLst>
              <a:gd name="adj" fmla="val 6000"/>
            </a:avLst>
          </a:prstGeom>
          <a:solidFill>
            <a:srgbClr val="FDF1E0"/>
          </a:solidFill>
          <a:ln w="12700">
            <a:solidFill>
              <a:srgbClr val="EFD3AA"/>
            </a:solidFill>
            <a:prstDash val="solid"/>
          </a:ln>
        </p:spPr>
        <p:txBody>
          <a:bodyPr wrap="square" lIns="91440" tIns="45720" rIns="91440" bIns="45720" rtlCol="0" anchor="ctr"/>
          <a:lstStyle/>
          <a:p>
            <a:endParaRPr lang="en-GB" dirty="0"/>
          </a:p>
        </p:txBody>
      </p:sp>
      <p:sp>
        <p:nvSpPr>
          <p:cNvPr id="167" name="Text 167"/>
          <p:cNvSpPr txBox="1"/>
          <p:nvPr/>
        </p:nvSpPr>
        <p:spPr>
          <a:xfrm>
            <a:off x="713232" y="5190000"/>
            <a:ext cx="10765231" cy="900000"/>
          </a:xfrm>
          <a:prstGeom prst="rect">
            <a:avLst/>
          </a:prstGeom>
          <a:noFill/>
          <a:ln/>
        </p:spPr>
        <p:txBody>
          <a:bodyPr wrap="square" lIns="0" tIns="0" rIns="0" bIns="0" rtlCol="0" anchor="ctr"/>
          <a:lstStyle/>
          <a:p>
            <a:pPr marL="0" indent="0" algn="l">
              <a:lnSpc>
                <a:spcPct val="95000"/>
              </a:lnSpc>
              <a:buNone/>
            </a:pPr>
            <a:r>
              <a:rPr lang="en-GB" sz="1800" dirty="0">
                <a:solidFill>
                  <a:srgbClr val="0B1F3F"/>
                </a:solidFill>
                <a:latin typeface="Calibri" pitchFamily="34" charset="0"/>
                <a:ea typeface="Calibri" pitchFamily="34" charset="-122"/>
                <a:cs typeface="Calibri" pitchFamily="34" charset="-120"/>
              </a:rPr>
              <a:t>📋 Record the date she first noticed the change and the date of today’s visit. Together they show how long the diagnosis has been delayed.</a:t>
            </a:r>
            <a:endParaRPr lang="en-GB" sz="1800" dirty="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 name="Text 178"/>
          <p:cNvSpPr txBox="1"/>
          <p:nvPr/>
        </p:nvSpPr>
        <p:spPr>
          <a:xfrm>
            <a:off x="548640" y="274320"/>
            <a:ext cx="11094415" cy="256032"/>
          </a:xfrm>
          <a:prstGeom prst="rect">
            <a:avLst/>
          </a:prstGeom>
          <a:noFill/>
          <a:ln/>
        </p:spPr>
        <p:txBody>
          <a:bodyPr wrap="square" lIns="0" tIns="0" rIns="0" bIns="0" rtlCol="0" anchor="ctr"/>
          <a:lstStyle/>
          <a:p>
            <a:pPr marL="0" indent="0" algn="l">
              <a:lnSpc>
                <a:spcPct val="95000"/>
              </a:lnSpc>
              <a:buNone/>
            </a:pPr>
            <a:r>
              <a:rPr lang="en-GB" sz="1100" b="1" dirty="0">
                <a:solidFill>
                  <a:srgbClr val="5B7699"/>
                </a:solidFill>
                <a:latin typeface="Calibri" pitchFamily="34" charset="0"/>
                <a:ea typeface="Calibri" pitchFamily="34" charset="-122"/>
                <a:cs typeface="Calibri" pitchFamily="34" charset="-120"/>
              </a:rPr>
              <a:t>S E S S I O N   2</a:t>
            </a:r>
            <a:endParaRPr lang="en-GB" sz="1800" dirty="0"/>
          </a:p>
        </p:txBody>
      </p:sp>
      <p:sp>
        <p:nvSpPr>
          <p:cNvPr id="179" name="Text 179"/>
          <p:cNvSpPr txBox="1"/>
          <p:nvPr/>
        </p:nvSpPr>
        <p:spPr>
          <a:xfrm>
            <a:off x="548640" y="566928"/>
            <a:ext cx="11094415" cy="566928"/>
          </a:xfrm>
          <a:prstGeom prst="rect">
            <a:avLst/>
          </a:prstGeom>
          <a:noFill/>
          <a:ln/>
        </p:spPr>
        <p:txBody>
          <a:bodyPr wrap="square" lIns="0" tIns="0" rIns="0" bIns="0" rtlCol="0" anchor="t"/>
          <a:lstStyle/>
          <a:p>
            <a:pPr marL="0" indent="0" algn="l">
              <a:lnSpc>
                <a:spcPct val="95000"/>
              </a:lnSpc>
              <a:buNone/>
            </a:pPr>
            <a:r>
              <a:rPr lang="en-GB" sz="3000" b="1" dirty="0">
                <a:solidFill>
                  <a:srgbClr val="12315B"/>
                </a:solidFill>
                <a:latin typeface="Calibri" pitchFamily="34" charset="0"/>
                <a:ea typeface="Calibri" pitchFamily="34" charset="-122"/>
                <a:cs typeface="Calibri" pitchFamily="34" charset="-120"/>
              </a:rPr>
              <a:t>Know the territory: boundaries and quadrants</a:t>
            </a:r>
            <a:endParaRPr lang="en-GB" sz="1800" dirty="0"/>
          </a:p>
        </p:txBody>
      </p:sp>
      <p:sp>
        <p:nvSpPr>
          <p:cNvPr id="180" name="Text 180"/>
          <p:cNvSpPr txBox="1"/>
          <p:nvPr/>
        </p:nvSpPr>
        <p:spPr>
          <a:xfrm>
            <a:off x="548640" y="6382512"/>
            <a:ext cx="11094415" cy="274320"/>
          </a:xfrm>
          <a:prstGeom prst="rect">
            <a:avLst/>
          </a:prstGeom>
          <a:noFill/>
          <a:ln/>
        </p:spPr>
        <p:txBody>
          <a:bodyPr wrap="square" lIns="0" tIns="0" rIns="0" bIns="0" rtlCol="0" anchor="ctr"/>
          <a:lstStyle/>
          <a:p>
            <a:pPr marL="0" indent="0" algn="l">
              <a:lnSpc>
                <a:spcPct val="95000"/>
              </a:lnSpc>
              <a:buNone/>
            </a:pPr>
            <a:r>
              <a:rPr lang="en-GB" sz="1000" dirty="0">
                <a:solidFill>
                  <a:srgbClr val="5B7699"/>
                </a:solidFill>
                <a:latin typeface="Calibri" pitchFamily="34" charset="0"/>
                <a:ea typeface="Calibri" pitchFamily="34" charset="-122"/>
                <a:cs typeface="Calibri" pitchFamily="34" charset="-120"/>
              </a:rPr>
              <a:t>Breast Cancer  |  Frontline HCP  |  Rwanda Biomedical Centre</a:t>
            </a:r>
            <a:endParaRPr lang="en-GB" sz="1800" dirty="0"/>
          </a:p>
        </p:txBody>
      </p:sp>
      <p:sp>
        <p:nvSpPr>
          <p:cNvPr id="171" name="Shape 171"/>
          <p:cNvSpPr/>
          <p:nvPr/>
        </p:nvSpPr>
        <p:spPr>
          <a:xfrm>
            <a:off x="548640" y="1215000"/>
            <a:ext cx="6650000" cy="1700000"/>
          </a:xfrm>
          <a:prstGeom prst="roundRect">
            <a:avLst>
              <a:gd name="adj" fmla="val 3500"/>
            </a:avLst>
          </a:prstGeom>
          <a:solidFill>
            <a:srgbClr val="F4F8FC"/>
          </a:solidFill>
          <a:ln w="12700">
            <a:solidFill>
              <a:srgbClr val="C8D8EC"/>
            </a:solidFill>
            <a:prstDash val="solid"/>
          </a:ln>
        </p:spPr>
        <p:txBody>
          <a:bodyPr wrap="square" lIns="91440" tIns="45720" rIns="91440" bIns="45720" rtlCol="0" anchor="ctr"/>
          <a:lstStyle/>
          <a:p>
            <a:endParaRPr lang="en-GB" dirty="0"/>
          </a:p>
        </p:txBody>
      </p:sp>
      <p:sp>
        <p:nvSpPr>
          <p:cNvPr id="172" name="Text 172"/>
          <p:cNvSpPr txBox="1"/>
          <p:nvPr/>
        </p:nvSpPr>
        <p:spPr>
          <a:xfrm>
            <a:off x="713232" y="1333872"/>
            <a:ext cx="6320816" cy="1490000"/>
          </a:xfrm>
          <a:prstGeom prst="rect">
            <a:avLst/>
          </a:prstGeom>
          <a:noFill/>
          <a:ln/>
        </p:spPr>
        <p:txBody>
          <a:bodyPr wrap="square" lIns="0" tIns="0" rIns="0" bIns="0" rtlCol="0" anchor="t"/>
          <a:lstStyle/>
          <a:p>
            <a:pPr marL="0" indent="0" algn="l">
              <a:lnSpc>
                <a:spcPct val="95000"/>
              </a:lnSpc>
              <a:spcAft>
                <a:spcPts val="400"/>
              </a:spcAft>
              <a:buNone/>
            </a:pPr>
            <a:r>
              <a:rPr lang="en-GB" sz="1800" b="1" dirty="0">
                <a:solidFill>
                  <a:srgbClr val="12315B"/>
                </a:solidFill>
                <a:latin typeface="Calibri" pitchFamily="34" charset="0"/>
                <a:ea typeface="Calibri" pitchFamily="34" charset="-122"/>
                <a:cs typeface="Calibri" pitchFamily="34" charset="-120"/>
              </a:rPr>
              <a:t>Boundaries of the breast</a:t>
            </a:r>
            <a:endParaRPr lang="en-GB" sz="1800" dirty="0"/>
          </a:p>
          <a:p>
            <a:pPr marL="0" indent="0" algn="l">
              <a:lnSpc>
                <a:spcPct val="95000"/>
              </a:lnSpc>
              <a:spcAft>
                <a:spcPts val="300"/>
              </a:spcAft>
              <a:buNone/>
            </a:pPr>
            <a:r>
              <a:rPr lang="en-GB" sz="1800" dirty="0">
                <a:solidFill>
                  <a:srgbClr val="0B1F3F"/>
                </a:solidFill>
                <a:latin typeface="Calibri" pitchFamily="34" charset="0"/>
                <a:ea typeface="Calibri" pitchFamily="34" charset="-122"/>
                <a:cs typeface="Calibri" pitchFamily="34" charset="-120"/>
              </a:rPr>
              <a:t>Upper: the collarbone.  Lower: the fold under the breast.</a:t>
            </a:r>
            <a:endParaRPr lang="en-GB" sz="1800" dirty="0"/>
          </a:p>
          <a:p>
            <a:pPr marL="0" indent="0" algn="l">
              <a:lnSpc>
                <a:spcPct val="95000"/>
              </a:lnSpc>
              <a:spcAft>
                <a:spcPts val="300"/>
              </a:spcAft>
              <a:buNone/>
            </a:pPr>
            <a:r>
              <a:rPr lang="en-GB" sz="1800" dirty="0">
                <a:solidFill>
                  <a:srgbClr val="0B1F3F"/>
                </a:solidFill>
                <a:latin typeface="Calibri" pitchFamily="34" charset="0"/>
                <a:ea typeface="Calibri" pitchFamily="34" charset="-122"/>
                <a:cs typeface="Calibri" pitchFamily="34" charset="-120"/>
              </a:rPr>
              <a:t>Inner: the middle of the breastbone.  Outer: the mid-axillary line.</a:t>
            </a:r>
            <a:endParaRPr lang="en-GB" sz="1800" dirty="0"/>
          </a:p>
        </p:txBody>
      </p:sp>
      <p:sp>
        <p:nvSpPr>
          <p:cNvPr id="173" name="Shape 173"/>
          <p:cNvSpPr/>
          <p:nvPr/>
        </p:nvSpPr>
        <p:spPr>
          <a:xfrm>
            <a:off x="548640" y="3035000"/>
            <a:ext cx="6650000" cy="1300000"/>
          </a:xfrm>
          <a:prstGeom prst="roundRect">
            <a:avLst>
              <a:gd name="adj" fmla="val 3500"/>
            </a:avLst>
          </a:prstGeom>
          <a:solidFill>
            <a:srgbClr val="F4F8FC"/>
          </a:solidFill>
          <a:ln w="12700">
            <a:solidFill>
              <a:srgbClr val="C8D8EC"/>
            </a:solidFill>
            <a:prstDash val="solid"/>
          </a:ln>
        </p:spPr>
        <p:txBody>
          <a:bodyPr wrap="square" lIns="91440" tIns="45720" rIns="91440" bIns="45720" rtlCol="0" anchor="ctr"/>
          <a:lstStyle/>
          <a:p>
            <a:endParaRPr lang="en-GB" dirty="0"/>
          </a:p>
        </p:txBody>
      </p:sp>
      <p:sp>
        <p:nvSpPr>
          <p:cNvPr id="174" name="Text 174"/>
          <p:cNvSpPr txBox="1"/>
          <p:nvPr/>
        </p:nvSpPr>
        <p:spPr>
          <a:xfrm>
            <a:off x="713232" y="3153872"/>
            <a:ext cx="6320816" cy="1090000"/>
          </a:xfrm>
          <a:prstGeom prst="rect">
            <a:avLst/>
          </a:prstGeom>
          <a:noFill/>
          <a:ln/>
        </p:spPr>
        <p:txBody>
          <a:bodyPr wrap="square" lIns="0" tIns="0" rIns="0" bIns="0" rtlCol="0" anchor="t"/>
          <a:lstStyle/>
          <a:p>
            <a:pPr marL="0" indent="0" algn="l">
              <a:lnSpc>
                <a:spcPct val="95000"/>
              </a:lnSpc>
              <a:spcAft>
                <a:spcPts val="400"/>
              </a:spcAft>
              <a:buNone/>
            </a:pPr>
            <a:r>
              <a:rPr lang="en-GB" sz="1800" b="1" dirty="0">
                <a:solidFill>
                  <a:srgbClr val="12315B"/>
                </a:solidFill>
                <a:latin typeface="Calibri" pitchFamily="34" charset="0"/>
                <a:ea typeface="Calibri" pitchFamily="34" charset="-122"/>
                <a:cs typeface="Calibri" pitchFamily="34" charset="-120"/>
              </a:rPr>
              <a:t>The axillary tail</a:t>
            </a:r>
            <a:endParaRPr lang="en-GB" sz="1800" dirty="0"/>
          </a:p>
          <a:p>
            <a:pPr marL="0" indent="0" algn="l">
              <a:lnSpc>
                <a:spcPct val="95000"/>
              </a:lnSpc>
              <a:spcAft>
                <a:spcPts val="300"/>
              </a:spcAft>
              <a:buNone/>
            </a:pPr>
            <a:r>
              <a:rPr lang="en-GB" sz="1800" dirty="0">
                <a:solidFill>
                  <a:srgbClr val="0B1F3F"/>
                </a:solidFill>
                <a:latin typeface="Calibri" pitchFamily="34" charset="0"/>
                <a:ea typeface="Calibri" pitchFamily="34" charset="-122"/>
                <a:cs typeface="Calibri" pitchFamily="34" charset="-120"/>
              </a:rPr>
              <a:t>Breast tissue extends up into the armpit. Include it in every examination.</a:t>
            </a:r>
            <a:endParaRPr lang="en-GB" sz="1800" dirty="0"/>
          </a:p>
        </p:txBody>
      </p:sp>
      <p:sp>
        <p:nvSpPr>
          <p:cNvPr id="175" name="Shape 175"/>
          <p:cNvSpPr/>
          <p:nvPr/>
        </p:nvSpPr>
        <p:spPr>
          <a:xfrm>
            <a:off x="548640" y="4455000"/>
            <a:ext cx="6650000" cy="1700000"/>
          </a:xfrm>
          <a:prstGeom prst="roundRect">
            <a:avLst>
              <a:gd name="adj" fmla="val 3500"/>
            </a:avLst>
          </a:prstGeom>
          <a:solidFill>
            <a:srgbClr val="F4F8FC"/>
          </a:solidFill>
          <a:ln w="12700">
            <a:solidFill>
              <a:srgbClr val="C8D8EC"/>
            </a:solidFill>
            <a:prstDash val="solid"/>
          </a:ln>
        </p:spPr>
        <p:txBody>
          <a:bodyPr wrap="square" lIns="91440" tIns="45720" rIns="91440" bIns="45720" rtlCol="0" anchor="ctr"/>
          <a:lstStyle/>
          <a:p>
            <a:endParaRPr lang="en-GB" dirty="0"/>
          </a:p>
        </p:txBody>
      </p:sp>
      <p:sp>
        <p:nvSpPr>
          <p:cNvPr id="176" name="Text 176"/>
          <p:cNvSpPr txBox="1"/>
          <p:nvPr/>
        </p:nvSpPr>
        <p:spPr>
          <a:xfrm>
            <a:off x="713232" y="4573872"/>
            <a:ext cx="6320816" cy="1490000"/>
          </a:xfrm>
          <a:prstGeom prst="rect">
            <a:avLst/>
          </a:prstGeom>
          <a:noFill/>
          <a:ln/>
        </p:spPr>
        <p:txBody>
          <a:bodyPr wrap="square" lIns="0" tIns="0" rIns="0" bIns="0" rtlCol="0" anchor="t"/>
          <a:lstStyle/>
          <a:p>
            <a:pPr marL="0" indent="0" algn="l">
              <a:lnSpc>
                <a:spcPct val="95000"/>
              </a:lnSpc>
              <a:spcAft>
                <a:spcPts val="400"/>
              </a:spcAft>
              <a:buNone/>
            </a:pPr>
            <a:r>
              <a:rPr lang="en-GB" sz="1800" b="1" dirty="0">
                <a:solidFill>
                  <a:srgbClr val="12315B"/>
                </a:solidFill>
                <a:latin typeface="Calibri" pitchFamily="34" charset="0"/>
                <a:ea typeface="Calibri" pitchFamily="34" charset="-122"/>
                <a:cs typeface="Calibri" pitchFamily="34" charset="-120"/>
              </a:rPr>
              <a:t>Six areas to name</a:t>
            </a:r>
            <a:endParaRPr lang="en-GB" sz="1800" dirty="0"/>
          </a:p>
          <a:p>
            <a:pPr marL="0" indent="0" algn="l">
              <a:lnSpc>
                <a:spcPct val="95000"/>
              </a:lnSpc>
              <a:spcAft>
                <a:spcPts val="300"/>
              </a:spcAft>
              <a:buNone/>
            </a:pPr>
            <a:r>
              <a:rPr lang="en-GB" sz="1800" dirty="0">
                <a:solidFill>
                  <a:srgbClr val="0B1F3F"/>
                </a:solidFill>
                <a:latin typeface="Calibri" pitchFamily="34" charset="0"/>
                <a:ea typeface="Calibri" pitchFamily="34" charset="-122"/>
                <a:cs typeface="Calibri" pitchFamily="34" charset="-120"/>
              </a:rPr>
              <a:t>Upper outer, upper inner, lower inner and lower outer quadrants; the nipple and areola; and the axillary tail.</a:t>
            </a:r>
            <a:endParaRPr lang="en-GB" sz="1800" dirty="0"/>
          </a:p>
        </p:txBody>
      </p:sp>
      <p:pic>
        <p:nvPicPr>
          <p:cNvPr id="3" name="Imagen 2">
            <a:extLst>
              <a:ext uri="{FF2B5EF4-FFF2-40B4-BE49-F238E27FC236}">
                <a16:creationId xmlns:a16="http://schemas.microsoft.com/office/drawing/2014/main" id="{F421F8C5-3CF8-DC43-869A-00FFFDCED570}"/>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7527824" y="1215000"/>
            <a:ext cx="4279823" cy="4984211"/>
          </a:xfrm>
          <a:prstGeom prst="rect">
            <a:avLst/>
          </a:prstGeom>
        </p:spPr>
      </p:pic>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 name="Text 191"/>
          <p:cNvSpPr txBox="1"/>
          <p:nvPr/>
        </p:nvSpPr>
        <p:spPr>
          <a:xfrm>
            <a:off x="548640" y="274320"/>
            <a:ext cx="11094415" cy="256032"/>
          </a:xfrm>
          <a:prstGeom prst="rect">
            <a:avLst/>
          </a:prstGeom>
          <a:noFill/>
          <a:ln/>
        </p:spPr>
        <p:txBody>
          <a:bodyPr wrap="square" lIns="0" tIns="0" rIns="0" bIns="0" rtlCol="0" anchor="ctr"/>
          <a:lstStyle/>
          <a:p>
            <a:pPr marL="0" indent="0" algn="l">
              <a:lnSpc>
                <a:spcPct val="95000"/>
              </a:lnSpc>
              <a:buNone/>
            </a:pPr>
            <a:r>
              <a:rPr lang="en-GB" sz="1100" b="1" dirty="0">
                <a:solidFill>
                  <a:srgbClr val="5B7699"/>
                </a:solidFill>
                <a:latin typeface="Calibri" pitchFamily="34" charset="0"/>
                <a:ea typeface="Calibri" pitchFamily="34" charset="-122"/>
                <a:cs typeface="Calibri" pitchFamily="34" charset="-120"/>
              </a:rPr>
              <a:t>S E S S I O N   2</a:t>
            </a:r>
            <a:endParaRPr lang="en-GB" sz="1800" dirty="0"/>
          </a:p>
        </p:txBody>
      </p:sp>
      <p:sp>
        <p:nvSpPr>
          <p:cNvPr id="192" name="Text 192"/>
          <p:cNvSpPr txBox="1"/>
          <p:nvPr/>
        </p:nvSpPr>
        <p:spPr>
          <a:xfrm>
            <a:off x="548640" y="566928"/>
            <a:ext cx="11094415" cy="566928"/>
          </a:xfrm>
          <a:prstGeom prst="rect">
            <a:avLst/>
          </a:prstGeom>
          <a:noFill/>
          <a:ln/>
        </p:spPr>
        <p:txBody>
          <a:bodyPr wrap="square" lIns="0" tIns="0" rIns="0" bIns="0" rtlCol="0" anchor="t"/>
          <a:lstStyle/>
          <a:p>
            <a:pPr marL="0" indent="0" algn="l">
              <a:lnSpc>
                <a:spcPct val="95000"/>
              </a:lnSpc>
              <a:buNone/>
            </a:pPr>
            <a:r>
              <a:rPr lang="en-GB" sz="3000" b="1" dirty="0">
                <a:solidFill>
                  <a:srgbClr val="12315B"/>
                </a:solidFill>
                <a:latin typeface="Calibri" pitchFamily="34" charset="0"/>
                <a:ea typeface="Calibri" pitchFamily="34" charset="-122"/>
                <a:cs typeface="Calibri" pitchFamily="34" charset="-120"/>
              </a:rPr>
              <a:t>Describe the location: use a clock face</a:t>
            </a:r>
            <a:endParaRPr lang="en-GB" sz="1800" dirty="0"/>
          </a:p>
        </p:txBody>
      </p:sp>
      <p:sp>
        <p:nvSpPr>
          <p:cNvPr id="193" name="Text 193"/>
          <p:cNvSpPr txBox="1"/>
          <p:nvPr/>
        </p:nvSpPr>
        <p:spPr>
          <a:xfrm>
            <a:off x="548640" y="6382512"/>
            <a:ext cx="11094415" cy="274320"/>
          </a:xfrm>
          <a:prstGeom prst="rect">
            <a:avLst/>
          </a:prstGeom>
          <a:noFill/>
          <a:ln/>
        </p:spPr>
        <p:txBody>
          <a:bodyPr wrap="square" lIns="0" tIns="0" rIns="0" bIns="0" rtlCol="0" anchor="ctr"/>
          <a:lstStyle/>
          <a:p>
            <a:pPr marL="0" indent="0" algn="l">
              <a:lnSpc>
                <a:spcPct val="95000"/>
              </a:lnSpc>
              <a:buNone/>
            </a:pPr>
            <a:r>
              <a:rPr lang="en-GB" sz="1000" dirty="0">
                <a:solidFill>
                  <a:srgbClr val="5B7699"/>
                </a:solidFill>
                <a:latin typeface="Calibri" pitchFamily="34" charset="0"/>
                <a:ea typeface="Calibri" pitchFamily="34" charset="-122"/>
                <a:cs typeface="Calibri" pitchFamily="34" charset="-120"/>
              </a:rPr>
              <a:t>Breast Cancer  |  Frontline HCP  |  Rwanda Biomedical Centre</a:t>
            </a:r>
            <a:endParaRPr lang="en-GB" sz="1800" dirty="0"/>
          </a:p>
        </p:txBody>
      </p:sp>
      <p:sp>
        <p:nvSpPr>
          <p:cNvPr id="181" name="Text 181"/>
          <p:cNvSpPr txBox="1"/>
          <p:nvPr/>
        </p:nvSpPr>
        <p:spPr>
          <a:xfrm>
            <a:off x="548640" y="1215000"/>
            <a:ext cx="11094415" cy="700000"/>
          </a:xfrm>
          <a:prstGeom prst="rect">
            <a:avLst/>
          </a:prstGeom>
          <a:noFill/>
          <a:ln/>
        </p:spPr>
        <p:txBody>
          <a:bodyPr wrap="square" lIns="0" tIns="0" rIns="0" bIns="0" rtlCol="0" anchor="t"/>
          <a:lstStyle/>
          <a:p>
            <a:pPr marL="0" indent="0" algn="l">
              <a:lnSpc>
                <a:spcPct val="95000"/>
              </a:lnSpc>
              <a:buNone/>
            </a:pPr>
            <a:r>
              <a:rPr lang="en-GB" sz="1800" dirty="0">
                <a:solidFill>
                  <a:srgbClr val="1F3A63"/>
                </a:solidFill>
                <a:latin typeface="Calibri" pitchFamily="34" charset="0"/>
                <a:ea typeface="Calibri" pitchFamily="34" charset="-122"/>
                <a:cs typeface="Calibri" pitchFamily="34" charset="-120"/>
              </a:rPr>
              <a:t>Picture a clock on each breast as you face the person: 12 o’clock at the top, the nipple at the centre. You findings should record the side, the clock position, and the distance from the nipple in centimetres.</a:t>
            </a:r>
            <a:endParaRPr lang="en-GB" sz="1800" dirty="0"/>
          </a:p>
        </p:txBody>
      </p:sp>
      <p:sp>
        <p:nvSpPr>
          <p:cNvPr id="183" name="Shape 183"/>
          <p:cNvSpPr/>
          <p:nvPr/>
        </p:nvSpPr>
        <p:spPr>
          <a:xfrm>
            <a:off x="5948640" y="2020000"/>
            <a:ext cx="5694415" cy="1250000"/>
          </a:xfrm>
          <a:prstGeom prst="roundRect">
            <a:avLst>
              <a:gd name="adj" fmla="val 3500"/>
            </a:avLst>
          </a:prstGeom>
          <a:solidFill>
            <a:srgbClr val="FFF7E6"/>
          </a:solidFill>
          <a:ln w="12700">
            <a:solidFill>
              <a:srgbClr val="EFD3AA"/>
            </a:solidFill>
            <a:prstDash val="solid"/>
          </a:ln>
        </p:spPr>
        <p:txBody>
          <a:bodyPr wrap="square" lIns="91440" tIns="45720" rIns="91440" bIns="45720" rtlCol="0" anchor="ctr"/>
          <a:lstStyle/>
          <a:p>
            <a:endParaRPr lang="en-GB" dirty="0"/>
          </a:p>
        </p:txBody>
      </p:sp>
      <p:sp>
        <p:nvSpPr>
          <p:cNvPr id="184" name="Text 184"/>
          <p:cNvSpPr txBox="1"/>
          <p:nvPr/>
        </p:nvSpPr>
        <p:spPr>
          <a:xfrm>
            <a:off x="6113232" y="2138872"/>
            <a:ext cx="5365231" cy="1040000"/>
          </a:xfrm>
          <a:prstGeom prst="rect">
            <a:avLst/>
          </a:prstGeom>
          <a:noFill/>
          <a:ln/>
        </p:spPr>
        <p:txBody>
          <a:bodyPr wrap="square" lIns="0" tIns="0" rIns="0" bIns="0" rtlCol="0" anchor="t"/>
          <a:lstStyle/>
          <a:p>
            <a:pPr marL="0" indent="0" algn="l">
              <a:lnSpc>
                <a:spcPct val="95000"/>
              </a:lnSpc>
              <a:spcAft>
                <a:spcPts val="400"/>
              </a:spcAft>
              <a:buNone/>
            </a:pPr>
            <a:r>
              <a:rPr lang="en-GB" sz="1800" b="1" dirty="0">
                <a:solidFill>
                  <a:srgbClr val="12315B"/>
                </a:solidFill>
                <a:latin typeface="Calibri" pitchFamily="34" charset="0"/>
                <a:ea typeface="Calibri" pitchFamily="34" charset="-122"/>
                <a:cs typeface="Calibri" pitchFamily="34" charset="-120"/>
              </a:rPr>
              <a:t>🔎 Examples</a:t>
            </a:r>
            <a:endParaRPr lang="en-GB" sz="1800" dirty="0"/>
          </a:p>
          <a:p>
            <a:pPr marL="0" indent="0" algn="l">
              <a:lnSpc>
                <a:spcPct val="95000"/>
              </a:lnSpc>
              <a:spcAft>
                <a:spcPts val="300"/>
              </a:spcAft>
              <a:buNone/>
            </a:pPr>
            <a:r>
              <a:rPr lang="en-GB" sz="1800" dirty="0">
                <a:solidFill>
                  <a:srgbClr val="0B1F3F"/>
                </a:solidFill>
                <a:latin typeface="Calibri" pitchFamily="34" charset="0"/>
                <a:ea typeface="Calibri" pitchFamily="34" charset="-122"/>
                <a:cs typeface="Calibri" pitchFamily="34" charset="-120"/>
              </a:rPr>
              <a:t>Look at the image. Look at Mass A and Mass B locations.</a:t>
            </a:r>
            <a:endParaRPr lang="en-GB" sz="1800" dirty="0"/>
          </a:p>
        </p:txBody>
      </p:sp>
      <p:sp>
        <p:nvSpPr>
          <p:cNvPr id="185" name="Shape 185"/>
          <p:cNvSpPr/>
          <p:nvPr/>
        </p:nvSpPr>
        <p:spPr>
          <a:xfrm>
            <a:off x="5948640" y="3370000"/>
            <a:ext cx="2787207" cy="1500000"/>
          </a:xfrm>
          <a:prstGeom prst="roundRect">
            <a:avLst>
              <a:gd name="adj" fmla="val 3500"/>
            </a:avLst>
          </a:prstGeom>
          <a:solidFill>
            <a:srgbClr val="EAF5EF"/>
          </a:solidFill>
          <a:ln w="12700">
            <a:solidFill>
              <a:srgbClr val="8FC4A9"/>
            </a:solidFill>
            <a:prstDash val="solid"/>
          </a:ln>
        </p:spPr>
        <p:txBody>
          <a:bodyPr wrap="square" lIns="91440" tIns="45720" rIns="91440" bIns="45720" rtlCol="0" anchor="ctr"/>
          <a:lstStyle/>
          <a:p>
            <a:endParaRPr lang="en-GB" dirty="0"/>
          </a:p>
        </p:txBody>
      </p:sp>
      <p:sp>
        <p:nvSpPr>
          <p:cNvPr id="186" name="Text 186"/>
          <p:cNvSpPr txBox="1"/>
          <p:nvPr/>
        </p:nvSpPr>
        <p:spPr>
          <a:xfrm>
            <a:off x="6113232" y="3488872"/>
            <a:ext cx="2458023" cy="1290000"/>
          </a:xfrm>
          <a:prstGeom prst="rect">
            <a:avLst/>
          </a:prstGeom>
          <a:noFill/>
          <a:ln/>
        </p:spPr>
        <p:txBody>
          <a:bodyPr wrap="square" lIns="0" tIns="0" rIns="0" bIns="0" rtlCol="0" anchor="t"/>
          <a:lstStyle/>
          <a:p>
            <a:pPr marL="0" indent="0" algn="l">
              <a:lnSpc>
                <a:spcPct val="95000"/>
              </a:lnSpc>
              <a:spcAft>
                <a:spcPts val="400"/>
              </a:spcAft>
              <a:buNone/>
            </a:pPr>
            <a:r>
              <a:rPr lang="en-GB" sz="1800" b="1" dirty="0">
                <a:solidFill>
                  <a:srgbClr val="1B6E4A"/>
                </a:solidFill>
                <a:latin typeface="Calibri" pitchFamily="34" charset="0"/>
                <a:ea typeface="Calibri" pitchFamily="34" charset="-122"/>
                <a:cs typeface="Calibri" pitchFamily="34" charset="-120"/>
              </a:rPr>
              <a:t>Mass A</a:t>
            </a:r>
            <a:endParaRPr lang="en-GB" sz="1800" dirty="0"/>
          </a:p>
          <a:p>
            <a:pPr marL="0" indent="0" algn="l">
              <a:lnSpc>
                <a:spcPct val="95000"/>
              </a:lnSpc>
              <a:spcAft>
                <a:spcPts val="300"/>
              </a:spcAft>
              <a:buNone/>
            </a:pPr>
            <a:r>
              <a:rPr lang="en-GB" sz="1800" dirty="0">
                <a:solidFill>
                  <a:srgbClr val="0B1F3F"/>
                </a:solidFill>
                <a:latin typeface="Calibri" pitchFamily="34" charset="0"/>
                <a:ea typeface="Calibri" pitchFamily="34" charset="-122"/>
                <a:cs typeface="Calibri" pitchFamily="34" charset="-120"/>
              </a:rPr>
              <a:t>Right breast, 10 o’clock, 3 cm from the nipple. Upper outer quadrant.</a:t>
            </a:r>
            <a:endParaRPr lang="en-GB" sz="1800" dirty="0"/>
          </a:p>
        </p:txBody>
      </p:sp>
      <p:sp>
        <p:nvSpPr>
          <p:cNvPr id="187" name="Shape 187"/>
          <p:cNvSpPr/>
          <p:nvPr/>
        </p:nvSpPr>
        <p:spPr>
          <a:xfrm>
            <a:off x="8855847" y="3370000"/>
            <a:ext cx="2787207" cy="1500000"/>
          </a:xfrm>
          <a:prstGeom prst="roundRect">
            <a:avLst>
              <a:gd name="adj" fmla="val 3500"/>
            </a:avLst>
          </a:prstGeom>
          <a:solidFill>
            <a:srgbClr val="EAF5EF"/>
          </a:solidFill>
          <a:ln w="12700">
            <a:solidFill>
              <a:srgbClr val="8FC4A9"/>
            </a:solidFill>
            <a:prstDash val="solid"/>
          </a:ln>
        </p:spPr>
        <p:txBody>
          <a:bodyPr wrap="square" lIns="91440" tIns="45720" rIns="91440" bIns="45720" rtlCol="0" anchor="ctr"/>
          <a:lstStyle/>
          <a:p>
            <a:endParaRPr lang="en-GB" dirty="0"/>
          </a:p>
        </p:txBody>
      </p:sp>
      <p:sp>
        <p:nvSpPr>
          <p:cNvPr id="188" name="Text 188"/>
          <p:cNvSpPr txBox="1"/>
          <p:nvPr/>
        </p:nvSpPr>
        <p:spPr>
          <a:xfrm>
            <a:off x="9020439" y="3488872"/>
            <a:ext cx="2458023" cy="1290000"/>
          </a:xfrm>
          <a:prstGeom prst="rect">
            <a:avLst/>
          </a:prstGeom>
          <a:noFill/>
          <a:ln/>
        </p:spPr>
        <p:txBody>
          <a:bodyPr wrap="square" lIns="0" tIns="0" rIns="0" bIns="0" rtlCol="0" anchor="t"/>
          <a:lstStyle/>
          <a:p>
            <a:pPr marL="0" indent="0" algn="l">
              <a:lnSpc>
                <a:spcPct val="95000"/>
              </a:lnSpc>
              <a:spcAft>
                <a:spcPts val="400"/>
              </a:spcAft>
              <a:buNone/>
            </a:pPr>
            <a:r>
              <a:rPr lang="en-GB" sz="1800" b="1" dirty="0">
                <a:solidFill>
                  <a:srgbClr val="1B6E4A"/>
                </a:solidFill>
                <a:latin typeface="Calibri" pitchFamily="34" charset="0"/>
                <a:ea typeface="Calibri" pitchFamily="34" charset="-122"/>
                <a:cs typeface="Calibri" pitchFamily="34" charset="-120"/>
              </a:rPr>
              <a:t>Mass B</a:t>
            </a:r>
            <a:endParaRPr lang="en-GB" sz="1800" dirty="0"/>
          </a:p>
          <a:p>
            <a:pPr marL="0" indent="0" algn="l">
              <a:lnSpc>
                <a:spcPct val="95000"/>
              </a:lnSpc>
              <a:spcAft>
                <a:spcPts val="300"/>
              </a:spcAft>
              <a:buNone/>
            </a:pPr>
            <a:r>
              <a:rPr lang="en-GB" sz="1800" dirty="0">
                <a:solidFill>
                  <a:srgbClr val="0B1F3F"/>
                </a:solidFill>
                <a:latin typeface="Calibri" pitchFamily="34" charset="0"/>
                <a:ea typeface="Calibri" pitchFamily="34" charset="-122"/>
                <a:cs typeface="Calibri" pitchFamily="34" charset="-120"/>
              </a:rPr>
              <a:t>Left breast, 7 o’clock, 4 cm from the nipple. Lower inner quadrant.</a:t>
            </a:r>
            <a:endParaRPr lang="en-GB" sz="1800" dirty="0"/>
          </a:p>
        </p:txBody>
      </p:sp>
      <p:sp>
        <p:nvSpPr>
          <p:cNvPr id="189" name="Shape 189"/>
          <p:cNvSpPr/>
          <p:nvPr/>
        </p:nvSpPr>
        <p:spPr>
          <a:xfrm>
            <a:off x="5948640" y="4970000"/>
            <a:ext cx="5694415" cy="1200000"/>
          </a:xfrm>
          <a:prstGeom prst="roundRect">
            <a:avLst>
              <a:gd name="adj" fmla="val 3500"/>
            </a:avLst>
          </a:prstGeom>
          <a:solidFill>
            <a:srgbClr val="F4F8FC"/>
          </a:solidFill>
          <a:ln w="12700">
            <a:solidFill>
              <a:srgbClr val="C8D8EC"/>
            </a:solidFill>
            <a:prstDash val="solid"/>
          </a:ln>
        </p:spPr>
        <p:txBody>
          <a:bodyPr wrap="square" lIns="91440" tIns="45720" rIns="91440" bIns="45720" rtlCol="0" anchor="ctr"/>
          <a:lstStyle/>
          <a:p>
            <a:endParaRPr lang="en-GB" dirty="0"/>
          </a:p>
        </p:txBody>
      </p:sp>
      <p:sp>
        <p:nvSpPr>
          <p:cNvPr id="190" name="Text 190"/>
          <p:cNvSpPr txBox="1"/>
          <p:nvPr/>
        </p:nvSpPr>
        <p:spPr>
          <a:xfrm>
            <a:off x="6113232" y="5088872"/>
            <a:ext cx="5365231" cy="990000"/>
          </a:xfrm>
          <a:prstGeom prst="rect">
            <a:avLst/>
          </a:prstGeom>
          <a:noFill/>
          <a:ln/>
        </p:spPr>
        <p:txBody>
          <a:bodyPr wrap="square" lIns="0" tIns="0" rIns="0" bIns="0" rtlCol="0" anchor="t"/>
          <a:lstStyle/>
          <a:p>
            <a:pPr marL="0" indent="0" algn="l">
              <a:lnSpc>
                <a:spcPct val="95000"/>
              </a:lnSpc>
              <a:spcAft>
                <a:spcPts val="300"/>
              </a:spcAft>
              <a:buNone/>
            </a:pPr>
            <a:r>
              <a:rPr lang="en-GB" sz="1600" dirty="0">
                <a:solidFill>
                  <a:srgbClr val="0B1F3F"/>
                </a:solidFill>
                <a:latin typeface="Calibri" pitchFamily="34" charset="0"/>
                <a:ea typeface="Calibri" pitchFamily="34" charset="-122"/>
                <a:cs typeface="Calibri" pitchFamily="34" charset="-120"/>
              </a:rPr>
              <a:t>Because you face the person, the same clock position points to a different quadrant on each side. The clock and the distance let the next clinician find the same spot.</a:t>
            </a:r>
            <a:endParaRPr lang="en-GB" sz="1600" dirty="0"/>
          </a:p>
        </p:txBody>
      </p:sp>
      <p:pic>
        <p:nvPicPr>
          <p:cNvPr id="3" name="Imagen 2">
            <a:extLst>
              <a:ext uri="{FF2B5EF4-FFF2-40B4-BE49-F238E27FC236}">
                <a16:creationId xmlns:a16="http://schemas.microsoft.com/office/drawing/2014/main" id="{99E06628-6E2D-0DCD-C267-B38B32714654}"/>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335160" y="2437342"/>
            <a:ext cx="5531184" cy="3091666"/>
          </a:xfrm>
          <a:prstGeom prst="rect">
            <a:avLst/>
          </a:prstGeom>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 name="Text 208"/>
          <p:cNvSpPr txBox="1"/>
          <p:nvPr/>
        </p:nvSpPr>
        <p:spPr>
          <a:xfrm>
            <a:off x="548640" y="274320"/>
            <a:ext cx="11094415" cy="256032"/>
          </a:xfrm>
          <a:prstGeom prst="rect">
            <a:avLst/>
          </a:prstGeom>
          <a:noFill/>
          <a:ln/>
        </p:spPr>
        <p:txBody>
          <a:bodyPr wrap="square" lIns="0" tIns="0" rIns="0" bIns="0" rtlCol="0" anchor="ctr"/>
          <a:lstStyle/>
          <a:p>
            <a:pPr marL="0" indent="0" algn="l">
              <a:lnSpc>
                <a:spcPct val="95000"/>
              </a:lnSpc>
              <a:buNone/>
            </a:pPr>
            <a:r>
              <a:rPr lang="en-GB" sz="1100" b="1" dirty="0">
                <a:solidFill>
                  <a:srgbClr val="5B7699"/>
                </a:solidFill>
                <a:latin typeface="Calibri" pitchFamily="34" charset="0"/>
                <a:ea typeface="Calibri" pitchFamily="34" charset="-122"/>
                <a:cs typeface="Calibri" pitchFamily="34" charset="-120"/>
              </a:rPr>
              <a:t>S E S S I O N   2</a:t>
            </a:r>
            <a:endParaRPr lang="en-GB" sz="1800" dirty="0"/>
          </a:p>
        </p:txBody>
      </p:sp>
      <p:sp>
        <p:nvSpPr>
          <p:cNvPr id="209" name="Text 209"/>
          <p:cNvSpPr txBox="1"/>
          <p:nvPr/>
        </p:nvSpPr>
        <p:spPr>
          <a:xfrm>
            <a:off x="548640" y="566928"/>
            <a:ext cx="11094415" cy="566928"/>
          </a:xfrm>
          <a:prstGeom prst="rect">
            <a:avLst/>
          </a:prstGeom>
          <a:noFill/>
          <a:ln/>
        </p:spPr>
        <p:txBody>
          <a:bodyPr wrap="square" lIns="0" tIns="0" rIns="0" bIns="0" rtlCol="0" anchor="t"/>
          <a:lstStyle/>
          <a:p>
            <a:pPr marL="0" indent="0" algn="l">
              <a:lnSpc>
                <a:spcPct val="95000"/>
              </a:lnSpc>
              <a:buNone/>
            </a:pPr>
            <a:r>
              <a:rPr lang="en-GB" sz="3000" b="1" dirty="0">
                <a:solidFill>
                  <a:srgbClr val="12315B"/>
                </a:solidFill>
                <a:latin typeface="Calibri" pitchFamily="34" charset="0"/>
                <a:ea typeface="Calibri" pitchFamily="34" charset="-122"/>
                <a:cs typeface="Calibri" pitchFamily="34" charset="-120"/>
              </a:rPr>
              <a:t>Step 1: Prepare the person</a:t>
            </a:r>
            <a:endParaRPr lang="en-GB" sz="1800" dirty="0"/>
          </a:p>
        </p:txBody>
      </p:sp>
      <p:sp>
        <p:nvSpPr>
          <p:cNvPr id="210" name="Text 210"/>
          <p:cNvSpPr txBox="1"/>
          <p:nvPr/>
        </p:nvSpPr>
        <p:spPr>
          <a:xfrm>
            <a:off x="548640" y="6382512"/>
            <a:ext cx="11094415" cy="274320"/>
          </a:xfrm>
          <a:prstGeom prst="rect">
            <a:avLst/>
          </a:prstGeom>
          <a:noFill/>
          <a:ln/>
        </p:spPr>
        <p:txBody>
          <a:bodyPr wrap="square" lIns="0" tIns="0" rIns="0" bIns="0" rtlCol="0" anchor="ctr"/>
          <a:lstStyle/>
          <a:p>
            <a:pPr marL="0" indent="0" algn="l">
              <a:lnSpc>
                <a:spcPct val="95000"/>
              </a:lnSpc>
              <a:buNone/>
            </a:pPr>
            <a:r>
              <a:rPr lang="en-GB" sz="1000" dirty="0">
                <a:solidFill>
                  <a:srgbClr val="5B7699"/>
                </a:solidFill>
                <a:latin typeface="Calibri" pitchFamily="34" charset="0"/>
                <a:ea typeface="Calibri" pitchFamily="34" charset="-122"/>
                <a:cs typeface="Calibri" pitchFamily="34" charset="-120"/>
              </a:rPr>
              <a:t>Breast Cancer  |  Frontline HCP  |  Rwanda Biomedical Centre</a:t>
            </a:r>
            <a:endParaRPr lang="en-GB" sz="1800" dirty="0"/>
          </a:p>
        </p:txBody>
      </p:sp>
      <p:sp>
        <p:nvSpPr>
          <p:cNvPr id="194" name="Shape 194"/>
          <p:cNvSpPr/>
          <p:nvPr/>
        </p:nvSpPr>
        <p:spPr>
          <a:xfrm>
            <a:off x="548640" y="1215000"/>
            <a:ext cx="11094415" cy="900000"/>
          </a:xfrm>
          <a:prstGeom prst="roundRect">
            <a:avLst>
              <a:gd name="adj" fmla="val 5000"/>
            </a:avLst>
          </a:prstGeom>
          <a:solidFill>
            <a:srgbClr val="F4F8FC"/>
          </a:solidFill>
          <a:ln w="12700">
            <a:solidFill>
              <a:srgbClr val="C8D8EC"/>
            </a:solidFill>
            <a:prstDash val="solid"/>
          </a:ln>
        </p:spPr>
        <p:txBody>
          <a:bodyPr wrap="square" lIns="91440" tIns="45720" rIns="91440" bIns="45720" rtlCol="0" anchor="ctr"/>
          <a:lstStyle/>
          <a:p>
            <a:endParaRPr lang="en-GB" dirty="0"/>
          </a:p>
        </p:txBody>
      </p:sp>
      <p:sp>
        <p:nvSpPr>
          <p:cNvPr id="195" name="Shape 195"/>
          <p:cNvSpPr/>
          <p:nvPr/>
        </p:nvSpPr>
        <p:spPr>
          <a:xfrm>
            <a:off x="678640" y="1365000"/>
            <a:ext cx="460000" cy="460000"/>
          </a:xfrm>
          <a:prstGeom prst="ellipse">
            <a:avLst/>
          </a:prstGeom>
          <a:solidFill>
            <a:srgbClr val="12315B"/>
          </a:solidFill>
          <a:ln>
            <a:noFill/>
          </a:ln>
        </p:spPr>
        <p:txBody>
          <a:bodyPr wrap="square" lIns="0" tIns="0" rIns="0" bIns="0" rtlCol="0" anchor="ctr"/>
          <a:lstStyle/>
          <a:p>
            <a:pPr marL="0" indent="0" algn="ctr">
              <a:lnSpc>
                <a:spcPct val="95000"/>
              </a:lnSpc>
              <a:buNone/>
            </a:pPr>
            <a:r>
              <a:rPr lang="en-GB" sz="1800" b="1" dirty="0">
                <a:solidFill>
                  <a:srgbClr val="FFFFFF"/>
                </a:solidFill>
                <a:latin typeface="Calibri" pitchFamily="34" charset="0"/>
                <a:ea typeface="Calibri" pitchFamily="34" charset="-122"/>
                <a:cs typeface="Calibri" pitchFamily="34" charset="-120"/>
              </a:rPr>
              <a:t>1</a:t>
            </a:r>
            <a:endParaRPr lang="en-GB" sz="1800" dirty="0"/>
          </a:p>
        </p:txBody>
      </p:sp>
      <p:sp>
        <p:nvSpPr>
          <p:cNvPr id="196" name="Text 196"/>
          <p:cNvSpPr txBox="1"/>
          <p:nvPr/>
        </p:nvSpPr>
        <p:spPr>
          <a:xfrm>
            <a:off x="1268640" y="1315000"/>
            <a:ext cx="10244415" cy="730000"/>
          </a:xfrm>
          <a:prstGeom prst="rect">
            <a:avLst/>
          </a:prstGeom>
          <a:noFill/>
          <a:ln/>
        </p:spPr>
        <p:txBody>
          <a:bodyPr wrap="square" lIns="0" tIns="0" rIns="0" bIns="0" rtlCol="0" anchor="ctr"/>
          <a:lstStyle/>
          <a:p>
            <a:pPr marL="0" indent="0" algn="l">
              <a:lnSpc>
                <a:spcPct val="95000"/>
              </a:lnSpc>
              <a:buNone/>
            </a:pPr>
            <a:r>
              <a:rPr lang="en-GB" sz="1800" b="1" dirty="0">
                <a:solidFill>
                  <a:srgbClr val="12315B"/>
                </a:solidFill>
                <a:latin typeface="Calibri" pitchFamily="34" charset="0"/>
                <a:ea typeface="Calibri" pitchFamily="34" charset="-122"/>
                <a:cs typeface="Calibri" pitchFamily="34" charset="-120"/>
              </a:rPr>
              <a:t>Kindness and respect: </a:t>
            </a:r>
            <a:r>
              <a:rPr lang="en-GB" sz="1800" dirty="0">
                <a:solidFill>
                  <a:srgbClr val="0B1F3F"/>
                </a:solidFill>
                <a:latin typeface="Calibri" pitchFamily="34" charset="0"/>
                <a:ea typeface="Calibri" pitchFamily="34" charset="-122"/>
                <a:cs typeface="Calibri" pitchFamily="34" charset="-120"/>
              </a:rPr>
              <a:t>Greet her, explain why the examination matters and what you will do, and ask if she has any questions.</a:t>
            </a:r>
            <a:endParaRPr lang="en-GB" sz="1800" dirty="0"/>
          </a:p>
        </p:txBody>
      </p:sp>
      <p:sp>
        <p:nvSpPr>
          <p:cNvPr id="197" name="Shape 197"/>
          <p:cNvSpPr/>
          <p:nvPr/>
        </p:nvSpPr>
        <p:spPr>
          <a:xfrm>
            <a:off x="548640" y="2215000"/>
            <a:ext cx="11094415" cy="900000"/>
          </a:xfrm>
          <a:prstGeom prst="roundRect">
            <a:avLst>
              <a:gd name="adj" fmla="val 5000"/>
            </a:avLst>
          </a:prstGeom>
          <a:solidFill>
            <a:srgbClr val="F4F8FC"/>
          </a:solidFill>
          <a:ln w="12700">
            <a:solidFill>
              <a:srgbClr val="C8D8EC"/>
            </a:solidFill>
            <a:prstDash val="solid"/>
          </a:ln>
        </p:spPr>
        <p:txBody>
          <a:bodyPr wrap="square" lIns="91440" tIns="45720" rIns="91440" bIns="45720" rtlCol="0" anchor="ctr"/>
          <a:lstStyle/>
          <a:p>
            <a:endParaRPr lang="en-GB" dirty="0"/>
          </a:p>
        </p:txBody>
      </p:sp>
      <p:sp>
        <p:nvSpPr>
          <p:cNvPr id="198" name="Shape 198"/>
          <p:cNvSpPr/>
          <p:nvPr/>
        </p:nvSpPr>
        <p:spPr>
          <a:xfrm>
            <a:off x="678640" y="2365000"/>
            <a:ext cx="460000" cy="460000"/>
          </a:xfrm>
          <a:prstGeom prst="ellipse">
            <a:avLst/>
          </a:prstGeom>
          <a:solidFill>
            <a:srgbClr val="12315B"/>
          </a:solidFill>
          <a:ln>
            <a:noFill/>
          </a:ln>
        </p:spPr>
        <p:txBody>
          <a:bodyPr wrap="square" lIns="0" tIns="0" rIns="0" bIns="0" rtlCol="0" anchor="ctr"/>
          <a:lstStyle/>
          <a:p>
            <a:pPr marL="0" indent="0" algn="ctr">
              <a:lnSpc>
                <a:spcPct val="95000"/>
              </a:lnSpc>
              <a:buNone/>
            </a:pPr>
            <a:r>
              <a:rPr lang="en-GB" sz="1800" b="1" dirty="0">
                <a:solidFill>
                  <a:srgbClr val="FFFFFF"/>
                </a:solidFill>
                <a:latin typeface="Calibri" pitchFamily="34" charset="0"/>
                <a:ea typeface="Calibri" pitchFamily="34" charset="-122"/>
                <a:cs typeface="Calibri" pitchFamily="34" charset="-120"/>
              </a:rPr>
              <a:t>2</a:t>
            </a:r>
            <a:endParaRPr lang="en-GB" sz="1800" dirty="0"/>
          </a:p>
        </p:txBody>
      </p:sp>
      <p:sp>
        <p:nvSpPr>
          <p:cNvPr id="199" name="Text 199"/>
          <p:cNvSpPr txBox="1"/>
          <p:nvPr/>
        </p:nvSpPr>
        <p:spPr>
          <a:xfrm>
            <a:off x="1268640" y="2315000"/>
            <a:ext cx="10244415" cy="730000"/>
          </a:xfrm>
          <a:prstGeom prst="rect">
            <a:avLst/>
          </a:prstGeom>
          <a:noFill/>
          <a:ln/>
        </p:spPr>
        <p:txBody>
          <a:bodyPr wrap="square" lIns="0" tIns="0" rIns="0" bIns="0" rtlCol="0" anchor="ctr"/>
          <a:lstStyle/>
          <a:p>
            <a:pPr marL="0" indent="0" algn="l">
              <a:lnSpc>
                <a:spcPct val="95000"/>
              </a:lnSpc>
              <a:buNone/>
            </a:pPr>
            <a:r>
              <a:rPr lang="en-GB" sz="1800" b="1" dirty="0">
                <a:solidFill>
                  <a:srgbClr val="12315B"/>
                </a:solidFill>
                <a:latin typeface="Calibri" pitchFamily="34" charset="0"/>
                <a:ea typeface="Calibri" pitchFamily="34" charset="-122"/>
                <a:cs typeface="Calibri" pitchFamily="34" charset="-120"/>
              </a:rPr>
              <a:t>Privacy: </a:t>
            </a:r>
            <a:r>
              <a:rPr lang="en-GB" sz="1800" dirty="0">
                <a:solidFill>
                  <a:srgbClr val="0B1F3F"/>
                </a:solidFill>
                <a:latin typeface="Calibri" pitchFamily="34" charset="0"/>
                <a:ea typeface="Calibri" pitchFamily="34" charset="-122"/>
                <a:cs typeface="Calibri" pitchFamily="34" charset="-120"/>
              </a:rPr>
              <a:t>Use a private room, close the door or curtain, and offer a chaperone. Offer a female health worker if she prefers.</a:t>
            </a:r>
            <a:endParaRPr lang="en-GB" sz="1800" dirty="0"/>
          </a:p>
        </p:txBody>
      </p:sp>
      <p:sp>
        <p:nvSpPr>
          <p:cNvPr id="200" name="Shape 200"/>
          <p:cNvSpPr/>
          <p:nvPr/>
        </p:nvSpPr>
        <p:spPr>
          <a:xfrm>
            <a:off x="548640" y="3215000"/>
            <a:ext cx="11094415" cy="900000"/>
          </a:xfrm>
          <a:prstGeom prst="roundRect">
            <a:avLst>
              <a:gd name="adj" fmla="val 5000"/>
            </a:avLst>
          </a:prstGeom>
          <a:solidFill>
            <a:srgbClr val="F4F8FC"/>
          </a:solidFill>
          <a:ln w="12700">
            <a:solidFill>
              <a:srgbClr val="C8D8EC"/>
            </a:solidFill>
            <a:prstDash val="solid"/>
          </a:ln>
        </p:spPr>
        <p:txBody>
          <a:bodyPr wrap="square" lIns="91440" tIns="45720" rIns="91440" bIns="45720" rtlCol="0" anchor="ctr"/>
          <a:lstStyle/>
          <a:p>
            <a:endParaRPr lang="en-GB" dirty="0"/>
          </a:p>
        </p:txBody>
      </p:sp>
      <p:sp>
        <p:nvSpPr>
          <p:cNvPr id="201" name="Shape 201"/>
          <p:cNvSpPr/>
          <p:nvPr/>
        </p:nvSpPr>
        <p:spPr>
          <a:xfrm>
            <a:off x="678640" y="3365000"/>
            <a:ext cx="460000" cy="460000"/>
          </a:xfrm>
          <a:prstGeom prst="ellipse">
            <a:avLst/>
          </a:prstGeom>
          <a:solidFill>
            <a:srgbClr val="12315B"/>
          </a:solidFill>
          <a:ln>
            <a:noFill/>
          </a:ln>
        </p:spPr>
        <p:txBody>
          <a:bodyPr wrap="square" lIns="0" tIns="0" rIns="0" bIns="0" rtlCol="0" anchor="ctr"/>
          <a:lstStyle/>
          <a:p>
            <a:pPr marL="0" indent="0" algn="ctr">
              <a:lnSpc>
                <a:spcPct val="95000"/>
              </a:lnSpc>
              <a:buNone/>
            </a:pPr>
            <a:r>
              <a:rPr lang="en-GB" sz="1800" b="1" dirty="0">
                <a:solidFill>
                  <a:srgbClr val="FFFFFF"/>
                </a:solidFill>
                <a:latin typeface="Calibri" pitchFamily="34" charset="0"/>
                <a:ea typeface="Calibri" pitchFamily="34" charset="-122"/>
                <a:cs typeface="Calibri" pitchFamily="34" charset="-120"/>
              </a:rPr>
              <a:t>3</a:t>
            </a:r>
            <a:endParaRPr lang="en-GB" sz="1800" dirty="0"/>
          </a:p>
        </p:txBody>
      </p:sp>
      <p:sp>
        <p:nvSpPr>
          <p:cNvPr id="202" name="Text 202"/>
          <p:cNvSpPr txBox="1"/>
          <p:nvPr/>
        </p:nvSpPr>
        <p:spPr>
          <a:xfrm>
            <a:off x="1268640" y="3315000"/>
            <a:ext cx="10244415" cy="730000"/>
          </a:xfrm>
          <a:prstGeom prst="rect">
            <a:avLst/>
          </a:prstGeom>
          <a:noFill/>
          <a:ln/>
        </p:spPr>
        <p:txBody>
          <a:bodyPr wrap="square" lIns="0" tIns="0" rIns="0" bIns="0" rtlCol="0" anchor="ctr"/>
          <a:lstStyle/>
          <a:p>
            <a:pPr marL="0" indent="0" algn="l">
              <a:lnSpc>
                <a:spcPct val="95000"/>
              </a:lnSpc>
              <a:buNone/>
            </a:pPr>
            <a:r>
              <a:rPr lang="en-GB" sz="1800" b="1" dirty="0">
                <a:solidFill>
                  <a:srgbClr val="12315B"/>
                </a:solidFill>
                <a:latin typeface="Calibri" pitchFamily="34" charset="0"/>
                <a:ea typeface="Calibri" pitchFamily="34" charset="-122"/>
                <a:cs typeface="Calibri" pitchFamily="34" charset="-120"/>
              </a:rPr>
              <a:t>Consent: </a:t>
            </a:r>
            <a:r>
              <a:rPr lang="en-GB" sz="1800" dirty="0">
                <a:solidFill>
                  <a:srgbClr val="0B1F3F"/>
                </a:solidFill>
                <a:latin typeface="Calibri" pitchFamily="34" charset="0"/>
                <a:ea typeface="Calibri" pitchFamily="34" charset="-122"/>
                <a:cs typeface="Calibri" pitchFamily="34" charset="-120"/>
              </a:rPr>
              <a:t>Ask her permission before you begin, and tell her she can ask you to stop at any time.</a:t>
            </a:r>
            <a:endParaRPr lang="en-GB" sz="1800" dirty="0"/>
          </a:p>
        </p:txBody>
      </p:sp>
      <p:sp>
        <p:nvSpPr>
          <p:cNvPr id="203" name="Shape 203"/>
          <p:cNvSpPr/>
          <p:nvPr/>
        </p:nvSpPr>
        <p:spPr>
          <a:xfrm>
            <a:off x="548640" y="4215000"/>
            <a:ext cx="11094415" cy="900000"/>
          </a:xfrm>
          <a:prstGeom prst="roundRect">
            <a:avLst>
              <a:gd name="adj" fmla="val 5000"/>
            </a:avLst>
          </a:prstGeom>
          <a:solidFill>
            <a:srgbClr val="F4F8FC"/>
          </a:solidFill>
          <a:ln w="12700">
            <a:solidFill>
              <a:srgbClr val="C8D8EC"/>
            </a:solidFill>
            <a:prstDash val="solid"/>
          </a:ln>
        </p:spPr>
        <p:txBody>
          <a:bodyPr wrap="square" lIns="91440" tIns="45720" rIns="91440" bIns="45720" rtlCol="0" anchor="ctr"/>
          <a:lstStyle/>
          <a:p>
            <a:endParaRPr lang="en-GB" dirty="0"/>
          </a:p>
        </p:txBody>
      </p:sp>
      <p:sp>
        <p:nvSpPr>
          <p:cNvPr id="204" name="Shape 204"/>
          <p:cNvSpPr/>
          <p:nvPr/>
        </p:nvSpPr>
        <p:spPr>
          <a:xfrm>
            <a:off x="678640" y="4365000"/>
            <a:ext cx="460000" cy="460000"/>
          </a:xfrm>
          <a:prstGeom prst="ellipse">
            <a:avLst/>
          </a:prstGeom>
          <a:solidFill>
            <a:srgbClr val="12315B"/>
          </a:solidFill>
          <a:ln>
            <a:noFill/>
          </a:ln>
        </p:spPr>
        <p:txBody>
          <a:bodyPr wrap="square" lIns="0" tIns="0" rIns="0" bIns="0" rtlCol="0" anchor="ctr"/>
          <a:lstStyle/>
          <a:p>
            <a:pPr marL="0" indent="0" algn="ctr">
              <a:lnSpc>
                <a:spcPct val="95000"/>
              </a:lnSpc>
              <a:buNone/>
            </a:pPr>
            <a:r>
              <a:rPr lang="en-GB" sz="1800" b="1" dirty="0">
                <a:solidFill>
                  <a:srgbClr val="FFFFFF"/>
                </a:solidFill>
                <a:latin typeface="Calibri" pitchFamily="34" charset="0"/>
                <a:ea typeface="Calibri" pitchFamily="34" charset="-122"/>
                <a:cs typeface="Calibri" pitchFamily="34" charset="-120"/>
              </a:rPr>
              <a:t>4</a:t>
            </a:r>
            <a:endParaRPr lang="en-GB" sz="1800" dirty="0"/>
          </a:p>
        </p:txBody>
      </p:sp>
      <p:sp>
        <p:nvSpPr>
          <p:cNvPr id="205" name="Text 205"/>
          <p:cNvSpPr txBox="1"/>
          <p:nvPr/>
        </p:nvSpPr>
        <p:spPr>
          <a:xfrm>
            <a:off x="1268640" y="4315000"/>
            <a:ext cx="10244415" cy="730000"/>
          </a:xfrm>
          <a:prstGeom prst="rect">
            <a:avLst/>
          </a:prstGeom>
          <a:noFill/>
          <a:ln/>
        </p:spPr>
        <p:txBody>
          <a:bodyPr wrap="square" lIns="0" tIns="0" rIns="0" bIns="0" rtlCol="0" anchor="ctr"/>
          <a:lstStyle/>
          <a:p>
            <a:pPr marL="0" indent="0" algn="l">
              <a:lnSpc>
                <a:spcPct val="95000"/>
              </a:lnSpc>
              <a:buNone/>
            </a:pPr>
            <a:r>
              <a:rPr lang="en-GB" sz="1800" b="1" dirty="0">
                <a:solidFill>
                  <a:srgbClr val="12315B"/>
                </a:solidFill>
                <a:latin typeface="Calibri" pitchFamily="34" charset="0"/>
                <a:ea typeface="Calibri" pitchFamily="34" charset="-122"/>
                <a:cs typeface="Calibri" pitchFamily="34" charset="-120"/>
              </a:rPr>
              <a:t>What to expect: </a:t>
            </a:r>
            <a:r>
              <a:rPr lang="en-GB" sz="1800" dirty="0">
                <a:solidFill>
                  <a:srgbClr val="0B1F3F"/>
                </a:solidFill>
                <a:latin typeface="Calibri" pitchFamily="34" charset="0"/>
                <a:ea typeface="Calibri" pitchFamily="34" charset="-122"/>
                <a:cs typeface="Calibri" pitchFamily="34" charset="-120"/>
              </a:rPr>
              <a:t>You will examine both breasts and both armpits, first sitting and then lying down. It takes a few minutes.</a:t>
            </a:r>
            <a:endParaRPr lang="en-GB" sz="1800" dirty="0"/>
          </a:p>
        </p:txBody>
      </p:sp>
      <p:sp>
        <p:nvSpPr>
          <p:cNvPr id="206" name="Shape 206"/>
          <p:cNvSpPr/>
          <p:nvPr/>
        </p:nvSpPr>
        <p:spPr>
          <a:xfrm>
            <a:off x="548640" y="5300000"/>
            <a:ext cx="11094415" cy="850000"/>
          </a:xfrm>
          <a:prstGeom prst="roundRect">
            <a:avLst>
              <a:gd name="adj" fmla="val 6000"/>
            </a:avLst>
          </a:prstGeom>
          <a:solidFill>
            <a:srgbClr val="FDF1E0"/>
          </a:solidFill>
          <a:ln w="12700">
            <a:solidFill>
              <a:srgbClr val="EFD3AA"/>
            </a:solidFill>
            <a:prstDash val="solid"/>
          </a:ln>
        </p:spPr>
        <p:txBody>
          <a:bodyPr wrap="square" lIns="91440" tIns="45720" rIns="91440" bIns="45720" rtlCol="0" anchor="ctr"/>
          <a:lstStyle/>
          <a:p>
            <a:endParaRPr lang="en-GB" dirty="0"/>
          </a:p>
        </p:txBody>
      </p:sp>
      <p:sp>
        <p:nvSpPr>
          <p:cNvPr id="207" name="Text 207"/>
          <p:cNvSpPr txBox="1"/>
          <p:nvPr/>
        </p:nvSpPr>
        <p:spPr>
          <a:xfrm>
            <a:off x="713232" y="5350000"/>
            <a:ext cx="10765231" cy="750000"/>
          </a:xfrm>
          <a:prstGeom prst="rect">
            <a:avLst/>
          </a:prstGeom>
          <a:noFill/>
          <a:ln/>
        </p:spPr>
        <p:txBody>
          <a:bodyPr wrap="square" lIns="0" tIns="0" rIns="0" bIns="0" rtlCol="0" anchor="ctr"/>
          <a:lstStyle/>
          <a:p>
            <a:pPr marL="0" indent="0" algn="l">
              <a:lnSpc>
                <a:spcPct val="95000"/>
              </a:lnSpc>
              <a:buNone/>
            </a:pPr>
            <a:r>
              <a:rPr lang="en-GB" sz="1800" dirty="0">
                <a:solidFill>
                  <a:srgbClr val="0B1F3F"/>
                </a:solidFill>
                <a:latin typeface="Calibri" pitchFamily="34" charset="0"/>
                <a:ea typeface="Calibri" pitchFamily="34" charset="-122"/>
                <a:cs typeface="Calibri" pitchFamily="34" charset="-120"/>
              </a:rPr>
              <a:t>💬 She undresses from the waist up only when needed. Cover her with a cloth between steps.</a:t>
            </a:r>
            <a:endParaRPr lang="en-GB" sz="1800" dirty="0"/>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 name="Text 218"/>
          <p:cNvSpPr txBox="1"/>
          <p:nvPr/>
        </p:nvSpPr>
        <p:spPr>
          <a:xfrm>
            <a:off x="548640" y="274320"/>
            <a:ext cx="11094415" cy="256032"/>
          </a:xfrm>
          <a:prstGeom prst="rect">
            <a:avLst/>
          </a:prstGeom>
          <a:noFill/>
          <a:ln/>
        </p:spPr>
        <p:txBody>
          <a:bodyPr wrap="square" lIns="0" tIns="0" rIns="0" bIns="0" rtlCol="0" anchor="ctr"/>
          <a:lstStyle/>
          <a:p>
            <a:pPr marL="0" indent="0" algn="l">
              <a:lnSpc>
                <a:spcPct val="95000"/>
              </a:lnSpc>
              <a:buNone/>
            </a:pPr>
            <a:r>
              <a:rPr lang="en-GB" sz="1100" b="1" dirty="0">
                <a:solidFill>
                  <a:srgbClr val="5B7699"/>
                </a:solidFill>
                <a:latin typeface="Calibri" pitchFamily="34" charset="0"/>
                <a:ea typeface="Calibri" pitchFamily="34" charset="-122"/>
                <a:cs typeface="Calibri" pitchFamily="34" charset="-120"/>
              </a:rPr>
              <a:t>S E S S I O N   2</a:t>
            </a:r>
            <a:endParaRPr lang="en-GB" sz="1800" dirty="0"/>
          </a:p>
        </p:txBody>
      </p:sp>
      <p:sp>
        <p:nvSpPr>
          <p:cNvPr id="219" name="Text 219"/>
          <p:cNvSpPr txBox="1"/>
          <p:nvPr/>
        </p:nvSpPr>
        <p:spPr>
          <a:xfrm>
            <a:off x="548640" y="566928"/>
            <a:ext cx="11094415" cy="566928"/>
          </a:xfrm>
          <a:prstGeom prst="rect">
            <a:avLst/>
          </a:prstGeom>
          <a:noFill/>
          <a:ln/>
        </p:spPr>
        <p:txBody>
          <a:bodyPr wrap="square" lIns="0" tIns="0" rIns="0" bIns="0" rtlCol="0" anchor="t"/>
          <a:lstStyle/>
          <a:p>
            <a:pPr marL="0" indent="0" algn="l">
              <a:lnSpc>
                <a:spcPct val="95000"/>
              </a:lnSpc>
              <a:buNone/>
            </a:pPr>
            <a:r>
              <a:rPr lang="en-GB" sz="3000" b="1" dirty="0">
                <a:solidFill>
                  <a:srgbClr val="12315B"/>
                </a:solidFill>
                <a:latin typeface="Calibri" pitchFamily="34" charset="0"/>
                <a:ea typeface="Calibri" pitchFamily="34" charset="-122"/>
                <a:cs typeface="Calibri" pitchFamily="34" charset="-120"/>
              </a:rPr>
              <a:t>Step 2: Look, with the person sitting</a:t>
            </a:r>
            <a:endParaRPr lang="en-GB" sz="1800" dirty="0"/>
          </a:p>
        </p:txBody>
      </p:sp>
      <p:sp>
        <p:nvSpPr>
          <p:cNvPr id="220" name="Text 220"/>
          <p:cNvSpPr txBox="1"/>
          <p:nvPr/>
        </p:nvSpPr>
        <p:spPr>
          <a:xfrm>
            <a:off x="548640" y="6382512"/>
            <a:ext cx="11094415" cy="274320"/>
          </a:xfrm>
          <a:prstGeom prst="rect">
            <a:avLst/>
          </a:prstGeom>
          <a:noFill/>
          <a:ln/>
        </p:spPr>
        <p:txBody>
          <a:bodyPr wrap="square" lIns="0" tIns="0" rIns="0" bIns="0" rtlCol="0" anchor="ctr"/>
          <a:lstStyle/>
          <a:p>
            <a:pPr marL="0" indent="0" algn="l">
              <a:lnSpc>
                <a:spcPct val="95000"/>
              </a:lnSpc>
              <a:buNone/>
            </a:pPr>
            <a:r>
              <a:rPr lang="en-GB" sz="1000" dirty="0">
                <a:solidFill>
                  <a:srgbClr val="5B7699"/>
                </a:solidFill>
                <a:latin typeface="Calibri" pitchFamily="34" charset="0"/>
                <a:ea typeface="Calibri" pitchFamily="34" charset="-122"/>
                <a:cs typeface="Calibri" pitchFamily="34" charset="-120"/>
              </a:rPr>
              <a:t>Breast Cancer  |  Frontline HCP  |  Rwanda Biomedical Centre</a:t>
            </a:r>
            <a:endParaRPr lang="en-GB" sz="1800" dirty="0"/>
          </a:p>
        </p:txBody>
      </p:sp>
      <p:sp>
        <p:nvSpPr>
          <p:cNvPr id="211" name="Shape 211"/>
          <p:cNvSpPr/>
          <p:nvPr/>
        </p:nvSpPr>
        <p:spPr>
          <a:xfrm>
            <a:off x="548640" y="1215000"/>
            <a:ext cx="6650000" cy="2000000"/>
          </a:xfrm>
          <a:prstGeom prst="roundRect">
            <a:avLst>
              <a:gd name="adj" fmla="val 3500"/>
            </a:avLst>
          </a:prstGeom>
          <a:solidFill>
            <a:srgbClr val="F4F8FC"/>
          </a:solidFill>
          <a:ln w="12700">
            <a:solidFill>
              <a:srgbClr val="C8D8EC"/>
            </a:solidFill>
            <a:prstDash val="solid"/>
          </a:ln>
        </p:spPr>
        <p:txBody>
          <a:bodyPr wrap="square" lIns="91440" tIns="45720" rIns="91440" bIns="45720" rtlCol="0" anchor="ctr"/>
          <a:lstStyle/>
          <a:p>
            <a:endParaRPr lang="en-GB" dirty="0"/>
          </a:p>
        </p:txBody>
      </p:sp>
      <p:sp>
        <p:nvSpPr>
          <p:cNvPr id="212" name="Text 212"/>
          <p:cNvSpPr txBox="1"/>
          <p:nvPr/>
        </p:nvSpPr>
        <p:spPr>
          <a:xfrm>
            <a:off x="713232" y="1333872"/>
            <a:ext cx="6320816" cy="1790000"/>
          </a:xfrm>
          <a:prstGeom prst="rect">
            <a:avLst/>
          </a:prstGeom>
          <a:noFill/>
          <a:ln/>
        </p:spPr>
        <p:txBody>
          <a:bodyPr wrap="square" lIns="0" tIns="0" rIns="0" bIns="0" rtlCol="0" anchor="t"/>
          <a:lstStyle/>
          <a:p>
            <a:pPr marL="0" indent="0" algn="l">
              <a:lnSpc>
                <a:spcPct val="95000"/>
              </a:lnSpc>
              <a:spcAft>
                <a:spcPts val="400"/>
              </a:spcAft>
              <a:buNone/>
            </a:pPr>
            <a:r>
              <a:rPr lang="en-GB" sz="1800" b="1" dirty="0">
                <a:solidFill>
                  <a:srgbClr val="12315B"/>
                </a:solidFill>
                <a:latin typeface="Calibri" pitchFamily="34" charset="0"/>
                <a:ea typeface="Calibri" pitchFamily="34" charset="-122"/>
                <a:cs typeface="Calibri" pitchFamily="34" charset="-120"/>
              </a:rPr>
              <a:t>Three positions</a:t>
            </a:r>
            <a:endParaRPr lang="en-GB" sz="1800" dirty="0"/>
          </a:p>
          <a:p>
            <a:pPr marL="0" indent="0" algn="l">
              <a:lnSpc>
                <a:spcPct val="95000"/>
              </a:lnSpc>
              <a:spcAft>
                <a:spcPts val="300"/>
              </a:spcAft>
              <a:buNone/>
            </a:pPr>
            <a:r>
              <a:rPr lang="en-GB" sz="1800" b="1" dirty="0">
                <a:solidFill>
                  <a:srgbClr val="12315B"/>
                </a:solidFill>
                <a:latin typeface="Calibri" pitchFamily="34" charset="0"/>
                <a:ea typeface="Calibri" pitchFamily="34" charset="-122"/>
                <a:cs typeface="Calibri" pitchFamily="34" charset="-120"/>
              </a:rPr>
              <a:t>1. </a:t>
            </a:r>
            <a:r>
              <a:rPr lang="en-GB" sz="1800" dirty="0">
                <a:solidFill>
                  <a:srgbClr val="0B1F3F"/>
                </a:solidFill>
                <a:latin typeface="Calibri" pitchFamily="34" charset="0"/>
                <a:ea typeface="Calibri" pitchFamily="34" charset="-122"/>
                <a:cs typeface="Calibri" pitchFamily="34" charset="-120"/>
              </a:rPr>
              <a:t>Arms relaxed at her sides.</a:t>
            </a:r>
            <a:endParaRPr lang="en-GB" sz="1800" dirty="0"/>
          </a:p>
          <a:p>
            <a:pPr marL="0" indent="0" algn="l">
              <a:lnSpc>
                <a:spcPct val="95000"/>
              </a:lnSpc>
              <a:spcAft>
                <a:spcPts val="300"/>
              </a:spcAft>
              <a:buNone/>
            </a:pPr>
            <a:r>
              <a:rPr lang="en-GB" sz="1800" b="1" dirty="0">
                <a:solidFill>
                  <a:srgbClr val="12315B"/>
                </a:solidFill>
                <a:latin typeface="Calibri" pitchFamily="34" charset="0"/>
                <a:ea typeface="Calibri" pitchFamily="34" charset="-122"/>
                <a:cs typeface="Calibri" pitchFamily="34" charset="-120"/>
              </a:rPr>
              <a:t>2. </a:t>
            </a:r>
            <a:r>
              <a:rPr lang="en-GB" sz="1800" dirty="0">
                <a:solidFill>
                  <a:srgbClr val="0B1F3F"/>
                </a:solidFill>
                <a:latin typeface="Calibri" pitchFamily="34" charset="0"/>
                <a:ea typeface="Calibri" pitchFamily="34" charset="-122"/>
                <a:cs typeface="Calibri" pitchFamily="34" charset="-120"/>
              </a:rPr>
              <a:t>Hands pressed firmly on her hips.</a:t>
            </a:r>
            <a:endParaRPr lang="en-GB" sz="1800" dirty="0"/>
          </a:p>
          <a:p>
            <a:pPr marL="0" indent="0" algn="l">
              <a:lnSpc>
                <a:spcPct val="95000"/>
              </a:lnSpc>
              <a:spcAft>
                <a:spcPts val="300"/>
              </a:spcAft>
              <a:buNone/>
            </a:pPr>
            <a:r>
              <a:rPr lang="en-GB" sz="1800" b="1" dirty="0">
                <a:solidFill>
                  <a:srgbClr val="12315B"/>
                </a:solidFill>
                <a:latin typeface="Calibri" pitchFamily="34" charset="0"/>
                <a:ea typeface="Calibri" pitchFamily="34" charset="-122"/>
                <a:cs typeface="Calibri" pitchFamily="34" charset="-120"/>
              </a:rPr>
              <a:t>3. </a:t>
            </a:r>
            <a:r>
              <a:rPr lang="en-GB" sz="1800" dirty="0">
                <a:solidFill>
                  <a:srgbClr val="0B1F3F"/>
                </a:solidFill>
                <a:latin typeface="Calibri" pitchFamily="34" charset="0"/>
                <a:ea typeface="Calibri" pitchFamily="34" charset="-122"/>
                <a:cs typeface="Calibri" pitchFamily="34" charset="-120"/>
              </a:rPr>
              <a:t>Arms raised, hands pressed together above her head.</a:t>
            </a:r>
            <a:endParaRPr lang="en-GB" sz="1800" dirty="0"/>
          </a:p>
        </p:txBody>
      </p:sp>
      <p:sp>
        <p:nvSpPr>
          <p:cNvPr id="213" name="Shape 213"/>
          <p:cNvSpPr/>
          <p:nvPr/>
        </p:nvSpPr>
        <p:spPr>
          <a:xfrm>
            <a:off x="548640" y="3335000"/>
            <a:ext cx="6650000" cy="1800000"/>
          </a:xfrm>
          <a:prstGeom prst="roundRect">
            <a:avLst>
              <a:gd name="adj" fmla="val 3500"/>
            </a:avLst>
          </a:prstGeom>
          <a:solidFill>
            <a:srgbClr val="F4F8FC"/>
          </a:solidFill>
          <a:ln w="12700">
            <a:solidFill>
              <a:srgbClr val="C8D8EC"/>
            </a:solidFill>
            <a:prstDash val="solid"/>
          </a:ln>
        </p:spPr>
        <p:txBody>
          <a:bodyPr wrap="square" lIns="91440" tIns="45720" rIns="91440" bIns="45720" rtlCol="0" anchor="ctr"/>
          <a:lstStyle/>
          <a:p>
            <a:endParaRPr lang="en-GB" dirty="0"/>
          </a:p>
        </p:txBody>
      </p:sp>
      <p:sp>
        <p:nvSpPr>
          <p:cNvPr id="214" name="Text 214"/>
          <p:cNvSpPr txBox="1"/>
          <p:nvPr/>
        </p:nvSpPr>
        <p:spPr>
          <a:xfrm>
            <a:off x="713232" y="3453872"/>
            <a:ext cx="6320816" cy="1590000"/>
          </a:xfrm>
          <a:prstGeom prst="rect">
            <a:avLst/>
          </a:prstGeom>
          <a:noFill/>
          <a:ln/>
        </p:spPr>
        <p:txBody>
          <a:bodyPr wrap="square" lIns="0" tIns="0" rIns="0" bIns="0" rtlCol="0" anchor="t"/>
          <a:lstStyle/>
          <a:p>
            <a:pPr marL="0" indent="0" algn="l">
              <a:lnSpc>
                <a:spcPct val="95000"/>
              </a:lnSpc>
              <a:spcAft>
                <a:spcPts val="400"/>
              </a:spcAft>
              <a:buNone/>
            </a:pPr>
            <a:r>
              <a:rPr lang="en-GB" sz="1800" b="1" dirty="0">
                <a:solidFill>
                  <a:srgbClr val="12315B"/>
                </a:solidFill>
                <a:latin typeface="Calibri" pitchFamily="34" charset="0"/>
                <a:ea typeface="Calibri" pitchFamily="34" charset="-122"/>
                <a:cs typeface="Calibri" pitchFamily="34" charset="-120"/>
              </a:rPr>
              <a:t>Compare both sides</a:t>
            </a:r>
            <a:endParaRPr lang="en-GB" sz="1800" dirty="0"/>
          </a:p>
          <a:p>
            <a:pPr marL="0" indent="0" algn="l">
              <a:lnSpc>
                <a:spcPct val="95000"/>
              </a:lnSpc>
              <a:spcAft>
                <a:spcPts val="300"/>
              </a:spcAft>
              <a:buNone/>
            </a:pPr>
            <a:r>
              <a:rPr lang="en-GB" sz="1800" dirty="0">
                <a:solidFill>
                  <a:srgbClr val="0B1F3F"/>
                </a:solidFill>
                <a:latin typeface="Calibri" pitchFamily="34" charset="0"/>
                <a:ea typeface="Calibri" pitchFamily="34" charset="-122"/>
                <a:cs typeface="Calibri" pitchFamily="34" charset="-120"/>
              </a:rPr>
              <a:t>Size, shape and symmetry.  Skin: colour, dimpling, puckering, redness, thickening, peau d’orange, ulceration.  Nipple: new inversion, scaling, discharge.</a:t>
            </a:r>
            <a:endParaRPr lang="en-GB" sz="1800" dirty="0"/>
          </a:p>
        </p:txBody>
      </p:sp>
      <p:sp>
        <p:nvSpPr>
          <p:cNvPr id="215" name="Shape 215"/>
          <p:cNvSpPr/>
          <p:nvPr/>
        </p:nvSpPr>
        <p:spPr>
          <a:xfrm>
            <a:off x="548640" y="5255000"/>
            <a:ext cx="11094415" cy="900000"/>
          </a:xfrm>
          <a:prstGeom prst="roundRect">
            <a:avLst>
              <a:gd name="adj" fmla="val 6000"/>
            </a:avLst>
          </a:prstGeom>
          <a:solidFill>
            <a:srgbClr val="F4F8FC"/>
          </a:solidFill>
          <a:ln w="12700">
            <a:solidFill>
              <a:srgbClr val="C8D8EC"/>
            </a:solidFill>
            <a:prstDash val="solid"/>
          </a:ln>
        </p:spPr>
        <p:txBody>
          <a:bodyPr wrap="square" lIns="91440" tIns="45720" rIns="91440" bIns="45720" rtlCol="0" anchor="ctr"/>
          <a:lstStyle/>
          <a:p>
            <a:endParaRPr lang="en-GB" dirty="0"/>
          </a:p>
        </p:txBody>
      </p:sp>
      <p:sp>
        <p:nvSpPr>
          <p:cNvPr id="216" name="Text 216"/>
          <p:cNvSpPr txBox="1"/>
          <p:nvPr/>
        </p:nvSpPr>
        <p:spPr>
          <a:xfrm>
            <a:off x="713232" y="5305000"/>
            <a:ext cx="10765231" cy="800000"/>
          </a:xfrm>
          <a:prstGeom prst="rect">
            <a:avLst/>
          </a:prstGeom>
          <a:noFill/>
          <a:ln/>
        </p:spPr>
        <p:txBody>
          <a:bodyPr wrap="square" lIns="0" tIns="0" rIns="0" bIns="0" rtlCol="0" anchor="ctr"/>
          <a:lstStyle/>
          <a:p>
            <a:pPr marL="0" indent="0" algn="l">
              <a:lnSpc>
                <a:spcPct val="95000"/>
              </a:lnSpc>
              <a:buNone/>
            </a:pPr>
            <a:r>
              <a:rPr lang="en-GB" sz="1800" b="1" dirty="0">
                <a:solidFill>
                  <a:srgbClr val="12315B"/>
                </a:solidFill>
                <a:latin typeface="Calibri" pitchFamily="34" charset="0"/>
                <a:ea typeface="Calibri" pitchFamily="34" charset="-122"/>
                <a:cs typeface="Calibri" pitchFamily="34" charset="-120"/>
              </a:rPr>
              <a:t>🎯 Goal: </a:t>
            </a:r>
            <a:r>
              <a:rPr lang="en-GB" sz="1800" dirty="0">
                <a:solidFill>
                  <a:srgbClr val="0B1F3F"/>
                </a:solidFill>
                <a:latin typeface="Calibri" pitchFamily="34" charset="0"/>
                <a:ea typeface="Calibri" pitchFamily="34" charset="-122"/>
                <a:cs typeface="Calibri" pitchFamily="34" charset="-120"/>
              </a:rPr>
              <a:t>identify any visible abnormality or asymmetry.</a:t>
            </a:r>
            <a:endParaRPr lang="en-GB" sz="1800" dirty="0"/>
          </a:p>
        </p:txBody>
      </p:sp>
      <p:pic>
        <p:nvPicPr>
          <p:cNvPr id="3" name="Imagen 2">
            <a:extLst>
              <a:ext uri="{FF2B5EF4-FFF2-40B4-BE49-F238E27FC236}">
                <a16:creationId xmlns:a16="http://schemas.microsoft.com/office/drawing/2014/main" id="{04E4FF71-0714-97FD-324A-3F8D8C3B317C}"/>
              </a:ext>
            </a:extLst>
          </p:cNvPr>
          <p:cNvPicPr>
            <a:picLocks noChangeAspect="1"/>
          </p:cNvPicPr>
          <p:nvPr/>
        </p:nvPicPr>
        <p:blipFill>
          <a:blip r:embed="rId2" cstate="email">
            <a:extLst>
              <a:ext uri="{28A0092B-C50C-407E-A947-70E740481C1C}">
                <a14:useLocalDpi xmlns:a14="http://schemas.microsoft.com/office/drawing/2010/main"/>
              </a:ext>
            </a:extLst>
          </a:blip>
          <a:srcRect/>
          <a:stretch>
            <a:fillRect/>
          </a:stretch>
        </p:blipFill>
        <p:spPr>
          <a:xfrm>
            <a:off x="7198640" y="1746011"/>
            <a:ext cx="4444415" cy="2722953"/>
          </a:xfrm>
          <a:prstGeom prst="rect">
            <a:avLst/>
          </a:prstGeom>
        </p:spPr>
      </p:pic>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 name="Text 228"/>
          <p:cNvSpPr txBox="1"/>
          <p:nvPr/>
        </p:nvSpPr>
        <p:spPr>
          <a:xfrm>
            <a:off x="548640" y="274320"/>
            <a:ext cx="11094415" cy="256032"/>
          </a:xfrm>
          <a:prstGeom prst="rect">
            <a:avLst/>
          </a:prstGeom>
          <a:noFill/>
          <a:ln/>
        </p:spPr>
        <p:txBody>
          <a:bodyPr wrap="square" lIns="0" tIns="0" rIns="0" bIns="0" rtlCol="0" anchor="ctr"/>
          <a:lstStyle/>
          <a:p>
            <a:pPr marL="0" indent="0" algn="l">
              <a:lnSpc>
                <a:spcPct val="95000"/>
              </a:lnSpc>
              <a:buNone/>
            </a:pPr>
            <a:r>
              <a:rPr lang="en-GB" sz="1100" b="1" dirty="0">
                <a:solidFill>
                  <a:srgbClr val="5B7699"/>
                </a:solidFill>
                <a:latin typeface="Calibri" pitchFamily="34" charset="0"/>
                <a:ea typeface="Calibri" pitchFamily="34" charset="-122"/>
                <a:cs typeface="Calibri" pitchFamily="34" charset="-120"/>
              </a:rPr>
              <a:t>S E S S I O N   2</a:t>
            </a:r>
            <a:endParaRPr lang="en-GB" sz="1800" dirty="0"/>
          </a:p>
        </p:txBody>
      </p:sp>
      <p:sp>
        <p:nvSpPr>
          <p:cNvPr id="229" name="Text 229"/>
          <p:cNvSpPr txBox="1"/>
          <p:nvPr/>
        </p:nvSpPr>
        <p:spPr>
          <a:xfrm>
            <a:off x="548640" y="566928"/>
            <a:ext cx="11094415" cy="566928"/>
          </a:xfrm>
          <a:prstGeom prst="rect">
            <a:avLst/>
          </a:prstGeom>
          <a:noFill/>
          <a:ln/>
        </p:spPr>
        <p:txBody>
          <a:bodyPr wrap="square" lIns="0" tIns="0" rIns="0" bIns="0" rtlCol="0" anchor="t"/>
          <a:lstStyle/>
          <a:p>
            <a:pPr marL="0" indent="0" algn="l">
              <a:lnSpc>
                <a:spcPct val="95000"/>
              </a:lnSpc>
              <a:buNone/>
            </a:pPr>
            <a:r>
              <a:rPr lang="en-GB" sz="3000" b="1" dirty="0">
                <a:solidFill>
                  <a:srgbClr val="12315B"/>
                </a:solidFill>
                <a:latin typeface="Calibri" pitchFamily="34" charset="0"/>
                <a:ea typeface="Calibri" pitchFamily="34" charset="-122"/>
                <a:cs typeface="Calibri" pitchFamily="34" charset="-120"/>
              </a:rPr>
              <a:t>Step 3: Feel the lymph nodes, sitting</a:t>
            </a:r>
            <a:endParaRPr lang="en-GB" sz="1800" dirty="0"/>
          </a:p>
        </p:txBody>
      </p:sp>
      <p:sp>
        <p:nvSpPr>
          <p:cNvPr id="230" name="Text 230"/>
          <p:cNvSpPr txBox="1"/>
          <p:nvPr/>
        </p:nvSpPr>
        <p:spPr>
          <a:xfrm>
            <a:off x="548640" y="6382512"/>
            <a:ext cx="11094415" cy="274320"/>
          </a:xfrm>
          <a:prstGeom prst="rect">
            <a:avLst/>
          </a:prstGeom>
          <a:noFill/>
          <a:ln/>
        </p:spPr>
        <p:txBody>
          <a:bodyPr wrap="square" lIns="0" tIns="0" rIns="0" bIns="0" rtlCol="0" anchor="ctr"/>
          <a:lstStyle/>
          <a:p>
            <a:pPr marL="0" indent="0" algn="l">
              <a:lnSpc>
                <a:spcPct val="95000"/>
              </a:lnSpc>
              <a:buNone/>
            </a:pPr>
            <a:r>
              <a:rPr lang="en-GB" sz="1000" dirty="0">
                <a:solidFill>
                  <a:srgbClr val="5B7699"/>
                </a:solidFill>
                <a:latin typeface="Calibri" pitchFamily="34" charset="0"/>
                <a:ea typeface="Calibri" pitchFamily="34" charset="-122"/>
                <a:cs typeface="Calibri" pitchFamily="34" charset="-120"/>
              </a:rPr>
              <a:t>Breast Cancer  |  Frontline HCP  |  Rwanda Biomedical Centre</a:t>
            </a:r>
            <a:endParaRPr lang="en-GB" sz="1800" dirty="0"/>
          </a:p>
        </p:txBody>
      </p:sp>
      <p:sp>
        <p:nvSpPr>
          <p:cNvPr id="221" name="Shape 221"/>
          <p:cNvSpPr/>
          <p:nvPr/>
        </p:nvSpPr>
        <p:spPr>
          <a:xfrm>
            <a:off x="548640" y="1215000"/>
            <a:ext cx="6650000" cy="2250000"/>
          </a:xfrm>
          <a:prstGeom prst="roundRect">
            <a:avLst>
              <a:gd name="adj" fmla="val 3500"/>
            </a:avLst>
          </a:prstGeom>
          <a:solidFill>
            <a:srgbClr val="F4F8FC"/>
          </a:solidFill>
          <a:ln w="12700">
            <a:solidFill>
              <a:srgbClr val="C8D8EC"/>
            </a:solidFill>
            <a:prstDash val="solid"/>
          </a:ln>
        </p:spPr>
        <p:txBody>
          <a:bodyPr wrap="square" lIns="91440" tIns="45720" rIns="91440" bIns="45720" rtlCol="0" anchor="ctr"/>
          <a:lstStyle/>
          <a:p>
            <a:endParaRPr lang="en-GB" dirty="0"/>
          </a:p>
        </p:txBody>
      </p:sp>
      <p:sp>
        <p:nvSpPr>
          <p:cNvPr id="222" name="Text 222"/>
          <p:cNvSpPr txBox="1"/>
          <p:nvPr/>
        </p:nvSpPr>
        <p:spPr>
          <a:xfrm>
            <a:off x="713232" y="1333872"/>
            <a:ext cx="6320816" cy="2040000"/>
          </a:xfrm>
          <a:prstGeom prst="rect">
            <a:avLst/>
          </a:prstGeom>
          <a:noFill/>
          <a:ln/>
        </p:spPr>
        <p:txBody>
          <a:bodyPr wrap="square" lIns="0" tIns="0" rIns="0" bIns="0" rtlCol="0" anchor="t"/>
          <a:lstStyle/>
          <a:p>
            <a:pPr marL="0" indent="0" algn="l">
              <a:lnSpc>
                <a:spcPct val="95000"/>
              </a:lnSpc>
              <a:spcAft>
                <a:spcPts val="400"/>
              </a:spcAft>
              <a:buNone/>
            </a:pPr>
            <a:r>
              <a:rPr lang="en-GB" sz="1800" b="1" dirty="0">
                <a:solidFill>
                  <a:srgbClr val="12315B"/>
                </a:solidFill>
                <a:latin typeface="Calibri" pitchFamily="34" charset="0"/>
                <a:ea typeface="Calibri" pitchFamily="34" charset="-122"/>
                <a:cs typeface="Calibri" pitchFamily="34" charset="-120"/>
              </a:rPr>
              <a:t>Where to feel, on both sides</a:t>
            </a:r>
            <a:endParaRPr lang="en-GB" sz="1800" dirty="0"/>
          </a:p>
          <a:p>
            <a:pPr marL="0" indent="0" algn="l">
              <a:lnSpc>
                <a:spcPct val="95000"/>
              </a:lnSpc>
              <a:spcAft>
                <a:spcPts val="300"/>
              </a:spcAft>
              <a:buNone/>
            </a:pPr>
            <a:r>
              <a:rPr lang="en-GB" sz="1800" b="1" dirty="0">
                <a:solidFill>
                  <a:srgbClr val="12315B"/>
                </a:solidFill>
                <a:latin typeface="Calibri" pitchFamily="34" charset="0"/>
                <a:ea typeface="Calibri" pitchFamily="34" charset="-122"/>
                <a:cs typeface="Calibri" pitchFamily="34" charset="-120"/>
              </a:rPr>
              <a:t>Neck: </a:t>
            </a:r>
            <a:r>
              <a:rPr lang="en-GB" sz="1800" dirty="0">
                <a:solidFill>
                  <a:srgbClr val="0B1F3F"/>
                </a:solidFill>
                <a:latin typeface="Calibri" pitchFamily="34" charset="0"/>
                <a:ea typeface="Calibri" pitchFamily="34" charset="-122"/>
                <a:cs typeface="Calibri" pitchFamily="34" charset="-120"/>
              </a:rPr>
              <a:t>cervical nodes.</a:t>
            </a:r>
            <a:endParaRPr lang="en-GB" sz="1800" dirty="0"/>
          </a:p>
          <a:p>
            <a:pPr marL="0" indent="0" algn="l">
              <a:lnSpc>
                <a:spcPct val="95000"/>
              </a:lnSpc>
              <a:spcAft>
                <a:spcPts val="300"/>
              </a:spcAft>
              <a:buNone/>
            </a:pPr>
            <a:r>
              <a:rPr lang="en-GB" sz="1800" b="1" dirty="0">
                <a:solidFill>
                  <a:srgbClr val="12315B"/>
                </a:solidFill>
                <a:latin typeface="Calibri" pitchFamily="34" charset="0"/>
                <a:ea typeface="Calibri" pitchFamily="34" charset="-122"/>
                <a:cs typeface="Calibri" pitchFamily="34" charset="-120"/>
              </a:rPr>
              <a:t>Collarbone: </a:t>
            </a:r>
            <a:r>
              <a:rPr lang="en-GB" sz="1800" dirty="0">
                <a:solidFill>
                  <a:srgbClr val="0B1F3F"/>
                </a:solidFill>
                <a:latin typeface="Calibri" pitchFamily="34" charset="0"/>
                <a:ea typeface="Calibri" pitchFamily="34" charset="-122"/>
                <a:cs typeface="Calibri" pitchFamily="34" charset="-120"/>
              </a:rPr>
              <a:t>supraclavicular and infraclavicular nodes.</a:t>
            </a:r>
            <a:endParaRPr lang="en-GB" sz="1800" dirty="0"/>
          </a:p>
          <a:p>
            <a:pPr marL="0" indent="0" algn="l">
              <a:lnSpc>
                <a:spcPct val="95000"/>
              </a:lnSpc>
              <a:spcAft>
                <a:spcPts val="300"/>
              </a:spcAft>
              <a:buNone/>
            </a:pPr>
            <a:r>
              <a:rPr lang="en-GB" sz="1800" b="1" dirty="0">
                <a:solidFill>
                  <a:srgbClr val="12315B"/>
                </a:solidFill>
                <a:latin typeface="Calibri" pitchFamily="34" charset="0"/>
                <a:ea typeface="Calibri" pitchFamily="34" charset="-122"/>
                <a:cs typeface="Calibri" pitchFamily="34" charset="-120"/>
              </a:rPr>
              <a:t>Armpit: </a:t>
            </a:r>
            <a:r>
              <a:rPr lang="en-GB" sz="1800" dirty="0">
                <a:solidFill>
                  <a:srgbClr val="0B1F3F"/>
                </a:solidFill>
                <a:latin typeface="Calibri" pitchFamily="34" charset="0"/>
                <a:ea typeface="Calibri" pitchFamily="34" charset="-122"/>
                <a:cs typeface="Calibri" pitchFamily="34" charset="-120"/>
              </a:rPr>
              <a:t>rest her arm on your shoulder or support it at the elbow, so the muscles relax. Feel high into the armpit and along its walls.</a:t>
            </a:r>
            <a:endParaRPr lang="en-GB" sz="1800" dirty="0"/>
          </a:p>
        </p:txBody>
      </p:sp>
      <p:sp>
        <p:nvSpPr>
          <p:cNvPr id="223" name="Shape 223"/>
          <p:cNvSpPr/>
          <p:nvPr/>
        </p:nvSpPr>
        <p:spPr>
          <a:xfrm>
            <a:off x="548640" y="3585000"/>
            <a:ext cx="6650000" cy="1550000"/>
          </a:xfrm>
          <a:prstGeom prst="roundRect">
            <a:avLst>
              <a:gd name="adj" fmla="val 3500"/>
            </a:avLst>
          </a:prstGeom>
          <a:solidFill>
            <a:srgbClr val="F4F8FC"/>
          </a:solidFill>
          <a:ln w="12700">
            <a:solidFill>
              <a:srgbClr val="C8D8EC"/>
            </a:solidFill>
            <a:prstDash val="solid"/>
          </a:ln>
        </p:spPr>
        <p:txBody>
          <a:bodyPr wrap="square" lIns="91440" tIns="45720" rIns="91440" bIns="45720" rtlCol="0" anchor="ctr"/>
          <a:lstStyle/>
          <a:p>
            <a:endParaRPr lang="en-GB" dirty="0"/>
          </a:p>
        </p:txBody>
      </p:sp>
      <p:sp>
        <p:nvSpPr>
          <p:cNvPr id="224" name="Text 224"/>
          <p:cNvSpPr txBox="1"/>
          <p:nvPr/>
        </p:nvSpPr>
        <p:spPr>
          <a:xfrm>
            <a:off x="713232" y="3703872"/>
            <a:ext cx="6320816" cy="1340000"/>
          </a:xfrm>
          <a:prstGeom prst="rect">
            <a:avLst/>
          </a:prstGeom>
          <a:noFill/>
          <a:ln/>
        </p:spPr>
        <p:txBody>
          <a:bodyPr wrap="square" lIns="0" tIns="0" rIns="0" bIns="0" rtlCol="0" anchor="t"/>
          <a:lstStyle/>
          <a:p>
            <a:pPr marL="0" indent="0" algn="l">
              <a:lnSpc>
                <a:spcPct val="95000"/>
              </a:lnSpc>
              <a:spcAft>
                <a:spcPts val="400"/>
              </a:spcAft>
              <a:buNone/>
            </a:pPr>
            <a:r>
              <a:rPr lang="en-GB" sz="1800" b="1" dirty="0">
                <a:solidFill>
                  <a:srgbClr val="12315B"/>
                </a:solidFill>
                <a:latin typeface="Calibri" pitchFamily="34" charset="0"/>
                <a:ea typeface="Calibri" pitchFamily="34" charset="-122"/>
                <a:cs typeface="Calibri" pitchFamily="34" charset="-120"/>
              </a:rPr>
              <a:t>For any node, note</a:t>
            </a:r>
            <a:endParaRPr lang="en-GB" sz="1800" dirty="0"/>
          </a:p>
          <a:p>
            <a:pPr marL="0" indent="0" algn="l">
              <a:lnSpc>
                <a:spcPct val="95000"/>
              </a:lnSpc>
              <a:spcAft>
                <a:spcPts val="300"/>
              </a:spcAft>
              <a:buNone/>
            </a:pPr>
            <a:r>
              <a:rPr lang="en-GB" sz="1800" dirty="0">
                <a:solidFill>
                  <a:srgbClr val="0B1F3F"/>
                </a:solidFill>
                <a:latin typeface="Calibri" pitchFamily="34" charset="0"/>
                <a:ea typeface="Calibri" pitchFamily="34" charset="-122"/>
                <a:cs typeface="Calibri" pitchFamily="34" charset="-120"/>
              </a:rPr>
              <a:t>Size, consistency, tenderness, and whether it moves freely or is fixed.</a:t>
            </a:r>
            <a:endParaRPr lang="en-GB" sz="1800" dirty="0"/>
          </a:p>
        </p:txBody>
      </p:sp>
      <p:sp>
        <p:nvSpPr>
          <p:cNvPr id="225" name="Shape 225"/>
          <p:cNvSpPr/>
          <p:nvPr/>
        </p:nvSpPr>
        <p:spPr>
          <a:xfrm>
            <a:off x="548640" y="5255000"/>
            <a:ext cx="11094415" cy="900000"/>
          </a:xfrm>
          <a:prstGeom prst="roundRect">
            <a:avLst>
              <a:gd name="adj" fmla="val 6000"/>
            </a:avLst>
          </a:prstGeom>
          <a:solidFill>
            <a:srgbClr val="F4F8FC"/>
          </a:solidFill>
          <a:ln w="12700">
            <a:solidFill>
              <a:srgbClr val="C8D8EC"/>
            </a:solidFill>
            <a:prstDash val="solid"/>
          </a:ln>
        </p:spPr>
        <p:txBody>
          <a:bodyPr wrap="square" lIns="91440" tIns="45720" rIns="91440" bIns="45720" rtlCol="0" anchor="ctr"/>
          <a:lstStyle/>
          <a:p>
            <a:endParaRPr lang="en-GB" dirty="0"/>
          </a:p>
        </p:txBody>
      </p:sp>
      <p:sp>
        <p:nvSpPr>
          <p:cNvPr id="226" name="Text 226"/>
          <p:cNvSpPr txBox="1"/>
          <p:nvPr/>
        </p:nvSpPr>
        <p:spPr>
          <a:xfrm>
            <a:off x="713232" y="5305000"/>
            <a:ext cx="10765231" cy="800000"/>
          </a:xfrm>
          <a:prstGeom prst="rect">
            <a:avLst/>
          </a:prstGeom>
          <a:noFill/>
          <a:ln/>
        </p:spPr>
        <p:txBody>
          <a:bodyPr wrap="square" lIns="0" tIns="0" rIns="0" bIns="0" rtlCol="0" anchor="ctr"/>
          <a:lstStyle/>
          <a:p>
            <a:pPr marL="0" indent="0" algn="l">
              <a:lnSpc>
                <a:spcPct val="95000"/>
              </a:lnSpc>
              <a:buNone/>
            </a:pPr>
            <a:r>
              <a:rPr lang="en-GB" sz="1800" b="1" dirty="0">
                <a:solidFill>
                  <a:srgbClr val="12315B"/>
                </a:solidFill>
                <a:latin typeface="Calibri" pitchFamily="34" charset="0"/>
                <a:ea typeface="Calibri" pitchFamily="34" charset="-122"/>
                <a:cs typeface="Calibri" pitchFamily="34" charset="-120"/>
              </a:rPr>
              <a:t>🎯 Goal: </a:t>
            </a:r>
            <a:r>
              <a:rPr lang="en-GB" sz="1800" dirty="0">
                <a:solidFill>
                  <a:srgbClr val="0B1F3F"/>
                </a:solidFill>
                <a:latin typeface="Calibri" pitchFamily="34" charset="0"/>
                <a:ea typeface="Calibri" pitchFamily="34" charset="-122"/>
                <a:cs typeface="Calibri" pitchFamily="34" charset="-120"/>
              </a:rPr>
              <a:t>identify enlarged nodes. A hard, fixed or enlarging node needs urgent referral.</a:t>
            </a:r>
            <a:endParaRPr lang="en-GB" sz="1800" dirty="0"/>
          </a:p>
        </p:txBody>
      </p:sp>
      <p:pic>
        <p:nvPicPr>
          <p:cNvPr id="3" name="Imagen 2">
            <a:extLst>
              <a:ext uri="{FF2B5EF4-FFF2-40B4-BE49-F238E27FC236}">
                <a16:creationId xmlns:a16="http://schemas.microsoft.com/office/drawing/2014/main" id="{666425A2-CBAD-2F49-07C7-1C646E3B9F43}"/>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7310150" y="1170432"/>
            <a:ext cx="4279823" cy="3960433"/>
          </a:xfrm>
          <a:prstGeom prst="rect">
            <a:avLst/>
          </a:prstGeom>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 name="Text 243"/>
          <p:cNvSpPr txBox="1"/>
          <p:nvPr/>
        </p:nvSpPr>
        <p:spPr>
          <a:xfrm>
            <a:off x="548640" y="274320"/>
            <a:ext cx="11094415" cy="256032"/>
          </a:xfrm>
          <a:prstGeom prst="rect">
            <a:avLst/>
          </a:prstGeom>
          <a:noFill/>
          <a:ln/>
        </p:spPr>
        <p:txBody>
          <a:bodyPr wrap="square" lIns="0" tIns="0" rIns="0" bIns="0" rtlCol="0" anchor="ctr"/>
          <a:lstStyle/>
          <a:p>
            <a:pPr marL="0" indent="0" algn="l">
              <a:lnSpc>
                <a:spcPct val="95000"/>
              </a:lnSpc>
              <a:buNone/>
            </a:pPr>
            <a:r>
              <a:rPr lang="en-GB" sz="1100" b="1" dirty="0">
                <a:solidFill>
                  <a:srgbClr val="5B7699"/>
                </a:solidFill>
                <a:latin typeface="Calibri" pitchFamily="34" charset="0"/>
                <a:ea typeface="Calibri" pitchFamily="34" charset="-122"/>
                <a:cs typeface="Calibri" pitchFamily="34" charset="-120"/>
              </a:rPr>
              <a:t>S E S S I O N   2</a:t>
            </a:r>
            <a:endParaRPr lang="en-GB" sz="1800" dirty="0"/>
          </a:p>
        </p:txBody>
      </p:sp>
      <p:sp>
        <p:nvSpPr>
          <p:cNvPr id="244" name="Text 244"/>
          <p:cNvSpPr txBox="1"/>
          <p:nvPr/>
        </p:nvSpPr>
        <p:spPr>
          <a:xfrm>
            <a:off x="548640" y="566928"/>
            <a:ext cx="11094415" cy="566928"/>
          </a:xfrm>
          <a:prstGeom prst="rect">
            <a:avLst/>
          </a:prstGeom>
          <a:noFill/>
          <a:ln/>
        </p:spPr>
        <p:txBody>
          <a:bodyPr wrap="square" lIns="0" tIns="0" rIns="0" bIns="0" rtlCol="0" anchor="t"/>
          <a:lstStyle/>
          <a:p>
            <a:pPr marL="0" indent="0" algn="l">
              <a:lnSpc>
                <a:spcPct val="95000"/>
              </a:lnSpc>
              <a:buNone/>
            </a:pPr>
            <a:r>
              <a:rPr lang="en-GB" sz="3000" b="1" dirty="0">
                <a:solidFill>
                  <a:srgbClr val="12315B"/>
                </a:solidFill>
                <a:latin typeface="Calibri" pitchFamily="34" charset="0"/>
                <a:ea typeface="Calibri" pitchFamily="34" charset="-122"/>
                <a:cs typeface="Calibri" pitchFamily="34" charset="-120"/>
              </a:rPr>
              <a:t>Step 4: Feel the breast, lying down</a:t>
            </a:r>
            <a:endParaRPr lang="en-GB" sz="1800" dirty="0"/>
          </a:p>
        </p:txBody>
      </p:sp>
      <p:sp>
        <p:nvSpPr>
          <p:cNvPr id="245" name="Text 245"/>
          <p:cNvSpPr txBox="1"/>
          <p:nvPr/>
        </p:nvSpPr>
        <p:spPr>
          <a:xfrm>
            <a:off x="548640" y="6382512"/>
            <a:ext cx="11094415" cy="274320"/>
          </a:xfrm>
          <a:prstGeom prst="rect">
            <a:avLst/>
          </a:prstGeom>
          <a:noFill/>
          <a:ln/>
        </p:spPr>
        <p:txBody>
          <a:bodyPr wrap="square" lIns="0" tIns="0" rIns="0" bIns="0" rtlCol="0" anchor="ctr"/>
          <a:lstStyle/>
          <a:p>
            <a:pPr marL="0" indent="0" algn="l">
              <a:lnSpc>
                <a:spcPct val="95000"/>
              </a:lnSpc>
              <a:buNone/>
            </a:pPr>
            <a:r>
              <a:rPr lang="en-GB" sz="1000" dirty="0">
                <a:solidFill>
                  <a:srgbClr val="5B7699"/>
                </a:solidFill>
                <a:latin typeface="Calibri" pitchFamily="34" charset="0"/>
                <a:ea typeface="Calibri" pitchFamily="34" charset="-122"/>
                <a:cs typeface="Calibri" pitchFamily="34" charset="-120"/>
              </a:rPr>
              <a:t>Breast Cancer  |  Frontline HCP  |  Rwanda Biomedical Centre</a:t>
            </a:r>
            <a:endParaRPr lang="en-GB" sz="1800" dirty="0"/>
          </a:p>
        </p:txBody>
      </p:sp>
      <p:sp>
        <p:nvSpPr>
          <p:cNvPr id="231" name="Shape 231"/>
          <p:cNvSpPr/>
          <p:nvPr/>
        </p:nvSpPr>
        <p:spPr>
          <a:xfrm>
            <a:off x="548640" y="1215000"/>
            <a:ext cx="6650000" cy="1150000"/>
          </a:xfrm>
          <a:prstGeom prst="roundRect">
            <a:avLst>
              <a:gd name="adj" fmla="val 5000"/>
            </a:avLst>
          </a:prstGeom>
          <a:solidFill>
            <a:srgbClr val="F4F8FC"/>
          </a:solidFill>
          <a:ln w="12700">
            <a:solidFill>
              <a:srgbClr val="C8D8EC"/>
            </a:solidFill>
            <a:prstDash val="solid"/>
          </a:ln>
        </p:spPr>
        <p:txBody>
          <a:bodyPr wrap="square" lIns="91440" tIns="45720" rIns="91440" bIns="45720" rtlCol="0" anchor="ctr"/>
          <a:lstStyle/>
          <a:p>
            <a:endParaRPr lang="en-GB" dirty="0"/>
          </a:p>
        </p:txBody>
      </p:sp>
      <p:sp>
        <p:nvSpPr>
          <p:cNvPr id="232" name="Shape 232"/>
          <p:cNvSpPr/>
          <p:nvPr/>
        </p:nvSpPr>
        <p:spPr>
          <a:xfrm>
            <a:off x="678640" y="1365000"/>
            <a:ext cx="460000" cy="460000"/>
          </a:xfrm>
          <a:prstGeom prst="ellipse">
            <a:avLst/>
          </a:prstGeom>
          <a:solidFill>
            <a:srgbClr val="12315B"/>
          </a:solidFill>
          <a:ln>
            <a:noFill/>
          </a:ln>
        </p:spPr>
        <p:txBody>
          <a:bodyPr wrap="square" lIns="0" tIns="0" rIns="0" bIns="0" rtlCol="0" anchor="ctr"/>
          <a:lstStyle/>
          <a:p>
            <a:pPr marL="0" indent="0" algn="ctr">
              <a:lnSpc>
                <a:spcPct val="95000"/>
              </a:lnSpc>
              <a:buNone/>
            </a:pPr>
            <a:r>
              <a:rPr lang="en-GB" sz="1800" b="1" dirty="0">
                <a:solidFill>
                  <a:srgbClr val="FFFFFF"/>
                </a:solidFill>
                <a:latin typeface="Calibri" pitchFamily="34" charset="0"/>
                <a:ea typeface="Calibri" pitchFamily="34" charset="-122"/>
                <a:cs typeface="Calibri" pitchFamily="34" charset="-120"/>
              </a:rPr>
              <a:t>1</a:t>
            </a:r>
            <a:endParaRPr lang="en-GB" sz="1800" dirty="0"/>
          </a:p>
        </p:txBody>
      </p:sp>
      <p:sp>
        <p:nvSpPr>
          <p:cNvPr id="233" name="Text 233"/>
          <p:cNvSpPr txBox="1"/>
          <p:nvPr/>
        </p:nvSpPr>
        <p:spPr>
          <a:xfrm>
            <a:off x="1268640" y="1315000"/>
            <a:ext cx="5800000" cy="980000"/>
          </a:xfrm>
          <a:prstGeom prst="rect">
            <a:avLst/>
          </a:prstGeom>
          <a:noFill/>
          <a:ln/>
        </p:spPr>
        <p:txBody>
          <a:bodyPr wrap="square" lIns="0" tIns="0" rIns="0" bIns="0" rtlCol="0" anchor="ctr"/>
          <a:lstStyle/>
          <a:p>
            <a:pPr marL="0" indent="0" algn="l">
              <a:lnSpc>
                <a:spcPct val="95000"/>
              </a:lnSpc>
              <a:buNone/>
            </a:pPr>
            <a:r>
              <a:rPr lang="en-GB" sz="1800" b="1" dirty="0">
                <a:solidFill>
                  <a:srgbClr val="12315B"/>
                </a:solidFill>
                <a:latin typeface="Calibri" pitchFamily="34" charset="0"/>
                <a:ea typeface="Calibri" pitchFamily="34" charset="-122"/>
                <a:cs typeface="Calibri" pitchFamily="34" charset="-120"/>
              </a:rPr>
              <a:t>Position: </a:t>
            </a:r>
            <a:r>
              <a:rPr lang="en-GB" sz="1800" dirty="0">
                <a:solidFill>
                  <a:srgbClr val="0B1F3F"/>
                </a:solidFill>
                <a:latin typeface="Calibri" pitchFamily="34" charset="0"/>
                <a:ea typeface="Calibri" pitchFamily="34" charset="-122"/>
                <a:cs typeface="Calibri" pitchFamily="34" charset="-120"/>
              </a:rPr>
              <a:t>She lies flat with the arm of the side you examine raised above her head. This spreads the breast over the chest wall.</a:t>
            </a:r>
            <a:endParaRPr lang="en-GB" sz="1800" dirty="0"/>
          </a:p>
        </p:txBody>
      </p:sp>
      <p:sp>
        <p:nvSpPr>
          <p:cNvPr id="234" name="Shape 234"/>
          <p:cNvSpPr/>
          <p:nvPr/>
        </p:nvSpPr>
        <p:spPr>
          <a:xfrm>
            <a:off x="548640" y="2475000"/>
            <a:ext cx="6650000" cy="1150000"/>
          </a:xfrm>
          <a:prstGeom prst="roundRect">
            <a:avLst>
              <a:gd name="adj" fmla="val 5000"/>
            </a:avLst>
          </a:prstGeom>
          <a:solidFill>
            <a:srgbClr val="F4F8FC"/>
          </a:solidFill>
          <a:ln w="12700">
            <a:solidFill>
              <a:srgbClr val="C8D8EC"/>
            </a:solidFill>
            <a:prstDash val="solid"/>
          </a:ln>
        </p:spPr>
        <p:txBody>
          <a:bodyPr wrap="square" lIns="91440" tIns="45720" rIns="91440" bIns="45720" rtlCol="0" anchor="ctr"/>
          <a:lstStyle/>
          <a:p>
            <a:endParaRPr lang="en-GB" dirty="0"/>
          </a:p>
        </p:txBody>
      </p:sp>
      <p:sp>
        <p:nvSpPr>
          <p:cNvPr id="235" name="Shape 235"/>
          <p:cNvSpPr/>
          <p:nvPr/>
        </p:nvSpPr>
        <p:spPr>
          <a:xfrm>
            <a:off x="678640" y="2625000"/>
            <a:ext cx="460000" cy="460000"/>
          </a:xfrm>
          <a:prstGeom prst="ellipse">
            <a:avLst/>
          </a:prstGeom>
          <a:solidFill>
            <a:srgbClr val="12315B"/>
          </a:solidFill>
          <a:ln>
            <a:noFill/>
          </a:ln>
        </p:spPr>
        <p:txBody>
          <a:bodyPr wrap="square" lIns="0" tIns="0" rIns="0" bIns="0" rtlCol="0" anchor="ctr"/>
          <a:lstStyle/>
          <a:p>
            <a:pPr marL="0" indent="0" algn="ctr">
              <a:lnSpc>
                <a:spcPct val="95000"/>
              </a:lnSpc>
              <a:buNone/>
            </a:pPr>
            <a:r>
              <a:rPr lang="en-GB" sz="1800" b="1" dirty="0">
                <a:solidFill>
                  <a:srgbClr val="FFFFFF"/>
                </a:solidFill>
                <a:latin typeface="Calibri" pitchFamily="34" charset="0"/>
                <a:ea typeface="Calibri" pitchFamily="34" charset="-122"/>
                <a:cs typeface="Calibri" pitchFamily="34" charset="-120"/>
              </a:rPr>
              <a:t>2</a:t>
            </a:r>
            <a:endParaRPr lang="en-GB" sz="1800" dirty="0"/>
          </a:p>
        </p:txBody>
      </p:sp>
      <p:sp>
        <p:nvSpPr>
          <p:cNvPr id="236" name="Text 236"/>
          <p:cNvSpPr txBox="1"/>
          <p:nvPr/>
        </p:nvSpPr>
        <p:spPr>
          <a:xfrm>
            <a:off x="1268640" y="2575000"/>
            <a:ext cx="5800000" cy="980000"/>
          </a:xfrm>
          <a:prstGeom prst="rect">
            <a:avLst/>
          </a:prstGeom>
          <a:noFill/>
          <a:ln/>
        </p:spPr>
        <p:txBody>
          <a:bodyPr wrap="square" lIns="0" tIns="0" rIns="0" bIns="0" rtlCol="0" anchor="ctr"/>
          <a:lstStyle/>
          <a:p>
            <a:pPr marL="0" indent="0" algn="l">
              <a:lnSpc>
                <a:spcPct val="95000"/>
              </a:lnSpc>
              <a:buNone/>
            </a:pPr>
            <a:r>
              <a:rPr lang="en-GB" sz="1800" b="1" dirty="0">
                <a:solidFill>
                  <a:srgbClr val="12315B"/>
                </a:solidFill>
                <a:latin typeface="Calibri" pitchFamily="34" charset="0"/>
                <a:ea typeface="Calibri" pitchFamily="34" charset="-122"/>
                <a:cs typeface="Calibri" pitchFamily="34" charset="-120"/>
              </a:rPr>
              <a:t>Fingers: </a:t>
            </a:r>
            <a:r>
              <a:rPr lang="en-GB" sz="1800" dirty="0">
                <a:solidFill>
                  <a:srgbClr val="0B1F3F"/>
                </a:solidFill>
                <a:latin typeface="Calibri" pitchFamily="34" charset="0"/>
                <a:ea typeface="Calibri" pitchFamily="34" charset="-122"/>
                <a:cs typeface="Calibri" pitchFamily="34" charset="-120"/>
              </a:rPr>
              <a:t>Use the pads of your middle three fingers, not the tips. Keep them in contact with the skin.</a:t>
            </a:r>
            <a:endParaRPr lang="en-GB" sz="1800" dirty="0"/>
          </a:p>
        </p:txBody>
      </p:sp>
      <p:sp>
        <p:nvSpPr>
          <p:cNvPr id="237" name="Shape 237"/>
          <p:cNvSpPr/>
          <p:nvPr/>
        </p:nvSpPr>
        <p:spPr>
          <a:xfrm>
            <a:off x="548640" y="3735000"/>
            <a:ext cx="6650000" cy="1150000"/>
          </a:xfrm>
          <a:prstGeom prst="roundRect">
            <a:avLst>
              <a:gd name="adj" fmla="val 5000"/>
            </a:avLst>
          </a:prstGeom>
          <a:solidFill>
            <a:srgbClr val="F4F8FC"/>
          </a:solidFill>
          <a:ln w="12700">
            <a:solidFill>
              <a:srgbClr val="C8D8EC"/>
            </a:solidFill>
            <a:prstDash val="solid"/>
          </a:ln>
        </p:spPr>
        <p:txBody>
          <a:bodyPr wrap="square" lIns="91440" tIns="45720" rIns="91440" bIns="45720" rtlCol="0" anchor="ctr"/>
          <a:lstStyle/>
          <a:p>
            <a:endParaRPr lang="en-GB" dirty="0"/>
          </a:p>
        </p:txBody>
      </p:sp>
      <p:sp>
        <p:nvSpPr>
          <p:cNvPr id="238" name="Shape 238"/>
          <p:cNvSpPr/>
          <p:nvPr/>
        </p:nvSpPr>
        <p:spPr>
          <a:xfrm>
            <a:off x="678640" y="3885000"/>
            <a:ext cx="460000" cy="460000"/>
          </a:xfrm>
          <a:prstGeom prst="ellipse">
            <a:avLst/>
          </a:prstGeom>
          <a:solidFill>
            <a:srgbClr val="12315B"/>
          </a:solidFill>
          <a:ln>
            <a:noFill/>
          </a:ln>
        </p:spPr>
        <p:txBody>
          <a:bodyPr wrap="square" lIns="0" tIns="0" rIns="0" bIns="0" rtlCol="0" anchor="ctr"/>
          <a:lstStyle/>
          <a:p>
            <a:pPr marL="0" indent="0" algn="ctr">
              <a:lnSpc>
                <a:spcPct val="95000"/>
              </a:lnSpc>
              <a:buNone/>
            </a:pPr>
            <a:r>
              <a:rPr lang="en-GB" sz="1800" b="1" dirty="0">
                <a:solidFill>
                  <a:srgbClr val="FFFFFF"/>
                </a:solidFill>
                <a:latin typeface="Calibri" pitchFamily="34" charset="0"/>
                <a:ea typeface="Calibri" pitchFamily="34" charset="-122"/>
                <a:cs typeface="Calibri" pitchFamily="34" charset="-120"/>
              </a:rPr>
              <a:t>3</a:t>
            </a:r>
            <a:endParaRPr lang="en-GB" sz="1800" dirty="0"/>
          </a:p>
        </p:txBody>
      </p:sp>
      <p:sp>
        <p:nvSpPr>
          <p:cNvPr id="239" name="Text 239"/>
          <p:cNvSpPr txBox="1"/>
          <p:nvPr/>
        </p:nvSpPr>
        <p:spPr>
          <a:xfrm>
            <a:off x="1268640" y="3835000"/>
            <a:ext cx="5800000" cy="980000"/>
          </a:xfrm>
          <a:prstGeom prst="rect">
            <a:avLst/>
          </a:prstGeom>
          <a:noFill/>
          <a:ln/>
        </p:spPr>
        <p:txBody>
          <a:bodyPr wrap="square" lIns="0" tIns="0" rIns="0" bIns="0" rtlCol="0" anchor="ctr"/>
          <a:lstStyle/>
          <a:p>
            <a:pPr marL="0" indent="0" algn="l">
              <a:lnSpc>
                <a:spcPct val="95000"/>
              </a:lnSpc>
              <a:buNone/>
            </a:pPr>
            <a:r>
              <a:rPr lang="en-GB" sz="1800" b="1" dirty="0">
                <a:solidFill>
                  <a:srgbClr val="12315B"/>
                </a:solidFill>
                <a:latin typeface="Calibri" pitchFamily="34" charset="0"/>
                <a:ea typeface="Calibri" pitchFamily="34" charset="-122"/>
                <a:cs typeface="Calibri" pitchFamily="34" charset="-120"/>
              </a:rPr>
              <a:t>Pressure: </a:t>
            </a:r>
            <a:r>
              <a:rPr lang="en-GB" sz="1800" dirty="0">
                <a:solidFill>
                  <a:srgbClr val="0B1F3F"/>
                </a:solidFill>
                <a:latin typeface="Calibri" pitchFamily="34" charset="0"/>
                <a:ea typeface="Calibri" pitchFamily="34" charset="-122"/>
                <a:cs typeface="Calibri" pitchFamily="34" charset="-120"/>
              </a:rPr>
              <a:t>At each spot, make small circles at three levels of pressure: light, medium, then deep.</a:t>
            </a:r>
            <a:endParaRPr lang="en-GB" sz="1800" dirty="0"/>
          </a:p>
        </p:txBody>
      </p:sp>
      <p:sp>
        <p:nvSpPr>
          <p:cNvPr id="240" name="Shape 240"/>
          <p:cNvSpPr/>
          <p:nvPr/>
        </p:nvSpPr>
        <p:spPr>
          <a:xfrm>
            <a:off x="548640" y="5130000"/>
            <a:ext cx="11094415" cy="1020000"/>
          </a:xfrm>
          <a:prstGeom prst="roundRect">
            <a:avLst>
              <a:gd name="adj" fmla="val 6000"/>
            </a:avLst>
          </a:prstGeom>
          <a:solidFill>
            <a:srgbClr val="F4F8FC"/>
          </a:solidFill>
          <a:ln w="12700">
            <a:solidFill>
              <a:srgbClr val="C8D8EC"/>
            </a:solidFill>
            <a:prstDash val="solid"/>
          </a:ln>
        </p:spPr>
        <p:txBody>
          <a:bodyPr wrap="square" lIns="91440" tIns="45720" rIns="91440" bIns="45720" rtlCol="0" anchor="ctr"/>
          <a:lstStyle/>
          <a:p>
            <a:endParaRPr lang="en-GB" dirty="0"/>
          </a:p>
        </p:txBody>
      </p:sp>
      <p:sp>
        <p:nvSpPr>
          <p:cNvPr id="241" name="Text 241"/>
          <p:cNvSpPr txBox="1"/>
          <p:nvPr/>
        </p:nvSpPr>
        <p:spPr>
          <a:xfrm>
            <a:off x="713232" y="5180000"/>
            <a:ext cx="10765231" cy="920000"/>
          </a:xfrm>
          <a:prstGeom prst="rect">
            <a:avLst/>
          </a:prstGeom>
          <a:noFill/>
          <a:ln/>
        </p:spPr>
        <p:txBody>
          <a:bodyPr wrap="square" lIns="0" tIns="0" rIns="0" bIns="0" rtlCol="0" anchor="ctr"/>
          <a:lstStyle/>
          <a:p>
            <a:pPr marL="0" indent="0" algn="l">
              <a:lnSpc>
                <a:spcPct val="95000"/>
              </a:lnSpc>
              <a:buNone/>
            </a:pPr>
            <a:r>
              <a:rPr lang="en-GB" sz="1800" b="1" dirty="0">
                <a:solidFill>
                  <a:srgbClr val="12315B"/>
                </a:solidFill>
                <a:latin typeface="Calibri" pitchFamily="34" charset="0"/>
                <a:ea typeface="Calibri" pitchFamily="34" charset="-122"/>
                <a:cs typeface="Calibri" pitchFamily="34" charset="-120"/>
              </a:rPr>
              <a:t>🎯 Goal: </a:t>
            </a:r>
            <a:r>
              <a:rPr lang="en-GB" sz="1800" dirty="0">
                <a:solidFill>
                  <a:srgbClr val="0B1F3F"/>
                </a:solidFill>
                <a:latin typeface="Calibri" pitchFamily="34" charset="0"/>
                <a:ea typeface="Calibri" pitchFamily="34" charset="-122"/>
                <a:cs typeface="Calibri" pitchFamily="34" charset="-120"/>
              </a:rPr>
              <a:t>identify any abnormal mass, thickening, tenderness or nipple discharge.</a:t>
            </a:r>
            <a:endParaRPr lang="en-GB" sz="1800" dirty="0"/>
          </a:p>
        </p:txBody>
      </p:sp>
      <p:pic>
        <p:nvPicPr>
          <p:cNvPr id="3" name="Imagen 2">
            <a:extLst>
              <a:ext uri="{FF2B5EF4-FFF2-40B4-BE49-F238E27FC236}">
                <a16:creationId xmlns:a16="http://schemas.microsoft.com/office/drawing/2014/main" id="{9597B2E9-27D6-9F1A-371F-61CB9D09037D}"/>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7280513" y="1124826"/>
            <a:ext cx="4379415" cy="3907047"/>
          </a:xfrm>
          <a:prstGeom prst="rect">
            <a:avLst/>
          </a:prstGeom>
        </p:spPr>
      </p:pic>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 name="Text 258"/>
          <p:cNvSpPr txBox="1"/>
          <p:nvPr/>
        </p:nvSpPr>
        <p:spPr>
          <a:xfrm>
            <a:off x="548640" y="274320"/>
            <a:ext cx="11094415" cy="256032"/>
          </a:xfrm>
          <a:prstGeom prst="rect">
            <a:avLst/>
          </a:prstGeom>
          <a:noFill/>
          <a:ln/>
        </p:spPr>
        <p:txBody>
          <a:bodyPr wrap="square" lIns="0" tIns="0" rIns="0" bIns="0" rtlCol="0" anchor="ctr"/>
          <a:lstStyle/>
          <a:p>
            <a:pPr marL="0" indent="0" algn="l">
              <a:lnSpc>
                <a:spcPct val="95000"/>
              </a:lnSpc>
              <a:buNone/>
            </a:pPr>
            <a:r>
              <a:rPr lang="en-GB" sz="1100" b="1" dirty="0">
                <a:solidFill>
                  <a:srgbClr val="5B7699"/>
                </a:solidFill>
                <a:latin typeface="Calibri" pitchFamily="34" charset="0"/>
                <a:ea typeface="Calibri" pitchFamily="34" charset="-122"/>
                <a:cs typeface="Calibri" pitchFamily="34" charset="-120"/>
              </a:rPr>
              <a:t>S E S S I O N   2</a:t>
            </a:r>
            <a:endParaRPr lang="en-GB" sz="1800" dirty="0"/>
          </a:p>
        </p:txBody>
      </p:sp>
      <p:sp>
        <p:nvSpPr>
          <p:cNvPr id="259" name="Text 259"/>
          <p:cNvSpPr txBox="1"/>
          <p:nvPr/>
        </p:nvSpPr>
        <p:spPr>
          <a:xfrm>
            <a:off x="548640" y="566928"/>
            <a:ext cx="11094415" cy="566928"/>
          </a:xfrm>
          <a:prstGeom prst="rect">
            <a:avLst/>
          </a:prstGeom>
          <a:noFill/>
          <a:ln/>
        </p:spPr>
        <p:txBody>
          <a:bodyPr wrap="square" lIns="0" tIns="0" rIns="0" bIns="0" rtlCol="0" anchor="t"/>
          <a:lstStyle/>
          <a:p>
            <a:pPr marL="0" indent="0" algn="l">
              <a:lnSpc>
                <a:spcPct val="95000"/>
              </a:lnSpc>
              <a:buNone/>
            </a:pPr>
            <a:r>
              <a:rPr lang="en-GB" sz="3000" b="1" dirty="0">
                <a:solidFill>
                  <a:srgbClr val="12315B"/>
                </a:solidFill>
                <a:latin typeface="Calibri" pitchFamily="34" charset="0"/>
                <a:ea typeface="Calibri" pitchFamily="34" charset="-122"/>
                <a:cs typeface="Calibri" pitchFamily="34" charset="-120"/>
              </a:rPr>
              <a:t>Step 4 (continued): cover the whole breast</a:t>
            </a:r>
            <a:endParaRPr lang="en-GB" sz="1800" dirty="0"/>
          </a:p>
        </p:txBody>
      </p:sp>
      <p:sp>
        <p:nvSpPr>
          <p:cNvPr id="260" name="Text 260"/>
          <p:cNvSpPr txBox="1"/>
          <p:nvPr/>
        </p:nvSpPr>
        <p:spPr>
          <a:xfrm>
            <a:off x="548640" y="6382512"/>
            <a:ext cx="11094415" cy="274320"/>
          </a:xfrm>
          <a:prstGeom prst="rect">
            <a:avLst/>
          </a:prstGeom>
          <a:noFill/>
          <a:ln/>
        </p:spPr>
        <p:txBody>
          <a:bodyPr wrap="square" lIns="0" tIns="0" rIns="0" bIns="0" rtlCol="0" anchor="ctr"/>
          <a:lstStyle/>
          <a:p>
            <a:pPr marL="0" indent="0" algn="l">
              <a:lnSpc>
                <a:spcPct val="95000"/>
              </a:lnSpc>
              <a:buNone/>
            </a:pPr>
            <a:r>
              <a:rPr lang="en-GB" sz="1000" dirty="0">
                <a:solidFill>
                  <a:srgbClr val="5B7699"/>
                </a:solidFill>
                <a:latin typeface="Calibri" pitchFamily="34" charset="0"/>
                <a:ea typeface="Calibri" pitchFamily="34" charset="-122"/>
                <a:cs typeface="Calibri" pitchFamily="34" charset="-120"/>
              </a:rPr>
              <a:t>Breast Cancer  |  Frontline HCP  |  Rwanda Biomedical Centre</a:t>
            </a:r>
            <a:endParaRPr lang="en-GB" sz="1800" dirty="0"/>
          </a:p>
        </p:txBody>
      </p:sp>
      <p:sp>
        <p:nvSpPr>
          <p:cNvPr id="246" name="Shape 246"/>
          <p:cNvSpPr/>
          <p:nvPr/>
        </p:nvSpPr>
        <p:spPr>
          <a:xfrm>
            <a:off x="548640" y="1215000"/>
            <a:ext cx="6650000" cy="1150000"/>
          </a:xfrm>
          <a:prstGeom prst="roundRect">
            <a:avLst>
              <a:gd name="adj" fmla="val 5000"/>
            </a:avLst>
          </a:prstGeom>
          <a:solidFill>
            <a:srgbClr val="F4F8FC"/>
          </a:solidFill>
          <a:ln w="12700">
            <a:solidFill>
              <a:srgbClr val="C8D8EC"/>
            </a:solidFill>
            <a:prstDash val="solid"/>
          </a:ln>
        </p:spPr>
        <p:txBody>
          <a:bodyPr wrap="square" lIns="91440" tIns="45720" rIns="91440" bIns="45720" rtlCol="0" anchor="ctr"/>
          <a:lstStyle/>
          <a:p>
            <a:endParaRPr lang="en-GB" dirty="0"/>
          </a:p>
        </p:txBody>
      </p:sp>
      <p:sp>
        <p:nvSpPr>
          <p:cNvPr id="247" name="Shape 247"/>
          <p:cNvSpPr/>
          <p:nvPr/>
        </p:nvSpPr>
        <p:spPr>
          <a:xfrm>
            <a:off x="678640" y="1365000"/>
            <a:ext cx="460000" cy="460000"/>
          </a:xfrm>
          <a:prstGeom prst="ellipse">
            <a:avLst/>
          </a:prstGeom>
          <a:solidFill>
            <a:srgbClr val="12315B"/>
          </a:solidFill>
          <a:ln>
            <a:noFill/>
          </a:ln>
        </p:spPr>
        <p:txBody>
          <a:bodyPr wrap="square" lIns="0" tIns="0" rIns="0" bIns="0" rtlCol="0" anchor="ctr"/>
          <a:lstStyle/>
          <a:p>
            <a:pPr marL="0" indent="0" algn="ctr">
              <a:lnSpc>
                <a:spcPct val="95000"/>
              </a:lnSpc>
              <a:buNone/>
            </a:pPr>
            <a:r>
              <a:rPr lang="en-GB" sz="1800" b="1" dirty="0">
                <a:solidFill>
                  <a:srgbClr val="FFFFFF"/>
                </a:solidFill>
                <a:latin typeface="Calibri" pitchFamily="34" charset="0"/>
                <a:ea typeface="Calibri" pitchFamily="34" charset="-122"/>
                <a:cs typeface="Calibri" pitchFamily="34" charset="-120"/>
              </a:rPr>
              <a:t>4</a:t>
            </a:r>
            <a:endParaRPr lang="en-GB" sz="1800" dirty="0"/>
          </a:p>
        </p:txBody>
      </p:sp>
      <p:sp>
        <p:nvSpPr>
          <p:cNvPr id="248" name="Text 248"/>
          <p:cNvSpPr txBox="1"/>
          <p:nvPr/>
        </p:nvSpPr>
        <p:spPr>
          <a:xfrm>
            <a:off x="1268640" y="1315000"/>
            <a:ext cx="5800000" cy="980000"/>
          </a:xfrm>
          <a:prstGeom prst="rect">
            <a:avLst/>
          </a:prstGeom>
          <a:noFill/>
          <a:ln/>
        </p:spPr>
        <p:txBody>
          <a:bodyPr wrap="square" lIns="0" tIns="0" rIns="0" bIns="0" rtlCol="0" anchor="ctr"/>
          <a:lstStyle/>
          <a:p>
            <a:pPr marL="0" indent="0" algn="l">
              <a:lnSpc>
                <a:spcPct val="95000"/>
              </a:lnSpc>
              <a:buNone/>
            </a:pPr>
            <a:r>
              <a:rPr lang="en-GB" sz="1800" b="1" dirty="0">
                <a:solidFill>
                  <a:srgbClr val="12315B"/>
                </a:solidFill>
                <a:latin typeface="Calibri" pitchFamily="34" charset="0"/>
                <a:ea typeface="Calibri" pitchFamily="34" charset="-122"/>
                <a:cs typeface="Calibri" pitchFamily="34" charset="-120"/>
              </a:rPr>
              <a:t>Pattern: </a:t>
            </a:r>
            <a:r>
              <a:rPr lang="en-GB" sz="1800" dirty="0">
                <a:solidFill>
                  <a:srgbClr val="0B1F3F"/>
                </a:solidFill>
                <a:latin typeface="Calibri" pitchFamily="34" charset="0"/>
                <a:ea typeface="Calibri" pitchFamily="34" charset="-122"/>
                <a:cs typeface="Calibri" pitchFamily="34" charset="-120"/>
              </a:rPr>
              <a:t>Move in vertical strips, up and down, from the armpit to the middle of the breastbone, and from the collarbone to below the breast fold.</a:t>
            </a:r>
            <a:endParaRPr lang="en-GB" sz="1800" dirty="0"/>
          </a:p>
        </p:txBody>
      </p:sp>
      <p:sp>
        <p:nvSpPr>
          <p:cNvPr id="249" name="Shape 249"/>
          <p:cNvSpPr/>
          <p:nvPr/>
        </p:nvSpPr>
        <p:spPr>
          <a:xfrm>
            <a:off x="548640" y="2475000"/>
            <a:ext cx="6650000" cy="1150000"/>
          </a:xfrm>
          <a:prstGeom prst="roundRect">
            <a:avLst>
              <a:gd name="adj" fmla="val 5000"/>
            </a:avLst>
          </a:prstGeom>
          <a:solidFill>
            <a:srgbClr val="F4F8FC"/>
          </a:solidFill>
          <a:ln w="12700">
            <a:solidFill>
              <a:srgbClr val="C8D8EC"/>
            </a:solidFill>
            <a:prstDash val="solid"/>
          </a:ln>
        </p:spPr>
        <p:txBody>
          <a:bodyPr wrap="square" lIns="91440" tIns="45720" rIns="91440" bIns="45720" rtlCol="0" anchor="ctr"/>
          <a:lstStyle/>
          <a:p>
            <a:endParaRPr lang="en-GB" dirty="0"/>
          </a:p>
        </p:txBody>
      </p:sp>
      <p:sp>
        <p:nvSpPr>
          <p:cNvPr id="250" name="Shape 250"/>
          <p:cNvSpPr/>
          <p:nvPr/>
        </p:nvSpPr>
        <p:spPr>
          <a:xfrm>
            <a:off x="678640" y="2625000"/>
            <a:ext cx="460000" cy="460000"/>
          </a:xfrm>
          <a:prstGeom prst="ellipse">
            <a:avLst/>
          </a:prstGeom>
          <a:solidFill>
            <a:srgbClr val="12315B"/>
          </a:solidFill>
          <a:ln>
            <a:noFill/>
          </a:ln>
        </p:spPr>
        <p:txBody>
          <a:bodyPr wrap="square" lIns="0" tIns="0" rIns="0" bIns="0" rtlCol="0" anchor="ctr"/>
          <a:lstStyle/>
          <a:p>
            <a:pPr marL="0" indent="0" algn="ctr">
              <a:lnSpc>
                <a:spcPct val="95000"/>
              </a:lnSpc>
              <a:buNone/>
            </a:pPr>
            <a:r>
              <a:rPr lang="en-GB" sz="1800" b="1" dirty="0">
                <a:solidFill>
                  <a:srgbClr val="FFFFFF"/>
                </a:solidFill>
                <a:latin typeface="Calibri" pitchFamily="34" charset="0"/>
                <a:ea typeface="Calibri" pitchFamily="34" charset="-122"/>
                <a:cs typeface="Calibri" pitchFamily="34" charset="-120"/>
              </a:rPr>
              <a:t>5</a:t>
            </a:r>
            <a:endParaRPr lang="en-GB" sz="1800" dirty="0"/>
          </a:p>
        </p:txBody>
      </p:sp>
      <p:sp>
        <p:nvSpPr>
          <p:cNvPr id="251" name="Text 251"/>
          <p:cNvSpPr txBox="1"/>
          <p:nvPr/>
        </p:nvSpPr>
        <p:spPr>
          <a:xfrm>
            <a:off x="1268640" y="2575000"/>
            <a:ext cx="5800000" cy="980000"/>
          </a:xfrm>
          <a:prstGeom prst="rect">
            <a:avLst/>
          </a:prstGeom>
          <a:noFill/>
          <a:ln/>
        </p:spPr>
        <p:txBody>
          <a:bodyPr wrap="square" lIns="0" tIns="0" rIns="0" bIns="0" rtlCol="0" anchor="ctr"/>
          <a:lstStyle/>
          <a:p>
            <a:pPr marL="0" indent="0" algn="l">
              <a:lnSpc>
                <a:spcPct val="95000"/>
              </a:lnSpc>
              <a:buNone/>
            </a:pPr>
            <a:r>
              <a:rPr lang="en-GB" sz="1800" b="1" dirty="0">
                <a:solidFill>
                  <a:srgbClr val="12315B"/>
                </a:solidFill>
                <a:latin typeface="Calibri" pitchFamily="34" charset="0"/>
                <a:ea typeface="Calibri" pitchFamily="34" charset="-122"/>
                <a:cs typeface="Calibri" pitchFamily="34" charset="-120"/>
              </a:rPr>
              <a:t>Do not miss: </a:t>
            </a:r>
            <a:r>
              <a:rPr lang="en-GB" sz="1800" dirty="0">
                <a:solidFill>
                  <a:srgbClr val="0B1F3F"/>
                </a:solidFill>
                <a:latin typeface="Calibri" pitchFamily="34" charset="0"/>
                <a:ea typeface="Calibri" pitchFamily="34" charset="-122"/>
                <a:cs typeface="Calibri" pitchFamily="34" charset="-120"/>
              </a:rPr>
              <a:t>The axillary tail, the area under the nipple and areola, and the fold under the breast.</a:t>
            </a:r>
            <a:endParaRPr lang="en-GB" sz="1800" dirty="0"/>
          </a:p>
        </p:txBody>
      </p:sp>
      <p:sp>
        <p:nvSpPr>
          <p:cNvPr id="252" name="Shape 252"/>
          <p:cNvSpPr/>
          <p:nvPr/>
        </p:nvSpPr>
        <p:spPr>
          <a:xfrm>
            <a:off x="548640" y="3735000"/>
            <a:ext cx="6650000" cy="1150000"/>
          </a:xfrm>
          <a:prstGeom prst="roundRect">
            <a:avLst>
              <a:gd name="adj" fmla="val 5000"/>
            </a:avLst>
          </a:prstGeom>
          <a:solidFill>
            <a:srgbClr val="F4F8FC"/>
          </a:solidFill>
          <a:ln w="12700">
            <a:solidFill>
              <a:srgbClr val="C8D8EC"/>
            </a:solidFill>
            <a:prstDash val="solid"/>
          </a:ln>
        </p:spPr>
        <p:txBody>
          <a:bodyPr wrap="square" lIns="91440" tIns="45720" rIns="91440" bIns="45720" rtlCol="0" anchor="ctr"/>
          <a:lstStyle/>
          <a:p>
            <a:endParaRPr lang="en-GB" dirty="0"/>
          </a:p>
        </p:txBody>
      </p:sp>
      <p:sp>
        <p:nvSpPr>
          <p:cNvPr id="253" name="Shape 253"/>
          <p:cNvSpPr/>
          <p:nvPr/>
        </p:nvSpPr>
        <p:spPr>
          <a:xfrm>
            <a:off x="678640" y="3885000"/>
            <a:ext cx="460000" cy="460000"/>
          </a:xfrm>
          <a:prstGeom prst="ellipse">
            <a:avLst/>
          </a:prstGeom>
          <a:solidFill>
            <a:srgbClr val="12315B"/>
          </a:solidFill>
          <a:ln>
            <a:noFill/>
          </a:ln>
        </p:spPr>
        <p:txBody>
          <a:bodyPr wrap="square" lIns="0" tIns="0" rIns="0" bIns="0" rtlCol="0" anchor="ctr"/>
          <a:lstStyle/>
          <a:p>
            <a:pPr marL="0" indent="0" algn="ctr">
              <a:lnSpc>
                <a:spcPct val="95000"/>
              </a:lnSpc>
              <a:buNone/>
            </a:pPr>
            <a:r>
              <a:rPr lang="en-GB" sz="1800" b="1" dirty="0">
                <a:solidFill>
                  <a:srgbClr val="FFFFFF"/>
                </a:solidFill>
                <a:latin typeface="Calibri" pitchFamily="34" charset="0"/>
                <a:ea typeface="Calibri" pitchFamily="34" charset="-122"/>
                <a:cs typeface="Calibri" pitchFamily="34" charset="-120"/>
              </a:rPr>
              <a:t>6</a:t>
            </a:r>
            <a:endParaRPr lang="en-GB" sz="1800" dirty="0"/>
          </a:p>
        </p:txBody>
      </p:sp>
      <p:sp>
        <p:nvSpPr>
          <p:cNvPr id="254" name="Text 254"/>
          <p:cNvSpPr txBox="1"/>
          <p:nvPr/>
        </p:nvSpPr>
        <p:spPr>
          <a:xfrm>
            <a:off x="1268640" y="3835000"/>
            <a:ext cx="5800000" cy="980000"/>
          </a:xfrm>
          <a:prstGeom prst="rect">
            <a:avLst/>
          </a:prstGeom>
          <a:noFill/>
          <a:ln/>
        </p:spPr>
        <p:txBody>
          <a:bodyPr wrap="square" lIns="0" tIns="0" rIns="0" bIns="0" rtlCol="0" anchor="ctr"/>
          <a:lstStyle/>
          <a:p>
            <a:pPr marL="0" indent="0" algn="l">
              <a:lnSpc>
                <a:spcPct val="95000"/>
              </a:lnSpc>
              <a:buNone/>
            </a:pPr>
            <a:r>
              <a:rPr lang="en-GB" sz="1800" b="1" dirty="0">
                <a:solidFill>
                  <a:srgbClr val="12315B"/>
                </a:solidFill>
                <a:latin typeface="Calibri" pitchFamily="34" charset="0"/>
                <a:ea typeface="Calibri" pitchFamily="34" charset="-122"/>
                <a:cs typeface="Calibri" pitchFamily="34" charset="-120"/>
              </a:rPr>
              <a:t>Take your time: </a:t>
            </a:r>
            <a:r>
              <a:rPr lang="en-GB" sz="1800" dirty="0">
                <a:solidFill>
                  <a:srgbClr val="0B1F3F"/>
                </a:solidFill>
                <a:latin typeface="Calibri" pitchFamily="34" charset="0"/>
                <a:ea typeface="Calibri" pitchFamily="34" charset="-122"/>
                <a:cs typeface="Calibri" pitchFamily="34" charset="-120"/>
              </a:rPr>
              <a:t>About 2 to 3 minutes for each breast. Then examine the other side the same way.</a:t>
            </a:r>
            <a:endParaRPr lang="en-GB" sz="1800" dirty="0"/>
          </a:p>
        </p:txBody>
      </p:sp>
      <p:sp>
        <p:nvSpPr>
          <p:cNvPr id="255" name="Shape 255"/>
          <p:cNvSpPr/>
          <p:nvPr/>
        </p:nvSpPr>
        <p:spPr>
          <a:xfrm>
            <a:off x="548640" y="5130000"/>
            <a:ext cx="11094415" cy="1020000"/>
          </a:xfrm>
          <a:prstGeom prst="roundRect">
            <a:avLst>
              <a:gd name="adj" fmla="val 6000"/>
            </a:avLst>
          </a:prstGeom>
          <a:solidFill>
            <a:srgbClr val="FDF1E0"/>
          </a:solidFill>
          <a:ln w="12700">
            <a:solidFill>
              <a:srgbClr val="EFD3AA"/>
            </a:solidFill>
            <a:prstDash val="solid"/>
          </a:ln>
        </p:spPr>
        <p:txBody>
          <a:bodyPr wrap="square" lIns="91440" tIns="45720" rIns="91440" bIns="45720" rtlCol="0" anchor="ctr"/>
          <a:lstStyle/>
          <a:p>
            <a:endParaRPr lang="en-GB" dirty="0"/>
          </a:p>
        </p:txBody>
      </p:sp>
      <p:sp>
        <p:nvSpPr>
          <p:cNvPr id="256" name="Text 256"/>
          <p:cNvSpPr txBox="1"/>
          <p:nvPr/>
        </p:nvSpPr>
        <p:spPr>
          <a:xfrm>
            <a:off x="713232" y="5180000"/>
            <a:ext cx="10765231" cy="920000"/>
          </a:xfrm>
          <a:prstGeom prst="rect">
            <a:avLst/>
          </a:prstGeom>
          <a:noFill/>
          <a:ln/>
        </p:spPr>
        <p:txBody>
          <a:bodyPr wrap="square" lIns="0" tIns="0" rIns="0" bIns="0" rtlCol="0" anchor="ctr"/>
          <a:lstStyle/>
          <a:p>
            <a:pPr marL="0" indent="0" algn="l">
              <a:lnSpc>
                <a:spcPct val="95000"/>
              </a:lnSpc>
              <a:buNone/>
            </a:pPr>
            <a:r>
              <a:rPr lang="en-GB" sz="1800" dirty="0">
                <a:solidFill>
                  <a:srgbClr val="0B1F3F"/>
                </a:solidFill>
                <a:latin typeface="Calibri" pitchFamily="34" charset="0"/>
                <a:ea typeface="Calibri" pitchFamily="34" charset="-122"/>
                <a:cs typeface="Calibri" pitchFamily="34" charset="-120"/>
              </a:rPr>
              <a:t>💡 Examine with flat finger pads. Squeezing tissue between thumb and fingers can make normal tissue feel like a lump.</a:t>
            </a:r>
            <a:endParaRPr lang="en-GB" sz="1800" dirty="0"/>
          </a:p>
        </p:txBody>
      </p:sp>
      <p:pic>
        <p:nvPicPr>
          <p:cNvPr id="3" name="Imagen 2">
            <a:extLst>
              <a:ext uri="{FF2B5EF4-FFF2-40B4-BE49-F238E27FC236}">
                <a16:creationId xmlns:a16="http://schemas.microsoft.com/office/drawing/2014/main" id="{6932830F-4126-2CB8-0BAF-7A74EEA6C625}"/>
              </a:ext>
            </a:extLst>
          </p:cNvPr>
          <p:cNvPicPr>
            <a:picLocks noChangeAspect="1"/>
          </p:cNvPicPr>
          <p:nvPr/>
        </p:nvPicPr>
        <p:blipFill>
          <a:blip r:embed="rId2" cstate="email">
            <a:extLst>
              <a:ext uri="{28A0092B-C50C-407E-A947-70E740481C1C}">
                <a14:useLocalDpi xmlns:a14="http://schemas.microsoft.com/office/drawing/2010/main"/>
              </a:ext>
            </a:extLst>
          </a:blip>
          <a:stretch>
            <a:fillRect/>
          </a:stretch>
        </p:blipFill>
        <p:spPr>
          <a:xfrm>
            <a:off x="7198639" y="1076375"/>
            <a:ext cx="4444415" cy="3965036"/>
          </a:xfrm>
          <a:prstGeom prst="rect">
            <a:avLst/>
          </a:prstGeom>
        </p:spPr>
      </p:pic>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5" name="Text 275"/>
          <p:cNvSpPr txBox="1"/>
          <p:nvPr/>
        </p:nvSpPr>
        <p:spPr>
          <a:xfrm>
            <a:off x="548640" y="274320"/>
            <a:ext cx="11094415" cy="256032"/>
          </a:xfrm>
          <a:prstGeom prst="rect">
            <a:avLst/>
          </a:prstGeom>
          <a:noFill/>
          <a:ln/>
        </p:spPr>
        <p:txBody>
          <a:bodyPr wrap="square" lIns="0" tIns="0" rIns="0" bIns="0" rtlCol="0" anchor="ctr"/>
          <a:lstStyle/>
          <a:p>
            <a:pPr marL="0" indent="0" algn="l">
              <a:lnSpc>
                <a:spcPct val="95000"/>
              </a:lnSpc>
              <a:buNone/>
            </a:pPr>
            <a:r>
              <a:rPr lang="en-GB" sz="1100" b="1" dirty="0">
                <a:solidFill>
                  <a:srgbClr val="5B7699"/>
                </a:solidFill>
                <a:latin typeface="Calibri" pitchFamily="34" charset="0"/>
                <a:ea typeface="Calibri" pitchFamily="34" charset="-122"/>
                <a:cs typeface="Calibri" pitchFamily="34" charset="-120"/>
              </a:rPr>
              <a:t>S E S S I O N   2</a:t>
            </a:r>
            <a:endParaRPr lang="en-GB" sz="1800" dirty="0"/>
          </a:p>
        </p:txBody>
      </p:sp>
      <p:sp>
        <p:nvSpPr>
          <p:cNvPr id="276" name="Text 276"/>
          <p:cNvSpPr txBox="1"/>
          <p:nvPr/>
        </p:nvSpPr>
        <p:spPr>
          <a:xfrm>
            <a:off x="548640" y="566928"/>
            <a:ext cx="11094415" cy="566928"/>
          </a:xfrm>
          <a:prstGeom prst="rect">
            <a:avLst/>
          </a:prstGeom>
          <a:noFill/>
          <a:ln/>
        </p:spPr>
        <p:txBody>
          <a:bodyPr wrap="square" lIns="0" tIns="0" rIns="0" bIns="0" rtlCol="0" anchor="t"/>
          <a:lstStyle/>
          <a:p>
            <a:pPr marL="0" indent="0" algn="l">
              <a:lnSpc>
                <a:spcPct val="95000"/>
              </a:lnSpc>
              <a:buNone/>
            </a:pPr>
            <a:r>
              <a:rPr lang="en-GB" sz="3000" b="1" dirty="0">
                <a:solidFill>
                  <a:srgbClr val="12315B"/>
                </a:solidFill>
                <a:latin typeface="Calibri" pitchFamily="34" charset="0"/>
                <a:ea typeface="Calibri" pitchFamily="34" charset="-122"/>
                <a:cs typeface="Calibri" pitchFamily="34" charset="-120"/>
              </a:rPr>
              <a:t>Normal breast changes through life</a:t>
            </a:r>
            <a:endParaRPr lang="en-GB" sz="1800" dirty="0"/>
          </a:p>
        </p:txBody>
      </p:sp>
      <p:sp>
        <p:nvSpPr>
          <p:cNvPr id="277" name="Text 277"/>
          <p:cNvSpPr txBox="1"/>
          <p:nvPr/>
        </p:nvSpPr>
        <p:spPr>
          <a:xfrm>
            <a:off x="548640" y="6382512"/>
            <a:ext cx="11094415" cy="274320"/>
          </a:xfrm>
          <a:prstGeom prst="rect">
            <a:avLst/>
          </a:prstGeom>
          <a:noFill/>
          <a:ln/>
        </p:spPr>
        <p:txBody>
          <a:bodyPr wrap="square" lIns="0" tIns="0" rIns="0" bIns="0" rtlCol="0" anchor="ctr"/>
          <a:lstStyle/>
          <a:p>
            <a:pPr marL="0" indent="0" algn="l">
              <a:lnSpc>
                <a:spcPct val="95000"/>
              </a:lnSpc>
              <a:buNone/>
            </a:pPr>
            <a:r>
              <a:rPr lang="en-GB" sz="1000" dirty="0">
                <a:solidFill>
                  <a:srgbClr val="5B7699"/>
                </a:solidFill>
                <a:latin typeface="Calibri" pitchFamily="34" charset="0"/>
                <a:ea typeface="Calibri" pitchFamily="34" charset="-122"/>
                <a:cs typeface="Calibri" pitchFamily="34" charset="-120"/>
              </a:rPr>
              <a:t>Breast Cancer  |  Frontline HCP  |  Rwanda Biomedical Centre</a:t>
            </a:r>
            <a:endParaRPr lang="en-GB" sz="1800" dirty="0"/>
          </a:p>
        </p:txBody>
      </p:sp>
      <p:sp>
        <p:nvSpPr>
          <p:cNvPr id="261" name="Shape 261"/>
          <p:cNvSpPr/>
          <p:nvPr/>
        </p:nvSpPr>
        <p:spPr>
          <a:xfrm>
            <a:off x="548640" y="1215000"/>
            <a:ext cx="3527450" cy="1810000"/>
          </a:xfrm>
          <a:prstGeom prst="roundRect">
            <a:avLst>
              <a:gd name="adj" fmla="val 3500"/>
            </a:avLst>
          </a:prstGeom>
          <a:solidFill>
            <a:srgbClr val="F4F8FC"/>
          </a:solidFill>
          <a:ln w="12700">
            <a:solidFill>
              <a:srgbClr val="C8D8EC"/>
            </a:solidFill>
            <a:prstDash val="solid"/>
          </a:ln>
        </p:spPr>
        <p:txBody>
          <a:bodyPr wrap="square" lIns="91440" tIns="45720" rIns="91440" bIns="45720" rtlCol="0" anchor="ctr"/>
          <a:lstStyle/>
          <a:p>
            <a:endParaRPr lang="en-GB" dirty="0"/>
          </a:p>
        </p:txBody>
      </p:sp>
      <p:sp>
        <p:nvSpPr>
          <p:cNvPr id="262" name="Text 262"/>
          <p:cNvSpPr txBox="1"/>
          <p:nvPr/>
        </p:nvSpPr>
        <p:spPr>
          <a:xfrm>
            <a:off x="713232" y="1333872"/>
            <a:ext cx="3198266" cy="1600000"/>
          </a:xfrm>
          <a:prstGeom prst="rect">
            <a:avLst/>
          </a:prstGeom>
          <a:noFill/>
          <a:ln/>
        </p:spPr>
        <p:txBody>
          <a:bodyPr wrap="square" lIns="0" tIns="0" rIns="0" bIns="0" rtlCol="0" anchor="t"/>
          <a:lstStyle/>
          <a:p>
            <a:pPr marL="0" indent="0" algn="l">
              <a:lnSpc>
                <a:spcPct val="95000"/>
              </a:lnSpc>
              <a:spcAft>
                <a:spcPts val="400"/>
              </a:spcAft>
              <a:buNone/>
            </a:pPr>
            <a:r>
              <a:rPr lang="en-GB" sz="1800" b="1" dirty="0">
                <a:solidFill>
                  <a:srgbClr val="12315B"/>
                </a:solidFill>
                <a:latin typeface="Calibri" pitchFamily="34" charset="0"/>
                <a:ea typeface="Calibri" pitchFamily="34" charset="-122"/>
                <a:cs typeface="Calibri" pitchFamily="34" charset="-120"/>
              </a:rPr>
              <a:t>Puberty</a:t>
            </a:r>
            <a:endParaRPr lang="en-GB" sz="1800" dirty="0"/>
          </a:p>
          <a:p>
            <a:pPr marL="0" indent="0" algn="l">
              <a:lnSpc>
                <a:spcPct val="95000"/>
              </a:lnSpc>
              <a:spcAft>
                <a:spcPts val="300"/>
              </a:spcAft>
              <a:buNone/>
            </a:pPr>
            <a:r>
              <a:rPr lang="en-GB" sz="1800" dirty="0">
                <a:solidFill>
                  <a:srgbClr val="0B1F3F"/>
                </a:solidFill>
                <a:latin typeface="Calibri" pitchFamily="34" charset="0"/>
                <a:ea typeface="Calibri" pitchFamily="34" charset="-122"/>
                <a:cs typeface="Calibri" pitchFamily="34" charset="-120"/>
              </a:rPr>
              <a:t>Ducts grow and branch, and lobules form. The breasts feel dense.</a:t>
            </a:r>
            <a:endParaRPr lang="en-GB" sz="1800" dirty="0"/>
          </a:p>
        </p:txBody>
      </p:sp>
      <p:sp>
        <p:nvSpPr>
          <p:cNvPr id="263" name="Shape 263"/>
          <p:cNvSpPr/>
          <p:nvPr/>
        </p:nvSpPr>
        <p:spPr>
          <a:xfrm>
            <a:off x="4332122" y="1215000"/>
            <a:ext cx="3527450" cy="1810000"/>
          </a:xfrm>
          <a:prstGeom prst="roundRect">
            <a:avLst>
              <a:gd name="adj" fmla="val 3500"/>
            </a:avLst>
          </a:prstGeom>
          <a:solidFill>
            <a:srgbClr val="F4F8FC"/>
          </a:solidFill>
          <a:ln w="12700">
            <a:solidFill>
              <a:srgbClr val="C8D8EC"/>
            </a:solidFill>
            <a:prstDash val="solid"/>
          </a:ln>
        </p:spPr>
        <p:txBody>
          <a:bodyPr wrap="square" lIns="91440" tIns="45720" rIns="91440" bIns="45720" rtlCol="0" anchor="ctr"/>
          <a:lstStyle/>
          <a:p>
            <a:endParaRPr lang="en-GB" dirty="0"/>
          </a:p>
        </p:txBody>
      </p:sp>
      <p:sp>
        <p:nvSpPr>
          <p:cNvPr id="264" name="Text 264"/>
          <p:cNvSpPr txBox="1"/>
          <p:nvPr/>
        </p:nvSpPr>
        <p:spPr>
          <a:xfrm>
            <a:off x="4496714" y="1333872"/>
            <a:ext cx="3198266" cy="1600000"/>
          </a:xfrm>
          <a:prstGeom prst="rect">
            <a:avLst/>
          </a:prstGeom>
          <a:noFill/>
          <a:ln/>
        </p:spPr>
        <p:txBody>
          <a:bodyPr wrap="square" lIns="0" tIns="0" rIns="0" bIns="0" rtlCol="0" anchor="t"/>
          <a:lstStyle/>
          <a:p>
            <a:pPr marL="0" indent="0" algn="l">
              <a:lnSpc>
                <a:spcPct val="95000"/>
              </a:lnSpc>
              <a:spcAft>
                <a:spcPts val="400"/>
              </a:spcAft>
              <a:buNone/>
            </a:pPr>
            <a:r>
              <a:rPr lang="en-GB" sz="1800" b="1" dirty="0">
                <a:solidFill>
                  <a:srgbClr val="12315B"/>
                </a:solidFill>
                <a:latin typeface="Calibri" pitchFamily="34" charset="0"/>
                <a:ea typeface="Calibri" pitchFamily="34" charset="-122"/>
                <a:cs typeface="Calibri" pitchFamily="34" charset="-120"/>
              </a:rPr>
              <a:t>Menstrual cycle</a:t>
            </a:r>
            <a:endParaRPr lang="en-GB" sz="1800" dirty="0"/>
          </a:p>
          <a:p>
            <a:pPr marL="0" indent="0" algn="l">
              <a:lnSpc>
                <a:spcPct val="95000"/>
              </a:lnSpc>
              <a:spcAft>
                <a:spcPts val="300"/>
              </a:spcAft>
              <a:buNone/>
            </a:pPr>
            <a:r>
              <a:rPr lang="en-GB" sz="1800" dirty="0">
                <a:solidFill>
                  <a:srgbClr val="0B1F3F"/>
                </a:solidFill>
                <a:latin typeface="Calibri" pitchFamily="34" charset="0"/>
                <a:ea typeface="Calibri" pitchFamily="34" charset="-122"/>
                <a:cs typeface="Calibri" pitchFamily="34" charset="-120"/>
              </a:rPr>
              <a:t>Before a period, breasts can be fuller, tender and more nodular. Examination is easiest in the week after the period.</a:t>
            </a:r>
            <a:endParaRPr lang="en-GB" sz="1800" dirty="0"/>
          </a:p>
        </p:txBody>
      </p:sp>
      <p:sp>
        <p:nvSpPr>
          <p:cNvPr id="265" name="Shape 265"/>
          <p:cNvSpPr/>
          <p:nvPr/>
        </p:nvSpPr>
        <p:spPr>
          <a:xfrm>
            <a:off x="8115604" y="1215000"/>
            <a:ext cx="3527450" cy="1810000"/>
          </a:xfrm>
          <a:prstGeom prst="roundRect">
            <a:avLst>
              <a:gd name="adj" fmla="val 3500"/>
            </a:avLst>
          </a:prstGeom>
          <a:solidFill>
            <a:srgbClr val="F4F8FC"/>
          </a:solidFill>
          <a:ln w="12700">
            <a:solidFill>
              <a:srgbClr val="C8D8EC"/>
            </a:solidFill>
            <a:prstDash val="solid"/>
          </a:ln>
        </p:spPr>
        <p:txBody>
          <a:bodyPr wrap="square" lIns="91440" tIns="45720" rIns="91440" bIns="45720" rtlCol="0" anchor="ctr"/>
          <a:lstStyle/>
          <a:p>
            <a:endParaRPr lang="en-GB" dirty="0"/>
          </a:p>
        </p:txBody>
      </p:sp>
      <p:sp>
        <p:nvSpPr>
          <p:cNvPr id="266" name="Text 266"/>
          <p:cNvSpPr txBox="1"/>
          <p:nvPr/>
        </p:nvSpPr>
        <p:spPr>
          <a:xfrm>
            <a:off x="8280196" y="1333872"/>
            <a:ext cx="3198266" cy="1600000"/>
          </a:xfrm>
          <a:prstGeom prst="rect">
            <a:avLst/>
          </a:prstGeom>
          <a:noFill/>
          <a:ln/>
        </p:spPr>
        <p:txBody>
          <a:bodyPr wrap="square" lIns="0" tIns="0" rIns="0" bIns="0" rtlCol="0" anchor="t"/>
          <a:lstStyle/>
          <a:p>
            <a:pPr marL="0" indent="0" algn="l">
              <a:lnSpc>
                <a:spcPct val="95000"/>
              </a:lnSpc>
              <a:spcAft>
                <a:spcPts val="400"/>
              </a:spcAft>
              <a:buNone/>
            </a:pPr>
            <a:r>
              <a:rPr lang="en-GB" sz="1800" b="1" dirty="0">
                <a:solidFill>
                  <a:srgbClr val="12315B"/>
                </a:solidFill>
                <a:latin typeface="Calibri" pitchFamily="34" charset="0"/>
                <a:ea typeface="Calibri" pitchFamily="34" charset="-122"/>
                <a:cs typeface="Calibri" pitchFamily="34" charset="-120"/>
              </a:rPr>
              <a:t>Pregnancy</a:t>
            </a:r>
            <a:endParaRPr lang="en-GB" sz="1800" dirty="0"/>
          </a:p>
          <a:p>
            <a:pPr marL="0" indent="0" algn="l">
              <a:lnSpc>
                <a:spcPct val="95000"/>
              </a:lnSpc>
              <a:spcAft>
                <a:spcPts val="300"/>
              </a:spcAft>
              <a:buNone/>
            </a:pPr>
            <a:r>
              <a:rPr lang="en-GB" sz="1800" dirty="0">
                <a:solidFill>
                  <a:srgbClr val="0B1F3F"/>
                </a:solidFill>
                <a:latin typeface="Calibri" pitchFamily="34" charset="0"/>
                <a:ea typeface="Calibri" pitchFamily="34" charset="-122"/>
                <a:cs typeface="Calibri" pitchFamily="34" charset="-120"/>
              </a:rPr>
              <a:t>Breasts grow, may be tender, and may secrete a little milk.</a:t>
            </a:r>
            <a:endParaRPr lang="en-GB" sz="1800" dirty="0"/>
          </a:p>
        </p:txBody>
      </p:sp>
      <p:sp>
        <p:nvSpPr>
          <p:cNvPr id="267" name="Shape 267"/>
          <p:cNvSpPr/>
          <p:nvPr/>
        </p:nvSpPr>
        <p:spPr>
          <a:xfrm>
            <a:off x="548640" y="3145000"/>
            <a:ext cx="3527450" cy="1810000"/>
          </a:xfrm>
          <a:prstGeom prst="roundRect">
            <a:avLst>
              <a:gd name="adj" fmla="val 3500"/>
            </a:avLst>
          </a:prstGeom>
          <a:solidFill>
            <a:srgbClr val="F4F8FC"/>
          </a:solidFill>
          <a:ln w="12700">
            <a:solidFill>
              <a:srgbClr val="C8D8EC"/>
            </a:solidFill>
            <a:prstDash val="solid"/>
          </a:ln>
        </p:spPr>
        <p:txBody>
          <a:bodyPr wrap="square" lIns="91440" tIns="45720" rIns="91440" bIns="45720" rtlCol="0" anchor="ctr"/>
          <a:lstStyle/>
          <a:p>
            <a:endParaRPr lang="en-GB" dirty="0"/>
          </a:p>
        </p:txBody>
      </p:sp>
      <p:sp>
        <p:nvSpPr>
          <p:cNvPr id="268" name="Text 268"/>
          <p:cNvSpPr txBox="1"/>
          <p:nvPr/>
        </p:nvSpPr>
        <p:spPr>
          <a:xfrm>
            <a:off x="713232" y="3263872"/>
            <a:ext cx="3198266" cy="1600000"/>
          </a:xfrm>
          <a:prstGeom prst="rect">
            <a:avLst/>
          </a:prstGeom>
          <a:noFill/>
          <a:ln/>
        </p:spPr>
        <p:txBody>
          <a:bodyPr wrap="square" lIns="0" tIns="0" rIns="0" bIns="0" rtlCol="0" anchor="t"/>
          <a:lstStyle/>
          <a:p>
            <a:pPr marL="0" indent="0" algn="l">
              <a:lnSpc>
                <a:spcPct val="95000"/>
              </a:lnSpc>
              <a:spcAft>
                <a:spcPts val="400"/>
              </a:spcAft>
              <a:buNone/>
            </a:pPr>
            <a:r>
              <a:rPr lang="en-GB" sz="1800" b="1" dirty="0">
                <a:solidFill>
                  <a:srgbClr val="12315B"/>
                </a:solidFill>
                <a:latin typeface="Calibri" pitchFamily="34" charset="0"/>
                <a:ea typeface="Calibri" pitchFamily="34" charset="-122"/>
                <a:cs typeface="Calibri" pitchFamily="34" charset="-120"/>
              </a:rPr>
              <a:t>Breastfeeding</a:t>
            </a:r>
            <a:endParaRPr lang="en-GB" sz="1800" dirty="0"/>
          </a:p>
          <a:p>
            <a:pPr marL="0" indent="0" algn="l">
              <a:lnSpc>
                <a:spcPct val="95000"/>
              </a:lnSpc>
              <a:spcAft>
                <a:spcPts val="300"/>
              </a:spcAft>
              <a:buNone/>
            </a:pPr>
            <a:r>
              <a:rPr lang="en-GB" sz="1800" dirty="0">
                <a:solidFill>
                  <a:srgbClr val="0B1F3F"/>
                </a:solidFill>
                <a:latin typeface="Calibri" pitchFamily="34" charset="0"/>
                <a:ea typeface="Calibri" pitchFamily="34" charset="-122"/>
                <a:cs typeface="Calibri" pitchFamily="34" charset="-120"/>
              </a:rPr>
              <a:t>Ducts and lobules are fully developed. The breasts feel full and dense.</a:t>
            </a:r>
            <a:endParaRPr lang="en-GB" sz="1800" dirty="0"/>
          </a:p>
        </p:txBody>
      </p:sp>
      <p:sp>
        <p:nvSpPr>
          <p:cNvPr id="269" name="Shape 269"/>
          <p:cNvSpPr/>
          <p:nvPr/>
        </p:nvSpPr>
        <p:spPr>
          <a:xfrm>
            <a:off x="4332122" y="3145000"/>
            <a:ext cx="3527450" cy="1810000"/>
          </a:xfrm>
          <a:prstGeom prst="roundRect">
            <a:avLst>
              <a:gd name="adj" fmla="val 3500"/>
            </a:avLst>
          </a:prstGeom>
          <a:solidFill>
            <a:srgbClr val="F4F8FC"/>
          </a:solidFill>
          <a:ln w="12700">
            <a:solidFill>
              <a:srgbClr val="C8D8EC"/>
            </a:solidFill>
            <a:prstDash val="solid"/>
          </a:ln>
        </p:spPr>
        <p:txBody>
          <a:bodyPr wrap="square" lIns="91440" tIns="45720" rIns="91440" bIns="45720" rtlCol="0" anchor="ctr"/>
          <a:lstStyle/>
          <a:p>
            <a:endParaRPr lang="en-GB" dirty="0"/>
          </a:p>
        </p:txBody>
      </p:sp>
      <p:sp>
        <p:nvSpPr>
          <p:cNvPr id="270" name="Text 270"/>
          <p:cNvSpPr txBox="1"/>
          <p:nvPr/>
        </p:nvSpPr>
        <p:spPr>
          <a:xfrm>
            <a:off x="4496714" y="3263872"/>
            <a:ext cx="3198266" cy="1600000"/>
          </a:xfrm>
          <a:prstGeom prst="rect">
            <a:avLst/>
          </a:prstGeom>
          <a:noFill/>
          <a:ln/>
        </p:spPr>
        <p:txBody>
          <a:bodyPr wrap="square" lIns="0" tIns="0" rIns="0" bIns="0" rtlCol="0" anchor="t"/>
          <a:lstStyle/>
          <a:p>
            <a:pPr marL="0" indent="0" algn="l">
              <a:lnSpc>
                <a:spcPct val="95000"/>
              </a:lnSpc>
              <a:spcAft>
                <a:spcPts val="400"/>
              </a:spcAft>
              <a:buNone/>
            </a:pPr>
            <a:r>
              <a:rPr lang="en-GB" sz="1800" b="1" dirty="0">
                <a:solidFill>
                  <a:srgbClr val="12315B"/>
                </a:solidFill>
                <a:latin typeface="Calibri" pitchFamily="34" charset="0"/>
                <a:ea typeface="Calibri" pitchFamily="34" charset="-122"/>
                <a:cs typeface="Calibri" pitchFamily="34" charset="-120"/>
              </a:rPr>
              <a:t>After the menopause</a:t>
            </a:r>
            <a:endParaRPr lang="en-GB" sz="1800" dirty="0"/>
          </a:p>
          <a:p>
            <a:pPr marL="0" indent="0" algn="l">
              <a:lnSpc>
                <a:spcPct val="95000"/>
              </a:lnSpc>
              <a:spcAft>
                <a:spcPts val="300"/>
              </a:spcAft>
              <a:buNone/>
            </a:pPr>
            <a:r>
              <a:rPr lang="en-GB" sz="1800" dirty="0">
                <a:solidFill>
                  <a:srgbClr val="0B1F3F"/>
                </a:solidFill>
                <a:latin typeface="Calibri" pitchFamily="34" charset="0"/>
                <a:ea typeface="Calibri" pitchFamily="34" charset="-122"/>
                <a:cs typeface="Calibri" pitchFamily="34" charset="-120"/>
              </a:rPr>
              <a:t>Lobules decrease. Breasts become softer and less dense, so a lump is easier to feel.</a:t>
            </a:r>
            <a:endParaRPr lang="en-GB" sz="1800" dirty="0"/>
          </a:p>
        </p:txBody>
      </p:sp>
      <p:sp>
        <p:nvSpPr>
          <p:cNvPr id="271" name="Shape 271"/>
          <p:cNvSpPr/>
          <p:nvPr/>
        </p:nvSpPr>
        <p:spPr>
          <a:xfrm>
            <a:off x="8115604" y="3145000"/>
            <a:ext cx="3527450" cy="1810000"/>
          </a:xfrm>
          <a:prstGeom prst="roundRect">
            <a:avLst>
              <a:gd name="adj" fmla="val 3500"/>
            </a:avLst>
          </a:prstGeom>
          <a:solidFill>
            <a:srgbClr val="F4F8FC"/>
          </a:solidFill>
          <a:ln w="12700">
            <a:solidFill>
              <a:srgbClr val="C8D8EC"/>
            </a:solidFill>
            <a:prstDash val="solid"/>
          </a:ln>
        </p:spPr>
        <p:txBody>
          <a:bodyPr wrap="square" lIns="91440" tIns="45720" rIns="91440" bIns="45720" rtlCol="0" anchor="ctr"/>
          <a:lstStyle/>
          <a:p>
            <a:endParaRPr lang="en-GB" dirty="0"/>
          </a:p>
        </p:txBody>
      </p:sp>
      <p:sp>
        <p:nvSpPr>
          <p:cNvPr id="272" name="Text 272"/>
          <p:cNvSpPr txBox="1"/>
          <p:nvPr/>
        </p:nvSpPr>
        <p:spPr>
          <a:xfrm>
            <a:off x="8280196" y="3263872"/>
            <a:ext cx="3198266" cy="1600000"/>
          </a:xfrm>
          <a:prstGeom prst="rect">
            <a:avLst/>
          </a:prstGeom>
          <a:noFill/>
          <a:ln/>
        </p:spPr>
        <p:txBody>
          <a:bodyPr wrap="square" lIns="0" tIns="0" rIns="0" bIns="0" rtlCol="0" anchor="t"/>
          <a:lstStyle/>
          <a:p>
            <a:pPr marL="0" indent="0" algn="l">
              <a:lnSpc>
                <a:spcPct val="95000"/>
              </a:lnSpc>
              <a:spcAft>
                <a:spcPts val="400"/>
              </a:spcAft>
              <a:buNone/>
            </a:pPr>
            <a:r>
              <a:rPr lang="en-GB" sz="1800" b="1" dirty="0">
                <a:solidFill>
                  <a:srgbClr val="12315B"/>
                </a:solidFill>
                <a:latin typeface="Calibri" pitchFamily="34" charset="0"/>
                <a:ea typeface="Calibri" pitchFamily="34" charset="-122"/>
                <a:cs typeface="Calibri" pitchFamily="34" charset="-120"/>
              </a:rPr>
              <a:t>Always</a:t>
            </a:r>
            <a:endParaRPr lang="en-GB" sz="1800" dirty="0"/>
          </a:p>
          <a:p>
            <a:pPr marL="0" indent="0" algn="l">
              <a:lnSpc>
                <a:spcPct val="95000"/>
              </a:lnSpc>
              <a:spcAft>
                <a:spcPts val="300"/>
              </a:spcAft>
              <a:buNone/>
            </a:pPr>
            <a:r>
              <a:rPr lang="en-GB" sz="1800" dirty="0">
                <a:solidFill>
                  <a:srgbClr val="0B1F3F"/>
                </a:solidFill>
                <a:latin typeface="Calibri" pitchFamily="34" charset="0"/>
                <a:ea typeface="Calibri" pitchFamily="34" charset="-122"/>
                <a:cs typeface="Calibri" pitchFamily="34" charset="-120"/>
              </a:rPr>
              <a:t>Soft, fine nodularity on both sides is normal. A firmer ridge along the breast fold is normal.</a:t>
            </a:r>
            <a:endParaRPr lang="en-GB" sz="1800" dirty="0"/>
          </a:p>
        </p:txBody>
      </p:sp>
      <p:sp>
        <p:nvSpPr>
          <p:cNvPr id="273" name="Shape 273"/>
          <p:cNvSpPr/>
          <p:nvPr/>
        </p:nvSpPr>
        <p:spPr>
          <a:xfrm>
            <a:off x="548640" y="5140000"/>
            <a:ext cx="11094415" cy="1000000"/>
          </a:xfrm>
          <a:prstGeom prst="roundRect">
            <a:avLst>
              <a:gd name="adj" fmla="val 6000"/>
            </a:avLst>
          </a:prstGeom>
          <a:solidFill>
            <a:srgbClr val="FDF1E0"/>
          </a:solidFill>
          <a:ln w="12700">
            <a:solidFill>
              <a:srgbClr val="EFD3AA"/>
            </a:solidFill>
            <a:prstDash val="solid"/>
          </a:ln>
        </p:spPr>
        <p:txBody>
          <a:bodyPr wrap="square" lIns="91440" tIns="45720" rIns="91440" bIns="45720" rtlCol="0" anchor="ctr"/>
          <a:lstStyle/>
          <a:p>
            <a:endParaRPr lang="en-GB" dirty="0"/>
          </a:p>
        </p:txBody>
      </p:sp>
      <p:sp>
        <p:nvSpPr>
          <p:cNvPr id="274" name="Text 274"/>
          <p:cNvSpPr txBox="1"/>
          <p:nvPr/>
        </p:nvSpPr>
        <p:spPr>
          <a:xfrm>
            <a:off x="713232" y="5190000"/>
            <a:ext cx="10765231" cy="900000"/>
          </a:xfrm>
          <a:prstGeom prst="rect">
            <a:avLst/>
          </a:prstGeom>
          <a:noFill/>
          <a:ln/>
        </p:spPr>
        <p:txBody>
          <a:bodyPr wrap="square" lIns="0" tIns="0" rIns="0" bIns="0" rtlCol="0" anchor="ctr"/>
          <a:lstStyle/>
          <a:p>
            <a:pPr marL="0" indent="0" algn="l">
              <a:lnSpc>
                <a:spcPct val="95000"/>
              </a:lnSpc>
              <a:buNone/>
            </a:pPr>
            <a:r>
              <a:rPr lang="en-GB" sz="1800" b="1" dirty="0">
                <a:solidFill>
                  <a:srgbClr val="C9761A"/>
                </a:solidFill>
                <a:latin typeface="Calibri" pitchFamily="34" charset="0"/>
                <a:ea typeface="Calibri" pitchFamily="34" charset="-122"/>
                <a:cs typeface="Calibri" pitchFamily="34" charset="-120"/>
              </a:rPr>
              <a:t>⚠️ A change that is new, persistent, and different from the other side needs assessment at any age and at any stage of life.</a:t>
            </a:r>
            <a:endParaRPr lang="en-GB" sz="1800" dirty="0"/>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4" name="Text 284"/>
          <p:cNvSpPr txBox="1"/>
          <p:nvPr/>
        </p:nvSpPr>
        <p:spPr>
          <a:xfrm>
            <a:off x="548640" y="274320"/>
            <a:ext cx="11094415" cy="256032"/>
          </a:xfrm>
          <a:prstGeom prst="rect">
            <a:avLst/>
          </a:prstGeom>
          <a:noFill/>
          <a:ln/>
        </p:spPr>
        <p:txBody>
          <a:bodyPr wrap="square" lIns="0" tIns="0" rIns="0" bIns="0" rtlCol="0" anchor="ctr"/>
          <a:lstStyle/>
          <a:p>
            <a:pPr marL="0" indent="0" algn="l">
              <a:lnSpc>
                <a:spcPct val="95000"/>
              </a:lnSpc>
              <a:buNone/>
            </a:pPr>
            <a:r>
              <a:rPr lang="en-GB" sz="1100" b="1" dirty="0">
                <a:solidFill>
                  <a:srgbClr val="5B7699"/>
                </a:solidFill>
                <a:latin typeface="Calibri" pitchFamily="34" charset="0"/>
                <a:ea typeface="Calibri" pitchFamily="34" charset="-122"/>
                <a:cs typeface="Calibri" pitchFamily="34" charset="-120"/>
              </a:rPr>
              <a:t>S E S S I O N   2</a:t>
            </a:r>
            <a:endParaRPr lang="en-GB" sz="1800" dirty="0"/>
          </a:p>
        </p:txBody>
      </p:sp>
      <p:sp>
        <p:nvSpPr>
          <p:cNvPr id="285" name="Text 285"/>
          <p:cNvSpPr txBox="1"/>
          <p:nvPr/>
        </p:nvSpPr>
        <p:spPr>
          <a:xfrm>
            <a:off x="548640" y="566928"/>
            <a:ext cx="11094415" cy="566928"/>
          </a:xfrm>
          <a:prstGeom prst="rect">
            <a:avLst/>
          </a:prstGeom>
          <a:noFill/>
          <a:ln/>
        </p:spPr>
        <p:txBody>
          <a:bodyPr wrap="square" lIns="0" tIns="0" rIns="0" bIns="0" rtlCol="0" anchor="t"/>
          <a:lstStyle/>
          <a:p>
            <a:pPr marL="0" indent="0" algn="l">
              <a:lnSpc>
                <a:spcPct val="95000"/>
              </a:lnSpc>
              <a:buNone/>
            </a:pPr>
            <a:r>
              <a:rPr lang="en-GB" sz="3000" b="1" dirty="0">
                <a:solidFill>
                  <a:srgbClr val="12315B"/>
                </a:solidFill>
                <a:latin typeface="Calibri" pitchFamily="34" charset="0"/>
                <a:ea typeface="Calibri" pitchFamily="34" charset="-122"/>
                <a:cs typeface="Calibri" pitchFamily="34" charset="-120"/>
              </a:rPr>
              <a:t>Step 5: Describe and record what you find</a:t>
            </a:r>
            <a:endParaRPr lang="en-GB" sz="1800" dirty="0"/>
          </a:p>
        </p:txBody>
      </p:sp>
      <p:sp>
        <p:nvSpPr>
          <p:cNvPr id="286" name="Text 286"/>
          <p:cNvSpPr txBox="1"/>
          <p:nvPr/>
        </p:nvSpPr>
        <p:spPr>
          <a:xfrm>
            <a:off x="548640" y="6382512"/>
            <a:ext cx="11094415" cy="274320"/>
          </a:xfrm>
          <a:prstGeom prst="rect">
            <a:avLst/>
          </a:prstGeom>
          <a:noFill/>
          <a:ln/>
        </p:spPr>
        <p:txBody>
          <a:bodyPr wrap="square" lIns="0" tIns="0" rIns="0" bIns="0" rtlCol="0" anchor="ctr"/>
          <a:lstStyle/>
          <a:p>
            <a:pPr marL="0" indent="0" algn="l">
              <a:lnSpc>
                <a:spcPct val="95000"/>
              </a:lnSpc>
              <a:buNone/>
            </a:pPr>
            <a:r>
              <a:rPr lang="en-GB" sz="1000" dirty="0">
                <a:solidFill>
                  <a:srgbClr val="5B7699"/>
                </a:solidFill>
                <a:latin typeface="Calibri" pitchFamily="34" charset="0"/>
                <a:ea typeface="Calibri" pitchFamily="34" charset="-122"/>
                <a:cs typeface="Calibri" pitchFamily="34" charset="-120"/>
              </a:rPr>
              <a:t>Breast Cancer  |  Frontline HCP  |  Rwanda Biomedical Centre</a:t>
            </a:r>
            <a:endParaRPr lang="en-GB" sz="1800" dirty="0"/>
          </a:p>
        </p:txBody>
      </p:sp>
      <p:sp>
        <p:nvSpPr>
          <p:cNvPr id="278" name="Shape 278"/>
          <p:cNvSpPr/>
          <p:nvPr/>
        </p:nvSpPr>
        <p:spPr>
          <a:xfrm>
            <a:off x="548640" y="1215000"/>
            <a:ext cx="5450000" cy="3650000"/>
          </a:xfrm>
          <a:prstGeom prst="roundRect">
            <a:avLst>
              <a:gd name="adj" fmla="val 3500"/>
            </a:avLst>
          </a:prstGeom>
          <a:solidFill>
            <a:srgbClr val="F4F8FC"/>
          </a:solidFill>
          <a:ln w="12700">
            <a:solidFill>
              <a:srgbClr val="C8D8EC"/>
            </a:solidFill>
            <a:prstDash val="solid"/>
          </a:ln>
        </p:spPr>
        <p:txBody>
          <a:bodyPr wrap="square" lIns="91440" tIns="45720" rIns="91440" bIns="45720" rtlCol="0" anchor="ctr"/>
          <a:lstStyle/>
          <a:p>
            <a:endParaRPr lang="en-GB" dirty="0"/>
          </a:p>
        </p:txBody>
      </p:sp>
      <p:sp>
        <p:nvSpPr>
          <p:cNvPr id="279" name="Text 279"/>
          <p:cNvSpPr txBox="1"/>
          <p:nvPr/>
        </p:nvSpPr>
        <p:spPr>
          <a:xfrm>
            <a:off x="713232" y="1333872"/>
            <a:ext cx="5120816" cy="3440000"/>
          </a:xfrm>
          <a:prstGeom prst="rect">
            <a:avLst/>
          </a:prstGeom>
          <a:noFill/>
          <a:ln/>
        </p:spPr>
        <p:txBody>
          <a:bodyPr wrap="square" lIns="0" tIns="0" rIns="0" bIns="0" rtlCol="0" anchor="t"/>
          <a:lstStyle/>
          <a:p>
            <a:pPr marL="0" indent="0" algn="l">
              <a:lnSpc>
                <a:spcPct val="95000"/>
              </a:lnSpc>
              <a:spcAft>
                <a:spcPts val="400"/>
              </a:spcAft>
              <a:buNone/>
            </a:pPr>
            <a:r>
              <a:rPr lang="en-GB" sz="1800" b="1" dirty="0">
                <a:solidFill>
                  <a:srgbClr val="12315B"/>
                </a:solidFill>
                <a:latin typeface="Calibri" pitchFamily="34" charset="0"/>
                <a:ea typeface="Calibri" pitchFamily="34" charset="-122"/>
                <a:cs typeface="Calibri" pitchFamily="34" charset="-120"/>
              </a:rPr>
              <a:t>For any mass, record</a:t>
            </a:r>
            <a:endParaRPr lang="en-GB" sz="1800" dirty="0"/>
          </a:p>
          <a:p>
            <a:pPr marL="0" indent="0" algn="l">
              <a:lnSpc>
                <a:spcPct val="95000"/>
              </a:lnSpc>
              <a:spcAft>
                <a:spcPts val="300"/>
              </a:spcAft>
              <a:buNone/>
            </a:pPr>
            <a:r>
              <a:rPr lang="en-GB" sz="1800" b="1" dirty="0">
                <a:solidFill>
                  <a:srgbClr val="12315B"/>
                </a:solidFill>
                <a:latin typeface="Calibri" pitchFamily="34" charset="0"/>
                <a:ea typeface="Calibri" pitchFamily="34" charset="-122"/>
                <a:cs typeface="Calibri" pitchFamily="34" charset="-120"/>
              </a:rPr>
              <a:t>Location: </a:t>
            </a:r>
            <a:r>
              <a:rPr lang="en-GB" sz="1800" dirty="0">
                <a:solidFill>
                  <a:srgbClr val="0B1F3F"/>
                </a:solidFill>
                <a:latin typeface="Calibri" pitchFamily="34" charset="0"/>
                <a:ea typeface="Calibri" pitchFamily="34" charset="-122"/>
                <a:cs typeface="Calibri" pitchFamily="34" charset="-120"/>
              </a:rPr>
              <a:t>side, clock position, distance from the nipple.</a:t>
            </a:r>
            <a:endParaRPr lang="en-GB" sz="1800" dirty="0"/>
          </a:p>
          <a:p>
            <a:pPr marL="0" indent="0" algn="l">
              <a:lnSpc>
                <a:spcPct val="95000"/>
              </a:lnSpc>
              <a:spcAft>
                <a:spcPts val="300"/>
              </a:spcAft>
              <a:buNone/>
            </a:pPr>
            <a:r>
              <a:rPr lang="en-GB" sz="1800" b="1" dirty="0">
                <a:solidFill>
                  <a:srgbClr val="12315B"/>
                </a:solidFill>
                <a:latin typeface="Calibri" pitchFamily="34" charset="0"/>
                <a:ea typeface="Calibri" pitchFamily="34" charset="-122"/>
                <a:cs typeface="Calibri" pitchFamily="34" charset="-120"/>
              </a:rPr>
              <a:t>Size: </a:t>
            </a:r>
            <a:r>
              <a:rPr lang="en-GB" sz="1800" dirty="0">
                <a:solidFill>
                  <a:srgbClr val="0B1F3F"/>
                </a:solidFill>
                <a:latin typeface="Calibri" pitchFamily="34" charset="0"/>
                <a:ea typeface="Calibri" pitchFamily="34" charset="-122"/>
                <a:cs typeface="Calibri" pitchFamily="34" charset="-120"/>
              </a:rPr>
              <a:t>in centimetres.</a:t>
            </a:r>
            <a:endParaRPr lang="en-GB" sz="1800" dirty="0"/>
          </a:p>
          <a:p>
            <a:pPr marL="0" indent="0" algn="l">
              <a:lnSpc>
                <a:spcPct val="95000"/>
              </a:lnSpc>
              <a:spcAft>
                <a:spcPts val="300"/>
              </a:spcAft>
              <a:buNone/>
            </a:pPr>
            <a:r>
              <a:rPr lang="en-GB" sz="1800" b="1" dirty="0">
                <a:solidFill>
                  <a:srgbClr val="12315B"/>
                </a:solidFill>
                <a:latin typeface="Calibri" pitchFamily="34" charset="0"/>
                <a:ea typeface="Calibri" pitchFamily="34" charset="-122"/>
                <a:cs typeface="Calibri" pitchFamily="34" charset="-120"/>
              </a:rPr>
              <a:t>Shape and borders: </a:t>
            </a:r>
            <a:r>
              <a:rPr lang="en-GB" sz="1800" dirty="0">
                <a:solidFill>
                  <a:srgbClr val="0B1F3F"/>
                </a:solidFill>
                <a:latin typeface="Calibri" pitchFamily="34" charset="0"/>
                <a:ea typeface="Calibri" pitchFamily="34" charset="-122"/>
                <a:cs typeface="Calibri" pitchFamily="34" charset="-120"/>
              </a:rPr>
              <a:t>regular or irregular.</a:t>
            </a:r>
            <a:endParaRPr lang="en-GB" sz="1800" dirty="0"/>
          </a:p>
          <a:p>
            <a:pPr marL="0" indent="0" algn="l">
              <a:lnSpc>
                <a:spcPct val="95000"/>
              </a:lnSpc>
              <a:spcAft>
                <a:spcPts val="300"/>
              </a:spcAft>
              <a:buNone/>
            </a:pPr>
            <a:r>
              <a:rPr lang="en-GB" sz="1800" b="1" dirty="0">
                <a:solidFill>
                  <a:srgbClr val="12315B"/>
                </a:solidFill>
                <a:latin typeface="Calibri" pitchFamily="34" charset="0"/>
                <a:ea typeface="Calibri" pitchFamily="34" charset="-122"/>
                <a:cs typeface="Calibri" pitchFamily="34" charset="-120"/>
              </a:rPr>
              <a:t>Consistency: </a:t>
            </a:r>
            <a:r>
              <a:rPr lang="en-GB" sz="1800" dirty="0">
                <a:solidFill>
                  <a:srgbClr val="0B1F3F"/>
                </a:solidFill>
                <a:latin typeface="Calibri" pitchFamily="34" charset="0"/>
                <a:ea typeface="Calibri" pitchFamily="34" charset="-122"/>
                <a:cs typeface="Calibri" pitchFamily="34" charset="-120"/>
              </a:rPr>
              <a:t>soft, firm or hard.</a:t>
            </a:r>
            <a:endParaRPr lang="en-GB" sz="1800" dirty="0"/>
          </a:p>
          <a:p>
            <a:pPr marL="0" indent="0" algn="l">
              <a:lnSpc>
                <a:spcPct val="95000"/>
              </a:lnSpc>
              <a:spcAft>
                <a:spcPts val="300"/>
              </a:spcAft>
              <a:buNone/>
            </a:pPr>
            <a:r>
              <a:rPr lang="en-GB" sz="1800" b="1" dirty="0">
                <a:solidFill>
                  <a:srgbClr val="12315B"/>
                </a:solidFill>
                <a:latin typeface="Calibri" pitchFamily="34" charset="0"/>
                <a:ea typeface="Calibri" pitchFamily="34" charset="-122"/>
                <a:cs typeface="Calibri" pitchFamily="34" charset="-120"/>
              </a:rPr>
              <a:t>Mobility: </a:t>
            </a:r>
            <a:r>
              <a:rPr lang="en-GB" sz="1800" dirty="0">
                <a:solidFill>
                  <a:srgbClr val="0B1F3F"/>
                </a:solidFill>
                <a:latin typeface="Calibri" pitchFamily="34" charset="0"/>
                <a:ea typeface="Calibri" pitchFamily="34" charset="-122"/>
                <a:cs typeface="Calibri" pitchFamily="34" charset="-120"/>
              </a:rPr>
              <a:t>moves freely, or fixed to skin or chest wall.</a:t>
            </a:r>
            <a:endParaRPr lang="en-GB" sz="1800" dirty="0"/>
          </a:p>
          <a:p>
            <a:pPr marL="0" indent="0" algn="l">
              <a:lnSpc>
                <a:spcPct val="95000"/>
              </a:lnSpc>
              <a:spcAft>
                <a:spcPts val="300"/>
              </a:spcAft>
              <a:buNone/>
            </a:pPr>
            <a:r>
              <a:rPr lang="en-GB" sz="1800" b="1" dirty="0">
                <a:solidFill>
                  <a:srgbClr val="12315B"/>
                </a:solidFill>
                <a:latin typeface="Calibri" pitchFamily="34" charset="0"/>
                <a:ea typeface="Calibri" pitchFamily="34" charset="-122"/>
                <a:cs typeface="Calibri" pitchFamily="34" charset="-120"/>
              </a:rPr>
              <a:t>Also: </a:t>
            </a:r>
            <a:r>
              <a:rPr lang="en-GB" sz="1800" dirty="0">
                <a:solidFill>
                  <a:srgbClr val="0B1F3F"/>
                </a:solidFill>
                <a:latin typeface="Calibri" pitchFamily="34" charset="0"/>
                <a:ea typeface="Calibri" pitchFamily="34" charset="-122"/>
                <a:cs typeface="Calibri" pitchFamily="34" charset="-120"/>
              </a:rPr>
              <a:t>tenderness, skin and nipple changes, nodes.</a:t>
            </a:r>
            <a:endParaRPr lang="en-GB" sz="1800" dirty="0"/>
          </a:p>
        </p:txBody>
      </p:sp>
      <p:sp>
        <p:nvSpPr>
          <p:cNvPr id="280" name="Shape 280"/>
          <p:cNvSpPr/>
          <p:nvPr/>
        </p:nvSpPr>
        <p:spPr>
          <a:xfrm>
            <a:off x="6148640" y="1215000"/>
            <a:ext cx="5494415" cy="3650000"/>
          </a:xfrm>
          <a:prstGeom prst="roundRect">
            <a:avLst>
              <a:gd name="adj" fmla="val 3500"/>
            </a:avLst>
          </a:prstGeom>
          <a:solidFill>
            <a:srgbClr val="FFF7E6"/>
          </a:solidFill>
          <a:ln w="12700">
            <a:solidFill>
              <a:srgbClr val="EFD3AA"/>
            </a:solidFill>
            <a:prstDash val="solid"/>
          </a:ln>
        </p:spPr>
        <p:txBody>
          <a:bodyPr wrap="square" lIns="91440" tIns="45720" rIns="91440" bIns="45720" rtlCol="0" anchor="ctr"/>
          <a:lstStyle/>
          <a:p>
            <a:endParaRPr lang="en-GB" dirty="0"/>
          </a:p>
        </p:txBody>
      </p:sp>
      <p:sp>
        <p:nvSpPr>
          <p:cNvPr id="281" name="Text 281"/>
          <p:cNvSpPr txBox="1"/>
          <p:nvPr/>
        </p:nvSpPr>
        <p:spPr>
          <a:xfrm>
            <a:off x="6313232" y="1333872"/>
            <a:ext cx="5165231" cy="3440000"/>
          </a:xfrm>
          <a:prstGeom prst="rect">
            <a:avLst/>
          </a:prstGeom>
          <a:noFill/>
          <a:ln/>
        </p:spPr>
        <p:txBody>
          <a:bodyPr wrap="square" lIns="0" tIns="0" rIns="0" bIns="0" rtlCol="0" anchor="t"/>
          <a:lstStyle/>
          <a:p>
            <a:pPr marL="0" indent="0" algn="l">
              <a:lnSpc>
                <a:spcPct val="95000"/>
              </a:lnSpc>
              <a:spcAft>
                <a:spcPts val="400"/>
              </a:spcAft>
              <a:buNone/>
            </a:pPr>
            <a:r>
              <a:rPr lang="en-GB" sz="1800" b="1" dirty="0">
                <a:solidFill>
                  <a:srgbClr val="12315B"/>
                </a:solidFill>
                <a:latin typeface="Calibri" pitchFamily="34" charset="0"/>
                <a:ea typeface="Calibri" pitchFamily="34" charset="-122"/>
                <a:cs typeface="Calibri" pitchFamily="34" charset="-120"/>
              </a:rPr>
              <a:t>Example of a good record</a:t>
            </a:r>
            <a:endParaRPr lang="en-GB" sz="1800" dirty="0"/>
          </a:p>
          <a:p>
            <a:pPr marL="0" indent="0" algn="l">
              <a:lnSpc>
                <a:spcPct val="95000"/>
              </a:lnSpc>
              <a:spcAft>
                <a:spcPts val="300"/>
              </a:spcAft>
              <a:buNone/>
            </a:pPr>
            <a:r>
              <a:rPr lang="en-GB" sz="1800" dirty="0">
                <a:solidFill>
                  <a:srgbClr val="0B1F3F"/>
                </a:solidFill>
                <a:latin typeface="Calibri" pitchFamily="34" charset="0"/>
                <a:ea typeface="Calibri" pitchFamily="34" charset="-122"/>
                <a:cs typeface="Calibri" pitchFamily="34" charset="-120"/>
              </a:rPr>
              <a:t>Left breast, 2 o’clock, 4 cm from the nipple: 2 cm firm, irregular mass, fixed to the skin, with dimpling of the overlying skin. No axillary or supraclavicular nodes felt. Right breast normal.</a:t>
            </a:r>
            <a:endParaRPr lang="en-GB" sz="1800" dirty="0"/>
          </a:p>
        </p:txBody>
      </p:sp>
      <p:sp>
        <p:nvSpPr>
          <p:cNvPr id="282" name="Shape 282"/>
          <p:cNvSpPr/>
          <p:nvPr/>
        </p:nvSpPr>
        <p:spPr>
          <a:xfrm>
            <a:off x="548640" y="5000000"/>
            <a:ext cx="11094415" cy="1150000"/>
          </a:xfrm>
          <a:prstGeom prst="roundRect">
            <a:avLst>
              <a:gd name="adj" fmla="val 6000"/>
            </a:avLst>
          </a:prstGeom>
          <a:solidFill>
            <a:srgbClr val="F4F8FC"/>
          </a:solidFill>
          <a:ln w="12700">
            <a:solidFill>
              <a:srgbClr val="C8D8EC"/>
            </a:solidFill>
            <a:prstDash val="solid"/>
          </a:ln>
        </p:spPr>
        <p:txBody>
          <a:bodyPr wrap="square" lIns="91440" tIns="45720" rIns="91440" bIns="45720" rtlCol="0" anchor="ctr"/>
          <a:lstStyle/>
          <a:p>
            <a:endParaRPr lang="en-GB" dirty="0"/>
          </a:p>
        </p:txBody>
      </p:sp>
      <p:sp>
        <p:nvSpPr>
          <p:cNvPr id="283" name="Text 283"/>
          <p:cNvSpPr txBox="1"/>
          <p:nvPr/>
        </p:nvSpPr>
        <p:spPr>
          <a:xfrm>
            <a:off x="713232" y="5050000"/>
            <a:ext cx="10765231" cy="1050000"/>
          </a:xfrm>
          <a:prstGeom prst="rect">
            <a:avLst/>
          </a:prstGeom>
          <a:noFill/>
          <a:ln/>
        </p:spPr>
        <p:txBody>
          <a:bodyPr wrap="square" lIns="0" tIns="0" rIns="0" bIns="0" rtlCol="0" anchor="ctr"/>
          <a:lstStyle/>
          <a:p>
            <a:pPr marL="0" indent="0" algn="l">
              <a:lnSpc>
                <a:spcPct val="95000"/>
              </a:lnSpc>
              <a:buNone/>
            </a:pPr>
            <a:r>
              <a:rPr lang="en-GB" sz="1800" dirty="0">
                <a:solidFill>
                  <a:srgbClr val="0B1F3F"/>
                </a:solidFill>
                <a:latin typeface="Calibri" pitchFamily="34" charset="0"/>
                <a:ea typeface="Calibri" pitchFamily="34" charset="-122"/>
                <a:cs typeface="Calibri" pitchFamily="34" charset="-120"/>
              </a:rPr>
              <a:t>📋 Record a normal examination too. A written baseline shows later whether something is new.</a:t>
            </a:r>
            <a:endParaRPr lang="en-GB" sz="1800" dirty="0"/>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4" name="Text 304"/>
          <p:cNvSpPr txBox="1"/>
          <p:nvPr/>
        </p:nvSpPr>
        <p:spPr>
          <a:xfrm>
            <a:off x="548640" y="274320"/>
            <a:ext cx="11094415" cy="256032"/>
          </a:xfrm>
          <a:prstGeom prst="rect">
            <a:avLst/>
          </a:prstGeom>
          <a:noFill/>
          <a:ln/>
        </p:spPr>
        <p:txBody>
          <a:bodyPr wrap="square" lIns="0" tIns="0" rIns="0" bIns="0" rtlCol="0" anchor="ctr"/>
          <a:lstStyle/>
          <a:p>
            <a:pPr marL="0" indent="0" algn="l">
              <a:lnSpc>
                <a:spcPct val="95000"/>
              </a:lnSpc>
              <a:buNone/>
            </a:pPr>
            <a:r>
              <a:rPr lang="en-GB" sz="1100" b="1" dirty="0">
                <a:solidFill>
                  <a:srgbClr val="5B7699"/>
                </a:solidFill>
                <a:latin typeface="Calibri" pitchFamily="34" charset="0"/>
                <a:ea typeface="Calibri" pitchFamily="34" charset="-122"/>
                <a:cs typeface="Calibri" pitchFamily="34" charset="-120"/>
              </a:rPr>
              <a:t>S E S S I O N   2</a:t>
            </a:r>
            <a:endParaRPr lang="en-GB" sz="1800" dirty="0"/>
          </a:p>
        </p:txBody>
      </p:sp>
      <p:sp>
        <p:nvSpPr>
          <p:cNvPr id="305" name="Text 305"/>
          <p:cNvSpPr txBox="1"/>
          <p:nvPr/>
        </p:nvSpPr>
        <p:spPr>
          <a:xfrm>
            <a:off x="548640" y="566928"/>
            <a:ext cx="11094415" cy="566928"/>
          </a:xfrm>
          <a:prstGeom prst="rect">
            <a:avLst/>
          </a:prstGeom>
          <a:noFill/>
          <a:ln/>
        </p:spPr>
        <p:txBody>
          <a:bodyPr wrap="square" lIns="0" tIns="0" rIns="0" bIns="0" rtlCol="0" anchor="t"/>
          <a:lstStyle/>
          <a:p>
            <a:pPr marL="0" indent="0" algn="l">
              <a:lnSpc>
                <a:spcPct val="95000"/>
              </a:lnSpc>
              <a:buNone/>
            </a:pPr>
            <a:r>
              <a:rPr lang="en-GB" sz="3000" b="1" dirty="0">
                <a:solidFill>
                  <a:srgbClr val="12315B"/>
                </a:solidFill>
                <a:latin typeface="Calibri" pitchFamily="34" charset="0"/>
                <a:ea typeface="Calibri" pitchFamily="34" charset="-122"/>
                <a:cs typeface="Calibri" pitchFamily="34" charset="-120"/>
              </a:rPr>
              <a:t>At the health centre: breast concern, not breastfeeding</a:t>
            </a:r>
            <a:endParaRPr lang="en-GB" sz="1800" dirty="0"/>
          </a:p>
        </p:txBody>
      </p:sp>
      <p:sp>
        <p:nvSpPr>
          <p:cNvPr id="306" name="Text 306"/>
          <p:cNvSpPr txBox="1"/>
          <p:nvPr/>
        </p:nvSpPr>
        <p:spPr>
          <a:xfrm>
            <a:off x="548640" y="6382512"/>
            <a:ext cx="11094415" cy="274320"/>
          </a:xfrm>
          <a:prstGeom prst="rect">
            <a:avLst/>
          </a:prstGeom>
          <a:noFill/>
          <a:ln/>
        </p:spPr>
        <p:txBody>
          <a:bodyPr wrap="square" lIns="0" tIns="0" rIns="0" bIns="0" rtlCol="0" anchor="ctr"/>
          <a:lstStyle/>
          <a:p>
            <a:pPr marL="0" indent="0" algn="l">
              <a:lnSpc>
                <a:spcPct val="95000"/>
              </a:lnSpc>
              <a:buNone/>
            </a:pPr>
            <a:r>
              <a:rPr lang="en-GB" sz="1000" dirty="0">
                <a:solidFill>
                  <a:srgbClr val="5B7699"/>
                </a:solidFill>
                <a:latin typeface="Calibri" pitchFamily="34" charset="0"/>
                <a:ea typeface="Calibri" pitchFamily="34" charset="-122"/>
                <a:cs typeface="Calibri" pitchFamily="34" charset="-120"/>
              </a:rPr>
              <a:t>Breast Cancer  |  Frontline HCP  |  Rwanda Biomedical Centre</a:t>
            </a:r>
            <a:endParaRPr lang="en-GB" sz="1800" dirty="0"/>
          </a:p>
        </p:txBody>
      </p:sp>
      <p:sp>
        <p:nvSpPr>
          <p:cNvPr id="302" name="Shape 302"/>
          <p:cNvSpPr/>
          <p:nvPr/>
        </p:nvSpPr>
        <p:spPr>
          <a:xfrm>
            <a:off x="548640" y="5781184"/>
            <a:ext cx="11094414" cy="609315"/>
          </a:xfrm>
          <a:prstGeom prst="roundRect">
            <a:avLst>
              <a:gd name="adj" fmla="val 6000"/>
            </a:avLst>
          </a:prstGeom>
          <a:solidFill>
            <a:srgbClr val="FDF1E0"/>
          </a:solidFill>
          <a:ln w="12700">
            <a:solidFill>
              <a:srgbClr val="EFD3AA"/>
            </a:solidFill>
            <a:prstDash val="solid"/>
          </a:ln>
        </p:spPr>
        <p:txBody>
          <a:bodyPr wrap="square" lIns="91440" tIns="45720" rIns="91440" bIns="45720" rtlCol="0" anchor="ctr"/>
          <a:lstStyle/>
          <a:p>
            <a:endParaRPr lang="en-GB" dirty="0"/>
          </a:p>
        </p:txBody>
      </p:sp>
      <p:sp>
        <p:nvSpPr>
          <p:cNvPr id="303" name="Text 303"/>
          <p:cNvSpPr txBox="1"/>
          <p:nvPr/>
        </p:nvSpPr>
        <p:spPr>
          <a:xfrm>
            <a:off x="708640" y="5783572"/>
            <a:ext cx="10590122" cy="566928"/>
          </a:xfrm>
          <a:prstGeom prst="rect">
            <a:avLst/>
          </a:prstGeom>
          <a:noFill/>
          <a:ln/>
        </p:spPr>
        <p:txBody>
          <a:bodyPr wrap="square" lIns="0" tIns="0" rIns="0" bIns="0" rtlCol="0" anchor="ctr"/>
          <a:lstStyle/>
          <a:p>
            <a:pPr marL="0" indent="0" algn="l">
              <a:lnSpc>
                <a:spcPct val="95000"/>
              </a:lnSpc>
              <a:buNone/>
            </a:pPr>
            <a:r>
              <a:rPr lang="en-GB" sz="1700" b="1" dirty="0">
                <a:solidFill>
                  <a:srgbClr val="C9761A"/>
                </a:solidFill>
                <a:latin typeface="Calibri" pitchFamily="34" charset="0"/>
                <a:ea typeface="Calibri" pitchFamily="34" charset="-122"/>
                <a:cs typeface="Calibri" pitchFamily="34" charset="-120"/>
              </a:rPr>
              <a:t>⏱️ How fast: </a:t>
            </a:r>
            <a:r>
              <a:rPr lang="en-GB" sz="1700" dirty="0">
                <a:solidFill>
                  <a:srgbClr val="0B1F3F"/>
                </a:solidFill>
                <a:latin typeface="Calibri" pitchFamily="34" charset="0"/>
                <a:ea typeface="Calibri" pitchFamily="34" charset="-122"/>
                <a:cs typeface="Calibri" pitchFamily="34" charset="-120"/>
              </a:rPr>
              <a:t>use the urgent and prompt lists. Urgent referral is within 24 hours. Explain the reason, and record the finding and the destination.</a:t>
            </a:r>
            <a:endParaRPr lang="en-GB" sz="1700" dirty="0"/>
          </a:p>
        </p:txBody>
      </p:sp>
      <p:pic>
        <p:nvPicPr>
          <p:cNvPr id="2" name="Imagen 1">
            <a:extLst>
              <a:ext uri="{FF2B5EF4-FFF2-40B4-BE49-F238E27FC236}">
                <a16:creationId xmlns:a16="http://schemas.microsoft.com/office/drawing/2014/main" id="{8F26E1F5-E243-D88C-4B7E-8B9077452A2F}"/>
              </a:ext>
            </a:extLst>
          </p:cNvPr>
          <p:cNvPicPr>
            <a:picLocks noChangeAspect="1"/>
          </p:cNvPicPr>
          <p:nvPr/>
        </p:nvPicPr>
        <p:blipFill>
          <a:blip r:embed="rId2" cstate="email">
            <a:extLst>
              <a:ext uri="{28A0092B-C50C-407E-A947-70E740481C1C}">
                <a14:useLocalDpi xmlns:a14="http://schemas.microsoft.com/office/drawing/2010/main"/>
              </a:ext>
            </a:extLst>
          </a:blip>
          <a:srcRect/>
          <a:stretch>
            <a:fillRect/>
          </a:stretch>
        </p:blipFill>
        <p:spPr>
          <a:xfrm>
            <a:off x="1882140" y="1124544"/>
            <a:ext cx="7814310" cy="4608912"/>
          </a:xfrm>
          <a:prstGeom prst="rect">
            <a:avLst/>
          </a:prstGeom>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8" name="Text 328"/>
          <p:cNvSpPr txBox="1"/>
          <p:nvPr/>
        </p:nvSpPr>
        <p:spPr>
          <a:xfrm>
            <a:off x="548640" y="274320"/>
            <a:ext cx="11094415" cy="256032"/>
          </a:xfrm>
          <a:prstGeom prst="rect">
            <a:avLst/>
          </a:prstGeom>
          <a:noFill/>
          <a:ln/>
        </p:spPr>
        <p:txBody>
          <a:bodyPr wrap="square" lIns="0" tIns="0" rIns="0" bIns="0" rtlCol="0" anchor="ctr"/>
          <a:lstStyle/>
          <a:p>
            <a:pPr marL="0" indent="0" algn="l">
              <a:lnSpc>
                <a:spcPct val="95000"/>
              </a:lnSpc>
              <a:buNone/>
            </a:pPr>
            <a:r>
              <a:rPr lang="en-GB" sz="1100" b="1" dirty="0">
                <a:solidFill>
                  <a:srgbClr val="5B7699"/>
                </a:solidFill>
                <a:latin typeface="Calibri" pitchFamily="34" charset="0"/>
                <a:ea typeface="Calibri" pitchFamily="34" charset="-122"/>
                <a:cs typeface="Calibri" pitchFamily="34" charset="-120"/>
              </a:rPr>
              <a:t>S E S S I O N   2</a:t>
            </a:r>
            <a:endParaRPr lang="en-GB" sz="1800" dirty="0"/>
          </a:p>
        </p:txBody>
      </p:sp>
      <p:sp>
        <p:nvSpPr>
          <p:cNvPr id="329" name="Text 329"/>
          <p:cNvSpPr txBox="1"/>
          <p:nvPr/>
        </p:nvSpPr>
        <p:spPr>
          <a:xfrm>
            <a:off x="548640" y="566928"/>
            <a:ext cx="11094415" cy="566928"/>
          </a:xfrm>
          <a:prstGeom prst="rect">
            <a:avLst/>
          </a:prstGeom>
          <a:noFill/>
          <a:ln/>
        </p:spPr>
        <p:txBody>
          <a:bodyPr wrap="square" lIns="0" tIns="0" rIns="0" bIns="0" rtlCol="0" anchor="t"/>
          <a:lstStyle/>
          <a:p>
            <a:pPr marL="0" indent="0" algn="l">
              <a:lnSpc>
                <a:spcPct val="95000"/>
              </a:lnSpc>
              <a:buNone/>
            </a:pPr>
            <a:r>
              <a:rPr lang="en-GB" sz="3000" b="1" dirty="0">
                <a:solidFill>
                  <a:srgbClr val="12315B"/>
                </a:solidFill>
                <a:latin typeface="Calibri" pitchFamily="34" charset="0"/>
                <a:ea typeface="Calibri" pitchFamily="34" charset="-122"/>
                <a:cs typeface="Calibri" pitchFamily="34" charset="-120"/>
              </a:rPr>
              <a:t>At the health centre: breast concern while breastfeeding</a:t>
            </a:r>
            <a:endParaRPr lang="en-GB" sz="1800" dirty="0"/>
          </a:p>
        </p:txBody>
      </p:sp>
      <p:sp>
        <p:nvSpPr>
          <p:cNvPr id="330" name="Text 330"/>
          <p:cNvSpPr txBox="1"/>
          <p:nvPr/>
        </p:nvSpPr>
        <p:spPr>
          <a:xfrm>
            <a:off x="548640" y="6382512"/>
            <a:ext cx="11094415" cy="274320"/>
          </a:xfrm>
          <a:prstGeom prst="rect">
            <a:avLst/>
          </a:prstGeom>
          <a:noFill/>
          <a:ln/>
        </p:spPr>
        <p:txBody>
          <a:bodyPr wrap="square" lIns="0" tIns="0" rIns="0" bIns="0" rtlCol="0" anchor="ctr"/>
          <a:lstStyle/>
          <a:p>
            <a:pPr marL="0" indent="0" algn="l">
              <a:lnSpc>
                <a:spcPct val="95000"/>
              </a:lnSpc>
              <a:buNone/>
            </a:pPr>
            <a:r>
              <a:rPr lang="en-GB" sz="1000" dirty="0">
                <a:solidFill>
                  <a:srgbClr val="5B7699"/>
                </a:solidFill>
                <a:latin typeface="Calibri" pitchFamily="34" charset="0"/>
                <a:ea typeface="Calibri" pitchFamily="34" charset="-122"/>
                <a:cs typeface="Calibri" pitchFamily="34" charset="-120"/>
              </a:rPr>
              <a:t>Breast Cancer  |  Frontline HCP  |  Rwanda Biomedical Centre</a:t>
            </a:r>
            <a:endParaRPr lang="en-GB" sz="1800" dirty="0"/>
          </a:p>
        </p:txBody>
      </p:sp>
      <p:sp>
        <p:nvSpPr>
          <p:cNvPr id="326" name="Shape 326"/>
          <p:cNvSpPr/>
          <p:nvPr/>
        </p:nvSpPr>
        <p:spPr>
          <a:xfrm>
            <a:off x="548640" y="5200000"/>
            <a:ext cx="11094415" cy="1000000"/>
          </a:xfrm>
          <a:prstGeom prst="roundRect">
            <a:avLst>
              <a:gd name="adj" fmla="val 6000"/>
            </a:avLst>
          </a:prstGeom>
          <a:solidFill>
            <a:srgbClr val="F4F8FC"/>
          </a:solidFill>
          <a:ln w="12700">
            <a:solidFill>
              <a:srgbClr val="C8D8EC"/>
            </a:solidFill>
            <a:prstDash val="solid"/>
          </a:ln>
        </p:spPr>
        <p:txBody>
          <a:bodyPr wrap="square" lIns="91440" tIns="45720" rIns="91440" bIns="45720" rtlCol="0" anchor="ctr"/>
          <a:lstStyle/>
          <a:p>
            <a:endParaRPr lang="en-GB" dirty="0"/>
          </a:p>
        </p:txBody>
      </p:sp>
      <p:sp>
        <p:nvSpPr>
          <p:cNvPr id="327" name="Text 327"/>
          <p:cNvSpPr txBox="1"/>
          <p:nvPr/>
        </p:nvSpPr>
        <p:spPr>
          <a:xfrm>
            <a:off x="713232" y="5250000"/>
            <a:ext cx="10765231" cy="900000"/>
          </a:xfrm>
          <a:prstGeom prst="rect">
            <a:avLst/>
          </a:prstGeom>
          <a:noFill/>
          <a:ln/>
        </p:spPr>
        <p:txBody>
          <a:bodyPr wrap="square" lIns="0" tIns="0" rIns="0" bIns="0" rtlCol="0" anchor="ctr"/>
          <a:lstStyle/>
          <a:p>
            <a:pPr marL="0" indent="0" algn="l">
              <a:lnSpc>
                <a:spcPct val="95000"/>
              </a:lnSpc>
              <a:buNone/>
            </a:pPr>
            <a:r>
              <a:rPr lang="en-GB" sz="1700" b="1" dirty="0">
                <a:solidFill>
                  <a:srgbClr val="12315B"/>
                </a:solidFill>
                <a:latin typeface="Calibri" pitchFamily="34" charset="0"/>
                <a:ea typeface="Calibri" pitchFamily="34" charset="-122"/>
                <a:cs typeface="Calibri" pitchFamily="34" charset="-120"/>
              </a:rPr>
              <a:t>⏱️ Review every treated woman at the health centre in 14 days. </a:t>
            </a:r>
            <a:r>
              <a:rPr lang="en-GB" sz="1700" dirty="0">
                <a:solidFill>
                  <a:srgbClr val="0B1F3F"/>
                </a:solidFill>
                <a:latin typeface="Calibri" pitchFamily="34" charset="0"/>
                <a:ea typeface="Calibri" pitchFamily="34" charset="-122"/>
                <a:cs typeface="Calibri" pitchFamily="34" charset="-120"/>
              </a:rPr>
              <a:t>Resolved: discharge. Not resolved or worse: refer to the district hospital, because inflammatory breast cancer can look like mastitis.</a:t>
            </a:r>
            <a:endParaRPr lang="en-GB" sz="1800" dirty="0"/>
          </a:p>
        </p:txBody>
      </p:sp>
      <p:pic>
        <p:nvPicPr>
          <p:cNvPr id="2" name="Imagen 1">
            <a:extLst>
              <a:ext uri="{FF2B5EF4-FFF2-40B4-BE49-F238E27FC236}">
                <a16:creationId xmlns:a16="http://schemas.microsoft.com/office/drawing/2014/main" id="{49A999B5-5AC6-B9BB-3881-8A53BC458227}"/>
              </a:ext>
            </a:extLst>
          </p:cNvPr>
          <p:cNvPicPr>
            <a:picLocks noChangeAspect="1"/>
          </p:cNvPicPr>
          <p:nvPr/>
        </p:nvPicPr>
        <p:blipFill>
          <a:blip r:embed="rId2" cstate="email">
            <a:extLst>
              <a:ext uri="{28A0092B-C50C-407E-A947-70E740481C1C}">
                <a14:useLocalDpi xmlns:a14="http://schemas.microsoft.com/office/drawing/2010/main"/>
              </a:ext>
            </a:extLst>
          </a:blip>
          <a:srcRect/>
          <a:stretch>
            <a:fillRect/>
          </a:stretch>
        </p:blipFill>
        <p:spPr>
          <a:xfrm>
            <a:off x="1329690" y="1077642"/>
            <a:ext cx="9471660" cy="4141187"/>
          </a:xfrm>
          <a:prstGeom prst="rect">
            <a:avLst/>
          </a:prstGeom>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5" name="Text 345"/>
          <p:cNvSpPr txBox="1"/>
          <p:nvPr/>
        </p:nvSpPr>
        <p:spPr>
          <a:xfrm>
            <a:off x="548640" y="274320"/>
            <a:ext cx="11094415" cy="256032"/>
          </a:xfrm>
          <a:prstGeom prst="rect">
            <a:avLst/>
          </a:prstGeom>
          <a:noFill/>
          <a:ln/>
        </p:spPr>
        <p:txBody>
          <a:bodyPr wrap="square" lIns="0" tIns="0" rIns="0" bIns="0" rtlCol="0" anchor="ctr"/>
          <a:lstStyle/>
          <a:p>
            <a:pPr marL="0" indent="0" algn="l">
              <a:lnSpc>
                <a:spcPct val="95000"/>
              </a:lnSpc>
              <a:buNone/>
            </a:pPr>
            <a:r>
              <a:rPr lang="en-GB" sz="1100" b="1" dirty="0">
                <a:solidFill>
                  <a:srgbClr val="5B7699"/>
                </a:solidFill>
                <a:latin typeface="Calibri" pitchFamily="34" charset="0"/>
                <a:ea typeface="Calibri" pitchFamily="34" charset="-122"/>
                <a:cs typeface="Calibri" pitchFamily="34" charset="-120"/>
              </a:rPr>
              <a:t>S E S S I O N   2</a:t>
            </a:r>
            <a:endParaRPr lang="en-GB" sz="1800" dirty="0"/>
          </a:p>
        </p:txBody>
      </p:sp>
      <p:sp>
        <p:nvSpPr>
          <p:cNvPr id="346" name="Text 346"/>
          <p:cNvSpPr txBox="1"/>
          <p:nvPr/>
        </p:nvSpPr>
        <p:spPr>
          <a:xfrm>
            <a:off x="548640" y="566928"/>
            <a:ext cx="11094415" cy="566928"/>
          </a:xfrm>
          <a:prstGeom prst="rect">
            <a:avLst/>
          </a:prstGeom>
          <a:noFill/>
          <a:ln/>
        </p:spPr>
        <p:txBody>
          <a:bodyPr wrap="square" lIns="0" tIns="0" rIns="0" bIns="0" rtlCol="0" anchor="t"/>
          <a:lstStyle/>
          <a:p>
            <a:pPr marL="0" indent="0" algn="l">
              <a:lnSpc>
                <a:spcPct val="95000"/>
              </a:lnSpc>
              <a:buNone/>
            </a:pPr>
            <a:r>
              <a:rPr lang="en-GB" sz="3000" b="1" dirty="0">
                <a:solidFill>
                  <a:srgbClr val="12315B"/>
                </a:solidFill>
                <a:latin typeface="Calibri" pitchFamily="34" charset="0"/>
                <a:ea typeface="Calibri" pitchFamily="34" charset="-122"/>
                <a:cs typeface="Calibri" pitchFamily="34" charset="-120"/>
              </a:rPr>
              <a:t>What would you do next? (1 of 2)</a:t>
            </a:r>
            <a:endParaRPr lang="en-GB" sz="1800" dirty="0"/>
          </a:p>
        </p:txBody>
      </p:sp>
      <p:sp>
        <p:nvSpPr>
          <p:cNvPr id="347" name="Text 347"/>
          <p:cNvSpPr txBox="1"/>
          <p:nvPr/>
        </p:nvSpPr>
        <p:spPr>
          <a:xfrm>
            <a:off x="548640" y="6382512"/>
            <a:ext cx="11094415" cy="274320"/>
          </a:xfrm>
          <a:prstGeom prst="rect">
            <a:avLst/>
          </a:prstGeom>
          <a:noFill/>
          <a:ln/>
        </p:spPr>
        <p:txBody>
          <a:bodyPr wrap="square" lIns="0" tIns="0" rIns="0" bIns="0" rtlCol="0" anchor="ctr"/>
          <a:lstStyle/>
          <a:p>
            <a:pPr marL="0" indent="0" algn="l">
              <a:lnSpc>
                <a:spcPct val="95000"/>
              </a:lnSpc>
              <a:buNone/>
            </a:pPr>
            <a:r>
              <a:rPr lang="en-GB" sz="1000" dirty="0">
                <a:solidFill>
                  <a:srgbClr val="5B7699"/>
                </a:solidFill>
                <a:latin typeface="Calibri" pitchFamily="34" charset="0"/>
                <a:ea typeface="Calibri" pitchFamily="34" charset="-122"/>
                <a:cs typeface="Calibri" pitchFamily="34" charset="-120"/>
              </a:rPr>
              <a:t>Breast Cancer  |  Frontline HCP  |  Rwanda Biomedical Centre</a:t>
            </a:r>
            <a:endParaRPr lang="en-GB" sz="1800" dirty="0"/>
          </a:p>
        </p:txBody>
      </p:sp>
      <p:sp>
        <p:nvSpPr>
          <p:cNvPr id="331" name="Shape 331"/>
          <p:cNvSpPr/>
          <p:nvPr/>
        </p:nvSpPr>
        <p:spPr>
          <a:xfrm>
            <a:off x="548640" y="1180000"/>
            <a:ext cx="11094415" cy="2480000"/>
          </a:xfrm>
          <a:prstGeom prst="roundRect">
            <a:avLst>
              <a:gd name="adj" fmla="val 2500"/>
            </a:avLst>
          </a:prstGeom>
          <a:solidFill>
            <a:srgbClr val="F4F8FC"/>
          </a:solidFill>
          <a:ln w="12700">
            <a:solidFill>
              <a:srgbClr val="C8D8EC"/>
            </a:solidFill>
            <a:prstDash val="solid"/>
          </a:ln>
        </p:spPr>
        <p:txBody>
          <a:bodyPr wrap="square" lIns="91440" tIns="45720" rIns="91440" bIns="45720" rtlCol="0" anchor="ctr"/>
          <a:lstStyle/>
          <a:p>
            <a:endParaRPr lang="en-GB" dirty="0"/>
          </a:p>
        </p:txBody>
      </p:sp>
      <p:sp>
        <p:nvSpPr>
          <p:cNvPr id="332" name="Text 332"/>
          <p:cNvSpPr txBox="1"/>
          <p:nvPr/>
        </p:nvSpPr>
        <p:spPr>
          <a:xfrm>
            <a:off x="713232" y="1270000"/>
            <a:ext cx="10765231" cy="700000"/>
          </a:xfrm>
          <a:prstGeom prst="rect">
            <a:avLst/>
          </a:prstGeom>
          <a:noFill/>
          <a:ln/>
        </p:spPr>
        <p:txBody>
          <a:bodyPr wrap="square" lIns="0" tIns="0" rIns="0" bIns="0" rtlCol="0" anchor="t"/>
          <a:lstStyle/>
          <a:p>
            <a:pPr marL="0" indent="0" algn="l">
              <a:lnSpc>
                <a:spcPct val="95000"/>
              </a:lnSpc>
              <a:buNone/>
            </a:pPr>
            <a:r>
              <a:rPr lang="en-GB" sz="1800" b="1" dirty="0">
                <a:solidFill>
                  <a:srgbClr val="12315B"/>
                </a:solidFill>
                <a:latin typeface="Calibri" pitchFamily="34" charset="0"/>
                <a:ea typeface="Calibri" pitchFamily="34" charset="-122"/>
                <a:cs typeface="Calibri" pitchFamily="34" charset="-120"/>
              </a:rPr>
              <a:t>🩺 Béatrice Mukamana, 45: </a:t>
            </a:r>
            <a:r>
              <a:rPr lang="en-GB" sz="1800" dirty="0">
                <a:solidFill>
                  <a:srgbClr val="0B1F3F"/>
                </a:solidFill>
                <a:latin typeface="Calibri" pitchFamily="34" charset="0"/>
                <a:ea typeface="Calibri" pitchFamily="34" charset="-122"/>
                <a:cs typeface="Calibri" pitchFamily="34" charset="-120"/>
              </a:rPr>
              <a:t>Not breastfeeding. A lump in the left breast for one month. On examination: skin dimpling at 2 o’clock over a 2 cm firm mass fixed to the skin. No nodes felt.</a:t>
            </a:r>
            <a:endParaRPr lang="en-GB" sz="1800" dirty="0"/>
          </a:p>
        </p:txBody>
      </p:sp>
      <p:sp>
        <p:nvSpPr>
          <p:cNvPr id="333" name="Text 333"/>
          <p:cNvSpPr txBox="1"/>
          <p:nvPr/>
        </p:nvSpPr>
        <p:spPr>
          <a:xfrm>
            <a:off x="713232" y="1980000"/>
            <a:ext cx="5322615" cy="360000"/>
          </a:xfrm>
          <a:prstGeom prst="rect">
            <a:avLst/>
          </a:prstGeom>
          <a:noFill/>
          <a:ln/>
        </p:spPr>
        <p:txBody>
          <a:bodyPr wrap="square" lIns="0" tIns="0" rIns="0" bIns="0" rtlCol="0" anchor="ctr"/>
          <a:lstStyle/>
          <a:p>
            <a:pPr marL="0" indent="0" algn="l">
              <a:lnSpc>
                <a:spcPct val="95000"/>
              </a:lnSpc>
              <a:buNone/>
            </a:pPr>
            <a:r>
              <a:rPr lang="en-GB" sz="1800" dirty="0">
                <a:solidFill>
                  <a:srgbClr val="1F3A63"/>
                </a:solidFill>
                <a:latin typeface="Calibri" pitchFamily="34" charset="0"/>
                <a:ea typeface="Calibri" pitchFamily="34" charset="-122"/>
                <a:cs typeface="Calibri" pitchFamily="34" charset="-120"/>
              </a:rPr>
              <a:t>A. Reassure and review in 14 days</a:t>
            </a:r>
            <a:endParaRPr lang="en-GB" sz="1800" dirty="0"/>
          </a:p>
        </p:txBody>
      </p:sp>
      <p:sp>
        <p:nvSpPr>
          <p:cNvPr id="334" name="Text 334"/>
          <p:cNvSpPr txBox="1"/>
          <p:nvPr/>
        </p:nvSpPr>
        <p:spPr>
          <a:xfrm>
            <a:off x="6095847" y="1980000"/>
            <a:ext cx="5322615" cy="360000"/>
          </a:xfrm>
          <a:prstGeom prst="rect">
            <a:avLst/>
          </a:prstGeom>
          <a:noFill/>
          <a:ln/>
        </p:spPr>
        <p:txBody>
          <a:bodyPr wrap="square" lIns="0" tIns="0" rIns="0" bIns="0" rtlCol="0" anchor="ctr"/>
          <a:lstStyle/>
          <a:p>
            <a:pPr marL="0" indent="0" algn="l">
              <a:lnSpc>
                <a:spcPct val="95000"/>
              </a:lnSpc>
              <a:buNone/>
            </a:pPr>
            <a:r>
              <a:rPr lang="en-GB" sz="1800" dirty="0">
                <a:solidFill>
                  <a:srgbClr val="1F3A63"/>
                </a:solidFill>
                <a:latin typeface="Calibri" pitchFamily="34" charset="0"/>
                <a:ea typeface="Calibri" pitchFamily="34" charset="-122"/>
                <a:cs typeface="Calibri" pitchFamily="34" charset="-120"/>
              </a:rPr>
              <a:t>B. Give antibiotics and review</a:t>
            </a:r>
            <a:endParaRPr lang="en-GB" sz="1800" dirty="0"/>
          </a:p>
        </p:txBody>
      </p:sp>
      <p:sp>
        <p:nvSpPr>
          <p:cNvPr id="335" name="Text 335"/>
          <p:cNvSpPr txBox="1"/>
          <p:nvPr/>
        </p:nvSpPr>
        <p:spPr>
          <a:xfrm>
            <a:off x="713232" y="2360000"/>
            <a:ext cx="5322615" cy="360000"/>
          </a:xfrm>
          <a:prstGeom prst="rect">
            <a:avLst/>
          </a:prstGeom>
          <a:noFill/>
          <a:ln/>
        </p:spPr>
        <p:txBody>
          <a:bodyPr wrap="square" lIns="0" tIns="0" rIns="0" bIns="0" rtlCol="0" anchor="ctr"/>
          <a:lstStyle/>
          <a:p>
            <a:pPr marL="0" indent="0" algn="l">
              <a:lnSpc>
                <a:spcPct val="95000"/>
              </a:lnSpc>
              <a:buNone/>
            </a:pPr>
            <a:r>
              <a:rPr lang="en-GB" sz="1800" b="1" dirty="0">
                <a:solidFill>
                  <a:srgbClr val="1B6E4A"/>
                </a:solidFill>
                <a:latin typeface="Calibri" pitchFamily="34" charset="0"/>
                <a:ea typeface="Calibri" pitchFamily="34" charset="-122"/>
                <a:cs typeface="Calibri" pitchFamily="34" charset="-120"/>
              </a:rPr>
              <a:t>C. Refer to district hospital within 24 hours</a:t>
            </a:r>
            <a:endParaRPr lang="en-GB" sz="1800" dirty="0"/>
          </a:p>
        </p:txBody>
      </p:sp>
      <p:sp>
        <p:nvSpPr>
          <p:cNvPr id="336" name="Text 336"/>
          <p:cNvSpPr txBox="1"/>
          <p:nvPr/>
        </p:nvSpPr>
        <p:spPr>
          <a:xfrm>
            <a:off x="6095847" y="2360000"/>
            <a:ext cx="5322615" cy="360000"/>
          </a:xfrm>
          <a:prstGeom prst="rect">
            <a:avLst/>
          </a:prstGeom>
          <a:noFill/>
          <a:ln/>
        </p:spPr>
        <p:txBody>
          <a:bodyPr wrap="square" lIns="0" tIns="0" rIns="0" bIns="0" rtlCol="0" anchor="ctr"/>
          <a:lstStyle/>
          <a:p>
            <a:pPr marL="0" indent="0" algn="l">
              <a:lnSpc>
                <a:spcPct val="95000"/>
              </a:lnSpc>
              <a:buNone/>
            </a:pPr>
            <a:r>
              <a:rPr lang="en-GB" sz="1800" dirty="0">
                <a:solidFill>
                  <a:srgbClr val="1F3A63"/>
                </a:solidFill>
                <a:latin typeface="Calibri" pitchFamily="34" charset="0"/>
                <a:ea typeface="Calibri" pitchFamily="34" charset="-122"/>
                <a:cs typeface="Calibri" pitchFamily="34" charset="-120"/>
              </a:rPr>
              <a:t>D. Book her next routine breast check</a:t>
            </a:r>
            <a:endParaRPr lang="en-GB" sz="1800" dirty="0"/>
          </a:p>
        </p:txBody>
      </p:sp>
      <p:sp>
        <p:nvSpPr>
          <p:cNvPr id="337" name="Text 337"/>
          <p:cNvSpPr txBox="1"/>
          <p:nvPr/>
        </p:nvSpPr>
        <p:spPr>
          <a:xfrm>
            <a:off x="713232" y="2800000"/>
            <a:ext cx="10765231" cy="800000"/>
          </a:xfrm>
          <a:prstGeom prst="rect">
            <a:avLst/>
          </a:prstGeom>
          <a:noFill/>
          <a:ln/>
        </p:spPr>
        <p:txBody>
          <a:bodyPr wrap="square" lIns="0" tIns="0" rIns="0" bIns="0" rtlCol="0" anchor="t"/>
          <a:lstStyle/>
          <a:p>
            <a:pPr marL="0" indent="0" algn="l">
              <a:lnSpc>
                <a:spcPct val="95000"/>
              </a:lnSpc>
              <a:buNone/>
            </a:pPr>
            <a:r>
              <a:rPr lang="en-GB" sz="1600" b="1" dirty="0">
                <a:solidFill>
                  <a:srgbClr val="1B6E4A"/>
                </a:solidFill>
                <a:latin typeface="Calibri" pitchFamily="34" charset="0"/>
                <a:ea typeface="Calibri" pitchFamily="34" charset="-122"/>
                <a:cs typeface="Calibri" pitchFamily="34" charset="-120"/>
              </a:rPr>
              <a:t>Correct: C. </a:t>
            </a:r>
            <a:r>
              <a:rPr lang="en-GB" sz="1600" dirty="0">
                <a:solidFill>
                  <a:srgbClr val="0B1F3F"/>
                </a:solidFill>
                <a:latin typeface="Calibri" pitchFamily="34" charset="0"/>
                <a:ea typeface="Calibri" pitchFamily="34" charset="-122"/>
                <a:cs typeface="Calibri" pitchFamily="34" charset="-120"/>
              </a:rPr>
              <a:t>A fixed mass with skin dimpling is on the urgent list. Refer within 24 hours, explain that the tests will find out what the lump is, and record it as left breast, 2 o’clock.</a:t>
            </a:r>
            <a:endParaRPr lang="en-GB" sz="1600" dirty="0"/>
          </a:p>
        </p:txBody>
      </p:sp>
      <p:sp>
        <p:nvSpPr>
          <p:cNvPr id="338" name="Shape 338"/>
          <p:cNvSpPr/>
          <p:nvPr/>
        </p:nvSpPr>
        <p:spPr>
          <a:xfrm>
            <a:off x="548640" y="3780000"/>
            <a:ext cx="11094415" cy="2480000"/>
          </a:xfrm>
          <a:prstGeom prst="roundRect">
            <a:avLst>
              <a:gd name="adj" fmla="val 2500"/>
            </a:avLst>
          </a:prstGeom>
          <a:solidFill>
            <a:srgbClr val="F4F8FC"/>
          </a:solidFill>
          <a:ln w="12700">
            <a:solidFill>
              <a:srgbClr val="C8D8EC"/>
            </a:solidFill>
            <a:prstDash val="solid"/>
          </a:ln>
        </p:spPr>
        <p:txBody>
          <a:bodyPr wrap="square" lIns="91440" tIns="45720" rIns="91440" bIns="45720" rtlCol="0" anchor="ctr"/>
          <a:lstStyle/>
          <a:p>
            <a:endParaRPr lang="en-GB" dirty="0"/>
          </a:p>
        </p:txBody>
      </p:sp>
      <p:sp>
        <p:nvSpPr>
          <p:cNvPr id="339" name="Text 339"/>
          <p:cNvSpPr txBox="1"/>
          <p:nvPr/>
        </p:nvSpPr>
        <p:spPr>
          <a:xfrm>
            <a:off x="713232" y="3870000"/>
            <a:ext cx="10765231" cy="700000"/>
          </a:xfrm>
          <a:prstGeom prst="rect">
            <a:avLst/>
          </a:prstGeom>
          <a:noFill/>
          <a:ln/>
        </p:spPr>
        <p:txBody>
          <a:bodyPr wrap="square" lIns="0" tIns="0" rIns="0" bIns="0" rtlCol="0" anchor="t"/>
          <a:lstStyle/>
          <a:p>
            <a:pPr marL="0" indent="0" algn="l">
              <a:lnSpc>
                <a:spcPct val="95000"/>
              </a:lnSpc>
              <a:buNone/>
            </a:pPr>
            <a:r>
              <a:rPr lang="en-GB" sz="1800" b="1" dirty="0">
                <a:solidFill>
                  <a:srgbClr val="12315B"/>
                </a:solidFill>
                <a:latin typeface="Calibri" pitchFamily="34" charset="0"/>
                <a:ea typeface="Calibri" pitchFamily="34" charset="-122"/>
                <a:cs typeface="Calibri" pitchFamily="34" charset="-120"/>
              </a:rPr>
              <a:t>🩺 Claudine Uwimana, 27: </a:t>
            </a:r>
            <a:r>
              <a:rPr lang="en-GB" sz="1800" dirty="0">
                <a:solidFill>
                  <a:srgbClr val="0B1F3F"/>
                </a:solidFill>
                <a:latin typeface="Calibri" pitchFamily="34" charset="0"/>
                <a:ea typeface="Calibri" pitchFamily="34" charset="-122"/>
                <a:cs typeface="Calibri" pitchFamily="34" charset="-120"/>
              </a:rPr>
              <a:t>Breastfeeding a 3-month-old baby. For two days her right breast has been red, hot and tender, with fever. You feel no mass.</a:t>
            </a:r>
            <a:endParaRPr lang="en-GB" sz="1800" dirty="0"/>
          </a:p>
        </p:txBody>
      </p:sp>
      <p:sp>
        <p:nvSpPr>
          <p:cNvPr id="340" name="Text 340"/>
          <p:cNvSpPr txBox="1"/>
          <p:nvPr/>
        </p:nvSpPr>
        <p:spPr>
          <a:xfrm>
            <a:off x="713232" y="4580000"/>
            <a:ext cx="5322615" cy="360000"/>
          </a:xfrm>
          <a:prstGeom prst="rect">
            <a:avLst/>
          </a:prstGeom>
          <a:noFill/>
          <a:ln/>
        </p:spPr>
        <p:txBody>
          <a:bodyPr wrap="square" lIns="0" tIns="0" rIns="0" bIns="0" rtlCol="0" anchor="ctr"/>
          <a:lstStyle/>
          <a:p>
            <a:pPr marL="0" indent="0" algn="l">
              <a:lnSpc>
                <a:spcPct val="95000"/>
              </a:lnSpc>
              <a:buNone/>
            </a:pPr>
            <a:r>
              <a:rPr lang="en-GB" sz="1800" dirty="0">
                <a:solidFill>
                  <a:srgbClr val="1F3A63"/>
                </a:solidFill>
                <a:latin typeface="Calibri" pitchFamily="34" charset="0"/>
                <a:ea typeface="Calibri" pitchFamily="34" charset="-122"/>
                <a:cs typeface="Calibri" pitchFamily="34" charset="-120"/>
              </a:rPr>
              <a:t>A. Tell her to stop breastfeeding</a:t>
            </a:r>
            <a:endParaRPr lang="en-GB" sz="1800" dirty="0"/>
          </a:p>
        </p:txBody>
      </p:sp>
      <p:sp>
        <p:nvSpPr>
          <p:cNvPr id="341" name="Text 341"/>
          <p:cNvSpPr txBox="1"/>
          <p:nvPr/>
        </p:nvSpPr>
        <p:spPr>
          <a:xfrm>
            <a:off x="6095847" y="4580000"/>
            <a:ext cx="5322615" cy="360000"/>
          </a:xfrm>
          <a:prstGeom prst="rect">
            <a:avLst/>
          </a:prstGeom>
          <a:noFill/>
          <a:ln/>
        </p:spPr>
        <p:txBody>
          <a:bodyPr wrap="square" lIns="0" tIns="0" rIns="0" bIns="0" rtlCol="0" anchor="ctr"/>
          <a:lstStyle/>
          <a:p>
            <a:pPr marL="0" indent="0" algn="l">
              <a:lnSpc>
                <a:spcPct val="95000"/>
              </a:lnSpc>
              <a:buNone/>
            </a:pPr>
            <a:r>
              <a:rPr lang="en-GB" sz="1800" b="1" dirty="0">
                <a:solidFill>
                  <a:srgbClr val="1B6E4A"/>
                </a:solidFill>
                <a:latin typeface="Calibri" pitchFamily="34" charset="0"/>
                <a:ea typeface="Calibri" pitchFamily="34" charset="-122"/>
                <a:cs typeface="Calibri" pitchFamily="34" charset="-120"/>
              </a:rPr>
              <a:t>B. Continue feeding; treat mastitis; review in 14 days</a:t>
            </a:r>
            <a:endParaRPr lang="en-GB" sz="1800" dirty="0"/>
          </a:p>
        </p:txBody>
      </p:sp>
      <p:sp>
        <p:nvSpPr>
          <p:cNvPr id="342" name="Text 342"/>
          <p:cNvSpPr txBox="1"/>
          <p:nvPr/>
        </p:nvSpPr>
        <p:spPr>
          <a:xfrm>
            <a:off x="713232" y="4960000"/>
            <a:ext cx="5322615" cy="360000"/>
          </a:xfrm>
          <a:prstGeom prst="rect">
            <a:avLst/>
          </a:prstGeom>
          <a:noFill/>
          <a:ln/>
        </p:spPr>
        <p:txBody>
          <a:bodyPr wrap="square" lIns="0" tIns="0" rIns="0" bIns="0" rtlCol="0" anchor="ctr"/>
          <a:lstStyle/>
          <a:p>
            <a:pPr marL="0" indent="0" algn="l">
              <a:lnSpc>
                <a:spcPct val="95000"/>
              </a:lnSpc>
              <a:buNone/>
            </a:pPr>
            <a:r>
              <a:rPr lang="en-GB" sz="1800" dirty="0">
                <a:solidFill>
                  <a:srgbClr val="1F3A63"/>
                </a:solidFill>
                <a:latin typeface="Calibri" pitchFamily="34" charset="0"/>
                <a:ea typeface="Calibri" pitchFamily="34" charset="-122"/>
                <a:cs typeface="Calibri" pitchFamily="34" charset="-120"/>
              </a:rPr>
              <a:t>C. Refer urgently for drainage</a:t>
            </a:r>
            <a:endParaRPr lang="en-GB" sz="1800" dirty="0"/>
          </a:p>
        </p:txBody>
      </p:sp>
      <p:sp>
        <p:nvSpPr>
          <p:cNvPr id="343" name="Text 343"/>
          <p:cNvSpPr txBox="1"/>
          <p:nvPr/>
        </p:nvSpPr>
        <p:spPr>
          <a:xfrm>
            <a:off x="6095847" y="4960000"/>
            <a:ext cx="5322615" cy="360000"/>
          </a:xfrm>
          <a:prstGeom prst="rect">
            <a:avLst/>
          </a:prstGeom>
          <a:noFill/>
          <a:ln/>
        </p:spPr>
        <p:txBody>
          <a:bodyPr wrap="square" lIns="0" tIns="0" rIns="0" bIns="0" rtlCol="0" anchor="ctr"/>
          <a:lstStyle/>
          <a:p>
            <a:pPr marL="0" indent="0" algn="l">
              <a:lnSpc>
                <a:spcPct val="95000"/>
              </a:lnSpc>
              <a:buNone/>
            </a:pPr>
            <a:r>
              <a:rPr lang="en-GB" sz="1800" dirty="0">
                <a:solidFill>
                  <a:srgbClr val="1F3A63"/>
                </a:solidFill>
                <a:latin typeface="Calibri" pitchFamily="34" charset="0"/>
                <a:ea typeface="Calibri" pitchFamily="34" charset="-122"/>
                <a:cs typeface="Calibri" pitchFamily="34" charset="-120"/>
              </a:rPr>
              <a:t>D. No treatment; review in 3 months</a:t>
            </a:r>
            <a:endParaRPr lang="en-GB" sz="1800" dirty="0"/>
          </a:p>
        </p:txBody>
      </p:sp>
      <p:sp>
        <p:nvSpPr>
          <p:cNvPr id="344" name="Text 344"/>
          <p:cNvSpPr txBox="1"/>
          <p:nvPr/>
        </p:nvSpPr>
        <p:spPr>
          <a:xfrm>
            <a:off x="713232" y="5400000"/>
            <a:ext cx="10765231" cy="800000"/>
          </a:xfrm>
          <a:prstGeom prst="rect">
            <a:avLst/>
          </a:prstGeom>
          <a:noFill/>
          <a:ln/>
        </p:spPr>
        <p:txBody>
          <a:bodyPr wrap="square" lIns="0" tIns="0" rIns="0" bIns="0" rtlCol="0" anchor="t"/>
          <a:lstStyle/>
          <a:p>
            <a:pPr marL="0" indent="0" algn="l">
              <a:lnSpc>
                <a:spcPct val="95000"/>
              </a:lnSpc>
              <a:buNone/>
            </a:pPr>
            <a:r>
              <a:rPr lang="en-GB" sz="1600" b="1" dirty="0">
                <a:solidFill>
                  <a:srgbClr val="1B6E4A"/>
                </a:solidFill>
                <a:latin typeface="Calibri" pitchFamily="34" charset="0"/>
                <a:ea typeface="Calibri" pitchFamily="34" charset="-122"/>
                <a:cs typeface="Calibri" pitchFamily="34" charset="-120"/>
              </a:rPr>
              <a:t>Correct: B. </a:t>
            </a:r>
            <a:r>
              <a:rPr lang="en-GB" sz="1600" dirty="0">
                <a:solidFill>
                  <a:srgbClr val="0B1F3F"/>
                </a:solidFill>
                <a:latin typeface="Calibri" pitchFamily="34" charset="0"/>
                <a:ea typeface="Calibri" pitchFamily="34" charset="-122"/>
                <a:cs typeface="Calibri" pitchFamily="34" charset="-120"/>
              </a:rPr>
              <a:t>This is mastitis without a mass. Breastfeeding continues and helps drainage. If it has not resolved at review, or a mass appears, refer to the district hospital.</a:t>
            </a:r>
            <a:endParaRPr lang="en-GB" sz="1600"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2" name="Text 362"/>
          <p:cNvSpPr txBox="1"/>
          <p:nvPr/>
        </p:nvSpPr>
        <p:spPr>
          <a:xfrm>
            <a:off x="548640" y="274320"/>
            <a:ext cx="11094415" cy="256032"/>
          </a:xfrm>
          <a:prstGeom prst="rect">
            <a:avLst/>
          </a:prstGeom>
          <a:noFill/>
          <a:ln/>
        </p:spPr>
        <p:txBody>
          <a:bodyPr wrap="square" lIns="0" tIns="0" rIns="0" bIns="0" rtlCol="0" anchor="ctr"/>
          <a:lstStyle/>
          <a:p>
            <a:pPr marL="0" indent="0" algn="l">
              <a:lnSpc>
                <a:spcPct val="95000"/>
              </a:lnSpc>
              <a:buNone/>
            </a:pPr>
            <a:r>
              <a:rPr lang="en-GB" sz="1100" b="1" dirty="0">
                <a:solidFill>
                  <a:srgbClr val="5B7699"/>
                </a:solidFill>
                <a:latin typeface="Calibri" pitchFamily="34" charset="0"/>
                <a:ea typeface="Calibri" pitchFamily="34" charset="-122"/>
                <a:cs typeface="Calibri" pitchFamily="34" charset="-120"/>
              </a:rPr>
              <a:t>S E S S I O N   2</a:t>
            </a:r>
            <a:endParaRPr lang="en-GB" sz="1800" dirty="0"/>
          </a:p>
        </p:txBody>
      </p:sp>
      <p:sp>
        <p:nvSpPr>
          <p:cNvPr id="363" name="Text 363"/>
          <p:cNvSpPr txBox="1"/>
          <p:nvPr/>
        </p:nvSpPr>
        <p:spPr>
          <a:xfrm>
            <a:off x="548640" y="566928"/>
            <a:ext cx="11094415" cy="566928"/>
          </a:xfrm>
          <a:prstGeom prst="rect">
            <a:avLst/>
          </a:prstGeom>
          <a:noFill/>
          <a:ln/>
        </p:spPr>
        <p:txBody>
          <a:bodyPr wrap="square" lIns="0" tIns="0" rIns="0" bIns="0" rtlCol="0" anchor="t"/>
          <a:lstStyle/>
          <a:p>
            <a:pPr marL="0" indent="0" algn="l">
              <a:lnSpc>
                <a:spcPct val="95000"/>
              </a:lnSpc>
              <a:buNone/>
            </a:pPr>
            <a:r>
              <a:rPr lang="en-GB" sz="3000" b="1" dirty="0">
                <a:solidFill>
                  <a:srgbClr val="12315B"/>
                </a:solidFill>
                <a:latin typeface="Calibri" pitchFamily="34" charset="0"/>
                <a:ea typeface="Calibri" pitchFamily="34" charset="-122"/>
                <a:cs typeface="Calibri" pitchFamily="34" charset="-120"/>
              </a:rPr>
              <a:t>What would you do next? (2 of 2)</a:t>
            </a:r>
            <a:endParaRPr lang="en-GB" sz="1800" dirty="0"/>
          </a:p>
        </p:txBody>
      </p:sp>
      <p:sp>
        <p:nvSpPr>
          <p:cNvPr id="364" name="Text 364"/>
          <p:cNvSpPr txBox="1"/>
          <p:nvPr/>
        </p:nvSpPr>
        <p:spPr>
          <a:xfrm>
            <a:off x="548640" y="6382512"/>
            <a:ext cx="11094415" cy="274320"/>
          </a:xfrm>
          <a:prstGeom prst="rect">
            <a:avLst/>
          </a:prstGeom>
          <a:noFill/>
          <a:ln/>
        </p:spPr>
        <p:txBody>
          <a:bodyPr wrap="square" lIns="0" tIns="0" rIns="0" bIns="0" rtlCol="0" anchor="ctr"/>
          <a:lstStyle/>
          <a:p>
            <a:pPr marL="0" indent="0" algn="l">
              <a:lnSpc>
                <a:spcPct val="95000"/>
              </a:lnSpc>
              <a:buNone/>
            </a:pPr>
            <a:r>
              <a:rPr lang="en-GB" sz="1000" dirty="0">
                <a:solidFill>
                  <a:srgbClr val="5B7699"/>
                </a:solidFill>
                <a:latin typeface="Calibri" pitchFamily="34" charset="0"/>
                <a:ea typeface="Calibri" pitchFamily="34" charset="-122"/>
                <a:cs typeface="Calibri" pitchFamily="34" charset="-120"/>
              </a:rPr>
              <a:t>Breast Cancer  |  Frontline HCP  |  Rwanda Biomedical Centre</a:t>
            </a:r>
            <a:endParaRPr lang="en-GB" sz="1800" dirty="0"/>
          </a:p>
        </p:txBody>
      </p:sp>
      <p:sp>
        <p:nvSpPr>
          <p:cNvPr id="348" name="Shape 348"/>
          <p:cNvSpPr/>
          <p:nvPr/>
        </p:nvSpPr>
        <p:spPr>
          <a:xfrm>
            <a:off x="548640" y="1180000"/>
            <a:ext cx="11094415" cy="2480000"/>
          </a:xfrm>
          <a:prstGeom prst="roundRect">
            <a:avLst>
              <a:gd name="adj" fmla="val 2500"/>
            </a:avLst>
          </a:prstGeom>
          <a:solidFill>
            <a:srgbClr val="F4F8FC"/>
          </a:solidFill>
          <a:ln w="12700">
            <a:solidFill>
              <a:srgbClr val="C8D8EC"/>
            </a:solidFill>
            <a:prstDash val="solid"/>
          </a:ln>
        </p:spPr>
        <p:txBody>
          <a:bodyPr wrap="square" lIns="91440" tIns="45720" rIns="91440" bIns="45720" rtlCol="0" anchor="ctr"/>
          <a:lstStyle/>
          <a:p>
            <a:endParaRPr lang="en-GB" dirty="0"/>
          </a:p>
        </p:txBody>
      </p:sp>
      <p:sp>
        <p:nvSpPr>
          <p:cNvPr id="349" name="Text 349"/>
          <p:cNvSpPr txBox="1"/>
          <p:nvPr/>
        </p:nvSpPr>
        <p:spPr>
          <a:xfrm>
            <a:off x="713232" y="1270000"/>
            <a:ext cx="10765231" cy="700000"/>
          </a:xfrm>
          <a:prstGeom prst="rect">
            <a:avLst/>
          </a:prstGeom>
          <a:noFill/>
          <a:ln/>
        </p:spPr>
        <p:txBody>
          <a:bodyPr wrap="square" lIns="0" tIns="0" rIns="0" bIns="0" rtlCol="0" anchor="t"/>
          <a:lstStyle/>
          <a:p>
            <a:pPr marL="0" indent="0" algn="l">
              <a:lnSpc>
                <a:spcPct val="95000"/>
              </a:lnSpc>
              <a:buNone/>
            </a:pPr>
            <a:r>
              <a:rPr lang="en-GB" sz="1800" b="1" dirty="0">
                <a:solidFill>
                  <a:srgbClr val="12315B"/>
                </a:solidFill>
                <a:latin typeface="Calibri" pitchFamily="34" charset="0"/>
                <a:ea typeface="Calibri" pitchFamily="34" charset="-122"/>
                <a:cs typeface="Calibri" pitchFamily="34" charset="-120"/>
              </a:rPr>
              <a:t>🩺 Josiane Ingabire, 34: </a:t>
            </a:r>
            <a:r>
              <a:rPr lang="en-GB" sz="1800" dirty="0">
                <a:solidFill>
                  <a:srgbClr val="0B1F3F"/>
                </a:solidFill>
                <a:latin typeface="Calibri" pitchFamily="34" charset="0"/>
                <a:ea typeface="Calibri" pitchFamily="34" charset="-122"/>
                <a:cs typeface="Calibri" pitchFamily="34" charset="-120"/>
              </a:rPr>
              <a:t>Not breastfeeding. Both breasts are tender in the week before her period. Examination of both breasts and armpits is normal.</a:t>
            </a:r>
            <a:endParaRPr lang="en-GB" sz="1800" dirty="0"/>
          </a:p>
        </p:txBody>
      </p:sp>
      <p:sp>
        <p:nvSpPr>
          <p:cNvPr id="350" name="Text 350"/>
          <p:cNvSpPr txBox="1"/>
          <p:nvPr/>
        </p:nvSpPr>
        <p:spPr>
          <a:xfrm>
            <a:off x="713232" y="1980000"/>
            <a:ext cx="5322615" cy="360000"/>
          </a:xfrm>
          <a:prstGeom prst="rect">
            <a:avLst/>
          </a:prstGeom>
          <a:noFill/>
          <a:ln/>
        </p:spPr>
        <p:txBody>
          <a:bodyPr wrap="square" lIns="0" tIns="0" rIns="0" bIns="0" rtlCol="0" anchor="ctr"/>
          <a:lstStyle/>
          <a:p>
            <a:pPr marL="0" indent="0" algn="l">
              <a:lnSpc>
                <a:spcPct val="95000"/>
              </a:lnSpc>
              <a:buNone/>
            </a:pPr>
            <a:r>
              <a:rPr lang="en-GB" sz="1800" dirty="0">
                <a:solidFill>
                  <a:srgbClr val="1F3A63"/>
                </a:solidFill>
                <a:latin typeface="Calibri" pitchFamily="34" charset="0"/>
                <a:ea typeface="Calibri" pitchFamily="34" charset="-122"/>
                <a:cs typeface="Calibri" pitchFamily="34" charset="-120"/>
              </a:rPr>
              <a:t>A. Refer urgently</a:t>
            </a:r>
            <a:endParaRPr lang="en-GB" sz="1800" dirty="0"/>
          </a:p>
        </p:txBody>
      </p:sp>
      <p:sp>
        <p:nvSpPr>
          <p:cNvPr id="351" name="Text 351"/>
          <p:cNvSpPr txBox="1"/>
          <p:nvPr/>
        </p:nvSpPr>
        <p:spPr>
          <a:xfrm>
            <a:off x="6095847" y="1980000"/>
            <a:ext cx="5322615" cy="360000"/>
          </a:xfrm>
          <a:prstGeom prst="rect">
            <a:avLst/>
          </a:prstGeom>
          <a:noFill/>
          <a:ln/>
        </p:spPr>
        <p:txBody>
          <a:bodyPr wrap="square" lIns="0" tIns="0" rIns="0" bIns="0" rtlCol="0" anchor="ctr"/>
          <a:lstStyle/>
          <a:p>
            <a:pPr marL="0" indent="0" algn="l">
              <a:lnSpc>
                <a:spcPct val="95000"/>
              </a:lnSpc>
              <a:buNone/>
            </a:pPr>
            <a:r>
              <a:rPr lang="en-GB" sz="1800" b="1" dirty="0">
                <a:solidFill>
                  <a:srgbClr val="1B6E4A"/>
                </a:solidFill>
                <a:latin typeface="Calibri" pitchFamily="34" charset="0"/>
                <a:ea typeface="Calibri" pitchFamily="34" charset="-122"/>
                <a:cs typeface="Calibri" pitchFamily="34" charset="-120"/>
              </a:rPr>
              <a:t>B. Treat symptoms; review in 14 days</a:t>
            </a:r>
            <a:endParaRPr lang="en-GB" sz="1800" dirty="0"/>
          </a:p>
        </p:txBody>
      </p:sp>
      <p:sp>
        <p:nvSpPr>
          <p:cNvPr id="352" name="Text 352"/>
          <p:cNvSpPr txBox="1"/>
          <p:nvPr/>
        </p:nvSpPr>
        <p:spPr>
          <a:xfrm>
            <a:off x="713232" y="2360000"/>
            <a:ext cx="5322615" cy="360000"/>
          </a:xfrm>
          <a:prstGeom prst="rect">
            <a:avLst/>
          </a:prstGeom>
          <a:noFill/>
          <a:ln/>
        </p:spPr>
        <p:txBody>
          <a:bodyPr wrap="square" lIns="0" tIns="0" rIns="0" bIns="0" rtlCol="0" anchor="ctr"/>
          <a:lstStyle/>
          <a:p>
            <a:pPr marL="0" indent="0" algn="l">
              <a:lnSpc>
                <a:spcPct val="95000"/>
              </a:lnSpc>
              <a:buNone/>
            </a:pPr>
            <a:r>
              <a:rPr lang="en-GB" sz="1800" dirty="0">
                <a:solidFill>
                  <a:srgbClr val="1F3A63"/>
                </a:solidFill>
                <a:latin typeface="Calibri" pitchFamily="34" charset="0"/>
                <a:ea typeface="Calibri" pitchFamily="34" charset="-122"/>
                <a:cs typeface="Calibri" pitchFamily="34" charset="-120"/>
              </a:rPr>
              <a:t>C. Start antibiotics</a:t>
            </a:r>
            <a:endParaRPr lang="en-GB" sz="1800" dirty="0"/>
          </a:p>
        </p:txBody>
      </p:sp>
      <p:sp>
        <p:nvSpPr>
          <p:cNvPr id="353" name="Text 353"/>
          <p:cNvSpPr txBox="1"/>
          <p:nvPr/>
        </p:nvSpPr>
        <p:spPr>
          <a:xfrm>
            <a:off x="6095847" y="2360000"/>
            <a:ext cx="5322615" cy="360000"/>
          </a:xfrm>
          <a:prstGeom prst="rect">
            <a:avLst/>
          </a:prstGeom>
          <a:noFill/>
          <a:ln/>
        </p:spPr>
        <p:txBody>
          <a:bodyPr wrap="square" lIns="0" tIns="0" rIns="0" bIns="0" rtlCol="0" anchor="ctr"/>
          <a:lstStyle/>
          <a:p>
            <a:pPr marL="0" indent="0" algn="l">
              <a:lnSpc>
                <a:spcPct val="95000"/>
              </a:lnSpc>
              <a:buNone/>
            </a:pPr>
            <a:r>
              <a:rPr lang="en-GB" sz="1800" dirty="0">
                <a:solidFill>
                  <a:srgbClr val="1F3A63"/>
                </a:solidFill>
                <a:latin typeface="Calibri" pitchFamily="34" charset="0"/>
                <a:ea typeface="Calibri" pitchFamily="34" charset="-122"/>
                <a:cs typeface="Calibri" pitchFamily="34" charset="-120"/>
              </a:rPr>
              <a:t>D. Tell her the pain proves it is not cancer</a:t>
            </a:r>
            <a:endParaRPr lang="en-GB" sz="1800" dirty="0"/>
          </a:p>
        </p:txBody>
      </p:sp>
      <p:sp>
        <p:nvSpPr>
          <p:cNvPr id="354" name="Text 354"/>
          <p:cNvSpPr txBox="1"/>
          <p:nvPr/>
        </p:nvSpPr>
        <p:spPr>
          <a:xfrm>
            <a:off x="713232" y="2800000"/>
            <a:ext cx="10765231" cy="800000"/>
          </a:xfrm>
          <a:prstGeom prst="rect">
            <a:avLst/>
          </a:prstGeom>
          <a:noFill/>
          <a:ln/>
        </p:spPr>
        <p:txBody>
          <a:bodyPr wrap="square" lIns="0" tIns="0" rIns="0" bIns="0" rtlCol="0" anchor="t"/>
          <a:lstStyle/>
          <a:p>
            <a:pPr marL="0" indent="0" algn="l">
              <a:lnSpc>
                <a:spcPct val="95000"/>
              </a:lnSpc>
              <a:buNone/>
            </a:pPr>
            <a:r>
              <a:rPr lang="en-GB" sz="1600" b="1" dirty="0">
                <a:solidFill>
                  <a:srgbClr val="1B6E4A"/>
                </a:solidFill>
                <a:latin typeface="Calibri" pitchFamily="34" charset="0"/>
                <a:ea typeface="Calibri" pitchFamily="34" charset="-122"/>
                <a:cs typeface="Calibri" pitchFamily="34" charset="-120"/>
              </a:rPr>
              <a:t>Correct: B. </a:t>
            </a:r>
            <a:r>
              <a:rPr lang="en-GB" sz="1600" dirty="0">
                <a:solidFill>
                  <a:srgbClr val="0B1F3F"/>
                </a:solidFill>
                <a:latin typeface="Calibri" pitchFamily="34" charset="0"/>
                <a:ea typeface="Calibri" pitchFamily="34" charset="-122"/>
                <a:cs typeface="Calibri" pitchFamily="34" charset="-120"/>
              </a:rPr>
              <a:t>Cyclical pain in both breasts with a normal examination does not need referral. If it persists or worsens, or a new sign appears, refer. Pain alone neither confirms nor excludes cancer.</a:t>
            </a:r>
            <a:endParaRPr lang="en-GB" sz="1600" dirty="0"/>
          </a:p>
        </p:txBody>
      </p:sp>
      <p:sp>
        <p:nvSpPr>
          <p:cNvPr id="355" name="Shape 355"/>
          <p:cNvSpPr/>
          <p:nvPr/>
        </p:nvSpPr>
        <p:spPr>
          <a:xfrm>
            <a:off x="548640" y="3780000"/>
            <a:ext cx="11094415" cy="2480000"/>
          </a:xfrm>
          <a:prstGeom prst="roundRect">
            <a:avLst>
              <a:gd name="adj" fmla="val 2500"/>
            </a:avLst>
          </a:prstGeom>
          <a:solidFill>
            <a:srgbClr val="F4F8FC"/>
          </a:solidFill>
          <a:ln w="12700">
            <a:solidFill>
              <a:srgbClr val="C8D8EC"/>
            </a:solidFill>
            <a:prstDash val="solid"/>
          </a:ln>
        </p:spPr>
        <p:txBody>
          <a:bodyPr wrap="square" lIns="91440" tIns="45720" rIns="91440" bIns="45720" rtlCol="0" anchor="ctr"/>
          <a:lstStyle/>
          <a:p>
            <a:endParaRPr lang="en-GB" dirty="0"/>
          </a:p>
        </p:txBody>
      </p:sp>
      <p:sp>
        <p:nvSpPr>
          <p:cNvPr id="356" name="Text 356"/>
          <p:cNvSpPr txBox="1"/>
          <p:nvPr/>
        </p:nvSpPr>
        <p:spPr>
          <a:xfrm>
            <a:off x="713232" y="3870000"/>
            <a:ext cx="10765231" cy="700000"/>
          </a:xfrm>
          <a:prstGeom prst="rect">
            <a:avLst/>
          </a:prstGeom>
          <a:noFill/>
          <a:ln/>
        </p:spPr>
        <p:txBody>
          <a:bodyPr wrap="square" lIns="0" tIns="0" rIns="0" bIns="0" rtlCol="0" anchor="t"/>
          <a:lstStyle/>
          <a:p>
            <a:pPr marL="0" indent="0" algn="l">
              <a:lnSpc>
                <a:spcPct val="95000"/>
              </a:lnSpc>
              <a:buNone/>
            </a:pPr>
            <a:r>
              <a:rPr lang="en-GB" sz="1800" b="1" dirty="0">
                <a:solidFill>
                  <a:srgbClr val="12315B"/>
                </a:solidFill>
                <a:latin typeface="Calibri" pitchFamily="34" charset="0"/>
                <a:ea typeface="Calibri" pitchFamily="34" charset="-122"/>
                <a:cs typeface="Calibri" pitchFamily="34" charset="-120"/>
              </a:rPr>
              <a:t>🩺 Aline Mukeshimana, 30: </a:t>
            </a:r>
            <a:r>
              <a:rPr lang="en-GB" sz="1800" dirty="0">
                <a:solidFill>
                  <a:srgbClr val="0B1F3F"/>
                </a:solidFill>
                <a:latin typeface="Calibri" pitchFamily="34" charset="0"/>
                <a:ea typeface="Calibri" pitchFamily="34" charset="-122"/>
                <a:cs typeface="Calibri" pitchFamily="34" charset="-120"/>
              </a:rPr>
              <a:t>Breastfeeding. Fever and a painful, red left breast with a soft, tender 3 cm lump that feels full of fluid.</a:t>
            </a:r>
            <a:endParaRPr lang="en-GB" sz="1800" dirty="0"/>
          </a:p>
        </p:txBody>
      </p:sp>
      <p:sp>
        <p:nvSpPr>
          <p:cNvPr id="357" name="Text 357"/>
          <p:cNvSpPr txBox="1"/>
          <p:nvPr/>
        </p:nvSpPr>
        <p:spPr>
          <a:xfrm>
            <a:off x="713232" y="4580000"/>
            <a:ext cx="5322615" cy="360000"/>
          </a:xfrm>
          <a:prstGeom prst="rect">
            <a:avLst/>
          </a:prstGeom>
          <a:noFill/>
          <a:ln/>
        </p:spPr>
        <p:txBody>
          <a:bodyPr wrap="square" lIns="0" tIns="0" rIns="0" bIns="0" rtlCol="0" anchor="ctr"/>
          <a:lstStyle/>
          <a:p>
            <a:pPr marL="0" indent="0" algn="l">
              <a:lnSpc>
                <a:spcPct val="95000"/>
              </a:lnSpc>
              <a:buNone/>
            </a:pPr>
            <a:r>
              <a:rPr lang="en-GB" sz="1800" dirty="0">
                <a:solidFill>
                  <a:srgbClr val="1F3A63"/>
                </a:solidFill>
                <a:latin typeface="Calibri" pitchFamily="34" charset="0"/>
                <a:ea typeface="Calibri" pitchFamily="34" charset="-122"/>
                <a:cs typeface="Calibri" pitchFamily="34" charset="-120"/>
              </a:rPr>
              <a:t>A. Stop breastfeeding and give antibiotics only</a:t>
            </a:r>
            <a:endParaRPr lang="en-GB" sz="1800" dirty="0"/>
          </a:p>
        </p:txBody>
      </p:sp>
      <p:sp>
        <p:nvSpPr>
          <p:cNvPr id="358" name="Text 358"/>
          <p:cNvSpPr txBox="1"/>
          <p:nvPr/>
        </p:nvSpPr>
        <p:spPr>
          <a:xfrm>
            <a:off x="6095847" y="4580000"/>
            <a:ext cx="5322615" cy="360000"/>
          </a:xfrm>
          <a:prstGeom prst="rect">
            <a:avLst/>
          </a:prstGeom>
          <a:noFill/>
          <a:ln/>
        </p:spPr>
        <p:txBody>
          <a:bodyPr wrap="square" lIns="0" tIns="0" rIns="0" bIns="0" rtlCol="0" anchor="ctr"/>
          <a:lstStyle/>
          <a:p>
            <a:pPr marL="0" indent="0" algn="l">
              <a:lnSpc>
                <a:spcPct val="95000"/>
              </a:lnSpc>
              <a:buNone/>
            </a:pPr>
            <a:r>
              <a:rPr lang="en-GB" sz="1800" b="1" dirty="0">
                <a:solidFill>
                  <a:srgbClr val="1B6E4A"/>
                </a:solidFill>
                <a:latin typeface="Calibri" pitchFamily="34" charset="0"/>
                <a:ea typeface="Calibri" pitchFamily="34" charset="-122"/>
                <a:cs typeface="Calibri" pitchFamily="34" charset="-120"/>
              </a:rPr>
              <a:t>B. Continue feeding; refer urgently for drainage</a:t>
            </a:r>
            <a:endParaRPr lang="en-GB" sz="1800" dirty="0"/>
          </a:p>
        </p:txBody>
      </p:sp>
      <p:sp>
        <p:nvSpPr>
          <p:cNvPr id="359" name="Text 359"/>
          <p:cNvSpPr txBox="1"/>
          <p:nvPr/>
        </p:nvSpPr>
        <p:spPr>
          <a:xfrm>
            <a:off x="713232" y="4960000"/>
            <a:ext cx="5322615" cy="360000"/>
          </a:xfrm>
          <a:prstGeom prst="rect">
            <a:avLst/>
          </a:prstGeom>
          <a:noFill/>
          <a:ln/>
        </p:spPr>
        <p:txBody>
          <a:bodyPr wrap="square" lIns="0" tIns="0" rIns="0" bIns="0" rtlCol="0" anchor="ctr"/>
          <a:lstStyle/>
          <a:p>
            <a:pPr marL="0" indent="0" algn="l">
              <a:lnSpc>
                <a:spcPct val="95000"/>
              </a:lnSpc>
              <a:buNone/>
            </a:pPr>
            <a:r>
              <a:rPr lang="en-GB" sz="1800" dirty="0">
                <a:solidFill>
                  <a:srgbClr val="1F3A63"/>
                </a:solidFill>
                <a:latin typeface="Calibri" pitchFamily="34" charset="0"/>
                <a:ea typeface="Calibri" pitchFamily="34" charset="-122"/>
                <a:cs typeface="Calibri" pitchFamily="34" charset="-120"/>
              </a:rPr>
              <a:t>C. Review in 14 days</a:t>
            </a:r>
            <a:endParaRPr lang="en-GB" sz="1800" dirty="0"/>
          </a:p>
        </p:txBody>
      </p:sp>
      <p:sp>
        <p:nvSpPr>
          <p:cNvPr id="360" name="Text 360"/>
          <p:cNvSpPr txBox="1"/>
          <p:nvPr/>
        </p:nvSpPr>
        <p:spPr>
          <a:xfrm>
            <a:off x="6095847" y="4960000"/>
            <a:ext cx="5322615" cy="360000"/>
          </a:xfrm>
          <a:prstGeom prst="rect">
            <a:avLst/>
          </a:prstGeom>
          <a:noFill/>
          <a:ln/>
        </p:spPr>
        <p:txBody>
          <a:bodyPr wrap="square" lIns="0" tIns="0" rIns="0" bIns="0" rtlCol="0" anchor="ctr"/>
          <a:lstStyle/>
          <a:p>
            <a:pPr marL="0" indent="0" algn="l">
              <a:lnSpc>
                <a:spcPct val="95000"/>
              </a:lnSpc>
              <a:buNone/>
            </a:pPr>
            <a:r>
              <a:rPr lang="en-GB" sz="1800" dirty="0">
                <a:solidFill>
                  <a:srgbClr val="1F3A63"/>
                </a:solidFill>
                <a:latin typeface="Calibri" pitchFamily="34" charset="0"/>
                <a:ea typeface="Calibri" pitchFamily="34" charset="-122"/>
                <a:cs typeface="Calibri" pitchFamily="34" charset="-120"/>
              </a:rPr>
              <a:t>D. Massage the lump firmly until it goes</a:t>
            </a:r>
            <a:endParaRPr lang="en-GB" sz="1800" dirty="0"/>
          </a:p>
        </p:txBody>
      </p:sp>
      <p:sp>
        <p:nvSpPr>
          <p:cNvPr id="361" name="Text 361"/>
          <p:cNvSpPr txBox="1"/>
          <p:nvPr/>
        </p:nvSpPr>
        <p:spPr>
          <a:xfrm>
            <a:off x="713232" y="5400000"/>
            <a:ext cx="10765231" cy="800000"/>
          </a:xfrm>
          <a:prstGeom prst="rect">
            <a:avLst/>
          </a:prstGeom>
          <a:noFill/>
          <a:ln/>
        </p:spPr>
        <p:txBody>
          <a:bodyPr wrap="square" lIns="0" tIns="0" rIns="0" bIns="0" rtlCol="0" anchor="t"/>
          <a:lstStyle/>
          <a:p>
            <a:pPr marL="0" indent="0" algn="l">
              <a:lnSpc>
                <a:spcPct val="95000"/>
              </a:lnSpc>
              <a:buNone/>
            </a:pPr>
            <a:r>
              <a:rPr lang="en-GB" sz="1600" b="1" dirty="0">
                <a:solidFill>
                  <a:srgbClr val="1B6E4A"/>
                </a:solidFill>
                <a:latin typeface="Calibri" pitchFamily="34" charset="0"/>
                <a:ea typeface="Calibri" pitchFamily="34" charset="-122"/>
                <a:cs typeface="Calibri" pitchFamily="34" charset="-120"/>
              </a:rPr>
              <a:t>Correct: B. </a:t>
            </a:r>
            <a:r>
              <a:rPr lang="en-GB" sz="1600" dirty="0">
                <a:solidFill>
                  <a:srgbClr val="0B1F3F"/>
                </a:solidFill>
                <a:latin typeface="Calibri" pitchFamily="34" charset="0"/>
                <a:ea typeface="Calibri" pitchFamily="34" charset="-122"/>
                <a:cs typeface="Calibri" pitchFamily="34" charset="-120"/>
              </a:rPr>
              <a:t>A tender, fluid-filled lump with signs of infection suggests an abscess. It needs drainage, which antibiotics alone will not achieve. Breastfeeding can usually continue.</a:t>
            </a:r>
            <a:endParaRPr lang="en-GB" sz="1600" dirty="0"/>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en-GB" sz="1100" b="1" kern="0" spc="100" noProof="0" dirty="0">
                <a:solidFill>
                  <a:srgbClr val="5B7699"/>
                </a:solidFill>
                <a:latin typeface="Calibri" pitchFamily="34" charset="0"/>
                <a:ea typeface="Calibri" pitchFamily="34" charset="-122"/>
                <a:cs typeface="Calibri" pitchFamily="34" charset="-120"/>
              </a:rPr>
              <a:t>S E S S I O N   2</a:t>
            </a:r>
            <a:endParaRPr lang="en-GB"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en-GB" sz="1000" noProof="0" dirty="0">
                <a:solidFill>
                  <a:srgbClr val="5B7699"/>
                </a:solidFill>
                <a:latin typeface="Calibri" pitchFamily="34" charset="0"/>
                <a:ea typeface="Calibri" pitchFamily="34" charset="-122"/>
                <a:cs typeface="Calibri" pitchFamily="34" charset="-120"/>
              </a:rPr>
              <a:t>Breast Cancer  |  Frontline HCP  |  Rwanda Biomedical Centre</a:t>
            </a:r>
            <a:endParaRPr lang="en-GB"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en-GB" sz="3000" b="1" noProof="0" dirty="0">
                <a:solidFill>
                  <a:srgbClr val="12315B"/>
                </a:solidFill>
                <a:latin typeface="Calibri" pitchFamily="34" charset="0"/>
                <a:ea typeface="Calibri" pitchFamily="34" charset="-122"/>
                <a:cs typeface="Calibri" pitchFamily="34" charset="-120"/>
              </a:rPr>
              <a:t>What clinical breast examination can and cannot do</a:t>
            </a:r>
            <a:endParaRPr lang="en-GB" sz="3000" noProof="0" dirty="0"/>
          </a:p>
        </p:txBody>
      </p:sp>
      <p:pic>
        <p:nvPicPr>
          <p:cNvPr id="5" name="Imagen 4">
            <a:extLst>
              <a:ext uri="{FF2B5EF4-FFF2-40B4-BE49-F238E27FC236}">
                <a16:creationId xmlns:a16="http://schemas.microsoft.com/office/drawing/2014/main" id="{38299A9D-E7CD-D531-CD32-1FD803E7289B}"/>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895762" y="1109472"/>
            <a:ext cx="7779997" cy="5181600"/>
          </a:xfrm>
          <a:prstGeom prst="rect">
            <a:avLst/>
          </a:prstGeom>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en-GB" sz="1100" b="1" kern="0" spc="100" noProof="0" dirty="0">
                <a:solidFill>
                  <a:srgbClr val="5B7699"/>
                </a:solidFill>
                <a:latin typeface="Calibri" pitchFamily="34" charset="0"/>
                <a:ea typeface="Calibri" pitchFamily="34" charset="-122"/>
                <a:cs typeface="Calibri" pitchFamily="34" charset="-120"/>
              </a:rPr>
              <a:t>S E S S I O N   2</a:t>
            </a:r>
            <a:endParaRPr lang="en-GB"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en-GB" sz="1000" noProof="0" dirty="0">
                <a:solidFill>
                  <a:srgbClr val="5B7699"/>
                </a:solidFill>
                <a:latin typeface="Calibri" pitchFamily="34" charset="0"/>
                <a:ea typeface="Calibri" pitchFamily="34" charset="-122"/>
                <a:cs typeface="Calibri" pitchFamily="34" charset="-120"/>
              </a:rPr>
              <a:t>Breast Cancer  |  Frontline HCP  |  Rwanda Biomedical Centre</a:t>
            </a:r>
            <a:endParaRPr lang="en-GB"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en-GB" sz="3000" b="1" noProof="0" dirty="0">
                <a:solidFill>
                  <a:srgbClr val="12315B"/>
                </a:solidFill>
                <a:latin typeface="Calibri" pitchFamily="34" charset="0"/>
                <a:ea typeface="Calibri" pitchFamily="34" charset="-122"/>
                <a:cs typeface="Calibri" pitchFamily="34" charset="-120"/>
              </a:rPr>
              <a:t>Mammography</a:t>
            </a:r>
            <a:endParaRPr lang="en-GB" sz="3000" noProof="0" dirty="0"/>
          </a:p>
        </p:txBody>
      </p:sp>
      <p:pic>
        <p:nvPicPr>
          <p:cNvPr id="5" name="Imagen 4">
            <a:extLst>
              <a:ext uri="{FF2B5EF4-FFF2-40B4-BE49-F238E27FC236}">
                <a16:creationId xmlns:a16="http://schemas.microsoft.com/office/drawing/2014/main" id="{D2228B5C-ECD0-EDC3-4C32-494E1D4E10F7}"/>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924176" y="1100037"/>
            <a:ext cx="8343340" cy="5556795"/>
          </a:xfrm>
          <a:prstGeom prst="rect">
            <a:avLst/>
          </a:prstGeom>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1CF2156E-77DB-E8AB-F9DA-D0C80CC766E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104AAF6-FB1B-30C5-CE79-B64B66B49A7E}"/>
              </a:ext>
            </a:extLst>
          </p:cNvPr>
          <p:cNvSpPr txBox="1"/>
          <p:nvPr/>
        </p:nvSpPr>
        <p:spPr>
          <a:xfrm>
            <a:off x="548640" y="274320"/>
            <a:ext cx="11094415" cy="256032"/>
          </a:xfrm>
          <a:prstGeom prst="rect">
            <a:avLst/>
          </a:prstGeom>
          <a:noFill/>
          <a:ln/>
        </p:spPr>
        <p:txBody>
          <a:bodyPr wrap="square" lIns="0" tIns="0" rIns="0" bIns="0" rtlCol="0" anchor="ctr"/>
          <a:lstStyle/>
          <a:p>
            <a:pPr marL="0" indent="0">
              <a:buNone/>
            </a:pPr>
            <a:r>
              <a:rPr lang="en-GB" sz="1100" b="1" kern="0" spc="100" noProof="0" dirty="0">
                <a:solidFill>
                  <a:srgbClr val="5B7699"/>
                </a:solidFill>
                <a:latin typeface="Calibri" pitchFamily="34" charset="0"/>
                <a:ea typeface="Calibri" pitchFamily="34" charset="-122"/>
                <a:cs typeface="Calibri" pitchFamily="34" charset="-120"/>
              </a:rPr>
              <a:t>S E S S I O N   2</a:t>
            </a:r>
            <a:endParaRPr lang="en-GB" sz="1100" noProof="0" dirty="0"/>
          </a:p>
        </p:txBody>
      </p:sp>
      <p:sp>
        <p:nvSpPr>
          <p:cNvPr id="4" name="Text 2">
            <a:extLst>
              <a:ext uri="{FF2B5EF4-FFF2-40B4-BE49-F238E27FC236}">
                <a16:creationId xmlns:a16="http://schemas.microsoft.com/office/drawing/2014/main" id="{3B2F5CF1-BF45-BB2C-9CF7-18B6E34C1F8B}"/>
              </a:ext>
            </a:extLst>
          </p:cNvPr>
          <p:cNvSpPr txBox="1"/>
          <p:nvPr/>
        </p:nvSpPr>
        <p:spPr>
          <a:xfrm>
            <a:off x="548640" y="566928"/>
            <a:ext cx="11094415" cy="566928"/>
          </a:xfrm>
          <a:prstGeom prst="rect">
            <a:avLst/>
          </a:prstGeom>
          <a:noFill/>
          <a:ln/>
        </p:spPr>
        <p:txBody>
          <a:bodyPr wrap="square" lIns="0" tIns="0" rIns="0" bIns="0" rtlCol="0" anchor="t"/>
          <a:lstStyle/>
          <a:p>
            <a:pPr marL="0" indent="0">
              <a:buNone/>
            </a:pPr>
            <a:r>
              <a:rPr lang="en-GB" sz="3000" b="1" noProof="0" dirty="0">
                <a:solidFill>
                  <a:srgbClr val="12315B"/>
                </a:solidFill>
                <a:latin typeface="Calibri" pitchFamily="34" charset="0"/>
                <a:ea typeface="Calibri" pitchFamily="34" charset="-122"/>
                <a:cs typeface="Calibri" pitchFamily="34" charset="-120"/>
              </a:rPr>
              <a:t>Ultrasound and magnetic resonance imaging</a:t>
            </a:r>
            <a:endParaRPr lang="en-GB" sz="3000" noProof="0" dirty="0"/>
          </a:p>
        </p:txBody>
      </p:sp>
      <p:pic>
        <p:nvPicPr>
          <p:cNvPr id="5" name="Imagen 4">
            <a:extLst>
              <a:ext uri="{FF2B5EF4-FFF2-40B4-BE49-F238E27FC236}">
                <a16:creationId xmlns:a16="http://schemas.microsoft.com/office/drawing/2014/main" id="{6F646091-0523-D4F3-0735-7206067BE313}"/>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951033" y="1133856"/>
            <a:ext cx="8496761" cy="5658976"/>
          </a:xfrm>
          <a:prstGeom prst="rect">
            <a:avLst/>
          </a:prstGeom>
        </p:spPr>
      </p:pic>
    </p:spTree>
    <p:extLst>
      <p:ext uri="{BB962C8B-B14F-4D97-AF65-F5344CB8AC3E}">
        <p14:creationId xmlns:p14="http://schemas.microsoft.com/office/powerpoint/2010/main" val="952338430"/>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name="Slide 5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en-GB" sz="1100" b="1" kern="0" spc="100" noProof="0" dirty="0">
                <a:solidFill>
                  <a:srgbClr val="5B7699"/>
                </a:solidFill>
                <a:latin typeface="Calibri" pitchFamily="34" charset="0"/>
                <a:ea typeface="Calibri" pitchFamily="34" charset="-122"/>
                <a:cs typeface="Calibri" pitchFamily="34" charset="-120"/>
              </a:rPr>
              <a:t>S E S S I O N   2</a:t>
            </a:r>
            <a:endParaRPr lang="en-GB"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en-GB" sz="1000" noProof="0" dirty="0">
                <a:solidFill>
                  <a:srgbClr val="5B7699"/>
                </a:solidFill>
                <a:latin typeface="Calibri" pitchFamily="34" charset="0"/>
                <a:ea typeface="Calibri" pitchFamily="34" charset="-122"/>
                <a:cs typeface="Calibri" pitchFamily="34" charset="-120"/>
              </a:rPr>
              <a:t>Breast Cancer  |  Frontline HCP  |  Rwanda Biomedical Centre</a:t>
            </a:r>
            <a:endParaRPr lang="en-GB"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en-GB" sz="3000" b="1" noProof="0" dirty="0">
                <a:solidFill>
                  <a:srgbClr val="12315B"/>
                </a:solidFill>
                <a:latin typeface="Calibri" pitchFamily="34" charset="0"/>
                <a:ea typeface="Calibri" pitchFamily="34" charset="-122"/>
                <a:cs typeface="Calibri" pitchFamily="34" charset="-120"/>
              </a:rPr>
              <a:t>Breast screening in Rwanda: who and how</a:t>
            </a:r>
            <a:endParaRPr lang="en-GB" sz="3000" noProof="0" dirty="0"/>
          </a:p>
        </p:txBody>
      </p:sp>
      <p:sp>
        <p:nvSpPr>
          <p:cNvPr id="5" name="Shape 3"/>
          <p:cNvSpPr/>
          <p:nvPr/>
        </p:nvSpPr>
        <p:spPr>
          <a:xfrm>
            <a:off x="548639" y="1371600"/>
            <a:ext cx="11094415" cy="4407408"/>
          </a:xfrm>
          <a:prstGeom prst="roundRect">
            <a:avLst>
              <a:gd name="adj" fmla="val 1364"/>
            </a:avLst>
          </a:prstGeom>
          <a:solidFill>
            <a:srgbClr val="F4F8FC"/>
          </a:solidFill>
          <a:ln w="12700">
            <a:solidFill>
              <a:srgbClr val="C8D8EC"/>
            </a:solidFill>
            <a:prstDash val="solid"/>
          </a:ln>
        </p:spPr>
        <p:txBody>
          <a:bodyPr/>
          <a:lstStyle/>
          <a:p>
            <a:endParaRPr lang="en-GB" noProof="0" dirty="0"/>
          </a:p>
        </p:txBody>
      </p:sp>
      <p:sp>
        <p:nvSpPr>
          <p:cNvPr id="6" name="Text 4"/>
          <p:cNvSpPr txBox="1"/>
          <p:nvPr/>
        </p:nvSpPr>
        <p:spPr>
          <a:xfrm>
            <a:off x="713232" y="1463040"/>
            <a:ext cx="5157216" cy="292608"/>
          </a:xfrm>
          <a:prstGeom prst="rect">
            <a:avLst/>
          </a:prstGeom>
          <a:noFill/>
          <a:ln/>
        </p:spPr>
        <p:txBody>
          <a:bodyPr wrap="square" lIns="0" tIns="0" rIns="0" bIns="0" rtlCol="0" anchor="t"/>
          <a:lstStyle/>
          <a:p>
            <a:pPr marL="0" indent="0">
              <a:buNone/>
            </a:pPr>
            <a:r>
              <a:rPr lang="en-GB" sz="2000" b="1" noProof="0" dirty="0">
                <a:solidFill>
                  <a:srgbClr val="12315B"/>
                </a:solidFill>
                <a:latin typeface="Calibri" pitchFamily="34" charset="0"/>
                <a:ea typeface="Calibri" pitchFamily="34" charset="-122"/>
                <a:cs typeface="Calibri" pitchFamily="34" charset="-120"/>
              </a:rPr>
              <a:t>Rwanda breast cancer early detection, by age:</a:t>
            </a:r>
            <a:endParaRPr lang="en-GB" sz="2000" noProof="0" dirty="0"/>
          </a:p>
        </p:txBody>
      </p:sp>
      <p:sp>
        <p:nvSpPr>
          <p:cNvPr id="7" name="Text 5"/>
          <p:cNvSpPr txBox="1"/>
          <p:nvPr/>
        </p:nvSpPr>
        <p:spPr>
          <a:xfrm>
            <a:off x="768096" y="2194560"/>
            <a:ext cx="5084064" cy="3291840"/>
          </a:xfrm>
          <a:prstGeom prst="rect">
            <a:avLst/>
          </a:prstGeom>
          <a:noFill/>
          <a:ln/>
        </p:spPr>
        <p:txBody>
          <a:bodyPr wrap="square" lIns="0" tIns="0" rIns="0" bIns="0" rtlCol="0" anchor="t"/>
          <a:lstStyle/>
          <a:p>
            <a:pPr marL="342900" indent="-342900">
              <a:lnSpc>
                <a:spcPct val="95000"/>
              </a:lnSpc>
              <a:spcAft>
                <a:spcPts val="800"/>
              </a:spcAft>
              <a:buSzPct val="100000"/>
              <a:buChar char="•"/>
            </a:pPr>
            <a:r>
              <a:rPr lang="en-GB" b="1" noProof="0" dirty="0">
                <a:solidFill>
                  <a:srgbClr val="0B1F3F"/>
                </a:solidFill>
                <a:latin typeface="Calibri" pitchFamily="34" charset="0"/>
                <a:ea typeface="Calibri" pitchFamily="34" charset="-122"/>
                <a:cs typeface="Calibri" pitchFamily="34" charset="-120"/>
              </a:rPr>
              <a:t>Age 25 to 29: </a:t>
            </a:r>
            <a:r>
              <a:rPr lang="en-GB" noProof="0" dirty="0">
                <a:solidFill>
                  <a:srgbClr val="0B1F3F"/>
                </a:solidFill>
                <a:latin typeface="Calibri" pitchFamily="34" charset="0"/>
                <a:ea typeface="Calibri" pitchFamily="34" charset="-122"/>
                <a:cs typeface="Calibri" pitchFamily="34" charset="-120"/>
              </a:rPr>
              <a:t>Monthly breast self-examination, taught at the health facility</a:t>
            </a:r>
          </a:p>
          <a:p>
            <a:pPr marL="342900" indent="-342900">
              <a:lnSpc>
                <a:spcPct val="95000"/>
              </a:lnSpc>
              <a:spcAft>
                <a:spcPts val="800"/>
              </a:spcAft>
              <a:buSzPct val="100000"/>
              <a:buChar char="•"/>
            </a:pPr>
            <a:r>
              <a:rPr lang="en-GB" b="1" noProof="0" dirty="0">
                <a:solidFill>
                  <a:srgbClr val="0B1F3F"/>
                </a:solidFill>
                <a:latin typeface="Calibri" pitchFamily="34" charset="0"/>
                <a:ea typeface="Calibri" pitchFamily="34" charset="-122"/>
                <a:cs typeface="Calibri" pitchFamily="34" charset="-120"/>
              </a:rPr>
              <a:t>Age 30 and above: </a:t>
            </a:r>
            <a:r>
              <a:rPr lang="en-GB" noProof="0" dirty="0">
                <a:solidFill>
                  <a:srgbClr val="0B1F3F"/>
                </a:solidFill>
                <a:latin typeface="Calibri" pitchFamily="34" charset="0"/>
                <a:ea typeface="Calibri" pitchFamily="34" charset="-122"/>
                <a:cs typeface="Calibri" pitchFamily="34" charset="-120"/>
              </a:rPr>
              <a:t>Annual clinical breast examination (CBE) at the health facility</a:t>
            </a:r>
          </a:p>
          <a:p>
            <a:pPr marL="342900" indent="-342900">
              <a:lnSpc>
                <a:spcPct val="95000"/>
              </a:lnSpc>
              <a:spcAft>
                <a:spcPts val="800"/>
              </a:spcAft>
              <a:buSzPct val="100000"/>
              <a:buChar char="•"/>
            </a:pPr>
            <a:r>
              <a:rPr lang="en-GB" b="1" noProof="0" dirty="0">
                <a:solidFill>
                  <a:srgbClr val="0B1F3F"/>
                </a:solidFill>
                <a:latin typeface="Calibri" pitchFamily="34" charset="0"/>
                <a:ea typeface="Calibri" pitchFamily="34" charset="-122"/>
                <a:cs typeface="Calibri" pitchFamily="34" charset="-120"/>
              </a:rPr>
              <a:t>Age 40 and above: </a:t>
            </a:r>
            <a:r>
              <a:rPr lang="en-GB" noProof="0" dirty="0">
                <a:solidFill>
                  <a:srgbClr val="0B1F3F"/>
                </a:solidFill>
                <a:latin typeface="Calibri" pitchFamily="34" charset="0"/>
                <a:ea typeface="Calibri" pitchFamily="34" charset="-122"/>
                <a:cs typeface="Calibri" pitchFamily="34" charset="-120"/>
              </a:rPr>
              <a:t>Annual CBE plus mammography where available. Where it is not available, continue annual CBE</a:t>
            </a:r>
          </a:p>
          <a:p>
            <a:pPr marL="342900" indent="-342900">
              <a:lnSpc>
                <a:spcPct val="95000"/>
              </a:lnSpc>
              <a:spcAft>
                <a:spcPts val="800"/>
              </a:spcAft>
              <a:buSzPct val="100000"/>
              <a:buChar char="•"/>
            </a:pPr>
            <a:r>
              <a:rPr lang="en-GB" b="1" noProof="0" dirty="0">
                <a:solidFill>
                  <a:srgbClr val="0B1F3F"/>
                </a:solidFill>
                <a:latin typeface="Calibri" pitchFamily="34" charset="0"/>
                <a:ea typeface="Calibri" pitchFamily="34" charset="-122"/>
                <a:cs typeface="Calibri" pitchFamily="34" charset="-120"/>
              </a:rPr>
              <a:t>Any age with symptoms or a new breast change: </a:t>
            </a:r>
            <a:r>
              <a:rPr lang="en-GB" noProof="0" dirty="0">
                <a:solidFill>
                  <a:srgbClr val="0B1F3F"/>
                </a:solidFill>
                <a:latin typeface="Calibri" pitchFamily="34" charset="0"/>
                <a:ea typeface="Calibri" pitchFamily="34" charset="-122"/>
                <a:cs typeface="Calibri" pitchFamily="34" charset="-120"/>
              </a:rPr>
              <a:t>Diagnostic assessment and referral to hospital. Do not wait for routine screening.</a:t>
            </a:r>
          </a:p>
        </p:txBody>
      </p:sp>
      <p:sp>
        <p:nvSpPr>
          <p:cNvPr id="12" name="Text 10"/>
          <p:cNvSpPr txBox="1"/>
          <p:nvPr/>
        </p:nvSpPr>
        <p:spPr>
          <a:xfrm>
            <a:off x="689001" y="5864841"/>
            <a:ext cx="10954053" cy="561213"/>
          </a:xfrm>
          <a:prstGeom prst="rect">
            <a:avLst/>
          </a:prstGeom>
          <a:noFill/>
          <a:ln/>
        </p:spPr>
        <p:txBody>
          <a:bodyPr wrap="square" lIns="0" tIns="0" rIns="0" bIns="0" rtlCol="0" anchor="ctr"/>
          <a:lstStyle/>
          <a:p>
            <a:pPr marL="0" indent="0">
              <a:lnSpc>
                <a:spcPct val="95000"/>
              </a:lnSpc>
              <a:buNone/>
            </a:pPr>
            <a:r>
              <a:rPr lang="en-GB" sz="1600" i="1" noProof="0" dirty="0">
                <a:solidFill>
                  <a:schemeClr val="accent1">
                    <a:lumMod val="50000"/>
                  </a:schemeClr>
                </a:solidFill>
              </a:rPr>
              <a:t>This approach reflects Rwanda’s national guidance and is aligned with the WHO Global Breast Cancer Initiative.</a:t>
            </a:r>
          </a:p>
        </p:txBody>
      </p:sp>
      <p:pic>
        <p:nvPicPr>
          <p:cNvPr id="13" name="Imagen 12">
            <a:extLst>
              <a:ext uri="{FF2B5EF4-FFF2-40B4-BE49-F238E27FC236}">
                <a16:creationId xmlns:a16="http://schemas.microsoft.com/office/drawing/2014/main" id="{7DCD1D7F-E8D7-117B-EE8D-2E70ADBFFB49}"/>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6071617" y="1609345"/>
            <a:ext cx="5404104" cy="3602736"/>
          </a:xfrm>
          <a:prstGeom prst="rect">
            <a:avLst/>
          </a:prstGeom>
        </p:spPr>
      </p:pic>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8A3BDE8-5629-9BA2-8595-B6704C62257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9ED45938-39A1-45E5-63DD-2B7ACF7CBC1D}"/>
              </a:ext>
            </a:extLst>
          </p:cNvPr>
          <p:cNvSpPr txBox="1"/>
          <p:nvPr/>
        </p:nvSpPr>
        <p:spPr>
          <a:xfrm>
            <a:off x="548640" y="274320"/>
            <a:ext cx="11094415" cy="256032"/>
          </a:xfrm>
          <a:prstGeom prst="rect">
            <a:avLst/>
          </a:prstGeom>
          <a:noFill/>
          <a:ln/>
        </p:spPr>
        <p:txBody>
          <a:bodyPr wrap="square" lIns="0" tIns="0" rIns="0" bIns="0" rtlCol="0" anchor="ctr"/>
          <a:lstStyle/>
          <a:p>
            <a:pPr marL="0" indent="0">
              <a:buNone/>
            </a:pPr>
            <a:r>
              <a:rPr lang="en-GB" sz="1100" b="1" kern="0" spc="100" noProof="0" dirty="0">
                <a:solidFill>
                  <a:srgbClr val="5B7699"/>
                </a:solidFill>
                <a:latin typeface="Calibri" pitchFamily="34" charset="0"/>
                <a:ea typeface="Calibri" pitchFamily="34" charset="-122"/>
                <a:cs typeface="Calibri" pitchFamily="34" charset="-120"/>
              </a:rPr>
              <a:t>S E S S I O N   2</a:t>
            </a:r>
            <a:endParaRPr lang="en-GB" sz="1100" noProof="0" dirty="0"/>
          </a:p>
        </p:txBody>
      </p:sp>
      <p:sp>
        <p:nvSpPr>
          <p:cNvPr id="3" name="Text 1">
            <a:extLst>
              <a:ext uri="{FF2B5EF4-FFF2-40B4-BE49-F238E27FC236}">
                <a16:creationId xmlns:a16="http://schemas.microsoft.com/office/drawing/2014/main" id="{7FA08C79-149E-57A1-3393-F5A12FBED2B5}"/>
              </a:ext>
            </a:extLst>
          </p:cNvPr>
          <p:cNvSpPr txBox="1"/>
          <p:nvPr/>
        </p:nvSpPr>
        <p:spPr>
          <a:xfrm>
            <a:off x="548640" y="6382512"/>
            <a:ext cx="11094415" cy="274320"/>
          </a:xfrm>
          <a:prstGeom prst="rect">
            <a:avLst/>
          </a:prstGeom>
          <a:noFill/>
          <a:ln/>
        </p:spPr>
        <p:txBody>
          <a:bodyPr wrap="square" lIns="0" tIns="0" rIns="0" bIns="0" rtlCol="0" anchor="ctr"/>
          <a:lstStyle/>
          <a:p>
            <a:pPr marL="0" indent="0">
              <a:buNone/>
            </a:pPr>
            <a:r>
              <a:rPr lang="en-GB" sz="1000" noProof="0" dirty="0">
                <a:solidFill>
                  <a:srgbClr val="5B7699"/>
                </a:solidFill>
                <a:latin typeface="Calibri" pitchFamily="34" charset="0"/>
                <a:ea typeface="Calibri" pitchFamily="34" charset="-122"/>
                <a:cs typeface="Calibri" pitchFamily="34" charset="-120"/>
              </a:rPr>
              <a:t>Breast Cancer  |  Frontline HCP  |  Rwanda Biomedical Centre</a:t>
            </a:r>
            <a:endParaRPr lang="en-GB" sz="1000" noProof="0" dirty="0"/>
          </a:p>
        </p:txBody>
      </p:sp>
      <p:sp>
        <p:nvSpPr>
          <p:cNvPr id="4" name="Text 2">
            <a:extLst>
              <a:ext uri="{FF2B5EF4-FFF2-40B4-BE49-F238E27FC236}">
                <a16:creationId xmlns:a16="http://schemas.microsoft.com/office/drawing/2014/main" id="{38879890-E959-7085-CADF-0D408D447B87}"/>
              </a:ext>
            </a:extLst>
          </p:cNvPr>
          <p:cNvSpPr txBox="1"/>
          <p:nvPr/>
        </p:nvSpPr>
        <p:spPr>
          <a:xfrm>
            <a:off x="548640" y="566928"/>
            <a:ext cx="11094415" cy="566928"/>
          </a:xfrm>
          <a:prstGeom prst="rect">
            <a:avLst/>
          </a:prstGeom>
          <a:noFill/>
          <a:ln/>
        </p:spPr>
        <p:txBody>
          <a:bodyPr wrap="square" lIns="0" tIns="0" rIns="0" bIns="0" rtlCol="0" anchor="t"/>
          <a:lstStyle/>
          <a:p>
            <a:pPr marL="0" indent="0">
              <a:buNone/>
            </a:pPr>
            <a:r>
              <a:rPr lang="en-GB" sz="3000" b="1" noProof="0" dirty="0">
                <a:solidFill>
                  <a:srgbClr val="12315B"/>
                </a:solidFill>
                <a:latin typeface="Calibri" pitchFamily="34" charset="0"/>
                <a:ea typeface="Calibri" pitchFamily="34" charset="-122"/>
                <a:cs typeface="Calibri" pitchFamily="34" charset="-120"/>
              </a:rPr>
              <a:t>Screening programmes: Rwanda</a:t>
            </a:r>
            <a:endParaRPr lang="en-GB" sz="3000" noProof="0" dirty="0"/>
          </a:p>
        </p:txBody>
      </p:sp>
      <p:sp>
        <p:nvSpPr>
          <p:cNvPr id="8" name="Shape 6">
            <a:extLst>
              <a:ext uri="{FF2B5EF4-FFF2-40B4-BE49-F238E27FC236}">
                <a16:creationId xmlns:a16="http://schemas.microsoft.com/office/drawing/2014/main" id="{66AC0C98-324C-6FB6-1457-9406A0CD5676}"/>
              </a:ext>
            </a:extLst>
          </p:cNvPr>
          <p:cNvSpPr/>
          <p:nvPr/>
        </p:nvSpPr>
        <p:spPr>
          <a:xfrm>
            <a:off x="559491" y="1133856"/>
            <a:ext cx="11083564" cy="4046144"/>
          </a:xfrm>
          <a:prstGeom prst="roundRect">
            <a:avLst>
              <a:gd name="adj" fmla="val 1364"/>
            </a:avLst>
          </a:prstGeom>
          <a:solidFill>
            <a:srgbClr val="F4F8FC"/>
          </a:solidFill>
          <a:ln w="12700">
            <a:solidFill>
              <a:srgbClr val="C8D8EC"/>
            </a:solidFill>
            <a:prstDash val="solid"/>
          </a:ln>
        </p:spPr>
        <p:txBody>
          <a:bodyPr/>
          <a:lstStyle/>
          <a:p>
            <a:endParaRPr lang="en-GB" noProof="0" dirty="0"/>
          </a:p>
        </p:txBody>
      </p:sp>
      <p:sp>
        <p:nvSpPr>
          <p:cNvPr id="9" name="Text 7">
            <a:extLst>
              <a:ext uri="{FF2B5EF4-FFF2-40B4-BE49-F238E27FC236}">
                <a16:creationId xmlns:a16="http://schemas.microsoft.com/office/drawing/2014/main" id="{A23E786D-7427-4071-1251-B9CA73C4F1C9}"/>
              </a:ext>
            </a:extLst>
          </p:cNvPr>
          <p:cNvSpPr txBox="1"/>
          <p:nvPr/>
        </p:nvSpPr>
        <p:spPr>
          <a:xfrm>
            <a:off x="724083" y="1261566"/>
            <a:ext cx="5004511" cy="292608"/>
          </a:xfrm>
          <a:prstGeom prst="rect">
            <a:avLst/>
          </a:prstGeom>
          <a:noFill/>
          <a:ln/>
        </p:spPr>
        <p:txBody>
          <a:bodyPr wrap="square" lIns="0" tIns="0" rIns="0" bIns="0" rtlCol="0" anchor="t"/>
          <a:lstStyle/>
          <a:p>
            <a:pPr marL="0" indent="0">
              <a:buNone/>
            </a:pPr>
            <a:r>
              <a:rPr lang="en-GB" sz="2000" b="1" noProof="0" dirty="0">
                <a:solidFill>
                  <a:srgbClr val="12315B"/>
                </a:solidFill>
                <a:latin typeface="Calibri" pitchFamily="34" charset="0"/>
                <a:ea typeface="Calibri" pitchFamily="34" charset="-122"/>
                <a:cs typeface="Calibri" pitchFamily="34" charset="-120"/>
              </a:rPr>
              <a:t>Rwanda’s breast cancer screening program is</a:t>
            </a:r>
          </a:p>
          <a:p>
            <a:pPr marL="0" indent="0">
              <a:buNone/>
            </a:pPr>
            <a:r>
              <a:rPr lang="en-GB" sz="2000" b="1" noProof="0" dirty="0">
                <a:solidFill>
                  <a:srgbClr val="12315B"/>
                </a:solidFill>
                <a:latin typeface="Calibri" pitchFamily="34" charset="0"/>
                <a:ea typeface="Calibri" pitchFamily="34" charset="-122"/>
                <a:cs typeface="Calibri" pitchFamily="34" charset="-120"/>
              </a:rPr>
              <a:t>in development</a:t>
            </a:r>
            <a:endParaRPr lang="en-GB" sz="2000" noProof="0" dirty="0"/>
          </a:p>
        </p:txBody>
      </p:sp>
      <p:sp>
        <p:nvSpPr>
          <p:cNvPr id="10" name="Text 8">
            <a:extLst>
              <a:ext uri="{FF2B5EF4-FFF2-40B4-BE49-F238E27FC236}">
                <a16:creationId xmlns:a16="http://schemas.microsoft.com/office/drawing/2014/main" id="{5451FC25-ADC5-AE26-022C-CF50425607F1}"/>
              </a:ext>
            </a:extLst>
          </p:cNvPr>
          <p:cNvSpPr txBox="1"/>
          <p:nvPr/>
        </p:nvSpPr>
        <p:spPr>
          <a:xfrm>
            <a:off x="724083" y="1989963"/>
            <a:ext cx="5004511" cy="3350000"/>
          </a:xfrm>
          <a:prstGeom prst="rect">
            <a:avLst/>
          </a:prstGeom>
          <a:noFill/>
          <a:ln/>
        </p:spPr>
        <p:txBody>
          <a:bodyPr wrap="square" lIns="0" tIns="0" rIns="0" bIns="0" rtlCol="0" anchor="t"/>
          <a:lstStyle/>
          <a:p>
            <a:pPr marL="0" indent="0">
              <a:lnSpc>
                <a:spcPct val="90000"/>
              </a:lnSpc>
              <a:buNone/>
            </a:pPr>
            <a:r>
              <a:rPr lang="en-GB" sz="1600" noProof="0" dirty="0">
                <a:solidFill>
                  <a:srgbClr val="1F3A63"/>
                </a:solidFill>
                <a:latin typeface="Calibri" pitchFamily="34" charset="0"/>
                <a:ea typeface="Calibri" pitchFamily="34" charset="-122"/>
                <a:cs typeface="Calibri" pitchFamily="34" charset="-120"/>
              </a:rPr>
              <a:t>The National Cancer Control Plan 2025 to 2029 describes opportunistic breast cancer screening rather than an organised population mammography programme. Clinical breast examination is the method in use, delivered through health centres and alongside cervical cancer screening activities, and mammography exists in only a small number of facilities.</a:t>
            </a:r>
            <a:endParaRPr lang="en-GB" sz="1600" noProof="0" dirty="0"/>
          </a:p>
          <a:p>
            <a:pPr marL="0" indent="0">
              <a:lnSpc>
                <a:spcPct val="90000"/>
              </a:lnSpc>
              <a:buNone/>
            </a:pPr>
            <a:endParaRPr lang="en-GB" sz="1600" noProof="0" dirty="0"/>
          </a:p>
          <a:p>
            <a:pPr marL="0" indent="0">
              <a:lnSpc>
                <a:spcPct val="90000"/>
              </a:lnSpc>
              <a:buNone/>
            </a:pPr>
            <a:r>
              <a:rPr lang="en-GB" sz="1600" noProof="0" dirty="0">
                <a:solidFill>
                  <a:srgbClr val="1F3A63"/>
                </a:solidFill>
                <a:latin typeface="Calibri" pitchFamily="34" charset="0"/>
                <a:ea typeface="Calibri" pitchFamily="34" charset="-122"/>
                <a:cs typeface="Calibri" pitchFamily="34" charset="-120"/>
              </a:rPr>
              <a:t>Rwanda’s targets follow the WHO Global Breast Cancer Initiative: at least 60% of invasive breast cancers diagnosed at stage I or II, diagnosis within 60 days of first presentation, and at least 80% of patients completing recommended treatment.</a:t>
            </a:r>
            <a:endParaRPr lang="en-GB" sz="1600" noProof="0" dirty="0"/>
          </a:p>
        </p:txBody>
      </p:sp>
      <p:pic>
        <p:nvPicPr>
          <p:cNvPr id="5" name="Imagen 4">
            <a:extLst>
              <a:ext uri="{FF2B5EF4-FFF2-40B4-BE49-F238E27FC236}">
                <a16:creationId xmlns:a16="http://schemas.microsoft.com/office/drawing/2014/main" id="{B6FE45AD-157A-8760-17D2-C6E1875839A0}"/>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5728594" y="1316154"/>
            <a:ext cx="5749869" cy="3825759"/>
          </a:xfrm>
          <a:prstGeom prst="rect">
            <a:avLst/>
          </a:prstGeom>
        </p:spPr>
      </p:pic>
      <p:sp>
        <p:nvSpPr>
          <p:cNvPr id="383" name="Shape 383"/>
          <p:cNvSpPr/>
          <p:nvPr/>
        </p:nvSpPr>
        <p:spPr>
          <a:xfrm>
            <a:off x="548640" y="5260000"/>
            <a:ext cx="11094415" cy="1050000"/>
          </a:xfrm>
          <a:prstGeom prst="roundRect">
            <a:avLst>
              <a:gd name="adj" fmla="val 6000"/>
            </a:avLst>
          </a:prstGeom>
          <a:solidFill>
            <a:srgbClr val="EAF5EF"/>
          </a:solidFill>
          <a:ln w="12700">
            <a:solidFill>
              <a:srgbClr val="8FC4A9"/>
            </a:solidFill>
            <a:prstDash val="solid"/>
          </a:ln>
        </p:spPr>
        <p:txBody>
          <a:bodyPr wrap="square" lIns="91440" tIns="45720" rIns="91440" bIns="45720" rtlCol="0" anchor="ctr"/>
          <a:lstStyle/>
          <a:p>
            <a:endParaRPr lang="en-GB" dirty="0"/>
          </a:p>
        </p:txBody>
      </p:sp>
      <p:sp>
        <p:nvSpPr>
          <p:cNvPr id="384" name="Text 384"/>
          <p:cNvSpPr txBox="1"/>
          <p:nvPr/>
        </p:nvSpPr>
        <p:spPr>
          <a:xfrm>
            <a:off x="713232" y="5300000"/>
            <a:ext cx="10765231" cy="980000"/>
          </a:xfrm>
          <a:prstGeom prst="rect">
            <a:avLst/>
          </a:prstGeom>
          <a:noFill/>
          <a:ln/>
        </p:spPr>
        <p:txBody>
          <a:bodyPr wrap="square" lIns="0" tIns="0" rIns="0" bIns="0" rtlCol="0" anchor="ctr"/>
          <a:lstStyle/>
          <a:p>
            <a:pPr marL="0" indent="0" algn="l">
              <a:lnSpc>
                <a:spcPct val="95000"/>
              </a:lnSpc>
              <a:buNone/>
            </a:pPr>
            <a:r>
              <a:rPr lang="en-GB" sz="1600" b="1" dirty="0">
                <a:solidFill>
                  <a:srgbClr val="1B6E4A"/>
                </a:solidFill>
                <a:latin typeface="Calibri" pitchFamily="34" charset="0"/>
                <a:ea typeface="Calibri" pitchFamily="34" charset="-122"/>
                <a:cs typeface="Calibri" pitchFamily="34" charset="-120"/>
              </a:rPr>
              <a:t>✅ Rwanda’s approach: </a:t>
            </a:r>
            <a:r>
              <a:rPr lang="en-GB" sz="1600" dirty="0">
                <a:solidFill>
                  <a:srgbClr val="0B1F3F"/>
                </a:solidFill>
                <a:latin typeface="Calibri" pitchFamily="34" charset="0"/>
                <a:ea typeface="Calibri" pitchFamily="34" charset="-122"/>
                <a:cs typeface="Calibri" pitchFamily="34" charset="-120"/>
              </a:rPr>
              <a:t>women aged 30 and above; clinical breast examination every year; mammography from age 40 where available, otherwise continue annual CBE. </a:t>
            </a:r>
            <a:r>
              <a:rPr lang="en-GB" sz="1600" b="1" dirty="0">
                <a:solidFill>
                  <a:srgbClr val="1B6E4A"/>
                </a:solidFill>
                <a:latin typeface="Calibri" pitchFamily="34" charset="0"/>
                <a:ea typeface="Calibri" pitchFamily="34" charset="-122"/>
                <a:cs typeface="Calibri" pitchFamily="34" charset="-120"/>
              </a:rPr>
              <a:t>Referral: </a:t>
            </a:r>
            <a:r>
              <a:rPr lang="en-GB" sz="1600" dirty="0">
                <a:solidFill>
                  <a:srgbClr val="0B1F3F"/>
                </a:solidFill>
                <a:latin typeface="Calibri" pitchFamily="34" charset="0"/>
                <a:ea typeface="Calibri" pitchFamily="34" charset="-122"/>
                <a:cs typeface="Calibri" pitchFamily="34" charset="-120"/>
              </a:rPr>
              <a:t>any woman with an abnormal breast examination, such as a lump, or any symptom suggesting breast cancer, is referred to hospital.</a:t>
            </a:r>
            <a:endParaRPr lang="en-GB" sz="1600" dirty="0"/>
          </a:p>
        </p:txBody>
      </p:sp>
    </p:spTree>
    <p:extLst>
      <p:ext uri="{BB962C8B-B14F-4D97-AF65-F5344CB8AC3E}">
        <p14:creationId xmlns:p14="http://schemas.microsoft.com/office/powerpoint/2010/main" val="2595898391"/>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name="Slide 6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en-GB" sz="1100" b="1" kern="0" spc="100" noProof="0" dirty="0">
                <a:solidFill>
                  <a:srgbClr val="5B7699"/>
                </a:solidFill>
                <a:latin typeface="Calibri" pitchFamily="34" charset="0"/>
                <a:ea typeface="Calibri" pitchFamily="34" charset="-122"/>
                <a:cs typeface="Calibri" pitchFamily="34" charset="-120"/>
              </a:rPr>
              <a:t>S E S S I O N   2</a:t>
            </a:r>
            <a:endParaRPr lang="en-GB"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en-GB" sz="1000" noProof="0" dirty="0">
                <a:solidFill>
                  <a:srgbClr val="5B7699"/>
                </a:solidFill>
                <a:latin typeface="Calibri" pitchFamily="34" charset="0"/>
                <a:ea typeface="Calibri" pitchFamily="34" charset="-122"/>
                <a:cs typeface="Calibri" pitchFamily="34" charset="-120"/>
              </a:rPr>
              <a:t>Breast Cancer  |  Frontline HCP  |  Rwanda Biomedical Centre</a:t>
            </a:r>
            <a:endParaRPr lang="en-GB"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en-GB" sz="3000" b="1" noProof="0" dirty="0">
                <a:solidFill>
                  <a:srgbClr val="12315B"/>
                </a:solidFill>
                <a:latin typeface="Calibri" pitchFamily="34" charset="0"/>
                <a:ea typeface="Calibri" pitchFamily="34" charset="-122"/>
                <a:cs typeface="Calibri" pitchFamily="34" charset="-120"/>
              </a:rPr>
              <a:t>Benefits and limitations of screening</a:t>
            </a:r>
            <a:endParaRPr lang="en-GB" sz="3000" noProof="0" dirty="0"/>
          </a:p>
        </p:txBody>
      </p:sp>
      <p:sp>
        <p:nvSpPr>
          <p:cNvPr id="5" name="Shape 3"/>
          <p:cNvSpPr/>
          <p:nvPr/>
        </p:nvSpPr>
        <p:spPr>
          <a:xfrm>
            <a:off x="548640" y="1371600"/>
            <a:ext cx="3527450" cy="1746312"/>
          </a:xfrm>
          <a:prstGeom prst="roundRect">
            <a:avLst>
              <a:gd name="adj" fmla="val 3142"/>
            </a:avLst>
          </a:prstGeom>
          <a:solidFill>
            <a:srgbClr val="EAF5EF"/>
          </a:solidFill>
          <a:ln w="12700">
            <a:solidFill>
              <a:srgbClr val="8FC4A9"/>
            </a:solidFill>
            <a:prstDash val="solid"/>
          </a:ln>
        </p:spPr>
        <p:txBody>
          <a:bodyPr/>
          <a:lstStyle/>
          <a:p>
            <a:endParaRPr lang="en-GB" noProof="0" dirty="0"/>
          </a:p>
        </p:txBody>
      </p:sp>
      <p:sp>
        <p:nvSpPr>
          <p:cNvPr id="6" name="Text 4"/>
          <p:cNvSpPr txBox="1"/>
          <p:nvPr/>
        </p:nvSpPr>
        <p:spPr>
          <a:xfrm>
            <a:off x="713232" y="1463040"/>
            <a:ext cx="3198266" cy="292608"/>
          </a:xfrm>
          <a:prstGeom prst="rect">
            <a:avLst/>
          </a:prstGeom>
          <a:noFill/>
          <a:ln/>
        </p:spPr>
        <p:txBody>
          <a:bodyPr wrap="square" lIns="0" tIns="0" rIns="0" bIns="0" rtlCol="0" anchor="t"/>
          <a:lstStyle/>
          <a:p>
            <a:r>
              <a:rPr lang="en-GB" sz="1700" b="1" dirty="0">
                <a:solidFill>
                  <a:srgbClr val="1B6E4A"/>
                </a:solidFill>
                <a:latin typeface="Calibri" pitchFamily="34" charset="0"/>
                <a:ea typeface="Calibri" pitchFamily="34" charset="-122"/>
                <a:cs typeface="Calibri" pitchFamily="34" charset="-120"/>
              </a:rPr>
              <a:t>🟢 Earlier </a:t>
            </a:r>
            <a:r>
              <a:rPr lang="en-GB" sz="1700" b="1" noProof="0" dirty="0">
                <a:solidFill>
                  <a:srgbClr val="1B6E4A"/>
                </a:solidFill>
                <a:latin typeface="Calibri" pitchFamily="34" charset="0"/>
                <a:ea typeface="Calibri" pitchFamily="34" charset="-122"/>
                <a:cs typeface="Calibri" pitchFamily="34" charset="-120"/>
              </a:rPr>
              <a:t>detection</a:t>
            </a:r>
            <a:endParaRPr lang="en-GB" sz="1700" noProof="0" dirty="0"/>
          </a:p>
        </p:txBody>
      </p:sp>
      <p:sp>
        <p:nvSpPr>
          <p:cNvPr id="7" name="Text 5"/>
          <p:cNvSpPr txBox="1"/>
          <p:nvPr/>
        </p:nvSpPr>
        <p:spPr>
          <a:xfrm>
            <a:off x="713232" y="1801368"/>
            <a:ext cx="3198266" cy="1261680"/>
          </a:xfrm>
          <a:prstGeom prst="rect">
            <a:avLst/>
          </a:prstGeom>
          <a:noFill/>
          <a:ln/>
        </p:spPr>
        <p:txBody>
          <a:bodyPr wrap="square" lIns="0" tIns="0" rIns="0" bIns="0" rtlCol="0" anchor="t"/>
          <a:lstStyle/>
          <a:p>
            <a:pPr marL="0" indent="0">
              <a:lnSpc>
                <a:spcPct val="90000"/>
              </a:lnSpc>
              <a:buNone/>
            </a:pPr>
            <a:r>
              <a:rPr lang="en-GB" sz="1800" noProof="0" dirty="0">
                <a:solidFill>
                  <a:srgbClr val="1F3A63"/>
                </a:solidFill>
                <a:latin typeface="Calibri" pitchFamily="34" charset="0"/>
                <a:ea typeface="Calibri" pitchFamily="34" charset="-122"/>
                <a:cs typeface="Calibri" pitchFamily="34" charset="-120"/>
              </a:rPr>
              <a:t>Cancer found before it can be felt is more often smaller and node negative, which widens treatment options.</a:t>
            </a:r>
            <a:endParaRPr lang="en-GB" sz="1800" noProof="0" dirty="0"/>
          </a:p>
        </p:txBody>
      </p:sp>
      <p:sp>
        <p:nvSpPr>
          <p:cNvPr id="8" name="Shape 6"/>
          <p:cNvSpPr/>
          <p:nvPr/>
        </p:nvSpPr>
        <p:spPr>
          <a:xfrm>
            <a:off x="4332122" y="1371600"/>
            <a:ext cx="3527450" cy="1746312"/>
          </a:xfrm>
          <a:prstGeom prst="roundRect">
            <a:avLst>
              <a:gd name="adj" fmla="val 3142"/>
            </a:avLst>
          </a:prstGeom>
          <a:solidFill>
            <a:srgbClr val="EAF5EF"/>
          </a:solidFill>
          <a:ln w="12700">
            <a:solidFill>
              <a:srgbClr val="8FC4A9"/>
            </a:solidFill>
            <a:prstDash val="solid"/>
          </a:ln>
        </p:spPr>
        <p:txBody>
          <a:bodyPr/>
          <a:lstStyle/>
          <a:p>
            <a:endParaRPr lang="en-GB" noProof="0" dirty="0"/>
          </a:p>
        </p:txBody>
      </p:sp>
      <p:sp>
        <p:nvSpPr>
          <p:cNvPr id="9" name="Text 7"/>
          <p:cNvSpPr txBox="1"/>
          <p:nvPr/>
        </p:nvSpPr>
        <p:spPr>
          <a:xfrm>
            <a:off x="4496714" y="1463040"/>
            <a:ext cx="3198266" cy="292608"/>
          </a:xfrm>
          <a:prstGeom prst="rect">
            <a:avLst/>
          </a:prstGeom>
          <a:noFill/>
          <a:ln/>
        </p:spPr>
        <p:txBody>
          <a:bodyPr wrap="square" lIns="0" tIns="0" rIns="0" bIns="0" rtlCol="0" anchor="t"/>
          <a:lstStyle/>
          <a:p>
            <a:r>
              <a:rPr lang="en-GB" sz="1700" b="1" dirty="0">
                <a:solidFill>
                  <a:srgbClr val="1B6E4A"/>
                </a:solidFill>
                <a:latin typeface="Calibri" pitchFamily="34" charset="0"/>
                <a:ea typeface="Calibri" pitchFamily="34" charset="-122"/>
                <a:cs typeface="Calibri" pitchFamily="34" charset="-120"/>
              </a:rPr>
              <a:t>🟢 Fewer </a:t>
            </a:r>
            <a:r>
              <a:rPr lang="en-GB" sz="1700" b="1" noProof="0" dirty="0">
                <a:solidFill>
                  <a:srgbClr val="1B6E4A"/>
                </a:solidFill>
                <a:latin typeface="Calibri" pitchFamily="34" charset="0"/>
                <a:ea typeface="Calibri" pitchFamily="34" charset="-122"/>
                <a:cs typeface="Calibri" pitchFamily="34" charset="-120"/>
              </a:rPr>
              <a:t>deaths</a:t>
            </a:r>
            <a:endParaRPr lang="en-GB" sz="1700" noProof="0" dirty="0"/>
          </a:p>
        </p:txBody>
      </p:sp>
      <p:sp>
        <p:nvSpPr>
          <p:cNvPr id="10" name="Text 8"/>
          <p:cNvSpPr txBox="1"/>
          <p:nvPr/>
        </p:nvSpPr>
        <p:spPr>
          <a:xfrm>
            <a:off x="4496714" y="1801368"/>
            <a:ext cx="3198266" cy="1261680"/>
          </a:xfrm>
          <a:prstGeom prst="rect">
            <a:avLst/>
          </a:prstGeom>
          <a:noFill/>
          <a:ln/>
        </p:spPr>
        <p:txBody>
          <a:bodyPr wrap="square" lIns="0" tIns="0" rIns="0" bIns="0" rtlCol="0" anchor="t"/>
          <a:lstStyle/>
          <a:p>
            <a:pPr marL="0" indent="0">
              <a:lnSpc>
                <a:spcPct val="90000"/>
              </a:lnSpc>
              <a:buNone/>
            </a:pPr>
            <a:r>
              <a:rPr lang="en-GB" sz="1800" noProof="0" dirty="0">
                <a:solidFill>
                  <a:srgbClr val="1F3A63"/>
                </a:solidFill>
                <a:latin typeface="Calibri" pitchFamily="34" charset="0"/>
                <a:ea typeface="Calibri" pitchFamily="34" charset="-122"/>
                <a:cs typeface="Calibri" pitchFamily="34" charset="-120"/>
              </a:rPr>
              <a:t>Effective programmes reduce breast cancer mortality.</a:t>
            </a:r>
            <a:endParaRPr lang="en-GB" sz="1800" noProof="0" dirty="0"/>
          </a:p>
        </p:txBody>
      </p:sp>
      <p:sp>
        <p:nvSpPr>
          <p:cNvPr id="11" name="Shape 9"/>
          <p:cNvSpPr/>
          <p:nvPr/>
        </p:nvSpPr>
        <p:spPr>
          <a:xfrm>
            <a:off x="8115605" y="1371600"/>
            <a:ext cx="3527450" cy="1746312"/>
          </a:xfrm>
          <a:prstGeom prst="roundRect">
            <a:avLst>
              <a:gd name="adj" fmla="val 3142"/>
            </a:avLst>
          </a:prstGeom>
          <a:solidFill>
            <a:srgbClr val="EAF5EF"/>
          </a:solidFill>
          <a:ln w="12700">
            <a:solidFill>
              <a:srgbClr val="8FC4A9"/>
            </a:solidFill>
            <a:prstDash val="solid"/>
          </a:ln>
        </p:spPr>
        <p:txBody>
          <a:bodyPr/>
          <a:lstStyle/>
          <a:p>
            <a:endParaRPr lang="en-GB" noProof="0" dirty="0"/>
          </a:p>
        </p:txBody>
      </p:sp>
      <p:sp>
        <p:nvSpPr>
          <p:cNvPr id="12" name="Text 10"/>
          <p:cNvSpPr txBox="1"/>
          <p:nvPr/>
        </p:nvSpPr>
        <p:spPr>
          <a:xfrm>
            <a:off x="8280197" y="1463040"/>
            <a:ext cx="3198266" cy="292608"/>
          </a:xfrm>
          <a:prstGeom prst="rect">
            <a:avLst/>
          </a:prstGeom>
          <a:noFill/>
          <a:ln/>
        </p:spPr>
        <p:txBody>
          <a:bodyPr wrap="square" lIns="0" tIns="0" rIns="0" bIns="0" rtlCol="0" anchor="t"/>
          <a:lstStyle/>
          <a:p>
            <a:r>
              <a:rPr lang="en-GB" sz="1700" b="1" dirty="0">
                <a:solidFill>
                  <a:srgbClr val="1B6E4A"/>
                </a:solidFill>
                <a:latin typeface="Calibri" pitchFamily="34" charset="0"/>
                <a:ea typeface="Calibri" pitchFamily="34" charset="-122"/>
                <a:cs typeface="Calibri" pitchFamily="34" charset="-120"/>
              </a:rPr>
              <a:t>🟢 Less </a:t>
            </a:r>
            <a:r>
              <a:rPr lang="en-GB" sz="1700" b="1" noProof="0" dirty="0">
                <a:solidFill>
                  <a:srgbClr val="1B6E4A"/>
                </a:solidFill>
                <a:latin typeface="Calibri" pitchFamily="34" charset="0"/>
                <a:ea typeface="Calibri" pitchFamily="34" charset="-122"/>
                <a:cs typeface="Calibri" pitchFamily="34" charset="-120"/>
              </a:rPr>
              <a:t>aggressive treatment</a:t>
            </a:r>
            <a:endParaRPr lang="en-GB" sz="1700" noProof="0" dirty="0"/>
          </a:p>
        </p:txBody>
      </p:sp>
      <p:sp>
        <p:nvSpPr>
          <p:cNvPr id="13" name="Text 11"/>
          <p:cNvSpPr txBox="1"/>
          <p:nvPr/>
        </p:nvSpPr>
        <p:spPr>
          <a:xfrm>
            <a:off x="8280197" y="1801368"/>
            <a:ext cx="3198266" cy="1261680"/>
          </a:xfrm>
          <a:prstGeom prst="rect">
            <a:avLst/>
          </a:prstGeom>
          <a:noFill/>
          <a:ln/>
        </p:spPr>
        <p:txBody>
          <a:bodyPr wrap="square" lIns="0" tIns="0" rIns="0" bIns="0" rtlCol="0" anchor="t"/>
          <a:lstStyle/>
          <a:p>
            <a:pPr marL="0" indent="0">
              <a:lnSpc>
                <a:spcPct val="90000"/>
              </a:lnSpc>
              <a:buNone/>
            </a:pPr>
            <a:r>
              <a:rPr lang="en-GB" sz="1800" noProof="0" dirty="0">
                <a:solidFill>
                  <a:srgbClr val="1F3A63"/>
                </a:solidFill>
                <a:latin typeface="Calibri" pitchFamily="34" charset="0"/>
                <a:ea typeface="Calibri" pitchFamily="34" charset="-122"/>
                <a:cs typeface="Calibri" pitchFamily="34" charset="-120"/>
              </a:rPr>
              <a:t>Smaller tumours found early are more often suitable for breast conserving surgery.</a:t>
            </a:r>
            <a:endParaRPr lang="en-GB" sz="1800" noProof="0" dirty="0"/>
          </a:p>
        </p:txBody>
      </p:sp>
      <p:sp>
        <p:nvSpPr>
          <p:cNvPr id="14" name="Shape 12"/>
          <p:cNvSpPr/>
          <p:nvPr/>
        </p:nvSpPr>
        <p:spPr>
          <a:xfrm>
            <a:off x="548640" y="3373944"/>
            <a:ext cx="3527450" cy="2066736"/>
          </a:xfrm>
          <a:prstGeom prst="roundRect">
            <a:avLst>
              <a:gd name="adj" fmla="val 2655"/>
            </a:avLst>
          </a:prstGeom>
          <a:solidFill>
            <a:srgbClr val="FDF1E0"/>
          </a:solidFill>
          <a:ln w="12700">
            <a:solidFill>
              <a:srgbClr val="EFD3AA"/>
            </a:solidFill>
            <a:prstDash val="solid"/>
          </a:ln>
        </p:spPr>
        <p:txBody>
          <a:bodyPr/>
          <a:lstStyle/>
          <a:p>
            <a:endParaRPr lang="en-GB" noProof="0" dirty="0"/>
          </a:p>
        </p:txBody>
      </p:sp>
      <p:sp>
        <p:nvSpPr>
          <p:cNvPr id="15" name="Text 13"/>
          <p:cNvSpPr txBox="1"/>
          <p:nvPr/>
        </p:nvSpPr>
        <p:spPr>
          <a:xfrm>
            <a:off x="713232" y="3465384"/>
            <a:ext cx="3198266" cy="292608"/>
          </a:xfrm>
          <a:prstGeom prst="rect">
            <a:avLst/>
          </a:prstGeom>
          <a:noFill/>
          <a:ln/>
        </p:spPr>
        <p:txBody>
          <a:bodyPr wrap="square" lIns="0" tIns="0" rIns="0" bIns="0" rtlCol="0" anchor="t"/>
          <a:lstStyle/>
          <a:p>
            <a:r>
              <a:rPr lang="en-GB" sz="1700" b="1" dirty="0">
                <a:solidFill>
                  <a:srgbClr val="C9761A"/>
                </a:solidFill>
                <a:latin typeface="Calibri" pitchFamily="34" charset="0"/>
                <a:ea typeface="Calibri" pitchFamily="34" charset="-122"/>
                <a:cs typeface="Calibri" pitchFamily="34" charset="-120"/>
              </a:rPr>
              <a:t>🟠 False </a:t>
            </a:r>
            <a:r>
              <a:rPr lang="en-GB" sz="1700" b="1" noProof="0" dirty="0">
                <a:solidFill>
                  <a:srgbClr val="C9761A"/>
                </a:solidFill>
                <a:latin typeface="Calibri" pitchFamily="34" charset="0"/>
                <a:ea typeface="Calibri" pitchFamily="34" charset="-122"/>
                <a:cs typeface="Calibri" pitchFamily="34" charset="-120"/>
              </a:rPr>
              <a:t>positives</a:t>
            </a:r>
            <a:endParaRPr lang="en-GB" sz="1700" noProof="0" dirty="0"/>
          </a:p>
        </p:txBody>
      </p:sp>
      <p:sp>
        <p:nvSpPr>
          <p:cNvPr id="16" name="Text 14"/>
          <p:cNvSpPr txBox="1"/>
          <p:nvPr/>
        </p:nvSpPr>
        <p:spPr>
          <a:xfrm>
            <a:off x="713232" y="3803712"/>
            <a:ext cx="3198266" cy="1582104"/>
          </a:xfrm>
          <a:prstGeom prst="rect">
            <a:avLst/>
          </a:prstGeom>
          <a:noFill/>
          <a:ln/>
        </p:spPr>
        <p:txBody>
          <a:bodyPr wrap="square" lIns="0" tIns="0" rIns="0" bIns="0" rtlCol="0" anchor="t"/>
          <a:lstStyle/>
          <a:p>
            <a:pPr marL="0" indent="0">
              <a:lnSpc>
                <a:spcPct val="90000"/>
              </a:lnSpc>
              <a:buNone/>
            </a:pPr>
            <a:r>
              <a:rPr lang="en-GB" sz="1800" noProof="0" dirty="0">
                <a:solidFill>
                  <a:srgbClr val="1F3A63"/>
                </a:solidFill>
                <a:latin typeface="Calibri" pitchFamily="34" charset="0"/>
                <a:ea typeface="Calibri" pitchFamily="34" charset="-122"/>
                <a:cs typeface="Calibri" pitchFamily="34" charset="-120"/>
              </a:rPr>
              <a:t>Many people with an abnormal screening result do not have cancer, yet all of them go through further tests and the anxiety that follows.</a:t>
            </a:r>
            <a:endParaRPr lang="en-GB" sz="1800" noProof="0" dirty="0"/>
          </a:p>
        </p:txBody>
      </p:sp>
      <p:sp>
        <p:nvSpPr>
          <p:cNvPr id="17" name="Shape 15"/>
          <p:cNvSpPr/>
          <p:nvPr/>
        </p:nvSpPr>
        <p:spPr>
          <a:xfrm>
            <a:off x="4332122" y="3373944"/>
            <a:ext cx="3527450" cy="2066736"/>
          </a:xfrm>
          <a:prstGeom prst="roundRect">
            <a:avLst>
              <a:gd name="adj" fmla="val 2655"/>
            </a:avLst>
          </a:prstGeom>
          <a:solidFill>
            <a:srgbClr val="FDF1E0"/>
          </a:solidFill>
          <a:ln w="12700">
            <a:solidFill>
              <a:srgbClr val="EFD3AA"/>
            </a:solidFill>
            <a:prstDash val="solid"/>
          </a:ln>
        </p:spPr>
        <p:txBody>
          <a:bodyPr/>
          <a:lstStyle/>
          <a:p>
            <a:endParaRPr lang="en-GB" noProof="0" dirty="0"/>
          </a:p>
        </p:txBody>
      </p:sp>
      <p:sp>
        <p:nvSpPr>
          <p:cNvPr id="18" name="Text 16"/>
          <p:cNvSpPr txBox="1"/>
          <p:nvPr/>
        </p:nvSpPr>
        <p:spPr>
          <a:xfrm>
            <a:off x="4496714" y="3465384"/>
            <a:ext cx="3198266" cy="292608"/>
          </a:xfrm>
          <a:prstGeom prst="rect">
            <a:avLst/>
          </a:prstGeom>
          <a:noFill/>
          <a:ln/>
        </p:spPr>
        <p:txBody>
          <a:bodyPr wrap="square" lIns="0" tIns="0" rIns="0" bIns="0" rtlCol="0" anchor="t"/>
          <a:lstStyle/>
          <a:p>
            <a:r>
              <a:rPr lang="en-GB" sz="1700" b="1" dirty="0">
                <a:solidFill>
                  <a:srgbClr val="C9761A"/>
                </a:solidFill>
                <a:latin typeface="Calibri" pitchFamily="34" charset="0"/>
                <a:ea typeface="Calibri" pitchFamily="34" charset="-122"/>
                <a:cs typeface="Calibri" pitchFamily="34" charset="-120"/>
              </a:rPr>
              <a:t>🟠 False </a:t>
            </a:r>
            <a:r>
              <a:rPr lang="en-GB" sz="1700" b="1" noProof="0" dirty="0">
                <a:solidFill>
                  <a:srgbClr val="C9761A"/>
                </a:solidFill>
                <a:latin typeface="Calibri" pitchFamily="34" charset="0"/>
                <a:ea typeface="Calibri" pitchFamily="34" charset="-122"/>
                <a:cs typeface="Calibri" pitchFamily="34" charset="-120"/>
              </a:rPr>
              <a:t>negatives</a:t>
            </a:r>
            <a:endParaRPr lang="en-GB" sz="1700" noProof="0" dirty="0"/>
          </a:p>
        </p:txBody>
      </p:sp>
      <p:sp>
        <p:nvSpPr>
          <p:cNvPr id="19" name="Text 17"/>
          <p:cNvSpPr txBox="1"/>
          <p:nvPr/>
        </p:nvSpPr>
        <p:spPr>
          <a:xfrm>
            <a:off x="4496714" y="3803712"/>
            <a:ext cx="3198266" cy="1582104"/>
          </a:xfrm>
          <a:prstGeom prst="rect">
            <a:avLst/>
          </a:prstGeom>
          <a:noFill/>
          <a:ln/>
        </p:spPr>
        <p:txBody>
          <a:bodyPr wrap="square" lIns="0" tIns="0" rIns="0" bIns="0" rtlCol="0" anchor="t"/>
          <a:lstStyle/>
          <a:p>
            <a:pPr marL="0" indent="0">
              <a:lnSpc>
                <a:spcPct val="90000"/>
              </a:lnSpc>
              <a:buNone/>
            </a:pPr>
            <a:r>
              <a:rPr lang="en-GB" sz="1800" noProof="0" dirty="0">
                <a:solidFill>
                  <a:srgbClr val="1F3A63"/>
                </a:solidFill>
                <a:latin typeface="Calibri" pitchFamily="34" charset="0"/>
                <a:ea typeface="Calibri" pitchFamily="34" charset="-122"/>
                <a:cs typeface="Calibri" pitchFamily="34" charset="-120"/>
              </a:rPr>
              <a:t>A normal result can falsely reassure. A change that appears later must still be assessed.</a:t>
            </a:r>
            <a:endParaRPr lang="en-GB" sz="1800" noProof="0" dirty="0"/>
          </a:p>
        </p:txBody>
      </p:sp>
      <p:sp>
        <p:nvSpPr>
          <p:cNvPr id="20" name="Shape 18"/>
          <p:cNvSpPr/>
          <p:nvPr/>
        </p:nvSpPr>
        <p:spPr>
          <a:xfrm>
            <a:off x="8115605" y="3373944"/>
            <a:ext cx="3527450" cy="2066736"/>
          </a:xfrm>
          <a:prstGeom prst="roundRect">
            <a:avLst>
              <a:gd name="adj" fmla="val 2655"/>
            </a:avLst>
          </a:prstGeom>
          <a:solidFill>
            <a:srgbClr val="FDF1E0"/>
          </a:solidFill>
          <a:ln w="12700">
            <a:solidFill>
              <a:srgbClr val="EFD3AA"/>
            </a:solidFill>
            <a:prstDash val="solid"/>
          </a:ln>
        </p:spPr>
        <p:txBody>
          <a:bodyPr/>
          <a:lstStyle/>
          <a:p>
            <a:endParaRPr lang="en-GB" noProof="0" dirty="0"/>
          </a:p>
        </p:txBody>
      </p:sp>
      <p:sp>
        <p:nvSpPr>
          <p:cNvPr id="21" name="Text 19"/>
          <p:cNvSpPr txBox="1"/>
          <p:nvPr/>
        </p:nvSpPr>
        <p:spPr>
          <a:xfrm>
            <a:off x="8280197" y="3465384"/>
            <a:ext cx="3198266" cy="292608"/>
          </a:xfrm>
          <a:prstGeom prst="rect">
            <a:avLst/>
          </a:prstGeom>
          <a:noFill/>
          <a:ln/>
        </p:spPr>
        <p:txBody>
          <a:bodyPr wrap="square" lIns="0" tIns="0" rIns="0" bIns="0" rtlCol="0" anchor="t"/>
          <a:lstStyle/>
          <a:p>
            <a:r>
              <a:rPr lang="en-GB" sz="1700" b="1" dirty="0">
                <a:solidFill>
                  <a:srgbClr val="C9761A"/>
                </a:solidFill>
                <a:latin typeface="Calibri" pitchFamily="34" charset="0"/>
                <a:ea typeface="Calibri" pitchFamily="34" charset="-122"/>
                <a:cs typeface="Calibri" pitchFamily="34" charset="-120"/>
              </a:rPr>
              <a:t>🟠 Overdiagnosis </a:t>
            </a:r>
            <a:r>
              <a:rPr lang="en-GB" sz="1700" b="1" noProof="0" dirty="0">
                <a:solidFill>
                  <a:srgbClr val="C9761A"/>
                </a:solidFill>
                <a:latin typeface="Calibri" pitchFamily="34" charset="0"/>
                <a:ea typeface="Calibri" pitchFamily="34" charset="-122"/>
                <a:cs typeface="Calibri" pitchFamily="34" charset="-120"/>
              </a:rPr>
              <a:t>and burden</a:t>
            </a:r>
            <a:endParaRPr lang="en-GB" sz="1700" noProof="0" dirty="0"/>
          </a:p>
        </p:txBody>
      </p:sp>
      <p:sp>
        <p:nvSpPr>
          <p:cNvPr id="22" name="Text 20"/>
          <p:cNvSpPr txBox="1"/>
          <p:nvPr/>
        </p:nvSpPr>
        <p:spPr>
          <a:xfrm>
            <a:off x="8280197" y="3803712"/>
            <a:ext cx="3198266" cy="1582104"/>
          </a:xfrm>
          <a:prstGeom prst="rect">
            <a:avLst/>
          </a:prstGeom>
          <a:noFill/>
          <a:ln/>
        </p:spPr>
        <p:txBody>
          <a:bodyPr wrap="square" lIns="0" tIns="0" rIns="0" bIns="0" rtlCol="0" anchor="t"/>
          <a:lstStyle/>
          <a:p>
            <a:pPr marL="0" indent="0">
              <a:lnSpc>
                <a:spcPct val="90000"/>
              </a:lnSpc>
              <a:buNone/>
            </a:pPr>
            <a:r>
              <a:rPr lang="en-GB" sz="1800" noProof="0" dirty="0">
                <a:solidFill>
                  <a:srgbClr val="1F3A63"/>
                </a:solidFill>
                <a:latin typeface="Calibri" pitchFamily="34" charset="0"/>
                <a:ea typeface="Calibri" pitchFamily="34" charset="-122"/>
                <a:cs typeface="Calibri" pitchFamily="34" charset="-120"/>
              </a:rPr>
              <a:t>Some detected disease would never have caused harm, and travel, cost and time away from work are real. Present benefits and limitations neutrally.</a:t>
            </a:r>
            <a:endParaRPr lang="en-GB" sz="1800" noProof="0" dirty="0"/>
          </a:p>
        </p:txBody>
      </p:sp>
      <p:sp>
        <p:nvSpPr>
          <p:cNvPr id="23" name="Shape 21"/>
          <p:cNvSpPr/>
          <p:nvPr/>
        </p:nvSpPr>
        <p:spPr>
          <a:xfrm>
            <a:off x="548640" y="5577840"/>
            <a:ext cx="11094415" cy="566928"/>
          </a:xfrm>
          <a:prstGeom prst="roundRect">
            <a:avLst>
              <a:gd name="adj" fmla="val 8065"/>
            </a:avLst>
          </a:prstGeom>
          <a:solidFill>
            <a:srgbClr val="FDF1E0"/>
          </a:solidFill>
          <a:ln w="12700">
            <a:solidFill>
              <a:srgbClr val="EFD3AA"/>
            </a:solidFill>
            <a:prstDash val="solid"/>
          </a:ln>
        </p:spPr>
        <p:txBody>
          <a:bodyPr/>
          <a:lstStyle/>
          <a:p>
            <a:endParaRPr lang="en-GB" noProof="0" dirty="0"/>
          </a:p>
        </p:txBody>
      </p:sp>
      <p:sp>
        <p:nvSpPr>
          <p:cNvPr id="24" name="Text 22"/>
          <p:cNvSpPr txBox="1"/>
          <p:nvPr/>
        </p:nvSpPr>
        <p:spPr>
          <a:xfrm>
            <a:off x="713232" y="5650992"/>
            <a:ext cx="10765231" cy="420624"/>
          </a:xfrm>
          <a:prstGeom prst="rect">
            <a:avLst/>
          </a:prstGeom>
          <a:noFill/>
          <a:ln/>
        </p:spPr>
        <p:txBody>
          <a:bodyPr wrap="square" lIns="0" tIns="0" rIns="0" bIns="0" rtlCol="0" anchor="ctr"/>
          <a:lstStyle/>
          <a:p>
            <a:pPr marL="0" indent="0">
              <a:lnSpc>
                <a:spcPct val="95000"/>
              </a:lnSpc>
              <a:buNone/>
            </a:pPr>
            <a:r>
              <a:rPr lang="en-GB" sz="1300" noProof="0" dirty="0">
                <a:solidFill>
                  <a:srgbClr val="0B1F3F"/>
                </a:solidFill>
                <a:latin typeface="Calibri" pitchFamily="34" charset="0"/>
                <a:ea typeface="Calibri" pitchFamily="34" charset="-122"/>
                <a:cs typeface="Calibri" pitchFamily="34" charset="-120"/>
              </a:rPr>
              <a:t>Screening only delivers benefit when the whole pathway works. An abnormal result that is never followed by imaging, biopsy and treatment produces anxiety without gain.</a:t>
            </a:r>
            <a:endParaRPr lang="en-GB" sz="1300" noProof="0" dirty="0"/>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name="Slide 6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en-GB" sz="1100" b="1" kern="0" spc="100" noProof="0" dirty="0">
                <a:solidFill>
                  <a:srgbClr val="5B7699"/>
                </a:solidFill>
                <a:latin typeface="Calibri" pitchFamily="34" charset="0"/>
                <a:ea typeface="Calibri" pitchFamily="34" charset="-122"/>
                <a:cs typeface="Calibri" pitchFamily="34" charset="-120"/>
              </a:rPr>
              <a:t>S E S S I O N   2</a:t>
            </a:r>
            <a:endParaRPr lang="en-GB"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en-GB" sz="1000" noProof="0" dirty="0">
                <a:solidFill>
                  <a:srgbClr val="5B7699"/>
                </a:solidFill>
                <a:latin typeface="Calibri" pitchFamily="34" charset="0"/>
                <a:ea typeface="Calibri" pitchFamily="34" charset="-122"/>
                <a:cs typeface="Calibri" pitchFamily="34" charset="-120"/>
              </a:rPr>
              <a:t>Breast Cancer  |  Frontline HCP  |  Rwanda Biomedical Centre</a:t>
            </a:r>
            <a:endParaRPr lang="en-GB"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en-GB" sz="3000" b="1" noProof="0" dirty="0">
                <a:solidFill>
                  <a:srgbClr val="12315B"/>
                </a:solidFill>
                <a:latin typeface="Calibri" pitchFamily="34" charset="0"/>
                <a:ea typeface="Calibri" pitchFamily="34" charset="-122"/>
                <a:cs typeface="Calibri" pitchFamily="34" charset="-120"/>
              </a:rPr>
              <a:t>After an abnormal screening or examination finding</a:t>
            </a:r>
            <a:endParaRPr lang="en-GB" sz="3000" noProof="0" dirty="0"/>
          </a:p>
        </p:txBody>
      </p:sp>
      <p:sp>
        <p:nvSpPr>
          <p:cNvPr id="5" name="Shape 3"/>
          <p:cNvSpPr/>
          <p:nvPr/>
        </p:nvSpPr>
        <p:spPr>
          <a:xfrm>
            <a:off x="548640" y="1325880"/>
            <a:ext cx="11094415" cy="751637"/>
          </a:xfrm>
          <a:prstGeom prst="roundRect">
            <a:avLst>
              <a:gd name="adj" fmla="val 6083"/>
            </a:avLst>
          </a:prstGeom>
          <a:solidFill>
            <a:srgbClr val="F4F8FC"/>
          </a:solidFill>
          <a:ln w="12700">
            <a:solidFill>
              <a:srgbClr val="C8D8EC"/>
            </a:solidFill>
            <a:prstDash val="solid"/>
          </a:ln>
        </p:spPr>
        <p:txBody>
          <a:bodyPr/>
          <a:lstStyle/>
          <a:p>
            <a:endParaRPr lang="en-GB" noProof="0" dirty="0"/>
          </a:p>
        </p:txBody>
      </p:sp>
      <p:sp>
        <p:nvSpPr>
          <p:cNvPr id="6" name="Shape 4"/>
          <p:cNvSpPr/>
          <p:nvPr/>
        </p:nvSpPr>
        <p:spPr>
          <a:xfrm>
            <a:off x="694944" y="1435608"/>
            <a:ext cx="932688" cy="532181"/>
          </a:xfrm>
          <a:prstGeom prst="roundRect">
            <a:avLst>
              <a:gd name="adj" fmla="val 8591"/>
            </a:avLst>
          </a:prstGeom>
          <a:solidFill>
            <a:srgbClr val="12315B"/>
          </a:solidFill>
          <a:ln/>
        </p:spPr>
        <p:txBody>
          <a:bodyPr/>
          <a:lstStyle/>
          <a:p>
            <a:endParaRPr lang="en-GB" noProof="0" dirty="0"/>
          </a:p>
        </p:txBody>
      </p:sp>
      <p:sp>
        <p:nvSpPr>
          <p:cNvPr id="7" name="Text 5"/>
          <p:cNvSpPr txBox="1"/>
          <p:nvPr/>
        </p:nvSpPr>
        <p:spPr>
          <a:xfrm>
            <a:off x="694944" y="1435608"/>
            <a:ext cx="932688" cy="532181"/>
          </a:xfrm>
          <a:prstGeom prst="rect">
            <a:avLst/>
          </a:prstGeom>
          <a:noFill/>
          <a:ln/>
        </p:spPr>
        <p:txBody>
          <a:bodyPr wrap="square" lIns="0" tIns="0" rIns="0" bIns="0" rtlCol="0" anchor="ctr"/>
          <a:lstStyle/>
          <a:p>
            <a:pPr marL="0" indent="0" algn="ctr">
              <a:buNone/>
            </a:pPr>
            <a:r>
              <a:rPr lang="en-GB" sz="1400" b="1" noProof="0" dirty="0">
                <a:solidFill>
                  <a:srgbClr val="FFFFFF"/>
                </a:solidFill>
                <a:latin typeface="Calibri" pitchFamily="34" charset="0"/>
                <a:ea typeface="Calibri" pitchFamily="34" charset="-122"/>
                <a:cs typeface="Calibri" pitchFamily="34" charset="-120"/>
              </a:rPr>
              <a:t>Step 1</a:t>
            </a:r>
            <a:endParaRPr lang="en-GB" sz="1400" noProof="0" dirty="0"/>
          </a:p>
        </p:txBody>
      </p:sp>
      <p:sp>
        <p:nvSpPr>
          <p:cNvPr id="8" name="Text 6"/>
          <p:cNvSpPr txBox="1"/>
          <p:nvPr/>
        </p:nvSpPr>
        <p:spPr>
          <a:xfrm>
            <a:off x="1783080" y="1399032"/>
            <a:ext cx="9677095" cy="605333"/>
          </a:xfrm>
          <a:prstGeom prst="rect">
            <a:avLst/>
          </a:prstGeom>
          <a:noFill/>
          <a:ln/>
        </p:spPr>
        <p:txBody>
          <a:bodyPr wrap="square" lIns="0" tIns="0" rIns="0" bIns="0" rtlCol="0" anchor="ctr"/>
          <a:lstStyle/>
          <a:p>
            <a:pPr marL="0" indent="0">
              <a:lnSpc>
                <a:spcPct val="95000"/>
              </a:lnSpc>
              <a:buNone/>
            </a:pPr>
            <a:r>
              <a:rPr lang="en-GB" sz="1800" b="1" noProof="0" dirty="0">
                <a:solidFill>
                  <a:srgbClr val="12315B"/>
                </a:solidFill>
                <a:latin typeface="Calibri" pitchFamily="34" charset="0"/>
                <a:ea typeface="Calibri" pitchFamily="34" charset="-122"/>
                <a:cs typeface="Calibri" pitchFamily="34" charset="-120"/>
              </a:rPr>
              <a:t>Say what it is not: </a:t>
            </a:r>
            <a:r>
              <a:rPr lang="en-GB" sz="1800" noProof="0" dirty="0">
                <a:solidFill>
                  <a:srgbClr val="0B1F3F"/>
                </a:solidFill>
                <a:latin typeface="Calibri" pitchFamily="34" charset="0"/>
                <a:ea typeface="Calibri" pitchFamily="34" charset="-122"/>
                <a:cs typeface="Calibri" pitchFamily="34" charset="-120"/>
              </a:rPr>
              <a:t>State plainly that this does not mean cancer has been found, and that a further test is needed to find out what the change is.</a:t>
            </a:r>
            <a:endParaRPr lang="en-GB" sz="1800" noProof="0" dirty="0"/>
          </a:p>
        </p:txBody>
      </p:sp>
      <p:sp>
        <p:nvSpPr>
          <p:cNvPr id="9" name="Shape 7"/>
          <p:cNvSpPr/>
          <p:nvPr/>
        </p:nvSpPr>
        <p:spPr>
          <a:xfrm>
            <a:off x="548640" y="2223821"/>
            <a:ext cx="11094415" cy="751637"/>
          </a:xfrm>
          <a:prstGeom prst="roundRect">
            <a:avLst>
              <a:gd name="adj" fmla="val 6083"/>
            </a:avLst>
          </a:prstGeom>
          <a:solidFill>
            <a:srgbClr val="F4F8FC"/>
          </a:solidFill>
          <a:ln w="12700">
            <a:solidFill>
              <a:srgbClr val="C8D8EC"/>
            </a:solidFill>
            <a:prstDash val="solid"/>
          </a:ln>
        </p:spPr>
        <p:txBody>
          <a:bodyPr/>
          <a:lstStyle/>
          <a:p>
            <a:endParaRPr lang="en-GB" noProof="0" dirty="0"/>
          </a:p>
        </p:txBody>
      </p:sp>
      <p:sp>
        <p:nvSpPr>
          <p:cNvPr id="10" name="Shape 8"/>
          <p:cNvSpPr/>
          <p:nvPr/>
        </p:nvSpPr>
        <p:spPr>
          <a:xfrm>
            <a:off x="694944" y="2333549"/>
            <a:ext cx="932688" cy="532181"/>
          </a:xfrm>
          <a:prstGeom prst="roundRect">
            <a:avLst>
              <a:gd name="adj" fmla="val 8591"/>
            </a:avLst>
          </a:prstGeom>
          <a:solidFill>
            <a:srgbClr val="12315B"/>
          </a:solidFill>
          <a:ln/>
        </p:spPr>
        <p:txBody>
          <a:bodyPr/>
          <a:lstStyle/>
          <a:p>
            <a:endParaRPr lang="en-GB" noProof="0" dirty="0"/>
          </a:p>
        </p:txBody>
      </p:sp>
      <p:sp>
        <p:nvSpPr>
          <p:cNvPr id="11" name="Text 9"/>
          <p:cNvSpPr txBox="1"/>
          <p:nvPr/>
        </p:nvSpPr>
        <p:spPr>
          <a:xfrm>
            <a:off x="694944" y="2333549"/>
            <a:ext cx="932688" cy="532181"/>
          </a:xfrm>
          <a:prstGeom prst="rect">
            <a:avLst/>
          </a:prstGeom>
          <a:noFill/>
          <a:ln/>
        </p:spPr>
        <p:txBody>
          <a:bodyPr wrap="square" lIns="0" tIns="0" rIns="0" bIns="0" rtlCol="0" anchor="ctr"/>
          <a:lstStyle/>
          <a:p>
            <a:pPr marL="0" indent="0" algn="ctr">
              <a:buNone/>
            </a:pPr>
            <a:r>
              <a:rPr lang="en-GB" sz="1400" b="1" noProof="0" dirty="0">
                <a:solidFill>
                  <a:srgbClr val="FFFFFF"/>
                </a:solidFill>
                <a:latin typeface="Calibri" pitchFamily="34" charset="0"/>
                <a:ea typeface="Calibri" pitchFamily="34" charset="-122"/>
                <a:cs typeface="Calibri" pitchFamily="34" charset="-120"/>
              </a:rPr>
              <a:t>Step 2</a:t>
            </a:r>
            <a:endParaRPr lang="en-GB" sz="1400" noProof="0" dirty="0"/>
          </a:p>
        </p:txBody>
      </p:sp>
      <p:sp>
        <p:nvSpPr>
          <p:cNvPr id="12" name="Text 10"/>
          <p:cNvSpPr txBox="1"/>
          <p:nvPr/>
        </p:nvSpPr>
        <p:spPr>
          <a:xfrm>
            <a:off x="1783080" y="2296973"/>
            <a:ext cx="9677095" cy="605333"/>
          </a:xfrm>
          <a:prstGeom prst="rect">
            <a:avLst/>
          </a:prstGeom>
          <a:noFill/>
          <a:ln/>
        </p:spPr>
        <p:txBody>
          <a:bodyPr wrap="square" lIns="0" tIns="0" rIns="0" bIns="0" rtlCol="0" anchor="ctr"/>
          <a:lstStyle/>
          <a:p>
            <a:pPr marL="0" indent="0">
              <a:lnSpc>
                <a:spcPct val="95000"/>
              </a:lnSpc>
              <a:buNone/>
            </a:pPr>
            <a:r>
              <a:rPr lang="en-GB" sz="1800" b="1" noProof="0" dirty="0">
                <a:solidFill>
                  <a:srgbClr val="12315B"/>
                </a:solidFill>
                <a:latin typeface="Calibri" pitchFamily="34" charset="0"/>
                <a:ea typeface="Calibri" pitchFamily="34" charset="-122"/>
                <a:cs typeface="Calibri" pitchFamily="34" charset="-120"/>
              </a:rPr>
              <a:t>Explain the next test: </a:t>
            </a:r>
            <a:r>
              <a:rPr lang="en-GB" sz="1800" noProof="0" dirty="0">
                <a:solidFill>
                  <a:srgbClr val="0B1F3F"/>
                </a:solidFill>
                <a:latin typeface="Calibri" pitchFamily="34" charset="0"/>
                <a:ea typeface="Calibri" pitchFamily="34" charset="-122"/>
                <a:cs typeface="Calibri" pitchFamily="34" charset="-120"/>
              </a:rPr>
              <a:t>Explain that the breast needs to be imaged and that a small tissue sample may be taken, what each involves, and roughly how long it takes.</a:t>
            </a:r>
            <a:endParaRPr lang="en-GB" sz="1800" noProof="0" dirty="0"/>
          </a:p>
        </p:txBody>
      </p:sp>
      <p:sp>
        <p:nvSpPr>
          <p:cNvPr id="13" name="Shape 11"/>
          <p:cNvSpPr/>
          <p:nvPr/>
        </p:nvSpPr>
        <p:spPr>
          <a:xfrm>
            <a:off x="548640" y="3121762"/>
            <a:ext cx="11094415" cy="751637"/>
          </a:xfrm>
          <a:prstGeom prst="roundRect">
            <a:avLst>
              <a:gd name="adj" fmla="val 6083"/>
            </a:avLst>
          </a:prstGeom>
          <a:solidFill>
            <a:srgbClr val="F4F8FC"/>
          </a:solidFill>
          <a:ln w="12700">
            <a:solidFill>
              <a:srgbClr val="C8D8EC"/>
            </a:solidFill>
            <a:prstDash val="solid"/>
          </a:ln>
        </p:spPr>
        <p:txBody>
          <a:bodyPr/>
          <a:lstStyle/>
          <a:p>
            <a:endParaRPr lang="en-GB" noProof="0" dirty="0"/>
          </a:p>
        </p:txBody>
      </p:sp>
      <p:sp>
        <p:nvSpPr>
          <p:cNvPr id="14" name="Shape 12"/>
          <p:cNvSpPr/>
          <p:nvPr/>
        </p:nvSpPr>
        <p:spPr>
          <a:xfrm>
            <a:off x="694944" y="3231490"/>
            <a:ext cx="932688" cy="532181"/>
          </a:xfrm>
          <a:prstGeom prst="roundRect">
            <a:avLst>
              <a:gd name="adj" fmla="val 8591"/>
            </a:avLst>
          </a:prstGeom>
          <a:solidFill>
            <a:srgbClr val="12315B"/>
          </a:solidFill>
          <a:ln/>
        </p:spPr>
        <p:txBody>
          <a:bodyPr/>
          <a:lstStyle/>
          <a:p>
            <a:endParaRPr lang="en-GB" noProof="0" dirty="0"/>
          </a:p>
        </p:txBody>
      </p:sp>
      <p:sp>
        <p:nvSpPr>
          <p:cNvPr id="15" name="Text 13"/>
          <p:cNvSpPr txBox="1"/>
          <p:nvPr/>
        </p:nvSpPr>
        <p:spPr>
          <a:xfrm>
            <a:off x="694944" y="3231490"/>
            <a:ext cx="932688" cy="532181"/>
          </a:xfrm>
          <a:prstGeom prst="rect">
            <a:avLst/>
          </a:prstGeom>
          <a:noFill/>
          <a:ln/>
        </p:spPr>
        <p:txBody>
          <a:bodyPr wrap="square" lIns="0" tIns="0" rIns="0" bIns="0" rtlCol="0" anchor="ctr"/>
          <a:lstStyle/>
          <a:p>
            <a:pPr marL="0" indent="0" algn="ctr">
              <a:buNone/>
            </a:pPr>
            <a:r>
              <a:rPr lang="en-GB" sz="1400" b="1" noProof="0" dirty="0">
                <a:solidFill>
                  <a:srgbClr val="FFFFFF"/>
                </a:solidFill>
                <a:latin typeface="Calibri" pitchFamily="34" charset="0"/>
                <a:ea typeface="Calibri" pitchFamily="34" charset="-122"/>
                <a:cs typeface="Calibri" pitchFamily="34" charset="-120"/>
              </a:rPr>
              <a:t>Step 3</a:t>
            </a:r>
            <a:endParaRPr lang="en-GB" sz="1400" noProof="0" dirty="0"/>
          </a:p>
        </p:txBody>
      </p:sp>
      <p:sp>
        <p:nvSpPr>
          <p:cNvPr id="16" name="Text 14"/>
          <p:cNvSpPr txBox="1"/>
          <p:nvPr/>
        </p:nvSpPr>
        <p:spPr>
          <a:xfrm>
            <a:off x="1783080" y="3194914"/>
            <a:ext cx="9677095" cy="605333"/>
          </a:xfrm>
          <a:prstGeom prst="rect">
            <a:avLst/>
          </a:prstGeom>
          <a:noFill/>
          <a:ln/>
        </p:spPr>
        <p:txBody>
          <a:bodyPr wrap="square" lIns="0" tIns="0" rIns="0" bIns="0" rtlCol="0" anchor="ctr"/>
          <a:lstStyle/>
          <a:p>
            <a:pPr marL="0" indent="0">
              <a:lnSpc>
                <a:spcPct val="95000"/>
              </a:lnSpc>
              <a:buNone/>
            </a:pPr>
            <a:r>
              <a:rPr lang="en-GB" sz="1800" b="1" noProof="0" dirty="0">
                <a:solidFill>
                  <a:srgbClr val="12315B"/>
                </a:solidFill>
                <a:latin typeface="Calibri" pitchFamily="34" charset="0"/>
                <a:ea typeface="Calibri" pitchFamily="34" charset="-122"/>
                <a:cs typeface="Calibri" pitchFamily="34" charset="-120"/>
              </a:rPr>
              <a:t>Arrange it: </a:t>
            </a:r>
            <a:r>
              <a:rPr lang="en-GB" sz="1800" noProof="0" dirty="0">
                <a:solidFill>
                  <a:srgbClr val="0B1F3F"/>
                </a:solidFill>
                <a:latin typeface="Calibri" pitchFamily="34" charset="0"/>
                <a:ea typeface="Calibri" pitchFamily="34" charset="-122"/>
                <a:cs typeface="Calibri" pitchFamily="34" charset="-120"/>
              </a:rPr>
              <a:t>Make the referral yourself, name the facility, and record where and when it will happen. Do not leave the person to arrange it alone.</a:t>
            </a:r>
            <a:endParaRPr lang="en-GB" sz="1800" noProof="0" dirty="0"/>
          </a:p>
        </p:txBody>
      </p:sp>
      <p:sp>
        <p:nvSpPr>
          <p:cNvPr id="17" name="Shape 15"/>
          <p:cNvSpPr/>
          <p:nvPr/>
        </p:nvSpPr>
        <p:spPr>
          <a:xfrm>
            <a:off x="548640" y="4019702"/>
            <a:ext cx="11094415" cy="751637"/>
          </a:xfrm>
          <a:prstGeom prst="roundRect">
            <a:avLst>
              <a:gd name="adj" fmla="val 6083"/>
            </a:avLst>
          </a:prstGeom>
          <a:solidFill>
            <a:srgbClr val="F4F8FC"/>
          </a:solidFill>
          <a:ln w="12700">
            <a:solidFill>
              <a:srgbClr val="C8D8EC"/>
            </a:solidFill>
            <a:prstDash val="solid"/>
          </a:ln>
        </p:spPr>
        <p:txBody>
          <a:bodyPr/>
          <a:lstStyle/>
          <a:p>
            <a:endParaRPr lang="en-GB" noProof="0" dirty="0"/>
          </a:p>
        </p:txBody>
      </p:sp>
      <p:sp>
        <p:nvSpPr>
          <p:cNvPr id="18" name="Shape 16"/>
          <p:cNvSpPr/>
          <p:nvPr/>
        </p:nvSpPr>
        <p:spPr>
          <a:xfrm>
            <a:off x="694944" y="4129430"/>
            <a:ext cx="932688" cy="532181"/>
          </a:xfrm>
          <a:prstGeom prst="roundRect">
            <a:avLst>
              <a:gd name="adj" fmla="val 8591"/>
            </a:avLst>
          </a:prstGeom>
          <a:solidFill>
            <a:srgbClr val="12315B"/>
          </a:solidFill>
          <a:ln/>
        </p:spPr>
        <p:txBody>
          <a:bodyPr/>
          <a:lstStyle/>
          <a:p>
            <a:endParaRPr lang="en-GB" noProof="0" dirty="0"/>
          </a:p>
        </p:txBody>
      </p:sp>
      <p:sp>
        <p:nvSpPr>
          <p:cNvPr id="19" name="Text 17"/>
          <p:cNvSpPr txBox="1"/>
          <p:nvPr/>
        </p:nvSpPr>
        <p:spPr>
          <a:xfrm>
            <a:off x="694944" y="4129430"/>
            <a:ext cx="932688" cy="532181"/>
          </a:xfrm>
          <a:prstGeom prst="rect">
            <a:avLst/>
          </a:prstGeom>
          <a:noFill/>
          <a:ln/>
        </p:spPr>
        <p:txBody>
          <a:bodyPr wrap="square" lIns="0" tIns="0" rIns="0" bIns="0" rtlCol="0" anchor="ctr"/>
          <a:lstStyle/>
          <a:p>
            <a:pPr marL="0" indent="0" algn="ctr">
              <a:buNone/>
            </a:pPr>
            <a:r>
              <a:rPr lang="en-GB" sz="1400" b="1" noProof="0" dirty="0">
                <a:solidFill>
                  <a:srgbClr val="FFFFFF"/>
                </a:solidFill>
                <a:latin typeface="Calibri" pitchFamily="34" charset="0"/>
                <a:ea typeface="Calibri" pitchFamily="34" charset="-122"/>
                <a:cs typeface="Calibri" pitchFamily="34" charset="-120"/>
              </a:rPr>
              <a:t>Step 4</a:t>
            </a:r>
            <a:endParaRPr lang="en-GB" sz="1400" noProof="0" dirty="0"/>
          </a:p>
        </p:txBody>
      </p:sp>
      <p:sp>
        <p:nvSpPr>
          <p:cNvPr id="20" name="Text 18"/>
          <p:cNvSpPr txBox="1"/>
          <p:nvPr/>
        </p:nvSpPr>
        <p:spPr>
          <a:xfrm>
            <a:off x="1783080" y="4092854"/>
            <a:ext cx="9677095" cy="605333"/>
          </a:xfrm>
          <a:prstGeom prst="rect">
            <a:avLst/>
          </a:prstGeom>
          <a:noFill/>
          <a:ln/>
        </p:spPr>
        <p:txBody>
          <a:bodyPr wrap="square" lIns="0" tIns="0" rIns="0" bIns="0" rtlCol="0" anchor="ctr"/>
          <a:lstStyle/>
          <a:p>
            <a:pPr marL="0" indent="0">
              <a:lnSpc>
                <a:spcPct val="95000"/>
              </a:lnSpc>
              <a:buNone/>
            </a:pPr>
            <a:r>
              <a:rPr lang="en-GB" sz="1800" b="1" noProof="0" dirty="0">
                <a:solidFill>
                  <a:srgbClr val="12315B"/>
                </a:solidFill>
                <a:latin typeface="Calibri" pitchFamily="34" charset="0"/>
                <a:ea typeface="Calibri" pitchFamily="34" charset="-122"/>
                <a:cs typeface="Calibri" pitchFamily="34" charset="-120"/>
              </a:rPr>
              <a:t>Address the barriers: </a:t>
            </a:r>
            <a:r>
              <a:rPr lang="en-GB" sz="1800" noProof="0" dirty="0">
                <a:solidFill>
                  <a:srgbClr val="0B1F3F"/>
                </a:solidFill>
                <a:latin typeface="Calibri" pitchFamily="34" charset="0"/>
                <a:ea typeface="Calibri" pitchFamily="34" charset="-122"/>
                <a:cs typeface="Calibri" pitchFamily="34" charset="-120"/>
              </a:rPr>
              <a:t>Ask about transport, cost, time away from work, childcare, and who can accompany her, and help work around what you can.</a:t>
            </a:r>
            <a:endParaRPr lang="en-GB" sz="1800" noProof="0" dirty="0"/>
          </a:p>
        </p:txBody>
      </p:sp>
      <p:sp>
        <p:nvSpPr>
          <p:cNvPr id="21" name="Shape 19"/>
          <p:cNvSpPr/>
          <p:nvPr/>
        </p:nvSpPr>
        <p:spPr>
          <a:xfrm>
            <a:off x="548640" y="4917643"/>
            <a:ext cx="11094415" cy="751637"/>
          </a:xfrm>
          <a:prstGeom prst="roundRect">
            <a:avLst>
              <a:gd name="adj" fmla="val 6083"/>
            </a:avLst>
          </a:prstGeom>
          <a:solidFill>
            <a:srgbClr val="F4F8FC"/>
          </a:solidFill>
          <a:ln w="12700">
            <a:solidFill>
              <a:srgbClr val="C8D8EC"/>
            </a:solidFill>
            <a:prstDash val="solid"/>
          </a:ln>
        </p:spPr>
        <p:txBody>
          <a:bodyPr/>
          <a:lstStyle/>
          <a:p>
            <a:endParaRPr lang="en-GB" noProof="0" dirty="0"/>
          </a:p>
        </p:txBody>
      </p:sp>
      <p:sp>
        <p:nvSpPr>
          <p:cNvPr id="22" name="Shape 20"/>
          <p:cNvSpPr/>
          <p:nvPr/>
        </p:nvSpPr>
        <p:spPr>
          <a:xfrm>
            <a:off x="694944" y="5027371"/>
            <a:ext cx="932688" cy="532181"/>
          </a:xfrm>
          <a:prstGeom prst="roundRect">
            <a:avLst>
              <a:gd name="adj" fmla="val 8591"/>
            </a:avLst>
          </a:prstGeom>
          <a:solidFill>
            <a:srgbClr val="12315B"/>
          </a:solidFill>
          <a:ln/>
        </p:spPr>
        <p:txBody>
          <a:bodyPr/>
          <a:lstStyle/>
          <a:p>
            <a:endParaRPr lang="en-GB" noProof="0" dirty="0"/>
          </a:p>
        </p:txBody>
      </p:sp>
      <p:sp>
        <p:nvSpPr>
          <p:cNvPr id="23" name="Text 21"/>
          <p:cNvSpPr txBox="1"/>
          <p:nvPr/>
        </p:nvSpPr>
        <p:spPr>
          <a:xfrm>
            <a:off x="694944" y="5027371"/>
            <a:ext cx="932688" cy="532181"/>
          </a:xfrm>
          <a:prstGeom prst="rect">
            <a:avLst/>
          </a:prstGeom>
          <a:noFill/>
          <a:ln/>
        </p:spPr>
        <p:txBody>
          <a:bodyPr wrap="square" lIns="0" tIns="0" rIns="0" bIns="0" rtlCol="0" anchor="ctr"/>
          <a:lstStyle/>
          <a:p>
            <a:pPr marL="0" indent="0" algn="ctr">
              <a:buNone/>
            </a:pPr>
            <a:r>
              <a:rPr lang="en-GB" sz="1400" b="1" noProof="0" dirty="0">
                <a:solidFill>
                  <a:srgbClr val="FFFFFF"/>
                </a:solidFill>
                <a:latin typeface="Calibri" pitchFamily="34" charset="0"/>
                <a:ea typeface="Calibri" pitchFamily="34" charset="-122"/>
                <a:cs typeface="Calibri" pitchFamily="34" charset="-120"/>
              </a:rPr>
              <a:t>Step 5</a:t>
            </a:r>
            <a:endParaRPr lang="en-GB" sz="1400" noProof="0" dirty="0"/>
          </a:p>
        </p:txBody>
      </p:sp>
      <p:sp>
        <p:nvSpPr>
          <p:cNvPr id="24" name="Text 22"/>
          <p:cNvSpPr txBox="1"/>
          <p:nvPr/>
        </p:nvSpPr>
        <p:spPr>
          <a:xfrm>
            <a:off x="1783080" y="4990795"/>
            <a:ext cx="9677095" cy="605333"/>
          </a:xfrm>
          <a:prstGeom prst="rect">
            <a:avLst/>
          </a:prstGeom>
          <a:noFill/>
          <a:ln/>
        </p:spPr>
        <p:txBody>
          <a:bodyPr wrap="square" lIns="0" tIns="0" rIns="0" bIns="0" rtlCol="0" anchor="ctr"/>
          <a:lstStyle/>
          <a:p>
            <a:pPr marL="0" indent="0">
              <a:lnSpc>
                <a:spcPct val="95000"/>
              </a:lnSpc>
              <a:buNone/>
            </a:pPr>
            <a:r>
              <a:rPr lang="en-GB" sz="1800" b="1" noProof="0" dirty="0">
                <a:solidFill>
                  <a:srgbClr val="12315B"/>
                </a:solidFill>
                <a:latin typeface="Calibri" pitchFamily="34" charset="0"/>
                <a:ea typeface="Calibri" pitchFamily="34" charset="-122"/>
                <a:cs typeface="Calibri" pitchFamily="34" charset="-120"/>
              </a:rPr>
              <a:t>Close the loop: </a:t>
            </a:r>
            <a:r>
              <a:rPr lang="en-GB" sz="1800" noProof="0" dirty="0">
                <a:solidFill>
                  <a:srgbClr val="0B1F3F"/>
                </a:solidFill>
                <a:latin typeface="Calibri" pitchFamily="34" charset="0"/>
                <a:ea typeface="Calibri" pitchFamily="34" charset="-122"/>
                <a:cs typeface="Calibri" pitchFamily="34" charset="-120"/>
              </a:rPr>
              <a:t>Agree how the result will be checked, and follow up actively if the person does not attend.</a:t>
            </a:r>
            <a:endParaRPr lang="en-GB" sz="1800" noProof="0" dirty="0"/>
          </a:p>
        </p:txBody>
      </p:sp>
      <p:sp>
        <p:nvSpPr>
          <p:cNvPr id="25" name="Shape 23"/>
          <p:cNvSpPr/>
          <p:nvPr/>
        </p:nvSpPr>
        <p:spPr>
          <a:xfrm>
            <a:off x="548640" y="5779008"/>
            <a:ext cx="11094415" cy="502920"/>
          </a:xfrm>
          <a:prstGeom prst="roundRect">
            <a:avLst>
              <a:gd name="adj" fmla="val 9091"/>
            </a:avLst>
          </a:prstGeom>
          <a:solidFill>
            <a:srgbClr val="FDF1E0"/>
          </a:solidFill>
          <a:ln w="12700">
            <a:solidFill>
              <a:srgbClr val="EFD3AA"/>
            </a:solidFill>
            <a:prstDash val="solid"/>
          </a:ln>
        </p:spPr>
        <p:txBody>
          <a:bodyPr/>
          <a:lstStyle/>
          <a:p>
            <a:endParaRPr lang="en-GB" noProof="0" dirty="0"/>
          </a:p>
        </p:txBody>
      </p:sp>
      <p:sp>
        <p:nvSpPr>
          <p:cNvPr id="26" name="Text 24"/>
          <p:cNvSpPr txBox="1"/>
          <p:nvPr/>
        </p:nvSpPr>
        <p:spPr>
          <a:xfrm>
            <a:off x="713232" y="5852160"/>
            <a:ext cx="10765231" cy="356616"/>
          </a:xfrm>
          <a:prstGeom prst="rect">
            <a:avLst/>
          </a:prstGeom>
          <a:noFill/>
          <a:ln/>
        </p:spPr>
        <p:txBody>
          <a:bodyPr wrap="square" lIns="0" tIns="0" rIns="0" bIns="0" rtlCol="0" anchor="ctr"/>
          <a:lstStyle/>
          <a:p>
            <a:pPr marL="0" indent="0">
              <a:lnSpc>
                <a:spcPct val="95000"/>
              </a:lnSpc>
              <a:buNone/>
            </a:pPr>
            <a:r>
              <a:rPr lang="en-GB" sz="1300" noProof="0" dirty="0">
                <a:solidFill>
                  <a:srgbClr val="0B1F3F"/>
                </a:solidFill>
                <a:latin typeface="Calibri" pitchFamily="34" charset="0"/>
                <a:ea typeface="Calibri" pitchFamily="34" charset="-122"/>
                <a:cs typeface="Calibri" pitchFamily="34" charset="-120"/>
              </a:rPr>
              <a:t>If a breast change is present, assessment goes ahead regardless of any screening result. A previous normal test never overrides a new symptom.</a:t>
            </a:r>
            <a:endParaRPr lang="en-GB" sz="1300" noProof="0" dirty="0"/>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name="Slide 6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en-GB" sz="1100" b="1" kern="0" spc="100" noProof="0" dirty="0">
                <a:solidFill>
                  <a:srgbClr val="5B7699"/>
                </a:solidFill>
                <a:latin typeface="Calibri" pitchFamily="34" charset="0"/>
                <a:ea typeface="Calibri" pitchFamily="34" charset="-122"/>
                <a:cs typeface="Calibri" pitchFamily="34" charset="-120"/>
              </a:rPr>
              <a:t>S E S S I O N   2</a:t>
            </a:r>
            <a:endParaRPr lang="en-GB"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en-GB" sz="1000" noProof="0" dirty="0">
                <a:solidFill>
                  <a:srgbClr val="5B7699"/>
                </a:solidFill>
                <a:latin typeface="Calibri" pitchFamily="34" charset="0"/>
                <a:ea typeface="Calibri" pitchFamily="34" charset="-122"/>
                <a:cs typeface="Calibri" pitchFamily="34" charset="-120"/>
              </a:rPr>
              <a:t>Breast Cancer  |  Frontline HCP  |  Rwanda Biomedical Centre</a:t>
            </a:r>
            <a:endParaRPr lang="en-GB"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en-GB" sz="3000" b="1" noProof="0" dirty="0">
                <a:solidFill>
                  <a:srgbClr val="12315B"/>
                </a:solidFill>
                <a:latin typeface="Calibri" pitchFamily="34" charset="0"/>
                <a:ea typeface="Calibri" pitchFamily="34" charset="-122"/>
                <a:cs typeface="Calibri" pitchFamily="34" charset="-120"/>
              </a:rPr>
              <a:t>Apply it to Immaculée</a:t>
            </a:r>
            <a:endParaRPr lang="en-GB" sz="3000" noProof="0" dirty="0"/>
          </a:p>
        </p:txBody>
      </p:sp>
      <p:sp>
        <p:nvSpPr>
          <p:cNvPr id="5" name="Shape 3"/>
          <p:cNvSpPr/>
          <p:nvPr/>
        </p:nvSpPr>
        <p:spPr>
          <a:xfrm>
            <a:off x="548640" y="1371600"/>
            <a:ext cx="7589520" cy="868680"/>
          </a:xfrm>
          <a:prstGeom prst="roundRect">
            <a:avLst>
              <a:gd name="adj" fmla="val 6316"/>
            </a:avLst>
          </a:prstGeom>
          <a:solidFill>
            <a:srgbClr val="FDF6E3"/>
          </a:solidFill>
          <a:ln w="12700">
            <a:solidFill>
              <a:srgbClr val="E0C07A"/>
            </a:solidFill>
            <a:prstDash val="solid"/>
          </a:ln>
        </p:spPr>
        <p:txBody>
          <a:bodyPr/>
          <a:lstStyle/>
          <a:p>
            <a:endParaRPr lang="en-GB" noProof="0" dirty="0"/>
          </a:p>
        </p:txBody>
      </p:sp>
      <p:sp>
        <p:nvSpPr>
          <p:cNvPr id="6" name="Text 4"/>
          <p:cNvSpPr txBox="1"/>
          <p:nvPr/>
        </p:nvSpPr>
        <p:spPr>
          <a:xfrm>
            <a:off x="713232" y="1444752"/>
            <a:ext cx="7260336" cy="731520"/>
          </a:xfrm>
          <a:prstGeom prst="rect">
            <a:avLst/>
          </a:prstGeom>
          <a:noFill/>
          <a:ln/>
        </p:spPr>
        <p:txBody>
          <a:bodyPr wrap="square" lIns="0" tIns="0" rIns="0" bIns="0" rtlCol="0" anchor="ctr"/>
          <a:lstStyle/>
          <a:p>
            <a:pPr marL="0" indent="0">
              <a:lnSpc>
                <a:spcPct val="92000"/>
              </a:lnSpc>
              <a:buNone/>
            </a:pPr>
            <a:r>
              <a:rPr lang="en-GB" sz="1600" b="1" noProof="0" dirty="0">
                <a:solidFill>
                  <a:srgbClr val="C9761A"/>
                </a:solidFill>
                <a:latin typeface="Calibri" pitchFamily="34" charset="0"/>
                <a:ea typeface="Calibri" pitchFamily="34" charset="-122"/>
                <a:cs typeface="Calibri" pitchFamily="34" charset="-120"/>
              </a:rPr>
              <a:t>Scenario   </a:t>
            </a:r>
            <a:r>
              <a:rPr lang="en-GB" sz="1600" noProof="0" dirty="0">
                <a:solidFill>
                  <a:srgbClr val="0B1F3F"/>
                </a:solidFill>
                <a:latin typeface="Calibri" pitchFamily="34" charset="0"/>
                <a:ea typeface="Calibri" pitchFamily="34" charset="-122"/>
                <a:cs typeface="Calibri" pitchFamily="34" charset="-120"/>
              </a:rPr>
              <a:t>Immaculée asks whether she could simply come back for the breast check that the health centre offers when the cervical screening team next visits.</a:t>
            </a:r>
            <a:endParaRPr lang="en-GB" sz="1600" noProof="0" dirty="0"/>
          </a:p>
        </p:txBody>
      </p:sp>
      <p:sp>
        <p:nvSpPr>
          <p:cNvPr id="7" name="Text 5"/>
          <p:cNvSpPr txBox="1"/>
          <p:nvPr/>
        </p:nvSpPr>
        <p:spPr>
          <a:xfrm>
            <a:off x="548640" y="2377440"/>
            <a:ext cx="7589520" cy="365760"/>
          </a:xfrm>
          <a:prstGeom prst="rect">
            <a:avLst/>
          </a:prstGeom>
          <a:noFill/>
          <a:ln/>
        </p:spPr>
        <p:txBody>
          <a:bodyPr wrap="square" lIns="0" tIns="0" rIns="0" bIns="0" rtlCol="0" anchor="ctr"/>
          <a:lstStyle/>
          <a:p>
            <a:pPr marL="0" indent="0">
              <a:buNone/>
            </a:pPr>
            <a:r>
              <a:rPr lang="en-GB" sz="1900" b="1" noProof="0" dirty="0">
                <a:solidFill>
                  <a:srgbClr val="12315B"/>
                </a:solidFill>
                <a:latin typeface="Calibri" pitchFamily="34" charset="0"/>
                <a:ea typeface="Calibri" pitchFamily="34" charset="-122"/>
                <a:cs typeface="Calibri" pitchFamily="34" charset="-120"/>
              </a:rPr>
              <a:t>What is the most appropriate response?</a:t>
            </a:r>
            <a:endParaRPr lang="en-GB" sz="1900" noProof="0" dirty="0"/>
          </a:p>
        </p:txBody>
      </p:sp>
      <p:sp>
        <p:nvSpPr>
          <p:cNvPr id="8" name="Shape 6"/>
          <p:cNvSpPr/>
          <p:nvPr/>
        </p:nvSpPr>
        <p:spPr>
          <a:xfrm>
            <a:off x="548640" y="2816352"/>
            <a:ext cx="7589520" cy="466344"/>
          </a:xfrm>
          <a:prstGeom prst="roundRect">
            <a:avLst>
              <a:gd name="adj" fmla="val 9804"/>
            </a:avLst>
          </a:prstGeom>
          <a:solidFill>
            <a:srgbClr val="FFFFFF"/>
          </a:solidFill>
          <a:ln w="12700">
            <a:solidFill>
              <a:srgbClr val="C8D8EC"/>
            </a:solidFill>
            <a:prstDash val="solid"/>
          </a:ln>
        </p:spPr>
        <p:txBody>
          <a:bodyPr/>
          <a:lstStyle/>
          <a:p>
            <a:endParaRPr lang="en-GB" noProof="0" dirty="0"/>
          </a:p>
        </p:txBody>
      </p:sp>
      <p:sp>
        <p:nvSpPr>
          <p:cNvPr id="9" name="Text 7"/>
          <p:cNvSpPr txBox="1"/>
          <p:nvPr/>
        </p:nvSpPr>
        <p:spPr>
          <a:xfrm>
            <a:off x="713232" y="2871216"/>
            <a:ext cx="7260336" cy="356616"/>
          </a:xfrm>
          <a:prstGeom prst="rect">
            <a:avLst/>
          </a:prstGeom>
          <a:noFill/>
          <a:ln/>
        </p:spPr>
        <p:txBody>
          <a:bodyPr wrap="square" lIns="0" tIns="0" rIns="0" bIns="0" rtlCol="0" anchor="ctr"/>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A   </a:t>
            </a:r>
            <a:r>
              <a:rPr lang="en-GB" sz="1800" noProof="0" dirty="0">
                <a:solidFill>
                  <a:srgbClr val="1F3A63"/>
                </a:solidFill>
                <a:latin typeface="Calibri" pitchFamily="34" charset="0"/>
                <a:ea typeface="Calibri" pitchFamily="34" charset="-122"/>
                <a:cs typeface="Calibri" pitchFamily="34" charset="-120"/>
              </a:rPr>
              <a:t>Agree, and add her name to the list for the next visit</a:t>
            </a:r>
            <a:endParaRPr lang="en-GB" sz="1800" noProof="0" dirty="0"/>
          </a:p>
        </p:txBody>
      </p:sp>
      <p:sp>
        <p:nvSpPr>
          <p:cNvPr id="10" name="Shape 8"/>
          <p:cNvSpPr/>
          <p:nvPr/>
        </p:nvSpPr>
        <p:spPr>
          <a:xfrm>
            <a:off x="548640" y="3374136"/>
            <a:ext cx="7589520" cy="713232"/>
          </a:xfrm>
          <a:prstGeom prst="roundRect">
            <a:avLst>
              <a:gd name="adj" fmla="val 6410"/>
            </a:avLst>
          </a:prstGeom>
          <a:solidFill>
            <a:srgbClr val="EAF5EF"/>
          </a:solidFill>
          <a:ln w="19050">
            <a:solidFill>
              <a:srgbClr val="8FC4A9"/>
            </a:solidFill>
            <a:prstDash val="solid"/>
          </a:ln>
        </p:spPr>
        <p:txBody>
          <a:bodyPr/>
          <a:lstStyle/>
          <a:p>
            <a:endParaRPr lang="en-GB" noProof="0" dirty="0"/>
          </a:p>
        </p:txBody>
      </p:sp>
      <p:sp>
        <p:nvSpPr>
          <p:cNvPr id="11" name="Text 9"/>
          <p:cNvSpPr txBox="1"/>
          <p:nvPr/>
        </p:nvSpPr>
        <p:spPr>
          <a:xfrm>
            <a:off x="713232" y="3429000"/>
            <a:ext cx="7260336" cy="603504"/>
          </a:xfrm>
          <a:prstGeom prst="rect">
            <a:avLst/>
          </a:prstGeom>
          <a:noFill/>
          <a:ln/>
        </p:spPr>
        <p:txBody>
          <a:bodyPr wrap="square" lIns="0" tIns="0" rIns="0" bIns="0" rtlCol="0" anchor="ctr"/>
          <a:lstStyle/>
          <a:p>
            <a:pPr marL="0" indent="0">
              <a:lnSpc>
                <a:spcPct val="90000"/>
              </a:lnSpc>
              <a:buNone/>
            </a:pPr>
            <a:r>
              <a:rPr lang="en-GB" sz="1800" b="1" noProof="0" dirty="0">
                <a:solidFill>
                  <a:srgbClr val="1B6E4A"/>
                </a:solidFill>
                <a:latin typeface="Calibri" pitchFamily="34" charset="0"/>
                <a:ea typeface="Calibri" pitchFamily="34" charset="-122"/>
                <a:cs typeface="Calibri" pitchFamily="34" charset="-120"/>
              </a:rPr>
              <a:t>B   Explain that because she already has a lump she needs assessment of the breast now, and arrange referral   ✓</a:t>
            </a:r>
            <a:endParaRPr lang="en-GB" sz="1800" noProof="0" dirty="0"/>
          </a:p>
        </p:txBody>
      </p:sp>
      <p:sp>
        <p:nvSpPr>
          <p:cNvPr id="12" name="Shape 10"/>
          <p:cNvSpPr/>
          <p:nvPr/>
        </p:nvSpPr>
        <p:spPr>
          <a:xfrm>
            <a:off x="548640" y="4178808"/>
            <a:ext cx="7589520" cy="713232"/>
          </a:xfrm>
          <a:prstGeom prst="roundRect">
            <a:avLst>
              <a:gd name="adj" fmla="val 6410"/>
            </a:avLst>
          </a:prstGeom>
          <a:solidFill>
            <a:srgbClr val="FFFFFF"/>
          </a:solidFill>
          <a:ln w="12700">
            <a:solidFill>
              <a:srgbClr val="C8D8EC"/>
            </a:solidFill>
            <a:prstDash val="solid"/>
          </a:ln>
        </p:spPr>
        <p:txBody>
          <a:bodyPr/>
          <a:lstStyle/>
          <a:p>
            <a:endParaRPr lang="en-GB" noProof="0" dirty="0"/>
          </a:p>
        </p:txBody>
      </p:sp>
      <p:sp>
        <p:nvSpPr>
          <p:cNvPr id="13" name="Text 11"/>
          <p:cNvSpPr txBox="1"/>
          <p:nvPr/>
        </p:nvSpPr>
        <p:spPr>
          <a:xfrm>
            <a:off x="713232" y="4233672"/>
            <a:ext cx="7260336" cy="603504"/>
          </a:xfrm>
          <a:prstGeom prst="rect">
            <a:avLst/>
          </a:prstGeom>
          <a:noFill/>
          <a:ln/>
        </p:spPr>
        <p:txBody>
          <a:bodyPr wrap="square" lIns="0" tIns="0" rIns="0" bIns="0" rtlCol="0" anchor="ctr"/>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C   </a:t>
            </a:r>
            <a:r>
              <a:rPr lang="en-GB" sz="1800" noProof="0" dirty="0">
                <a:solidFill>
                  <a:srgbClr val="1F3A63"/>
                </a:solidFill>
                <a:latin typeface="Calibri" pitchFamily="34" charset="0"/>
                <a:ea typeface="Calibri" pitchFamily="34" charset="-122"/>
                <a:cs typeface="Calibri" pitchFamily="34" charset="-120"/>
              </a:rPr>
              <a:t>Reassure her that a painless lump at her age is almost always harmless</a:t>
            </a:r>
            <a:endParaRPr lang="en-GB" sz="1800" noProof="0" dirty="0"/>
          </a:p>
        </p:txBody>
      </p:sp>
      <p:sp>
        <p:nvSpPr>
          <p:cNvPr id="14" name="Shape 12"/>
          <p:cNvSpPr/>
          <p:nvPr/>
        </p:nvSpPr>
        <p:spPr>
          <a:xfrm>
            <a:off x="548640" y="4983480"/>
            <a:ext cx="7589520" cy="713232"/>
          </a:xfrm>
          <a:prstGeom prst="roundRect">
            <a:avLst>
              <a:gd name="adj" fmla="val 6410"/>
            </a:avLst>
          </a:prstGeom>
          <a:solidFill>
            <a:srgbClr val="FFFFFF"/>
          </a:solidFill>
          <a:ln w="12700">
            <a:solidFill>
              <a:srgbClr val="C8D8EC"/>
            </a:solidFill>
            <a:prstDash val="solid"/>
          </a:ln>
        </p:spPr>
        <p:txBody>
          <a:bodyPr/>
          <a:lstStyle/>
          <a:p>
            <a:endParaRPr lang="en-GB" noProof="0" dirty="0"/>
          </a:p>
        </p:txBody>
      </p:sp>
      <p:sp>
        <p:nvSpPr>
          <p:cNvPr id="15" name="Text 13"/>
          <p:cNvSpPr txBox="1"/>
          <p:nvPr/>
        </p:nvSpPr>
        <p:spPr>
          <a:xfrm>
            <a:off x="713232" y="5038344"/>
            <a:ext cx="7260336" cy="603504"/>
          </a:xfrm>
          <a:prstGeom prst="rect">
            <a:avLst/>
          </a:prstGeom>
          <a:noFill/>
          <a:ln/>
        </p:spPr>
        <p:txBody>
          <a:bodyPr wrap="square" lIns="0" tIns="0" rIns="0" bIns="0" rtlCol="0" anchor="ctr"/>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D   </a:t>
            </a:r>
            <a:r>
              <a:rPr lang="en-GB" sz="1800" noProof="0" dirty="0">
                <a:solidFill>
                  <a:srgbClr val="1F3A63"/>
                </a:solidFill>
                <a:latin typeface="Calibri" pitchFamily="34" charset="0"/>
                <a:ea typeface="Calibri" pitchFamily="34" charset="-122"/>
                <a:cs typeface="Calibri" pitchFamily="34" charset="-120"/>
              </a:rPr>
              <a:t>Advise her to watch it for another three months and return if it grows</a:t>
            </a:r>
            <a:endParaRPr lang="en-GB" sz="1800" noProof="0" dirty="0"/>
          </a:p>
        </p:txBody>
      </p:sp>
      <p:sp>
        <p:nvSpPr>
          <p:cNvPr id="16" name="Shape 14"/>
          <p:cNvSpPr/>
          <p:nvPr/>
        </p:nvSpPr>
        <p:spPr>
          <a:xfrm>
            <a:off x="8412480" y="1371600"/>
            <a:ext cx="3230575" cy="4754880"/>
          </a:xfrm>
          <a:prstGeom prst="roundRect">
            <a:avLst>
              <a:gd name="adj" fmla="val 1698"/>
            </a:avLst>
          </a:prstGeom>
          <a:solidFill>
            <a:srgbClr val="EAF5EF"/>
          </a:solidFill>
          <a:ln w="12700">
            <a:solidFill>
              <a:srgbClr val="8FC4A9"/>
            </a:solidFill>
            <a:prstDash val="solid"/>
          </a:ln>
        </p:spPr>
        <p:txBody>
          <a:bodyPr/>
          <a:lstStyle/>
          <a:p>
            <a:endParaRPr lang="en-GB" noProof="0" dirty="0"/>
          </a:p>
        </p:txBody>
      </p:sp>
      <p:sp>
        <p:nvSpPr>
          <p:cNvPr id="17" name="Text 15"/>
          <p:cNvSpPr txBox="1"/>
          <p:nvPr/>
        </p:nvSpPr>
        <p:spPr>
          <a:xfrm>
            <a:off x="8595360" y="1508760"/>
            <a:ext cx="2864815" cy="365760"/>
          </a:xfrm>
          <a:prstGeom prst="rect">
            <a:avLst/>
          </a:prstGeom>
          <a:noFill/>
          <a:ln/>
        </p:spPr>
        <p:txBody>
          <a:bodyPr wrap="square" lIns="0" tIns="0" rIns="0" bIns="0" rtlCol="0" anchor="ctr"/>
          <a:lstStyle/>
          <a:p>
            <a:pPr marL="0" indent="0">
              <a:buNone/>
            </a:pPr>
            <a:r>
              <a:rPr lang="en-GB" sz="1800" b="1" noProof="0" dirty="0">
                <a:solidFill>
                  <a:srgbClr val="1B6E4A"/>
                </a:solidFill>
                <a:latin typeface="Calibri" pitchFamily="34" charset="0"/>
                <a:ea typeface="Calibri" pitchFamily="34" charset="-122"/>
                <a:cs typeface="Calibri" pitchFamily="34" charset="-120"/>
              </a:rPr>
              <a:t>Correct answer: B</a:t>
            </a:r>
            <a:endParaRPr lang="en-GB" sz="1800" noProof="0" dirty="0"/>
          </a:p>
        </p:txBody>
      </p:sp>
      <p:sp>
        <p:nvSpPr>
          <p:cNvPr id="18" name="Text 16"/>
          <p:cNvSpPr txBox="1"/>
          <p:nvPr/>
        </p:nvSpPr>
        <p:spPr>
          <a:xfrm>
            <a:off x="8595360" y="1938528"/>
            <a:ext cx="2864815" cy="4069080"/>
          </a:xfrm>
          <a:prstGeom prst="rect">
            <a:avLst/>
          </a:prstGeom>
          <a:noFill/>
          <a:ln/>
        </p:spPr>
        <p:txBody>
          <a:bodyPr wrap="square" lIns="0" tIns="0" rIns="0" bIns="0" rtlCol="0" anchor="t"/>
          <a:lstStyle/>
          <a:p>
            <a:pPr marL="0" indent="0">
              <a:lnSpc>
                <a:spcPct val="95000"/>
              </a:lnSpc>
              <a:buNone/>
            </a:pPr>
            <a:r>
              <a:rPr lang="en-GB" sz="1800" noProof="0" dirty="0">
                <a:solidFill>
                  <a:srgbClr val="0B1F3F"/>
                </a:solidFill>
                <a:latin typeface="Calibri" pitchFamily="34" charset="0"/>
                <a:ea typeface="Calibri" pitchFamily="34" charset="-122"/>
                <a:cs typeface="Calibri" pitchFamily="34" charset="-120"/>
              </a:rPr>
              <a:t>Immaculée has a persistent breast lump that she believes has grown over five months. That is symptomatic disease, so she needs diagnostic assessment now, not a screening opportunity later. The absence of pain and the absence of family history do not make it less concerning. Explain the reason for referral clearly, without stating that she has cancer.</a:t>
            </a:r>
            <a:endParaRPr lang="en-GB" sz="1800" noProof="0" dirty="0"/>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name="Slide 6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en-GB" sz="1100" b="1" kern="0" spc="100" noProof="0" dirty="0">
                <a:solidFill>
                  <a:srgbClr val="5B7699"/>
                </a:solidFill>
                <a:latin typeface="Calibri" pitchFamily="34" charset="0"/>
                <a:ea typeface="Calibri" pitchFamily="34" charset="-122"/>
                <a:cs typeface="Calibri" pitchFamily="34" charset="-120"/>
              </a:rPr>
              <a:t>S E S S I O N   2</a:t>
            </a:r>
            <a:endParaRPr lang="en-GB"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en-GB" sz="1000" noProof="0" dirty="0">
                <a:solidFill>
                  <a:srgbClr val="5B7699"/>
                </a:solidFill>
                <a:latin typeface="Calibri" pitchFamily="34" charset="0"/>
                <a:ea typeface="Calibri" pitchFamily="34" charset="-122"/>
                <a:cs typeface="Calibri" pitchFamily="34" charset="-120"/>
              </a:rPr>
              <a:t>Breast Cancer  |  Frontline HCP  |  Rwanda Biomedical Centre</a:t>
            </a:r>
            <a:endParaRPr lang="en-GB"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en-GB" sz="3000" b="1" noProof="0" dirty="0">
                <a:solidFill>
                  <a:srgbClr val="12315B"/>
                </a:solidFill>
                <a:latin typeface="Calibri" pitchFamily="34" charset="0"/>
                <a:ea typeface="Calibri" pitchFamily="34" charset="-122"/>
                <a:cs typeface="Calibri" pitchFamily="34" charset="-120"/>
              </a:rPr>
              <a:t>Knowledge check (1 of 4)</a:t>
            </a:r>
            <a:endParaRPr lang="en-GB" sz="3000" noProof="0" dirty="0"/>
          </a:p>
        </p:txBody>
      </p:sp>
      <p:sp>
        <p:nvSpPr>
          <p:cNvPr id="5" name="Shape 3"/>
          <p:cNvSpPr/>
          <p:nvPr/>
        </p:nvSpPr>
        <p:spPr>
          <a:xfrm>
            <a:off x="548640" y="1832915"/>
            <a:ext cx="11094415" cy="1652321"/>
          </a:xfrm>
          <a:prstGeom prst="roundRect">
            <a:avLst>
              <a:gd name="adj" fmla="val 3320"/>
            </a:avLst>
          </a:prstGeom>
          <a:solidFill>
            <a:srgbClr val="F4F8FC"/>
          </a:solidFill>
          <a:ln w="12700">
            <a:solidFill>
              <a:srgbClr val="C8D8EC"/>
            </a:solidFill>
            <a:prstDash val="solid"/>
          </a:ln>
        </p:spPr>
        <p:txBody>
          <a:bodyPr/>
          <a:lstStyle/>
          <a:p>
            <a:endParaRPr lang="en-GB" noProof="0" dirty="0"/>
          </a:p>
        </p:txBody>
      </p:sp>
      <p:sp>
        <p:nvSpPr>
          <p:cNvPr id="6" name="Text 4"/>
          <p:cNvSpPr txBox="1"/>
          <p:nvPr/>
        </p:nvSpPr>
        <p:spPr>
          <a:xfrm>
            <a:off x="731520" y="1942643"/>
            <a:ext cx="10728655" cy="384048"/>
          </a:xfrm>
          <a:prstGeom prst="rect">
            <a:avLst/>
          </a:prstGeom>
          <a:noFill/>
          <a:ln/>
        </p:spPr>
        <p:txBody>
          <a:bodyPr wrap="square" lIns="0" tIns="0" rIns="0" bIns="0" rtlCol="0" anchor="t"/>
          <a:lstStyle/>
          <a:p>
            <a:pPr marL="0" indent="0">
              <a:buNone/>
            </a:pPr>
            <a:r>
              <a:rPr lang="en-GB" sz="1800" b="1" noProof="0" dirty="0">
                <a:solidFill>
                  <a:srgbClr val="12315B"/>
                </a:solidFill>
                <a:latin typeface="Calibri" pitchFamily="34" charset="0"/>
                <a:ea typeface="Calibri" pitchFamily="34" charset="-122"/>
                <a:cs typeface="Calibri" pitchFamily="34" charset="-120"/>
              </a:rPr>
              <a:t>Q1. Screening applies to:</a:t>
            </a:r>
            <a:endParaRPr lang="en-GB" sz="1800" noProof="0" dirty="0"/>
          </a:p>
        </p:txBody>
      </p:sp>
      <p:sp>
        <p:nvSpPr>
          <p:cNvPr id="7" name="Text 5"/>
          <p:cNvSpPr txBox="1"/>
          <p:nvPr/>
        </p:nvSpPr>
        <p:spPr>
          <a:xfrm>
            <a:off x="731520" y="2363267"/>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A. </a:t>
            </a:r>
            <a:r>
              <a:rPr lang="en-GB" sz="1800" noProof="0" dirty="0">
                <a:solidFill>
                  <a:srgbClr val="1F3A63"/>
                </a:solidFill>
                <a:latin typeface="Calibri" pitchFamily="34" charset="0"/>
                <a:ea typeface="Calibri" pitchFamily="34" charset="-122"/>
                <a:cs typeface="Calibri" pitchFamily="34" charset="-120"/>
              </a:rPr>
              <a:t>People with a breast lump</a:t>
            </a:r>
            <a:endParaRPr lang="en-GB" sz="1800" noProof="0" dirty="0"/>
          </a:p>
        </p:txBody>
      </p:sp>
      <p:sp>
        <p:nvSpPr>
          <p:cNvPr id="8" name="Text 6"/>
          <p:cNvSpPr txBox="1"/>
          <p:nvPr/>
        </p:nvSpPr>
        <p:spPr>
          <a:xfrm>
            <a:off x="6210148" y="2363267"/>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1B6E4A"/>
                </a:solidFill>
                <a:latin typeface="Calibri" pitchFamily="34" charset="0"/>
                <a:ea typeface="Calibri" pitchFamily="34" charset="-122"/>
                <a:cs typeface="Calibri" pitchFamily="34" charset="-120"/>
              </a:rPr>
              <a:t>B. People who have no breast symptoms</a:t>
            </a:r>
            <a:endParaRPr lang="en-GB" sz="1800" noProof="0" dirty="0"/>
          </a:p>
        </p:txBody>
      </p:sp>
      <p:sp>
        <p:nvSpPr>
          <p:cNvPr id="9" name="Text 7"/>
          <p:cNvSpPr txBox="1"/>
          <p:nvPr/>
        </p:nvSpPr>
        <p:spPr>
          <a:xfrm>
            <a:off x="731520" y="2738171"/>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C. </a:t>
            </a:r>
            <a:r>
              <a:rPr lang="en-GB" sz="1800" noProof="0" dirty="0">
                <a:solidFill>
                  <a:srgbClr val="1F3A63"/>
                </a:solidFill>
                <a:latin typeface="Calibri" pitchFamily="34" charset="0"/>
                <a:ea typeface="Calibri" pitchFamily="34" charset="-122"/>
                <a:cs typeface="Calibri" pitchFamily="34" charset="-120"/>
              </a:rPr>
              <a:t>People already diagnosed</a:t>
            </a:r>
            <a:endParaRPr lang="en-GB" sz="1800" noProof="0" dirty="0"/>
          </a:p>
        </p:txBody>
      </p:sp>
      <p:sp>
        <p:nvSpPr>
          <p:cNvPr id="10" name="Text 8"/>
          <p:cNvSpPr txBox="1"/>
          <p:nvPr/>
        </p:nvSpPr>
        <p:spPr>
          <a:xfrm>
            <a:off x="6210148" y="2738171"/>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D. </a:t>
            </a:r>
            <a:r>
              <a:rPr lang="en-GB" sz="1800" noProof="0" dirty="0">
                <a:solidFill>
                  <a:srgbClr val="1F3A63"/>
                </a:solidFill>
                <a:latin typeface="Calibri" pitchFamily="34" charset="0"/>
                <a:ea typeface="Calibri" pitchFamily="34" charset="-122"/>
                <a:cs typeface="Calibri" pitchFamily="34" charset="-120"/>
              </a:rPr>
              <a:t>People awaiting surgery</a:t>
            </a:r>
            <a:endParaRPr lang="en-GB" sz="1800" noProof="0" dirty="0"/>
          </a:p>
        </p:txBody>
      </p:sp>
      <p:sp>
        <p:nvSpPr>
          <p:cNvPr id="11" name="Text 9"/>
          <p:cNvSpPr txBox="1"/>
          <p:nvPr/>
        </p:nvSpPr>
        <p:spPr>
          <a:xfrm>
            <a:off x="731520" y="3167939"/>
            <a:ext cx="10728655" cy="244145"/>
          </a:xfrm>
          <a:prstGeom prst="rect">
            <a:avLst/>
          </a:prstGeom>
          <a:noFill/>
          <a:ln/>
        </p:spPr>
        <p:txBody>
          <a:bodyPr wrap="square" lIns="0" tIns="0" rIns="0" bIns="0" rtlCol="0" anchor="t"/>
          <a:lstStyle/>
          <a:p>
            <a:pPr marL="0" indent="0">
              <a:lnSpc>
                <a:spcPct val="92000"/>
              </a:lnSpc>
              <a:buNone/>
            </a:pPr>
            <a:r>
              <a:rPr lang="en-GB" sz="1350" b="1" noProof="0" dirty="0">
                <a:solidFill>
                  <a:srgbClr val="1B6E4A"/>
                </a:solidFill>
                <a:latin typeface="Calibri" pitchFamily="34" charset="0"/>
                <a:ea typeface="Calibri" pitchFamily="34" charset="-122"/>
                <a:cs typeface="Calibri" pitchFamily="34" charset="-120"/>
              </a:rPr>
              <a:t>Correct: B. </a:t>
            </a:r>
            <a:r>
              <a:rPr lang="en-GB" sz="1350" noProof="0" dirty="0">
                <a:solidFill>
                  <a:srgbClr val="0B1F3F"/>
                </a:solidFill>
                <a:latin typeface="Calibri" pitchFamily="34" charset="0"/>
                <a:ea typeface="Calibri" pitchFamily="34" charset="-122"/>
                <a:cs typeface="Calibri" pitchFamily="34" charset="-120"/>
              </a:rPr>
              <a:t>Screening is early detection in people with no symptoms. A person with a breast change needs diagnostic assessment instead.</a:t>
            </a:r>
            <a:endParaRPr lang="en-GB" sz="1350" noProof="0" dirty="0"/>
          </a:p>
        </p:txBody>
      </p:sp>
      <p:sp>
        <p:nvSpPr>
          <p:cNvPr id="12" name="Shape 10"/>
          <p:cNvSpPr/>
          <p:nvPr/>
        </p:nvSpPr>
        <p:spPr>
          <a:xfrm>
            <a:off x="548640" y="3686404"/>
            <a:ext cx="11094415" cy="2088490"/>
          </a:xfrm>
          <a:prstGeom prst="roundRect">
            <a:avLst>
              <a:gd name="adj" fmla="val 2627"/>
            </a:avLst>
          </a:prstGeom>
          <a:solidFill>
            <a:srgbClr val="F4F8FC"/>
          </a:solidFill>
          <a:ln w="12700">
            <a:solidFill>
              <a:srgbClr val="C8D8EC"/>
            </a:solidFill>
            <a:prstDash val="solid"/>
          </a:ln>
        </p:spPr>
        <p:txBody>
          <a:bodyPr/>
          <a:lstStyle/>
          <a:p>
            <a:endParaRPr lang="en-GB" noProof="0" dirty="0"/>
          </a:p>
        </p:txBody>
      </p:sp>
      <p:sp>
        <p:nvSpPr>
          <p:cNvPr id="13" name="Text 11"/>
          <p:cNvSpPr txBox="1"/>
          <p:nvPr/>
        </p:nvSpPr>
        <p:spPr>
          <a:xfrm>
            <a:off x="731520" y="3796132"/>
            <a:ext cx="10728655" cy="384048"/>
          </a:xfrm>
          <a:prstGeom prst="rect">
            <a:avLst/>
          </a:prstGeom>
          <a:noFill/>
          <a:ln/>
        </p:spPr>
        <p:txBody>
          <a:bodyPr wrap="square" lIns="0" tIns="0" rIns="0" bIns="0" rtlCol="0" anchor="t"/>
          <a:lstStyle/>
          <a:p>
            <a:pPr marL="0" indent="0">
              <a:buNone/>
            </a:pPr>
            <a:r>
              <a:rPr lang="en-GB" sz="1800" b="1" noProof="0" dirty="0">
                <a:solidFill>
                  <a:srgbClr val="12315B"/>
                </a:solidFill>
                <a:latin typeface="Calibri" pitchFamily="34" charset="0"/>
                <a:ea typeface="Calibri" pitchFamily="34" charset="-122"/>
                <a:cs typeface="Calibri" pitchFamily="34" charset="-120"/>
              </a:rPr>
              <a:t>Q2. A woman of 52 has an abnormal screening mammogram and feels completely well. The correct next step is:</a:t>
            </a:r>
            <a:endParaRPr lang="en-GB" sz="1800" noProof="0" dirty="0"/>
          </a:p>
        </p:txBody>
      </p:sp>
      <p:sp>
        <p:nvSpPr>
          <p:cNvPr id="14" name="Text 12"/>
          <p:cNvSpPr txBox="1"/>
          <p:nvPr/>
        </p:nvSpPr>
        <p:spPr>
          <a:xfrm>
            <a:off x="731520" y="4216756"/>
            <a:ext cx="5250028" cy="566928"/>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A. </a:t>
            </a:r>
            <a:r>
              <a:rPr lang="en-GB" sz="1800" noProof="0" dirty="0">
                <a:solidFill>
                  <a:srgbClr val="1F3A63"/>
                </a:solidFill>
                <a:latin typeface="Calibri" pitchFamily="34" charset="0"/>
                <a:ea typeface="Calibri" pitchFamily="34" charset="-122"/>
                <a:cs typeface="Calibri" pitchFamily="34" charset="-120"/>
              </a:rPr>
              <a:t>Tell her that she has breast cancer</a:t>
            </a:r>
            <a:endParaRPr lang="en-GB" sz="1800" noProof="0" dirty="0"/>
          </a:p>
        </p:txBody>
      </p:sp>
      <p:sp>
        <p:nvSpPr>
          <p:cNvPr id="15" name="Text 13"/>
          <p:cNvSpPr txBox="1"/>
          <p:nvPr/>
        </p:nvSpPr>
        <p:spPr>
          <a:xfrm>
            <a:off x="6210148" y="4216756"/>
            <a:ext cx="5250028" cy="566928"/>
          </a:xfrm>
          <a:prstGeom prst="rect">
            <a:avLst/>
          </a:prstGeom>
          <a:noFill/>
          <a:ln/>
        </p:spPr>
        <p:txBody>
          <a:bodyPr wrap="square" lIns="0" tIns="0" rIns="0" bIns="0" rtlCol="0" anchor="t"/>
          <a:lstStyle/>
          <a:p>
            <a:pPr marL="0" indent="0">
              <a:lnSpc>
                <a:spcPct val="90000"/>
              </a:lnSpc>
              <a:buNone/>
            </a:pPr>
            <a:r>
              <a:rPr lang="en-GB" sz="1800" b="1" noProof="0" dirty="0">
                <a:solidFill>
                  <a:srgbClr val="1B6E4A"/>
                </a:solidFill>
                <a:latin typeface="Calibri" pitchFamily="34" charset="0"/>
                <a:ea typeface="Calibri" pitchFamily="34" charset="-122"/>
                <a:cs typeface="Calibri" pitchFamily="34" charset="-120"/>
              </a:rPr>
              <a:t>B. Arrange further breast assessment and explain that cancer is not confirmed</a:t>
            </a:r>
            <a:endParaRPr lang="en-GB" sz="1800" noProof="0" dirty="0"/>
          </a:p>
        </p:txBody>
      </p:sp>
      <p:sp>
        <p:nvSpPr>
          <p:cNvPr id="16" name="Text 14"/>
          <p:cNvSpPr txBox="1"/>
          <p:nvPr/>
        </p:nvSpPr>
        <p:spPr>
          <a:xfrm>
            <a:off x="731520" y="4838548"/>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C. </a:t>
            </a:r>
            <a:r>
              <a:rPr lang="en-GB" sz="1800" noProof="0" dirty="0">
                <a:solidFill>
                  <a:srgbClr val="1F3A63"/>
                </a:solidFill>
                <a:latin typeface="Calibri" pitchFamily="34" charset="0"/>
                <a:ea typeface="Calibri" pitchFamily="34" charset="-122"/>
                <a:cs typeface="Calibri" pitchFamily="34" charset="-120"/>
              </a:rPr>
              <a:t>Repeat the mammogram in two years</a:t>
            </a:r>
            <a:endParaRPr lang="en-GB" sz="1800" noProof="0" dirty="0"/>
          </a:p>
        </p:txBody>
      </p:sp>
      <p:sp>
        <p:nvSpPr>
          <p:cNvPr id="17" name="Text 15"/>
          <p:cNvSpPr txBox="1"/>
          <p:nvPr/>
        </p:nvSpPr>
        <p:spPr>
          <a:xfrm>
            <a:off x="6210148" y="4838548"/>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D. </a:t>
            </a:r>
            <a:r>
              <a:rPr lang="en-GB" sz="1800" noProof="0" dirty="0">
                <a:solidFill>
                  <a:srgbClr val="1F3A63"/>
                </a:solidFill>
                <a:latin typeface="Calibri" pitchFamily="34" charset="0"/>
                <a:ea typeface="Calibri" pitchFamily="34" charset="-122"/>
                <a:cs typeface="Calibri" pitchFamily="34" charset="-120"/>
              </a:rPr>
              <a:t>Take no action because she has no symptoms</a:t>
            </a:r>
            <a:endParaRPr lang="en-GB" sz="1800" noProof="0" dirty="0"/>
          </a:p>
        </p:txBody>
      </p:sp>
      <p:sp>
        <p:nvSpPr>
          <p:cNvPr id="18" name="Text 16"/>
          <p:cNvSpPr txBox="1"/>
          <p:nvPr/>
        </p:nvSpPr>
        <p:spPr>
          <a:xfrm>
            <a:off x="731520" y="5268316"/>
            <a:ext cx="10728655" cy="433426"/>
          </a:xfrm>
          <a:prstGeom prst="rect">
            <a:avLst/>
          </a:prstGeom>
          <a:noFill/>
          <a:ln/>
        </p:spPr>
        <p:txBody>
          <a:bodyPr wrap="square" lIns="0" tIns="0" rIns="0" bIns="0" rtlCol="0" anchor="t"/>
          <a:lstStyle/>
          <a:p>
            <a:pPr marL="0" indent="0">
              <a:lnSpc>
                <a:spcPct val="92000"/>
              </a:lnSpc>
              <a:buNone/>
            </a:pPr>
            <a:r>
              <a:rPr lang="en-GB" sz="1350" b="1" noProof="0" dirty="0">
                <a:solidFill>
                  <a:srgbClr val="1B6E4A"/>
                </a:solidFill>
                <a:latin typeface="Calibri" pitchFamily="34" charset="0"/>
                <a:ea typeface="Calibri" pitchFamily="34" charset="-122"/>
                <a:cs typeface="Calibri" pitchFamily="34" charset="-120"/>
              </a:rPr>
              <a:t>Correct: B. </a:t>
            </a:r>
            <a:r>
              <a:rPr lang="en-GB" sz="1350" noProof="0" dirty="0">
                <a:solidFill>
                  <a:srgbClr val="0B1F3F"/>
                </a:solidFill>
                <a:latin typeface="Calibri" pitchFamily="34" charset="0"/>
                <a:ea typeface="Calibri" pitchFamily="34" charset="-122"/>
                <a:cs typeface="Calibri" pitchFamily="34" charset="-120"/>
              </a:rPr>
              <a:t>An abnormal mammogram means something needs further evaluation. It triggers additional imaging and, where indicated, tissue diagnosis. It is not a diagnosis in itself.</a:t>
            </a:r>
            <a:endParaRPr lang="en-GB" sz="1350" noProof="0" dirty="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name="Slide 6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en-GB" sz="1100" b="1" kern="0" spc="100" noProof="0" dirty="0">
                <a:solidFill>
                  <a:srgbClr val="5B7699"/>
                </a:solidFill>
                <a:latin typeface="Calibri" pitchFamily="34" charset="0"/>
                <a:ea typeface="Calibri" pitchFamily="34" charset="-122"/>
                <a:cs typeface="Calibri" pitchFamily="34" charset="-120"/>
              </a:rPr>
              <a:t>S E S S I O N   2</a:t>
            </a:r>
            <a:endParaRPr lang="en-GB"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en-GB" sz="1000" noProof="0" dirty="0">
                <a:solidFill>
                  <a:srgbClr val="5B7699"/>
                </a:solidFill>
                <a:latin typeface="Calibri" pitchFamily="34" charset="0"/>
                <a:ea typeface="Calibri" pitchFamily="34" charset="-122"/>
                <a:cs typeface="Calibri" pitchFamily="34" charset="-120"/>
              </a:rPr>
              <a:t>Breast Cancer  |  Frontline HCP  |  Rwanda Biomedical Centre</a:t>
            </a:r>
            <a:endParaRPr lang="en-GB"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en-GB" sz="3000" b="1" noProof="0" dirty="0">
                <a:solidFill>
                  <a:srgbClr val="12315B"/>
                </a:solidFill>
                <a:latin typeface="Calibri" pitchFamily="34" charset="0"/>
                <a:ea typeface="Calibri" pitchFamily="34" charset="-122"/>
                <a:cs typeface="Calibri" pitchFamily="34" charset="-120"/>
              </a:rPr>
              <a:t>Knowledge check (2 of 4)</a:t>
            </a:r>
            <a:endParaRPr lang="en-GB" sz="3000" noProof="0" dirty="0"/>
          </a:p>
        </p:txBody>
      </p:sp>
      <p:sp>
        <p:nvSpPr>
          <p:cNvPr id="5" name="Shape 3"/>
          <p:cNvSpPr/>
          <p:nvPr/>
        </p:nvSpPr>
        <p:spPr>
          <a:xfrm>
            <a:off x="548640" y="1491386"/>
            <a:ext cx="11094415" cy="2335378"/>
          </a:xfrm>
          <a:prstGeom prst="roundRect">
            <a:avLst>
              <a:gd name="adj" fmla="val 2349"/>
            </a:avLst>
          </a:prstGeom>
          <a:solidFill>
            <a:srgbClr val="F4F8FC"/>
          </a:solidFill>
          <a:ln w="12700">
            <a:solidFill>
              <a:srgbClr val="C8D8EC"/>
            </a:solidFill>
            <a:prstDash val="solid"/>
          </a:ln>
        </p:spPr>
        <p:txBody>
          <a:bodyPr/>
          <a:lstStyle/>
          <a:p>
            <a:endParaRPr lang="en-GB" noProof="0" dirty="0"/>
          </a:p>
        </p:txBody>
      </p:sp>
      <p:sp>
        <p:nvSpPr>
          <p:cNvPr id="6" name="Text 4"/>
          <p:cNvSpPr txBox="1"/>
          <p:nvPr/>
        </p:nvSpPr>
        <p:spPr>
          <a:xfrm>
            <a:off x="731520" y="1601114"/>
            <a:ext cx="10728655" cy="384048"/>
          </a:xfrm>
          <a:prstGeom prst="rect">
            <a:avLst/>
          </a:prstGeom>
          <a:noFill/>
          <a:ln/>
        </p:spPr>
        <p:txBody>
          <a:bodyPr wrap="square" lIns="0" tIns="0" rIns="0" bIns="0" rtlCol="0" anchor="t"/>
          <a:lstStyle/>
          <a:p>
            <a:pPr marL="0" indent="0">
              <a:buNone/>
            </a:pPr>
            <a:r>
              <a:rPr lang="en-GB" sz="1800" b="1" noProof="0" dirty="0">
                <a:solidFill>
                  <a:srgbClr val="12315B"/>
                </a:solidFill>
                <a:latin typeface="Calibri" pitchFamily="34" charset="0"/>
                <a:ea typeface="Calibri" pitchFamily="34" charset="-122"/>
                <a:cs typeface="Calibri" pitchFamily="34" charset="-120"/>
              </a:rPr>
              <a:t>Q3. A 35 year old has a smooth, firm, mobile 2 cm lump that she has noticed for two months. You should:</a:t>
            </a:r>
            <a:endParaRPr lang="en-GB" sz="1800" noProof="0" dirty="0"/>
          </a:p>
        </p:txBody>
      </p:sp>
      <p:sp>
        <p:nvSpPr>
          <p:cNvPr id="7" name="Text 5"/>
          <p:cNvSpPr txBox="1"/>
          <p:nvPr/>
        </p:nvSpPr>
        <p:spPr>
          <a:xfrm>
            <a:off x="731520" y="2021738"/>
            <a:ext cx="5250028" cy="813816"/>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A. </a:t>
            </a:r>
            <a:r>
              <a:rPr lang="en-GB" sz="1800" noProof="0" dirty="0">
                <a:solidFill>
                  <a:srgbClr val="1F3A63"/>
                </a:solidFill>
                <a:latin typeface="Calibri" pitchFamily="34" charset="0"/>
                <a:ea typeface="Calibri" pitchFamily="34" charset="-122"/>
                <a:cs typeface="Calibri" pitchFamily="34" charset="-120"/>
              </a:rPr>
              <a:t>Tell her it is a fibroadenoma and take no further action</a:t>
            </a:r>
            <a:endParaRPr lang="en-GB" sz="1800" noProof="0" dirty="0"/>
          </a:p>
        </p:txBody>
      </p:sp>
      <p:sp>
        <p:nvSpPr>
          <p:cNvPr id="8" name="Text 6"/>
          <p:cNvSpPr txBox="1"/>
          <p:nvPr/>
        </p:nvSpPr>
        <p:spPr>
          <a:xfrm>
            <a:off x="6210148" y="2021738"/>
            <a:ext cx="5250028" cy="813816"/>
          </a:xfrm>
          <a:prstGeom prst="rect">
            <a:avLst/>
          </a:prstGeom>
          <a:noFill/>
          <a:ln/>
        </p:spPr>
        <p:txBody>
          <a:bodyPr wrap="square" lIns="0" tIns="0" rIns="0" bIns="0" rtlCol="0" anchor="t"/>
          <a:lstStyle/>
          <a:p>
            <a:pPr marL="0" indent="0">
              <a:lnSpc>
                <a:spcPct val="90000"/>
              </a:lnSpc>
              <a:buNone/>
            </a:pPr>
            <a:r>
              <a:rPr lang="en-GB" sz="1800" b="1" noProof="0" dirty="0">
                <a:solidFill>
                  <a:srgbClr val="1B6E4A"/>
                </a:solidFill>
                <a:latin typeface="Calibri" pitchFamily="34" charset="0"/>
                <a:ea typeface="Calibri" pitchFamily="34" charset="-122"/>
                <a:cs typeface="Calibri" pitchFamily="34" charset="-120"/>
              </a:rPr>
              <a:t>B. Refer her for assessment, since the clinical impression of a benign lump still requires confirmation</a:t>
            </a:r>
            <a:endParaRPr lang="en-GB" sz="1800" noProof="0" dirty="0"/>
          </a:p>
        </p:txBody>
      </p:sp>
      <p:sp>
        <p:nvSpPr>
          <p:cNvPr id="9" name="Text 7"/>
          <p:cNvSpPr txBox="1"/>
          <p:nvPr/>
        </p:nvSpPr>
        <p:spPr>
          <a:xfrm>
            <a:off x="731520" y="2890418"/>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C. </a:t>
            </a:r>
            <a:r>
              <a:rPr lang="en-GB" sz="1800" noProof="0" dirty="0">
                <a:solidFill>
                  <a:srgbClr val="1F3A63"/>
                </a:solidFill>
                <a:latin typeface="Calibri" pitchFamily="34" charset="0"/>
                <a:ea typeface="Calibri" pitchFamily="34" charset="-122"/>
                <a:cs typeface="Calibri" pitchFamily="34" charset="-120"/>
              </a:rPr>
              <a:t>Prescribe antibiotics</a:t>
            </a:r>
            <a:endParaRPr lang="en-GB" sz="1800" noProof="0" dirty="0"/>
          </a:p>
        </p:txBody>
      </p:sp>
      <p:sp>
        <p:nvSpPr>
          <p:cNvPr id="10" name="Text 8"/>
          <p:cNvSpPr txBox="1"/>
          <p:nvPr/>
        </p:nvSpPr>
        <p:spPr>
          <a:xfrm>
            <a:off x="6210148" y="2890418"/>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D. </a:t>
            </a:r>
            <a:r>
              <a:rPr lang="en-GB" sz="1800" noProof="0" dirty="0">
                <a:solidFill>
                  <a:srgbClr val="1F3A63"/>
                </a:solidFill>
                <a:latin typeface="Calibri" pitchFamily="34" charset="0"/>
                <a:ea typeface="Calibri" pitchFamily="34" charset="-122"/>
                <a:cs typeface="Calibri" pitchFamily="34" charset="-120"/>
              </a:rPr>
              <a:t>Advise a mammogram as a screening test</a:t>
            </a:r>
            <a:endParaRPr lang="en-GB" sz="1800" noProof="0" dirty="0"/>
          </a:p>
        </p:txBody>
      </p:sp>
      <p:sp>
        <p:nvSpPr>
          <p:cNvPr id="11" name="Text 9"/>
          <p:cNvSpPr txBox="1"/>
          <p:nvPr/>
        </p:nvSpPr>
        <p:spPr>
          <a:xfrm>
            <a:off x="731520" y="3320186"/>
            <a:ext cx="10728655" cy="433426"/>
          </a:xfrm>
          <a:prstGeom prst="rect">
            <a:avLst/>
          </a:prstGeom>
          <a:noFill/>
          <a:ln/>
        </p:spPr>
        <p:txBody>
          <a:bodyPr wrap="square" lIns="0" tIns="0" rIns="0" bIns="0" rtlCol="0" anchor="t"/>
          <a:lstStyle/>
          <a:p>
            <a:pPr marL="0" indent="0">
              <a:lnSpc>
                <a:spcPct val="92000"/>
              </a:lnSpc>
              <a:buNone/>
            </a:pPr>
            <a:r>
              <a:rPr lang="en-GB" sz="1350" b="1" noProof="0" dirty="0">
                <a:solidFill>
                  <a:srgbClr val="1B6E4A"/>
                </a:solidFill>
                <a:latin typeface="Calibri" pitchFamily="34" charset="0"/>
                <a:ea typeface="Calibri" pitchFamily="34" charset="-122"/>
                <a:cs typeface="Calibri" pitchFamily="34" charset="-120"/>
              </a:rPr>
              <a:t>Correct: B. </a:t>
            </a:r>
            <a:r>
              <a:rPr lang="en-GB" sz="1350" noProof="0" dirty="0">
                <a:solidFill>
                  <a:srgbClr val="0B1F3F"/>
                </a:solidFill>
                <a:latin typeface="Calibri" pitchFamily="34" charset="0"/>
                <a:ea typeface="Calibri" pitchFamily="34" charset="-122"/>
                <a:cs typeface="Calibri" pitchFamily="34" charset="-120"/>
              </a:rPr>
              <a:t>The description fits a fibroadenoma, and clinical impression alone does not confirm it. A new discrete lump is assessed. Most will prove benign, and that is precisely why assessment is safe to offer without alarm.</a:t>
            </a:r>
            <a:endParaRPr lang="en-GB" sz="1350" noProof="0" dirty="0"/>
          </a:p>
        </p:txBody>
      </p:sp>
      <p:sp>
        <p:nvSpPr>
          <p:cNvPr id="12" name="Shape 10"/>
          <p:cNvSpPr/>
          <p:nvPr/>
        </p:nvSpPr>
        <p:spPr>
          <a:xfrm>
            <a:off x="548640" y="4027932"/>
            <a:ext cx="11094415" cy="2088490"/>
          </a:xfrm>
          <a:prstGeom prst="roundRect">
            <a:avLst>
              <a:gd name="adj" fmla="val 2627"/>
            </a:avLst>
          </a:prstGeom>
          <a:solidFill>
            <a:srgbClr val="F4F8FC"/>
          </a:solidFill>
          <a:ln w="12700">
            <a:solidFill>
              <a:srgbClr val="C8D8EC"/>
            </a:solidFill>
            <a:prstDash val="solid"/>
          </a:ln>
        </p:spPr>
        <p:txBody>
          <a:bodyPr/>
          <a:lstStyle/>
          <a:p>
            <a:endParaRPr lang="en-GB" noProof="0" dirty="0"/>
          </a:p>
        </p:txBody>
      </p:sp>
      <p:sp>
        <p:nvSpPr>
          <p:cNvPr id="13" name="Text 11"/>
          <p:cNvSpPr txBox="1"/>
          <p:nvPr/>
        </p:nvSpPr>
        <p:spPr>
          <a:xfrm>
            <a:off x="731520" y="4137660"/>
            <a:ext cx="10728655" cy="384048"/>
          </a:xfrm>
          <a:prstGeom prst="rect">
            <a:avLst/>
          </a:prstGeom>
          <a:noFill/>
          <a:ln/>
        </p:spPr>
        <p:txBody>
          <a:bodyPr wrap="square" lIns="0" tIns="0" rIns="0" bIns="0" rtlCol="0" anchor="t"/>
          <a:lstStyle/>
          <a:p>
            <a:pPr marL="0" indent="0">
              <a:buNone/>
            </a:pPr>
            <a:r>
              <a:rPr lang="en-GB" sz="1800" b="1" noProof="0" dirty="0">
                <a:solidFill>
                  <a:srgbClr val="12315B"/>
                </a:solidFill>
                <a:latin typeface="Calibri" pitchFamily="34" charset="0"/>
                <a:ea typeface="Calibri" pitchFamily="34" charset="-122"/>
                <a:cs typeface="Calibri" pitchFamily="34" charset="-120"/>
              </a:rPr>
              <a:t>Q4. Which statement about breast pain is correct?</a:t>
            </a:r>
            <a:endParaRPr lang="en-GB" sz="1800" noProof="0" dirty="0"/>
          </a:p>
        </p:txBody>
      </p:sp>
      <p:sp>
        <p:nvSpPr>
          <p:cNvPr id="14" name="Text 12"/>
          <p:cNvSpPr txBox="1"/>
          <p:nvPr/>
        </p:nvSpPr>
        <p:spPr>
          <a:xfrm>
            <a:off x="731520" y="4558284"/>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A. </a:t>
            </a:r>
            <a:r>
              <a:rPr lang="en-GB" sz="1800" noProof="0" dirty="0">
                <a:solidFill>
                  <a:srgbClr val="1F3A63"/>
                </a:solidFill>
                <a:latin typeface="Calibri" pitchFamily="34" charset="0"/>
                <a:ea typeface="Calibri" pitchFamily="34" charset="-122"/>
                <a:cs typeface="Calibri" pitchFamily="34" charset="-120"/>
              </a:rPr>
              <a:t>A painful lump is always benign</a:t>
            </a:r>
            <a:endParaRPr lang="en-GB" sz="1800" noProof="0" dirty="0"/>
          </a:p>
        </p:txBody>
      </p:sp>
      <p:sp>
        <p:nvSpPr>
          <p:cNvPr id="15" name="Text 13"/>
          <p:cNvSpPr txBox="1"/>
          <p:nvPr/>
        </p:nvSpPr>
        <p:spPr>
          <a:xfrm>
            <a:off x="6210148" y="4558284"/>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B. </a:t>
            </a:r>
            <a:r>
              <a:rPr lang="en-GB" sz="1800" noProof="0" dirty="0">
                <a:solidFill>
                  <a:srgbClr val="1F3A63"/>
                </a:solidFill>
                <a:latin typeface="Calibri" pitchFamily="34" charset="0"/>
                <a:ea typeface="Calibri" pitchFamily="34" charset="-122"/>
                <a:cs typeface="Calibri" pitchFamily="34" charset="-120"/>
              </a:rPr>
              <a:t>A painless lump can be ignored</a:t>
            </a:r>
            <a:endParaRPr lang="en-GB" sz="1800" noProof="0" dirty="0"/>
          </a:p>
        </p:txBody>
      </p:sp>
      <p:sp>
        <p:nvSpPr>
          <p:cNvPr id="16" name="Text 14"/>
          <p:cNvSpPr txBox="1"/>
          <p:nvPr/>
        </p:nvSpPr>
        <p:spPr>
          <a:xfrm>
            <a:off x="731520" y="4933188"/>
            <a:ext cx="5250028" cy="566928"/>
          </a:xfrm>
          <a:prstGeom prst="rect">
            <a:avLst/>
          </a:prstGeom>
          <a:noFill/>
          <a:ln/>
        </p:spPr>
        <p:txBody>
          <a:bodyPr wrap="square" lIns="0" tIns="0" rIns="0" bIns="0" rtlCol="0" anchor="t"/>
          <a:lstStyle/>
          <a:p>
            <a:pPr marL="0" indent="0">
              <a:lnSpc>
                <a:spcPct val="90000"/>
              </a:lnSpc>
              <a:buNone/>
            </a:pPr>
            <a:r>
              <a:rPr lang="en-GB" sz="1800" b="1" noProof="0" dirty="0">
                <a:solidFill>
                  <a:srgbClr val="1B6E4A"/>
                </a:solidFill>
                <a:latin typeface="Calibri" pitchFamily="34" charset="0"/>
                <a:ea typeface="Calibri" pitchFamily="34" charset="-122"/>
                <a:cs typeface="Calibri" pitchFamily="34" charset="-120"/>
              </a:rPr>
              <a:t>C. Pain characteristics alone neither confirm nor exclude breast cancer</a:t>
            </a:r>
            <a:endParaRPr lang="en-GB" sz="1800" noProof="0" dirty="0"/>
          </a:p>
        </p:txBody>
      </p:sp>
      <p:sp>
        <p:nvSpPr>
          <p:cNvPr id="17" name="Text 15"/>
          <p:cNvSpPr txBox="1"/>
          <p:nvPr/>
        </p:nvSpPr>
        <p:spPr>
          <a:xfrm>
            <a:off x="6210148" y="4933188"/>
            <a:ext cx="5250028" cy="566928"/>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D. </a:t>
            </a:r>
            <a:r>
              <a:rPr lang="en-GB" sz="1800" noProof="0" dirty="0">
                <a:solidFill>
                  <a:srgbClr val="1F3A63"/>
                </a:solidFill>
                <a:latin typeface="Calibri" pitchFamily="34" charset="0"/>
                <a:ea typeface="Calibri" pitchFamily="34" charset="-122"/>
                <a:cs typeface="Calibri" pitchFamily="34" charset="-120"/>
              </a:rPr>
              <a:t>Cancer is the usual cause of cyclical breast pain</a:t>
            </a:r>
            <a:endParaRPr lang="en-GB" sz="1800" noProof="0" dirty="0"/>
          </a:p>
        </p:txBody>
      </p:sp>
      <p:sp>
        <p:nvSpPr>
          <p:cNvPr id="18" name="Text 16"/>
          <p:cNvSpPr txBox="1"/>
          <p:nvPr/>
        </p:nvSpPr>
        <p:spPr>
          <a:xfrm>
            <a:off x="731520" y="5609844"/>
            <a:ext cx="10728655" cy="433426"/>
          </a:xfrm>
          <a:prstGeom prst="rect">
            <a:avLst/>
          </a:prstGeom>
          <a:noFill/>
          <a:ln/>
        </p:spPr>
        <p:txBody>
          <a:bodyPr wrap="square" lIns="0" tIns="0" rIns="0" bIns="0" rtlCol="0" anchor="t"/>
          <a:lstStyle/>
          <a:p>
            <a:pPr marL="0" indent="0">
              <a:lnSpc>
                <a:spcPct val="92000"/>
              </a:lnSpc>
              <a:buNone/>
            </a:pPr>
            <a:r>
              <a:rPr lang="en-GB" sz="1350" b="1" noProof="0" dirty="0">
                <a:solidFill>
                  <a:srgbClr val="1B6E4A"/>
                </a:solidFill>
                <a:latin typeface="Calibri" pitchFamily="34" charset="0"/>
                <a:ea typeface="Calibri" pitchFamily="34" charset="-122"/>
                <a:cs typeface="Calibri" pitchFamily="34" charset="-120"/>
              </a:rPr>
              <a:t>Correct: C. </a:t>
            </a:r>
            <a:r>
              <a:rPr lang="en-GB" sz="1350" noProof="0" dirty="0">
                <a:solidFill>
                  <a:srgbClr val="0B1F3F"/>
                </a:solidFill>
                <a:latin typeface="Calibri" pitchFamily="34" charset="0"/>
                <a:ea typeface="Calibri" pitchFamily="34" charset="-122"/>
                <a:cs typeface="Calibri" pitchFamily="34" charset="-120"/>
              </a:rPr>
              <a:t>Pain is a poor discriminator. Most breast cancers are painless, and pain does not exclude malignancy. Assess the whole clinical picture rather than relying on pain.</a:t>
            </a:r>
            <a:endParaRPr lang="en-GB" sz="1350" noProof="0" dirty="0"/>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name="Slide 6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en-GB" sz="1100" b="1" kern="0" spc="100" noProof="0" dirty="0">
                <a:solidFill>
                  <a:srgbClr val="5B7699"/>
                </a:solidFill>
                <a:latin typeface="Calibri" pitchFamily="34" charset="0"/>
                <a:ea typeface="Calibri" pitchFamily="34" charset="-122"/>
                <a:cs typeface="Calibri" pitchFamily="34" charset="-120"/>
              </a:rPr>
              <a:t>S E S S I O N   2</a:t>
            </a:r>
            <a:endParaRPr lang="en-GB"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en-GB" sz="1000" noProof="0" dirty="0">
                <a:solidFill>
                  <a:srgbClr val="5B7699"/>
                </a:solidFill>
                <a:latin typeface="Calibri" pitchFamily="34" charset="0"/>
                <a:ea typeface="Calibri" pitchFamily="34" charset="-122"/>
                <a:cs typeface="Calibri" pitchFamily="34" charset="-120"/>
              </a:rPr>
              <a:t>Breast Cancer  |  Frontline HCP  |  Rwanda Biomedical Centre</a:t>
            </a:r>
            <a:endParaRPr lang="en-GB"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en-GB" sz="3000" b="1" noProof="0" dirty="0">
                <a:solidFill>
                  <a:srgbClr val="12315B"/>
                </a:solidFill>
                <a:latin typeface="Calibri" pitchFamily="34" charset="0"/>
                <a:ea typeface="Calibri" pitchFamily="34" charset="-122"/>
                <a:cs typeface="Calibri" pitchFamily="34" charset="-120"/>
              </a:rPr>
              <a:t>Knowledge check (3 of 4)</a:t>
            </a:r>
            <a:endParaRPr lang="en-GB" sz="3000" noProof="0" dirty="0"/>
          </a:p>
        </p:txBody>
      </p:sp>
      <p:sp>
        <p:nvSpPr>
          <p:cNvPr id="5" name="Shape 3"/>
          <p:cNvSpPr/>
          <p:nvPr/>
        </p:nvSpPr>
        <p:spPr>
          <a:xfrm>
            <a:off x="548640" y="1244498"/>
            <a:ext cx="11094415" cy="2582266"/>
          </a:xfrm>
          <a:prstGeom prst="roundRect">
            <a:avLst>
              <a:gd name="adj" fmla="val 2125"/>
            </a:avLst>
          </a:prstGeom>
          <a:solidFill>
            <a:srgbClr val="F4F8FC"/>
          </a:solidFill>
          <a:ln w="12700">
            <a:solidFill>
              <a:srgbClr val="C8D8EC"/>
            </a:solidFill>
            <a:prstDash val="solid"/>
          </a:ln>
        </p:spPr>
        <p:txBody>
          <a:bodyPr/>
          <a:lstStyle/>
          <a:p>
            <a:endParaRPr lang="en-GB" noProof="0" dirty="0"/>
          </a:p>
        </p:txBody>
      </p:sp>
      <p:sp>
        <p:nvSpPr>
          <p:cNvPr id="6" name="Text 4"/>
          <p:cNvSpPr txBox="1"/>
          <p:nvPr/>
        </p:nvSpPr>
        <p:spPr>
          <a:xfrm>
            <a:off x="731520" y="1354226"/>
            <a:ext cx="10728655" cy="384048"/>
          </a:xfrm>
          <a:prstGeom prst="rect">
            <a:avLst/>
          </a:prstGeom>
          <a:noFill/>
          <a:ln/>
        </p:spPr>
        <p:txBody>
          <a:bodyPr wrap="square" lIns="0" tIns="0" rIns="0" bIns="0" rtlCol="0" anchor="t"/>
          <a:lstStyle/>
          <a:p>
            <a:pPr marL="0" indent="0">
              <a:buNone/>
            </a:pPr>
            <a:r>
              <a:rPr lang="en-GB" sz="1800" b="1" noProof="0" dirty="0">
                <a:solidFill>
                  <a:srgbClr val="12315B"/>
                </a:solidFill>
                <a:latin typeface="Calibri" pitchFamily="34" charset="0"/>
                <a:ea typeface="Calibri" pitchFamily="34" charset="-122"/>
                <a:cs typeface="Calibri" pitchFamily="34" charset="-120"/>
              </a:rPr>
              <a:t>Q5. A woman says no one in her family has had breast cancer, so she cannot have it. The accurate response is:</a:t>
            </a:r>
            <a:endParaRPr lang="en-GB" sz="1800" noProof="0" dirty="0"/>
          </a:p>
        </p:txBody>
      </p:sp>
      <p:sp>
        <p:nvSpPr>
          <p:cNvPr id="7" name="Text 5"/>
          <p:cNvSpPr txBox="1"/>
          <p:nvPr/>
        </p:nvSpPr>
        <p:spPr>
          <a:xfrm>
            <a:off x="731520" y="1774850"/>
            <a:ext cx="5250028" cy="813816"/>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A. </a:t>
            </a:r>
            <a:r>
              <a:rPr lang="en-GB" sz="1800" noProof="0" dirty="0">
                <a:solidFill>
                  <a:srgbClr val="1F3A63"/>
                </a:solidFill>
                <a:latin typeface="Calibri" pitchFamily="34" charset="0"/>
                <a:ea typeface="Calibri" pitchFamily="34" charset="-122"/>
                <a:cs typeface="Calibri" pitchFamily="34" charset="-120"/>
              </a:rPr>
              <a:t>She is correct and needs no assessment</a:t>
            </a:r>
            <a:endParaRPr lang="en-GB" sz="1800" noProof="0" dirty="0"/>
          </a:p>
        </p:txBody>
      </p:sp>
      <p:sp>
        <p:nvSpPr>
          <p:cNvPr id="8" name="Text 6"/>
          <p:cNvSpPr txBox="1"/>
          <p:nvPr/>
        </p:nvSpPr>
        <p:spPr>
          <a:xfrm>
            <a:off x="6210148" y="1774850"/>
            <a:ext cx="5250028" cy="813816"/>
          </a:xfrm>
          <a:prstGeom prst="rect">
            <a:avLst/>
          </a:prstGeom>
          <a:noFill/>
          <a:ln/>
        </p:spPr>
        <p:txBody>
          <a:bodyPr wrap="square" lIns="0" tIns="0" rIns="0" bIns="0" rtlCol="0" anchor="t"/>
          <a:lstStyle/>
          <a:p>
            <a:pPr marL="0" indent="0">
              <a:lnSpc>
                <a:spcPct val="90000"/>
              </a:lnSpc>
              <a:buNone/>
            </a:pPr>
            <a:r>
              <a:rPr lang="en-GB" sz="1800" b="1" noProof="0" dirty="0">
                <a:solidFill>
                  <a:srgbClr val="1B6E4A"/>
                </a:solidFill>
                <a:latin typeface="Calibri" pitchFamily="34" charset="0"/>
                <a:ea typeface="Calibri" pitchFamily="34" charset="-122"/>
                <a:cs typeface="Calibri" pitchFamily="34" charset="-120"/>
              </a:rPr>
              <a:t>B. Most people who develop breast cancer have no family history, so her change still needs assessment</a:t>
            </a:r>
            <a:endParaRPr lang="en-GB" sz="1800" noProof="0" dirty="0"/>
          </a:p>
        </p:txBody>
      </p:sp>
      <p:sp>
        <p:nvSpPr>
          <p:cNvPr id="9" name="Text 7"/>
          <p:cNvSpPr txBox="1"/>
          <p:nvPr/>
        </p:nvSpPr>
        <p:spPr>
          <a:xfrm>
            <a:off x="731520" y="2643530"/>
            <a:ext cx="5250028" cy="566928"/>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C. </a:t>
            </a:r>
            <a:r>
              <a:rPr lang="en-GB" sz="1800" noProof="0" dirty="0">
                <a:solidFill>
                  <a:srgbClr val="1F3A63"/>
                </a:solidFill>
                <a:latin typeface="Calibri" pitchFamily="34" charset="0"/>
                <a:ea typeface="Calibri" pitchFamily="34" charset="-122"/>
                <a:cs typeface="Calibri" pitchFamily="34" charset="-120"/>
              </a:rPr>
              <a:t>Family history is the only risk factor that matters</a:t>
            </a:r>
            <a:endParaRPr lang="en-GB" sz="1800" noProof="0" dirty="0"/>
          </a:p>
        </p:txBody>
      </p:sp>
      <p:sp>
        <p:nvSpPr>
          <p:cNvPr id="10" name="Text 8"/>
          <p:cNvSpPr txBox="1"/>
          <p:nvPr/>
        </p:nvSpPr>
        <p:spPr>
          <a:xfrm>
            <a:off x="6210148" y="2643530"/>
            <a:ext cx="5250028" cy="566928"/>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D. </a:t>
            </a:r>
            <a:r>
              <a:rPr lang="en-GB" sz="1800" noProof="0" dirty="0">
                <a:solidFill>
                  <a:srgbClr val="1F3A63"/>
                </a:solidFill>
                <a:latin typeface="Calibri" pitchFamily="34" charset="0"/>
                <a:ea typeface="Calibri" pitchFamily="34" charset="-122"/>
                <a:cs typeface="Calibri" pitchFamily="34" charset="-120"/>
              </a:rPr>
              <a:t>She should be screened only if a relative is affected</a:t>
            </a:r>
            <a:endParaRPr lang="en-GB" sz="1800" noProof="0" dirty="0"/>
          </a:p>
        </p:txBody>
      </p:sp>
      <p:sp>
        <p:nvSpPr>
          <p:cNvPr id="11" name="Text 9"/>
          <p:cNvSpPr txBox="1"/>
          <p:nvPr/>
        </p:nvSpPr>
        <p:spPr>
          <a:xfrm>
            <a:off x="731520" y="3320186"/>
            <a:ext cx="10728655" cy="433426"/>
          </a:xfrm>
          <a:prstGeom prst="rect">
            <a:avLst/>
          </a:prstGeom>
          <a:noFill/>
          <a:ln/>
        </p:spPr>
        <p:txBody>
          <a:bodyPr wrap="square" lIns="0" tIns="0" rIns="0" bIns="0" rtlCol="0" anchor="t"/>
          <a:lstStyle/>
          <a:p>
            <a:pPr marL="0" indent="0">
              <a:lnSpc>
                <a:spcPct val="92000"/>
              </a:lnSpc>
              <a:buNone/>
            </a:pPr>
            <a:r>
              <a:rPr lang="en-GB" sz="1350" b="1" noProof="0" dirty="0">
                <a:solidFill>
                  <a:srgbClr val="1B6E4A"/>
                </a:solidFill>
                <a:latin typeface="Calibri" pitchFamily="34" charset="0"/>
                <a:ea typeface="Calibri" pitchFamily="34" charset="-122"/>
                <a:cs typeface="Calibri" pitchFamily="34" charset="-120"/>
              </a:rPr>
              <a:t>Correct: B. </a:t>
            </a:r>
            <a:r>
              <a:rPr lang="en-GB" sz="1350" noProof="0" dirty="0">
                <a:solidFill>
                  <a:srgbClr val="0B1F3F"/>
                </a:solidFill>
                <a:latin typeface="Calibri" pitchFamily="34" charset="0"/>
                <a:ea typeface="Calibri" pitchFamily="34" charset="-122"/>
                <a:cs typeface="Calibri" pitchFamily="34" charset="-120"/>
              </a:rPr>
              <a:t>Family history raises risk, and its absence excludes nothing. The majority of people diagnosed with breast cancer have no strong family history.</a:t>
            </a:r>
            <a:endParaRPr lang="en-GB" sz="1350" noProof="0" dirty="0"/>
          </a:p>
        </p:txBody>
      </p:sp>
      <p:sp>
        <p:nvSpPr>
          <p:cNvPr id="12" name="Shape 10"/>
          <p:cNvSpPr/>
          <p:nvPr/>
        </p:nvSpPr>
        <p:spPr>
          <a:xfrm>
            <a:off x="548640" y="4027932"/>
            <a:ext cx="11094415" cy="2335378"/>
          </a:xfrm>
          <a:prstGeom prst="roundRect">
            <a:avLst>
              <a:gd name="adj" fmla="val 2349"/>
            </a:avLst>
          </a:prstGeom>
          <a:solidFill>
            <a:srgbClr val="F4F8FC"/>
          </a:solidFill>
          <a:ln w="12700">
            <a:solidFill>
              <a:srgbClr val="C8D8EC"/>
            </a:solidFill>
            <a:prstDash val="solid"/>
          </a:ln>
        </p:spPr>
        <p:txBody>
          <a:bodyPr/>
          <a:lstStyle/>
          <a:p>
            <a:endParaRPr lang="en-GB" noProof="0" dirty="0"/>
          </a:p>
        </p:txBody>
      </p:sp>
      <p:sp>
        <p:nvSpPr>
          <p:cNvPr id="13" name="Text 11"/>
          <p:cNvSpPr txBox="1"/>
          <p:nvPr/>
        </p:nvSpPr>
        <p:spPr>
          <a:xfrm>
            <a:off x="731520" y="4137660"/>
            <a:ext cx="10728655" cy="384048"/>
          </a:xfrm>
          <a:prstGeom prst="rect">
            <a:avLst/>
          </a:prstGeom>
          <a:noFill/>
          <a:ln/>
        </p:spPr>
        <p:txBody>
          <a:bodyPr wrap="square" lIns="0" tIns="0" rIns="0" bIns="0" rtlCol="0" anchor="t"/>
          <a:lstStyle/>
          <a:p>
            <a:pPr marL="0" indent="0">
              <a:buNone/>
            </a:pPr>
            <a:r>
              <a:rPr lang="en-GB" sz="1800" b="1" noProof="0" dirty="0">
                <a:solidFill>
                  <a:srgbClr val="12315B"/>
                </a:solidFill>
                <a:latin typeface="Calibri" pitchFamily="34" charset="0"/>
                <a:ea typeface="Calibri" pitchFamily="34" charset="-122"/>
                <a:cs typeface="Calibri" pitchFamily="34" charset="-120"/>
              </a:rPr>
              <a:t>Q6. A breastfeeding woman has a red, painful, swollen breast that has not improved after a full course of appropriate treatment. You should:</a:t>
            </a:r>
            <a:endParaRPr lang="en-GB" sz="1800" noProof="0" dirty="0"/>
          </a:p>
        </p:txBody>
      </p:sp>
      <p:sp>
        <p:nvSpPr>
          <p:cNvPr id="14" name="Text 12"/>
          <p:cNvSpPr txBox="1"/>
          <p:nvPr/>
        </p:nvSpPr>
        <p:spPr>
          <a:xfrm>
            <a:off x="731520" y="4767834"/>
            <a:ext cx="5250028" cy="384048"/>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A. </a:t>
            </a:r>
            <a:r>
              <a:rPr lang="en-GB" sz="1800" noProof="0" dirty="0">
                <a:solidFill>
                  <a:srgbClr val="1F3A63"/>
                </a:solidFill>
                <a:latin typeface="Calibri" pitchFamily="34" charset="0"/>
                <a:ea typeface="Calibri" pitchFamily="34" charset="-122"/>
                <a:cs typeface="Calibri" pitchFamily="34" charset="-120"/>
              </a:rPr>
              <a:t>Repeat the same antibiotic and review in a month</a:t>
            </a:r>
            <a:endParaRPr lang="en-GB" sz="1800" noProof="0" dirty="0"/>
          </a:p>
        </p:txBody>
      </p:sp>
      <p:sp>
        <p:nvSpPr>
          <p:cNvPr id="15" name="Text 13"/>
          <p:cNvSpPr txBox="1"/>
          <p:nvPr/>
        </p:nvSpPr>
        <p:spPr>
          <a:xfrm>
            <a:off x="6210148" y="4558284"/>
            <a:ext cx="5250028" cy="566928"/>
          </a:xfrm>
          <a:prstGeom prst="rect">
            <a:avLst/>
          </a:prstGeom>
          <a:noFill/>
          <a:ln/>
        </p:spPr>
        <p:txBody>
          <a:bodyPr wrap="square" lIns="0" tIns="0" rIns="0" bIns="0" rtlCol="0" anchor="t"/>
          <a:lstStyle/>
          <a:p>
            <a:pPr marL="0" indent="0">
              <a:lnSpc>
                <a:spcPct val="90000"/>
              </a:lnSpc>
              <a:buNone/>
            </a:pPr>
            <a:r>
              <a:rPr lang="en-GB" sz="1800" b="1" noProof="0" dirty="0">
                <a:solidFill>
                  <a:srgbClr val="1B6E4A"/>
                </a:solidFill>
                <a:latin typeface="Calibri" pitchFamily="34" charset="0"/>
                <a:ea typeface="Calibri" pitchFamily="34" charset="-122"/>
                <a:cs typeface="Calibri" pitchFamily="34" charset="-120"/>
              </a:rPr>
              <a:t>B. Reassess and refer, because inflammatory breast cancer can present this way</a:t>
            </a:r>
            <a:endParaRPr lang="en-GB" sz="1800" noProof="0" dirty="0"/>
          </a:p>
        </p:txBody>
      </p:sp>
      <p:sp>
        <p:nvSpPr>
          <p:cNvPr id="16" name="Text 14"/>
          <p:cNvSpPr txBox="1"/>
          <p:nvPr/>
        </p:nvSpPr>
        <p:spPr>
          <a:xfrm>
            <a:off x="731520" y="5180076"/>
            <a:ext cx="5250028" cy="566928"/>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C. </a:t>
            </a:r>
            <a:r>
              <a:rPr lang="en-GB" sz="1800" noProof="0" dirty="0">
                <a:solidFill>
                  <a:srgbClr val="1F3A63"/>
                </a:solidFill>
                <a:latin typeface="Calibri" pitchFamily="34" charset="0"/>
                <a:ea typeface="Calibri" pitchFamily="34" charset="-122"/>
                <a:cs typeface="Calibri" pitchFamily="34" charset="-120"/>
              </a:rPr>
              <a:t>Advise her to stop breastfeeding and take no further action</a:t>
            </a:r>
            <a:endParaRPr lang="en-GB" sz="1800" noProof="0" dirty="0"/>
          </a:p>
        </p:txBody>
      </p:sp>
      <p:sp>
        <p:nvSpPr>
          <p:cNvPr id="17" name="Text 15"/>
          <p:cNvSpPr txBox="1"/>
          <p:nvPr/>
        </p:nvSpPr>
        <p:spPr>
          <a:xfrm>
            <a:off x="6210148" y="5180076"/>
            <a:ext cx="5250028" cy="566928"/>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D. </a:t>
            </a:r>
            <a:r>
              <a:rPr lang="en-GB" sz="1800" noProof="0" dirty="0">
                <a:solidFill>
                  <a:srgbClr val="1F3A63"/>
                </a:solidFill>
                <a:latin typeface="Calibri" pitchFamily="34" charset="0"/>
                <a:ea typeface="Calibri" pitchFamily="34" charset="-122"/>
                <a:cs typeface="Calibri" pitchFamily="34" charset="-120"/>
              </a:rPr>
              <a:t>Reassure her that this cannot be cancer while she is breastfeeding</a:t>
            </a:r>
            <a:endParaRPr lang="en-GB" sz="1800" noProof="0" dirty="0"/>
          </a:p>
        </p:txBody>
      </p:sp>
      <p:sp>
        <p:nvSpPr>
          <p:cNvPr id="18" name="Text 16"/>
          <p:cNvSpPr txBox="1"/>
          <p:nvPr/>
        </p:nvSpPr>
        <p:spPr>
          <a:xfrm>
            <a:off x="731520" y="5856732"/>
            <a:ext cx="10728655" cy="433426"/>
          </a:xfrm>
          <a:prstGeom prst="rect">
            <a:avLst/>
          </a:prstGeom>
          <a:noFill/>
          <a:ln/>
        </p:spPr>
        <p:txBody>
          <a:bodyPr wrap="square" lIns="0" tIns="0" rIns="0" bIns="0" rtlCol="0" anchor="t"/>
          <a:lstStyle/>
          <a:p>
            <a:pPr marL="0" indent="0">
              <a:lnSpc>
                <a:spcPct val="92000"/>
              </a:lnSpc>
              <a:buNone/>
            </a:pPr>
            <a:r>
              <a:rPr lang="en-GB" sz="1350" b="1" noProof="0" dirty="0">
                <a:solidFill>
                  <a:srgbClr val="1B6E4A"/>
                </a:solidFill>
                <a:latin typeface="Calibri" pitchFamily="34" charset="0"/>
                <a:ea typeface="Calibri" pitchFamily="34" charset="-122"/>
                <a:cs typeface="Calibri" pitchFamily="34" charset="-120"/>
              </a:rPr>
              <a:t>Correct: B. </a:t>
            </a:r>
            <a:r>
              <a:rPr lang="en-GB" sz="1350" noProof="0" dirty="0">
                <a:solidFill>
                  <a:srgbClr val="0B1F3F"/>
                </a:solidFill>
                <a:latin typeface="Calibri" pitchFamily="34" charset="0"/>
                <a:ea typeface="Calibri" pitchFamily="34" charset="-122"/>
                <a:cs typeface="Calibri" pitchFamily="34" charset="-120"/>
              </a:rPr>
              <a:t>Mastitis is far more common, and inflammatory changes that do not settle require assessment. Pregnancy and breastfeeding do not exclude breast cancer.</a:t>
            </a:r>
            <a:endParaRPr lang="en-GB" sz="1350" noProof="0" dirty="0"/>
          </a:p>
        </p:txBody>
      </p:sp>
    </p:spTree>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9" name="Text 379"/>
          <p:cNvSpPr txBox="1"/>
          <p:nvPr/>
        </p:nvSpPr>
        <p:spPr>
          <a:xfrm>
            <a:off x="548640" y="274320"/>
            <a:ext cx="11094415" cy="256032"/>
          </a:xfrm>
          <a:prstGeom prst="rect">
            <a:avLst/>
          </a:prstGeom>
          <a:noFill/>
          <a:ln/>
        </p:spPr>
        <p:txBody>
          <a:bodyPr wrap="square" lIns="0" tIns="0" rIns="0" bIns="0" rtlCol="0" anchor="ctr"/>
          <a:lstStyle/>
          <a:p>
            <a:pPr marL="0" indent="0" algn="l">
              <a:lnSpc>
                <a:spcPct val="95000"/>
              </a:lnSpc>
              <a:buNone/>
            </a:pPr>
            <a:r>
              <a:rPr lang="en-GB" sz="1100" b="1" dirty="0">
                <a:solidFill>
                  <a:srgbClr val="5B7699"/>
                </a:solidFill>
                <a:latin typeface="Calibri" pitchFamily="34" charset="0"/>
                <a:ea typeface="Calibri" pitchFamily="34" charset="-122"/>
                <a:cs typeface="Calibri" pitchFamily="34" charset="-120"/>
              </a:rPr>
              <a:t>S E S S I O N   2</a:t>
            </a:r>
            <a:endParaRPr lang="en-GB" sz="1800" dirty="0"/>
          </a:p>
        </p:txBody>
      </p:sp>
      <p:sp>
        <p:nvSpPr>
          <p:cNvPr id="380" name="Text 380"/>
          <p:cNvSpPr txBox="1"/>
          <p:nvPr/>
        </p:nvSpPr>
        <p:spPr>
          <a:xfrm>
            <a:off x="548640" y="566928"/>
            <a:ext cx="11094415" cy="566928"/>
          </a:xfrm>
          <a:prstGeom prst="rect">
            <a:avLst/>
          </a:prstGeom>
          <a:noFill/>
          <a:ln/>
        </p:spPr>
        <p:txBody>
          <a:bodyPr wrap="square" lIns="0" tIns="0" rIns="0" bIns="0" rtlCol="0" anchor="t"/>
          <a:lstStyle/>
          <a:p>
            <a:pPr marL="0" indent="0" algn="l">
              <a:lnSpc>
                <a:spcPct val="95000"/>
              </a:lnSpc>
              <a:buNone/>
            </a:pPr>
            <a:r>
              <a:rPr lang="en-GB" sz="3000" b="1" dirty="0">
                <a:solidFill>
                  <a:srgbClr val="12315B"/>
                </a:solidFill>
                <a:latin typeface="Calibri" pitchFamily="34" charset="0"/>
                <a:ea typeface="Calibri" pitchFamily="34" charset="-122"/>
                <a:cs typeface="Calibri" pitchFamily="34" charset="-120"/>
              </a:rPr>
              <a:t>Knowledge check (4 of 4)</a:t>
            </a:r>
            <a:endParaRPr lang="en-GB" sz="1800" dirty="0"/>
          </a:p>
        </p:txBody>
      </p:sp>
      <p:sp>
        <p:nvSpPr>
          <p:cNvPr id="381" name="Text 381"/>
          <p:cNvSpPr txBox="1"/>
          <p:nvPr/>
        </p:nvSpPr>
        <p:spPr>
          <a:xfrm>
            <a:off x="548640" y="6382512"/>
            <a:ext cx="11094415" cy="274320"/>
          </a:xfrm>
          <a:prstGeom prst="rect">
            <a:avLst/>
          </a:prstGeom>
          <a:noFill/>
          <a:ln/>
        </p:spPr>
        <p:txBody>
          <a:bodyPr wrap="square" lIns="0" tIns="0" rIns="0" bIns="0" rtlCol="0" anchor="ctr"/>
          <a:lstStyle/>
          <a:p>
            <a:pPr marL="0" indent="0" algn="l">
              <a:lnSpc>
                <a:spcPct val="95000"/>
              </a:lnSpc>
              <a:buNone/>
            </a:pPr>
            <a:r>
              <a:rPr lang="en-GB" sz="1000" dirty="0">
                <a:solidFill>
                  <a:srgbClr val="5B7699"/>
                </a:solidFill>
                <a:latin typeface="Calibri" pitchFamily="34" charset="0"/>
                <a:ea typeface="Calibri" pitchFamily="34" charset="-122"/>
                <a:cs typeface="Calibri" pitchFamily="34" charset="-120"/>
              </a:rPr>
              <a:t>Breast Cancer  |  Frontline HCP  |  Rwanda Biomedical Centre</a:t>
            </a:r>
            <a:endParaRPr lang="en-GB" sz="1800" dirty="0"/>
          </a:p>
        </p:txBody>
      </p:sp>
      <p:sp>
        <p:nvSpPr>
          <p:cNvPr id="365" name="Shape 365"/>
          <p:cNvSpPr/>
          <p:nvPr/>
        </p:nvSpPr>
        <p:spPr>
          <a:xfrm>
            <a:off x="548640" y="1180000"/>
            <a:ext cx="11094415" cy="2480000"/>
          </a:xfrm>
          <a:prstGeom prst="roundRect">
            <a:avLst>
              <a:gd name="adj" fmla="val 2500"/>
            </a:avLst>
          </a:prstGeom>
          <a:solidFill>
            <a:srgbClr val="F4F8FC"/>
          </a:solidFill>
          <a:ln w="12700">
            <a:solidFill>
              <a:srgbClr val="C8D8EC"/>
            </a:solidFill>
            <a:prstDash val="solid"/>
          </a:ln>
        </p:spPr>
        <p:txBody>
          <a:bodyPr wrap="square" lIns="91440" tIns="45720" rIns="91440" bIns="45720" rtlCol="0" anchor="ctr"/>
          <a:lstStyle/>
          <a:p>
            <a:endParaRPr lang="en-GB" dirty="0"/>
          </a:p>
        </p:txBody>
      </p:sp>
      <p:sp>
        <p:nvSpPr>
          <p:cNvPr id="366" name="Text 366"/>
          <p:cNvSpPr txBox="1"/>
          <p:nvPr/>
        </p:nvSpPr>
        <p:spPr>
          <a:xfrm>
            <a:off x="731520" y="1280000"/>
            <a:ext cx="10728655" cy="620000"/>
          </a:xfrm>
          <a:prstGeom prst="rect">
            <a:avLst/>
          </a:prstGeom>
          <a:noFill/>
          <a:ln/>
        </p:spPr>
        <p:txBody>
          <a:bodyPr wrap="square" lIns="0" tIns="0" rIns="0" bIns="0" rtlCol="0" anchor="t"/>
          <a:lstStyle/>
          <a:p>
            <a:pPr marL="0" indent="0" algn="l">
              <a:lnSpc>
                <a:spcPct val="95000"/>
              </a:lnSpc>
              <a:buNone/>
            </a:pPr>
            <a:r>
              <a:rPr lang="en-GB" sz="1800" b="1" dirty="0">
                <a:solidFill>
                  <a:srgbClr val="12315B"/>
                </a:solidFill>
                <a:latin typeface="Calibri" pitchFamily="34" charset="0"/>
                <a:ea typeface="Calibri" pitchFamily="34" charset="-122"/>
                <a:cs typeface="Calibri" pitchFamily="34" charset="-120"/>
              </a:rPr>
              <a:t>Q7. Which palpation technique is most reliable?</a:t>
            </a:r>
            <a:endParaRPr lang="en-GB" sz="1800" dirty="0"/>
          </a:p>
        </p:txBody>
      </p:sp>
      <p:sp>
        <p:nvSpPr>
          <p:cNvPr id="367" name="Text 367"/>
          <p:cNvSpPr txBox="1"/>
          <p:nvPr/>
        </p:nvSpPr>
        <p:spPr>
          <a:xfrm>
            <a:off x="731520" y="1940000"/>
            <a:ext cx="5284327" cy="540000"/>
          </a:xfrm>
          <a:prstGeom prst="rect">
            <a:avLst/>
          </a:prstGeom>
          <a:noFill/>
          <a:ln/>
        </p:spPr>
        <p:txBody>
          <a:bodyPr wrap="square" lIns="0" tIns="0" rIns="0" bIns="0" rtlCol="0" anchor="ctr"/>
          <a:lstStyle/>
          <a:p>
            <a:pPr marL="0" indent="0" algn="l">
              <a:lnSpc>
                <a:spcPct val="95000"/>
              </a:lnSpc>
              <a:buNone/>
            </a:pPr>
            <a:r>
              <a:rPr lang="en-GB" sz="1800" dirty="0">
                <a:solidFill>
                  <a:srgbClr val="1F3A63"/>
                </a:solidFill>
                <a:latin typeface="Calibri" pitchFamily="34" charset="0"/>
                <a:ea typeface="Calibri" pitchFamily="34" charset="-122"/>
                <a:cs typeface="Calibri" pitchFamily="34" charset="-120"/>
              </a:rPr>
              <a:t>A. Fingertips, pressing once in each quadrant</a:t>
            </a:r>
            <a:endParaRPr lang="en-GB" sz="1800" dirty="0"/>
          </a:p>
        </p:txBody>
      </p:sp>
      <p:sp>
        <p:nvSpPr>
          <p:cNvPr id="368" name="Text 368"/>
          <p:cNvSpPr txBox="1"/>
          <p:nvPr/>
        </p:nvSpPr>
        <p:spPr>
          <a:xfrm>
            <a:off x="6095847" y="1940000"/>
            <a:ext cx="5284327" cy="540000"/>
          </a:xfrm>
          <a:prstGeom prst="rect">
            <a:avLst/>
          </a:prstGeom>
          <a:noFill/>
          <a:ln/>
        </p:spPr>
        <p:txBody>
          <a:bodyPr wrap="square" lIns="0" tIns="0" rIns="0" bIns="0" rtlCol="0" anchor="ctr"/>
          <a:lstStyle/>
          <a:p>
            <a:pPr marL="0" indent="0" algn="l">
              <a:lnSpc>
                <a:spcPct val="95000"/>
              </a:lnSpc>
              <a:buNone/>
            </a:pPr>
            <a:r>
              <a:rPr lang="en-GB" sz="1800" b="1" dirty="0">
                <a:solidFill>
                  <a:srgbClr val="1B6E4A"/>
                </a:solidFill>
                <a:latin typeface="Calibri" pitchFamily="34" charset="0"/>
                <a:ea typeface="Calibri" pitchFamily="34" charset="-122"/>
                <a:cs typeface="Calibri" pitchFamily="34" charset="-120"/>
              </a:rPr>
              <a:t>B. Pads of three fingers, small circles at three pressures, in vertical strips</a:t>
            </a:r>
            <a:endParaRPr lang="en-GB" sz="1800" dirty="0"/>
          </a:p>
        </p:txBody>
      </p:sp>
      <p:sp>
        <p:nvSpPr>
          <p:cNvPr id="369" name="Text 369"/>
          <p:cNvSpPr txBox="1"/>
          <p:nvPr/>
        </p:nvSpPr>
        <p:spPr>
          <a:xfrm>
            <a:off x="731520" y="2500000"/>
            <a:ext cx="5284327" cy="540000"/>
          </a:xfrm>
          <a:prstGeom prst="rect">
            <a:avLst/>
          </a:prstGeom>
          <a:noFill/>
          <a:ln/>
        </p:spPr>
        <p:txBody>
          <a:bodyPr wrap="square" lIns="0" tIns="0" rIns="0" bIns="0" rtlCol="0" anchor="ctr"/>
          <a:lstStyle/>
          <a:p>
            <a:pPr marL="0" indent="0" algn="l">
              <a:lnSpc>
                <a:spcPct val="95000"/>
              </a:lnSpc>
              <a:buNone/>
            </a:pPr>
            <a:r>
              <a:rPr lang="en-GB" sz="1800" dirty="0">
                <a:solidFill>
                  <a:srgbClr val="1F3A63"/>
                </a:solidFill>
                <a:latin typeface="Calibri" pitchFamily="34" charset="0"/>
                <a:ea typeface="Calibri" pitchFamily="34" charset="-122"/>
                <a:cs typeface="Calibri" pitchFamily="34" charset="-120"/>
              </a:rPr>
              <a:t>C. Only where the person reports a lump</a:t>
            </a:r>
            <a:endParaRPr lang="en-GB" sz="1800" dirty="0"/>
          </a:p>
        </p:txBody>
      </p:sp>
      <p:sp>
        <p:nvSpPr>
          <p:cNvPr id="370" name="Text 370"/>
          <p:cNvSpPr txBox="1"/>
          <p:nvPr/>
        </p:nvSpPr>
        <p:spPr>
          <a:xfrm>
            <a:off x="6095847" y="2500000"/>
            <a:ext cx="5284327" cy="540000"/>
          </a:xfrm>
          <a:prstGeom prst="rect">
            <a:avLst/>
          </a:prstGeom>
          <a:noFill/>
          <a:ln/>
        </p:spPr>
        <p:txBody>
          <a:bodyPr wrap="square" lIns="0" tIns="0" rIns="0" bIns="0" rtlCol="0" anchor="ctr"/>
          <a:lstStyle/>
          <a:p>
            <a:pPr marL="0" indent="0" algn="l">
              <a:lnSpc>
                <a:spcPct val="95000"/>
              </a:lnSpc>
              <a:buNone/>
            </a:pPr>
            <a:r>
              <a:rPr lang="en-GB" sz="1800" dirty="0">
                <a:solidFill>
                  <a:srgbClr val="1F3A63"/>
                </a:solidFill>
                <a:latin typeface="Calibri" pitchFamily="34" charset="0"/>
                <a:ea typeface="Calibri" pitchFamily="34" charset="-122"/>
                <a:cs typeface="Calibri" pitchFamily="34" charset="-120"/>
              </a:rPr>
              <a:t>D. Squeezing tissue between thumb and fingers</a:t>
            </a:r>
            <a:endParaRPr lang="en-GB" sz="1800" dirty="0"/>
          </a:p>
        </p:txBody>
      </p:sp>
      <p:sp>
        <p:nvSpPr>
          <p:cNvPr id="371" name="Text 371"/>
          <p:cNvSpPr txBox="1"/>
          <p:nvPr/>
        </p:nvSpPr>
        <p:spPr>
          <a:xfrm>
            <a:off x="731520" y="3080000"/>
            <a:ext cx="10728655" cy="530000"/>
          </a:xfrm>
          <a:prstGeom prst="rect">
            <a:avLst/>
          </a:prstGeom>
          <a:noFill/>
          <a:ln/>
        </p:spPr>
        <p:txBody>
          <a:bodyPr wrap="square" lIns="0" tIns="0" rIns="0" bIns="0" rtlCol="0" anchor="t"/>
          <a:lstStyle/>
          <a:p>
            <a:pPr marL="0" indent="0" algn="l">
              <a:lnSpc>
                <a:spcPct val="95000"/>
              </a:lnSpc>
              <a:buNone/>
            </a:pPr>
            <a:r>
              <a:rPr lang="en-GB" sz="1600" b="1" dirty="0">
                <a:solidFill>
                  <a:srgbClr val="1B6E4A"/>
                </a:solidFill>
                <a:latin typeface="Calibri" pitchFamily="34" charset="0"/>
                <a:ea typeface="Calibri" pitchFamily="34" charset="-122"/>
                <a:cs typeface="Calibri" pitchFamily="34" charset="-120"/>
              </a:rPr>
              <a:t>Correct: B. </a:t>
            </a:r>
            <a:r>
              <a:rPr lang="en-GB" sz="1600" dirty="0">
                <a:solidFill>
                  <a:srgbClr val="0B1F3F"/>
                </a:solidFill>
                <a:latin typeface="Calibri" pitchFamily="34" charset="0"/>
                <a:ea typeface="Calibri" pitchFamily="34" charset="-122"/>
                <a:cs typeface="Calibri" pitchFamily="34" charset="-120"/>
              </a:rPr>
              <a:t>A fixed pattern at three depths covers the whole breast, including the axillary tail, so nothing is missed. Grasping tissue can make normal tissue feel like a lump.</a:t>
            </a:r>
            <a:endParaRPr lang="en-GB" sz="1600" dirty="0"/>
          </a:p>
        </p:txBody>
      </p:sp>
      <p:sp>
        <p:nvSpPr>
          <p:cNvPr id="372" name="Shape 372"/>
          <p:cNvSpPr/>
          <p:nvPr/>
        </p:nvSpPr>
        <p:spPr>
          <a:xfrm>
            <a:off x="548640" y="3780000"/>
            <a:ext cx="11094415" cy="2480000"/>
          </a:xfrm>
          <a:prstGeom prst="roundRect">
            <a:avLst>
              <a:gd name="adj" fmla="val 2500"/>
            </a:avLst>
          </a:prstGeom>
          <a:solidFill>
            <a:srgbClr val="F4F8FC"/>
          </a:solidFill>
          <a:ln w="12700">
            <a:solidFill>
              <a:srgbClr val="C8D8EC"/>
            </a:solidFill>
            <a:prstDash val="solid"/>
          </a:ln>
        </p:spPr>
        <p:txBody>
          <a:bodyPr wrap="square" lIns="91440" tIns="45720" rIns="91440" bIns="45720" rtlCol="0" anchor="ctr"/>
          <a:lstStyle/>
          <a:p>
            <a:endParaRPr lang="en-GB" dirty="0"/>
          </a:p>
        </p:txBody>
      </p:sp>
      <p:sp>
        <p:nvSpPr>
          <p:cNvPr id="373" name="Text 373"/>
          <p:cNvSpPr txBox="1"/>
          <p:nvPr/>
        </p:nvSpPr>
        <p:spPr>
          <a:xfrm>
            <a:off x="731520" y="3880000"/>
            <a:ext cx="10728655" cy="620000"/>
          </a:xfrm>
          <a:prstGeom prst="rect">
            <a:avLst/>
          </a:prstGeom>
          <a:noFill/>
          <a:ln/>
        </p:spPr>
        <p:txBody>
          <a:bodyPr wrap="square" lIns="0" tIns="0" rIns="0" bIns="0" rtlCol="0" anchor="t"/>
          <a:lstStyle/>
          <a:p>
            <a:pPr marL="0" indent="0" algn="l">
              <a:lnSpc>
                <a:spcPct val="95000"/>
              </a:lnSpc>
              <a:buNone/>
            </a:pPr>
            <a:r>
              <a:rPr lang="en-GB" sz="1800" b="1" dirty="0">
                <a:solidFill>
                  <a:srgbClr val="12315B"/>
                </a:solidFill>
                <a:latin typeface="Calibri" pitchFamily="34" charset="0"/>
                <a:ea typeface="Calibri" pitchFamily="34" charset="-122"/>
                <a:cs typeface="Calibri" pitchFamily="34" charset="-120"/>
              </a:rPr>
              <a:t>Q8. A woman of 32 with no breast symptoms asks which breast check she needs. You advise:</a:t>
            </a:r>
            <a:endParaRPr lang="en-GB" sz="1800" dirty="0"/>
          </a:p>
        </p:txBody>
      </p:sp>
      <p:sp>
        <p:nvSpPr>
          <p:cNvPr id="374" name="Text 374"/>
          <p:cNvSpPr txBox="1"/>
          <p:nvPr/>
        </p:nvSpPr>
        <p:spPr>
          <a:xfrm>
            <a:off x="731520" y="4540000"/>
            <a:ext cx="5284327" cy="540000"/>
          </a:xfrm>
          <a:prstGeom prst="rect">
            <a:avLst/>
          </a:prstGeom>
          <a:noFill/>
          <a:ln/>
        </p:spPr>
        <p:txBody>
          <a:bodyPr wrap="square" lIns="0" tIns="0" rIns="0" bIns="0" rtlCol="0" anchor="ctr"/>
          <a:lstStyle/>
          <a:p>
            <a:pPr marL="0" indent="0" algn="l">
              <a:lnSpc>
                <a:spcPct val="95000"/>
              </a:lnSpc>
              <a:buNone/>
            </a:pPr>
            <a:r>
              <a:rPr lang="en-GB" sz="1800" dirty="0">
                <a:solidFill>
                  <a:srgbClr val="1F3A63"/>
                </a:solidFill>
                <a:latin typeface="Calibri" pitchFamily="34" charset="0"/>
                <a:ea typeface="Calibri" pitchFamily="34" charset="-122"/>
                <a:cs typeface="Calibri" pitchFamily="34" charset="-120"/>
              </a:rPr>
              <a:t>A. Mammography every year from now</a:t>
            </a:r>
            <a:endParaRPr lang="en-GB" sz="1800" dirty="0"/>
          </a:p>
        </p:txBody>
      </p:sp>
      <p:sp>
        <p:nvSpPr>
          <p:cNvPr id="375" name="Text 375"/>
          <p:cNvSpPr txBox="1"/>
          <p:nvPr/>
        </p:nvSpPr>
        <p:spPr>
          <a:xfrm>
            <a:off x="6095847" y="4540000"/>
            <a:ext cx="5284327" cy="540000"/>
          </a:xfrm>
          <a:prstGeom prst="rect">
            <a:avLst/>
          </a:prstGeom>
          <a:noFill/>
          <a:ln/>
        </p:spPr>
        <p:txBody>
          <a:bodyPr wrap="square" lIns="0" tIns="0" rIns="0" bIns="0" rtlCol="0" anchor="ctr"/>
          <a:lstStyle/>
          <a:p>
            <a:pPr marL="0" indent="0" algn="l">
              <a:lnSpc>
                <a:spcPct val="95000"/>
              </a:lnSpc>
              <a:buNone/>
            </a:pPr>
            <a:r>
              <a:rPr lang="en-GB" sz="1800" b="1" dirty="0">
                <a:solidFill>
                  <a:srgbClr val="1B6E4A"/>
                </a:solidFill>
                <a:latin typeface="Calibri" pitchFamily="34" charset="0"/>
                <a:ea typeface="Calibri" pitchFamily="34" charset="-122"/>
                <a:cs typeface="Calibri" pitchFamily="34" charset="-120"/>
              </a:rPr>
              <a:t>B. Annual clinical breast examination at the health facility</a:t>
            </a:r>
            <a:endParaRPr lang="en-GB" sz="1800" dirty="0"/>
          </a:p>
        </p:txBody>
      </p:sp>
      <p:sp>
        <p:nvSpPr>
          <p:cNvPr id="376" name="Text 376"/>
          <p:cNvSpPr txBox="1"/>
          <p:nvPr/>
        </p:nvSpPr>
        <p:spPr>
          <a:xfrm>
            <a:off x="731520" y="5100000"/>
            <a:ext cx="5284327" cy="540000"/>
          </a:xfrm>
          <a:prstGeom prst="rect">
            <a:avLst/>
          </a:prstGeom>
          <a:noFill/>
          <a:ln/>
        </p:spPr>
        <p:txBody>
          <a:bodyPr wrap="square" lIns="0" tIns="0" rIns="0" bIns="0" rtlCol="0" anchor="ctr"/>
          <a:lstStyle/>
          <a:p>
            <a:pPr marL="0" indent="0" algn="l">
              <a:lnSpc>
                <a:spcPct val="95000"/>
              </a:lnSpc>
              <a:buNone/>
            </a:pPr>
            <a:r>
              <a:rPr lang="en-GB" sz="1800" dirty="0">
                <a:solidFill>
                  <a:srgbClr val="1F3A63"/>
                </a:solidFill>
                <a:latin typeface="Calibri" pitchFamily="34" charset="0"/>
                <a:ea typeface="Calibri" pitchFamily="34" charset="-122"/>
                <a:cs typeface="Calibri" pitchFamily="34" charset="-120"/>
              </a:rPr>
              <a:t>C. No check until age 50</a:t>
            </a:r>
            <a:endParaRPr lang="en-GB" sz="1800" dirty="0"/>
          </a:p>
        </p:txBody>
      </p:sp>
      <p:sp>
        <p:nvSpPr>
          <p:cNvPr id="377" name="Text 377"/>
          <p:cNvSpPr txBox="1"/>
          <p:nvPr/>
        </p:nvSpPr>
        <p:spPr>
          <a:xfrm>
            <a:off x="6095847" y="5100000"/>
            <a:ext cx="5284327" cy="540000"/>
          </a:xfrm>
          <a:prstGeom prst="rect">
            <a:avLst/>
          </a:prstGeom>
          <a:noFill/>
          <a:ln/>
        </p:spPr>
        <p:txBody>
          <a:bodyPr wrap="square" lIns="0" tIns="0" rIns="0" bIns="0" rtlCol="0" anchor="ctr"/>
          <a:lstStyle/>
          <a:p>
            <a:pPr marL="0" indent="0" algn="l">
              <a:lnSpc>
                <a:spcPct val="95000"/>
              </a:lnSpc>
              <a:buNone/>
            </a:pPr>
            <a:r>
              <a:rPr lang="en-GB" sz="1800" dirty="0">
                <a:solidFill>
                  <a:srgbClr val="1F3A63"/>
                </a:solidFill>
                <a:latin typeface="Calibri" pitchFamily="34" charset="0"/>
                <a:ea typeface="Calibri" pitchFamily="34" charset="-122"/>
                <a:cs typeface="Calibri" pitchFamily="34" charset="-120"/>
              </a:rPr>
              <a:t>D. Self-examination only, with no clinical check</a:t>
            </a:r>
            <a:endParaRPr lang="en-GB" sz="1800" dirty="0"/>
          </a:p>
        </p:txBody>
      </p:sp>
      <p:sp>
        <p:nvSpPr>
          <p:cNvPr id="378" name="Text 378"/>
          <p:cNvSpPr txBox="1"/>
          <p:nvPr/>
        </p:nvSpPr>
        <p:spPr>
          <a:xfrm>
            <a:off x="731520" y="5680000"/>
            <a:ext cx="10728655" cy="530000"/>
          </a:xfrm>
          <a:prstGeom prst="rect">
            <a:avLst/>
          </a:prstGeom>
          <a:noFill/>
          <a:ln/>
        </p:spPr>
        <p:txBody>
          <a:bodyPr wrap="square" lIns="0" tIns="0" rIns="0" bIns="0" rtlCol="0" anchor="t"/>
          <a:lstStyle/>
          <a:p>
            <a:pPr marL="0" indent="0" algn="l">
              <a:lnSpc>
                <a:spcPct val="95000"/>
              </a:lnSpc>
              <a:buNone/>
            </a:pPr>
            <a:r>
              <a:rPr lang="en-GB" sz="1600" b="1" dirty="0">
                <a:solidFill>
                  <a:srgbClr val="1B6E4A"/>
                </a:solidFill>
                <a:latin typeface="Calibri" pitchFamily="34" charset="0"/>
                <a:ea typeface="Calibri" pitchFamily="34" charset="-122"/>
                <a:cs typeface="Calibri" pitchFamily="34" charset="-120"/>
              </a:rPr>
              <a:t>Correct: B. </a:t>
            </a:r>
            <a:r>
              <a:rPr lang="en-GB" sz="1600" dirty="0">
                <a:solidFill>
                  <a:srgbClr val="0B1F3F"/>
                </a:solidFill>
                <a:latin typeface="Calibri" pitchFamily="34" charset="0"/>
                <a:ea typeface="Calibri" pitchFamily="34" charset="-122"/>
                <a:cs typeface="Calibri" pitchFamily="34" charset="-120"/>
              </a:rPr>
              <a:t>In Rwanda, annual clinical breast examination starts at age 30, and mammography is added from age 40 where available. A new breast change at any age is assessed straight away.</a:t>
            </a:r>
            <a:endParaRPr lang="en-GB" sz="1600" dirty="0"/>
          </a:p>
        </p:txBody>
      </p:sp>
    </p:spTree>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name="Slide 6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en-GB" sz="1100" b="1" kern="0" spc="100" noProof="0" dirty="0">
                <a:solidFill>
                  <a:srgbClr val="5B7699"/>
                </a:solidFill>
                <a:latin typeface="Calibri" pitchFamily="34" charset="0"/>
                <a:ea typeface="Calibri" pitchFamily="34" charset="-122"/>
                <a:cs typeface="Calibri" pitchFamily="34" charset="-120"/>
              </a:rPr>
              <a:t>S E S S I O N   2</a:t>
            </a:r>
            <a:endParaRPr lang="en-GB"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en-GB" sz="1000" noProof="0" dirty="0">
                <a:solidFill>
                  <a:srgbClr val="5B7699"/>
                </a:solidFill>
                <a:latin typeface="Calibri" pitchFamily="34" charset="0"/>
                <a:ea typeface="Calibri" pitchFamily="34" charset="-122"/>
                <a:cs typeface="Calibri" pitchFamily="34" charset="-120"/>
              </a:rPr>
              <a:t>Breast Cancer  |  Frontline HCP  |  Rwanda Biomedical Centre</a:t>
            </a:r>
            <a:endParaRPr lang="en-GB"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en-GB" sz="3000" b="1" noProof="0" dirty="0">
                <a:solidFill>
                  <a:srgbClr val="12315B"/>
                </a:solidFill>
                <a:latin typeface="Calibri" pitchFamily="34" charset="0"/>
                <a:ea typeface="Calibri" pitchFamily="34" charset="-122"/>
                <a:cs typeface="Calibri" pitchFamily="34" charset="-120"/>
              </a:rPr>
              <a:t>Session reflection</a:t>
            </a:r>
            <a:endParaRPr lang="en-GB" sz="3000" noProof="0" dirty="0"/>
          </a:p>
        </p:txBody>
      </p:sp>
      <p:sp>
        <p:nvSpPr>
          <p:cNvPr id="5" name="Text 3"/>
          <p:cNvSpPr txBox="1"/>
          <p:nvPr/>
        </p:nvSpPr>
        <p:spPr>
          <a:xfrm>
            <a:off x="548640" y="1234440"/>
            <a:ext cx="11094415" cy="411480"/>
          </a:xfrm>
          <a:prstGeom prst="rect">
            <a:avLst/>
          </a:prstGeom>
          <a:noFill/>
          <a:ln/>
        </p:spPr>
        <p:txBody>
          <a:bodyPr wrap="square" lIns="0" tIns="0" rIns="0" bIns="0" rtlCol="0" anchor="ctr"/>
          <a:lstStyle/>
          <a:p>
            <a:pPr marL="0" indent="0">
              <a:lnSpc>
                <a:spcPct val="95000"/>
              </a:lnSpc>
              <a:buNone/>
            </a:pPr>
            <a:r>
              <a:rPr lang="en-GB" sz="1500" i="1" noProof="0" dirty="0">
                <a:solidFill>
                  <a:srgbClr val="5B7699"/>
                </a:solidFill>
                <a:latin typeface="Calibri" pitchFamily="34" charset="0"/>
                <a:ea typeface="Calibri" pitchFamily="34" charset="-122"/>
                <a:cs typeface="Calibri" pitchFamily="34" charset="-120"/>
              </a:rPr>
              <a:t>Enter your response in the text box. There is no single correct answer. These prompts are not scored, and are for your own practice and for discussion.</a:t>
            </a:r>
            <a:endParaRPr lang="en-GB" sz="1500" noProof="0" dirty="0"/>
          </a:p>
        </p:txBody>
      </p:sp>
      <p:sp>
        <p:nvSpPr>
          <p:cNvPr id="6" name="Shape 4"/>
          <p:cNvSpPr/>
          <p:nvPr/>
        </p:nvSpPr>
        <p:spPr>
          <a:xfrm>
            <a:off x="548640" y="1828800"/>
            <a:ext cx="11094415" cy="1188720"/>
          </a:xfrm>
          <a:prstGeom prst="roundRect">
            <a:avLst>
              <a:gd name="adj" fmla="val 4615"/>
            </a:avLst>
          </a:prstGeom>
          <a:solidFill>
            <a:srgbClr val="F4F8FC"/>
          </a:solidFill>
          <a:ln w="12700">
            <a:solidFill>
              <a:srgbClr val="C8D8EC"/>
            </a:solidFill>
            <a:prstDash val="solid"/>
          </a:ln>
        </p:spPr>
        <p:txBody>
          <a:bodyPr/>
          <a:lstStyle/>
          <a:p>
            <a:endParaRPr lang="en-GB" noProof="0" dirty="0"/>
          </a:p>
        </p:txBody>
      </p:sp>
      <p:sp>
        <p:nvSpPr>
          <p:cNvPr id="7" name="Shape 5"/>
          <p:cNvSpPr/>
          <p:nvPr/>
        </p:nvSpPr>
        <p:spPr>
          <a:xfrm>
            <a:off x="777240" y="2203704"/>
            <a:ext cx="438912" cy="438912"/>
          </a:xfrm>
          <a:prstGeom prst="ellipse">
            <a:avLst/>
          </a:prstGeom>
          <a:solidFill>
            <a:srgbClr val="12315B"/>
          </a:solidFill>
          <a:ln/>
        </p:spPr>
        <p:txBody>
          <a:bodyPr/>
          <a:lstStyle/>
          <a:p>
            <a:endParaRPr lang="en-GB" noProof="0" dirty="0"/>
          </a:p>
        </p:txBody>
      </p:sp>
      <p:sp>
        <p:nvSpPr>
          <p:cNvPr id="8" name="Text 6"/>
          <p:cNvSpPr txBox="1"/>
          <p:nvPr/>
        </p:nvSpPr>
        <p:spPr>
          <a:xfrm>
            <a:off x="777240" y="2203704"/>
            <a:ext cx="438912" cy="438912"/>
          </a:xfrm>
          <a:prstGeom prst="rect">
            <a:avLst/>
          </a:prstGeom>
          <a:noFill/>
          <a:ln/>
        </p:spPr>
        <p:txBody>
          <a:bodyPr wrap="square" lIns="0" tIns="0" rIns="0" bIns="0" rtlCol="0" anchor="ctr"/>
          <a:lstStyle/>
          <a:p>
            <a:pPr marL="0" indent="0" algn="ctr">
              <a:buNone/>
            </a:pPr>
            <a:r>
              <a:rPr lang="en-GB" sz="1800" b="1" noProof="0" dirty="0">
                <a:solidFill>
                  <a:srgbClr val="FFFFFF"/>
                </a:solidFill>
                <a:latin typeface="Calibri" pitchFamily="34" charset="0"/>
                <a:ea typeface="Calibri" pitchFamily="34" charset="-122"/>
                <a:cs typeface="Calibri" pitchFamily="34" charset="-120"/>
              </a:rPr>
              <a:t>1</a:t>
            </a:r>
            <a:endParaRPr lang="en-GB" sz="1800" noProof="0" dirty="0"/>
          </a:p>
        </p:txBody>
      </p:sp>
      <p:sp>
        <p:nvSpPr>
          <p:cNvPr id="9" name="Text 7"/>
          <p:cNvSpPr txBox="1"/>
          <p:nvPr/>
        </p:nvSpPr>
        <p:spPr>
          <a:xfrm>
            <a:off x="1417320" y="1938528"/>
            <a:ext cx="9997135" cy="969264"/>
          </a:xfrm>
          <a:prstGeom prst="rect">
            <a:avLst/>
          </a:prstGeom>
          <a:noFill/>
          <a:ln/>
        </p:spPr>
        <p:txBody>
          <a:bodyPr wrap="square" lIns="0" tIns="0" rIns="0" bIns="0" rtlCol="0" anchor="ctr"/>
          <a:lstStyle/>
          <a:p>
            <a:pPr marL="0" indent="0">
              <a:lnSpc>
                <a:spcPct val="95000"/>
              </a:lnSpc>
              <a:buNone/>
            </a:pPr>
            <a:r>
              <a:rPr lang="en-GB" sz="1800" noProof="0" dirty="0">
                <a:solidFill>
                  <a:srgbClr val="0B1F3F"/>
                </a:solidFill>
                <a:latin typeface="Calibri" pitchFamily="34" charset="0"/>
                <a:ea typeface="Calibri" pitchFamily="34" charset="-122"/>
                <a:cs typeface="Calibri" pitchFamily="34" charset="-120"/>
              </a:rPr>
              <a:t>How would you explain an abnormal mammogram to a patient without telling her that she has cancer, and without dismissing the result?</a:t>
            </a:r>
            <a:endParaRPr lang="en-GB" sz="1800" noProof="0" dirty="0"/>
          </a:p>
        </p:txBody>
      </p:sp>
      <p:sp>
        <p:nvSpPr>
          <p:cNvPr id="10" name="Shape 8"/>
          <p:cNvSpPr/>
          <p:nvPr/>
        </p:nvSpPr>
        <p:spPr>
          <a:xfrm>
            <a:off x="548640" y="3218688"/>
            <a:ext cx="11094415" cy="1188720"/>
          </a:xfrm>
          <a:prstGeom prst="roundRect">
            <a:avLst>
              <a:gd name="adj" fmla="val 4615"/>
            </a:avLst>
          </a:prstGeom>
          <a:solidFill>
            <a:srgbClr val="F4F8FC"/>
          </a:solidFill>
          <a:ln w="12700">
            <a:solidFill>
              <a:srgbClr val="C8D8EC"/>
            </a:solidFill>
            <a:prstDash val="solid"/>
          </a:ln>
        </p:spPr>
        <p:txBody>
          <a:bodyPr/>
          <a:lstStyle/>
          <a:p>
            <a:endParaRPr lang="en-GB" noProof="0" dirty="0"/>
          </a:p>
        </p:txBody>
      </p:sp>
      <p:sp>
        <p:nvSpPr>
          <p:cNvPr id="11" name="Shape 9"/>
          <p:cNvSpPr/>
          <p:nvPr/>
        </p:nvSpPr>
        <p:spPr>
          <a:xfrm>
            <a:off x="777240" y="3593592"/>
            <a:ext cx="438912" cy="438912"/>
          </a:xfrm>
          <a:prstGeom prst="ellipse">
            <a:avLst/>
          </a:prstGeom>
          <a:solidFill>
            <a:srgbClr val="12315B"/>
          </a:solidFill>
          <a:ln/>
        </p:spPr>
        <p:txBody>
          <a:bodyPr/>
          <a:lstStyle/>
          <a:p>
            <a:endParaRPr lang="en-GB" noProof="0" dirty="0"/>
          </a:p>
        </p:txBody>
      </p:sp>
      <p:sp>
        <p:nvSpPr>
          <p:cNvPr id="12" name="Text 10"/>
          <p:cNvSpPr txBox="1"/>
          <p:nvPr/>
        </p:nvSpPr>
        <p:spPr>
          <a:xfrm>
            <a:off x="777240" y="3593592"/>
            <a:ext cx="438912" cy="438912"/>
          </a:xfrm>
          <a:prstGeom prst="rect">
            <a:avLst/>
          </a:prstGeom>
          <a:noFill/>
          <a:ln/>
        </p:spPr>
        <p:txBody>
          <a:bodyPr wrap="square" lIns="0" tIns="0" rIns="0" bIns="0" rtlCol="0" anchor="ctr"/>
          <a:lstStyle/>
          <a:p>
            <a:pPr marL="0" indent="0" algn="ctr">
              <a:buNone/>
            </a:pPr>
            <a:r>
              <a:rPr lang="en-GB" sz="1800" b="1" noProof="0" dirty="0">
                <a:solidFill>
                  <a:srgbClr val="FFFFFF"/>
                </a:solidFill>
                <a:latin typeface="Calibri" pitchFamily="34" charset="0"/>
                <a:ea typeface="Calibri" pitchFamily="34" charset="-122"/>
                <a:cs typeface="Calibri" pitchFamily="34" charset="-120"/>
              </a:rPr>
              <a:t>2</a:t>
            </a:r>
            <a:endParaRPr lang="en-GB" sz="1800" noProof="0" dirty="0"/>
          </a:p>
        </p:txBody>
      </p:sp>
      <p:sp>
        <p:nvSpPr>
          <p:cNvPr id="13" name="Text 11"/>
          <p:cNvSpPr txBox="1"/>
          <p:nvPr/>
        </p:nvSpPr>
        <p:spPr>
          <a:xfrm>
            <a:off x="1417320" y="3328416"/>
            <a:ext cx="9997135" cy="969264"/>
          </a:xfrm>
          <a:prstGeom prst="rect">
            <a:avLst/>
          </a:prstGeom>
          <a:noFill/>
          <a:ln/>
        </p:spPr>
        <p:txBody>
          <a:bodyPr wrap="square" lIns="0" tIns="0" rIns="0" bIns="0" rtlCol="0" anchor="ctr"/>
          <a:lstStyle/>
          <a:p>
            <a:pPr marL="0" indent="0">
              <a:lnSpc>
                <a:spcPct val="95000"/>
              </a:lnSpc>
              <a:buNone/>
            </a:pPr>
            <a:r>
              <a:rPr lang="en-GB" sz="1800" noProof="0" dirty="0">
                <a:solidFill>
                  <a:srgbClr val="0B1F3F"/>
                </a:solidFill>
                <a:latin typeface="Calibri" pitchFamily="34" charset="0"/>
                <a:ea typeface="Calibri" pitchFamily="34" charset="-122"/>
                <a:cs typeface="Calibri" pitchFamily="34" charset="-120"/>
              </a:rPr>
              <a:t>Which breast change is most often dismissed as harmless in your own setting, and what would change that?</a:t>
            </a:r>
            <a:endParaRPr lang="en-GB" sz="1800" noProof="0" dirty="0"/>
          </a:p>
        </p:txBody>
      </p:sp>
      <p:sp>
        <p:nvSpPr>
          <p:cNvPr id="14" name="Shape 12"/>
          <p:cNvSpPr/>
          <p:nvPr/>
        </p:nvSpPr>
        <p:spPr>
          <a:xfrm>
            <a:off x="548640" y="4608576"/>
            <a:ext cx="11094415" cy="1188720"/>
          </a:xfrm>
          <a:prstGeom prst="roundRect">
            <a:avLst>
              <a:gd name="adj" fmla="val 4615"/>
            </a:avLst>
          </a:prstGeom>
          <a:solidFill>
            <a:srgbClr val="F4F8FC"/>
          </a:solidFill>
          <a:ln w="12700">
            <a:solidFill>
              <a:srgbClr val="C8D8EC"/>
            </a:solidFill>
            <a:prstDash val="solid"/>
          </a:ln>
        </p:spPr>
        <p:txBody>
          <a:bodyPr/>
          <a:lstStyle/>
          <a:p>
            <a:endParaRPr lang="en-GB" noProof="0" dirty="0"/>
          </a:p>
        </p:txBody>
      </p:sp>
      <p:sp>
        <p:nvSpPr>
          <p:cNvPr id="15" name="Shape 13"/>
          <p:cNvSpPr/>
          <p:nvPr/>
        </p:nvSpPr>
        <p:spPr>
          <a:xfrm>
            <a:off x="777240" y="4983480"/>
            <a:ext cx="438912" cy="438912"/>
          </a:xfrm>
          <a:prstGeom prst="ellipse">
            <a:avLst/>
          </a:prstGeom>
          <a:solidFill>
            <a:srgbClr val="12315B"/>
          </a:solidFill>
          <a:ln/>
        </p:spPr>
        <p:txBody>
          <a:bodyPr/>
          <a:lstStyle/>
          <a:p>
            <a:endParaRPr lang="en-GB" noProof="0" dirty="0"/>
          </a:p>
        </p:txBody>
      </p:sp>
      <p:sp>
        <p:nvSpPr>
          <p:cNvPr id="16" name="Text 14"/>
          <p:cNvSpPr txBox="1"/>
          <p:nvPr/>
        </p:nvSpPr>
        <p:spPr>
          <a:xfrm>
            <a:off x="777240" y="4983480"/>
            <a:ext cx="438912" cy="438912"/>
          </a:xfrm>
          <a:prstGeom prst="rect">
            <a:avLst/>
          </a:prstGeom>
          <a:noFill/>
          <a:ln/>
        </p:spPr>
        <p:txBody>
          <a:bodyPr wrap="square" lIns="0" tIns="0" rIns="0" bIns="0" rtlCol="0" anchor="ctr"/>
          <a:lstStyle/>
          <a:p>
            <a:pPr marL="0" indent="0" algn="ctr">
              <a:buNone/>
            </a:pPr>
            <a:r>
              <a:rPr lang="en-GB" sz="1800" b="1" noProof="0" dirty="0">
                <a:solidFill>
                  <a:srgbClr val="FFFFFF"/>
                </a:solidFill>
                <a:latin typeface="Calibri" pitchFamily="34" charset="0"/>
                <a:ea typeface="Calibri" pitchFamily="34" charset="-122"/>
                <a:cs typeface="Calibri" pitchFamily="34" charset="-120"/>
              </a:rPr>
              <a:t>3</a:t>
            </a:r>
            <a:endParaRPr lang="en-GB" sz="1800" noProof="0" dirty="0"/>
          </a:p>
        </p:txBody>
      </p:sp>
      <p:sp>
        <p:nvSpPr>
          <p:cNvPr id="17" name="Text 15"/>
          <p:cNvSpPr txBox="1"/>
          <p:nvPr/>
        </p:nvSpPr>
        <p:spPr>
          <a:xfrm>
            <a:off x="1417320" y="4718304"/>
            <a:ext cx="9997135" cy="969264"/>
          </a:xfrm>
          <a:prstGeom prst="rect">
            <a:avLst/>
          </a:prstGeom>
          <a:noFill/>
          <a:ln/>
        </p:spPr>
        <p:txBody>
          <a:bodyPr wrap="square" lIns="0" tIns="0" rIns="0" bIns="0" rtlCol="0" anchor="ctr"/>
          <a:lstStyle/>
          <a:p>
            <a:pPr marL="0" indent="0">
              <a:lnSpc>
                <a:spcPct val="95000"/>
              </a:lnSpc>
              <a:buNone/>
            </a:pPr>
            <a:r>
              <a:rPr lang="en-GB" sz="1800" noProof="0" dirty="0">
                <a:solidFill>
                  <a:srgbClr val="0B1F3F"/>
                </a:solidFill>
                <a:latin typeface="Calibri" pitchFamily="34" charset="0"/>
                <a:ea typeface="Calibri" pitchFamily="34" charset="-122"/>
                <a:cs typeface="Calibri" pitchFamily="34" charset="-120"/>
              </a:rPr>
              <a:t>What barrier most often prevents someone in your setting from completing a breast assessment referral, and what could you do about it?</a:t>
            </a:r>
            <a:endParaRPr lang="en-GB" sz="1800" noProof="0" dirty="0"/>
          </a:p>
        </p:txBody>
      </p: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name="Slide 67">
    <p:bg>
      <p:bgPr>
        <a:solidFill>
          <a:srgbClr val="12315B"/>
        </a:solidFill>
        <a:effectLst/>
      </p:bgPr>
    </p:bg>
    <p:spTree>
      <p:nvGrpSpPr>
        <p:cNvPr id="1" name=""/>
        <p:cNvGrpSpPr/>
        <p:nvPr/>
      </p:nvGrpSpPr>
      <p:grpSpPr>
        <a:xfrm>
          <a:off x="0" y="0"/>
          <a:ext cx="0" cy="0"/>
          <a:chOff x="0" y="0"/>
          <a:chExt cx="0" cy="0"/>
        </a:xfrm>
      </p:grpSpPr>
      <p:sp>
        <p:nvSpPr>
          <p:cNvPr id="2" name="Text 0"/>
          <p:cNvSpPr txBox="1"/>
          <p:nvPr/>
        </p:nvSpPr>
        <p:spPr>
          <a:xfrm>
            <a:off x="868680" y="1417320"/>
            <a:ext cx="2011680" cy="1737360"/>
          </a:xfrm>
          <a:prstGeom prst="rect">
            <a:avLst/>
          </a:prstGeom>
          <a:noFill/>
          <a:ln/>
        </p:spPr>
        <p:txBody>
          <a:bodyPr wrap="square" lIns="0" tIns="0" rIns="0" bIns="0" rtlCol="0" anchor="ctr"/>
          <a:lstStyle/>
          <a:p>
            <a:pPr marL="0" indent="0">
              <a:buNone/>
            </a:pPr>
            <a:r>
              <a:rPr lang="en-GB" sz="12000" b="1" noProof="0" dirty="0">
                <a:solidFill>
                  <a:srgbClr val="2C5C99"/>
                </a:solidFill>
                <a:latin typeface="Calibri" pitchFamily="34" charset="0"/>
                <a:ea typeface="Calibri" pitchFamily="34" charset="-122"/>
                <a:cs typeface="Calibri" pitchFamily="34" charset="-120"/>
              </a:rPr>
              <a:t>3</a:t>
            </a:r>
            <a:endParaRPr lang="en-GB" sz="12000" noProof="0" dirty="0"/>
          </a:p>
        </p:txBody>
      </p:sp>
      <p:sp>
        <p:nvSpPr>
          <p:cNvPr id="3" name="Text 1"/>
          <p:cNvSpPr txBox="1"/>
          <p:nvPr/>
        </p:nvSpPr>
        <p:spPr>
          <a:xfrm>
            <a:off x="960120" y="3063240"/>
            <a:ext cx="9144000" cy="365760"/>
          </a:xfrm>
          <a:prstGeom prst="rect">
            <a:avLst/>
          </a:prstGeom>
          <a:noFill/>
          <a:ln/>
        </p:spPr>
        <p:txBody>
          <a:bodyPr wrap="square" lIns="0" tIns="0" rIns="0" bIns="0" rtlCol="0" anchor="ctr"/>
          <a:lstStyle/>
          <a:p>
            <a:pPr marL="0" indent="0">
              <a:buNone/>
            </a:pPr>
            <a:r>
              <a:rPr lang="en-GB" sz="1600" b="1" noProof="0" dirty="0">
                <a:solidFill>
                  <a:srgbClr val="9FC2E8"/>
                </a:solidFill>
                <a:latin typeface="Calibri" pitchFamily="34" charset="0"/>
                <a:ea typeface="Calibri" pitchFamily="34" charset="-122"/>
                <a:cs typeface="Calibri" pitchFamily="34" charset="-120"/>
              </a:rPr>
              <a:t>S e s s </a:t>
            </a:r>
            <a:r>
              <a:rPr lang="en-GB" sz="1600" b="1" noProof="0" dirty="0" err="1">
                <a:solidFill>
                  <a:srgbClr val="9FC2E8"/>
                </a:solidFill>
                <a:latin typeface="Calibri" pitchFamily="34" charset="0"/>
                <a:ea typeface="Calibri" pitchFamily="34" charset="-122"/>
                <a:cs typeface="Calibri" pitchFamily="34" charset="-120"/>
              </a:rPr>
              <a:t>i</a:t>
            </a:r>
            <a:r>
              <a:rPr lang="en-GB" sz="1600" b="1" noProof="0" dirty="0">
                <a:solidFill>
                  <a:srgbClr val="9FC2E8"/>
                </a:solidFill>
                <a:latin typeface="Calibri" pitchFamily="34" charset="0"/>
                <a:ea typeface="Calibri" pitchFamily="34" charset="-122"/>
                <a:cs typeface="Calibri" pitchFamily="34" charset="-120"/>
              </a:rPr>
              <a:t> o n  3</a:t>
            </a:r>
            <a:endParaRPr lang="en-GB" sz="1600" noProof="0" dirty="0"/>
          </a:p>
        </p:txBody>
      </p:sp>
      <p:sp>
        <p:nvSpPr>
          <p:cNvPr id="4" name="Text 2"/>
          <p:cNvSpPr txBox="1"/>
          <p:nvPr/>
        </p:nvSpPr>
        <p:spPr>
          <a:xfrm>
            <a:off x="914400" y="3429000"/>
            <a:ext cx="10241280" cy="777240"/>
          </a:xfrm>
          <a:prstGeom prst="rect">
            <a:avLst/>
          </a:prstGeom>
          <a:noFill/>
          <a:ln/>
        </p:spPr>
        <p:txBody>
          <a:bodyPr wrap="square" lIns="0" tIns="0" rIns="0" bIns="0" rtlCol="0" anchor="ctr"/>
          <a:lstStyle/>
          <a:p>
            <a:pPr marL="0" indent="0">
              <a:buNone/>
            </a:pPr>
            <a:r>
              <a:rPr lang="en-GB" sz="4000" b="1" noProof="0" dirty="0">
                <a:solidFill>
                  <a:srgbClr val="FFFFFF"/>
                </a:solidFill>
                <a:latin typeface="Calibri" pitchFamily="34" charset="0"/>
                <a:ea typeface="Calibri" pitchFamily="34" charset="-122"/>
                <a:cs typeface="Calibri" pitchFamily="34" charset="-120"/>
              </a:rPr>
              <a:t>Referral and counselling</a:t>
            </a:r>
            <a:endParaRPr lang="en-GB" sz="4000" noProof="0" dirty="0"/>
          </a:p>
        </p:txBody>
      </p:sp>
      <p:sp>
        <p:nvSpPr>
          <p:cNvPr id="5" name="Text 3"/>
          <p:cNvSpPr txBox="1"/>
          <p:nvPr/>
        </p:nvSpPr>
        <p:spPr>
          <a:xfrm>
            <a:off x="914400" y="4297680"/>
            <a:ext cx="9692640" cy="914400"/>
          </a:xfrm>
          <a:prstGeom prst="rect">
            <a:avLst/>
          </a:prstGeom>
          <a:noFill/>
          <a:ln/>
        </p:spPr>
        <p:txBody>
          <a:bodyPr wrap="square" lIns="0" tIns="0" rIns="0" bIns="0" rtlCol="0" anchor="ctr"/>
          <a:lstStyle/>
          <a:p>
            <a:pPr marL="0" indent="0">
              <a:lnSpc>
                <a:spcPct val="100000"/>
              </a:lnSpc>
              <a:buNone/>
            </a:pPr>
            <a:r>
              <a:rPr lang="en-GB" sz="1800" noProof="0" dirty="0">
                <a:solidFill>
                  <a:srgbClr val="CFE0F4"/>
                </a:solidFill>
                <a:latin typeface="Calibri" pitchFamily="34" charset="0"/>
                <a:ea typeface="Calibri" pitchFamily="34" charset="-122"/>
                <a:cs typeface="Calibri" pitchFamily="34" charset="-120"/>
              </a:rPr>
              <a:t>Turn a concerning finding into the right next step: refer with the right urgency, record what the registry needs, and counsel about fear, surgery and body image with care.</a:t>
            </a:r>
            <a:endParaRPr lang="en-GB" sz="1800" noProof="0" dirty="0"/>
          </a:p>
        </p:txBody>
      </p:sp>
      <p:sp>
        <p:nvSpPr>
          <p:cNvPr id="6" name="Text 4"/>
          <p:cNvSpPr txBox="1"/>
          <p:nvPr/>
        </p:nvSpPr>
        <p:spPr>
          <a:xfrm>
            <a:off x="914400" y="6035040"/>
            <a:ext cx="10058400" cy="274320"/>
          </a:xfrm>
          <a:prstGeom prst="rect">
            <a:avLst/>
          </a:prstGeom>
          <a:noFill/>
          <a:ln/>
        </p:spPr>
        <p:txBody>
          <a:bodyPr wrap="square" lIns="0" tIns="0" rIns="0" bIns="0" rtlCol="0" anchor="ctr"/>
          <a:lstStyle/>
          <a:p>
            <a:pPr marL="0" indent="0">
              <a:buNone/>
            </a:pPr>
            <a:r>
              <a:rPr lang="en-GB" sz="1000" noProof="0" dirty="0">
                <a:solidFill>
                  <a:srgbClr val="7FA6D4"/>
                </a:solidFill>
                <a:latin typeface="Calibri" pitchFamily="34" charset="0"/>
                <a:ea typeface="Calibri" pitchFamily="34" charset="-122"/>
                <a:cs typeface="Calibri" pitchFamily="34" charset="-120"/>
              </a:rPr>
              <a:t>Breast Cancer  |  Frontline HCP  |  Rwanda Biomedical Centre</a:t>
            </a:r>
            <a:endParaRPr lang="en-GB" sz="1000" noProof="0" dirty="0"/>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name="Slide 6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en-GB" sz="1100" b="1" kern="0" spc="100" noProof="0" dirty="0">
                <a:solidFill>
                  <a:srgbClr val="5B7699"/>
                </a:solidFill>
                <a:latin typeface="Calibri" pitchFamily="34" charset="0"/>
                <a:ea typeface="Calibri" pitchFamily="34" charset="-122"/>
                <a:cs typeface="Calibri" pitchFamily="34" charset="-120"/>
              </a:rPr>
              <a:t>S E S S I O N   3</a:t>
            </a:r>
            <a:endParaRPr lang="en-GB"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en-GB" sz="1000" noProof="0" dirty="0">
                <a:solidFill>
                  <a:srgbClr val="5B7699"/>
                </a:solidFill>
                <a:latin typeface="Calibri" pitchFamily="34" charset="0"/>
                <a:ea typeface="Calibri" pitchFamily="34" charset="-122"/>
                <a:cs typeface="Calibri" pitchFamily="34" charset="-120"/>
              </a:rPr>
              <a:t>Breast Cancer  |  Frontline HCP  |  Rwanda Biomedical Centre</a:t>
            </a:r>
            <a:endParaRPr lang="en-GB"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en-GB" sz="3000" b="1" noProof="0" dirty="0">
                <a:solidFill>
                  <a:srgbClr val="12315B"/>
                </a:solidFill>
                <a:latin typeface="Calibri" pitchFamily="34" charset="0"/>
                <a:ea typeface="Calibri" pitchFamily="34" charset="-122"/>
                <a:cs typeface="Calibri" pitchFamily="34" charset="-120"/>
              </a:rPr>
              <a:t>Learning objectives</a:t>
            </a:r>
            <a:endParaRPr lang="en-GB" sz="3000" noProof="0" dirty="0"/>
          </a:p>
        </p:txBody>
      </p:sp>
      <p:sp>
        <p:nvSpPr>
          <p:cNvPr id="5" name="Shape 3"/>
          <p:cNvSpPr/>
          <p:nvPr/>
        </p:nvSpPr>
        <p:spPr>
          <a:xfrm>
            <a:off x="548640" y="1417320"/>
            <a:ext cx="3527450" cy="2180844"/>
          </a:xfrm>
          <a:prstGeom prst="roundRect">
            <a:avLst>
              <a:gd name="adj" fmla="val 2516"/>
            </a:avLst>
          </a:prstGeom>
          <a:solidFill>
            <a:srgbClr val="F4F8FC"/>
          </a:solidFill>
          <a:ln w="12700">
            <a:solidFill>
              <a:srgbClr val="C8D8EC"/>
            </a:solidFill>
            <a:prstDash val="solid"/>
          </a:ln>
        </p:spPr>
        <p:txBody>
          <a:bodyPr/>
          <a:lstStyle/>
          <a:p>
            <a:endParaRPr lang="en-GB" noProof="0" dirty="0"/>
          </a:p>
        </p:txBody>
      </p:sp>
      <p:sp>
        <p:nvSpPr>
          <p:cNvPr id="6" name="Text 4"/>
          <p:cNvSpPr txBox="1"/>
          <p:nvPr/>
        </p:nvSpPr>
        <p:spPr>
          <a:xfrm>
            <a:off x="713232" y="1508760"/>
            <a:ext cx="3198266" cy="292608"/>
          </a:xfrm>
          <a:prstGeom prst="rect">
            <a:avLst/>
          </a:prstGeom>
          <a:noFill/>
          <a:ln/>
        </p:spPr>
        <p:txBody>
          <a:bodyPr wrap="square" lIns="0" tIns="0" rIns="0" bIns="0" rtlCol="0" anchor="t"/>
          <a:lstStyle/>
          <a:p>
            <a:pPr marL="0" indent="0">
              <a:buNone/>
            </a:pPr>
            <a:r>
              <a:rPr lang="en-GB" sz="1700" b="1" noProof="0" dirty="0">
                <a:solidFill>
                  <a:srgbClr val="12315B"/>
                </a:solidFill>
                <a:latin typeface="Calibri" pitchFamily="34" charset="0"/>
                <a:ea typeface="Calibri" pitchFamily="34" charset="-122"/>
                <a:cs typeface="Calibri" pitchFamily="34" charset="-120"/>
              </a:rPr>
              <a:t>Describe</a:t>
            </a:r>
            <a:endParaRPr lang="en-GB" sz="1700" noProof="0" dirty="0"/>
          </a:p>
        </p:txBody>
      </p:sp>
      <p:sp>
        <p:nvSpPr>
          <p:cNvPr id="7" name="Text 5"/>
          <p:cNvSpPr txBox="1"/>
          <p:nvPr/>
        </p:nvSpPr>
        <p:spPr>
          <a:xfrm>
            <a:off x="713232" y="1847088"/>
            <a:ext cx="3198266" cy="1696212"/>
          </a:xfrm>
          <a:prstGeom prst="rect">
            <a:avLst/>
          </a:prstGeom>
          <a:noFill/>
          <a:ln/>
        </p:spPr>
        <p:txBody>
          <a:bodyPr wrap="square" lIns="0" tIns="0" rIns="0" bIns="0" rtlCol="0" anchor="t"/>
          <a:lstStyle/>
          <a:p>
            <a:pPr marL="0" indent="0">
              <a:lnSpc>
                <a:spcPct val="90000"/>
              </a:lnSpc>
              <a:buNone/>
            </a:pPr>
            <a:r>
              <a:rPr lang="en-GB" sz="1800" noProof="0" dirty="0">
                <a:solidFill>
                  <a:srgbClr val="1F3A63"/>
                </a:solidFill>
                <a:latin typeface="Calibri" pitchFamily="34" charset="0"/>
                <a:ea typeface="Calibri" pitchFamily="34" charset="-122"/>
                <a:cs typeface="Calibri" pitchFamily="34" charset="-120"/>
              </a:rPr>
              <a:t>Describe the levels of the Rwandan referral system and where breast assessment happens.</a:t>
            </a:r>
            <a:endParaRPr lang="en-GB" sz="1800" noProof="0" dirty="0"/>
          </a:p>
        </p:txBody>
      </p:sp>
      <p:sp>
        <p:nvSpPr>
          <p:cNvPr id="8" name="Shape 6"/>
          <p:cNvSpPr/>
          <p:nvPr/>
        </p:nvSpPr>
        <p:spPr>
          <a:xfrm>
            <a:off x="4332122" y="1417320"/>
            <a:ext cx="3527450" cy="2180844"/>
          </a:xfrm>
          <a:prstGeom prst="roundRect">
            <a:avLst>
              <a:gd name="adj" fmla="val 2516"/>
            </a:avLst>
          </a:prstGeom>
          <a:solidFill>
            <a:srgbClr val="F4F8FC"/>
          </a:solidFill>
          <a:ln w="12700">
            <a:solidFill>
              <a:srgbClr val="C8D8EC"/>
            </a:solidFill>
            <a:prstDash val="solid"/>
          </a:ln>
        </p:spPr>
        <p:txBody>
          <a:bodyPr/>
          <a:lstStyle/>
          <a:p>
            <a:endParaRPr lang="en-GB" noProof="0" dirty="0"/>
          </a:p>
        </p:txBody>
      </p:sp>
      <p:sp>
        <p:nvSpPr>
          <p:cNvPr id="9" name="Text 7"/>
          <p:cNvSpPr txBox="1"/>
          <p:nvPr/>
        </p:nvSpPr>
        <p:spPr>
          <a:xfrm>
            <a:off x="4496714" y="1508760"/>
            <a:ext cx="3198266" cy="292608"/>
          </a:xfrm>
          <a:prstGeom prst="rect">
            <a:avLst/>
          </a:prstGeom>
          <a:noFill/>
          <a:ln/>
        </p:spPr>
        <p:txBody>
          <a:bodyPr wrap="square" lIns="0" tIns="0" rIns="0" bIns="0" rtlCol="0" anchor="t"/>
          <a:lstStyle/>
          <a:p>
            <a:pPr marL="0" indent="0">
              <a:buNone/>
            </a:pPr>
            <a:r>
              <a:rPr lang="en-GB" sz="1700" b="1" noProof="0" dirty="0">
                <a:solidFill>
                  <a:srgbClr val="12315B"/>
                </a:solidFill>
                <a:latin typeface="Calibri" pitchFamily="34" charset="0"/>
                <a:ea typeface="Calibri" pitchFamily="34" charset="-122"/>
                <a:cs typeface="Calibri" pitchFamily="34" charset="-120"/>
              </a:rPr>
              <a:t>Decide</a:t>
            </a:r>
            <a:endParaRPr lang="en-GB" sz="1700" noProof="0" dirty="0"/>
          </a:p>
        </p:txBody>
      </p:sp>
      <p:sp>
        <p:nvSpPr>
          <p:cNvPr id="10" name="Text 8"/>
          <p:cNvSpPr txBox="1"/>
          <p:nvPr/>
        </p:nvSpPr>
        <p:spPr>
          <a:xfrm>
            <a:off x="4496714" y="1847088"/>
            <a:ext cx="3198266" cy="1696212"/>
          </a:xfrm>
          <a:prstGeom prst="rect">
            <a:avLst/>
          </a:prstGeom>
          <a:noFill/>
          <a:ln/>
        </p:spPr>
        <p:txBody>
          <a:bodyPr wrap="square" lIns="0" tIns="0" rIns="0" bIns="0" rtlCol="0" anchor="t"/>
          <a:lstStyle/>
          <a:p>
            <a:pPr marL="0" indent="0">
              <a:lnSpc>
                <a:spcPct val="90000"/>
              </a:lnSpc>
              <a:buNone/>
            </a:pPr>
            <a:r>
              <a:rPr lang="en-GB" sz="1800" noProof="0" dirty="0">
                <a:solidFill>
                  <a:srgbClr val="1F3A63"/>
                </a:solidFill>
                <a:latin typeface="Calibri" pitchFamily="34" charset="0"/>
                <a:ea typeface="Calibri" pitchFamily="34" charset="-122"/>
                <a:cs typeface="Calibri" pitchFamily="34" charset="-120"/>
              </a:rPr>
              <a:t>Decide whether a breast presentation needs routine, prompt or urgent referral.</a:t>
            </a:r>
            <a:endParaRPr lang="en-GB" sz="1800" noProof="0" dirty="0"/>
          </a:p>
        </p:txBody>
      </p:sp>
      <p:sp>
        <p:nvSpPr>
          <p:cNvPr id="11" name="Shape 9"/>
          <p:cNvSpPr/>
          <p:nvPr/>
        </p:nvSpPr>
        <p:spPr>
          <a:xfrm>
            <a:off x="8115605" y="1417320"/>
            <a:ext cx="3527450" cy="2180844"/>
          </a:xfrm>
          <a:prstGeom prst="roundRect">
            <a:avLst>
              <a:gd name="adj" fmla="val 2516"/>
            </a:avLst>
          </a:prstGeom>
          <a:solidFill>
            <a:srgbClr val="F4F8FC"/>
          </a:solidFill>
          <a:ln w="12700">
            <a:solidFill>
              <a:srgbClr val="C8D8EC"/>
            </a:solidFill>
            <a:prstDash val="solid"/>
          </a:ln>
        </p:spPr>
        <p:txBody>
          <a:bodyPr/>
          <a:lstStyle/>
          <a:p>
            <a:endParaRPr lang="en-GB" noProof="0" dirty="0"/>
          </a:p>
        </p:txBody>
      </p:sp>
      <p:sp>
        <p:nvSpPr>
          <p:cNvPr id="12" name="Text 10"/>
          <p:cNvSpPr txBox="1"/>
          <p:nvPr/>
        </p:nvSpPr>
        <p:spPr>
          <a:xfrm>
            <a:off x="8280197" y="1508760"/>
            <a:ext cx="3198266" cy="292608"/>
          </a:xfrm>
          <a:prstGeom prst="rect">
            <a:avLst/>
          </a:prstGeom>
          <a:noFill/>
          <a:ln/>
        </p:spPr>
        <p:txBody>
          <a:bodyPr wrap="square" lIns="0" tIns="0" rIns="0" bIns="0" rtlCol="0" anchor="t"/>
          <a:lstStyle/>
          <a:p>
            <a:pPr marL="0" indent="0">
              <a:buNone/>
            </a:pPr>
            <a:r>
              <a:rPr lang="en-GB" sz="1700" b="1" noProof="0" dirty="0">
                <a:solidFill>
                  <a:srgbClr val="12315B"/>
                </a:solidFill>
                <a:latin typeface="Calibri" pitchFamily="34" charset="0"/>
                <a:ea typeface="Calibri" pitchFamily="34" charset="-122"/>
                <a:cs typeface="Calibri" pitchFamily="34" charset="-120"/>
              </a:rPr>
              <a:t>Record</a:t>
            </a:r>
            <a:endParaRPr lang="en-GB" sz="1700" noProof="0" dirty="0"/>
          </a:p>
        </p:txBody>
      </p:sp>
      <p:sp>
        <p:nvSpPr>
          <p:cNvPr id="13" name="Text 11"/>
          <p:cNvSpPr txBox="1"/>
          <p:nvPr/>
        </p:nvSpPr>
        <p:spPr>
          <a:xfrm>
            <a:off x="8280197" y="1847088"/>
            <a:ext cx="3198266" cy="1696212"/>
          </a:xfrm>
          <a:prstGeom prst="rect">
            <a:avLst/>
          </a:prstGeom>
          <a:noFill/>
          <a:ln/>
        </p:spPr>
        <p:txBody>
          <a:bodyPr wrap="square" lIns="0" tIns="0" rIns="0" bIns="0" rtlCol="0" anchor="t"/>
          <a:lstStyle/>
          <a:p>
            <a:pPr marL="0" indent="0">
              <a:lnSpc>
                <a:spcPct val="90000"/>
              </a:lnSpc>
              <a:buNone/>
            </a:pPr>
            <a:r>
              <a:rPr lang="en-GB" sz="1800" noProof="0" dirty="0">
                <a:solidFill>
                  <a:srgbClr val="1F3A63"/>
                </a:solidFill>
                <a:latin typeface="Calibri" pitchFamily="34" charset="0"/>
                <a:ea typeface="Calibri" pitchFamily="34" charset="-122"/>
                <a:cs typeface="Calibri" pitchFamily="34" charset="-120"/>
              </a:rPr>
              <a:t>Record the information the national cancer registry needs at first contact.</a:t>
            </a:r>
            <a:endParaRPr lang="en-GB" sz="1800" noProof="0" dirty="0"/>
          </a:p>
        </p:txBody>
      </p:sp>
      <p:sp>
        <p:nvSpPr>
          <p:cNvPr id="14" name="Shape 12"/>
          <p:cNvSpPr/>
          <p:nvPr/>
        </p:nvSpPr>
        <p:spPr>
          <a:xfrm>
            <a:off x="548640" y="3854196"/>
            <a:ext cx="3527450" cy="2180844"/>
          </a:xfrm>
          <a:prstGeom prst="roundRect">
            <a:avLst>
              <a:gd name="adj" fmla="val 2516"/>
            </a:avLst>
          </a:prstGeom>
          <a:solidFill>
            <a:srgbClr val="F4F8FC"/>
          </a:solidFill>
          <a:ln w="12700">
            <a:solidFill>
              <a:srgbClr val="C8D8EC"/>
            </a:solidFill>
            <a:prstDash val="solid"/>
          </a:ln>
        </p:spPr>
        <p:txBody>
          <a:bodyPr/>
          <a:lstStyle/>
          <a:p>
            <a:endParaRPr lang="en-GB" noProof="0" dirty="0"/>
          </a:p>
        </p:txBody>
      </p:sp>
      <p:sp>
        <p:nvSpPr>
          <p:cNvPr id="15" name="Text 13"/>
          <p:cNvSpPr txBox="1"/>
          <p:nvPr/>
        </p:nvSpPr>
        <p:spPr>
          <a:xfrm>
            <a:off x="713232" y="3945636"/>
            <a:ext cx="3198266" cy="292608"/>
          </a:xfrm>
          <a:prstGeom prst="rect">
            <a:avLst/>
          </a:prstGeom>
          <a:noFill/>
          <a:ln/>
        </p:spPr>
        <p:txBody>
          <a:bodyPr wrap="square" lIns="0" tIns="0" rIns="0" bIns="0" rtlCol="0" anchor="t"/>
          <a:lstStyle/>
          <a:p>
            <a:pPr marL="0" indent="0">
              <a:buNone/>
            </a:pPr>
            <a:r>
              <a:rPr lang="en-GB" sz="1700" b="1" noProof="0" dirty="0">
                <a:solidFill>
                  <a:srgbClr val="12315B"/>
                </a:solidFill>
                <a:latin typeface="Calibri" pitchFamily="34" charset="0"/>
                <a:ea typeface="Calibri" pitchFamily="34" charset="-122"/>
                <a:cs typeface="Calibri" pitchFamily="34" charset="-120"/>
              </a:rPr>
              <a:t>Counsel</a:t>
            </a:r>
            <a:endParaRPr lang="en-GB" sz="1700" noProof="0" dirty="0"/>
          </a:p>
        </p:txBody>
      </p:sp>
      <p:sp>
        <p:nvSpPr>
          <p:cNvPr id="16" name="Text 14"/>
          <p:cNvSpPr txBox="1"/>
          <p:nvPr/>
        </p:nvSpPr>
        <p:spPr>
          <a:xfrm>
            <a:off x="713232" y="4283964"/>
            <a:ext cx="3198266" cy="1696212"/>
          </a:xfrm>
          <a:prstGeom prst="rect">
            <a:avLst/>
          </a:prstGeom>
          <a:noFill/>
          <a:ln/>
        </p:spPr>
        <p:txBody>
          <a:bodyPr wrap="square" lIns="0" tIns="0" rIns="0" bIns="0" rtlCol="0" anchor="t"/>
          <a:lstStyle/>
          <a:p>
            <a:pPr marL="0" indent="0">
              <a:lnSpc>
                <a:spcPct val="90000"/>
              </a:lnSpc>
              <a:buNone/>
            </a:pPr>
            <a:r>
              <a:rPr lang="en-GB" sz="1800" noProof="0" dirty="0">
                <a:solidFill>
                  <a:srgbClr val="1F3A63"/>
                </a:solidFill>
                <a:latin typeface="Calibri" pitchFamily="34" charset="0"/>
                <a:ea typeface="Calibri" pitchFamily="34" charset="-122"/>
                <a:cs typeface="Calibri" pitchFamily="34" charset="-120"/>
              </a:rPr>
              <a:t>Counsel clearly about an abnormal result and about what will happen next.</a:t>
            </a:r>
            <a:endParaRPr lang="en-GB" sz="1800" noProof="0" dirty="0"/>
          </a:p>
        </p:txBody>
      </p:sp>
      <p:sp>
        <p:nvSpPr>
          <p:cNvPr id="17" name="Shape 15"/>
          <p:cNvSpPr/>
          <p:nvPr/>
        </p:nvSpPr>
        <p:spPr>
          <a:xfrm>
            <a:off x="4332122" y="3854196"/>
            <a:ext cx="3527450" cy="2180844"/>
          </a:xfrm>
          <a:prstGeom prst="roundRect">
            <a:avLst>
              <a:gd name="adj" fmla="val 2516"/>
            </a:avLst>
          </a:prstGeom>
          <a:solidFill>
            <a:srgbClr val="F4F8FC"/>
          </a:solidFill>
          <a:ln w="12700">
            <a:solidFill>
              <a:srgbClr val="C8D8EC"/>
            </a:solidFill>
            <a:prstDash val="solid"/>
          </a:ln>
        </p:spPr>
        <p:txBody>
          <a:bodyPr/>
          <a:lstStyle/>
          <a:p>
            <a:endParaRPr lang="en-GB" noProof="0" dirty="0"/>
          </a:p>
        </p:txBody>
      </p:sp>
      <p:sp>
        <p:nvSpPr>
          <p:cNvPr id="18" name="Text 16"/>
          <p:cNvSpPr txBox="1"/>
          <p:nvPr/>
        </p:nvSpPr>
        <p:spPr>
          <a:xfrm>
            <a:off x="4496714" y="3945636"/>
            <a:ext cx="3198266" cy="292608"/>
          </a:xfrm>
          <a:prstGeom prst="rect">
            <a:avLst/>
          </a:prstGeom>
          <a:noFill/>
          <a:ln/>
        </p:spPr>
        <p:txBody>
          <a:bodyPr wrap="square" lIns="0" tIns="0" rIns="0" bIns="0" rtlCol="0" anchor="t"/>
          <a:lstStyle/>
          <a:p>
            <a:pPr marL="0" indent="0">
              <a:buNone/>
            </a:pPr>
            <a:r>
              <a:rPr lang="en-GB" sz="1700" b="1" noProof="0" dirty="0">
                <a:solidFill>
                  <a:srgbClr val="12315B"/>
                </a:solidFill>
                <a:latin typeface="Calibri" pitchFamily="34" charset="0"/>
                <a:ea typeface="Calibri" pitchFamily="34" charset="-122"/>
                <a:cs typeface="Calibri" pitchFamily="34" charset="-120"/>
              </a:rPr>
              <a:t>Support</a:t>
            </a:r>
            <a:endParaRPr lang="en-GB" sz="1700" noProof="0" dirty="0"/>
          </a:p>
        </p:txBody>
      </p:sp>
      <p:sp>
        <p:nvSpPr>
          <p:cNvPr id="19" name="Text 17"/>
          <p:cNvSpPr txBox="1"/>
          <p:nvPr/>
        </p:nvSpPr>
        <p:spPr>
          <a:xfrm>
            <a:off x="4496714" y="4283964"/>
            <a:ext cx="3198266" cy="1696212"/>
          </a:xfrm>
          <a:prstGeom prst="rect">
            <a:avLst/>
          </a:prstGeom>
          <a:noFill/>
          <a:ln/>
        </p:spPr>
        <p:txBody>
          <a:bodyPr wrap="square" lIns="0" tIns="0" rIns="0" bIns="0" rtlCol="0" anchor="t"/>
          <a:lstStyle/>
          <a:p>
            <a:pPr marL="0" indent="0">
              <a:lnSpc>
                <a:spcPct val="90000"/>
              </a:lnSpc>
              <a:buNone/>
            </a:pPr>
            <a:r>
              <a:rPr lang="en-GB" sz="1800" noProof="0" dirty="0">
                <a:solidFill>
                  <a:srgbClr val="1F3A63"/>
                </a:solidFill>
                <a:latin typeface="Calibri" pitchFamily="34" charset="0"/>
                <a:ea typeface="Calibri" pitchFamily="34" charset="-122"/>
                <a:cs typeface="Calibri" pitchFamily="34" charset="-120"/>
              </a:rPr>
              <a:t>Give basic psychological support, including around fear of surgery and body image.</a:t>
            </a:r>
            <a:endParaRPr lang="en-GB" sz="1800" noProof="0" dirty="0"/>
          </a:p>
        </p:txBody>
      </p:sp>
      <p:sp>
        <p:nvSpPr>
          <p:cNvPr id="20" name="Shape 18"/>
          <p:cNvSpPr/>
          <p:nvPr/>
        </p:nvSpPr>
        <p:spPr>
          <a:xfrm>
            <a:off x="8115605" y="3854196"/>
            <a:ext cx="3527450" cy="2180844"/>
          </a:xfrm>
          <a:prstGeom prst="roundRect">
            <a:avLst>
              <a:gd name="adj" fmla="val 2516"/>
            </a:avLst>
          </a:prstGeom>
          <a:solidFill>
            <a:srgbClr val="F4F8FC"/>
          </a:solidFill>
          <a:ln w="12700">
            <a:solidFill>
              <a:srgbClr val="C8D8EC"/>
            </a:solidFill>
            <a:prstDash val="solid"/>
          </a:ln>
        </p:spPr>
        <p:txBody>
          <a:bodyPr/>
          <a:lstStyle/>
          <a:p>
            <a:endParaRPr lang="en-GB" noProof="0" dirty="0"/>
          </a:p>
        </p:txBody>
      </p:sp>
      <p:sp>
        <p:nvSpPr>
          <p:cNvPr id="21" name="Text 19"/>
          <p:cNvSpPr txBox="1"/>
          <p:nvPr/>
        </p:nvSpPr>
        <p:spPr>
          <a:xfrm>
            <a:off x="8280197" y="3945636"/>
            <a:ext cx="3198266" cy="292608"/>
          </a:xfrm>
          <a:prstGeom prst="rect">
            <a:avLst/>
          </a:prstGeom>
          <a:noFill/>
          <a:ln/>
        </p:spPr>
        <p:txBody>
          <a:bodyPr wrap="square" lIns="0" tIns="0" rIns="0" bIns="0" rtlCol="0" anchor="t"/>
          <a:lstStyle/>
          <a:p>
            <a:pPr marL="0" indent="0">
              <a:buNone/>
            </a:pPr>
            <a:r>
              <a:rPr lang="en-GB" sz="1700" b="1" noProof="0" dirty="0">
                <a:solidFill>
                  <a:srgbClr val="12315B"/>
                </a:solidFill>
                <a:latin typeface="Calibri" pitchFamily="34" charset="0"/>
                <a:ea typeface="Calibri" pitchFamily="34" charset="-122"/>
                <a:cs typeface="Calibri" pitchFamily="34" charset="-120"/>
              </a:rPr>
              <a:t>Follow up</a:t>
            </a:r>
            <a:endParaRPr lang="en-GB" sz="1700" noProof="0" dirty="0"/>
          </a:p>
        </p:txBody>
      </p:sp>
      <p:sp>
        <p:nvSpPr>
          <p:cNvPr id="22" name="Text 20"/>
          <p:cNvSpPr txBox="1"/>
          <p:nvPr/>
        </p:nvSpPr>
        <p:spPr>
          <a:xfrm>
            <a:off x="8280197" y="4283964"/>
            <a:ext cx="3198266" cy="1696212"/>
          </a:xfrm>
          <a:prstGeom prst="rect">
            <a:avLst/>
          </a:prstGeom>
          <a:noFill/>
          <a:ln/>
        </p:spPr>
        <p:txBody>
          <a:bodyPr wrap="square" lIns="0" tIns="0" rIns="0" bIns="0" rtlCol="0" anchor="t"/>
          <a:lstStyle/>
          <a:p>
            <a:pPr marL="0" indent="0">
              <a:lnSpc>
                <a:spcPct val="90000"/>
              </a:lnSpc>
              <a:buNone/>
            </a:pPr>
            <a:r>
              <a:rPr lang="en-GB" sz="1800" noProof="0" dirty="0">
                <a:solidFill>
                  <a:srgbClr val="1F3A63"/>
                </a:solidFill>
                <a:latin typeface="Calibri" pitchFamily="34" charset="0"/>
                <a:ea typeface="Calibri" pitchFamily="34" charset="-122"/>
                <a:cs typeface="Calibri" pitchFamily="34" charset="-120"/>
              </a:rPr>
              <a:t>Support attendance and close the loop when someone does not attend.</a:t>
            </a:r>
            <a:endParaRPr lang="en-GB" sz="1800" noProof="0" dirty="0"/>
          </a:p>
        </p:txBody>
      </p:sp>
    </p:spTree>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name="Slide 6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en-GB" sz="1100" b="1" kern="0" spc="100" noProof="0" dirty="0">
                <a:solidFill>
                  <a:srgbClr val="5B7699"/>
                </a:solidFill>
                <a:latin typeface="Calibri" pitchFamily="34" charset="0"/>
                <a:ea typeface="Calibri" pitchFamily="34" charset="-122"/>
                <a:cs typeface="Calibri" pitchFamily="34" charset="-120"/>
              </a:rPr>
              <a:t>S E S S I O N   3</a:t>
            </a:r>
            <a:endParaRPr lang="en-GB"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en-GB" sz="1000" noProof="0" dirty="0">
                <a:solidFill>
                  <a:srgbClr val="5B7699"/>
                </a:solidFill>
                <a:latin typeface="Calibri" pitchFamily="34" charset="0"/>
                <a:ea typeface="Calibri" pitchFamily="34" charset="-122"/>
                <a:cs typeface="Calibri" pitchFamily="34" charset="-120"/>
              </a:rPr>
              <a:t>Breast Cancer  |  Frontline HCP  |  Rwanda Biomedical Centre</a:t>
            </a:r>
            <a:endParaRPr lang="en-GB"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en-GB" sz="3000" b="1" noProof="0" dirty="0">
                <a:solidFill>
                  <a:srgbClr val="12315B"/>
                </a:solidFill>
                <a:latin typeface="Calibri" pitchFamily="34" charset="0"/>
                <a:ea typeface="Calibri" pitchFamily="34" charset="-122"/>
                <a:cs typeface="Calibri" pitchFamily="34" charset="-120"/>
              </a:rPr>
              <a:t>The referral pathway</a:t>
            </a:r>
            <a:endParaRPr lang="en-GB" sz="3000" noProof="0" dirty="0"/>
          </a:p>
        </p:txBody>
      </p:sp>
      <p:pic>
        <p:nvPicPr>
          <p:cNvPr id="45" name="Imagen 44">
            <a:extLst>
              <a:ext uri="{FF2B5EF4-FFF2-40B4-BE49-F238E27FC236}">
                <a16:creationId xmlns:a16="http://schemas.microsoft.com/office/drawing/2014/main" id="{8549563B-0A72-CDF4-693B-9AABDDCBE657}"/>
              </a:ext>
            </a:extLst>
          </p:cNvPr>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a:xfrm>
            <a:off x="1619096" y="1104900"/>
            <a:ext cx="8782203" cy="5252102"/>
          </a:xfrm>
          <a:prstGeom prst="rect">
            <a:avLst/>
          </a:prstGeom>
        </p:spPr>
      </p:pic>
    </p:spTree>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name="Slide 7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en-GB" sz="1100" b="1" kern="0" spc="100" noProof="0" dirty="0">
                <a:solidFill>
                  <a:srgbClr val="5B7699"/>
                </a:solidFill>
                <a:latin typeface="Calibri" pitchFamily="34" charset="0"/>
                <a:ea typeface="Calibri" pitchFamily="34" charset="-122"/>
                <a:cs typeface="Calibri" pitchFamily="34" charset="-120"/>
              </a:rPr>
              <a:t>S E S S I O N   3</a:t>
            </a:r>
            <a:endParaRPr lang="en-GB"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en-GB" sz="1000" noProof="0" dirty="0">
                <a:solidFill>
                  <a:srgbClr val="5B7699"/>
                </a:solidFill>
                <a:latin typeface="Calibri" pitchFamily="34" charset="0"/>
                <a:ea typeface="Calibri" pitchFamily="34" charset="-122"/>
                <a:cs typeface="Calibri" pitchFamily="34" charset="-120"/>
              </a:rPr>
              <a:t>Breast Cancer  |  Frontline HCP  |  Rwanda Biomedical Centre</a:t>
            </a:r>
            <a:endParaRPr lang="en-GB"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en-GB" sz="3000" b="1" noProof="0" dirty="0">
                <a:solidFill>
                  <a:srgbClr val="12315B"/>
                </a:solidFill>
                <a:latin typeface="Calibri" pitchFamily="34" charset="0"/>
                <a:ea typeface="Calibri" pitchFamily="34" charset="-122"/>
                <a:cs typeface="Calibri" pitchFamily="34" charset="-120"/>
              </a:rPr>
              <a:t>How urgently to refer</a:t>
            </a:r>
            <a:endParaRPr lang="en-GB" sz="3000" noProof="0" dirty="0"/>
          </a:p>
        </p:txBody>
      </p:sp>
      <p:sp>
        <p:nvSpPr>
          <p:cNvPr id="5" name="Shape 3"/>
          <p:cNvSpPr/>
          <p:nvPr/>
        </p:nvSpPr>
        <p:spPr>
          <a:xfrm>
            <a:off x="548640" y="1325880"/>
            <a:ext cx="3527450" cy="4251960"/>
          </a:xfrm>
          <a:prstGeom prst="roundRect">
            <a:avLst>
              <a:gd name="adj" fmla="val 1555"/>
            </a:avLst>
          </a:prstGeom>
          <a:solidFill>
            <a:srgbClr val="FBECEA"/>
          </a:solidFill>
          <a:ln w="12700">
            <a:solidFill>
              <a:srgbClr val="E7B6B0"/>
            </a:solidFill>
            <a:prstDash val="solid"/>
          </a:ln>
        </p:spPr>
        <p:txBody>
          <a:bodyPr/>
          <a:lstStyle/>
          <a:p>
            <a:endParaRPr lang="en-GB" noProof="0" dirty="0"/>
          </a:p>
        </p:txBody>
      </p:sp>
      <p:sp>
        <p:nvSpPr>
          <p:cNvPr id="6" name="Text 4"/>
          <p:cNvSpPr txBox="1"/>
          <p:nvPr/>
        </p:nvSpPr>
        <p:spPr>
          <a:xfrm>
            <a:off x="713232" y="1453896"/>
            <a:ext cx="3198266" cy="384048"/>
          </a:xfrm>
          <a:prstGeom prst="rect">
            <a:avLst/>
          </a:prstGeom>
          <a:noFill/>
          <a:ln/>
        </p:spPr>
        <p:txBody>
          <a:bodyPr wrap="square" lIns="0" tIns="0" rIns="0" bIns="0" rtlCol="0" anchor="t"/>
          <a:lstStyle/>
          <a:p>
            <a:r>
              <a:rPr lang="en-GB" b="1" dirty="0">
                <a:solidFill>
                  <a:srgbClr val="A32319"/>
                </a:solidFill>
                <a:latin typeface="Calibri" pitchFamily="34" charset="0"/>
                <a:ea typeface="Calibri" pitchFamily="34" charset="-122"/>
                <a:cs typeface="Calibri" pitchFamily="34" charset="-120"/>
              </a:rPr>
              <a:t>🔴 Urgent</a:t>
            </a:r>
            <a:r>
              <a:rPr lang="en-GB" sz="1800" b="1" noProof="0" dirty="0">
                <a:solidFill>
                  <a:srgbClr val="A32319"/>
                </a:solidFill>
                <a:latin typeface="Calibri" pitchFamily="34" charset="0"/>
                <a:ea typeface="Calibri" pitchFamily="34" charset="-122"/>
                <a:cs typeface="Calibri" pitchFamily="34" charset="-120"/>
              </a:rPr>
              <a:t>: within 24 hours</a:t>
            </a:r>
            <a:endParaRPr lang="en-GB" sz="1800" noProof="0" dirty="0"/>
          </a:p>
        </p:txBody>
      </p:sp>
      <p:sp>
        <p:nvSpPr>
          <p:cNvPr id="7" name="Text 5"/>
          <p:cNvSpPr txBox="1"/>
          <p:nvPr/>
        </p:nvSpPr>
        <p:spPr>
          <a:xfrm>
            <a:off x="713232" y="1892808"/>
            <a:ext cx="3198266" cy="3538728"/>
          </a:xfrm>
          <a:prstGeom prst="rect">
            <a:avLst/>
          </a:prstGeom>
          <a:noFill/>
          <a:ln/>
        </p:spPr>
        <p:txBody>
          <a:bodyPr wrap="square" lIns="0" tIns="0" rIns="0" bIns="0" rtlCol="0" anchor="t"/>
          <a:lstStyle/>
          <a:p>
            <a:pPr marL="342900" indent="-342900">
              <a:lnSpc>
                <a:spcPct val="95000"/>
              </a:lnSpc>
              <a:spcAft>
                <a:spcPts val="600"/>
              </a:spcAft>
              <a:buSzPct val="100000"/>
              <a:buChar char="•"/>
            </a:pPr>
            <a:r>
              <a:rPr lang="en-GB" sz="1600" noProof="0" dirty="0">
                <a:solidFill>
                  <a:srgbClr val="0B1F3F"/>
                </a:solidFill>
                <a:latin typeface="Calibri" pitchFamily="34" charset="0"/>
                <a:ea typeface="Calibri" pitchFamily="34" charset="-122"/>
                <a:cs typeface="Calibri" pitchFamily="34" charset="-120"/>
              </a:rPr>
              <a:t>Suspected inflammatory breast cancer</a:t>
            </a:r>
            <a:endParaRPr lang="en-GB" sz="1600" noProof="0" dirty="0"/>
          </a:p>
          <a:p>
            <a:pPr marL="342900" indent="-342900">
              <a:lnSpc>
                <a:spcPct val="95000"/>
              </a:lnSpc>
              <a:spcAft>
                <a:spcPts val="600"/>
              </a:spcAft>
              <a:buSzPct val="100000"/>
              <a:buChar char="•"/>
            </a:pPr>
            <a:r>
              <a:rPr lang="en-GB" sz="1600" noProof="0" dirty="0">
                <a:solidFill>
                  <a:srgbClr val="0B1F3F"/>
                </a:solidFill>
                <a:latin typeface="Calibri" pitchFamily="34" charset="0"/>
                <a:ea typeface="Calibri" pitchFamily="34" charset="-122"/>
                <a:cs typeface="Calibri" pitchFamily="34" charset="-120"/>
              </a:rPr>
              <a:t>A fixed or ulcerating breast mass</a:t>
            </a:r>
            <a:endParaRPr lang="en-GB" sz="1600" noProof="0" dirty="0"/>
          </a:p>
          <a:p>
            <a:pPr marL="342900" indent="-342900">
              <a:lnSpc>
                <a:spcPct val="95000"/>
              </a:lnSpc>
              <a:spcAft>
                <a:spcPts val="600"/>
              </a:spcAft>
              <a:buSzPct val="100000"/>
              <a:buChar char="•"/>
            </a:pPr>
            <a:r>
              <a:rPr lang="en-GB" sz="1600" noProof="0" dirty="0">
                <a:solidFill>
                  <a:srgbClr val="0B1F3F"/>
                </a:solidFill>
                <a:latin typeface="Calibri" pitchFamily="34" charset="0"/>
                <a:ea typeface="Calibri" pitchFamily="34" charset="-122"/>
                <a:cs typeface="Calibri" pitchFamily="34" charset="-120"/>
              </a:rPr>
              <a:t>A rapidly enlarging mass</a:t>
            </a:r>
            <a:endParaRPr lang="en-GB" sz="1600" noProof="0" dirty="0"/>
          </a:p>
          <a:p>
            <a:pPr marL="342900" indent="-342900">
              <a:lnSpc>
                <a:spcPct val="95000"/>
              </a:lnSpc>
              <a:spcAft>
                <a:spcPts val="600"/>
              </a:spcAft>
              <a:buSzPct val="100000"/>
              <a:buChar char="•"/>
            </a:pPr>
            <a:r>
              <a:rPr lang="en-GB" sz="1600" noProof="0" dirty="0">
                <a:solidFill>
                  <a:srgbClr val="0B1F3F"/>
                </a:solidFill>
                <a:latin typeface="Calibri" pitchFamily="34" charset="0"/>
                <a:ea typeface="Calibri" pitchFamily="34" charset="-122"/>
                <a:cs typeface="Calibri" pitchFamily="34" charset="-120"/>
              </a:rPr>
              <a:t>A persistent scaly or ulcerated nipple change</a:t>
            </a:r>
            <a:endParaRPr lang="en-GB" sz="1600" noProof="0" dirty="0"/>
          </a:p>
          <a:p>
            <a:pPr marL="342900" indent="-342900">
              <a:lnSpc>
                <a:spcPct val="95000"/>
              </a:lnSpc>
              <a:spcAft>
                <a:spcPts val="600"/>
              </a:spcAft>
              <a:buSzPct val="100000"/>
              <a:buChar char="•"/>
            </a:pPr>
            <a:r>
              <a:rPr lang="en-GB" sz="1600" noProof="0" dirty="0">
                <a:solidFill>
                  <a:srgbClr val="0B1F3F"/>
                </a:solidFill>
                <a:latin typeface="Calibri" pitchFamily="34" charset="0"/>
                <a:ea typeface="Calibri" pitchFamily="34" charset="-122"/>
                <a:cs typeface="Calibri" pitchFamily="34" charset="-120"/>
              </a:rPr>
              <a:t>A fixed or enlarging axillary or supraclavicular node</a:t>
            </a:r>
            <a:endParaRPr lang="en-GB" sz="1600" noProof="0" dirty="0"/>
          </a:p>
          <a:p>
            <a:pPr marL="342900" indent="-342900">
              <a:lnSpc>
                <a:spcPct val="95000"/>
              </a:lnSpc>
              <a:spcAft>
                <a:spcPts val="600"/>
              </a:spcAft>
              <a:buSzPct val="100000"/>
              <a:buChar char="•"/>
            </a:pPr>
            <a:r>
              <a:rPr lang="en-GB" sz="1600" noProof="0" dirty="0">
                <a:solidFill>
                  <a:srgbClr val="0B1F3F"/>
                </a:solidFill>
                <a:latin typeface="Calibri" pitchFamily="34" charset="0"/>
                <a:ea typeface="Calibri" pitchFamily="34" charset="-122"/>
                <a:cs typeface="Calibri" pitchFamily="34" charset="-120"/>
              </a:rPr>
              <a:t>Any breast finding with new bone pain, breathlessness, jaundice, or new neurological symptoms</a:t>
            </a:r>
            <a:endParaRPr lang="en-GB" sz="1600" noProof="0" dirty="0"/>
          </a:p>
        </p:txBody>
      </p:sp>
      <p:sp>
        <p:nvSpPr>
          <p:cNvPr id="8" name="Shape 6"/>
          <p:cNvSpPr/>
          <p:nvPr/>
        </p:nvSpPr>
        <p:spPr>
          <a:xfrm>
            <a:off x="4332122" y="1325880"/>
            <a:ext cx="3527450" cy="4251960"/>
          </a:xfrm>
          <a:prstGeom prst="roundRect">
            <a:avLst>
              <a:gd name="adj" fmla="val 1555"/>
            </a:avLst>
          </a:prstGeom>
          <a:solidFill>
            <a:srgbClr val="FDF1E0"/>
          </a:solidFill>
          <a:ln w="12700">
            <a:solidFill>
              <a:srgbClr val="EFD3AA"/>
            </a:solidFill>
            <a:prstDash val="solid"/>
          </a:ln>
        </p:spPr>
        <p:txBody>
          <a:bodyPr/>
          <a:lstStyle/>
          <a:p>
            <a:endParaRPr lang="en-GB" noProof="0" dirty="0"/>
          </a:p>
        </p:txBody>
      </p:sp>
      <p:sp>
        <p:nvSpPr>
          <p:cNvPr id="9" name="Text 7"/>
          <p:cNvSpPr txBox="1"/>
          <p:nvPr/>
        </p:nvSpPr>
        <p:spPr>
          <a:xfrm>
            <a:off x="4496714" y="1453896"/>
            <a:ext cx="3198266" cy="384048"/>
          </a:xfrm>
          <a:prstGeom prst="rect">
            <a:avLst/>
          </a:prstGeom>
          <a:noFill/>
          <a:ln/>
        </p:spPr>
        <p:txBody>
          <a:bodyPr wrap="square" lIns="0" tIns="0" rIns="0" bIns="0" rtlCol="0" anchor="t"/>
          <a:lstStyle/>
          <a:p>
            <a:r>
              <a:rPr lang="en-GB" b="1" dirty="0">
                <a:solidFill>
                  <a:srgbClr val="C9761A"/>
                </a:solidFill>
                <a:latin typeface="Calibri" pitchFamily="34" charset="0"/>
                <a:ea typeface="Calibri" pitchFamily="34" charset="-122"/>
                <a:cs typeface="Calibri" pitchFamily="34" charset="-120"/>
              </a:rPr>
              <a:t>🟠 Prompt</a:t>
            </a:r>
            <a:r>
              <a:rPr lang="en-GB" sz="1800" b="1" noProof="0" dirty="0">
                <a:solidFill>
                  <a:srgbClr val="C9761A"/>
                </a:solidFill>
                <a:latin typeface="Calibri" pitchFamily="34" charset="0"/>
                <a:ea typeface="Calibri" pitchFamily="34" charset="-122"/>
                <a:cs typeface="Calibri" pitchFamily="34" charset="-120"/>
              </a:rPr>
              <a:t>, do not wait and see</a:t>
            </a:r>
            <a:endParaRPr lang="en-GB" sz="1800" noProof="0" dirty="0"/>
          </a:p>
        </p:txBody>
      </p:sp>
      <p:sp>
        <p:nvSpPr>
          <p:cNvPr id="10" name="Text 8"/>
          <p:cNvSpPr txBox="1"/>
          <p:nvPr/>
        </p:nvSpPr>
        <p:spPr>
          <a:xfrm>
            <a:off x="4496714" y="1892808"/>
            <a:ext cx="3198266" cy="3538728"/>
          </a:xfrm>
          <a:prstGeom prst="rect">
            <a:avLst/>
          </a:prstGeom>
          <a:noFill/>
          <a:ln/>
        </p:spPr>
        <p:txBody>
          <a:bodyPr wrap="square" lIns="0" tIns="0" rIns="0" bIns="0" rtlCol="0" anchor="t"/>
          <a:lstStyle/>
          <a:p>
            <a:pPr marL="342900" indent="-342900">
              <a:lnSpc>
                <a:spcPct val="95000"/>
              </a:lnSpc>
              <a:spcAft>
                <a:spcPts val="600"/>
              </a:spcAft>
              <a:buSzPct val="100000"/>
              <a:buChar char="•"/>
            </a:pPr>
            <a:r>
              <a:rPr lang="en-GB" sz="1600" noProof="0" dirty="0">
                <a:solidFill>
                  <a:srgbClr val="0B1F3F"/>
                </a:solidFill>
                <a:latin typeface="Calibri" pitchFamily="34" charset="0"/>
                <a:ea typeface="Calibri" pitchFamily="34" charset="-122"/>
                <a:cs typeface="Calibri" pitchFamily="34" charset="-120"/>
              </a:rPr>
              <a:t>Any new discrete breast lump that persists</a:t>
            </a:r>
            <a:endParaRPr lang="en-GB" sz="1600" noProof="0" dirty="0"/>
          </a:p>
          <a:p>
            <a:pPr marL="342900" indent="-342900">
              <a:lnSpc>
                <a:spcPct val="95000"/>
              </a:lnSpc>
              <a:spcAft>
                <a:spcPts val="600"/>
              </a:spcAft>
              <a:buSzPct val="100000"/>
              <a:buChar char="•"/>
            </a:pPr>
            <a:r>
              <a:rPr lang="en-GB" sz="1600" noProof="0" dirty="0">
                <a:solidFill>
                  <a:srgbClr val="0B1F3F"/>
                </a:solidFill>
                <a:latin typeface="Calibri" pitchFamily="34" charset="0"/>
                <a:ea typeface="Calibri" pitchFamily="34" charset="-122"/>
                <a:cs typeface="Calibri" pitchFamily="34" charset="-120"/>
              </a:rPr>
              <a:t>Persistent focal thickening or a change in breast contour</a:t>
            </a:r>
            <a:endParaRPr lang="en-GB" sz="1600" noProof="0" dirty="0"/>
          </a:p>
          <a:p>
            <a:pPr marL="342900" indent="-342900">
              <a:lnSpc>
                <a:spcPct val="95000"/>
              </a:lnSpc>
              <a:spcAft>
                <a:spcPts val="600"/>
              </a:spcAft>
              <a:buSzPct val="100000"/>
              <a:buChar char="•"/>
            </a:pPr>
            <a:r>
              <a:rPr lang="en-GB" sz="1600" noProof="0" dirty="0">
                <a:solidFill>
                  <a:srgbClr val="0B1F3F"/>
                </a:solidFill>
                <a:latin typeface="Calibri" pitchFamily="34" charset="0"/>
                <a:ea typeface="Calibri" pitchFamily="34" charset="-122"/>
                <a:cs typeface="Calibri" pitchFamily="34" charset="-120"/>
              </a:rPr>
              <a:t>New nipple retraction or distortion</a:t>
            </a:r>
            <a:endParaRPr lang="en-GB" sz="1600" noProof="0" dirty="0"/>
          </a:p>
          <a:p>
            <a:pPr marL="342900" indent="-342900">
              <a:lnSpc>
                <a:spcPct val="95000"/>
              </a:lnSpc>
              <a:spcAft>
                <a:spcPts val="600"/>
              </a:spcAft>
              <a:buSzPct val="100000"/>
              <a:buChar char="•"/>
            </a:pPr>
            <a:r>
              <a:rPr lang="en-GB" sz="1600" noProof="0" dirty="0">
                <a:solidFill>
                  <a:srgbClr val="0B1F3F"/>
                </a:solidFill>
                <a:latin typeface="Calibri" pitchFamily="34" charset="0"/>
                <a:ea typeface="Calibri" pitchFamily="34" charset="-122"/>
                <a:cs typeface="Calibri" pitchFamily="34" charset="-120"/>
              </a:rPr>
              <a:t>Spontaneous single-duct or blood-stained nipple discharge</a:t>
            </a:r>
            <a:endParaRPr lang="en-GB" sz="1600" noProof="0" dirty="0"/>
          </a:p>
          <a:p>
            <a:pPr marL="342900" indent="-342900">
              <a:lnSpc>
                <a:spcPct val="95000"/>
              </a:lnSpc>
              <a:spcAft>
                <a:spcPts val="600"/>
              </a:spcAft>
              <a:buSzPct val="100000"/>
              <a:buChar char="•"/>
            </a:pPr>
            <a:r>
              <a:rPr lang="en-GB" sz="1600" noProof="0" dirty="0">
                <a:solidFill>
                  <a:srgbClr val="0B1F3F"/>
                </a:solidFill>
                <a:latin typeface="Calibri" pitchFamily="34" charset="0"/>
                <a:ea typeface="Calibri" pitchFamily="34" charset="-122"/>
                <a:cs typeface="Calibri" pitchFamily="34" charset="-120"/>
              </a:rPr>
              <a:t>An abnormal screening or imaging result requiring work-up</a:t>
            </a:r>
            <a:endParaRPr lang="en-GB" sz="1600" noProof="0" dirty="0"/>
          </a:p>
          <a:p>
            <a:pPr marL="342900" indent="-342900">
              <a:lnSpc>
                <a:spcPct val="95000"/>
              </a:lnSpc>
              <a:spcAft>
                <a:spcPts val="600"/>
              </a:spcAft>
              <a:buSzPct val="100000"/>
              <a:buChar char="•"/>
            </a:pPr>
            <a:r>
              <a:rPr lang="en-GB" sz="1600" noProof="0" dirty="0">
                <a:solidFill>
                  <a:srgbClr val="0B1F3F"/>
                </a:solidFill>
                <a:latin typeface="Calibri" pitchFamily="34" charset="0"/>
                <a:ea typeface="Calibri" pitchFamily="34" charset="-122"/>
                <a:cs typeface="Calibri" pitchFamily="34" charset="-120"/>
              </a:rPr>
              <a:t>A new breast mass in a man</a:t>
            </a:r>
            <a:endParaRPr lang="en-GB" sz="1600" noProof="0" dirty="0"/>
          </a:p>
          <a:p>
            <a:pPr marL="342900" indent="-342900">
              <a:lnSpc>
                <a:spcPct val="95000"/>
              </a:lnSpc>
              <a:spcAft>
                <a:spcPts val="600"/>
              </a:spcAft>
              <a:buSzPct val="100000"/>
              <a:buChar char="•"/>
            </a:pPr>
            <a:r>
              <a:rPr lang="en-GB" sz="1600" noProof="0" dirty="0">
                <a:solidFill>
                  <a:srgbClr val="0B1F3F"/>
                </a:solidFill>
                <a:latin typeface="Calibri" pitchFamily="34" charset="0"/>
                <a:ea typeface="Calibri" pitchFamily="34" charset="-122"/>
                <a:cs typeface="Calibri" pitchFamily="34" charset="-120"/>
              </a:rPr>
              <a:t>A persistent breast change in pregnancy or breastfeeding</a:t>
            </a:r>
            <a:endParaRPr lang="en-GB" sz="1600" noProof="0" dirty="0"/>
          </a:p>
        </p:txBody>
      </p:sp>
      <p:sp>
        <p:nvSpPr>
          <p:cNvPr id="11" name="Shape 9"/>
          <p:cNvSpPr/>
          <p:nvPr/>
        </p:nvSpPr>
        <p:spPr>
          <a:xfrm>
            <a:off x="8115605" y="1325880"/>
            <a:ext cx="3527450" cy="4251960"/>
          </a:xfrm>
          <a:prstGeom prst="roundRect">
            <a:avLst>
              <a:gd name="adj" fmla="val 1555"/>
            </a:avLst>
          </a:prstGeom>
          <a:solidFill>
            <a:srgbClr val="F4F8FC"/>
          </a:solidFill>
          <a:ln w="12700">
            <a:solidFill>
              <a:srgbClr val="C8D8EC"/>
            </a:solidFill>
            <a:prstDash val="solid"/>
          </a:ln>
        </p:spPr>
        <p:txBody>
          <a:bodyPr/>
          <a:lstStyle/>
          <a:p>
            <a:endParaRPr lang="en-GB" noProof="0" dirty="0"/>
          </a:p>
        </p:txBody>
      </p:sp>
      <p:sp>
        <p:nvSpPr>
          <p:cNvPr id="12" name="Text 10"/>
          <p:cNvSpPr txBox="1"/>
          <p:nvPr/>
        </p:nvSpPr>
        <p:spPr>
          <a:xfrm>
            <a:off x="8280197" y="1453896"/>
            <a:ext cx="3198266" cy="384048"/>
          </a:xfrm>
          <a:prstGeom prst="rect">
            <a:avLst/>
          </a:prstGeom>
          <a:noFill/>
          <a:ln/>
        </p:spPr>
        <p:txBody>
          <a:bodyPr wrap="square" lIns="0" tIns="0" rIns="0" bIns="0" rtlCol="0" anchor="t"/>
          <a:lstStyle/>
          <a:p>
            <a:r>
              <a:rPr lang="en-GB" b="1" dirty="0">
                <a:solidFill>
                  <a:srgbClr val="12315B"/>
                </a:solidFill>
                <a:latin typeface="Calibri" pitchFamily="34" charset="0"/>
                <a:ea typeface="Calibri" pitchFamily="34" charset="-122"/>
                <a:cs typeface="Calibri" pitchFamily="34" charset="-120"/>
              </a:rPr>
              <a:t>🔵 Routine </a:t>
            </a:r>
            <a:r>
              <a:rPr lang="en-GB" sz="1800" b="1" noProof="0" dirty="0">
                <a:solidFill>
                  <a:srgbClr val="12315B"/>
                </a:solidFill>
                <a:latin typeface="Calibri" pitchFamily="34" charset="0"/>
                <a:ea typeface="Calibri" pitchFamily="34" charset="-122"/>
                <a:cs typeface="Calibri" pitchFamily="34" charset="-120"/>
              </a:rPr>
              <a:t>specialist opinion</a:t>
            </a:r>
            <a:endParaRPr lang="en-GB" sz="1800" noProof="0" dirty="0"/>
          </a:p>
        </p:txBody>
      </p:sp>
      <p:sp>
        <p:nvSpPr>
          <p:cNvPr id="13" name="Text 11"/>
          <p:cNvSpPr txBox="1"/>
          <p:nvPr/>
        </p:nvSpPr>
        <p:spPr>
          <a:xfrm>
            <a:off x="8280197" y="1892808"/>
            <a:ext cx="3198266" cy="3538728"/>
          </a:xfrm>
          <a:prstGeom prst="rect">
            <a:avLst/>
          </a:prstGeom>
          <a:noFill/>
          <a:ln/>
        </p:spPr>
        <p:txBody>
          <a:bodyPr wrap="square" lIns="0" tIns="0" rIns="0" bIns="0" rtlCol="0" anchor="t"/>
          <a:lstStyle/>
          <a:p>
            <a:pPr marL="342900" indent="-342900">
              <a:lnSpc>
                <a:spcPct val="95000"/>
              </a:lnSpc>
              <a:spcAft>
                <a:spcPts val="600"/>
              </a:spcAft>
              <a:buSzPct val="100000"/>
              <a:buChar char="•"/>
            </a:pPr>
            <a:r>
              <a:rPr lang="en-GB" sz="1600" noProof="0" dirty="0">
                <a:solidFill>
                  <a:srgbClr val="0B1F3F"/>
                </a:solidFill>
                <a:latin typeface="Calibri" pitchFamily="34" charset="0"/>
                <a:ea typeface="Calibri" pitchFamily="34" charset="-122"/>
                <a:cs typeface="Calibri" pitchFamily="34" charset="-120"/>
              </a:rPr>
              <a:t>A significant family history in a person with no breast symptoms</a:t>
            </a:r>
            <a:endParaRPr lang="en-GB" sz="1600" noProof="0" dirty="0"/>
          </a:p>
          <a:p>
            <a:pPr marL="342900" indent="-342900">
              <a:lnSpc>
                <a:spcPct val="95000"/>
              </a:lnSpc>
              <a:spcAft>
                <a:spcPts val="600"/>
              </a:spcAft>
              <a:buSzPct val="100000"/>
              <a:buChar char="•"/>
            </a:pPr>
            <a:r>
              <a:rPr lang="en-GB" sz="1600" noProof="0" dirty="0">
                <a:solidFill>
                  <a:srgbClr val="0B1F3F"/>
                </a:solidFill>
                <a:latin typeface="Calibri" pitchFamily="34" charset="0"/>
                <a:ea typeface="Calibri" pitchFamily="34" charset="-122"/>
                <a:cs typeface="Calibri" pitchFamily="34" charset="-120"/>
              </a:rPr>
              <a:t>A previously assessed benign condition that now needs review</a:t>
            </a:r>
            <a:endParaRPr lang="en-GB" sz="1600" noProof="0" dirty="0"/>
          </a:p>
          <a:p>
            <a:pPr marL="342900" indent="-342900">
              <a:lnSpc>
                <a:spcPct val="95000"/>
              </a:lnSpc>
              <a:spcAft>
                <a:spcPts val="600"/>
              </a:spcAft>
              <a:buSzPct val="100000"/>
              <a:buChar char="•"/>
            </a:pPr>
            <a:r>
              <a:rPr lang="en-GB" sz="1600" noProof="0" dirty="0">
                <a:solidFill>
                  <a:srgbClr val="0B1F3F"/>
                </a:solidFill>
                <a:latin typeface="Calibri" pitchFamily="34" charset="0"/>
                <a:ea typeface="Calibri" pitchFamily="34" charset="-122"/>
                <a:cs typeface="Calibri" pitchFamily="34" charset="-120"/>
              </a:rPr>
              <a:t>Follow-up of a known risk lesion</a:t>
            </a:r>
            <a:endParaRPr lang="en-GB" sz="1600" noProof="0" dirty="0"/>
          </a:p>
          <a:p>
            <a:pPr marL="342900" indent="-342900">
              <a:lnSpc>
                <a:spcPct val="95000"/>
              </a:lnSpc>
              <a:spcAft>
                <a:spcPts val="600"/>
              </a:spcAft>
              <a:buSzPct val="100000"/>
              <a:buChar char="•"/>
            </a:pPr>
            <a:r>
              <a:rPr lang="en-GB" sz="1600" noProof="0" dirty="0">
                <a:solidFill>
                  <a:srgbClr val="0B1F3F"/>
                </a:solidFill>
                <a:latin typeface="Calibri" pitchFamily="34" charset="0"/>
                <a:ea typeface="Calibri" pitchFamily="34" charset="-122"/>
                <a:cs typeface="Calibri" pitchFamily="34" charset="-120"/>
              </a:rPr>
              <a:t>Anything in this column that changes, grows or becomes focal moves up a column</a:t>
            </a:r>
            <a:endParaRPr lang="en-GB" sz="1600" noProof="0" dirty="0"/>
          </a:p>
        </p:txBody>
      </p:sp>
    </p:spTree>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48640" y="310896"/>
            <a:ext cx="11094415" cy="256032"/>
          </a:xfrm>
          <a:prstGeom prst="rect">
            <a:avLst/>
          </a:prstGeom>
          <a:noFill/>
          <a:ln/>
        </p:spPr>
        <p:txBody>
          <a:bodyPr wrap="square" rtlCol="0" anchor="ctr"/>
          <a:lstStyle/>
          <a:p>
            <a:pPr marL="0" indent="0">
              <a:buNone/>
            </a:pPr>
            <a:r>
              <a:rPr lang="en-GB" sz="1200" b="1" kern="0" spc="200" noProof="0" dirty="0">
                <a:solidFill>
                  <a:srgbClr val="1F4E96"/>
                </a:solidFill>
                <a:latin typeface="Calibri" pitchFamily="34" charset="0"/>
                <a:ea typeface="Calibri" pitchFamily="34" charset="-122"/>
                <a:cs typeface="Calibri" pitchFamily="34" charset="-120"/>
              </a:rPr>
              <a:t>SESSION 3</a:t>
            </a:r>
            <a:endParaRPr lang="en-GB" sz="1200" noProof="0" dirty="0"/>
          </a:p>
        </p:txBody>
      </p:sp>
      <p:sp>
        <p:nvSpPr>
          <p:cNvPr id="3" name="Text 1"/>
          <p:cNvSpPr/>
          <p:nvPr/>
        </p:nvSpPr>
        <p:spPr>
          <a:xfrm>
            <a:off x="548640" y="566928"/>
            <a:ext cx="11094415" cy="658368"/>
          </a:xfrm>
          <a:prstGeom prst="rect">
            <a:avLst/>
          </a:prstGeom>
          <a:noFill/>
          <a:ln/>
        </p:spPr>
        <p:txBody>
          <a:bodyPr wrap="square" rtlCol="0" anchor="t"/>
          <a:lstStyle/>
          <a:p>
            <a:pPr marL="0" indent="0">
              <a:buNone/>
            </a:pPr>
            <a:r>
              <a:rPr lang="en-GB" sz="3400" b="1" noProof="0" dirty="0">
                <a:solidFill>
                  <a:srgbClr val="0E2E5C"/>
                </a:solidFill>
                <a:latin typeface="Cambria" pitchFamily="34" charset="0"/>
                <a:ea typeface="Cambria" pitchFamily="34" charset="-122"/>
                <a:cs typeface="Cambria" pitchFamily="34" charset="-120"/>
              </a:rPr>
              <a:t>What to record at first contact</a:t>
            </a:r>
            <a:endParaRPr lang="en-GB" sz="3400" noProof="0" dirty="0"/>
          </a:p>
        </p:txBody>
      </p:sp>
      <p:sp>
        <p:nvSpPr>
          <p:cNvPr id="4" name="Text 2"/>
          <p:cNvSpPr/>
          <p:nvPr/>
        </p:nvSpPr>
        <p:spPr>
          <a:xfrm>
            <a:off x="548640" y="6382512"/>
            <a:ext cx="11094415" cy="274320"/>
          </a:xfrm>
          <a:prstGeom prst="rect">
            <a:avLst/>
          </a:prstGeom>
          <a:noFill/>
          <a:ln/>
        </p:spPr>
        <p:txBody>
          <a:bodyPr wrap="square" rtlCol="0" anchor="ctr"/>
          <a:lstStyle/>
          <a:p>
            <a:pPr marL="0" indent="0" algn="l">
              <a:buNone/>
            </a:pPr>
            <a:r>
              <a:rPr lang="en-GB" sz="1000" noProof="0" dirty="0">
                <a:solidFill>
                  <a:srgbClr val="5B7195"/>
                </a:solidFill>
                <a:latin typeface="Calibri" pitchFamily="34" charset="0"/>
                <a:ea typeface="Calibri" pitchFamily="34" charset="-122"/>
                <a:cs typeface="Calibri" pitchFamily="34" charset="-120"/>
              </a:rPr>
              <a:t>Colorectal Cancer  |  Frontline HCP  |  Rwanda Biomedical Centre</a:t>
            </a:r>
            <a:endParaRPr lang="en-GB" sz="1000" noProof="0" dirty="0"/>
          </a:p>
        </p:txBody>
      </p:sp>
      <p:sp>
        <p:nvSpPr>
          <p:cNvPr id="23" name="Text 21"/>
          <p:cNvSpPr/>
          <p:nvPr/>
        </p:nvSpPr>
        <p:spPr>
          <a:xfrm>
            <a:off x="548639" y="5879592"/>
            <a:ext cx="11094415" cy="411480"/>
          </a:xfrm>
          <a:prstGeom prst="rect">
            <a:avLst/>
          </a:prstGeom>
          <a:noFill/>
          <a:ln/>
        </p:spPr>
        <p:txBody>
          <a:bodyPr wrap="square" rtlCol="0" anchor="ctr"/>
          <a:lstStyle/>
          <a:p>
            <a:pPr marL="0" indent="0">
              <a:buNone/>
            </a:pPr>
            <a:r>
              <a:rPr lang="en-GB" sz="1500" b="1" i="1" noProof="0" dirty="0">
                <a:solidFill>
                  <a:schemeClr val="bg2">
                    <a:lumMod val="50000"/>
                  </a:schemeClr>
                </a:solidFill>
                <a:latin typeface="Calibri" pitchFamily="34" charset="0"/>
                <a:ea typeface="Calibri" pitchFamily="34" charset="-122"/>
                <a:cs typeface="Calibri" pitchFamily="34" charset="-120"/>
              </a:rPr>
              <a:t>Note: </a:t>
            </a:r>
            <a:r>
              <a:rPr lang="en-GB" sz="1500" i="1" noProof="0" dirty="0">
                <a:solidFill>
                  <a:schemeClr val="bg2">
                    <a:lumMod val="50000"/>
                  </a:schemeClr>
                </a:solidFill>
                <a:latin typeface="Calibri" pitchFamily="34" charset="0"/>
                <a:ea typeface="Calibri" pitchFamily="34" charset="-122"/>
                <a:cs typeface="Calibri" pitchFamily="34" charset="-120"/>
              </a:rPr>
              <a:t>In the absence of routine testing, your clinical judgement is the data. A record completed at first suspicion and updated later is far more useful than a blank form waiting for a confirmatory test.</a:t>
            </a:r>
            <a:endParaRPr lang="en-GB" sz="1500" noProof="0" dirty="0">
              <a:solidFill>
                <a:schemeClr val="bg2">
                  <a:lumMod val="50000"/>
                </a:schemeClr>
              </a:solidFill>
            </a:endParaRPr>
          </a:p>
        </p:txBody>
      </p:sp>
      <p:pic>
        <p:nvPicPr>
          <p:cNvPr id="6" name="Imagen 5">
            <a:extLst>
              <a:ext uri="{FF2B5EF4-FFF2-40B4-BE49-F238E27FC236}">
                <a16:creationId xmlns:a16="http://schemas.microsoft.com/office/drawing/2014/main" id="{D8439593-3047-43BF-536B-876CEC87B53F}"/>
              </a:ext>
            </a:extLst>
          </p:cNvPr>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a:xfrm>
            <a:off x="2209646" y="1127966"/>
            <a:ext cx="7772400" cy="4602067"/>
          </a:xfrm>
          <a:prstGeom prst="rect">
            <a:avLst/>
          </a:prstGeom>
        </p:spPr>
      </p:pic>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name="Slide 7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en-GB" sz="1100" b="1" kern="0" spc="100" noProof="0" dirty="0">
                <a:solidFill>
                  <a:srgbClr val="5B7699"/>
                </a:solidFill>
                <a:latin typeface="Calibri" pitchFamily="34" charset="0"/>
                <a:ea typeface="Calibri" pitchFamily="34" charset="-122"/>
                <a:cs typeface="Calibri" pitchFamily="34" charset="-120"/>
              </a:rPr>
              <a:t>S E S S I O N   3</a:t>
            </a:r>
            <a:endParaRPr lang="en-GB"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en-GB" sz="1000" noProof="0" dirty="0">
                <a:solidFill>
                  <a:srgbClr val="5B7699"/>
                </a:solidFill>
                <a:latin typeface="Calibri" pitchFamily="34" charset="0"/>
                <a:ea typeface="Calibri" pitchFamily="34" charset="-122"/>
                <a:cs typeface="Calibri" pitchFamily="34" charset="-120"/>
              </a:rPr>
              <a:t>Breast Cancer  |  Frontline HCP  |  Rwanda Biomedical Centre</a:t>
            </a:r>
            <a:endParaRPr lang="en-GB"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en-GB" sz="3000" b="1" noProof="0" dirty="0">
                <a:solidFill>
                  <a:srgbClr val="12315B"/>
                </a:solidFill>
                <a:latin typeface="Calibri" pitchFamily="34" charset="0"/>
                <a:ea typeface="Calibri" pitchFamily="34" charset="-122"/>
                <a:cs typeface="Calibri" pitchFamily="34" charset="-120"/>
              </a:rPr>
              <a:t>Counselling</a:t>
            </a:r>
            <a:endParaRPr lang="en-GB" sz="3000" noProof="0" dirty="0"/>
          </a:p>
        </p:txBody>
      </p:sp>
      <p:sp>
        <p:nvSpPr>
          <p:cNvPr id="23" name="Shape 21"/>
          <p:cNvSpPr/>
          <p:nvPr/>
        </p:nvSpPr>
        <p:spPr>
          <a:xfrm>
            <a:off x="548640" y="5789872"/>
            <a:ext cx="11094415" cy="566928"/>
          </a:xfrm>
          <a:prstGeom prst="roundRect">
            <a:avLst>
              <a:gd name="adj" fmla="val 8065"/>
            </a:avLst>
          </a:prstGeom>
          <a:solidFill>
            <a:srgbClr val="FDF1E0"/>
          </a:solidFill>
          <a:ln w="12700">
            <a:solidFill>
              <a:srgbClr val="EFD3AA"/>
            </a:solidFill>
            <a:prstDash val="solid"/>
          </a:ln>
        </p:spPr>
        <p:txBody>
          <a:bodyPr/>
          <a:lstStyle/>
          <a:p>
            <a:endParaRPr lang="en-GB" noProof="0" dirty="0"/>
          </a:p>
        </p:txBody>
      </p:sp>
      <p:sp>
        <p:nvSpPr>
          <p:cNvPr id="24" name="Text 22"/>
          <p:cNvSpPr txBox="1"/>
          <p:nvPr/>
        </p:nvSpPr>
        <p:spPr>
          <a:xfrm>
            <a:off x="713232" y="5863024"/>
            <a:ext cx="10765231" cy="420624"/>
          </a:xfrm>
          <a:prstGeom prst="rect">
            <a:avLst/>
          </a:prstGeom>
          <a:noFill/>
          <a:ln/>
        </p:spPr>
        <p:txBody>
          <a:bodyPr wrap="square" lIns="0" tIns="0" rIns="0" bIns="0" rtlCol="0" anchor="ctr"/>
          <a:lstStyle/>
          <a:p>
            <a:pPr marL="0" indent="0">
              <a:lnSpc>
                <a:spcPct val="95000"/>
              </a:lnSpc>
              <a:buNone/>
            </a:pPr>
            <a:r>
              <a:rPr lang="en-GB" sz="1300" noProof="0" dirty="0">
                <a:solidFill>
                  <a:srgbClr val="0B1F3F"/>
                </a:solidFill>
                <a:latin typeface="Calibri" pitchFamily="34" charset="0"/>
                <a:ea typeface="Calibri" pitchFamily="34" charset="-122"/>
                <a:cs typeface="Calibri" pitchFamily="34" charset="-120"/>
              </a:rPr>
              <a:t>Before the person leaves the room: name the facility, give the referral in writing, explain what will happen there, ask what would stop her going, and record the date. A referral a person cannot act on is not a referral.</a:t>
            </a:r>
            <a:endParaRPr lang="en-GB" sz="1300" noProof="0" dirty="0"/>
          </a:p>
        </p:txBody>
      </p:sp>
      <p:pic>
        <p:nvPicPr>
          <p:cNvPr id="5" name="Imagen 4">
            <a:extLst>
              <a:ext uri="{FF2B5EF4-FFF2-40B4-BE49-F238E27FC236}">
                <a16:creationId xmlns:a16="http://schemas.microsoft.com/office/drawing/2014/main" id="{F1000070-248E-98A7-0DE8-DCDA6CE9B47D}"/>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993741" y="1069975"/>
            <a:ext cx="8819561" cy="4670987"/>
          </a:xfrm>
          <a:prstGeom prst="rect">
            <a:avLst/>
          </a:prstGeom>
        </p:spPr>
      </p:pic>
    </p:spTree>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name="Slide 7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en-GB" sz="1100" b="1" kern="0" spc="100" noProof="0" dirty="0">
                <a:solidFill>
                  <a:srgbClr val="5B7699"/>
                </a:solidFill>
                <a:latin typeface="Calibri" pitchFamily="34" charset="0"/>
                <a:ea typeface="Calibri" pitchFamily="34" charset="-122"/>
                <a:cs typeface="Calibri" pitchFamily="34" charset="-120"/>
              </a:rPr>
              <a:t>S E S S I O N   3</a:t>
            </a:r>
            <a:endParaRPr lang="en-GB"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en-GB" sz="1000" noProof="0" dirty="0">
                <a:solidFill>
                  <a:srgbClr val="5B7699"/>
                </a:solidFill>
                <a:latin typeface="Calibri" pitchFamily="34" charset="0"/>
                <a:ea typeface="Calibri" pitchFamily="34" charset="-122"/>
                <a:cs typeface="Calibri" pitchFamily="34" charset="-120"/>
              </a:rPr>
              <a:t>Breast Cancer  |  Frontline HCP  |  Rwanda Biomedical Centre</a:t>
            </a:r>
            <a:endParaRPr lang="en-GB"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en-GB" sz="3000" b="1" noProof="0" dirty="0">
                <a:solidFill>
                  <a:srgbClr val="12315B"/>
                </a:solidFill>
                <a:latin typeface="Calibri" pitchFamily="34" charset="0"/>
                <a:ea typeface="Calibri" pitchFamily="34" charset="-122"/>
                <a:cs typeface="Calibri" pitchFamily="34" charset="-120"/>
              </a:rPr>
              <a:t>Psychological support and sensitive communication</a:t>
            </a:r>
            <a:endParaRPr lang="en-GB" sz="3000" noProof="0" dirty="0"/>
          </a:p>
        </p:txBody>
      </p:sp>
      <p:sp>
        <p:nvSpPr>
          <p:cNvPr id="23" name="Shape 21"/>
          <p:cNvSpPr/>
          <p:nvPr/>
        </p:nvSpPr>
        <p:spPr>
          <a:xfrm>
            <a:off x="548640" y="5703968"/>
            <a:ext cx="11094415" cy="658368"/>
          </a:xfrm>
          <a:prstGeom prst="roundRect">
            <a:avLst>
              <a:gd name="adj" fmla="val 6944"/>
            </a:avLst>
          </a:prstGeom>
          <a:solidFill>
            <a:srgbClr val="FDF1E0"/>
          </a:solidFill>
          <a:ln w="12700">
            <a:solidFill>
              <a:srgbClr val="EFD3AA"/>
            </a:solidFill>
            <a:prstDash val="solid"/>
          </a:ln>
        </p:spPr>
        <p:txBody>
          <a:bodyPr/>
          <a:lstStyle/>
          <a:p>
            <a:endParaRPr lang="en-GB" noProof="0" dirty="0"/>
          </a:p>
        </p:txBody>
      </p:sp>
      <p:sp>
        <p:nvSpPr>
          <p:cNvPr id="24" name="Text 22"/>
          <p:cNvSpPr txBox="1"/>
          <p:nvPr/>
        </p:nvSpPr>
        <p:spPr>
          <a:xfrm>
            <a:off x="713232" y="5777120"/>
            <a:ext cx="10765231" cy="512064"/>
          </a:xfrm>
          <a:prstGeom prst="rect">
            <a:avLst/>
          </a:prstGeom>
          <a:noFill/>
          <a:ln/>
        </p:spPr>
        <p:txBody>
          <a:bodyPr wrap="square" lIns="0" tIns="0" rIns="0" bIns="0" rtlCol="0" anchor="ctr"/>
          <a:lstStyle/>
          <a:p>
            <a:pPr marL="0" indent="0">
              <a:lnSpc>
                <a:spcPct val="95000"/>
              </a:lnSpc>
              <a:buNone/>
            </a:pPr>
            <a:r>
              <a:rPr lang="en-GB" sz="1300" noProof="0" dirty="0">
                <a:solidFill>
                  <a:srgbClr val="0B1F3F"/>
                </a:solidFill>
                <a:latin typeface="Calibri" pitchFamily="34" charset="0"/>
                <a:ea typeface="Calibri" pitchFamily="34" charset="-122"/>
                <a:cs typeface="Calibri" pitchFamily="34" charset="-120"/>
              </a:rPr>
              <a:t>Correct the biopsy myth explicitly whenever you meet it. A biopsy takes a small sample so that pathology can determine whether cancer is present and what type it is. It does not cause cancer to spread, and refusing it only delays the answer.</a:t>
            </a:r>
            <a:endParaRPr lang="en-GB" sz="1300" noProof="0" dirty="0"/>
          </a:p>
        </p:txBody>
      </p:sp>
      <p:pic>
        <p:nvPicPr>
          <p:cNvPr id="6" name="Imagen 5">
            <a:extLst>
              <a:ext uri="{FF2B5EF4-FFF2-40B4-BE49-F238E27FC236}">
                <a16:creationId xmlns:a16="http://schemas.microsoft.com/office/drawing/2014/main" id="{B0BB8322-F5ED-39BD-9FCD-722C087B1EE9}"/>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2061519" y="1043113"/>
            <a:ext cx="7772400" cy="4581525"/>
          </a:xfrm>
          <a:prstGeom prst="rect">
            <a:avLst/>
          </a:prstGeom>
        </p:spPr>
      </p:pic>
    </p:spTree>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name="Slide 7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en-GB" sz="1100" b="1" kern="0" spc="100" noProof="0" dirty="0">
                <a:solidFill>
                  <a:srgbClr val="5B7699"/>
                </a:solidFill>
                <a:latin typeface="Calibri" pitchFamily="34" charset="0"/>
                <a:ea typeface="Calibri" pitchFamily="34" charset="-122"/>
                <a:cs typeface="Calibri" pitchFamily="34" charset="-120"/>
              </a:rPr>
              <a:t>S E S S I O N   3</a:t>
            </a:r>
            <a:endParaRPr lang="en-GB"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en-GB" sz="1000" noProof="0" dirty="0">
                <a:solidFill>
                  <a:srgbClr val="5B7699"/>
                </a:solidFill>
                <a:latin typeface="Calibri" pitchFamily="34" charset="0"/>
                <a:ea typeface="Calibri" pitchFamily="34" charset="-122"/>
                <a:cs typeface="Calibri" pitchFamily="34" charset="-120"/>
              </a:rPr>
              <a:t>Breast Cancer  |  Frontline HCP  |  Rwanda Biomedical Centre</a:t>
            </a:r>
            <a:endParaRPr lang="en-GB"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en-GB" sz="3000" b="1" noProof="0" dirty="0">
                <a:solidFill>
                  <a:srgbClr val="12315B"/>
                </a:solidFill>
                <a:latin typeface="Calibri" pitchFamily="34" charset="0"/>
                <a:ea typeface="Calibri" pitchFamily="34" charset="-122"/>
                <a:cs typeface="Calibri" pitchFamily="34" charset="-120"/>
              </a:rPr>
              <a:t>Immaculée's story continues</a:t>
            </a:r>
            <a:endParaRPr lang="en-GB" sz="3000" noProof="0" dirty="0"/>
          </a:p>
        </p:txBody>
      </p:sp>
    </p:spTree>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name="Slide 7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en-GB" sz="1100" b="1" kern="0" spc="100" noProof="0" dirty="0">
                <a:solidFill>
                  <a:srgbClr val="5B7699"/>
                </a:solidFill>
                <a:latin typeface="Calibri" pitchFamily="34" charset="0"/>
                <a:ea typeface="Calibri" pitchFamily="34" charset="-122"/>
                <a:cs typeface="Calibri" pitchFamily="34" charset="-120"/>
              </a:rPr>
              <a:t>S E S S I O N   3</a:t>
            </a:r>
            <a:endParaRPr lang="en-GB"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en-GB" sz="1000" noProof="0" dirty="0">
                <a:solidFill>
                  <a:srgbClr val="5B7699"/>
                </a:solidFill>
                <a:latin typeface="Calibri" pitchFamily="34" charset="0"/>
                <a:ea typeface="Calibri" pitchFamily="34" charset="-122"/>
                <a:cs typeface="Calibri" pitchFamily="34" charset="-120"/>
              </a:rPr>
              <a:t>Breast Cancer  |  Frontline HCP  |  Rwanda Biomedical Centre</a:t>
            </a:r>
            <a:endParaRPr lang="en-GB"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en-GB" sz="3000" b="1" noProof="0" dirty="0">
                <a:solidFill>
                  <a:srgbClr val="12315B"/>
                </a:solidFill>
                <a:latin typeface="Calibri" pitchFamily="34" charset="0"/>
                <a:ea typeface="Calibri" pitchFamily="34" charset="-122"/>
                <a:cs typeface="Calibri" pitchFamily="34" charset="-120"/>
              </a:rPr>
              <a:t>Apply it</a:t>
            </a:r>
            <a:endParaRPr lang="en-GB" sz="3000" noProof="0" dirty="0"/>
          </a:p>
        </p:txBody>
      </p:sp>
      <p:sp>
        <p:nvSpPr>
          <p:cNvPr id="5" name="Shape 3"/>
          <p:cNvSpPr/>
          <p:nvPr/>
        </p:nvSpPr>
        <p:spPr>
          <a:xfrm>
            <a:off x="548640" y="1371600"/>
            <a:ext cx="7589520" cy="868680"/>
          </a:xfrm>
          <a:prstGeom prst="roundRect">
            <a:avLst>
              <a:gd name="adj" fmla="val 6316"/>
            </a:avLst>
          </a:prstGeom>
          <a:solidFill>
            <a:srgbClr val="FDF6E3"/>
          </a:solidFill>
          <a:ln w="12700">
            <a:solidFill>
              <a:srgbClr val="E0C07A"/>
            </a:solidFill>
            <a:prstDash val="solid"/>
          </a:ln>
        </p:spPr>
        <p:txBody>
          <a:bodyPr/>
          <a:lstStyle/>
          <a:p>
            <a:endParaRPr lang="en-GB" noProof="0" dirty="0"/>
          </a:p>
        </p:txBody>
      </p:sp>
      <p:sp>
        <p:nvSpPr>
          <p:cNvPr id="6" name="Text 4"/>
          <p:cNvSpPr txBox="1"/>
          <p:nvPr/>
        </p:nvSpPr>
        <p:spPr>
          <a:xfrm>
            <a:off x="713232" y="1444752"/>
            <a:ext cx="7260336" cy="731520"/>
          </a:xfrm>
          <a:prstGeom prst="rect">
            <a:avLst/>
          </a:prstGeom>
          <a:noFill/>
          <a:ln/>
        </p:spPr>
        <p:txBody>
          <a:bodyPr wrap="square" lIns="0" tIns="0" rIns="0" bIns="0" rtlCol="0" anchor="ctr"/>
          <a:lstStyle/>
          <a:p>
            <a:pPr marL="0" indent="0">
              <a:lnSpc>
                <a:spcPct val="92000"/>
              </a:lnSpc>
              <a:buNone/>
            </a:pPr>
            <a:r>
              <a:rPr lang="en-GB" sz="1600" b="1" noProof="0" dirty="0">
                <a:solidFill>
                  <a:srgbClr val="C9761A"/>
                </a:solidFill>
                <a:latin typeface="Calibri" pitchFamily="34" charset="0"/>
                <a:ea typeface="Calibri" pitchFamily="34" charset="-122"/>
                <a:cs typeface="Calibri" pitchFamily="34" charset="-120"/>
              </a:rPr>
              <a:t>Scenario   </a:t>
            </a:r>
            <a:r>
              <a:rPr lang="en-GB" sz="1600" noProof="0" dirty="0">
                <a:solidFill>
                  <a:srgbClr val="0B1F3F"/>
                </a:solidFill>
                <a:latin typeface="Calibri" pitchFamily="34" charset="0"/>
                <a:ea typeface="Calibri" pitchFamily="34" charset="-122"/>
                <a:cs typeface="Calibri" pitchFamily="34" charset="-120"/>
              </a:rPr>
              <a:t>Immaculée asks whether the hospital will simply remove her breast, and says that if that is what happens she would rather not go.</a:t>
            </a:r>
            <a:endParaRPr lang="en-GB" sz="1600" noProof="0" dirty="0"/>
          </a:p>
        </p:txBody>
      </p:sp>
      <p:sp>
        <p:nvSpPr>
          <p:cNvPr id="7" name="Text 5"/>
          <p:cNvSpPr txBox="1"/>
          <p:nvPr/>
        </p:nvSpPr>
        <p:spPr>
          <a:xfrm>
            <a:off x="548640" y="2377440"/>
            <a:ext cx="7589520" cy="365760"/>
          </a:xfrm>
          <a:prstGeom prst="rect">
            <a:avLst/>
          </a:prstGeom>
          <a:noFill/>
          <a:ln/>
        </p:spPr>
        <p:txBody>
          <a:bodyPr wrap="square" lIns="0" tIns="0" rIns="0" bIns="0" rtlCol="0" anchor="ctr"/>
          <a:lstStyle/>
          <a:p>
            <a:pPr marL="0" indent="0">
              <a:buNone/>
            </a:pPr>
            <a:r>
              <a:rPr lang="en-GB" sz="1900" b="1" noProof="0" dirty="0">
                <a:solidFill>
                  <a:srgbClr val="12315B"/>
                </a:solidFill>
                <a:latin typeface="Calibri" pitchFamily="34" charset="0"/>
                <a:ea typeface="Calibri" pitchFamily="34" charset="-122"/>
                <a:cs typeface="Calibri" pitchFamily="34" charset="-120"/>
              </a:rPr>
              <a:t>What is the most helpful response?</a:t>
            </a:r>
            <a:endParaRPr lang="en-GB" sz="1900" noProof="0" dirty="0"/>
          </a:p>
        </p:txBody>
      </p:sp>
      <p:sp>
        <p:nvSpPr>
          <p:cNvPr id="8" name="Shape 6"/>
          <p:cNvSpPr/>
          <p:nvPr/>
        </p:nvSpPr>
        <p:spPr>
          <a:xfrm>
            <a:off x="548640" y="2816352"/>
            <a:ext cx="7589520" cy="713232"/>
          </a:xfrm>
          <a:prstGeom prst="roundRect">
            <a:avLst>
              <a:gd name="adj" fmla="val 6410"/>
            </a:avLst>
          </a:prstGeom>
          <a:solidFill>
            <a:srgbClr val="FFFFFF"/>
          </a:solidFill>
          <a:ln w="12700">
            <a:solidFill>
              <a:srgbClr val="C8D8EC"/>
            </a:solidFill>
            <a:prstDash val="solid"/>
          </a:ln>
        </p:spPr>
        <p:txBody>
          <a:bodyPr/>
          <a:lstStyle/>
          <a:p>
            <a:endParaRPr lang="en-GB" noProof="0" dirty="0"/>
          </a:p>
        </p:txBody>
      </p:sp>
      <p:sp>
        <p:nvSpPr>
          <p:cNvPr id="9" name="Text 7"/>
          <p:cNvSpPr txBox="1"/>
          <p:nvPr/>
        </p:nvSpPr>
        <p:spPr>
          <a:xfrm>
            <a:off x="713232" y="2871216"/>
            <a:ext cx="7260336" cy="603504"/>
          </a:xfrm>
          <a:prstGeom prst="rect">
            <a:avLst/>
          </a:prstGeom>
          <a:noFill/>
          <a:ln/>
        </p:spPr>
        <p:txBody>
          <a:bodyPr wrap="square" lIns="0" tIns="0" rIns="0" bIns="0" rtlCol="0" anchor="ctr"/>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A   </a:t>
            </a:r>
            <a:r>
              <a:rPr lang="en-GB" sz="1800" noProof="0" dirty="0">
                <a:solidFill>
                  <a:srgbClr val="1F3A63"/>
                </a:solidFill>
                <a:latin typeface="Calibri" pitchFamily="34" charset="0"/>
                <a:ea typeface="Calibri" pitchFamily="34" charset="-122"/>
                <a:cs typeface="Calibri" pitchFamily="34" charset="-120"/>
              </a:rPr>
              <a:t>Tell her that the breast will probably have to be removed, so she should prepare herself</a:t>
            </a:r>
            <a:endParaRPr lang="en-GB" sz="1800" noProof="0" dirty="0"/>
          </a:p>
        </p:txBody>
      </p:sp>
      <p:sp>
        <p:nvSpPr>
          <p:cNvPr id="10" name="Shape 8"/>
          <p:cNvSpPr/>
          <p:nvPr/>
        </p:nvSpPr>
        <p:spPr>
          <a:xfrm>
            <a:off x="548640" y="3621024"/>
            <a:ext cx="7589520" cy="466344"/>
          </a:xfrm>
          <a:prstGeom prst="roundRect">
            <a:avLst>
              <a:gd name="adj" fmla="val 9804"/>
            </a:avLst>
          </a:prstGeom>
          <a:solidFill>
            <a:srgbClr val="FFFFFF"/>
          </a:solidFill>
          <a:ln w="12700">
            <a:solidFill>
              <a:srgbClr val="C8D8EC"/>
            </a:solidFill>
            <a:prstDash val="solid"/>
          </a:ln>
        </p:spPr>
        <p:txBody>
          <a:bodyPr/>
          <a:lstStyle/>
          <a:p>
            <a:endParaRPr lang="en-GB" noProof="0" dirty="0"/>
          </a:p>
        </p:txBody>
      </p:sp>
      <p:sp>
        <p:nvSpPr>
          <p:cNvPr id="11" name="Text 9"/>
          <p:cNvSpPr txBox="1"/>
          <p:nvPr/>
        </p:nvSpPr>
        <p:spPr>
          <a:xfrm>
            <a:off x="713232" y="3675888"/>
            <a:ext cx="7260336" cy="356616"/>
          </a:xfrm>
          <a:prstGeom prst="rect">
            <a:avLst/>
          </a:prstGeom>
          <a:noFill/>
          <a:ln/>
        </p:spPr>
        <p:txBody>
          <a:bodyPr wrap="square" lIns="0" tIns="0" rIns="0" bIns="0" rtlCol="0" anchor="ctr"/>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B   </a:t>
            </a:r>
            <a:r>
              <a:rPr lang="en-GB" sz="1800" noProof="0" dirty="0">
                <a:solidFill>
                  <a:srgbClr val="1F3A63"/>
                </a:solidFill>
                <a:latin typeface="Calibri" pitchFamily="34" charset="0"/>
                <a:ea typeface="Calibri" pitchFamily="34" charset="-122"/>
                <a:cs typeface="Calibri" pitchFamily="34" charset="-120"/>
              </a:rPr>
              <a:t>Promise her that the breast will be saved</a:t>
            </a:r>
            <a:endParaRPr lang="en-GB" sz="1800" noProof="0" dirty="0"/>
          </a:p>
        </p:txBody>
      </p:sp>
      <p:sp>
        <p:nvSpPr>
          <p:cNvPr id="12" name="Shape 10"/>
          <p:cNvSpPr/>
          <p:nvPr/>
        </p:nvSpPr>
        <p:spPr>
          <a:xfrm>
            <a:off x="548640" y="4178808"/>
            <a:ext cx="7589520" cy="960120"/>
          </a:xfrm>
          <a:prstGeom prst="roundRect">
            <a:avLst>
              <a:gd name="adj" fmla="val 4762"/>
            </a:avLst>
          </a:prstGeom>
          <a:solidFill>
            <a:srgbClr val="EAF5EF"/>
          </a:solidFill>
          <a:ln w="19050">
            <a:solidFill>
              <a:srgbClr val="8FC4A9"/>
            </a:solidFill>
            <a:prstDash val="solid"/>
          </a:ln>
        </p:spPr>
        <p:txBody>
          <a:bodyPr/>
          <a:lstStyle/>
          <a:p>
            <a:endParaRPr lang="en-GB" noProof="0" dirty="0"/>
          </a:p>
        </p:txBody>
      </p:sp>
      <p:sp>
        <p:nvSpPr>
          <p:cNvPr id="13" name="Text 11"/>
          <p:cNvSpPr txBox="1"/>
          <p:nvPr/>
        </p:nvSpPr>
        <p:spPr>
          <a:xfrm>
            <a:off x="713232" y="4233672"/>
            <a:ext cx="7260336" cy="850392"/>
          </a:xfrm>
          <a:prstGeom prst="rect">
            <a:avLst/>
          </a:prstGeom>
          <a:noFill/>
          <a:ln/>
        </p:spPr>
        <p:txBody>
          <a:bodyPr wrap="square" lIns="0" tIns="0" rIns="0" bIns="0" rtlCol="0" anchor="ctr"/>
          <a:lstStyle/>
          <a:p>
            <a:pPr marL="0" indent="0">
              <a:lnSpc>
                <a:spcPct val="90000"/>
              </a:lnSpc>
              <a:buNone/>
            </a:pPr>
            <a:r>
              <a:rPr lang="en-GB" sz="1800" b="1" noProof="0" dirty="0">
                <a:solidFill>
                  <a:srgbClr val="1B6E4A"/>
                </a:solidFill>
                <a:latin typeface="Calibri" pitchFamily="34" charset="0"/>
                <a:ea typeface="Calibri" pitchFamily="34" charset="-122"/>
                <a:cs typeface="Calibri" pitchFamily="34" charset="-120"/>
              </a:rPr>
              <a:t>C   Explain that the operation depends on what the tests show, that many people keep the breast, and work through the practical barriers with her   ✓</a:t>
            </a:r>
            <a:endParaRPr lang="en-GB" sz="1800" noProof="0" dirty="0"/>
          </a:p>
        </p:txBody>
      </p:sp>
      <p:sp>
        <p:nvSpPr>
          <p:cNvPr id="14" name="Shape 12"/>
          <p:cNvSpPr/>
          <p:nvPr/>
        </p:nvSpPr>
        <p:spPr>
          <a:xfrm>
            <a:off x="548640" y="5230368"/>
            <a:ext cx="7589520" cy="466344"/>
          </a:xfrm>
          <a:prstGeom prst="roundRect">
            <a:avLst>
              <a:gd name="adj" fmla="val 9804"/>
            </a:avLst>
          </a:prstGeom>
          <a:solidFill>
            <a:srgbClr val="FFFFFF"/>
          </a:solidFill>
          <a:ln w="12700">
            <a:solidFill>
              <a:srgbClr val="C8D8EC"/>
            </a:solidFill>
            <a:prstDash val="solid"/>
          </a:ln>
        </p:spPr>
        <p:txBody>
          <a:bodyPr/>
          <a:lstStyle/>
          <a:p>
            <a:endParaRPr lang="en-GB" noProof="0" dirty="0"/>
          </a:p>
        </p:txBody>
      </p:sp>
      <p:sp>
        <p:nvSpPr>
          <p:cNvPr id="15" name="Text 13"/>
          <p:cNvSpPr txBox="1"/>
          <p:nvPr/>
        </p:nvSpPr>
        <p:spPr>
          <a:xfrm>
            <a:off x="713232" y="5285232"/>
            <a:ext cx="7260336" cy="356616"/>
          </a:xfrm>
          <a:prstGeom prst="rect">
            <a:avLst/>
          </a:prstGeom>
          <a:noFill/>
          <a:ln/>
        </p:spPr>
        <p:txBody>
          <a:bodyPr wrap="square" lIns="0" tIns="0" rIns="0" bIns="0" rtlCol="0" anchor="ctr"/>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D   </a:t>
            </a:r>
            <a:r>
              <a:rPr lang="en-GB" sz="1800" noProof="0" dirty="0">
                <a:solidFill>
                  <a:srgbClr val="1F3A63"/>
                </a:solidFill>
                <a:latin typeface="Calibri" pitchFamily="34" charset="0"/>
                <a:ea typeface="Calibri" pitchFamily="34" charset="-122"/>
                <a:cs typeface="Calibri" pitchFamily="34" charset="-120"/>
              </a:rPr>
              <a:t>Give her the referral letter and end the consultation</a:t>
            </a:r>
            <a:endParaRPr lang="en-GB" sz="1800" noProof="0" dirty="0"/>
          </a:p>
        </p:txBody>
      </p:sp>
      <p:sp>
        <p:nvSpPr>
          <p:cNvPr id="16" name="Shape 14"/>
          <p:cNvSpPr/>
          <p:nvPr/>
        </p:nvSpPr>
        <p:spPr>
          <a:xfrm>
            <a:off x="8412480" y="1371600"/>
            <a:ext cx="3230575" cy="4754880"/>
          </a:xfrm>
          <a:prstGeom prst="roundRect">
            <a:avLst>
              <a:gd name="adj" fmla="val 1698"/>
            </a:avLst>
          </a:prstGeom>
          <a:solidFill>
            <a:srgbClr val="EAF5EF"/>
          </a:solidFill>
          <a:ln w="12700">
            <a:solidFill>
              <a:srgbClr val="8FC4A9"/>
            </a:solidFill>
            <a:prstDash val="solid"/>
          </a:ln>
        </p:spPr>
        <p:txBody>
          <a:bodyPr/>
          <a:lstStyle/>
          <a:p>
            <a:endParaRPr lang="en-GB" noProof="0" dirty="0"/>
          </a:p>
        </p:txBody>
      </p:sp>
      <p:sp>
        <p:nvSpPr>
          <p:cNvPr id="17" name="Text 15"/>
          <p:cNvSpPr txBox="1"/>
          <p:nvPr/>
        </p:nvSpPr>
        <p:spPr>
          <a:xfrm>
            <a:off x="8595360" y="1508760"/>
            <a:ext cx="2864815" cy="365760"/>
          </a:xfrm>
          <a:prstGeom prst="rect">
            <a:avLst/>
          </a:prstGeom>
          <a:noFill/>
          <a:ln/>
        </p:spPr>
        <p:txBody>
          <a:bodyPr wrap="square" lIns="0" tIns="0" rIns="0" bIns="0" rtlCol="0" anchor="ctr"/>
          <a:lstStyle/>
          <a:p>
            <a:pPr marL="0" indent="0">
              <a:buNone/>
            </a:pPr>
            <a:r>
              <a:rPr lang="en-GB" sz="1800" b="1" noProof="0" dirty="0">
                <a:solidFill>
                  <a:srgbClr val="1B6E4A"/>
                </a:solidFill>
                <a:latin typeface="Calibri" pitchFamily="34" charset="0"/>
                <a:ea typeface="Calibri" pitchFamily="34" charset="-122"/>
                <a:cs typeface="Calibri" pitchFamily="34" charset="-120"/>
              </a:rPr>
              <a:t>Correct answer: C</a:t>
            </a:r>
            <a:endParaRPr lang="en-GB" sz="1800" noProof="0" dirty="0"/>
          </a:p>
        </p:txBody>
      </p:sp>
      <p:sp>
        <p:nvSpPr>
          <p:cNvPr id="18" name="Text 16"/>
          <p:cNvSpPr txBox="1"/>
          <p:nvPr/>
        </p:nvSpPr>
        <p:spPr>
          <a:xfrm>
            <a:off x="8595360" y="1938528"/>
            <a:ext cx="2864815" cy="4069080"/>
          </a:xfrm>
          <a:prstGeom prst="rect">
            <a:avLst/>
          </a:prstGeom>
          <a:noFill/>
          <a:ln/>
        </p:spPr>
        <p:txBody>
          <a:bodyPr wrap="square" lIns="0" tIns="0" rIns="0" bIns="0" rtlCol="0" anchor="t"/>
          <a:lstStyle/>
          <a:p>
            <a:pPr marL="0" indent="0">
              <a:lnSpc>
                <a:spcPct val="95000"/>
              </a:lnSpc>
              <a:buNone/>
            </a:pPr>
            <a:r>
              <a:rPr lang="en-GB" sz="1800" noProof="0" dirty="0">
                <a:solidFill>
                  <a:srgbClr val="0B1F3F"/>
                </a:solidFill>
                <a:latin typeface="Calibri" pitchFamily="34" charset="0"/>
                <a:ea typeface="Calibri" pitchFamily="34" charset="-122"/>
                <a:cs typeface="Calibri" pitchFamily="34" charset="-120"/>
              </a:rPr>
              <a:t>Answer the fear directly and honestly. The operation depends on tumour size and extent, breast size, stage, access to radiotherapy and her own preferences, and breast conserving surgery is possible for many people. Do not promise an outcome you cannot promise. Then deal with the market days, the travel and who she wants to tell, because those decide whether she attends.</a:t>
            </a:r>
            <a:endParaRPr lang="en-GB" sz="1800" noProof="0" dirty="0"/>
          </a:p>
        </p:txBody>
      </p:sp>
    </p:spTree>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name="Slide 7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en-GB" sz="1100" b="1" kern="0" spc="100" noProof="0" dirty="0">
                <a:solidFill>
                  <a:srgbClr val="5B7699"/>
                </a:solidFill>
                <a:latin typeface="Calibri" pitchFamily="34" charset="0"/>
                <a:ea typeface="Calibri" pitchFamily="34" charset="-122"/>
                <a:cs typeface="Calibri" pitchFamily="34" charset="-120"/>
              </a:rPr>
              <a:t>S E S S I O N   3</a:t>
            </a:r>
            <a:endParaRPr lang="en-GB"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en-GB" sz="1000" noProof="0" dirty="0">
                <a:solidFill>
                  <a:srgbClr val="5B7699"/>
                </a:solidFill>
                <a:latin typeface="Calibri" pitchFamily="34" charset="0"/>
                <a:ea typeface="Calibri" pitchFamily="34" charset="-122"/>
                <a:cs typeface="Calibri" pitchFamily="34" charset="-120"/>
              </a:rPr>
              <a:t>Breast Cancer  |  Frontline HCP  |  Rwanda Biomedical Centre</a:t>
            </a:r>
            <a:endParaRPr lang="en-GB"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en-GB" sz="3000" b="1" noProof="0" dirty="0">
                <a:solidFill>
                  <a:srgbClr val="12315B"/>
                </a:solidFill>
                <a:latin typeface="Calibri" pitchFamily="34" charset="0"/>
                <a:ea typeface="Calibri" pitchFamily="34" charset="-122"/>
                <a:cs typeface="Calibri" pitchFamily="34" charset="-120"/>
              </a:rPr>
              <a:t>Knowledge check (1 of 3)</a:t>
            </a:r>
            <a:endParaRPr lang="en-GB" sz="3000" noProof="0" dirty="0"/>
          </a:p>
        </p:txBody>
      </p:sp>
      <p:sp>
        <p:nvSpPr>
          <p:cNvPr id="5" name="Shape 3"/>
          <p:cNvSpPr/>
          <p:nvPr/>
        </p:nvSpPr>
        <p:spPr>
          <a:xfrm>
            <a:off x="548640" y="1367942"/>
            <a:ext cx="11094415" cy="2088490"/>
          </a:xfrm>
          <a:prstGeom prst="roundRect">
            <a:avLst>
              <a:gd name="adj" fmla="val 2627"/>
            </a:avLst>
          </a:prstGeom>
          <a:solidFill>
            <a:srgbClr val="F4F8FC"/>
          </a:solidFill>
          <a:ln w="12700">
            <a:solidFill>
              <a:srgbClr val="C8D8EC"/>
            </a:solidFill>
            <a:prstDash val="solid"/>
          </a:ln>
        </p:spPr>
        <p:txBody>
          <a:bodyPr/>
          <a:lstStyle/>
          <a:p>
            <a:endParaRPr lang="en-GB" noProof="0" dirty="0"/>
          </a:p>
        </p:txBody>
      </p:sp>
      <p:sp>
        <p:nvSpPr>
          <p:cNvPr id="6" name="Text 4"/>
          <p:cNvSpPr txBox="1"/>
          <p:nvPr/>
        </p:nvSpPr>
        <p:spPr>
          <a:xfrm>
            <a:off x="731520" y="1477670"/>
            <a:ext cx="10728655" cy="384048"/>
          </a:xfrm>
          <a:prstGeom prst="rect">
            <a:avLst/>
          </a:prstGeom>
          <a:noFill/>
          <a:ln/>
        </p:spPr>
        <p:txBody>
          <a:bodyPr wrap="square" lIns="0" tIns="0" rIns="0" bIns="0" rtlCol="0" anchor="t"/>
          <a:lstStyle/>
          <a:p>
            <a:pPr marL="0" indent="0">
              <a:buNone/>
            </a:pPr>
            <a:r>
              <a:rPr lang="en-GB" sz="1800" b="1" noProof="0" dirty="0">
                <a:solidFill>
                  <a:srgbClr val="12315B"/>
                </a:solidFill>
                <a:latin typeface="Calibri" pitchFamily="34" charset="0"/>
                <a:ea typeface="Calibri" pitchFamily="34" charset="-122"/>
                <a:cs typeface="Calibri" pitchFamily="34" charset="-120"/>
              </a:rPr>
              <a:t>Q1. An abnormal breast imaging result should be explained to the patient as:</a:t>
            </a:r>
            <a:endParaRPr lang="en-GB" sz="1800" noProof="0" dirty="0"/>
          </a:p>
        </p:txBody>
      </p:sp>
      <p:sp>
        <p:nvSpPr>
          <p:cNvPr id="7" name="Text 5"/>
          <p:cNvSpPr txBox="1"/>
          <p:nvPr/>
        </p:nvSpPr>
        <p:spPr>
          <a:xfrm>
            <a:off x="731520" y="1898294"/>
            <a:ext cx="5250028" cy="566928"/>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A. </a:t>
            </a:r>
            <a:r>
              <a:rPr lang="en-GB" sz="1800" noProof="0" dirty="0">
                <a:solidFill>
                  <a:srgbClr val="1F3A63"/>
                </a:solidFill>
                <a:latin typeface="Calibri" pitchFamily="34" charset="0"/>
                <a:ea typeface="Calibri" pitchFamily="34" charset="-122"/>
                <a:cs typeface="Calibri" pitchFamily="34" charset="-120"/>
              </a:rPr>
              <a:t>A confirmed cancer</a:t>
            </a:r>
            <a:endParaRPr lang="en-GB" sz="1800" noProof="0" dirty="0"/>
          </a:p>
        </p:txBody>
      </p:sp>
      <p:sp>
        <p:nvSpPr>
          <p:cNvPr id="8" name="Text 6"/>
          <p:cNvSpPr txBox="1"/>
          <p:nvPr/>
        </p:nvSpPr>
        <p:spPr>
          <a:xfrm>
            <a:off x="6210148" y="1898294"/>
            <a:ext cx="5250028" cy="566928"/>
          </a:xfrm>
          <a:prstGeom prst="rect">
            <a:avLst/>
          </a:prstGeom>
          <a:noFill/>
          <a:ln/>
        </p:spPr>
        <p:txBody>
          <a:bodyPr wrap="square" lIns="0" tIns="0" rIns="0" bIns="0" rtlCol="0" anchor="t"/>
          <a:lstStyle/>
          <a:p>
            <a:pPr marL="0" indent="0">
              <a:lnSpc>
                <a:spcPct val="90000"/>
              </a:lnSpc>
              <a:buNone/>
            </a:pPr>
            <a:r>
              <a:rPr lang="en-GB" sz="1800" b="1" noProof="0" dirty="0">
                <a:solidFill>
                  <a:srgbClr val="1B6E4A"/>
                </a:solidFill>
                <a:latin typeface="Calibri" pitchFamily="34" charset="0"/>
                <a:ea typeface="Calibri" pitchFamily="34" charset="-122"/>
                <a:cs typeface="Calibri" pitchFamily="34" charset="-120"/>
              </a:rPr>
              <a:t>B. A finding that means the breast needs further assessment</a:t>
            </a:r>
            <a:endParaRPr lang="en-GB" sz="1800" noProof="0" dirty="0"/>
          </a:p>
        </p:txBody>
      </p:sp>
      <p:sp>
        <p:nvSpPr>
          <p:cNvPr id="9" name="Text 7"/>
          <p:cNvSpPr txBox="1"/>
          <p:nvPr/>
        </p:nvSpPr>
        <p:spPr>
          <a:xfrm>
            <a:off x="731520" y="2520086"/>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C. </a:t>
            </a:r>
            <a:r>
              <a:rPr lang="en-GB" sz="1800" noProof="0" dirty="0">
                <a:solidFill>
                  <a:srgbClr val="1F3A63"/>
                </a:solidFill>
                <a:latin typeface="Calibri" pitchFamily="34" charset="0"/>
                <a:ea typeface="Calibri" pitchFamily="34" charset="-122"/>
                <a:cs typeface="Calibri" pitchFamily="34" charset="-120"/>
              </a:rPr>
              <a:t>A normal result</a:t>
            </a:r>
            <a:endParaRPr lang="en-GB" sz="1800" noProof="0" dirty="0"/>
          </a:p>
        </p:txBody>
      </p:sp>
      <p:sp>
        <p:nvSpPr>
          <p:cNvPr id="10" name="Text 8"/>
          <p:cNvSpPr txBox="1"/>
          <p:nvPr/>
        </p:nvSpPr>
        <p:spPr>
          <a:xfrm>
            <a:off x="6210148" y="2520086"/>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D. </a:t>
            </a:r>
            <a:r>
              <a:rPr lang="en-GB" sz="1800" noProof="0" dirty="0">
                <a:solidFill>
                  <a:srgbClr val="1F3A63"/>
                </a:solidFill>
                <a:latin typeface="Calibri" pitchFamily="34" charset="0"/>
                <a:ea typeface="Calibri" pitchFamily="34" charset="-122"/>
                <a:cs typeface="Calibri" pitchFamily="34" charset="-120"/>
              </a:rPr>
              <a:t>A reason to stop investigating</a:t>
            </a:r>
            <a:endParaRPr lang="en-GB" sz="1800" noProof="0" dirty="0"/>
          </a:p>
        </p:txBody>
      </p:sp>
      <p:sp>
        <p:nvSpPr>
          <p:cNvPr id="11" name="Text 9"/>
          <p:cNvSpPr txBox="1"/>
          <p:nvPr/>
        </p:nvSpPr>
        <p:spPr>
          <a:xfrm>
            <a:off x="731520" y="2949854"/>
            <a:ext cx="10728655" cy="433426"/>
          </a:xfrm>
          <a:prstGeom prst="rect">
            <a:avLst/>
          </a:prstGeom>
          <a:noFill/>
          <a:ln/>
        </p:spPr>
        <p:txBody>
          <a:bodyPr wrap="square" lIns="0" tIns="0" rIns="0" bIns="0" rtlCol="0" anchor="t"/>
          <a:lstStyle/>
          <a:p>
            <a:pPr marL="0" indent="0">
              <a:lnSpc>
                <a:spcPct val="92000"/>
              </a:lnSpc>
              <a:buNone/>
            </a:pPr>
            <a:r>
              <a:rPr lang="en-GB" sz="1350" b="1" noProof="0" dirty="0">
                <a:solidFill>
                  <a:srgbClr val="1B6E4A"/>
                </a:solidFill>
                <a:latin typeface="Calibri" pitchFamily="34" charset="0"/>
                <a:ea typeface="Calibri" pitchFamily="34" charset="-122"/>
                <a:cs typeface="Calibri" pitchFamily="34" charset="-120"/>
              </a:rPr>
              <a:t>Correct: B. </a:t>
            </a:r>
            <a:r>
              <a:rPr lang="en-GB" sz="1350" noProof="0" dirty="0">
                <a:solidFill>
                  <a:srgbClr val="0B1F3F"/>
                </a:solidFill>
                <a:latin typeface="Calibri" pitchFamily="34" charset="0"/>
                <a:ea typeface="Calibri" pitchFamily="34" charset="-122"/>
                <a:cs typeface="Calibri" pitchFamily="34" charset="-120"/>
              </a:rPr>
              <a:t>Imaging raises or lowers suspicion and describes extent. It triggers further assessment and, where indicated, a tissue sample. It does not confirm a diagnosis.</a:t>
            </a:r>
            <a:endParaRPr lang="en-GB" sz="1350" noProof="0" dirty="0"/>
          </a:p>
        </p:txBody>
      </p:sp>
      <p:sp>
        <p:nvSpPr>
          <p:cNvPr id="12" name="Shape 10"/>
          <p:cNvSpPr/>
          <p:nvPr/>
        </p:nvSpPr>
        <p:spPr>
          <a:xfrm>
            <a:off x="548640" y="3657600"/>
            <a:ext cx="11094415" cy="2582266"/>
          </a:xfrm>
          <a:prstGeom prst="roundRect">
            <a:avLst>
              <a:gd name="adj" fmla="val 2125"/>
            </a:avLst>
          </a:prstGeom>
          <a:solidFill>
            <a:srgbClr val="F4F8FC"/>
          </a:solidFill>
          <a:ln w="12700">
            <a:solidFill>
              <a:srgbClr val="C8D8EC"/>
            </a:solidFill>
            <a:prstDash val="solid"/>
          </a:ln>
        </p:spPr>
        <p:txBody>
          <a:bodyPr/>
          <a:lstStyle/>
          <a:p>
            <a:endParaRPr lang="en-GB" noProof="0" dirty="0"/>
          </a:p>
        </p:txBody>
      </p:sp>
      <p:sp>
        <p:nvSpPr>
          <p:cNvPr id="13" name="Text 11"/>
          <p:cNvSpPr txBox="1"/>
          <p:nvPr/>
        </p:nvSpPr>
        <p:spPr>
          <a:xfrm>
            <a:off x="731520" y="3767328"/>
            <a:ext cx="10728655" cy="384048"/>
          </a:xfrm>
          <a:prstGeom prst="rect">
            <a:avLst/>
          </a:prstGeom>
          <a:noFill/>
          <a:ln/>
        </p:spPr>
        <p:txBody>
          <a:bodyPr wrap="square" lIns="0" tIns="0" rIns="0" bIns="0" rtlCol="0" anchor="t"/>
          <a:lstStyle/>
          <a:p>
            <a:pPr marL="0" indent="0">
              <a:buNone/>
            </a:pPr>
            <a:r>
              <a:rPr lang="en-GB" sz="1800" b="1" noProof="0" dirty="0">
                <a:solidFill>
                  <a:srgbClr val="12315B"/>
                </a:solidFill>
                <a:latin typeface="Calibri" pitchFamily="34" charset="0"/>
                <a:ea typeface="Calibri" pitchFamily="34" charset="-122"/>
                <a:cs typeface="Calibri" pitchFamily="34" charset="-120"/>
              </a:rPr>
              <a:t>Q2. Which presentation requires urgent rather than routine referral?</a:t>
            </a:r>
            <a:endParaRPr lang="en-GB" sz="1800" noProof="0" dirty="0"/>
          </a:p>
        </p:txBody>
      </p:sp>
      <p:sp>
        <p:nvSpPr>
          <p:cNvPr id="14" name="Text 12"/>
          <p:cNvSpPr txBox="1"/>
          <p:nvPr/>
        </p:nvSpPr>
        <p:spPr>
          <a:xfrm>
            <a:off x="731520" y="4187952"/>
            <a:ext cx="5250028" cy="813816"/>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A. </a:t>
            </a:r>
            <a:r>
              <a:rPr lang="en-GB" sz="1800" noProof="0" dirty="0">
                <a:solidFill>
                  <a:srgbClr val="1F3A63"/>
                </a:solidFill>
                <a:latin typeface="Calibri" pitchFamily="34" charset="0"/>
                <a:ea typeface="Calibri" pitchFamily="34" charset="-122"/>
                <a:cs typeface="Calibri" pitchFamily="34" charset="-120"/>
              </a:rPr>
              <a:t>A significant family history in a woman with no symptoms</a:t>
            </a:r>
            <a:endParaRPr lang="en-GB" sz="1800" noProof="0" dirty="0"/>
          </a:p>
        </p:txBody>
      </p:sp>
      <p:sp>
        <p:nvSpPr>
          <p:cNvPr id="15" name="Text 13"/>
          <p:cNvSpPr txBox="1"/>
          <p:nvPr/>
        </p:nvSpPr>
        <p:spPr>
          <a:xfrm>
            <a:off x="6210148" y="4187952"/>
            <a:ext cx="5250028" cy="813816"/>
          </a:xfrm>
          <a:prstGeom prst="rect">
            <a:avLst/>
          </a:prstGeom>
          <a:noFill/>
          <a:ln/>
        </p:spPr>
        <p:txBody>
          <a:bodyPr wrap="square" lIns="0" tIns="0" rIns="0" bIns="0" rtlCol="0" anchor="t"/>
          <a:lstStyle/>
          <a:p>
            <a:pPr marL="0" indent="0">
              <a:lnSpc>
                <a:spcPct val="90000"/>
              </a:lnSpc>
              <a:buNone/>
            </a:pPr>
            <a:r>
              <a:rPr lang="en-GB" sz="1800" b="1" noProof="0" dirty="0">
                <a:solidFill>
                  <a:srgbClr val="1B6E4A"/>
                </a:solidFill>
                <a:latin typeface="Calibri" pitchFamily="34" charset="0"/>
                <a:ea typeface="Calibri" pitchFamily="34" charset="-122"/>
                <a:cs typeface="Calibri" pitchFamily="34" charset="-120"/>
              </a:rPr>
              <a:t>B. A breast that became red, swollen and thickened over three weeks and has not settled with treatment</a:t>
            </a:r>
            <a:endParaRPr lang="en-GB" sz="1800" noProof="0" dirty="0"/>
          </a:p>
        </p:txBody>
      </p:sp>
      <p:sp>
        <p:nvSpPr>
          <p:cNvPr id="16" name="Text 14"/>
          <p:cNvSpPr txBox="1"/>
          <p:nvPr/>
        </p:nvSpPr>
        <p:spPr>
          <a:xfrm>
            <a:off x="731520" y="5056632"/>
            <a:ext cx="5250028" cy="566928"/>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C. </a:t>
            </a:r>
            <a:r>
              <a:rPr lang="en-GB" sz="1800" noProof="0" dirty="0">
                <a:solidFill>
                  <a:srgbClr val="1F3A63"/>
                </a:solidFill>
                <a:latin typeface="Calibri" pitchFamily="34" charset="0"/>
                <a:ea typeface="Calibri" pitchFamily="34" charset="-122"/>
                <a:cs typeface="Calibri" pitchFamily="34" charset="-120"/>
              </a:rPr>
              <a:t>Cyclical bilateral breast tenderness with a normal examination</a:t>
            </a:r>
            <a:endParaRPr lang="en-GB" sz="1800" noProof="0" dirty="0"/>
          </a:p>
        </p:txBody>
      </p:sp>
      <p:sp>
        <p:nvSpPr>
          <p:cNvPr id="17" name="Text 15"/>
          <p:cNvSpPr txBox="1"/>
          <p:nvPr/>
        </p:nvSpPr>
        <p:spPr>
          <a:xfrm>
            <a:off x="6210148" y="5056632"/>
            <a:ext cx="5250028" cy="566928"/>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D. </a:t>
            </a:r>
            <a:r>
              <a:rPr lang="en-GB" sz="1800" noProof="0" dirty="0">
                <a:solidFill>
                  <a:srgbClr val="1F3A63"/>
                </a:solidFill>
                <a:latin typeface="Calibri" pitchFamily="34" charset="0"/>
                <a:ea typeface="Calibri" pitchFamily="34" charset="-122"/>
                <a:cs typeface="Calibri" pitchFamily="34" charset="-120"/>
              </a:rPr>
              <a:t>Long-standing unchanged nodularity previously assessed</a:t>
            </a:r>
            <a:endParaRPr lang="en-GB" sz="1800" noProof="0" dirty="0"/>
          </a:p>
        </p:txBody>
      </p:sp>
      <p:sp>
        <p:nvSpPr>
          <p:cNvPr id="18" name="Text 16"/>
          <p:cNvSpPr txBox="1"/>
          <p:nvPr/>
        </p:nvSpPr>
        <p:spPr>
          <a:xfrm>
            <a:off x="731520" y="5733288"/>
            <a:ext cx="10728655" cy="433426"/>
          </a:xfrm>
          <a:prstGeom prst="rect">
            <a:avLst/>
          </a:prstGeom>
          <a:noFill/>
          <a:ln/>
        </p:spPr>
        <p:txBody>
          <a:bodyPr wrap="square" lIns="0" tIns="0" rIns="0" bIns="0" rtlCol="0" anchor="t"/>
          <a:lstStyle/>
          <a:p>
            <a:pPr marL="0" indent="0">
              <a:lnSpc>
                <a:spcPct val="92000"/>
              </a:lnSpc>
              <a:buNone/>
            </a:pPr>
            <a:r>
              <a:rPr lang="en-GB" sz="1350" b="1" noProof="0" dirty="0">
                <a:solidFill>
                  <a:srgbClr val="1B6E4A"/>
                </a:solidFill>
                <a:latin typeface="Calibri" pitchFamily="34" charset="0"/>
                <a:ea typeface="Calibri" pitchFamily="34" charset="-122"/>
                <a:cs typeface="Calibri" pitchFamily="34" charset="-120"/>
              </a:rPr>
              <a:t>Correct: B. </a:t>
            </a:r>
            <a:r>
              <a:rPr lang="en-GB" sz="1350" noProof="0" dirty="0">
                <a:solidFill>
                  <a:srgbClr val="0B1F3F"/>
                </a:solidFill>
                <a:latin typeface="Calibri" pitchFamily="34" charset="0"/>
                <a:ea typeface="Calibri" pitchFamily="34" charset="-122"/>
                <a:cs typeface="Calibri" pitchFamily="34" charset="-120"/>
              </a:rPr>
              <a:t>This picture raises the possibility of inflammatory breast cancer, which needs urgent referral, within 24 hours. The others need routine or planned review.</a:t>
            </a:r>
            <a:endParaRPr lang="en-GB" sz="1350" noProof="0" dirty="0"/>
          </a:p>
        </p:txBody>
      </p:sp>
    </p:spTree>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name="Slide 7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en-GB" sz="1100" b="1" kern="0" spc="100" noProof="0" dirty="0">
                <a:solidFill>
                  <a:srgbClr val="5B7699"/>
                </a:solidFill>
                <a:latin typeface="Calibri" pitchFamily="34" charset="0"/>
                <a:ea typeface="Calibri" pitchFamily="34" charset="-122"/>
                <a:cs typeface="Calibri" pitchFamily="34" charset="-120"/>
              </a:rPr>
              <a:t>S E S S I O N   3</a:t>
            </a:r>
            <a:endParaRPr lang="en-GB"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en-GB" sz="1000" noProof="0" dirty="0">
                <a:solidFill>
                  <a:srgbClr val="5B7699"/>
                </a:solidFill>
                <a:latin typeface="Calibri" pitchFamily="34" charset="0"/>
                <a:ea typeface="Calibri" pitchFamily="34" charset="-122"/>
                <a:cs typeface="Calibri" pitchFamily="34" charset="-120"/>
              </a:rPr>
              <a:t>Breast Cancer  |  Frontline HCP  |  Rwanda Biomedical Centre</a:t>
            </a:r>
            <a:endParaRPr lang="en-GB"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en-GB" sz="3000" b="1" noProof="0" dirty="0">
                <a:solidFill>
                  <a:srgbClr val="12315B"/>
                </a:solidFill>
                <a:latin typeface="Calibri" pitchFamily="34" charset="0"/>
                <a:ea typeface="Calibri" pitchFamily="34" charset="-122"/>
                <a:cs typeface="Calibri" pitchFamily="34" charset="-120"/>
              </a:rPr>
              <a:t>Knowledge check (2 of 3)</a:t>
            </a:r>
            <a:endParaRPr lang="en-GB" sz="3000" noProof="0" dirty="0"/>
          </a:p>
        </p:txBody>
      </p:sp>
      <p:sp>
        <p:nvSpPr>
          <p:cNvPr id="5" name="Shape 3"/>
          <p:cNvSpPr/>
          <p:nvPr/>
        </p:nvSpPr>
        <p:spPr>
          <a:xfrm>
            <a:off x="548640" y="1586027"/>
            <a:ext cx="11094415" cy="2088490"/>
          </a:xfrm>
          <a:prstGeom prst="roundRect">
            <a:avLst>
              <a:gd name="adj" fmla="val 2627"/>
            </a:avLst>
          </a:prstGeom>
          <a:solidFill>
            <a:srgbClr val="F4F8FC"/>
          </a:solidFill>
          <a:ln w="12700">
            <a:solidFill>
              <a:srgbClr val="C8D8EC"/>
            </a:solidFill>
            <a:prstDash val="solid"/>
          </a:ln>
        </p:spPr>
        <p:txBody>
          <a:bodyPr/>
          <a:lstStyle/>
          <a:p>
            <a:endParaRPr lang="en-GB" noProof="0" dirty="0"/>
          </a:p>
        </p:txBody>
      </p:sp>
      <p:sp>
        <p:nvSpPr>
          <p:cNvPr id="6" name="Text 4"/>
          <p:cNvSpPr txBox="1"/>
          <p:nvPr/>
        </p:nvSpPr>
        <p:spPr>
          <a:xfrm>
            <a:off x="731520" y="1695755"/>
            <a:ext cx="10728655" cy="384048"/>
          </a:xfrm>
          <a:prstGeom prst="rect">
            <a:avLst/>
          </a:prstGeom>
          <a:noFill/>
          <a:ln/>
        </p:spPr>
        <p:txBody>
          <a:bodyPr wrap="square" lIns="0" tIns="0" rIns="0" bIns="0" rtlCol="0" anchor="t"/>
          <a:lstStyle/>
          <a:p>
            <a:pPr marL="0" indent="0">
              <a:buNone/>
            </a:pPr>
            <a:r>
              <a:rPr lang="en-GB" sz="1800" b="1" noProof="0" dirty="0">
                <a:solidFill>
                  <a:srgbClr val="12315B"/>
                </a:solidFill>
                <a:latin typeface="Calibri" pitchFamily="34" charset="0"/>
                <a:ea typeface="Calibri" pitchFamily="34" charset="-122"/>
                <a:cs typeface="Calibri" pitchFamily="34" charset="-120"/>
              </a:rPr>
              <a:t>Q3. The single most useful pair of items to record at first contact is:</a:t>
            </a:r>
            <a:endParaRPr lang="en-GB" sz="1800" noProof="0" dirty="0"/>
          </a:p>
        </p:txBody>
      </p:sp>
      <p:sp>
        <p:nvSpPr>
          <p:cNvPr id="7" name="Text 5"/>
          <p:cNvSpPr txBox="1"/>
          <p:nvPr/>
        </p:nvSpPr>
        <p:spPr>
          <a:xfrm>
            <a:off x="731520" y="2116379"/>
            <a:ext cx="5250028" cy="566928"/>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A. </a:t>
            </a:r>
            <a:r>
              <a:rPr lang="en-GB" sz="1800" noProof="0" dirty="0">
                <a:solidFill>
                  <a:srgbClr val="1F3A63"/>
                </a:solidFill>
                <a:latin typeface="Calibri" pitchFamily="34" charset="0"/>
                <a:ea typeface="Calibri" pitchFamily="34" charset="-122"/>
                <a:cs typeface="Calibri" pitchFamily="34" charset="-120"/>
              </a:rPr>
              <a:t>The suspected stage and grade</a:t>
            </a:r>
            <a:endParaRPr lang="en-GB" sz="1800" noProof="0" dirty="0"/>
          </a:p>
        </p:txBody>
      </p:sp>
      <p:sp>
        <p:nvSpPr>
          <p:cNvPr id="8" name="Text 6"/>
          <p:cNvSpPr txBox="1"/>
          <p:nvPr/>
        </p:nvSpPr>
        <p:spPr>
          <a:xfrm>
            <a:off x="6210148" y="2116379"/>
            <a:ext cx="5250028" cy="566928"/>
          </a:xfrm>
          <a:prstGeom prst="rect">
            <a:avLst/>
          </a:prstGeom>
          <a:noFill/>
          <a:ln/>
        </p:spPr>
        <p:txBody>
          <a:bodyPr wrap="square" lIns="0" tIns="0" rIns="0" bIns="0" rtlCol="0" anchor="t"/>
          <a:lstStyle/>
          <a:p>
            <a:pPr marL="0" indent="0">
              <a:lnSpc>
                <a:spcPct val="90000"/>
              </a:lnSpc>
              <a:buNone/>
            </a:pPr>
            <a:r>
              <a:rPr lang="en-GB" sz="1800" b="1" noProof="0" dirty="0">
                <a:solidFill>
                  <a:srgbClr val="1B6E4A"/>
                </a:solidFill>
                <a:latin typeface="Calibri" pitchFamily="34" charset="0"/>
                <a:ea typeface="Calibri" pitchFamily="34" charset="-122"/>
                <a:cs typeface="Calibri" pitchFamily="34" charset="-120"/>
              </a:rPr>
              <a:t>B. The date the change was first noticed and the date of this consultation</a:t>
            </a:r>
            <a:endParaRPr lang="en-GB" sz="1800" noProof="0" dirty="0"/>
          </a:p>
        </p:txBody>
      </p:sp>
      <p:sp>
        <p:nvSpPr>
          <p:cNvPr id="9" name="Text 7"/>
          <p:cNvSpPr txBox="1"/>
          <p:nvPr/>
        </p:nvSpPr>
        <p:spPr>
          <a:xfrm>
            <a:off x="731520" y="2738171"/>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C. </a:t>
            </a:r>
            <a:r>
              <a:rPr lang="en-GB" sz="1800" noProof="0" dirty="0">
                <a:solidFill>
                  <a:srgbClr val="1F3A63"/>
                </a:solidFill>
                <a:latin typeface="Calibri" pitchFamily="34" charset="0"/>
                <a:ea typeface="Calibri" pitchFamily="34" charset="-122"/>
                <a:cs typeface="Calibri" pitchFamily="34" charset="-120"/>
              </a:rPr>
              <a:t>The person's occupation and marital status</a:t>
            </a:r>
            <a:endParaRPr lang="en-GB" sz="1800" noProof="0" dirty="0"/>
          </a:p>
        </p:txBody>
      </p:sp>
      <p:sp>
        <p:nvSpPr>
          <p:cNvPr id="10" name="Text 8"/>
          <p:cNvSpPr txBox="1"/>
          <p:nvPr/>
        </p:nvSpPr>
        <p:spPr>
          <a:xfrm>
            <a:off x="6210148" y="2738171"/>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D. </a:t>
            </a:r>
            <a:r>
              <a:rPr lang="en-GB" sz="1800" noProof="0" dirty="0">
                <a:solidFill>
                  <a:srgbClr val="1F3A63"/>
                </a:solidFill>
                <a:latin typeface="Calibri" pitchFamily="34" charset="0"/>
                <a:ea typeface="Calibri" pitchFamily="34" charset="-122"/>
                <a:cs typeface="Calibri" pitchFamily="34" charset="-120"/>
              </a:rPr>
              <a:t>The name of the referring clinician</a:t>
            </a:r>
            <a:endParaRPr lang="en-GB" sz="1800" noProof="0" dirty="0"/>
          </a:p>
        </p:txBody>
      </p:sp>
      <p:sp>
        <p:nvSpPr>
          <p:cNvPr id="11" name="Text 9"/>
          <p:cNvSpPr txBox="1"/>
          <p:nvPr/>
        </p:nvSpPr>
        <p:spPr>
          <a:xfrm>
            <a:off x="731520" y="3167939"/>
            <a:ext cx="10728655" cy="433426"/>
          </a:xfrm>
          <a:prstGeom prst="rect">
            <a:avLst/>
          </a:prstGeom>
          <a:noFill/>
          <a:ln/>
        </p:spPr>
        <p:txBody>
          <a:bodyPr wrap="square" lIns="0" tIns="0" rIns="0" bIns="0" rtlCol="0" anchor="t"/>
          <a:lstStyle/>
          <a:p>
            <a:pPr marL="0" indent="0">
              <a:lnSpc>
                <a:spcPct val="92000"/>
              </a:lnSpc>
              <a:buNone/>
            </a:pPr>
            <a:r>
              <a:rPr lang="en-GB" sz="1350" b="1" noProof="0" dirty="0">
                <a:solidFill>
                  <a:srgbClr val="1B6E4A"/>
                </a:solidFill>
                <a:latin typeface="Calibri" pitchFamily="34" charset="0"/>
                <a:ea typeface="Calibri" pitchFamily="34" charset="-122"/>
                <a:cs typeface="Calibri" pitchFamily="34" charset="-120"/>
              </a:rPr>
              <a:t>Correct: B. </a:t>
            </a:r>
            <a:r>
              <a:rPr lang="en-GB" sz="1350" noProof="0" dirty="0">
                <a:solidFill>
                  <a:srgbClr val="0B1F3F"/>
                </a:solidFill>
                <a:latin typeface="Calibri" pitchFamily="34" charset="0"/>
                <a:ea typeface="Calibri" pitchFamily="34" charset="-122"/>
                <a:cs typeface="Calibri" pitchFamily="34" charset="-120"/>
              </a:rPr>
              <a:t>Together those two dates measure diagnostic delay, which is the key indicator in a setting without an organised screening programme.</a:t>
            </a:r>
            <a:endParaRPr lang="en-GB" sz="1350" noProof="0" dirty="0"/>
          </a:p>
        </p:txBody>
      </p:sp>
      <p:sp>
        <p:nvSpPr>
          <p:cNvPr id="12" name="Shape 10"/>
          <p:cNvSpPr/>
          <p:nvPr/>
        </p:nvSpPr>
        <p:spPr>
          <a:xfrm>
            <a:off x="548640" y="3875684"/>
            <a:ext cx="11094415" cy="2146097"/>
          </a:xfrm>
          <a:prstGeom prst="roundRect">
            <a:avLst>
              <a:gd name="adj" fmla="val 2556"/>
            </a:avLst>
          </a:prstGeom>
          <a:solidFill>
            <a:srgbClr val="F4F8FC"/>
          </a:solidFill>
          <a:ln w="12700">
            <a:solidFill>
              <a:srgbClr val="C8D8EC"/>
            </a:solidFill>
            <a:prstDash val="solid"/>
          </a:ln>
        </p:spPr>
        <p:txBody>
          <a:bodyPr/>
          <a:lstStyle/>
          <a:p>
            <a:endParaRPr lang="en-GB" noProof="0" dirty="0"/>
          </a:p>
        </p:txBody>
      </p:sp>
      <p:sp>
        <p:nvSpPr>
          <p:cNvPr id="13" name="Text 11"/>
          <p:cNvSpPr txBox="1"/>
          <p:nvPr/>
        </p:nvSpPr>
        <p:spPr>
          <a:xfrm>
            <a:off x="731520" y="3985412"/>
            <a:ext cx="10728655" cy="384048"/>
          </a:xfrm>
          <a:prstGeom prst="rect">
            <a:avLst/>
          </a:prstGeom>
          <a:noFill/>
          <a:ln/>
        </p:spPr>
        <p:txBody>
          <a:bodyPr wrap="square" lIns="0" tIns="0" rIns="0" bIns="0" rtlCol="0" anchor="t"/>
          <a:lstStyle/>
          <a:p>
            <a:pPr marL="0" indent="0">
              <a:buNone/>
            </a:pPr>
            <a:r>
              <a:rPr lang="en-GB" sz="1800" b="1" noProof="0" dirty="0">
                <a:solidFill>
                  <a:srgbClr val="12315B"/>
                </a:solidFill>
                <a:latin typeface="Calibri" pitchFamily="34" charset="0"/>
                <a:ea typeface="Calibri" pitchFamily="34" charset="-122"/>
                <a:cs typeface="Calibri" pitchFamily="34" charset="-120"/>
              </a:rPr>
              <a:t>Q4. Good counselling before referral:</a:t>
            </a:r>
            <a:endParaRPr lang="en-GB" sz="1800" noProof="0" dirty="0"/>
          </a:p>
        </p:txBody>
      </p:sp>
      <p:sp>
        <p:nvSpPr>
          <p:cNvPr id="14" name="Text 12"/>
          <p:cNvSpPr txBox="1"/>
          <p:nvPr/>
        </p:nvSpPr>
        <p:spPr>
          <a:xfrm>
            <a:off x="731520" y="4406036"/>
            <a:ext cx="5250028" cy="566928"/>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A. </a:t>
            </a:r>
            <a:r>
              <a:rPr lang="en-GB" sz="1800" noProof="0" dirty="0">
                <a:solidFill>
                  <a:srgbClr val="1F3A63"/>
                </a:solidFill>
                <a:latin typeface="Calibri" pitchFamily="34" charset="0"/>
                <a:ea typeface="Calibri" pitchFamily="34" charset="-122"/>
                <a:cs typeface="Calibri" pitchFamily="34" charset="-120"/>
              </a:rPr>
              <a:t>Promises that it is not cancer</a:t>
            </a:r>
            <a:endParaRPr lang="en-GB" sz="1800" noProof="0" dirty="0"/>
          </a:p>
        </p:txBody>
      </p:sp>
      <p:sp>
        <p:nvSpPr>
          <p:cNvPr id="15" name="Text 13"/>
          <p:cNvSpPr txBox="1"/>
          <p:nvPr/>
        </p:nvSpPr>
        <p:spPr>
          <a:xfrm>
            <a:off x="6210148" y="4406036"/>
            <a:ext cx="5250028" cy="566928"/>
          </a:xfrm>
          <a:prstGeom prst="rect">
            <a:avLst/>
          </a:prstGeom>
          <a:noFill/>
          <a:ln/>
        </p:spPr>
        <p:txBody>
          <a:bodyPr wrap="square" lIns="0" tIns="0" rIns="0" bIns="0" rtlCol="0" anchor="t"/>
          <a:lstStyle/>
          <a:p>
            <a:pPr marL="0" indent="0">
              <a:lnSpc>
                <a:spcPct val="90000"/>
              </a:lnSpc>
              <a:buNone/>
            </a:pPr>
            <a:r>
              <a:rPr lang="en-GB" sz="1800" b="1" noProof="0" dirty="0">
                <a:solidFill>
                  <a:srgbClr val="1B6E4A"/>
                </a:solidFill>
                <a:latin typeface="Calibri" pitchFamily="34" charset="0"/>
                <a:ea typeface="Calibri" pitchFamily="34" charset="-122"/>
                <a:cs typeface="Calibri" pitchFamily="34" charset="-120"/>
              </a:rPr>
              <a:t>B. Explains the next step honestly and allows questions</a:t>
            </a:r>
            <a:endParaRPr lang="en-GB" sz="1800" noProof="0" dirty="0"/>
          </a:p>
        </p:txBody>
      </p:sp>
      <p:sp>
        <p:nvSpPr>
          <p:cNvPr id="16" name="Text 14"/>
          <p:cNvSpPr txBox="1"/>
          <p:nvPr/>
        </p:nvSpPr>
        <p:spPr>
          <a:xfrm>
            <a:off x="731520" y="5027828"/>
            <a:ext cx="5250028" cy="566928"/>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C. </a:t>
            </a:r>
            <a:r>
              <a:rPr lang="en-GB" sz="1800" noProof="0" dirty="0">
                <a:solidFill>
                  <a:srgbClr val="1F3A63"/>
                </a:solidFill>
                <a:latin typeface="Calibri" pitchFamily="34" charset="0"/>
                <a:ea typeface="Calibri" pitchFamily="34" charset="-122"/>
                <a:cs typeface="Calibri" pitchFamily="34" charset="-120"/>
              </a:rPr>
              <a:t>Withholds the reason for referral to avoid worry</a:t>
            </a:r>
            <a:endParaRPr lang="en-GB" sz="1800" noProof="0" dirty="0"/>
          </a:p>
        </p:txBody>
      </p:sp>
      <p:sp>
        <p:nvSpPr>
          <p:cNvPr id="17" name="Text 15"/>
          <p:cNvSpPr txBox="1"/>
          <p:nvPr/>
        </p:nvSpPr>
        <p:spPr>
          <a:xfrm>
            <a:off x="6210148" y="5027828"/>
            <a:ext cx="5250028" cy="566928"/>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D. </a:t>
            </a:r>
            <a:r>
              <a:rPr lang="en-GB" sz="1800" noProof="0" dirty="0">
                <a:solidFill>
                  <a:srgbClr val="1F3A63"/>
                </a:solidFill>
                <a:latin typeface="Calibri" pitchFamily="34" charset="0"/>
                <a:ea typeface="Calibri" pitchFamily="34" charset="-122"/>
                <a:cs typeface="Calibri" pitchFamily="34" charset="-120"/>
              </a:rPr>
              <a:t>Leaves the person to arrange the appointment</a:t>
            </a:r>
            <a:endParaRPr lang="en-GB" sz="1800" noProof="0" dirty="0"/>
          </a:p>
        </p:txBody>
      </p:sp>
      <p:sp>
        <p:nvSpPr>
          <p:cNvPr id="18" name="Text 16"/>
          <p:cNvSpPr txBox="1"/>
          <p:nvPr/>
        </p:nvSpPr>
        <p:spPr>
          <a:xfrm>
            <a:off x="731520" y="5704484"/>
            <a:ext cx="10728655" cy="244145"/>
          </a:xfrm>
          <a:prstGeom prst="rect">
            <a:avLst/>
          </a:prstGeom>
          <a:noFill/>
          <a:ln/>
        </p:spPr>
        <p:txBody>
          <a:bodyPr wrap="square" lIns="0" tIns="0" rIns="0" bIns="0" rtlCol="0" anchor="t"/>
          <a:lstStyle/>
          <a:p>
            <a:pPr marL="0" indent="0">
              <a:lnSpc>
                <a:spcPct val="92000"/>
              </a:lnSpc>
              <a:buNone/>
            </a:pPr>
            <a:r>
              <a:rPr lang="en-GB" sz="1350" b="1" noProof="0" dirty="0">
                <a:solidFill>
                  <a:srgbClr val="1B6E4A"/>
                </a:solidFill>
                <a:latin typeface="Calibri" pitchFamily="34" charset="0"/>
                <a:ea typeface="Calibri" pitchFamily="34" charset="-122"/>
                <a:cs typeface="Calibri" pitchFamily="34" charset="-120"/>
              </a:rPr>
              <a:t>Correct: B. </a:t>
            </a:r>
            <a:r>
              <a:rPr lang="en-GB" sz="1350" noProof="0" dirty="0">
                <a:solidFill>
                  <a:srgbClr val="0B1F3F"/>
                </a:solidFill>
                <a:latin typeface="Calibri" pitchFamily="34" charset="0"/>
                <a:ea typeface="Calibri" pitchFamily="34" charset="-122"/>
                <a:cs typeface="Calibri" pitchFamily="34" charset="-120"/>
              </a:rPr>
              <a:t>Explain respectfully, allow questions, correct myths, and arrange the referral yourself rather than leaving it to the person.</a:t>
            </a:r>
            <a:endParaRPr lang="en-GB" sz="1350" noProof="0" dirty="0"/>
          </a:p>
        </p:txBody>
      </p:sp>
    </p:spTree>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name="Slide 7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en-GB" sz="1100" b="1" kern="0" spc="100" noProof="0" dirty="0">
                <a:solidFill>
                  <a:srgbClr val="5B7699"/>
                </a:solidFill>
                <a:latin typeface="Calibri" pitchFamily="34" charset="0"/>
                <a:ea typeface="Calibri" pitchFamily="34" charset="-122"/>
                <a:cs typeface="Calibri" pitchFamily="34" charset="-120"/>
              </a:rPr>
              <a:t>S E S S I O N   3</a:t>
            </a:r>
            <a:endParaRPr lang="en-GB"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en-GB" sz="1000" noProof="0" dirty="0">
                <a:solidFill>
                  <a:srgbClr val="5B7699"/>
                </a:solidFill>
                <a:latin typeface="Calibri" pitchFamily="34" charset="0"/>
                <a:ea typeface="Calibri" pitchFamily="34" charset="-122"/>
                <a:cs typeface="Calibri" pitchFamily="34" charset="-120"/>
              </a:rPr>
              <a:t>Breast Cancer  |  Frontline HCP  |  Rwanda Biomedical Centre</a:t>
            </a:r>
            <a:endParaRPr lang="en-GB"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en-GB" sz="3000" b="1" noProof="0" dirty="0">
                <a:solidFill>
                  <a:srgbClr val="12315B"/>
                </a:solidFill>
                <a:latin typeface="Calibri" pitchFamily="34" charset="0"/>
                <a:ea typeface="Calibri" pitchFamily="34" charset="-122"/>
                <a:cs typeface="Calibri" pitchFamily="34" charset="-120"/>
              </a:rPr>
              <a:t>Knowledge check (3 of 3)</a:t>
            </a:r>
            <a:endParaRPr lang="en-GB" sz="3000" noProof="0" dirty="0"/>
          </a:p>
        </p:txBody>
      </p:sp>
      <p:sp>
        <p:nvSpPr>
          <p:cNvPr id="5" name="Shape 3"/>
          <p:cNvSpPr/>
          <p:nvPr/>
        </p:nvSpPr>
        <p:spPr>
          <a:xfrm>
            <a:off x="548640" y="1491386"/>
            <a:ext cx="11094415" cy="2335378"/>
          </a:xfrm>
          <a:prstGeom prst="roundRect">
            <a:avLst>
              <a:gd name="adj" fmla="val 2349"/>
            </a:avLst>
          </a:prstGeom>
          <a:solidFill>
            <a:srgbClr val="F4F8FC"/>
          </a:solidFill>
          <a:ln w="12700">
            <a:solidFill>
              <a:srgbClr val="C8D8EC"/>
            </a:solidFill>
            <a:prstDash val="solid"/>
          </a:ln>
        </p:spPr>
        <p:txBody>
          <a:bodyPr/>
          <a:lstStyle/>
          <a:p>
            <a:endParaRPr lang="en-GB" noProof="0" dirty="0"/>
          </a:p>
        </p:txBody>
      </p:sp>
      <p:sp>
        <p:nvSpPr>
          <p:cNvPr id="6" name="Text 4"/>
          <p:cNvSpPr txBox="1"/>
          <p:nvPr/>
        </p:nvSpPr>
        <p:spPr>
          <a:xfrm>
            <a:off x="731520" y="1601114"/>
            <a:ext cx="10728655" cy="384048"/>
          </a:xfrm>
          <a:prstGeom prst="rect">
            <a:avLst/>
          </a:prstGeom>
          <a:noFill/>
          <a:ln/>
        </p:spPr>
        <p:txBody>
          <a:bodyPr wrap="square" lIns="0" tIns="0" rIns="0" bIns="0" rtlCol="0" anchor="t"/>
          <a:lstStyle/>
          <a:p>
            <a:pPr marL="0" indent="0">
              <a:buNone/>
            </a:pPr>
            <a:r>
              <a:rPr lang="en-GB" sz="1800" b="1" noProof="0" dirty="0">
                <a:solidFill>
                  <a:srgbClr val="12315B"/>
                </a:solidFill>
                <a:latin typeface="Calibri" pitchFamily="34" charset="0"/>
                <a:ea typeface="Calibri" pitchFamily="34" charset="-122"/>
                <a:cs typeface="Calibri" pitchFamily="34" charset="-120"/>
              </a:rPr>
              <a:t>Q5. A woman refuses biopsy because she believes cutting the lump will make the cancer spread. You should:</a:t>
            </a:r>
            <a:endParaRPr lang="en-GB" sz="1800" noProof="0" dirty="0"/>
          </a:p>
        </p:txBody>
      </p:sp>
      <p:sp>
        <p:nvSpPr>
          <p:cNvPr id="7" name="Text 5"/>
          <p:cNvSpPr txBox="1"/>
          <p:nvPr/>
        </p:nvSpPr>
        <p:spPr>
          <a:xfrm>
            <a:off x="731520" y="2021738"/>
            <a:ext cx="5250028" cy="813816"/>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A. </a:t>
            </a:r>
            <a:r>
              <a:rPr lang="en-GB" sz="1800" noProof="0" dirty="0">
                <a:solidFill>
                  <a:srgbClr val="1F3A63"/>
                </a:solidFill>
                <a:latin typeface="Calibri" pitchFamily="34" charset="0"/>
                <a:ea typeface="Calibri" pitchFamily="34" charset="-122"/>
                <a:cs typeface="Calibri" pitchFamily="34" charset="-120"/>
              </a:rPr>
              <a:t>Accept her decision without discussion</a:t>
            </a:r>
            <a:endParaRPr lang="en-GB" sz="1800" noProof="0" dirty="0"/>
          </a:p>
        </p:txBody>
      </p:sp>
      <p:sp>
        <p:nvSpPr>
          <p:cNvPr id="8" name="Text 6"/>
          <p:cNvSpPr txBox="1"/>
          <p:nvPr/>
        </p:nvSpPr>
        <p:spPr>
          <a:xfrm>
            <a:off x="6210148" y="2021738"/>
            <a:ext cx="5250028" cy="813816"/>
          </a:xfrm>
          <a:prstGeom prst="rect">
            <a:avLst/>
          </a:prstGeom>
          <a:noFill/>
          <a:ln/>
        </p:spPr>
        <p:txBody>
          <a:bodyPr wrap="square" lIns="0" tIns="0" rIns="0" bIns="0" rtlCol="0" anchor="t"/>
          <a:lstStyle/>
          <a:p>
            <a:pPr marL="0" indent="0">
              <a:lnSpc>
                <a:spcPct val="90000"/>
              </a:lnSpc>
              <a:buNone/>
            </a:pPr>
            <a:r>
              <a:rPr lang="en-GB" sz="1800" b="1" noProof="0" dirty="0">
                <a:solidFill>
                  <a:srgbClr val="1B6E4A"/>
                </a:solidFill>
                <a:latin typeface="Calibri" pitchFamily="34" charset="0"/>
                <a:ea typeface="Calibri" pitchFamily="34" charset="-122"/>
                <a:cs typeface="Calibri" pitchFamily="34" charset="-120"/>
              </a:rPr>
              <a:t>B. Explain that a biopsy takes a small sample so the tissue can be examined, and that it does not cause cancer to spread</a:t>
            </a:r>
            <a:endParaRPr lang="en-GB" sz="1800" noProof="0" dirty="0"/>
          </a:p>
        </p:txBody>
      </p:sp>
      <p:sp>
        <p:nvSpPr>
          <p:cNvPr id="9" name="Text 7"/>
          <p:cNvSpPr txBox="1"/>
          <p:nvPr/>
        </p:nvSpPr>
        <p:spPr>
          <a:xfrm>
            <a:off x="731520" y="2890418"/>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C. </a:t>
            </a:r>
            <a:r>
              <a:rPr lang="en-GB" sz="1800" noProof="0" dirty="0">
                <a:solidFill>
                  <a:srgbClr val="1F3A63"/>
                </a:solidFill>
                <a:latin typeface="Calibri" pitchFamily="34" charset="0"/>
                <a:ea typeface="Calibri" pitchFamily="34" charset="-122"/>
                <a:cs typeface="Calibri" pitchFamily="34" charset="-120"/>
              </a:rPr>
              <a:t>Tell her the belief is foolish</a:t>
            </a:r>
            <a:endParaRPr lang="en-GB" sz="1800" noProof="0" dirty="0"/>
          </a:p>
        </p:txBody>
      </p:sp>
      <p:sp>
        <p:nvSpPr>
          <p:cNvPr id="10" name="Text 8"/>
          <p:cNvSpPr txBox="1"/>
          <p:nvPr/>
        </p:nvSpPr>
        <p:spPr>
          <a:xfrm>
            <a:off x="6210148" y="2890418"/>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D. </a:t>
            </a:r>
            <a:r>
              <a:rPr lang="en-GB" sz="1800" noProof="0" dirty="0">
                <a:solidFill>
                  <a:srgbClr val="1F3A63"/>
                </a:solidFill>
                <a:latin typeface="Calibri" pitchFamily="34" charset="0"/>
                <a:ea typeface="Calibri" pitchFamily="34" charset="-122"/>
                <a:cs typeface="Calibri" pitchFamily="34" charset="-120"/>
              </a:rPr>
              <a:t>Refer her without addressing the belief</a:t>
            </a:r>
            <a:endParaRPr lang="en-GB" sz="1800" noProof="0" dirty="0"/>
          </a:p>
        </p:txBody>
      </p:sp>
      <p:sp>
        <p:nvSpPr>
          <p:cNvPr id="11" name="Text 9"/>
          <p:cNvSpPr txBox="1"/>
          <p:nvPr/>
        </p:nvSpPr>
        <p:spPr>
          <a:xfrm>
            <a:off x="731520" y="3320186"/>
            <a:ext cx="10728655" cy="433426"/>
          </a:xfrm>
          <a:prstGeom prst="rect">
            <a:avLst/>
          </a:prstGeom>
          <a:noFill/>
          <a:ln/>
        </p:spPr>
        <p:txBody>
          <a:bodyPr wrap="square" lIns="0" tIns="0" rIns="0" bIns="0" rtlCol="0" anchor="t"/>
          <a:lstStyle/>
          <a:p>
            <a:pPr marL="0" indent="0">
              <a:lnSpc>
                <a:spcPct val="92000"/>
              </a:lnSpc>
              <a:buNone/>
            </a:pPr>
            <a:r>
              <a:rPr lang="en-GB" sz="1350" b="1" noProof="0" dirty="0">
                <a:solidFill>
                  <a:srgbClr val="1B6E4A"/>
                </a:solidFill>
                <a:latin typeface="Calibri" pitchFamily="34" charset="0"/>
                <a:ea typeface="Calibri" pitchFamily="34" charset="-122"/>
                <a:cs typeface="Calibri" pitchFamily="34" charset="-120"/>
              </a:rPr>
              <a:t>Correct: B. </a:t>
            </a:r>
            <a:r>
              <a:rPr lang="en-GB" sz="1350" noProof="0" dirty="0">
                <a:solidFill>
                  <a:srgbClr val="0B1F3F"/>
                </a:solidFill>
                <a:latin typeface="Calibri" pitchFamily="34" charset="0"/>
                <a:ea typeface="Calibri" pitchFamily="34" charset="-122"/>
                <a:cs typeface="Calibri" pitchFamily="34" charset="-120"/>
              </a:rPr>
              <a:t>Correct the misconception directly and respectfully. This belief is one of the commonest reasons people decline the one test that gives an answer.</a:t>
            </a:r>
            <a:endParaRPr lang="en-GB" sz="1350" noProof="0" dirty="0"/>
          </a:p>
        </p:txBody>
      </p:sp>
      <p:sp>
        <p:nvSpPr>
          <p:cNvPr id="12" name="Shape 10"/>
          <p:cNvSpPr/>
          <p:nvPr/>
        </p:nvSpPr>
        <p:spPr>
          <a:xfrm>
            <a:off x="548640" y="4027932"/>
            <a:ext cx="11094415" cy="2088490"/>
          </a:xfrm>
          <a:prstGeom prst="roundRect">
            <a:avLst>
              <a:gd name="adj" fmla="val 2627"/>
            </a:avLst>
          </a:prstGeom>
          <a:solidFill>
            <a:srgbClr val="F4F8FC"/>
          </a:solidFill>
          <a:ln w="12700">
            <a:solidFill>
              <a:srgbClr val="C8D8EC"/>
            </a:solidFill>
            <a:prstDash val="solid"/>
          </a:ln>
        </p:spPr>
        <p:txBody>
          <a:bodyPr/>
          <a:lstStyle/>
          <a:p>
            <a:endParaRPr lang="en-GB" noProof="0" dirty="0"/>
          </a:p>
        </p:txBody>
      </p:sp>
      <p:sp>
        <p:nvSpPr>
          <p:cNvPr id="13" name="Text 11"/>
          <p:cNvSpPr txBox="1"/>
          <p:nvPr/>
        </p:nvSpPr>
        <p:spPr>
          <a:xfrm>
            <a:off x="731520" y="4137660"/>
            <a:ext cx="10728655" cy="384048"/>
          </a:xfrm>
          <a:prstGeom prst="rect">
            <a:avLst/>
          </a:prstGeom>
          <a:noFill/>
          <a:ln/>
        </p:spPr>
        <p:txBody>
          <a:bodyPr wrap="square" lIns="0" tIns="0" rIns="0" bIns="0" rtlCol="0" anchor="t"/>
          <a:lstStyle/>
          <a:p>
            <a:pPr marL="0" indent="0">
              <a:buNone/>
            </a:pPr>
            <a:r>
              <a:rPr lang="en-GB" sz="1800" b="1" noProof="0" dirty="0">
                <a:solidFill>
                  <a:srgbClr val="12315B"/>
                </a:solidFill>
                <a:latin typeface="Calibri" pitchFamily="34" charset="0"/>
                <a:ea typeface="Calibri" pitchFamily="34" charset="-122"/>
                <a:cs typeface="Calibri" pitchFamily="34" charset="-120"/>
              </a:rPr>
              <a:t>Q6. A woman referred for breast assessment has not attended after six weeks. You should:</a:t>
            </a:r>
            <a:endParaRPr lang="en-GB" sz="1800" noProof="0" dirty="0"/>
          </a:p>
        </p:txBody>
      </p:sp>
      <p:sp>
        <p:nvSpPr>
          <p:cNvPr id="14" name="Text 12"/>
          <p:cNvSpPr txBox="1"/>
          <p:nvPr/>
        </p:nvSpPr>
        <p:spPr>
          <a:xfrm>
            <a:off x="731520" y="4558284"/>
            <a:ext cx="5250028" cy="566928"/>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A. </a:t>
            </a:r>
            <a:r>
              <a:rPr lang="en-GB" sz="1800" noProof="0" dirty="0">
                <a:solidFill>
                  <a:srgbClr val="1F3A63"/>
                </a:solidFill>
                <a:latin typeface="Calibri" pitchFamily="34" charset="0"/>
                <a:ea typeface="Calibri" pitchFamily="34" charset="-122"/>
                <a:cs typeface="Calibri" pitchFamily="34" charset="-120"/>
              </a:rPr>
              <a:t>Assume she chose not to go</a:t>
            </a:r>
            <a:endParaRPr lang="en-GB" sz="1800" noProof="0" dirty="0"/>
          </a:p>
        </p:txBody>
      </p:sp>
      <p:sp>
        <p:nvSpPr>
          <p:cNvPr id="15" name="Text 13"/>
          <p:cNvSpPr txBox="1"/>
          <p:nvPr/>
        </p:nvSpPr>
        <p:spPr>
          <a:xfrm>
            <a:off x="6210148" y="4558284"/>
            <a:ext cx="5250028" cy="566928"/>
          </a:xfrm>
          <a:prstGeom prst="rect">
            <a:avLst/>
          </a:prstGeom>
          <a:noFill/>
          <a:ln/>
        </p:spPr>
        <p:txBody>
          <a:bodyPr wrap="square" lIns="0" tIns="0" rIns="0" bIns="0" rtlCol="0" anchor="t"/>
          <a:lstStyle/>
          <a:p>
            <a:pPr marL="0" indent="0">
              <a:lnSpc>
                <a:spcPct val="90000"/>
              </a:lnSpc>
              <a:buNone/>
            </a:pPr>
            <a:r>
              <a:rPr lang="en-GB" sz="1800" b="1" noProof="0" dirty="0">
                <a:solidFill>
                  <a:srgbClr val="1B6E4A"/>
                </a:solidFill>
                <a:latin typeface="Calibri" pitchFamily="34" charset="0"/>
                <a:ea typeface="Calibri" pitchFamily="34" charset="-122"/>
                <a:cs typeface="Calibri" pitchFamily="34" charset="-120"/>
              </a:rPr>
              <a:t>B. Contact her, find out what prevented attendance, and re-arrange</a:t>
            </a:r>
            <a:endParaRPr lang="en-GB" sz="1800" noProof="0" dirty="0"/>
          </a:p>
        </p:txBody>
      </p:sp>
      <p:sp>
        <p:nvSpPr>
          <p:cNvPr id="16" name="Text 14"/>
          <p:cNvSpPr txBox="1"/>
          <p:nvPr/>
        </p:nvSpPr>
        <p:spPr>
          <a:xfrm>
            <a:off x="731520" y="5180076"/>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C. </a:t>
            </a:r>
            <a:r>
              <a:rPr lang="en-GB" sz="1800" noProof="0" dirty="0">
                <a:solidFill>
                  <a:srgbClr val="1F3A63"/>
                </a:solidFill>
                <a:latin typeface="Calibri" pitchFamily="34" charset="0"/>
                <a:ea typeface="Calibri" pitchFamily="34" charset="-122"/>
                <a:cs typeface="Calibri" pitchFamily="34" charset="-120"/>
              </a:rPr>
              <a:t>Remove her from the register</a:t>
            </a:r>
            <a:endParaRPr lang="en-GB" sz="1800" noProof="0" dirty="0"/>
          </a:p>
        </p:txBody>
      </p:sp>
      <p:sp>
        <p:nvSpPr>
          <p:cNvPr id="17" name="Text 15"/>
          <p:cNvSpPr txBox="1"/>
          <p:nvPr/>
        </p:nvSpPr>
        <p:spPr>
          <a:xfrm>
            <a:off x="6210148" y="5180076"/>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D. </a:t>
            </a:r>
            <a:r>
              <a:rPr lang="en-GB" sz="1800" noProof="0" dirty="0">
                <a:solidFill>
                  <a:srgbClr val="1F3A63"/>
                </a:solidFill>
                <a:latin typeface="Calibri" pitchFamily="34" charset="0"/>
                <a:ea typeface="Calibri" pitchFamily="34" charset="-122"/>
                <a:cs typeface="Calibri" pitchFamily="34" charset="-120"/>
              </a:rPr>
              <a:t>Wait for her to return on her own</a:t>
            </a:r>
            <a:endParaRPr lang="en-GB" sz="1800" noProof="0" dirty="0"/>
          </a:p>
        </p:txBody>
      </p:sp>
      <p:sp>
        <p:nvSpPr>
          <p:cNvPr id="18" name="Text 16"/>
          <p:cNvSpPr txBox="1"/>
          <p:nvPr/>
        </p:nvSpPr>
        <p:spPr>
          <a:xfrm>
            <a:off x="731520" y="5609844"/>
            <a:ext cx="10728655" cy="433426"/>
          </a:xfrm>
          <a:prstGeom prst="rect">
            <a:avLst/>
          </a:prstGeom>
          <a:noFill/>
          <a:ln/>
        </p:spPr>
        <p:txBody>
          <a:bodyPr wrap="square" lIns="0" tIns="0" rIns="0" bIns="0" rtlCol="0" anchor="t"/>
          <a:lstStyle/>
          <a:p>
            <a:pPr marL="0" indent="0">
              <a:lnSpc>
                <a:spcPct val="92000"/>
              </a:lnSpc>
              <a:buNone/>
            </a:pPr>
            <a:r>
              <a:rPr lang="en-GB" sz="1350" b="1" noProof="0" dirty="0">
                <a:solidFill>
                  <a:srgbClr val="1B6E4A"/>
                </a:solidFill>
                <a:latin typeface="Calibri" pitchFamily="34" charset="0"/>
                <a:ea typeface="Calibri" pitchFamily="34" charset="-122"/>
                <a:cs typeface="Calibri" pitchFamily="34" charset="-120"/>
              </a:rPr>
              <a:t>Correct: B. </a:t>
            </a:r>
            <a:r>
              <a:rPr lang="en-GB" sz="1350" noProof="0" dirty="0">
                <a:solidFill>
                  <a:srgbClr val="0B1F3F"/>
                </a:solidFill>
                <a:latin typeface="Calibri" pitchFamily="34" charset="0"/>
                <a:ea typeface="Calibri" pitchFamily="34" charset="-122"/>
                <a:cs typeface="Calibri" pitchFamily="34" charset="-120"/>
              </a:rPr>
              <a:t>Loss to follow-up is one of the largest gaps in the pathway, and the reason is usually practical rather than a refusal of care.</a:t>
            </a:r>
            <a:endParaRPr lang="en-GB" sz="1350" noProof="0" dirty="0"/>
          </a:p>
        </p:txBody>
      </p:sp>
    </p:spTree>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name="Slide 7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en-GB" sz="1100" b="1" kern="0" spc="100" noProof="0" dirty="0">
                <a:solidFill>
                  <a:srgbClr val="5B7699"/>
                </a:solidFill>
                <a:latin typeface="Calibri" pitchFamily="34" charset="0"/>
                <a:ea typeface="Calibri" pitchFamily="34" charset="-122"/>
                <a:cs typeface="Calibri" pitchFamily="34" charset="-120"/>
              </a:rPr>
              <a:t>S E S S I O N   3</a:t>
            </a:r>
            <a:endParaRPr lang="en-GB"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en-GB" sz="1000" noProof="0" dirty="0">
                <a:solidFill>
                  <a:srgbClr val="5B7699"/>
                </a:solidFill>
                <a:latin typeface="Calibri" pitchFamily="34" charset="0"/>
                <a:ea typeface="Calibri" pitchFamily="34" charset="-122"/>
                <a:cs typeface="Calibri" pitchFamily="34" charset="-120"/>
              </a:rPr>
              <a:t>Breast Cancer  |  Frontline HCP  |  Rwanda Biomedical Centre</a:t>
            </a:r>
            <a:endParaRPr lang="en-GB"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en-GB" sz="3000" b="1" noProof="0" dirty="0">
                <a:solidFill>
                  <a:srgbClr val="12315B"/>
                </a:solidFill>
                <a:latin typeface="Calibri" pitchFamily="34" charset="0"/>
                <a:ea typeface="Calibri" pitchFamily="34" charset="-122"/>
                <a:cs typeface="Calibri" pitchFamily="34" charset="-120"/>
              </a:rPr>
              <a:t>Session reflection</a:t>
            </a:r>
            <a:endParaRPr lang="en-GB" sz="3000" noProof="0" dirty="0"/>
          </a:p>
        </p:txBody>
      </p:sp>
      <p:sp>
        <p:nvSpPr>
          <p:cNvPr id="5" name="Text 3"/>
          <p:cNvSpPr txBox="1"/>
          <p:nvPr/>
        </p:nvSpPr>
        <p:spPr>
          <a:xfrm>
            <a:off x="548640" y="1234440"/>
            <a:ext cx="11094415" cy="411480"/>
          </a:xfrm>
          <a:prstGeom prst="rect">
            <a:avLst/>
          </a:prstGeom>
          <a:noFill/>
          <a:ln/>
        </p:spPr>
        <p:txBody>
          <a:bodyPr wrap="square" lIns="0" tIns="0" rIns="0" bIns="0" rtlCol="0" anchor="ctr"/>
          <a:lstStyle/>
          <a:p>
            <a:pPr marL="0" indent="0">
              <a:lnSpc>
                <a:spcPct val="95000"/>
              </a:lnSpc>
              <a:buNone/>
            </a:pPr>
            <a:r>
              <a:rPr lang="en-GB" sz="1500" i="1" noProof="0" dirty="0">
                <a:solidFill>
                  <a:srgbClr val="5B7699"/>
                </a:solidFill>
                <a:latin typeface="Calibri" pitchFamily="34" charset="0"/>
                <a:ea typeface="Calibri" pitchFamily="34" charset="-122"/>
                <a:cs typeface="Calibri" pitchFamily="34" charset="-120"/>
              </a:rPr>
              <a:t>Enter your response in the text box. There is no single correct answer. These prompts are not scored, and are for your own practice and for discussion.</a:t>
            </a:r>
            <a:endParaRPr lang="en-GB" sz="1500" noProof="0" dirty="0"/>
          </a:p>
        </p:txBody>
      </p:sp>
      <p:sp>
        <p:nvSpPr>
          <p:cNvPr id="6" name="Shape 4"/>
          <p:cNvSpPr/>
          <p:nvPr/>
        </p:nvSpPr>
        <p:spPr>
          <a:xfrm>
            <a:off x="548640" y="1828800"/>
            <a:ext cx="11094415" cy="1188720"/>
          </a:xfrm>
          <a:prstGeom prst="roundRect">
            <a:avLst>
              <a:gd name="adj" fmla="val 4615"/>
            </a:avLst>
          </a:prstGeom>
          <a:solidFill>
            <a:srgbClr val="F4F8FC"/>
          </a:solidFill>
          <a:ln w="12700">
            <a:solidFill>
              <a:srgbClr val="C8D8EC"/>
            </a:solidFill>
            <a:prstDash val="solid"/>
          </a:ln>
        </p:spPr>
        <p:txBody>
          <a:bodyPr/>
          <a:lstStyle/>
          <a:p>
            <a:endParaRPr lang="en-GB" noProof="0" dirty="0"/>
          </a:p>
        </p:txBody>
      </p:sp>
      <p:sp>
        <p:nvSpPr>
          <p:cNvPr id="7" name="Shape 5"/>
          <p:cNvSpPr/>
          <p:nvPr/>
        </p:nvSpPr>
        <p:spPr>
          <a:xfrm>
            <a:off x="777240" y="2203704"/>
            <a:ext cx="438912" cy="438912"/>
          </a:xfrm>
          <a:prstGeom prst="ellipse">
            <a:avLst/>
          </a:prstGeom>
          <a:solidFill>
            <a:srgbClr val="12315B"/>
          </a:solidFill>
          <a:ln/>
        </p:spPr>
        <p:txBody>
          <a:bodyPr/>
          <a:lstStyle/>
          <a:p>
            <a:endParaRPr lang="en-GB" noProof="0" dirty="0"/>
          </a:p>
        </p:txBody>
      </p:sp>
      <p:sp>
        <p:nvSpPr>
          <p:cNvPr id="8" name="Text 6"/>
          <p:cNvSpPr txBox="1"/>
          <p:nvPr/>
        </p:nvSpPr>
        <p:spPr>
          <a:xfrm>
            <a:off x="777240" y="2203704"/>
            <a:ext cx="438912" cy="438912"/>
          </a:xfrm>
          <a:prstGeom prst="rect">
            <a:avLst/>
          </a:prstGeom>
          <a:noFill/>
          <a:ln/>
        </p:spPr>
        <p:txBody>
          <a:bodyPr wrap="square" lIns="0" tIns="0" rIns="0" bIns="0" rtlCol="0" anchor="ctr"/>
          <a:lstStyle/>
          <a:p>
            <a:pPr marL="0" indent="0" algn="ctr">
              <a:buNone/>
            </a:pPr>
            <a:r>
              <a:rPr lang="en-GB" sz="1800" b="1" noProof="0" dirty="0">
                <a:solidFill>
                  <a:srgbClr val="FFFFFF"/>
                </a:solidFill>
                <a:latin typeface="Calibri" pitchFamily="34" charset="0"/>
                <a:ea typeface="Calibri" pitchFamily="34" charset="-122"/>
                <a:cs typeface="Calibri" pitchFamily="34" charset="-120"/>
              </a:rPr>
              <a:t>1</a:t>
            </a:r>
            <a:endParaRPr lang="en-GB" sz="1800" noProof="0" dirty="0"/>
          </a:p>
        </p:txBody>
      </p:sp>
      <p:sp>
        <p:nvSpPr>
          <p:cNvPr id="9" name="Text 7"/>
          <p:cNvSpPr txBox="1"/>
          <p:nvPr/>
        </p:nvSpPr>
        <p:spPr>
          <a:xfrm>
            <a:off x="1417320" y="1938528"/>
            <a:ext cx="9997135" cy="969264"/>
          </a:xfrm>
          <a:prstGeom prst="rect">
            <a:avLst/>
          </a:prstGeom>
          <a:noFill/>
          <a:ln/>
        </p:spPr>
        <p:txBody>
          <a:bodyPr wrap="square" lIns="0" tIns="0" rIns="0" bIns="0" rtlCol="0" anchor="ctr"/>
          <a:lstStyle/>
          <a:p>
            <a:pPr marL="0" indent="0">
              <a:lnSpc>
                <a:spcPct val="95000"/>
              </a:lnSpc>
              <a:buNone/>
            </a:pPr>
            <a:r>
              <a:rPr lang="en-GB" sz="1800" noProof="0" dirty="0">
                <a:solidFill>
                  <a:srgbClr val="0B1F3F"/>
                </a:solidFill>
                <a:latin typeface="Calibri" pitchFamily="34" charset="0"/>
                <a:ea typeface="Calibri" pitchFamily="34" charset="-122"/>
                <a:cs typeface="Calibri" pitchFamily="34" charset="-120"/>
              </a:rPr>
              <a:t>How would you explain to a worried patient that you are referring her, without stating or implying that she has cancer?</a:t>
            </a:r>
            <a:endParaRPr lang="en-GB" sz="1800" noProof="0" dirty="0"/>
          </a:p>
        </p:txBody>
      </p:sp>
      <p:sp>
        <p:nvSpPr>
          <p:cNvPr id="10" name="Shape 8"/>
          <p:cNvSpPr/>
          <p:nvPr/>
        </p:nvSpPr>
        <p:spPr>
          <a:xfrm>
            <a:off x="548640" y="3218688"/>
            <a:ext cx="11094415" cy="1188720"/>
          </a:xfrm>
          <a:prstGeom prst="roundRect">
            <a:avLst>
              <a:gd name="adj" fmla="val 4615"/>
            </a:avLst>
          </a:prstGeom>
          <a:solidFill>
            <a:srgbClr val="F4F8FC"/>
          </a:solidFill>
          <a:ln w="12700">
            <a:solidFill>
              <a:srgbClr val="C8D8EC"/>
            </a:solidFill>
            <a:prstDash val="solid"/>
          </a:ln>
        </p:spPr>
        <p:txBody>
          <a:bodyPr/>
          <a:lstStyle/>
          <a:p>
            <a:endParaRPr lang="en-GB" noProof="0" dirty="0"/>
          </a:p>
        </p:txBody>
      </p:sp>
      <p:sp>
        <p:nvSpPr>
          <p:cNvPr id="11" name="Shape 9"/>
          <p:cNvSpPr/>
          <p:nvPr/>
        </p:nvSpPr>
        <p:spPr>
          <a:xfrm>
            <a:off x="777240" y="3593592"/>
            <a:ext cx="438912" cy="438912"/>
          </a:xfrm>
          <a:prstGeom prst="ellipse">
            <a:avLst/>
          </a:prstGeom>
          <a:solidFill>
            <a:srgbClr val="12315B"/>
          </a:solidFill>
          <a:ln/>
        </p:spPr>
        <p:txBody>
          <a:bodyPr/>
          <a:lstStyle/>
          <a:p>
            <a:endParaRPr lang="en-GB" noProof="0" dirty="0"/>
          </a:p>
        </p:txBody>
      </p:sp>
      <p:sp>
        <p:nvSpPr>
          <p:cNvPr id="12" name="Text 10"/>
          <p:cNvSpPr txBox="1"/>
          <p:nvPr/>
        </p:nvSpPr>
        <p:spPr>
          <a:xfrm>
            <a:off x="777240" y="3593592"/>
            <a:ext cx="438912" cy="438912"/>
          </a:xfrm>
          <a:prstGeom prst="rect">
            <a:avLst/>
          </a:prstGeom>
          <a:noFill/>
          <a:ln/>
        </p:spPr>
        <p:txBody>
          <a:bodyPr wrap="square" lIns="0" tIns="0" rIns="0" bIns="0" rtlCol="0" anchor="ctr"/>
          <a:lstStyle/>
          <a:p>
            <a:pPr marL="0" indent="0" algn="ctr">
              <a:buNone/>
            </a:pPr>
            <a:r>
              <a:rPr lang="en-GB" sz="1800" b="1" noProof="0" dirty="0">
                <a:solidFill>
                  <a:srgbClr val="FFFFFF"/>
                </a:solidFill>
                <a:latin typeface="Calibri" pitchFamily="34" charset="0"/>
                <a:ea typeface="Calibri" pitchFamily="34" charset="-122"/>
                <a:cs typeface="Calibri" pitchFamily="34" charset="-120"/>
              </a:rPr>
              <a:t>2</a:t>
            </a:r>
            <a:endParaRPr lang="en-GB" sz="1800" noProof="0" dirty="0"/>
          </a:p>
        </p:txBody>
      </p:sp>
      <p:sp>
        <p:nvSpPr>
          <p:cNvPr id="13" name="Text 11"/>
          <p:cNvSpPr txBox="1"/>
          <p:nvPr/>
        </p:nvSpPr>
        <p:spPr>
          <a:xfrm>
            <a:off x="1417320" y="3328416"/>
            <a:ext cx="9997135" cy="969264"/>
          </a:xfrm>
          <a:prstGeom prst="rect">
            <a:avLst/>
          </a:prstGeom>
          <a:noFill/>
          <a:ln/>
        </p:spPr>
        <p:txBody>
          <a:bodyPr wrap="square" lIns="0" tIns="0" rIns="0" bIns="0" rtlCol="0" anchor="ctr"/>
          <a:lstStyle/>
          <a:p>
            <a:pPr marL="0" indent="0">
              <a:lnSpc>
                <a:spcPct val="95000"/>
              </a:lnSpc>
              <a:buNone/>
            </a:pPr>
            <a:r>
              <a:rPr lang="en-GB" sz="1800" noProof="0" dirty="0">
                <a:solidFill>
                  <a:srgbClr val="0B1F3F"/>
                </a:solidFill>
                <a:latin typeface="Calibri" pitchFamily="34" charset="0"/>
                <a:ea typeface="Calibri" pitchFamily="34" charset="-122"/>
                <a:cs typeface="Calibri" pitchFamily="34" charset="-120"/>
              </a:rPr>
              <a:t>How would you answer someone who says that she would rather not know, because treatment means losing her breast?</a:t>
            </a:r>
            <a:endParaRPr lang="en-GB" sz="1800" noProof="0" dirty="0"/>
          </a:p>
        </p:txBody>
      </p:sp>
      <p:sp>
        <p:nvSpPr>
          <p:cNvPr id="14" name="Shape 12"/>
          <p:cNvSpPr/>
          <p:nvPr/>
        </p:nvSpPr>
        <p:spPr>
          <a:xfrm>
            <a:off x="548640" y="4608576"/>
            <a:ext cx="11094415" cy="1188720"/>
          </a:xfrm>
          <a:prstGeom prst="roundRect">
            <a:avLst>
              <a:gd name="adj" fmla="val 4615"/>
            </a:avLst>
          </a:prstGeom>
          <a:solidFill>
            <a:srgbClr val="F4F8FC"/>
          </a:solidFill>
          <a:ln w="12700">
            <a:solidFill>
              <a:srgbClr val="C8D8EC"/>
            </a:solidFill>
            <a:prstDash val="solid"/>
          </a:ln>
        </p:spPr>
        <p:txBody>
          <a:bodyPr/>
          <a:lstStyle/>
          <a:p>
            <a:endParaRPr lang="en-GB" noProof="0" dirty="0"/>
          </a:p>
        </p:txBody>
      </p:sp>
      <p:sp>
        <p:nvSpPr>
          <p:cNvPr id="15" name="Shape 13"/>
          <p:cNvSpPr/>
          <p:nvPr/>
        </p:nvSpPr>
        <p:spPr>
          <a:xfrm>
            <a:off x="777240" y="4983480"/>
            <a:ext cx="438912" cy="438912"/>
          </a:xfrm>
          <a:prstGeom prst="ellipse">
            <a:avLst/>
          </a:prstGeom>
          <a:solidFill>
            <a:srgbClr val="12315B"/>
          </a:solidFill>
          <a:ln/>
        </p:spPr>
        <p:txBody>
          <a:bodyPr/>
          <a:lstStyle/>
          <a:p>
            <a:endParaRPr lang="en-GB" noProof="0" dirty="0"/>
          </a:p>
        </p:txBody>
      </p:sp>
      <p:sp>
        <p:nvSpPr>
          <p:cNvPr id="16" name="Text 14"/>
          <p:cNvSpPr txBox="1"/>
          <p:nvPr/>
        </p:nvSpPr>
        <p:spPr>
          <a:xfrm>
            <a:off x="777240" y="4983480"/>
            <a:ext cx="438912" cy="438912"/>
          </a:xfrm>
          <a:prstGeom prst="rect">
            <a:avLst/>
          </a:prstGeom>
          <a:noFill/>
          <a:ln/>
        </p:spPr>
        <p:txBody>
          <a:bodyPr wrap="square" lIns="0" tIns="0" rIns="0" bIns="0" rtlCol="0" anchor="ctr"/>
          <a:lstStyle/>
          <a:p>
            <a:pPr marL="0" indent="0" algn="ctr">
              <a:buNone/>
            </a:pPr>
            <a:r>
              <a:rPr lang="en-GB" sz="1800" b="1" noProof="0" dirty="0">
                <a:solidFill>
                  <a:srgbClr val="FFFFFF"/>
                </a:solidFill>
                <a:latin typeface="Calibri" pitchFamily="34" charset="0"/>
                <a:ea typeface="Calibri" pitchFamily="34" charset="-122"/>
                <a:cs typeface="Calibri" pitchFamily="34" charset="-120"/>
              </a:rPr>
              <a:t>3</a:t>
            </a:r>
            <a:endParaRPr lang="en-GB" sz="1800" noProof="0" dirty="0"/>
          </a:p>
        </p:txBody>
      </p:sp>
      <p:sp>
        <p:nvSpPr>
          <p:cNvPr id="17" name="Text 15"/>
          <p:cNvSpPr txBox="1"/>
          <p:nvPr/>
        </p:nvSpPr>
        <p:spPr>
          <a:xfrm>
            <a:off x="1417320" y="4718304"/>
            <a:ext cx="9997135" cy="969264"/>
          </a:xfrm>
          <a:prstGeom prst="rect">
            <a:avLst/>
          </a:prstGeom>
          <a:noFill/>
          <a:ln/>
        </p:spPr>
        <p:txBody>
          <a:bodyPr wrap="square" lIns="0" tIns="0" rIns="0" bIns="0" rtlCol="0" anchor="ctr"/>
          <a:lstStyle/>
          <a:p>
            <a:pPr marL="0" indent="0">
              <a:lnSpc>
                <a:spcPct val="95000"/>
              </a:lnSpc>
              <a:buNone/>
            </a:pPr>
            <a:r>
              <a:rPr lang="en-GB" sz="1800" noProof="0" dirty="0">
                <a:solidFill>
                  <a:srgbClr val="0B1F3F"/>
                </a:solidFill>
                <a:latin typeface="Calibri" pitchFamily="34" charset="0"/>
                <a:ea typeface="Calibri" pitchFamily="34" charset="-122"/>
                <a:cs typeface="Calibri" pitchFamily="34" charset="-120"/>
              </a:rPr>
              <a:t>What is one thing you could change about how you make a referral, so that more people actually complete it?</a:t>
            </a:r>
            <a:endParaRPr lang="en-GB" sz="1800" noProof="0" dirty="0"/>
          </a:p>
        </p:txBody>
      </p:sp>
    </p:spTree>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name="Slide 80">
    <p:bg>
      <p:bgPr>
        <a:solidFill>
          <a:srgbClr val="12315B"/>
        </a:solidFill>
        <a:effectLst/>
      </p:bgPr>
    </p:bg>
    <p:spTree>
      <p:nvGrpSpPr>
        <p:cNvPr id="1" name=""/>
        <p:cNvGrpSpPr/>
        <p:nvPr/>
      </p:nvGrpSpPr>
      <p:grpSpPr>
        <a:xfrm>
          <a:off x="0" y="0"/>
          <a:ext cx="0" cy="0"/>
          <a:chOff x="0" y="0"/>
          <a:chExt cx="0" cy="0"/>
        </a:xfrm>
      </p:grpSpPr>
      <p:sp>
        <p:nvSpPr>
          <p:cNvPr id="2" name="Text 0"/>
          <p:cNvSpPr txBox="1"/>
          <p:nvPr/>
        </p:nvSpPr>
        <p:spPr>
          <a:xfrm>
            <a:off x="868680" y="1417320"/>
            <a:ext cx="2011680" cy="1737360"/>
          </a:xfrm>
          <a:prstGeom prst="rect">
            <a:avLst/>
          </a:prstGeom>
          <a:noFill/>
          <a:ln/>
        </p:spPr>
        <p:txBody>
          <a:bodyPr wrap="square" lIns="0" tIns="0" rIns="0" bIns="0" rtlCol="0" anchor="ctr"/>
          <a:lstStyle/>
          <a:p>
            <a:pPr marL="0" indent="0">
              <a:buNone/>
            </a:pPr>
            <a:r>
              <a:rPr lang="en-GB" sz="12000" b="1" noProof="0" dirty="0">
                <a:solidFill>
                  <a:srgbClr val="2C5C99"/>
                </a:solidFill>
                <a:latin typeface="Calibri" pitchFamily="34" charset="0"/>
                <a:ea typeface="Calibri" pitchFamily="34" charset="-122"/>
                <a:cs typeface="Calibri" pitchFamily="34" charset="-120"/>
              </a:rPr>
              <a:t>4</a:t>
            </a:r>
            <a:endParaRPr lang="en-GB" sz="12000" noProof="0" dirty="0"/>
          </a:p>
        </p:txBody>
      </p:sp>
      <p:sp>
        <p:nvSpPr>
          <p:cNvPr id="3" name="Text 1"/>
          <p:cNvSpPr txBox="1"/>
          <p:nvPr/>
        </p:nvSpPr>
        <p:spPr>
          <a:xfrm>
            <a:off x="960120" y="3063240"/>
            <a:ext cx="9144000" cy="365760"/>
          </a:xfrm>
          <a:prstGeom prst="rect">
            <a:avLst/>
          </a:prstGeom>
          <a:noFill/>
          <a:ln/>
        </p:spPr>
        <p:txBody>
          <a:bodyPr wrap="square" lIns="0" tIns="0" rIns="0" bIns="0" rtlCol="0" anchor="ctr"/>
          <a:lstStyle/>
          <a:p>
            <a:pPr marL="0" indent="0">
              <a:buNone/>
            </a:pPr>
            <a:r>
              <a:rPr lang="en-GB" sz="1600" b="1" noProof="0" dirty="0">
                <a:solidFill>
                  <a:srgbClr val="9FC2E8"/>
                </a:solidFill>
                <a:latin typeface="Calibri" pitchFamily="34" charset="0"/>
                <a:ea typeface="Calibri" pitchFamily="34" charset="-122"/>
                <a:cs typeface="Calibri" pitchFamily="34" charset="-120"/>
              </a:rPr>
              <a:t>S e s s </a:t>
            </a:r>
            <a:r>
              <a:rPr lang="en-GB" sz="1600" b="1" noProof="0" dirty="0" err="1">
                <a:solidFill>
                  <a:srgbClr val="9FC2E8"/>
                </a:solidFill>
                <a:latin typeface="Calibri" pitchFamily="34" charset="0"/>
                <a:ea typeface="Calibri" pitchFamily="34" charset="-122"/>
                <a:cs typeface="Calibri" pitchFamily="34" charset="-120"/>
              </a:rPr>
              <a:t>i</a:t>
            </a:r>
            <a:r>
              <a:rPr lang="en-GB" sz="1600" b="1" noProof="0" dirty="0">
                <a:solidFill>
                  <a:srgbClr val="9FC2E8"/>
                </a:solidFill>
                <a:latin typeface="Calibri" pitchFamily="34" charset="0"/>
                <a:ea typeface="Calibri" pitchFamily="34" charset="-122"/>
                <a:cs typeface="Calibri" pitchFamily="34" charset="-120"/>
              </a:rPr>
              <a:t> o n  4</a:t>
            </a:r>
            <a:endParaRPr lang="en-GB" sz="1600" noProof="0" dirty="0"/>
          </a:p>
        </p:txBody>
      </p:sp>
      <p:sp>
        <p:nvSpPr>
          <p:cNvPr id="4" name="Text 2"/>
          <p:cNvSpPr txBox="1"/>
          <p:nvPr/>
        </p:nvSpPr>
        <p:spPr>
          <a:xfrm>
            <a:off x="914400" y="3429000"/>
            <a:ext cx="10241280" cy="777240"/>
          </a:xfrm>
          <a:prstGeom prst="rect">
            <a:avLst/>
          </a:prstGeom>
          <a:noFill/>
          <a:ln/>
        </p:spPr>
        <p:txBody>
          <a:bodyPr wrap="square" lIns="0" tIns="0" rIns="0" bIns="0" rtlCol="0" anchor="ctr"/>
          <a:lstStyle/>
          <a:p>
            <a:pPr marL="0" indent="0">
              <a:buNone/>
            </a:pPr>
            <a:r>
              <a:rPr lang="en-GB" sz="4000" b="1" noProof="0" dirty="0">
                <a:solidFill>
                  <a:srgbClr val="FFFFFF"/>
                </a:solidFill>
                <a:latin typeface="Calibri" pitchFamily="34" charset="0"/>
                <a:ea typeface="Calibri" pitchFamily="34" charset="-122"/>
                <a:cs typeface="Calibri" pitchFamily="34" charset="-120"/>
              </a:rPr>
              <a:t>Diagnosis and treatment</a:t>
            </a:r>
            <a:endParaRPr lang="en-GB" sz="4000" noProof="0" dirty="0"/>
          </a:p>
        </p:txBody>
      </p:sp>
      <p:sp>
        <p:nvSpPr>
          <p:cNvPr id="5" name="Text 3"/>
          <p:cNvSpPr txBox="1"/>
          <p:nvPr/>
        </p:nvSpPr>
        <p:spPr>
          <a:xfrm>
            <a:off x="914400" y="4297680"/>
            <a:ext cx="9692640" cy="914400"/>
          </a:xfrm>
          <a:prstGeom prst="rect">
            <a:avLst/>
          </a:prstGeom>
          <a:noFill/>
          <a:ln/>
        </p:spPr>
        <p:txBody>
          <a:bodyPr wrap="square" lIns="0" tIns="0" rIns="0" bIns="0" rtlCol="0" anchor="ctr"/>
          <a:lstStyle/>
          <a:p>
            <a:pPr marL="0" indent="0">
              <a:lnSpc>
                <a:spcPct val="100000"/>
              </a:lnSpc>
              <a:buNone/>
            </a:pPr>
            <a:r>
              <a:rPr lang="en-GB" sz="1800" noProof="0" dirty="0">
                <a:solidFill>
                  <a:srgbClr val="CFE0F4"/>
                </a:solidFill>
                <a:latin typeface="Calibri" pitchFamily="34" charset="0"/>
                <a:ea typeface="Calibri" pitchFamily="34" charset="-122"/>
                <a:cs typeface="Calibri" pitchFamily="34" charset="-120"/>
              </a:rPr>
              <a:t>Understand what happens after referral: how the diagnosis is confirmed, what the receptor results mean, and what each treatment is actually for.</a:t>
            </a:r>
            <a:endParaRPr lang="en-GB" sz="1800" noProof="0" dirty="0"/>
          </a:p>
        </p:txBody>
      </p:sp>
      <p:sp>
        <p:nvSpPr>
          <p:cNvPr id="6" name="Text 4"/>
          <p:cNvSpPr txBox="1"/>
          <p:nvPr/>
        </p:nvSpPr>
        <p:spPr>
          <a:xfrm>
            <a:off x="914400" y="6035040"/>
            <a:ext cx="10058400" cy="274320"/>
          </a:xfrm>
          <a:prstGeom prst="rect">
            <a:avLst/>
          </a:prstGeom>
          <a:noFill/>
          <a:ln/>
        </p:spPr>
        <p:txBody>
          <a:bodyPr wrap="square" lIns="0" tIns="0" rIns="0" bIns="0" rtlCol="0" anchor="ctr"/>
          <a:lstStyle/>
          <a:p>
            <a:pPr marL="0" indent="0">
              <a:buNone/>
            </a:pPr>
            <a:r>
              <a:rPr lang="en-GB" sz="1000" noProof="0" dirty="0">
                <a:solidFill>
                  <a:srgbClr val="7FA6D4"/>
                </a:solidFill>
                <a:latin typeface="Calibri" pitchFamily="34" charset="0"/>
                <a:ea typeface="Calibri" pitchFamily="34" charset="-122"/>
                <a:cs typeface="Calibri" pitchFamily="34" charset="-120"/>
              </a:rPr>
              <a:t>Breast Cancer  |  Frontline HCP  |  Rwanda Biomedical Centre</a:t>
            </a:r>
            <a:endParaRPr lang="en-GB" sz="1000" noProof="0" dirty="0"/>
          </a:p>
        </p:txBody>
      </p:sp>
    </p:spTree>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name="Slide 8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en-GB" sz="1100" b="1" kern="0" spc="100" noProof="0" dirty="0">
                <a:solidFill>
                  <a:srgbClr val="5B7699"/>
                </a:solidFill>
                <a:latin typeface="Calibri" pitchFamily="34" charset="0"/>
                <a:ea typeface="Calibri" pitchFamily="34" charset="-122"/>
                <a:cs typeface="Calibri" pitchFamily="34" charset="-120"/>
              </a:rPr>
              <a:t>S E S S I O N   4</a:t>
            </a:r>
            <a:endParaRPr lang="en-GB"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en-GB" sz="1000" noProof="0" dirty="0">
                <a:solidFill>
                  <a:srgbClr val="5B7699"/>
                </a:solidFill>
                <a:latin typeface="Calibri" pitchFamily="34" charset="0"/>
                <a:ea typeface="Calibri" pitchFamily="34" charset="-122"/>
                <a:cs typeface="Calibri" pitchFamily="34" charset="-120"/>
              </a:rPr>
              <a:t>Breast Cancer  |  Frontline HCP  |  Rwanda Biomedical Centre</a:t>
            </a:r>
            <a:endParaRPr lang="en-GB"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en-GB" sz="3000" b="1" noProof="0" dirty="0">
                <a:solidFill>
                  <a:srgbClr val="12315B"/>
                </a:solidFill>
                <a:latin typeface="Calibri" pitchFamily="34" charset="0"/>
                <a:ea typeface="Calibri" pitchFamily="34" charset="-122"/>
                <a:cs typeface="Calibri" pitchFamily="34" charset="-120"/>
              </a:rPr>
              <a:t>Learning objectives</a:t>
            </a:r>
            <a:endParaRPr lang="en-GB" sz="3000" noProof="0" dirty="0"/>
          </a:p>
        </p:txBody>
      </p:sp>
      <p:sp>
        <p:nvSpPr>
          <p:cNvPr id="5" name="Shape 3"/>
          <p:cNvSpPr/>
          <p:nvPr/>
        </p:nvSpPr>
        <p:spPr>
          <a:xfrm>
            <a:off x="548640" y="1417320"/>
            <a:ext cx="3527450" cy="1960557"/>
          </a:xfrm>
          <a:prstGeom prst="roundRect">
            <a:avLst>
              <a:gd name="adj" fmla="val 2798"/>
            </a:avLst>
          </a:prstGeom>
          <a:solidFill>
            <a:srgbClr val="F4F8FC"/>
          </a:solidFill>
          <a:ln w="12700">
            <a:solidFill>
              <a:srgbClr val="C8D8EC"/>
            </a:solidFill>
            <a:prstDash val="solid"/>
          </a:ln>
        </p:spPr>
        <p:txBody>
          <a:bodyPr/>
          <a:lstStyle/>
          <a:p>
            <a:endParaRPr lang="en-GB" noProof="0" dirty="0"/>
          </a:p>
        </p:txBody>
      </p:sp>
      <p:sp>
        <p:nvSpPr>
          <p:cNvPr id="6" name="Text 4"/>
          <p:cNvSpPr txBox="1"/>
          <p:nvPr/>
        </p:nvSpPr>
        <p:spPr>
          <a:xfrm>
            <a:off x="713232" y="1508760"/>
            <a:ext cx="3198266" cy="292608"/>
          </a:xfrm>
          <a:prstGeom prst="rect">
            <a:avLst/>
          </a:prstGeom>
          <a:noFill/>
          <a:ln/>
        </p:spPr>
        <p:txBody>
          <a:bodyPr wrap="square" lIns="0" tIns="0" rIns="0" bIns="0" rtlCol="0" anchor="t"/>
          <a:lstStyle/>
          <a:p>
            <a:pPr marL="0" indent="0">
              <a:buNone/>
            </a:pPr>
            <a:r>
              <a:rPr lang="en-GB" sz="1700" b="1" noProof="0" dirty="0">
                <a:solidFill>
                  <a:srgbClr val="12315B"/>
                </a:solidFill>
                <a:latin typeface="Calibri" pitchFamily="34" charset="0"/>
                <a:ea typeface="Calibri" pitchFamily="34" charset="-122"/>
                <a:cs typeface="Calibri" pitchFamily="34" charset="-120"/>
              </a:rPr>
              <a:t>Outline</a:t>
            </a:r>
            <a:endParaRPr lang="en-GB" sz="1700" noProof="0" dirty="0"/>
          </a:p>
        </p:txBody>
      </p:sp>
      <p:sp>
        <p:nvSpPr>
          <p:cNvPr id="7" name="Text 5"/>
          <p:cNvSpPr txBox="1"/>
          <p:nvPr/>
        </p:nvSpPr>
        <p:spPr>
          <a:xfrm>
            <a:off x="713232" y="1847088"/>
            <a:ext cx="3198266" cy="1475925"/>
          </a:xfrm>
          <a:prstGeom prst="rect">
            <a:avLst/>
          </a:prstGeom>
          <a:noFill/>
          <a:ln/>
        </p:spPr>
        <p:txBody>
          <a:bodyPr wrap="square" lIns="0" tIns="0" rIns="0" bIns="0" rtlCol="0" anchor="t"/>
          <a:lstStyle/>
          <a:p>
            <a:pPr marL="0" indent="0">
              <a:lnSpc>
                <a:spcPct val="90000"/>
              </a:lnSpc>
              <a:buNone/>
            </a:pPr>
            <a:r>
              <a:rPr lang="en-GB" sz="1800" noProof="0" dirty="0">
                <a:solidFill>
                  <a:srgbClr val="1F3A63"/>
                </a:solidFill>
                <a:latin typeface="Calibri" pitchFamily="34" charset="0"/>
                <a:ea typeface="Calibri" pitchFamily="34" charset="-122"/>
                <a:cs typeface="Calibri" pitchFamily="34" charset="-120"/>
              </a:rPr>
              <a:t>Outline the diagnostic pathway from first assessment to a confirmed diagnosis.</a:t>
            </a:r>
            <a:endParaRPr lang="en-GB" sz="1800" noProof="0" dirty="0"/>
          </a:p>
        </p:txBody>
      </p:sp>
      <p:sp>
        <p:nvSpPr>
          <p:cNvPr id="8" name="Shape 6"/>
          <p:cNvSpPr/>
          <p:nvPr/>
        </p:nvSpPr>
        <p:spPr>
          <a:xfrm>
            <a:off x="4332122" y="1417320"/>
            <a:ext cx="3527450" cy="1960557"/>
          </a:xfrm>
          <a:prstGeom prst="roundRect">
            <a:avLst>
              <a:gd name="adj" fmla="val 2798"/>
            </a:avLst>
          </a:prstGeom>
          <a:solidFill>
            <a:srgbClr val="F4F8FC"/>
          </a:solidFill>
          <a:ln w="12700">
            <a:solidFill>
              <a:srgbClr val="C8D8EC"/>
            </a:solidFill>
            <a:prstDash val="solid"/>
          </a:ln>
        </p:spPr>
        <p:txBody>
          <a:bodyPr/>
          <a:lstStyle/>
          <a:p>
            <a:endParaRPr lang="en-GB" noProof="0" dirty="0"/>
          </a:p>
        </p:txBody>
      </p:sp>
      <p:sp>
        <p:nvSpPr>
          <p:cNvPr id="9" name="Text 7"/>
          <p:cNvSpPr txBox="1"/>
          <p:nvPr/>
        </p:nvSpPr>
        <p:spPr>
          <a:xfrm>
            <a:off x="4496714" y="1508760"/>
            <a:ext cx="3198266" cy="292608"/>
          </a:xfrm>
          <a:prstGeom prst="rect">
            <a:avLst/>
          </a:prstGeom>
          <a:noFill/>
          <a:ln/>
        </p:spPr>
        <p:txBody>
          <a:bodyPr wrap="square" lIns="0" tIns="0" rIns="0" bIns="0" rtlCol="0" anchor="t"/>
          <a:lstStyle/>
          <a:p>
            <a:pPr marL="0" indent="0">
              <a:buNone/>
            </a:pPr>
            <a:r>
              <a:rPr lang="en-GB" sz="1700" b="1" noProof="0" dirty="0">
                <a:solidFill>
                  <a:srgbClr val="12315B"/>
                </a:solidFill>
                <a:latin typeface="Calibri" pitchFamily="34" charset="0"/>
                <a:ea typeface="Calibri" pitchFamily="34" charset="-122"/>
                <a:cs typeface="Calibri" pitchFamily="34" charset="-120"/>
              </a:rPr>
              <a:t>Explain</a:t>
            </a:r>
            <a:endParaRPr lang="en-GB" sz="1700" noProof="0" dirty="0"/>
          </a:p>
        </p:txBody>
      </p:sp>
      <p:sp>
        <p:nvSpPr>
          <p:cNvPr id="10" name="Text 8"/>
          <p:cNvSpPr txBox="1"/>
          <p:nvPr/>
        </p:nvSpPr>
        <p:spPr>
          <a:xfrm>
            <a:off x="4496714" y="1847088"/>
            <a:ext cx="3198266" cy="1475925"/>
          </a:xfrm>
          <a:prstGeom prst="rect">
            <a:avLst/>
          </a:prstGeom>
          <a:noFill/>
          <a:ln/>
        </p:spPr>
        <p:txBody>
          <a:bodyPr wrap="square" lIns="0" tIns="0" rIns="0" bIns="0" rtlCol="0" anchor="t"/>
          <a:lstStyle/>
          <a:p>
            <a:pPr marL="0" indent="0">
              <a:lnSpc>
                <a:spcPct val="90000"/>
              </a:lnSpc>
              <a:buNone/>
            </a:pPr>
            <a:r>
              <a:rPr lang="en-GB" sz="1800" noProof="0" dirty="0">
                <a:solidFill>
                  <a:srgbClr val="1F3A63"/>
                </a:solidFill>
                <a:latin typeface="Calibri" pitchFamily="34" charset="0"/>
                <a:ea typeface="Calibri" pitchFamily="34" charset="-122"/>
                <a:cs typeface="Calibri" pitchFamily="34" charset="-120"/>
              </a:rPr>
              <a:t>Explain the role and the limits of examination, laboratory tests and imaging.</a:t>
            </a:r>
            <a:endParaRPr lang="en-GB" sz="1800" noProof="0" dirty="0"/>
          </a:p>
        </p:txBody>
      </p:sp>
      <p:sp>
        <p:nvSpPr>
          <p:cNvPr id="11" name="Shape 9"/>
          <p:cNvSpPr/>
          <p:nvPr/>
        </p:nvSpPr>
        <p:spPr>
          <a:xfrm>
            <a:off x="8115605" y="1417320"/>
            <a:ext cx="3527450" cy="1960557"/>
          </a:xfrm>
          <a:prstGeom prst="roundRect">
            <a:avLst>
              <a:gd name="adj" fmla="val 2798"/>
            </a:avLst>
          </a:prstGeom>
          <a:solidFill>
            <a:srgbClr val="F4F8FC"/>
          </a:solidFill>
          <a:ln w="12700">
            <a:solidFill>
              <a:srgbClr val="C8D8EC"/>
            </a:solidFill>
            <a:prstDash val="solid"/>
          </a:ln>
        </p:spPr>
        <p:txBody>
          <a:bodyPr/>
          <a:lstStyle/>
          <a:p>
            <a:endParaRPr lang="en-GB" noProof="0" dirty="0"/>
          </a:p>
        </p:txBody>
      </p:sp>
      <p:sp>
        <p:nvSpPr>
          <p:cNvPr id="12" name="Text 10"/>
          <p:cNvSpPr txBox="1"/>
          <p:nvPr/>
        </p:nvSpPr>
        <p:spPr>
          <a:xfrm>
            <a:off x="8280197" y="1508760"/>
            <a:ext cx="3198266" cy="292608"/>
          </a:xfrm>
          <a:prstGeom prst="rect">
            <a:avLst/>
          </a:prstGeom>
          <a:noFill/>
          <a:ln/>
        </p:spPr>
        <p:txBody>
          <a:bodyPr wrap="square" lIns="0" tIns="0" rIns="0" bIns="0" rtlCol="0" anchor="t"/>
          <a:lstStyle/>
          <a:p>
            <a:pPr marL="0" indent="0">
              <a:buNone/>
            </a:pPr>
            <a:r>
              <a:rPr lang="en-GB" sz="1700" b="1" noProof="0" dirty="0">
                <a:solidFill>
                  <a:srgbClr val="12315B"/>
                </a:solidFill>
                <a:latin typeface="Calibri" pitchFamily="34" charset="0"/>
                <a:ea typeface="Calibri" pitchFamily="34" charset="-122"/>
                <a:cs typeface="Calibri" pitchFamily="34" charset="-120"/>
              </a:rPr>
              <a:t>Describe</a:t>
            </a:r>
            <a:endParaRPr lang="en-GB" sz="1700" noProof="0" dirty="0"/>
          </a:p>
        </p:txBody>
      </p:sp>
      <p:sp>
        <p:nvSpPr>
          <p:cNvPr id="13" name="Text 11"/>
          <p:cNvSpPr txBox="1"/>
          <p:nvPr/>
        </p:nvSpPr>
        <p:spPr>
          <a:xfrm>
            <a:off x="8280197" y="1847088"/>
            <a:ext cx="3198266" cy="1475925"/>
          </a:xfrm>
          <a:prstGeom prst="rect">
            <a:avLst/>
          </a:prstGeom>
          <a:noFill/>
          <a:ln/>
        </p:spPr>
        <p:txBody>
          <a:bodyPr wrap="square" lIns="0" tIns="0" rIns="0" bIns="0" rtlCol="0" anchor="t"/>
          <a:lstStyle/>
          <a:p>
            <a:pPr marL="0" indent="0">
              <a:lnSpc>
                <a:spcPct val="90000"/>
              </a:lnSpc>
              <a:buNone/>
            </a:pPr>
            <a:r>
              <a:rPr lang="en-GB" sz="1800" noProof="0" dirty="0">
                <a:solidFill>
                  <a:srgbClr val="1F3A63"/>
                </a:solidFill>
                <a:latin typeface="Calibri" pitchFamily="34" charset="0"/>
                <a:ea typeface="Calibri" pitchFamily="34" charset="-122"/>
                <a:cs typeface="Calibri" pitchFamily="34" charset="-120"/>
              </a:rPr>
              <a:t>Describe biopsy and histopathology well enough to prepare a patient for them.</a:t>
            </a:r>
            <a:endParaRPr lang="en-GB" sz="1800" noProof="0" dirty="0"/>
          </a:p>
        </p:txBody>
      </p:sp>
      <p:sp>
        <p:nvSpPr>
          <p:cNvPr id="14" name="Shape 12"/>
          <p:cNvSpPr/>
          <p:nvPr/>
        </p:nvSpPr>
        <p:spPr>
          <a:xfrm>
            <a:off x="548640" y="3633909"/>
            <a:ext cx="3527450" cy="2401131"/>
          </a:xfrm>
          <a:prstGeom prst="roundRect">
            <a:avLst>
              <a:gd name="adj" fmla="val 2285"/>
            </a:avLst>
          </a:prstGeom>
          <a:solidFill>
            <a:srgbClr val="F4F8FC"/>
          </a:solidFill>
          <a:ln w="12700">
            <a:solidFill>
              <a:srgbClr val="C8D8EC"/>
            </a:solidFill>
            <a:prstDash val="solid"/>
          </a:ln>
        </p:spPr>
        <p:txBody>
          <a:bodyPr/>
          <a:lstStyle/>
          <a:p>
            <a:endParaRPr lang="en-GB" noProof="0" dirty="0"/>
          </a:p>
        </p:txBody>
      </p:sp>
      <p:sp>
        <p:nvSpPr>
          <p:cNvPr id="15" name="Text 13"/>
          <p:cNvSpPr txBox="1"/>
          <p:nvPr/>
        </p:nvSpPr>
        <p:spPr>
          <a:xfrm>
            <a:off x="713232" y="3725349"/>
            <a:ext cx="3198266" cy="292608"/>
          </a:xfrm>
          <a:prstGeom prst="rect">
            <a:avLst/>
          </a:prstGeom>
          <a:noFill/>
          <a:ln/>
        </p:spPr>
        <p:txBody>
          <a:bodyPr wrap="square" lIns="0" tIns="0" rIns="0" bIns="0" rtlCol="0" anchor="t"/>
          <a:lstStyle/>
          <a:p>
            <a:pPr marL="0" indent="0">
              <a:buNone/>
            </a:pPr>
            <a:r>
              <a:rPr lang="en-GB" sz="1700" b="1" noProof="0" dirty="0">
                <a:solidFill>
                  <a:srgbClr val="12315B"/>
                </a:solidFill>
                <a:latin typeface="Calibri" pitchFamily="34" charset="0"/>
                <a:ea typeface="Calibri" pitchFamily="34" charset="-122"/>
                <a:cs typeface="Calibri" pitchFamily="34" charset="-120"/>
              </a:rPr>
              <a:t>Interpret</a:t>
            </a:r>
            <a:endParaRPr lang="en-GB" sz="1700" noProof="0" dirty="0"/>
          </a:p>
        </p:txBody>
      </p:sp>
      <p:sp>
        <p:nvSpPr>
          <p:cNvPr id="16" name="Text 14"/>
          <p:cNvSpPr txBox="1"/>
          <p:nvPr/>
        </p:nvSpPr>
        <p:spPr>
          <a:xfrm>
            <a:off x="713232" y="4063677"/>
            <a:ext cx="3198266" cy="1916499"/>
          </a:xfrm>
          <a:prstGeom prst="rect">
            <a:avLst/>
          </a:prstGeom>
          <a:noFill/>
          <a:ln/>
        </p:spPr>
        <p:txBody>
          <a:bodyPr wrap="square" lIns="0" tIns="0" rIns="0" bIns="0" rtlCol="0" anchor="t"/>
          <a:lstStyle/>
          <a:p>
            <a:pPr marL="0" indent="0">
              <a:lnSpc>
                <a:spcPct val="90000"/>
              </a:lnSpc>
              <a:buNone/>
            </a:pPr>
            <a:r>
              <a:rPr lang="en-GB" sz="1800" noProof="0" dirty="0">
                <a:solidFill>
                  <a:srgbClr val="1F3A63"/>
                </a:solidFill>
                <a:latin typeface="Calibri" pitchFamily="34" charset="0"/>
                <a:ea typeface="Calibri" pitchFamily="34" charset="-122"/>
                <a:cs typeface="Calibri" pitchFamily="34" charset="-120"/>
              </a:rPr>
              <a:t>Interpret what ER, PR and HER2 results mean for treatment planning.</a:t>
            </a:r>
            <a:endParaRPr lang="en-GB" sz="1800" noProof="0" dirty="0"/>
          </a:p>
        </p:txBody>
      </p:sp>
      <p:sp>
        <p:nvSpPr>
          <p:cNvPr id="17" name="Shape 15"/>
          <p:cNvSpPr/>
          <p:nvPr/>
        </p:nvSpPr>
        <p:spPr>
          <a:xfrm>
            <a:off x="4332122" y="3633909"/>
            <a:ext cx="3527450" cy="2401131"/>
          </a:xfrm>
          <a:prstGeom prst="roundRect">
            <a:avLst>
              <a:gd name="adj" fmla="val 2285"/>
            </a:avLst>
          </a:prstGeom>
          <a:solidFill>
            <a:srgbClr val="F4F8FC"/>
          </a:solidFill>
          <a:ln w="12700">
            <a:solidFill>
              <a:srgbClr val="C8D8EC"/>
            </a:solidFill>
            <a:prstDash val="solid"/>
          </a:ln>
        </p:spPr>
        <p:txBody>
          <a:bodyPr/>
          <a:lstStyle/>
          <a:p>
            <a:endParaRPr lang="en-GB" noProof="0" dirty="0"/>
          </a:p>
        </p:txBody>
      </p:sp>
      <p:sp>
        <p:nvSpPr>
          <p:cNvPr id="18" name="Text 16"/>
          <p:cNvSpPr txBox="1"/>
          <p:nvPr/>
        </p:nvSpPr>
        <p:spPr>
          <a:xfrm>
            <a:off x="4496714" y="3725349"/>
            <a:ext cx="3198266" cy="292608"/>
          </a:xfrm>
          <a:prstGeom prst="rect">
            <a:avLst/>
          </a:prstGeom>
          <a:noFill/>
          <a:ln/>
        </p:spPr>
        <p:txBody>
          <a:bodyPr wrap="square" lIns="0" tIns="0" rIns="0" bIns="0" rtlCol="0" anchor="t"/>
          <a:lstStyle/>
          <a:p>
            <a:pPr marL="0" indent="0">
              <a:buNone/>
            </a:pPr>
            <a:r>
              <a:rPr lang="en-GB" sz="1700" b="1" noProof="0" dirty="0">
                <a:solidFill>
                  <a:srgbClr val="12315B"/>
                </a:solidFill>
                <a:latin typeface="Calibri" pitchFamily="34" charset="0"/>
                <a:ea typeface="Calibri" pitchFamily="34" charset="-122"/>
                <a:cs typeface="Calibri" pitchFamily="34" charset="-120"/>
              </a:rPr>
              <a:t>Summarise</a:t>
            </a:r>
            <a:endParaRPr lang="en-GB" sz="1700" noProof="0" dirty="0"/>
          </a:p>
        </p:txBody>
      </p:sp>
      <p:sp>
        <p:nvSpPr>
          <p:cNvPr id="19" name="Text 17"/>
          <p:cNvSpPr txBox="1"/>
          <p:nvPr/>
        </p:nvSpPr>
        <p:spPr>
          <a:xfrm>
            <a:off x="4496714" y="4063677"/>
            <a:ext cx="3198266" cy="1916499"/>
          </a:xfrm>
          <a:prstGeom prst="rect">
            <a:avLst/>
          </a:prstGeom>
          <a:noFill/>
          <a:ln/>
        </p:spPr>
        <p:txBody>
          <a:bodyPr wrap="square" lIns="0" tIns="0" rIns="0" bIns="0" rtlCol="0" anchor="t"/>
          <a:lstStyle/>
          <a:p>
            <a:pPr marL="0" indent="0">
              <a:lnSpc>
                <a:spcPct val="90000"/>
              </a:lnSpc>
              <a:buNone/>
            </a:pPr>
            <a:r>
              <a:rPr lang="en-GB" sz="1800" noProof="0" dirty="0">
                <a:solidFill>
                  <a:srgbClr val="1F3A63"/>
                </a:solidFill>
                <a:latin typeface="Calibri" pitchFamily="34" charset="0"/>
                <a:ea typeface="Calibri" pitchFamily="34" charset="-122"/>
                <a:cs typeface="Calibri" pitchFamily="34" charset="-120"/>
              </a:rPr>
              <a:t>Summarise each treatment, what it does, and whether it acts locally or throughout the body.</a:t>
            </a:r>
            <a:endParaRPr lang="en-GB" sz="1800" noProof="0" dirty="0"/>
          </a:p>
        </p:txBody>
      </p:sp>
      <p:sp>
        <p:nvSpPr>
          <p:cNvPr id="20" name="Shape 18"/>
          <p:cNvSpPr/>
          <p:nvPr/>
        </p:nvSpPr>
        <p:spPr>
          <a:xfrm>
            <a:off x="8115605" y="3633909"/>
            <a:ext cx="3527450" cy="2401131"/>
          </a:xfrm>
          <a:prstGeom prst="roundRect">
            <a:avLst>
              <a:gd name="adj" fmla="val 2285"/>
            </a:avLst>
          </a:prstGeom>
          <a:solidFill>
            <a:srgbClr val="F4F8FC"/>
          </a:solidFill>
          <a:ln w="12700">
            <a:solidFill>
              <a:srgbClr val="C8D8EC"/>
            </a:solidFill>
            <a:prstDash val="solid"/>
          </a:ln>
        </p:spPr>
        <p:txBody>
          <a:bodyPr/>
          <a:lstStyle/>
          <a:p>
            <a:endParaRPr lang="en-GB" noProof="0" dirty="0"/>
          </a:p>
        </p:txBody>
      </p:sp>
      <p:sp>
        <p:nvSpPr>
          <p:cNvPr id="21" name="Text 19"/>
          <p:cNvSpPr txBox="1"/>
          <p:nvPr/>
        </p:nvSpPr>
        <p:spPr>
          <a:xfrm>
            <a:off x="8280197" y="3725349"/>
            <a:ext cx="3198266" cy="292608"/>
          </a:xfrm>
          <a:prstGeom prst="rect">
            <a:avLst/>
          </a:prstGeom>
          <a:noFill/>
          <a:ln/>
        </p:spPr>
        <p:txBody>
          <a:bodyPr wrap="square" lIns="0" tIns="0" rIns="0" bIns="0" rtlCol="0" anchor="t"/>
          <a:lstStyle/>
          <a:p>
            <a:pPr marL="0" indent="0">
              <a:buNone/>
            </a:pPr>
            <a:r>
              <a:rPr lang="en-GB" sz="1700" b="1" noProof="0" dirty="0">
                <a:solidFill>
                  <a:srgbClr val="12315B"/>
                </a:solidFill>
                <a:latin typeface="Calibri" pitchFamily="34" charset="0"/>
                <a:ea typeface="Calibri" pitchFamily="34" charset="-122"/>
                <a:cs typeface="Calibri" pitchFamily="34" charset="-120"/>
              </a:rPr>
              <a:t>Correct</a:t>
            </a:r>
            <a:endParaRPr lang="en-GB" sz="1700" noProof="0" dirty="0"/>
          </a:p>
        </p:txBody>
      </p:sp>
      <p:sp>
        <p:nvSpPr>
          <p:cNvPr id="22" name="Text 20"/>
          <p:cNvSpPr txBox="1"/>
          <p:nvPr/>
        </p:nvSpPr>
        <p:spPr>
          <a:xfrm>
            <a:off x="8280197" y="4063677"/>
            <a:ext cx="3198266" cy="1916499"/>
          </a:xfrm>
          <a:prstGeom prst="rect">
            <a:avLst/>
          </a:prstGeom>
          <a:noFill/>
          <a:ln/>
        </p:spPr>
        <p:txBody>
          <a:bodyPr wrap="square" lIns="0" tIns="0" rIns="0" bIns="0" rtlCol="0" anchor="t"/>
          <a:lstStyle/>
          <a:p>
            <a:pPr marL="0" indent="0">
              <a:lnSpc>
                <a:spcPct val="90000"/>
              </a:lnSpc>
              <a:buNone/>
            </a:pPr>
            <a:r>
              <a:rPr lang="en-GB" sz="1800" noProof="0" dirty="0">
                <a:solidFill>
                  <a:srgbClr val="1F3A63"/>
                </a:solidFill>
                <a:latin typeface="Calibri" pitchFamily="34" charset="0"/>
                <a:ea typeface="Calibri" pitchFamily="34" charset="-122"/>
                <a:cs typeface="Calibri" pitchFamily="34" charset="-120"/>
              </a:rPr>
              <a:t>Correct the misconceptions that most often delay breast cancer care.</a:t>
            </a:r>
            <a:endParaRPr lang="en-GB" sz="1800" noProof="0" dirty="0"/>
          </a:p>
        </p:txBody>
      </p:sp>
    </p:spTree>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name="Slide 8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en-GB" sz="1100" b="1" kern="0" spc="100" noProof="0" dirty="0">
                <a:solidFill>
                  <a:srgbClr val="5B7699"/>
                </a:solidFill>
                <a:latin typeface="Calibri" pitchFamily="34" charset="0"/>
                <a:ea typeface="Calibri" pitchFamily="34" charset="-122"/>
                <a:cs typeface="Calibri" pitchFamily="34" charset="-120"/>
              </a:rPr>
              <a:t>S E S S I O N   4</a:t>
            </a:r>
            <a:endParaRPr lang="en-GB"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en-GB" sz="1000" noProof="0" dirty="0">
                <a:solidFill>
                  <a:srgbClr val="5B7699"/>
                </a:solidFill>
                <a:latin typeface="Calibri" pitchFamily="34" charset="0"/>
                <a:ea typeface="Calibri" pitchFamily="34" charset="-122"/>
                <a:cs typeface="Calibri" pitchFamily="34" charset="-120"/>
              </a:rPr>
              <a:t>Breast Cancer  |  Frontline HCP  |  Rwanda Biomedical Centre</a:t>
            </a:r>
            <a:endParaRPr lang="en-GB"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en-GB" sz="3000" b="1" noProof="0" dirty="0">
                <a:solidFill>
                  <a:srgbClr val="12315B"/>
                </a:solidFill>
                <a:latin typeface="Calibri" pitchFamily="34" charset="0"/>
                <a:ea typeface="Calibri" pitchFamily="34" charset="-122"/>
                <a:cs typeface="Calibri" pitchFamily="34" charset="-120"/>
              </a:rPr>
              <a:t>The diagnostic pathway</a:t>
            </a:r>
            <a:endParaRPr lang="en-GB" sz="3000" noProof="0" dirty="0"/>
          </a:p>
        </p:txBody>
      </p:sp>
      <p:pic>
        <p:nvPicPr>
          <p:cNvPr id="46" name="Imagen 45">
            <a:extLst>
              <a:ext uri="{FF2B5EF4-FFF2-40B4-BE49-F238E27FC236}">
                <a16:creationId xmlns:a16="http://schemas.microsoft.com/office/drawing/2014/main" id="{729A3043-A262-E2DE-B420-0A19A9865B88}"/>
              </a:ext>
            </a:extLst>
          </p:cNvPr>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a:xfrm>
            <a:off x="1075843" y="1133856"/>
            <a:ext cx="10040007" cy="5233837"/>
          </a:xfrm>
          <a:prstGeom prst="rect">
            <a:avLst/>
          </a:prstGeom>
        </p:spPr>
      </p:pic>
    </p:spTree>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name="Slide 8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en-GB" sz="1100" b="1" kern="0" spc="100" noProof="0" dirty="0">
                <a:solidFill>
                  <a:srgbClr val="5B7699"/>
                </a:solidFill>
                <a:latin typeface="Calibri" pitchFamily="34" charset="0"/>
                <a:ea typeface="Calibri" pitchFamily="34" charset="-122"/>
                <a:cs typeface="Calibri" pitchFamily="34" charset="-120"/>
              </a:rPr>
              <a:t>S E S S I O N   4</a:t>
            </a:r>
            <a:endParaRPr lang="en-GB"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en-GB" sz="1000" noProof="0" dirty="0">
                <a:solidFill>
                  <a:srgbClr val="5B7699"/>
                </a:solidFill>
                <a:latin typeface="Calibri" pitchFamily="34" charset="0"/>
                <a:ea typeface="Calibri" pitchFamily="34" charset="-122"/>
                <a:cs typeface="Calibri" pitchFamily="34" charset="-120"/>
              </a:rPr>
              <a:t>Breast Cancer  |  Frontline HCP  |  Rwanda Biomedical Centre</a:t>
            </a:r>
            <a:endParaRPr lang="en-GB"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en-GB" sz="3000" b="1" noProof="0" dirty="0">
                <a:solidFill>
                  <a:srgbClr val="12315B"/>
                </a:solidFill>
                <a:latin typeface="Calibri" pitchFamily="34" charset="0"/>
                <a:ea typeface="Calibri" pitchFamily="34" charset="-122"/>
                <a:cs typeface="Calibri" pitchFamily="34" charset="-120"/>
              </a:rPr>
              <a:t>Clinical history: what to ask</a:t>
            </a:r>
            <a:endParaRPr lang="en-GB" sz="3000" noProof="0" dirty="0"/>
          </a:p>
        </p:txBody>
      </p:sp>
      <p:sp>
        <p:nvSpPr>
          <p:cNvPr id="5" name="Shape 3"/>
          <p:cNvSpPr/>
          <p:nvPr/>
        </p:nvSpPr>
        <p:spPr>
          <a:xfrm>
            <a:off x="548640" y="1371600"/>
            <a:ext cx="3527450" cy="1906524"/>
          </a:xfrm>
          <a:prstGeom prst="roundRect">
            <a:avLst>
              <a:gd name="adj" fmla="val 2878"/>
            </a:avLst>
          </a:prstGeom>
          <a:solidFill>
            <a:srgbClr val="F4F8FC"/>
          </a:solidFill>
          <a:ln w="12700">
            <a:solidFill>
              <a:srgbClr val="C8D8EC"/>
            </a:solidFill>
            <a:prstDash val="solid"/>
          </a:ln>
        </p:spPr>
        <p:txBody>
          <a:bodyPr/>
          <a:lstStyle/>
          <a:p>
            <a:endParaRPr lang="en-GB" noProof="0" dirty="0"/>
          </a:p>
        </p:txBody>
      </p:sp>
      <p:sp>
        <p:nvSpPr>
          <p:cNvPr id="6" name="Text 4"/>
          <p:cNvSpPr txBox="1"/>
          <p:nvPr/>
        </p:nvSpPr>
        <p:spPr>
          <a:xfrm>
            <a:off x="713232" y="1463040"/>
            <a:ext cx="3198266" cy="292608"/>
          </a:xfrm>
          <a:prstGeom prst="rect">
            <a:avLst/>
          </a:prstGeom>
          <a:noFill/>
          <a:ln/>
        </p:spPr>
        <p:txBody>
          <a:bodyPr wrap="square" lIns="0" tIns="0" rIns="0" bIns="0" rtlCol="0" anchor="t"/>
          <a:lstStyle/>
          <a:p>
            <a:pPr marL="0" indent="0">
              <a:buNone/>
            </a:pPr>
            <a:r>
              <a:rPr lang="en-GB" sz="1700" b="1" noProof="0" dirty="0">
                <a:solidFill>
                  <a:srgbClr val="12315B"/>
                </a:solidFill>
                <a:latin typeface="Calibri" pitchFamily="34" charset="0"/>
                <a:ea typeface="Calibri" pitchFamily="34" charset="-122"/>
                <a:cs typeface="Calibri" pitchFamily="34" charset="-120"/>
              </a:rPr>
              <a:t>The change itself</a:t>
            </a:r>
            <a:endParaRPr lang="en-GB" sz="1700" noProof="0" dirty="0"/>
          </a:p>
        </p:txBody>
      </p:sp>
      <p:sp>
        <p:nvSpPr>
          <p:cNvPr id="7" name="Text 5"/>
          <p:cNvSpPr txBox="1"/>
          <p:nvPr/>
        </p:nvSpPr>
        <p:spPr>
          <a:xfrm>
            <a:off x="713232" y="1801368"/>
            <a:ext cx="3198266" cy="1421892"/>
          </a:xfrm>
          <a:prstGeom prst="rect">
            <a:avLst/>
          </a:prstGeom>
          <a:noFill/>
          <a:ln/>
        </p:spPr>
        <p:txBody>
          <a:bodyPr wrap="square" lIns="0" tIns="0" rIns="0" bIns="0" rtlCol="0" anchor="t"/>
          <a:lstStyle/>
          <a:p>
            <a:pPr marL="0" indent="0">
              <a:lnSpc>
                <a:spcPct val="90000"/>
              </a:lnSpc>
              <a:buNone/>
            </a:pPr>
            <a:r>
              <a:rPr lang="en-GB" sz="1800" noProof="0" dirty="0">
                <a:solidFill>
                  <a:srgbClr val="1F3A63"/>
                </a:solidFill>
                <a:latin typeface="Calibri" pitchFamily="34" charset="0"/>
                <a:ea typeface="Calibri" pitchFamily="34" charset="-122"/>
                <a:cs typeface="Calibri" pitchFamily="34" charset="-120"/>
              </a:rPr>
              <a:t>When it was first noticed, how it has changed since, whether it varies with the menstrual cycle, and whether it is painful.</a:t>
            </a:r>
            <a:endParaRPr lang="en-GB" sz="1800" noProof="0" dirty="0"/>
          </a:p>
        </p:txBody>
      </p:sp>
      <p:sp>
        <p:nvSpPr>
          <p:cNvPr id="8" name="Shape 6"/>
          <p:cNvSpPr/>
          <p:nvPr/>
        </p:nvSpPr>
        <p:spPr>
          <a:xfrm>
            <a:off x="4332122" y="1371600"/>
            <a:ext cx="3527450" cy="1906524"/>
          </a:xfrm>
          <a:prstGeom prst="roundRect">
            <a:avLst>
              <a:gd name="adj" fmla="val 2878"/>
            </a:avLst>
          </a:prstGeom>
          <a:solidFill>
            <a:srgbClr val="F4F8FC"/>
          </a:solidFill>
          <a:ln w="12700">
            <a:solidFill>
              <a:srgbClr val="C8D8EC"/>
            </a:solidFill>
            <a:prstDash val="solid"/>
          </a:ln>
        </p:spPr>
        <p:txBody>
          <a:bodyPr/>
          <a:lstStyle/>
          <a:p>
            <a:endParaRPr lang="en-GB" noProof="0" dirty="0"/>
          </a:p>
        </p:txBody>
      </p:sp>
      <p:sp>
        <p:nvSpPr>
          <p:cNvPr id="9" name="Text 7"/>
          <p:cNvSpPr txBox="1"/>
          <p:nvPr/>
        </p:nvSpPr>
        <p:spPr>
          <a:xfrm>
            <a:off x="4496714" y="1463040"/>
            <a:ext cx="3198266" cy="292608"/>
          </a:xfrm>
          <a:prstGeom prst="rect">
            <a:avLst/>
          </a:prstGeom>
          <a:noFill/>
          <a:ln/>
        </p:spPr>
        <p:txBody>
          <a:bodyPr wrap="square" lIns="0" tIns="0" rIns="0" bIns="0" rtlCol="0" anchor="t"/>
          <a:lstStyle/>
          <a:p>
            <a:pPr marL="0" indent="0">
              <a:buNone/>
            </a:pPr>
            <a:r>
              <a:rPr lang="en-GB" sz="1700" b="1" noProof="0" dirty="0">
                <a:solidFill>
                  <a:srgbClr val="12315B"/>
                </a:solidFill>
                <a:latin typeface="Calibri" pitchFamily="34" charset="0"/>
                <a:ea typeface="Calibri" pitchFamily="34" charset="-122"/>
                <a:cs typeface="Calibri" pitchFamily="34" charset="-120"/>
              </a:rPr>
              <a:t>Associated findings</a:t>
            </a:r>
            <a:endParaRPr lang="en-GB" sz="1700" noProof="0" dirty="0"/>
          </a:p>
        </p:txBody>
      </p:sp>
      <p:sp>
        <p:nvSpPr>
          <p:cNvPr id="10" name="Text 8"/>
          <p:cNvSpPr txBox="1"/>
          <p:nvPr/>
        </p:nvSpPr>
        <p:spPr>
          <a:xfrm>
            <a:off x="4496714" y="1801368"/>
            <a:ext cx="3198266" cy="1421892"/>
          </a:xfrm>
          <a:prstGeom prst="rect">
            <a:avLst/>
          </a:prstGeom>
          <a:noFill/>
          <a:ln/>
        </p:spPr>
        <p:txBody>
          <a:bodyPr wrap="square" lIns="0" tIns="0" rIns="0" bIns="0" rtlCol="0" anchor="t"/>
          <a:lstStyle/>
          <a:p>
            <a:pPr marL="0" indent="0">
              <a:lnSpc>
                <a:spcPct val="90000"/>
              </a:lnSpc>
              <a:buNone/>
            </a:pPr>
            <a:r>
              <a:rPr lang="en-GB" sz="1800" noProof="0" dirty="0">
                <a:solidFill>
                  <a:srgbClr val="1F3A63"/>
                </a:solidFill>
                <a:latin typeface="Calibri" pitchFamily="34" charset="0"/>
                <a:ea typeface="Calibri" pitchFamily="34" charset="-122"/>
                <a:cs typeface="Calibri" pitchFamily="34" charset="-120"/>
              </a:rPr>
              <a:t>Nipple discharge and whether it is spontaneous, from one duct or blood stained. Skin changes. Any axillary swelling.</a:t>
            </a:r>
            <a:endParaRPr lang="en-GB" sz="1800" noProof="0" dirty="0"/>
          </a:p>
        </p:txBody>
      </p:sp>
      <p:sp>
        <p:nvSpPr>
          <p:cNvPr id="11" name="Shape 9"/>
          <p:cNvSpPr/>
          <p:nvPr/>
        </p:nvSpPr>
        <p:spPr>
          <a:xfrm>
            <a:off x="8115605" y="1371600"/>
            <a:ext cx="3527450" cy="1906524"/>
          </a:xfrm>
          <a:prstGeom prst="roundRect">
            <a:avLst>
              <a:gd name="adj" fmla="val 2878"/>
            </a:avLst>
          </a:prstGeom>
          <a:solidFill>
            <a:srgbClr val="F4F8FC"/>
          </a:solidFill>
          <a:ln w="12700">
            <a:solidFill>
              <a:srgbClr val="C8D8EC"/>
            </a:solidFill>
            <a:prstDash val="solid"/>
          </a:ln>
        </p:spPr>
        <p:txBody>
          <a:bodyPr/>
          <a:lstStyle/>
          <a:p>
            <a:endParaRPr lang="en-GB" noProof="0" dirty="0"/>
          </a:p>
        </p:txBody>
      </p:sp>
      <p:sp>
        <p:nvSpPr>
          <p:cNvPr id="12" name="Text 10"/>
          <p:cNvSpPr txBox="1"/>
          <p:nvPr/>
        </p:nvSpPr>
        <p:spPr>
          <a:xfrm>
            <a:off x="8280197" y="1463040"/>
            <a:ext cx="3198266" cy="292608"/>
          </a:xfrm>
          <a:prstGeom prst="rect">
            <a:avLst/>
          </a:prstGeom>
          <a:noFill/>
          <a:ln/>
        </p:spPr>
        <p:txBody>
          <a:bodyPr wrap="square" lIns="0" tIns="0" rIns="0" bIns="0" rtlCol="0" anchor="t"/>
          <a:lstStyle/>
          <a:p>
            <a:pPr marL="0" indent="0">
              <a:buNone/>
            </a:pPr>
            <a:r>
              <a:rPr lang="en-GB" sz="1700" b="1" noProof="0" dirty="0">
                <a:solidFill>
                  <a:srgbClr val="12315B"/>
                </a:solidFill>
                <a:latin typeface="Calibri" pitchFamily="34" charset="0"/>
                <a:ea typeface="Calibri" pitchFamily="34" charset="-122"/>
                <a:cs typeface="Calibri" pitchFamily="34" charset="-120"/>
              </a:rPr>
              <a:t>Breast history</a:t>
            </a:r>
            <a:endParaRPr lang="en-GB" sz="1700" noProof="0" dirty="0"/>
          </a:p>
        </p:txBody>
      </p:sp>
      <p:sp>
        <p:nvSpPr>
          <p:cNvPr id="13" name="Text 11"/>
          <p:cNvSpPr txBox="1"/>
          <p:nvPr/>
        </p:nvSpPr>
        <p:spPr>
          <a:xfrm>
            <a:off x="8280197" y="1801368"/>
            <a:ext cx="3198266" cy="1421892"/>
          </a:xfrm>
          <a:prstGeom prst="rect">
            <a:avLst/>
          </a:prstGeom>
          <a:noFill/>
          <a:ln/>
        </p:spPr>
        <p:txBody>
          <a:bodyPr wrap="square" lIns="0" tIns="0" rIns="0" bIns="0" rtlCol="0" anchor="t"/>
          <a:lstStyle/>
          <a:p>
            <a:pPr marL="0" indent="0">
              <a:lnSpc>
                <a:spcPct val="90000"/>
              </a:lnSpc>
              <a:buNone/>
            </a:pPr>
            <a:r>
              <a:rPr lang="en-GB" sz="1800" noProof="0" dirty="0">
                <a:solidFill>
                  <a:srgbClr val="1F3A63"/>
                </a:solidFill>
                <a:latin typeface="Calibri" pitchFamily="34" charset="0"/>
                <a:ea typeface="Calibri" pitchFamily="34" charset="-122"/>
                <a:cs typeface="Calibri" pitchFamily="34" charset="-120"/>
              </a:rPr>
              <a:t>Previous breast lumps, previous biopsies or breast surgery, previous breast imaging, and any previous breast cancer.</a:t>
            </a:r>
            <a:endParaRPr lang="en-GB" sz="1800" noProof="0" dirty="0"/>
          </a:p>
        </p:txBody>
      </p:sp>
      <p:sp>
        <p:nvSpPr>
          <p:cNvPr id="14" name="Shape 12"/>
          <p:cNvSpPr/>
          <p:nvPr/>
        </p:nvSpPr>
        <p:spPr>
          <a:xfrm>
            <a:off x="548640" y="3534156"/>
            <a:ext cx="3527450" cy="1906524"/>
          </a:xfrm>
          <a:prstGeom prst="roundRect">
            <a:avLst>
              <a:gd name="adj" fmla="val 2878"/>
            </a:avLst>
          </a:prstGeom>
          <a:solidFill>
            <a:srgbClr val="F4F8FC"/>
          </a:solidFill>
          <a:ln w="12700">
            <a:solidFill>
              <a:srgbClr val="C8D8EC"/>
            </a:solidFill>
            <a:prstDash val="solid"/>
          </a:ln>
        </p:spPr>
        <p:txBody>
          <a:bodyPr/>
          <a:lstStyle/>
          <a:p>
            <a:endParaRPr lang="en-GB" noProof="0" dirty="0"/>
          </a:p>
        </p:txBody>
      </p:sp>
      <p:sp>
        <p:nvSpPr>
          <p:cNvPr id="15" name="Text 13"/>
          <p:cNvSpPr txBox="1"/>
          <p:nvPr/>
        </p:nvSpPr>
        <p:spPr>
          <a:xfrm>
            <a:off x="713232" y="3625596"/>
            <a:ext cx="3198266" cy="292608"/>
          </a:xfrm>
          <a:prstGeom prst="rect">
            <a:avLst/>
          </a:prstGeom>
          <a:noFill/>
          <a:ln/>
        </p:spPr>
        <p:txBody>
          <a:bodyPr wrap="square" lIns="0" tIns="0" rIns="0" bIns="0" rtlCol="0" anchor="t"/>
          <a:lstStyle/>
          <a:p>
            <a:pPr marL="0" indent="0">
              <a:buNone/>
            </a:pPr>
            <a:r>
              <a:rPr lang="en-GB" sz="1700" b="1" noProof="0" dirty="0">
                <a:solidFill>
                  <a:srgbClr val="12315B"/>
                </a:solidFill>
                <a:latin typeface="Calibri" pitchFamily="34" charset="0"/>
                <a:ea typeface="Calibri" pitchFamily="34" charset="-122"/>
                <a:cs typeface="Calibri" pitchFamily="34" charset="-120"/>
              </a:rPr>
              <a:t>Reproductive and hormonal</a:t>
            </a:r>
            <a:endParaRPr lang="en-GB" sz="1700" noProof="0" dirty="0"/>
          </a:p>
        </p:txBody>
      </p:sp>
      <p:sp>
        <p:nvSpPr>
          <p:cNvPr id="16" name="Text 14"/>
          <p:cNvSpPr txBox="1"/>
          <p:nvPr/>
        </p:nvSpPr>
        <p:spPr>
          <a:xfrm>
            <a:off x="713232" y="3963924"/>
            <a:ext cx="3198266" cy="1421892"/>
          </a:xfrm>
          <a:prstGeom prst="rect">
            <a:avLst/>
          </a:prstGeom>
          <a:noFill/>
          <a:ln/>
        </p:spPr>
        <p:txBody>
          <a:bodyPr wrap="square" lIns="0" tIns="0" rIns="0" bIns="0" rtlCol="0" anchor="t"/>
          <a:lstStyle/>
          <a:p>
            <a:pPr marL="0" indent="0">
              <a:lnSpc>
                <a:spcPct val="90000"/>
              </a:lnSpc>
              <a:buNone/>
            </a:pPr>
            <a:r>
              <a:rPr lang="en-GB" sz="1800" noProof="0" dirty="0">
                <a:solidFill>
                  <a:srgbClr val="1F3A63"/>
                </a:solidFill>
                <a:latin typeface="Calibri" pitchFamily="34" charset="0"/>
                <a:ea typeface="Calibri" pitchFamily="34" charset="-122"/>
                <a:cs typeface="Calibri" pitchFamily="34" charset="-120"/>
              </a:rPr>
              <a:t>Age at first period, pregnancies and ages, breastfeeding, menopausal status, and use of hormonal medicines.</a:t>
            </a:r>
            <a:endParaRPr lang="en-GB" sz="1800" noProof="0" dirty="0"/>
          </a:p>
        </p:txBody>
      </p:sp>
      <p:sp>
        <p:nvSpPr>
          <p:cNvPr id="17" name="Shape 15"/>
          <p:cNvSpPr/>
          <p:nvPr/>
        </p:nvSpPr>
        <p:spPr>
          <a:xfrm>
            <a:off x="4332122" y="3534156"/>
            <a:ext cx="3527450" cy="1906524"/>
          </a:xfrm>
          <a:prstGeom prst="roundRect">
            <a:avLst>
              <a:gd name="adj" fmla="val 2878"/>
            </a:avLst>
          </a:prstGeom>
          <a:solidFill>
            <a:srgbClr val="F4F8FC"/>
          </a:solidFill>
          <a:ln w="12700">
            <a:solidFill>
              <a:srgbClr val="C8D8EC"/>
            </a:solidFill>
            <a:prstDash val="solid"/>
          </a:ln>
        </p:spPr>
        <p:txBody>
          <a:bodyPr/>
          <a:lstStyle/>
          <a:p>
            <a:endParaRPr lang="en-GB" noProof="0" dirty="0"/>
          </a:p>
        </p:txBody>
      </p:sp>
      <p:sp>
        <p:nvSpPr>
          <p:cNvPr id="18" name="Text 16"/>
          <p:cNvSpPr txBox="1"/>
          <p:nvPr/>
        </p:nvSpPr>
        <p:spPr>
          <a:xfrm>
            <a:off x="4496714" y="3625596"/>
            <a:ext cx="3198266" cy="292608"/>
          </a:xfrm>
          <a:prstGeom prst="rect">
            <a:avLst/>
          </a:prstGeom>
          <a:noFill/>
          <a:ln/>
        </p:spPr>
        <p:txBody>
          <a:bodyPr wrap="square" lIns="0" tIns="0" rIns="0" bIns="0" rtlCol="0" anchor="t"/>
          <a:lstStyle/>
          <a:p>
            <a:pPr marL="0" indent="0">
              <a:buNone/>
            </a:pPr>
            <a:r>
              <a:rPr lang="en-GB" sz="1700" b="1" noProof="0" dirty="0">
                <a:solidFill>
                  <a:srgbClr val="12315B"/>
                </a:solidFill>
                <a:latin typeface="Calibri" pitchFamily="34" charset="0"/>
                <a:ea typeface="Calibri" pitchFamily="34" charset="-122"/>
                <a:cs typeface="Calibri" pitchFamily="34" charset="-120"/>
              </a:rPr>
              <a:t>Family history</a:t>
            </a:r>
            <a:endParaRPr lang="en-GB" sz="1700" noProof="0" dirty="0"/>
          </a:p>
        </p:txBody>
      </p:sp>
      <p:sp>
        <p:nvSpPr>
          <p:cNvPr id="19" name="Text 17"/>
          <p:cNvSpPr txBox="1"/>
          <p:nvPr/>
        </p:nvSpPr>
        <p:spPr>
          <a:xfrm>
            <a:off x="4496714" y="3963924"/>
            <a:ext cx="3198266" cy="1421892"/>
          </a:xfrm>
          <a:prstGeom prst="rect">
            <a:avLst/>
          </a:prstGeom>
          <a:noFill/>
          <a:ln/>
        </p:spPr>
        <p:txBody>
          <a:bodyPr wrap="square" lIns="0" tIns="0" rIns="0" bIns="0" rtlCol="0" anchor="t"/>
          <a:lstStyle/>
          <a:p>
            <a:pPr marL="0" indent="0">
              <a:lnSpc>
                <a:spcPct val="90000"/>
              </a:lnSpc>
              <a:buNone/>
            </a:pPr>
            <a:r>
              <a:rPr lang="en-GB" sz="1800" noProof="0" dirty="0">
                <a:solidFill>
                  <a:srgbClr val="1F3A63"/>
                </a:solidFill>
                <a:latin typeface="Calibri" pitchFamily="34" charset="0"/>
                <a:ea typeface="Calibri" pitchFamily="34" charset="-122"/>
                <a:cs typeface="Calibri" pitchFamily="34" charset="-120"/>
              </a:rPr>
              <a:t>Breast, ovarian, prostate and pancreatic cancer in relatives, on both sides of the family, and the age at each diagnosis.</a:t>
            </a:r>
            <a:endParaRPr lang="en-GB" sz="1800" noProof="0" dirty="0"/>
          </a:p>
        </p:txBody>
      </p:sp>
      <p:sp>
        <p:nvSpPr>
          <p:cNvPr id="20" name="Shape 18"/>
          <p:cNvSpPr/>
          <p:nvPr/>
        </p:nvSpPr>
        <p:spPr>
          <a:xfrm>
            <a:off x="8115605" y="3534156"/>
            <a:ext cx="3527450" cy="1906524"/>
          </a:xfrm>
          <a:prstGeom prst="roundRect">
            <a:avLst>
              <a:gd name="adj" fmla="val 2878"/>
            </a:avLst>
          </a:prstGeom>
          <a:solidFill>
            <a:srgbClr val="F4F8FC"/>
          </a:solidFill>
          <a:ln w="12700">
            <a:solidFill>
              <a:srgbClr val="C8D8EC"/>
            </a:solidFill>
            <a:prstDash val="solid"/>
          </a:ln>
        </p:spPr>
        <p:txBody>
          <a:bodyPr/>
          <a:lstStyle/>
          <a:p>
            <a:endParaRPr lang="en-GB" noProof="0" dirty="0"/>
          </a:p>
        </p:txBody>
      </p:sp>
      <p:sp>
        <p:nvSpPr>
          <p:cNvPr id="21" name="Text 19"/>
          <p:cNvSpPr txBox="1"/>
          <p:nvPr/>
        </p:nvSpPr>
        <p:spPr>
          <a:xfrm>
            <a:off x="8280197" y="3625596"/>
            <a:ext cx="3198266" cy="292608"/>
          </a:xfrm>
          <a:prstGeom prst="rect">
            <a:avLst/>
          </a:prstGeom>
          <a:noFill/>
          <a:ln/>
        </p:spPr>
        <p:txBody>
          <a:bodyPr wrap="square" lIns="0" tIns="0" rIns="0" bIns="0" rtlCol="0" anchor="t"/>
          <a:lstStyle/>
          <a:p>
            <a:pPr marL="0" indent="0">
              <a:buNone/>
            </a:pPr>
            <a:r>
              <a:rPr lang="en-GB" sz="1700" b="1" noProof="0" dirty="0">
                <a:solidFill>
                  <a:srgbClr val="12315B"/>
                </a:solidFill>
                <a:latin typeface="Calibri" pitchFamily="34" charset="0"/>
                <a:ea typeface="Calibri" pitchFamily="34" charset="-122"/>
                <a:cs typeface="Calibri" pitchFamily="34" charset="-120"/>
              </a:rPr>
              <a:t>Wider assessment</a:t>
            </a:r>
            <a:endParaRPr lang="en-GB" sz="1700" noProof="0" dirty="0"/>
          </a:p>
        </p:txBody>
      </p:sp>
      <p:sp>
        <p:nvSpPr>
          <p:cNvPr id="22" name="Text 20"/>
          <p:cNvSpPr txBox="1"/>
          <p:nvPr/>
        </p:nvSpPr>
        <p:spPr>
          <a:xfrm>
            <a:off x="8280197" y="3963924"/>
            <a:ext cx="3198266" cy="1421892"/>
          </a:xfrm>
          <a:prstGeom prst="rect">
            <a:avLst/>
          </a:prstGeom>
          <a:noFill/>
          <a:ln/>
        </p:spPr>
        <p:txBody>
          <a:bodyPr wrap="square" lIns="0" tIns="0" rIns="0" bIns="0" rtlCol="0" anchor="t"/>
          <a:lstStyle/>
          <a:p>
            <a:pPr marL="0" indent="0">
              <a:lnSpc>
                <a:spcPct val="90000"/>
              </a:lnSpc>
              <a:buNone/>
            </a:pPr>
            <a:r>
              <a:rPr lang="en-GB" sz="1800" noProof="0" dirty="0">
                <a:solidFill>
                  <a:srgbClr val="1F3A63"/>
                </a:solidFill>
                <a:latin typeface="Calibri" pitchFamily="34" charset="0"/>
                <a:ea typeface="Calibri" pitchFamily="34" charset="-122"/>
                <a:cs typeface="Calibri" pitchFamily="34" charset="-120"/>
              </a:rPr>
              <a:t>Weight loss, bone pain, breathlessness, or other symptoms that would change the urgency of referral.</a:t>
            </a:r>
            <a:endParaRPr lang="en-GB" sz="1800" noProof="0" dirty="0"/>
          </a:p>
        </p:txBody>
      </p:sp>
      <p:sp>
        <p:nvSpPr>
          <p:cNvPr id="23" name="Shape 21"/>
          <p:cNvSpPr/>
          <p:nvPr/>
        </p:nvSpPr>
        <p:spPr>
          <a:xfrm>
            <a:off x="548640" y="5577840"/>
            <a:ext cx="11094415" cy="566928"/>
          </a:xfrm>
          <a:prstGeom prst="roundRect">
            <a:avLst>
              <a:gd name="adj" fmla="val 8065"/>
            </a:avLst>
          </a:prstGeom>
          <a:solidFill>
            <a:srgbClr val="FDF1E0"/>
          </a:solidFill>
          <a:ln w="12700">
            <a:solidFill>
              <a:srgbClr val="EFD3AA"/>
            </a:solidFill>
            <a:prstDash val="solid"/>
          </a:ln>
        </p:spPr>
        <p:txBody>
          <a:bodyPr/>
          <a:lstStyle/>
          <a:p>
            <a:endParaRPr lang="en-GB" noProof="0" dirty="0"/>
          </a:p>
        </p:txBody>
      </p:sp>
      <p:sp>
        <p:nvSpPr>
          <p:cNvPr id="24" name="Text 22"/>
          <p:cNvSpPr txBox="1"/>
          <p:nvPr/>
        </p:nvSpPr>
        <p:spPr>
          <a:xfrm>
            <a:off x="713232" y="5650992"/>
            <a:ext cx="10765231" cy="420624"/>
          </a:xfrm>
          <a:prstGeom prst="rect">
            <a:avLst/>
          </a:prstGeom>
          <a:noFill/>
          <a:ln/>
        </p:spPr>
        <p:txBody>
          <a:bodyPr wrap="square" lIns="0" tIns="0" rIns="0" bIns="0" rtlCol="0" anchor="ctr"/>
          <a:lstStyle/>
          <a:p>
            <a:pPr marL="0" indent="0">
              <a:lnSpc>
                <a:spcPct val="95000"/>
              </a:lnSpc>
              <a:buNone/>
            </a:pPr>
            <a:r>
              <a:rPr lang="en-GB" sz="1300" noProof="0" dirty="0">
                <a:solidFill>
                  <a:srgbClr val="0B1F3F"/>
                </a:solidFill>
                <a:latin typeface="Calibri" pitchFamily="34" charset="0"/>
                <a:ea typeface="Calibri" pitchFamily="34" charset="-122"/>
                <a:cs typeface="Calibri" pitchFamily="34" charset="-120"/>
              </a:rPr>
              <a:t>Ask what is needed to make a decision, and no more. Do not collect intimate detail that will not change the plan, and record the history in a way that the receiving facility can actually use.</a:t>
            </a:r>
            <a:endParaRPr lang="en-GB" sz="1300" noProof="0" dirty="0"/>
          </a:p>
        </p:txBody>
      </p:sp>
    </p:spTree>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name="Slide 8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en-GB" sz="1100" b="1" kern="0" spc="100" noProof="0" dirty="0">
                <a:solidFill>
                  <a:srgbClr val="5B7699"/>
                </a:solidFill>
                <a:latin typeface="Calibri" pitchFamily="34" charset="0"/>
                <a:ea typeface="Calibri" pitchFamily="34" charset="-122"/>
                <a:cs typeface="Calibri" pitchFamily="34" charset="-120"/>
              </a:rPr>
              <a:t>S E S S I O N   4</a:t>
            </a:r>
            <a:endParaRPr lang="en-GB"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en-GB" sz="1000" noProof="0" dirty="0">
                <a:solidFill>
                  <a:srgbClr val="5B7699"/>
                </a:solidFill>
                <a:latin typeface="Calibri" pitchFamily="34" charset="0"/>
                <a:ea typeface="Calibri" pitchFamily="34" charset="-122"/>
                <a:cs typeface="Calibri" pitchFamily="34" charset="-120"/>
              </a:rPr>
              <a:t>Breast Cancer  |  Frontline HCP  |  Rwanda Biomedical Centre</a:t>
            </a:r>
            <a:endParaRPr lang="en-GB"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en-GB" sz="3000" b="1" noProof="0" dirty="0">
                <a:solidFill>
                  <a:srgbClr val="12315B"/>
                </a:solidFill>
                <a:latin typeface="Calibri" pitchFamily="34" charset="0"/>
                <a:ea typeface="Calibri" pitchFamily="34" charset="-122"/>
                <a:cs typeface="Calibri" pitchFamily="34" charset="-120"/>
              </a:rPr>
              <a:t>Physical examination: what the findings mean</a:t>
            </a:r>
            <a:endParaRPr lang="en-GB" sz="3000" noProof="0" dirty="0"/>
          </a:p>
        </p:txBody>
      </p:sp>
      <p:sp>
        <p:nvSpPr>
          <p:cNvPr id="5" name="Shape 3"/>
          <p:cNvSpPr/>
          <p:nvPr/>
        </p:nvSpPr>
        <p:spPr>
          <a:xfrm>
            <a:off x="548640" y="1213940"/>
            <a:ext cx="3520440" cy="4160520"/>
          </a:xfrm>
          <a:prstGeom prst="roundRect">
            <a:avLst>
              <a:gd name="adj" fmla="val 1558"/>
            </a:avLst>
          </a:prstGeom>
          <a:solidFill>
            <a:srgbClr val="FCC1B8"/>
          </a:solidFill>
          <a:ln w="12700">
            <a:solidFill>
              <a:srgbClr val="C8D8EC"/>
            </a:solidFill>
            <a:prstDash val="solid"/>
          </a:ln>
        </p:spPr>
        <p:txBody>
          <a:bodyPr/>
          <a:lstStyle/>
          <a:p>
            <a:endParaRPr lang="en-GB" noProof="0" dirty="0"/>
          </a:p>
        </p:txBody>
      </p:sp>
      <p:sp>
        <p:nvSpPr>
          <p:cNvPr id="6" name="Text 4"/>
          <p:cNvSpPr txBox="1"/>
          <p:nvPr/>
        </p:nvSpPr>
        <p:spPr>
          <a:xfrm>
            <a:off x="713232" y="1305380"/>
            <a:ext cx="3191256" cy="292608"/>
          </a:xfrm>
          <a:prstGeom prst="rect">
            <a:avLst/>
          </a:prstGeom>
          <a:noFill/>
          <a:ln/>
        </p:spPr>
        <p:txBody>
          <a:bodyPr wrap="square" lIns="0" tIns="0" rIns="0" bIns="0" rtlCol="0" anchor="t"/>
          <a:lstStyle/>
          <a:p>
            <a:r>
              <a:rPr lang="en-GB" sz="1700" b="1" dirty="0">
                <a:solidFill>
                  <a:srgbClr val="C00000"/>
                </a:solidFill>
                <a:latin typeface="Calibri" pitchFamily="34" charset="0"/>
                <a:ea typeface="Calibri" pitchFamily="34" charset="-122"/>
                <a:cs typeface="Calibri" pitchFamily="34" charset="-120"/>
              </a:rPr>
              <a:t>🔴 Findings </a:t>
            </a:r>
            <a:r>
              <a:rPr lang="en-GB" sz="1700" b="1" noProof="0" dirty="0">
                <a:solidFill>
                  <a:srgbClr val="C00000"/>
                </a:solidFill>
                <a:latin typeface="Calibri" pitchFamily="34" charset="0"/>
                <a:ea typeface="Calibri" pitchFamily="34" charset="-122"/>
                <a:cs typeface="Calibri" pitchFamily="34" charset="-120"/>
              </a:rPr>
              <a:t>that raise concern</a:t>
            </a:r>
            <a:endParaRPr lang="en-GB" sz="1700" noProof="0" dirty="0">
              <a:solidFill>
                <a:srgbClr val="C00000"/>
              </a:solidFill>
            </a:endParaRPr>
          </a:p>
        </p:txBody>
      </p:sp>
      <p:sp>
        <p:nvSpPr>
          <p:cNvPr id="7" name="Text 5"/>
          <p:cNvSpPr txBox="1"/>
          <p:nvPr/>
        </p:nvSpPr>
        <p:spPr>
          <a:xfrm>
            <a:off x="713232" y="1671140"/>
            <a:ext cx="3191256" cy="3611880"/>
          </a:xfrm>
          <a:prstGeom prst="rect">
            <a:avLst/>
          </a:prstGeom>
          <a:noFill/>
          <a:ln/>
        </p:spPr>
        <p:txBody>
          <a:bodyPr wrap="square" lIns="0" tIns="0" rIns="0" bIns="0" rtlCol="0" anchor="t"/>
          <a:lstStyle/>
          <a:p>
            <a:pPr marL="342900" indent="-342900">
              <a:lnSpc>
                <a:spcPct val="95000"/>
              </a:lnSpc>
              <a:spcAft>
                <a:spcPts val="600"/>
              </a:spcAft>
              <a:buSzPct val="100000"/>
              <a:buChar char="•"/>
            </a:pPr>
            <a:r>
              <a:rPr lang="en-GB" sz="1600" noProof="0" dirty="0">
                <a:solidFill>
                  <a:srgbClr val="0B1F3F"/>
                </a:solidFill>
                <a:latin typeface="Calibri" pitchFamily="34" charset="0"/>
                <a:ea typeface="Calibri" pitchFamily="34" charset="-122"/>
                <a:cs typeface="Calibri" pitchFamily="34" charset="-120"/>
              </a:rPr>
              <a:t>A hard or firm mass with irregular borders</a:t>
            </a:r>
            <a:endParaRPr lang="en-GB" sz="1600" noProof="0" dirty="0"/>
          </a:p>
          <a:p>
            <a:pPr marL="342900" indent="-342900">
              <a:lnSpc>
                <a:spcPct val="95000"/>
              </a:lnSpc>
              <a:spcAft>
                <a:spcPts val="600"/>
              </a:spcAft>
              <a:buSzPct val="100000"/>
              <a:buChar char="•"/>
            </a:pPr>
            <a:r>
              <a:rPr lang="en-GB" sz="1600" noProof="0" dirty="0">
                <a:solidFill>
                  <a:srgbClr val="0B1F3F"/>
                </a:solidFill>
                <a:latin typeface="Calibri" pitchFamily="34" charset="0"/>
                <a:ea typeface="Calibri" pitchFamily="34" charset="-122"/>
                <a:cs typeface="Calibri" pitchFamily="34" charset="-120"/>
              </a:rPr>
              <a:t>A mass fixed to skin or to the chest wall</a:t>
            </a:r>
            <a:endParaRPr lang="en-GB" sz="1600" noProof="0" dirty="0"/>
          </a:p>
          <a:p>
            <a:pPr marL="342900" indent="-342900">
              <a:lnSpc>
                <a:spcPct val="95000"/>
              </a:lnSpc>
              <a:spcAft>
                <a:spcPts val="600"/>
              </a:spcAft>
              <a:buSzPct val="100000"/>
              <a:buChar char="•"/>
            </a:pPr>
            <a:r>
              <a:rPr lang="en-GB" sz="1600" noProof="0" dirty="0">
                <a:solidFill>
                  <a:srgbClr val="0B1F3F"/>
                </a:solidFill>
                <a:latin typeface="Calibri" pitchFamily="34" charset="0"/>
                <a:ea typeface="Calibri" pitchFamily="34" charset="-122"/>
                <a:cs typeface="Calibri" pitchFamily="34" charset="-120"/>
              </a:rPr>
              <a:t>Skin dimpling, tethering or thickening</a:t>
            </a:r>
            <a:endParaRPr lang="en-GB" sz="1600" noProof="0" dirty="0"/>
          </a:p>
          <a:p>
            <a:pPr marL="342900" indent="-342900">
              <a:lnSpc>
                <a:spcPct val="95000"/>
              </a:lnSpc>
              <a:spcAft>
                <a:spcPts val="600"/>
              </a:spcAft>
              <a:buSzPct val="100000"/>
              <a:buChar char="•"/>
            </a:pPr>
            <a:r>
              <a:rPr lang="en-GB" sz="1600" noProof="0" dirty="0">
                <a:solidFill>
                  <a:srgbClr val="0B1F3F"/>
                </a:solidFill>
                <a:latin typeface="Calibri" pitchFamily="34" charset="0"/>
                <a:ea typeface="Calibri" pitchFamily="34" charset="-122"/>
                <a:cs typeface="Calibri" pitchFamily="34" charset="-120"/>
              </a:rPr>
              <a:t>Peau </a:t>
            </a:r>
            <a:r>
              <a:rPr lang="en-GB" sz="1600" noProof="0" dirty="0" err="1">
                <a:solidFill>
                  <a:srgbClr val="0B1F3F"/>
                </a:solidFill>
                <a:latin typeface="Calibri" pitchFamily="34" charset="0"/>
                <a:ea typeface="Calibri" pitchFamily="34" charset="-122"/>
                <a:cs typeface="Calibri" pitchFamily="34" charset="-120"/>
              </a:rPr>
              <a:t>d'orange</a:t>
            </a:r>
            <a:r>
              <a:rPr lang="en-GB" sz="1600" noProof="0" dirty="0">
                <a:solidFill>
                  <a:srgbClr val="0B1F3F"/>
                </a:solidFill>
                <a:latin typeface="Calibri" pitchFamily="34" charset="0"/>
                <a:ea typeface="Calibri" pitchFamily="34" charset="-122"/>
                <a:cs typeface="Calibri" pitchFamily="34" charset="-120"/>
              </a:rPr>
              <a:t> appearance</a:t>
            </a:r>
            <a:endParaRPr lang="en-GB" sz="1600" noProof="0" dirty="0"/>
          </a:p>
          <a:p>
            <a:pPr marL="342900" indent="-342900">
              <a:lnSpc>
                <a:spcPct val="95000"/>
              </a:lnSpc>
              <a:spcAft>
                <a:spcPts val="600"/>
              </a:spcAft>
              <a:buSzPct val="100000"/>
              <a:buChar char="•"/>
            </a:pPr>
            <a:r>
              <a:rPr lang="en-GB" sz="1600" noProof="0" dirty="0">
                <a:solidFill>
                  <a:srgbClr val="0B1F3F"/>
                </a:solidFill>
                <a:latin typeface="Calibri" pitchFamily="34" charset="0"/>
                <a:ea typeface="Calibri" pitchFamily="34" charset="-122"/>
                <a:cs typeface="Calibri" pitchFamily="34" charset="-120"/>
              </a:rPr>
              <a:t>New nipple retraction or distortion</a:t>
            </a:r>
            <a:endParaRPr lang="en-GB" sz="1600" noProof="0" dirty="0"/>
          </a:p>
          <a:p>
            <a:pPr marL="342900" indent="-342900">
              <a:lnSpc>
                <a:spcPct val="95000"/>
              </a:lnSpc>
              <a:spcAft>
                <a:spcPts val="600"/>
              </a:spcAft>
              <a:buSzPct val="100000"/>
              <a:buChar char="•"/>
            </a:pPr>
            <a:r>
              <a:rPr lang="en-GB" sz="1600" noProof="0" dirty="0">
                <a:solidFill>
                  <a:srgbClr val="0B1F3F"/>
                </a:solidFill>
                <a:latin typeface="Calibri" pitchFamily="34" charset="0"/>
                <a:ea typeface="Calibri" pitchFamily="34" charset="-122"/>
                <a:cs typeface="Calibri" pitchFamily="34" charset="-120"/>
              </a:rPr>
              <a:t>A scaly or ulcerated nipple change</a:t>
            </a:r>
            <a:endParaRPr lang="en-GB" sz="1600" noProof="0" dirty="0"/>
          </a:p>
          <a:p>
            <a:pPr marL="342900" indent="-342900">
              <a:lnSpc>
                <a:spcPct val="95000"/>
              </a:lnSpc>
              <a:spcAft>
                <a:spcPts val="600"/>
              </a:spcAft>
              <a:buSzPct val="100000"/>
              <a:buChar char="•"/>
            </a:pPr>
            <a:r>
              <a:rPr lang="en-GB" sz="1600" noProof="0" dirty="0">
                <a:solidFill>
                  <a:srgbClr val="0B1F3F"/>
                </a:solidFill>
                <a:latin typeface="Calibri" pitchFamily="34" charset="0"/>
                <a:ea typeface="Calibri" pitchFamily="34" charset="-122"/>
                <a:cs typeface="Calibri" pitchFamily="34" charset="-120"/>
              </a:rPr>
              <a:t>A hard, fixed or matted axillary node</a:t>
            </a:r>
            <a:endParaRPr lang="en-GB" sz="1600" noProof="0" dirty="0"/>
          </a:p>
        </p:txBody>
      </p:sp>
      <p:sp>
        <p:nvSpPr>
          <p:cNvPr id="8" name="Shape 6"/>
          <p:cNvSpPr/>
          <p:nvPr/>
        </p:nvSpPr>
        <p:spPr>
          <a:xfrm>
            <a:off x="4334256" y="1213940"/>
            <a:ext cx="3520440" cy="4160520"/>
          </a:xfrm>
          <a:prstGeom prst="roundRect">
            <a:avLst>
              <a:gd name="adj" fmla="val 1558"/>
            </a:avLst>
          </a:prstGeom>
          <a:solidFill>
            <a:schemeClr val="accent6">
              <a:lumMod val="20000"/>
              <a:lumOff val="80000"/>
            </a:schemeClr>
          </a:solidFill>
          <a:ln w="12700">
            <a:solidFill>
              <a:srgbClr val="C8D8EC"/>
            </a:solidFill>
            <a:prstDash val="solid"/>
          </a:ln>
        </p:spPr>
        <p:txBody>
          <a:bodyPr/>
          <a:lstStyle/>
          <a:p>
            <a:endParaRPr lang="en-GB" noProof="0" dirty="0"/>
          </a:p>
        </p:txBody>
      </p:sp>
      <p:sp>
        <p:nvSpPr>
          <p:cNvPr id="9" name="Text 7"/>
          <p:cNvSpPr txBox="1"/>
          <p:nvPr/>
        </p:nvSpPr>
        <p:spPr>
          <a:xfrm>
            <a:off x="4498848" y="1305380"/>
            <a:ext cx="3191256" cy="292608"/>
          </a:xfrm>
          <a:prstGeom prst="rect">
            <a:avLst/>
          </a:prstGeom>
          <a:noFill/>
          <a:ln/>
        </p:spPr>
        <p:txBody>
          <a:bodyPr wrap="square" lIns="0" tIns="0" rIns="0" bIns="0" rtlCol="0" anchor="t"/>
          <a:lstStyle/>
          <a:p>
            <a:r>
              <a:rPr lang="en-GB" sz="1700" b="1" dirty="0">
                <a:solidFill>
                  <a:srgbClr val="00B050"/>
                </a:solidFill>
                <a:latin typeface="Calibri" pitchFamily="34" charset="0"/>
                <a:ea typeface="Calibri" pitchFamily="34" charset="-122"/>
                <a:cs typeface="Calibri" pitchFamily="34" charset="-120"/>
              </a:rPr>
              <a:t>🟢 Findings </a:t>
            </a:r>
            <a:r>
              <a:rPr lang="en-GB" sz="1700" b="1" noProof="0" dirty="0">
                <a:solidFill>
                  <a:srgbClr val="00B050"/>
                </a:solidFill>
                <a:latin typeface="Calibri" pitchFamily="34" charset="0"/>
                <a:ea typeface="Calibri" pitchFamily="34" charset="-122"/>
                <a:cs typeface="Calibri" pitchFamily="34" charset="-120"/>
              </a:rPr>
              <a:t>more often benign</a:t>
            </a:r>
            <a:endParaRPr lang="en-GB" sz="1700" noProof="0" dirty="0">
              <a:solidFill>
                <a:srgbClr val="00B050"/>
              </a:solidFill>
            </a:endParaRPr>
          </a:p>
        </p:txBody>
      </p:sp>
      <p:sp>
        <p:nvSpPr>
          <p:cNvPr id="10" name="Text 8"/>
          <p:cNvSpPr txBox="1"/>
          <p:nvPr/>
        </p:nvSpPr>
        <p:spPr>
          <a:xfrm>
            <a:off x="4498848" y="1671140"/>
            <a:ext cx="3191256" cy="3611880"/>
          </a:xfrm>
          <a:prstGeom prst="rect">
            <a:avLst/>
          </a:prstGeom>
          <a:noFill/>
          <a:ln/>
        </p:spPr>
        <p:txBody>
          <a:bodyPr wrap="square" lIns="0" tIns="0" rIns="0" bIns="0" rtlCol="0" anchor="t"/>
          <a:lstStyle/>
          <a:p>
            <a:pPr marL="342900" indent="-342900">
              <a:lnSpc>
                <a:spcPct val="95000"/>
              </a:lnSpc>
              <a:spcAft>
                <a:spcPts val="600"/>
              </a:spcAft>
              <a:buSzPct val="100000"/>
              <a:buChar char="•"/>
            </a:pPr>
            <a:r>
              <a:rPr lang="en-GB" sz="1600" noProof="0" dirty="0">
                <a:solidFill>
                  <a:srgbClr val="0B1F3F"/>
                </a:solidFill>
                <a:latin typeface="Calibri" pitchFamily="34" charset="0"/>
                <a:ea typeface="Calibri" pitchFamily="34" charset="-122"/>
                <a:cs typeface="Calibri" pitchFamily="34" charset="-120"/>
              </a:rPr>
              <a:t>A smooth, well-defined, mobile lump</a:t>
            </a:r>
            <a:endParaRPr lang="en-GB" sz="1600" noProof="0" dirty="0"/>
          </a:p>
          <a:p>
            <a:pPr marL="342900" indent="-342900">
              <a:lnSpc>
                <a:spcPct val="95000"/>
              </a:lnSpc>
              <a:spcAft>
                <a:spcPts val="600"/>
              </a:spcAft>
              <a:buSzPct val="100000"/>
              <a:buChar char="•"/>
            </a:pPr>
            <a:r>
              <a:rPr lang="en-GB" sz="1600" noProof="0" dirty="0">
                <a:solidFill>
                  <a:srgbClr val="0B1F3F"/>
                </a:solidFill>
                <a:latin typeface="Calibri" pitchFamily="34" charset="0"/>
                <a:ea typeface="Calibri" pitchFamily="34" charset="-122"/>
                <a:cs typeface="Calibri" pitchFamily="34" charset="-120"/>
              </a:rPr>
              <a:t>Generalised nodularity affecting both breasts</a:t>
            </a:r>
            <a:endParaRPr lang="en-GB" sz="1600" noProof="0" dirty="0"/>
          </a:p>
          <a:p>
            <a:pPr marL="342900" indent="-342900">
              <a:lnSpc>
                <a:spcPct val="95000"/>
              </a:lnSpc>
              <a:spcAft>
                <a:spcPts val="600"/>
              </a:spcAft>
              <a:buSzPct val="100000"/>
              <a:buChar char="•"/>
            </a:pPr>
            <a:r>
              <a:rPr lang="en-GB" sz="1600" noProof="0" dirty="0">
                <a:solidFill>
                  <a:srgbClr val="0B1F3F"/>
                </a:solidFill>
                <a:latin typeface="Calibri" pitchFamily="34" charset="0"/>
                <a:ea typeface="Calibri" pitchFamily="34" charset="-122"/>
                <a:cs typeface="Calibri" pitchFamily="34" charset="-120"/>
              </a:rPr>
              <a:t>Tenderness that varies with the menstrual cycle</a:t>
            </a:r>
            <a:endParaRPr lang="en-GB" sz="1600" noProof="0" dirty="0"/>
          </a:p>
          <a:p>
            <a:pPr marL="342900" indent="-342900">
              <a:lnSpc>
                <a:spcPct val="95000"/>
              </a:lnSpc>
              <a:spcAft>
                <a:spcPts val="600"/>
              </a:spcAft>
              <a:buSzPct val="100000"/>
              <a:buChar char="•"/>
            </a:pPr>
            <a:r>
              <a:rPr lang="en-GB" sz="1600" noProof="0" dirty="0">
                <a:solidFill>
                  <a:srgbClr val="0B1F3F"/>
                </a:solidFill>
                <a:latin typeface="Calibri" pitchFamily="34" charset="0"/>
                <a:ea typeface="Calibri" pitchFamily="34" charset="-122"/>
                <a:cs typeface="Calibri" pitchFamily="34" charset="-120"/>
              </a:rPr>
              <a:t>A soft, fluctuant swelling that appeared quickly</a:t>
            </a:r>
            <a:endParaRPr lang="en-GB" sz="1600" noProof="0" dirty="0"/>
          </a:p>
          <a:p>
            <a:pPr marL="342900" indent="-342900">
              <a:lnSpc>
                <a:spcPct val="95000"/>
              </a:lnSpc>
              <a:spcAft>
                <a:spcPts val="600"/>
              </a:spcAft>
              <a:buSzPct val="100000"/>
              <a:buChar char="•"/>
            </a:pPr>
            <a:r>
              <a:rPr lang="en-GB" sz="1600" noProof="0" dirty="0">
                <a:solidFill>
                  <a:srgbClr val="0B1F3F"/>
                </a:solidFill>
                <a:latin typeface="Calibri" pitchFamily="34" charset="0"/>
                <a:ea typeface="Calibri" pitchFamily="34" charset="-122"/>
                <a:cs typeface="Calibri" pitchFamily="34" charset="-120"/>
              </a:rPr>
              <a:t>Long-standing nipple inversion that is unchanged</a:t>
            </a:r>
            <a:endParaRPr lang="en-GB" sz="1600" noProof="0" dirty="0"/>
          </a:p>
          <a:p>
            <a:pPr marL="342900" indent="-342900">
              <a:lnSpc>
                <a:spcPct val="95000"/>
              </a:lnSpc>
              <a:spcAft>
                <a:spcPts val="600"/>
              </a:spcAft>
              <a:buSzPct val="100000"/>
              <a:buChar char="•"/>
            </a:pPr>
            <a:r>
              <a:rPr lang="en-GB" sz="1600" noProof="0" dirty="0">
                <a:solidFill>
                  <a:srgbClr val="0B1F3F"/>
                </a:solidFill>
                <a:latin typeface="Calibri" pitchFamily="34" charset="0"/>
                <a:ea typeface="Calibri" pitchFamily="34" charset="-122"/>
                <a:cs typeface="Calibri" pitchFamily="34" charset="-120"/>
              </a:rPr>
              <a:t>A soft, mobile, tender axillary node with a local cause</a:t>
            </a:r>
            <a:endParaRPr lang="en-GB" sz="1600" noProof="0" dirty="0"/>
          </a:p>
        </p:txBody>
      </p:sp>
      <p:sp>
        <p:nvSpPr>
          <p:cNvPr id="11" name="Shape 9"/>
          <p:cNvSpPr/>
          <p:nvPr/>
        </p:nvSpPr>
        <p:spPr>
          <a:xfrm>
            <a:off x="8119872" y="1213940"/>
            <a:ext cx="3523183" cy="4160520"/>
          </a:xfrm>
          <a:prstGeom prst="roundRect">
            <a:avLst>
              <a:gd name="adj" fmla="val 1557"/>
            </a:avLst>
          </a:prstGeom>
          <a:solidFill>
            <a:srgbClr val="F4F8FC"/>
          </a:solidFill>
          <a:ln w="12700">
            <a:solidFill>
              <a:srgbClr val="C8D8EC"/>
            </a:solidFill>
            <a:prstDash val="solid"/>
          </a:ln>
        </p:spPr>
        <p:txBody>
          <a:bodyPr/>
          <a:lstStyle/>
          <a:p>
            <a:endParaRPr lang="en-GB" noProof="0" dirty="0"/>
          </a:p>
        </p:txBody>
      </p:sp>
      <p:sp>
        <p:nvSpPr>
          <p:cNvPr id="12" name="Text 10"/>
          <p:cNvSpPr txBox="1"/>
          <p:nvPr/>
        </p:nvSpPr>
        <p:spPr>
          <a:xfrm>
            <a:off x="8284464" y="1305380"/>
            <a:ext cx="3193999" cy="292608"/>
          </a:xfrm>
          <a:prstGeom prst="rect">
            <a:avLst/>
          </a:prstGeom>
          <a:noFill/>
          <a:ln/>
        </p:spPr>
        <p:txBody>
          <a:bodyPr wrap="square" lIns="0" tIns="0" rIns="0" bIns="0" rtlCol="0" anchor="t"/>
          <a:lstStyle/>
          <a:p>
            <a:r>
              <a:rPr lang="en-GB" sz="1700" b="1" dirty="0">
                <a:solidFill>
                  <a:srgbClr val="12315B"/>
                </a:solidFill>
                <a:latin typeface="Calibri" pitchFamily="34" charset="0"/>
                <a:ea typeface="Calibri" pitchFamily="34" charset="-122"/>
                <a:cs typeface="Calibri" pitchFamily="34" charset="-120"/>
              </a:rPr>
              <a:t>❌ What </a:t>
            </a:r>
            <a:r>
              <a:rPr lang="en-GB" sz="1700" b="1" noProof="0" dirty="0">
                <a:solidFill>
                  <a:srgbClr val="12315B"/>
                </a:solidFill>
                <a:latin typeface="Calibri" pitchFamily="34" charset="0"/>
                <a:ea typeface="Calibri" pitchFamily="34" charset="-122"/>
                <a:cs typeface="Calibri" pitchFamily="34" charset="-120"/>
              </a:rPr>
              <a:t>examination cannot do</a:t>
            </a:r>
            <a:endParaRPr lang="en-GB" sz="1700" noProof="0" dirty="0"/>
          </a:p>
        </p:txBody>
      </p:sp>
      <p:sp>
        <p:nvSpPr>
          <p:cNvPr id="13" name="Text 11"/>
          <p:cNvSpPr txBox="1"/>
          <p:nvPr/>
        </p:nvSpPr>
        <p:spPr>
          <a:xfrm>
            <a:off x="8284464" y="1671140"/>
            <a:ext cx="3193999" cy="3611880"/>
          </a:xfrm>
          <a:prstGeom prst="rect">
            <a:avLst/>
          </a:prstGeom>
          <a:noFill/>
          <a:ln/>
        </p:spPr>
        <p:txBody>
          <a:bodyPr wrap="square" lIns="0" tIns="0" rIns="0" bIns="0" rtlCol="0" anchor="t"/>
          <a:lstStyle/>
          <a:p>
            <a:pPr marL="342900" indent="-342900">
              <a:lnSpc>
                <a:spcPct val="95000"/>
              </a:lnSpc>
              <a:spcAft>
                <a:spcPts val="600"/>
              </a:spcAft>
              <a:buSzPct val="100000"/>
              <a:buChar char="•"/>
            </a:pPr>
            <a:r>
              <a:rPr lang="en-GB" sz="1600" noProof="0" dirty="0">
                <a:solidFill>
                  <a:srgbClr val="0B1F3F"/>
                </a:solidFill>
                <a:latin typeface="Calibri" pitchFamily="34" charset="0"/>
                <a:ea typeface="Calibri" pitchFamily="34" charset="-122"/>
                <a:cs typeface="Calibri" pitchFamily="34" charset="-120"/>
              </a:rPr>
              <a:t>It cannot confirm breast cancer</a:t>
            </a:r>
            <a:endParaRPr lang="en-GB" sz="1600" noProof="0" dirty="0"/>
          </a:p>
          <a:p>
            <a:pPr marL="342900" indent="-342900">
              <a:lnSpc>
                <a:spcPct val="95000"/>
              </a:lnSpc>
              <a:spcAft>
                <a:spcPts val="600"/>
              </a:spcAft>
              <a:buSzPct val="100000"/>
              <a:buChar char="•"/>
            </a:pPr>
            <a:r>
              <a:rPr lang="en-GB" sz="1600" noProof="0" dirty="0">
                <a:solidFill>
                  <a:srgbClr val="0B1F3F"/>
                </a:solidFill>
                <a:latin typeface="Calibri" pitchFamily="34" charset="0"/>
                <a:ea typeface="Calibri" pitchFamily="34" charset="-122"/>
                <a:cs typeface="Calibri" pitchFamily="34" charset="-120"/>
              </a:rPr>
              <a:t>It cannot exclude breast cancer</a:t>
            </a:r>
            <a:endParaRPr lang="en-GB" sz="1600" noProof="0" dirty="0"/>
          </a:p>
          <a:p>
            <a:pPr marL="342900" indent="-342900">
              <a:lnSpc>
                <a:spcPct val="95000"/>
              </a:lnSpc>
              <a:spcAft>
                <a:spcPts val="600"/>
              </a:spcAft>
              <a:buSzPct val="100000"/>
              <a:buChar char="•"/>
            </a:pPr>
            <a:r>
              <a:rPr lang="en-GB" sz="1600" noProof="0" dirty="0">
                <a:solidFill>
                  <a:srgbClr val="0B1F3F"/>
                </a:solidFill>
                <a:latin typeface="Calibri" pitchFamily="34" charset="0"/>
                <a:ea typeface="Calibri" pitchFamily="34" charset="-122"/>
                <a:cs typeface="Calibri" pitchFamily="34" charset="-120"/>
              </a:rPr>
              <a:t>A normal examination in a person reporting a persistent change does not end the assessment</a:t>
            </a:r>
            <a:endParaRPr lang="en-GB" sz="1600" noProof="0" dirty="0"/>
          </a:p>
          <a:p>
            <a:pPr marL="342900" indent="-342900">
              <a:lnSpc>
                <a:spcPct val="95000"/>
              </a:lnSpc>
              <a:spcAft>
                <a:spcPts val="600"/>
              </a:spcAft>
              <a:buSzPct val="100000"/>
              <a:buChar char="•"/>
            </a:pPr>
            <a:r>
              <a:rPr lang="en-GB" sz="1600" noProof="0" dirty="0">
                <a:solidFill>
                  <a:srgbClr val="0B1F3F"/>
                </a:solidFill>
                <a:latin typeface="Calibri" pitchFamily="34" charset="0"/>
                <a:ea typeface="Calibri" pitchFamily="34" charset="-122"/>
                <a:cs typeface="Calibri" pitchFamily="34" charset="-120"/>
              </a:rPr>
              <a:t>Its purpose is to describe the finding accurately and to decide the next step</a:t>
            </a:r>
            <a:endParaRPr lang="en-GB" sz="1600" noProof="0" dirty="0"/>
          </a:p>
        </p:txBody>
      </p:sp>
      <p:sp>
        <p:nvSpPr>
          <p:cNvPr id="14" name="Shape 12"/>
          <p:cNvSpPr/>
          <p:nvPr/>
        </p:nvSpPr>
        <p:spPr>
          <a:xfrm>
            <a:off x="548640" y="5669280"/>
            <a:ext cx="11094415" cy="566928"/>
          </a:xfrm>
          <a:prstGeom prst="roundRect">
            <a:avLst>
              <a:gd name="adj" fmla="val 8065"/>
            </a:avLst>
          </a:prstGeom>
          <a:solidFill>
            <a:srgbClr val="FDF1E0"/>
          </a:solidFill>
          <a:ln w="12700">
            <a:solidFill>
              <a:srgbClr val="EFD3AA"/>
            </a:solidFill>
            <a:prstDash val="solid"/>
          </a:ln>
        </p:spPr>
        <p:txBody>
          <a:bodyPr/>
          <a:lstStyle/>
          <a:p>
            <a:endParaRPr lang="en-GB" noProof="0" dirty="0"/>
          </a:p>
        </p:txBody>
      </p:sp>
      <p:sp>
        <p:nvSpPr>
          <p:cNvPr id="15" name="Text 13"/>
          <p:cNvSpPr txBox="1"/>
          <p:nvPr/>
        </p:nvSpPr>
        <p:spPr>
          <a:xfrm>
            <a:off x="713232" y="5742432"/>
            <a:ext cx="10765231" cy="420624"/>
          </a:xfrm>
          <a:prstGeom prst="rect">
            <a:avLst/>
          </a:prstGeom>
          <a:noFill/>
          <a:ln/>
        </p:spPr>
        <p:txBody>
          <a:bodyPr wrap="square" lIns="0" tIns="0" rIns="0" bIns="0" rtlCol="0" anchor="ctr"/>
          <a:lstStyle/>
          <a:p>
            <a:pPr marL="0" indent="0">
              <a:lnSpc>
                <a:spcPct val="95000"/>
              </a:lnSpc>
              <a:buNone/>
            </a:pPr>
            <a:r>
              <a:rPr lang="en-GB" sz="1300" noProof="0" dirty="0">
                <a:solidFill>
                  <a:srgbClr val="0B1F3F"/>
                </a:solidFill>
                <a:latin typeface="Calibri" pitchFamily="34" charset="0"/>
                <a:ea typeface="Calibri" pitchFamily="34" charset="-122"/>
                <a:cs typeface="Calibri" pitchFamily="34" charset="-120"/>
              </a:rPr>
              <a:t>Record laterality, quadrant or clock position, distance from the nipple, and size in centimetres. Whoever sees this person next depends on that description to know whether anything has changed.</a:t>
            </a:r>
            <a:endParaRPr lang="en-GB" sz="1300" noProof="0" dirty="0"/>
          </a:p>
        </p:txBody>
      </p:sp>
    </p:spTree>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name="Slide 85">
    <p:bg>
      <p:bgPr>
        <a:solidFill>
          <a:srgbClr val="FFFFFF"/>
        </a:solidFill>
        <a:effectLst/>
      </p:bgPr>
    </p:bg>
    <p:spTree>
      <p:nvGrpSpPr>
        <p:cNvPr id="1" name=""/>
        <p:cNvGrpSpPr/>
        <p:nvPr/>
      </p:nvGrpSpPr>
      <p:grpSpPr>
        <a:xfrm>
          <a:off x="0" y="0"/>
          <a:ext cx="0" cy="0"/>
          <a:chOff x="0" y="0"/>
          <a:chExt cx="0" cy="0"/>
        </a:xfrm>
      </p:grpSpPr>
      <p:pic>
        <p:nvPicPr>
          <p:cNvPr id="5" name="Imagen 4">
            <a:extLst>
              <a:ext uri="{FF2B5EF4-FFF2-40B4-BE49-F238E27FC236}">
                <a16:creationId xmlns:a16="http://schemas.microsoft.com/office/drawing/2014/main" id="{B3EB7E28-18E8-D21B-BEAE-65CA7F589E23}"/>
              </a:ext>
            </a:extLst>
          </p:cNvPr>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a:xfrm>
            <a:off x="831375" y="995825"/>
            <a:ext cx="9431741" cy="5485192"/>
          </a:xfrm>
          <a:prstGeom prst="rect">
            <a:avLst/>
          </a:prstGeom>
        </p:spPr>
      </p:pic>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en-GB" sz="1100" b="1" kern="0" spc="100" noProof="0" dirty="0">
                <a:solidFill>
                  <a:srgbClr val="5B7699"/>
                </a:solidFill>
                <a:latin typeface="Calibri" pitchFamily="34" charset="0"/>
                <a:ea typeface="Calibri" pitchFamily="34" charset="-122"/>
                <a:cs typeface="Calibri" pitchFamily="34" charset="-120"/>
              </a:rPr>
              <a:t>S E S S I O N   4</a:t>
            </a:r>
            <a:endParaRPr lang="en-GB"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en-GB" sz="1000" noProof="0" dirty="0">
                <a:solidFill>
                  <a:srgbClr val="5B7699"/>
                </a:solidFill>
                <a:latin typeface="Calibri" pitchFamily="34" charset="0"/>
                <a:ea typeface="Calibri" pitchFamily="34" charset="-122"/>
                <a:cs typeface="Calibri" pitchFamily="34" charset="-120"/>
              </a:rPr>
              <a:t>Breast Cancer  |  Frontline HCP  |  Rwanda Biomedical Centre</a:t>
            </a:r>
            <a:endParaRPr lang="en-GB"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en-GB" sz="3000" b="1" noProof="0" dirty="0">
                <a:solidFill>
                  <a:srgbClr val="12315B"/>
                </a:solidFill>
                <a:latin typeface="Calibri" pitchFamily="34" charset="0"/>
                <a:ea typeface="Calibri" pitchFamily="34" charset="-122"/>
                <a:cs typeface="Calibri" pitchFamily="34" charset="-120"/>
              </a:rPr>
              <a:t>Tests</a:t>
            </a:r>
            <a:endParaRPr lang="en-GB" sz="3000" noProof="0" dirty="0"/>
          </a:p>
        </p:txBody>
      </p:sp>
    </p:spTree>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name="Slide 8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en-GB" sz="1100" b="1" kern="0" spc="100" noProof="0" dirty="0">
                <a:solidFill>
                  <a:srgbClr val="5B7699"/>
                </a:solidFill>
                <a:latin typeface="Calibri" pitchFamily="34" charset="0"/>
                <a:ea typeface="Calibri" pitchFamily="34" charset="-122"/>
                <a:cs typeface="Calibri" pitchFamily="34" charset="-120"/>
              </a:rPr>
              <a:t>S E S S I O N   4</a:t>
            </a:r>
            <a:endParaRPr lang="en-GB"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en-GB" sz="1000" noProof="0" dirty="0">
                <a:solidFill>
                  <a:srgbClr val="5B7699"/>
                </a:solidFill>
                <a:latin typeface="Calibri" pitchFamily="34" charset="0"/>
                <a:ea typeface="Calibri" pitchFamily="34" charset="-122"/>
                <a:cs typeface="Calibri" pitchFamily="34" charset="-120"/>
              </a:rPr>
              <a:t>Breast Cancer  |  Frontline HCP  |  Rwanda Biomedical Centre</a:t>
            </a:r>
            <a:endParaRPr lang="en-GB"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en-GB" sz="3000" b="1" noProof="0" dirty="0">
                <a:solidFill>
                  <a:srgbClr val="12315B"/>
                </a:solidFill>
                <a:latin typeface="Calibri" pitchFamily="34" charset="0"/>
                <a:ea typeface="Calibri" pitchFamily="34" charset="-122"/>
                <a:cs typeface="Calibri" pitchFamily="34" charset="-120"/>
              </a:rPr>
              <a:t>Histopathology and biomarker testing</a:t>
            </a:r>
            <a:endParaRPr lang="en-GB" sz="3000" noProof="0" dirty="0"/>
          </a:p>
        </p:txBody>
      </p:sp>
      <p:pic>
        <p:nvPicPr>
          <p:cNvPr id="5" name="Imagen 4">
            <a:extLst>
              <a:ext uri="{FF2B5EF4-FFF2-40B4-BE49-F238E27FC236}">
                <a16:creationId xmlns:a16="http://schemas.microsoft.com/office/drawing/2014/main" id="{53D058F2-BBCC-6E2A-6971-610531DB27A0}"/>
              </a:ext>
            </a:extLst>
          </p:cNvPr>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a:xfrm>
            <a:off x="414138" y="1133856"/>
            <a:ext cx="11363723" cy="4929522"/>
          </a:xfrm>
          <a:prstGeom prst="rect">
            <a:avLst/>
          </a:prstGeom>
        </p:spPr>
      </p:pic>
    </p:spTree>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name="Slide 8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en-GB" sz="1100" b="1" kern="0" spc="100" noProof="0" dirty="0">
                <a:solidFill>
                  <a:srgbClr val="5B7699"/>
                </a:solidFill>
                <a:latin typeface="Calibri" pitchFamily="34" charset="0"/>
                <a:ea typeface="Calibri" pitchFamily="34" charset="-122"/>
                <a:cs typeface="Calibri" pitchFamily="34" charset="-120"/>
              </a:rPr>
              <a:t>S E S S I O N   4</a:t>
            </a:r>
            <a:endParaRPr lang="en-GB"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en-GB" sz="1000" noProof="0" dirty="0">
                <a:solidFill>
                  <a:srgbClr val="5B7699"/>
                </a:solidFill>
                <a:latin typeface="Calibri" pitchFamily="34" charset="0"/>
                <a:ea typeface="Calibri" pitchFamily="34" charset="-122"/>
                <a:cs typeface="Calibri" pitchFamily="34" charset="-120"/>
              </a:rPr>
              <a:t>Breast Cancer  |  Frontline HCP  |  Rwanda Biomedical Centre</a:t>
            </a:r>
            <a:endParaRPr lang="en-GB"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en-GB" sz="3000" b="1" noProof="0" dirty="0">
                <a:solidFill>
                  <a:srgbClr val="12315B"/>
                </a:solidFill>
                <a:latin typeface="Calibri" pitchFamily="34" charset="0"/>
                <a:ea typeface="Calibri" pitchFamily="34" charset="-122"/>
                <a:cs typeface="Calibri" pitchFamily="34" charset="-120"/>
              </a:rPr>
              <a:t>What is the next step</a:t>
            </a:r>
            <a:endParaRPr lang="en-GB" sz="3000" noProof="0" dirty="0"/>
          </a:p>
        </p:txBody>
      </p:sp>
      <p:sp>
        <p:nvSpPr>
          <p:cNvPr id="5" name="Text 3"/>
          <p:cNvSpPr txBox="1"/>
          <p:nvPr/>
        </p:nvSpPr>
        <p:spPr>
          <a:xfrm>
            <a:off x="548640" y="1207008"/>
            <a:ext cx="11094415" cy="320040"/>
          </a:xfrm>
          <a:prstGeom prst="rect">
            <a:avLst/>
          </a:prstGeom>
          <a:noFill/>
          <a:ln/>
        </p:spPr>
        <p:txBody>
          <a:bodyPr wrap="square" lIns="0" tIns="0" rIns="0" bIns="0" rtlCol="0" anchor="ctr"/>
          <a:lstStyle/>
          <a:p>
            <a:r>
              <a:rPr lang="en-GB" sz="1600" i="1" dirty="0">
                <a:solidFill>
                  <a:srgbClr val="12315B"/>
                </a:solidFill>
                <a:latin typeface="Calibri" pitchFamily="34" charset="0"/>
                <a:ea typeface="Calibri" pitchFamily="34" charset="-122"/>
                <a:cs typeface="Calibri" pitchFamily="34" charset="-120"/>
              </a:rPr>
              <a:t>Match the finding to the next step</a:t>
            </a:r>
            <a:endParaRPr lang="en-GB" sz="1600" i="1" dirty="0"/>
          </a:p>
        </p:txBody>
      </p:sp>
      <p:sp>
        <p:nvSpPr>
          <p:cNvPr id="6" name="Shape 4"/>
          <p:cNvSpPr/>
          <p:nvPr/>
        </p:nvSpPr>
        <p:spPr>
          <a:xfrm>
            <a:off x="548640" y="1627632"/>
            <a:ext cx="5029200" cy="620268"/>
          </a:xfrm>
          <a:prstGeom prst="roundRect">
            <a:avLst>
              <a:gd name="adj" fmla="val 7371"/>
            </a:avLst>
          </a:prstGeom>
          <a:solidFill>
            <a:srgbClr val="F4F8FC"/>
          </a:solidFill>
          <a:ln w="12700">
            <a:solidFill>
              <a:srgbClr val="C8D8EC"/>
            </a:solidFill>
            <a:prstDash val="solid"/>
          </a:ln>
        </p:spPr>
        <p:txBody>
          <a:bodyPr/>
          <a:lstStyle/>
          <a:p>
            <a:endParaRPr lang="en-GB" noProof="0" dirty="0"/>
          </a:p>
        </p:txBody>
      </p:sp>
      <p:sp>
        <p:nvSpPr>
          <p:cNvPr id="7" name="Text 5"/>
          <p:cNvSpPr txBox="1"/>
          <p:nvPr/>
        </p:nvSpPr>
        <p:spPr>
          <a:xfrm>
            <a:off x="694944" y="1664208"/>
            <a:ext cx="4736592" cy="547116"/>
          </a:xfrm>
          <a:prstGeom prst="rect">
            <a:avLst/>
          </a:prstGeom>
          <a:noFill/>
          <a:ln/>
        </p:spPr>
        <p:txBody>
          <a:bodyPr wrap="square" lIns="0" tIns="0" rIns="0" bIns="0" rtlCol="0" anchor="ctr"/>
          <a:lstStyle/>
          <a:p>
            <a:pPr marL="0" indent="0">
              <a:lnSpc>
                <a:spcPct val="90000"/>
              </a:lnSpc>
              <a:buNone/>
            </a:pPr>
            <a:r>
              <a:rPr lang="en-GB" sz="1700" noProof="0" dirty="0">
                <a:solidFill>
                  <a:srgbClr val="0B1F3F"/>
                </a:solidFill>
                <a:latin typeface="Calibri" pitchFamily="34" charset="0"/>
                <a:ea typeface="Calibri" pitchFamily="34" charset="-122"/>
                <a:cs typeface="Calibri" pitchFamily="34" charset="-120"/>
              </a:rPr>
              <a:t>A well 50 year old with no breast symptoms asking about breast checks</a:t>
            </a:r>
            <a:endParaRPr lang="en-GB" sz="1700" noProof="0" dirty="0"/>
          </a:p>
        </p:txBody>
      </p:sp>
      <p:sp>
        <p:nvSpPr>
          <p:cNvPr id="8" name="Text 6"/>
          <p:cNvSpPr txBox="1"/>
          <p:nvPr/>
        </p:nvSpPr>
        <p:spPr>
          <a:xfrm>
            <a:off x="5577840" y="1627632"/>
            <a:ext cx="457200" cy="620268"/>
          </a:xfrm>
          <a:prstGeom prst="rect">
            <a:avLst/>
          </a:prstGeom>
          <a:noFill/>
          <a:ln/>
        </p:spPr>
        <p:txBody>
          <a:bodyPr wrap="square" lIns="0" tIns="0" rIns="0" bIns="0" rtlCol="0" anchor="ctr"/>
          <a:lstStyle/>
          <a:p>
            <a:pPr marL="0" indent="0" algn="ctr">
              <a:buNone/>
            </a:pPr>
            <a:r>
              <a:rPr lang="en-GB" sz="2000" b="1" noProof="0" dirty="0">
                <a:solidFill>
                  <a:srgbClr val="C9761A"/>
                </a:solidFill>
                <a:latin typeface="Calibri" pitchFamily="34" charset="0"/>
                <a:ea typeface="Calibri" pitchFamily="34" charset="-122"/>
                <a:cs typeface="Calibri" pitchFamily="34" charset="-120"/>
              </a:rPr>
              <a:t>→</a:t>
            </a:r>
            <a:endParaRPr lang="en-GB" sz="2000" noProof="0" dirty="0"/>
          </a:p>
        </p:txBody>
      </p:sp>
      <p:sp>
        <p:nvSpPr>
          <p:cNvPr id="9" name="Shape 7"/>
          <p:cNvSpPr/>
          <p:nvPr/>
        </p:nvSpPr>
        <p:spPr>
          <a:xfrm>
            <a:off x="6035040" y="1627632"/>
            <a:ext cx="5608015" cy="620268"/>
          </a:xfrm>
          <a:prstGeom prst="roundRect">
            <a:avLst>
              <a:gd name="adj" fmla="val 7371"/>
            </a:avLst>
          </a:prstGeom>
          <a:solidFill>
            <a:srgbClr val="EAF5EF"/>
          </a:solidFill>
          <a:ln w="12700">
            <a:solidFill>
              <a:srgbClr val="8FC4A9"/>
            </a:solidFill>
            <a:prstDash val="solid"/>
          </a:ln>
        </p:spPr>
        <p:txBody>
          <a:bodyPr/>
          <a:lstStyle/>
          <a:p>
            <a:endParaRPr lang="en-GB" noProof="0" dirty="0"/>
          </a:p>
        </p:txBody>
      </p:sp>
      <p:sp>
        <p:nvSpPr>
          <p:cNvPr id="10" name="Text 8"/>
          <p:cNvSpPr txBox="1"/>
          <p:nvPr/>
        </p:nvSpPr>
        <p:spPr>
          <a:xfrm>
            <a:off x="6181344" y="1664208"/>
            <a:ext cx="5315407" cy="547116"/>
          </a:xfrm>
          <a:prstGeom prst="rect">
            <a:avLst/>
          </a:prstGeom>
          <a:noFill/>
          <a:ln/>
        </p:spPr>
        <p:txBody>
          <a:bodyPr wrap="square" lIns="0" tIns="0" rIns="0" bIns="0" rtlCol="0" anchor="ctr"/>
          <a:lstStyle/>
          <a:p>
            <a:pPr marL="0" indent="0">
              <a:lnSpc>
                <a:spcPct val="90000"/>
              </a:lnSpc>
              <a:buNone/>
            </a:pPr>
            <a:r>
              <a:rPr lang="en-GB" sz="1700" noProof="0" dirty="0">
                <a:solidFill>
                  <a:srgbClr val="0B1F3F"/>
                </a:solidFill>
                <a:latin typeface="Calibri" pitchFamily="34" charset="0"/>
                <a:ea typeface="Calibri" pitchFamily="34" charset="-122"/>
                <a:cs typeface="Calibri" pitchFamily="34" charset="-120"/>
              </a:rPr>
              <a:t>A balanced discussion of what early detection can and cannot do, and how to notice change</a:t>
            </a:r>
            <a:endParaRPr lang="en-GB" sz="1700" noProof="0" dirty="0"/>
          </a:p>
        </p:txBody>
      </p:sp>
      <p:sp>
        <p:nvSpPr>
          <p:cNvPr id="11" name="Shape 9"/>
          <p:cNvSpPr/>
          <p:nvPr/>
        </p:nvSpPr>
        <p:spPr>
          <a:xfrm>
            <a:off x="548640" y="2375916"/>
            <a:ext cx="5029200" cy="620268"/>
          </a:xfrm>
          <a:prstGeom prst="roundRect">
            <a:avLst>
              <a:gd name="adj" fmla="val 7371"/>
            </a:avLst>
          </a:prstGeom>
          <a:solidFill>
            <a:srgbClr val="F4F8FC"/>
          </a:solidFill>
          <a:ln w="12700">
            <a:solidFill>
              <a:srgbClr val="C8D8EC"/>
            </a:solidFill>
            <a:prstDash val="solid"/>
          </a:ln>
        </p:spPr>
        <p:txBody>
          <a:bodyPr/>
          <a:lstStyle/>
          <a:p>
            <a:endParaRPr lang="en-GB" noProof="0" dirty="0"/>
          </a:p>
        </p:txBody>
      </p:sp>
      <p:sp>
        <p:nvSpPr>
          <p:cNvPr id="12" name="Text 10"/>
          <p:cNvSpPr txBox="1"/>
          <p:nvPr/>
        </p:nvSpPr>
        <p:spPr>
          <a:xfrm>
            <a:off x="694944" y="2412492"/>
            <a:ext cx="4736592" cy="547116"/>
          </a:xfrm>
          <a:prstGeom prst="rect">
            <a:avLst/>
          </a:prstGeom>
          <a:noFill/>
          <a:ln/>
        </p:spPr>
        <p:txBody>
          <a:bodyPr wrap="square" lIns="0" tIns="0" rIns="0" bIns="0" rtlCol="0" anchor="ctr"/>
          <a:lstStyle/>
          <a:p>
            <a:pPr marL="0" indent="0">
              <a:lnSpc>
                <a:spcPct val="90000"/>
              </a:lnSpc>
              <a:buNone/>
            </a:pPr>
            <a:r>
              <a:rPr lang="en-GB" sz="1700" noProof="0" dirty="0">
                <a:solidFill>
                  <a:srgbClr val="0B1F3F"/>
                </a:solidFill>
                <a:latin typeface="Calibri" pitchFamily="34" charset="0"/>
                <a:ea typeface="Calibri" pitchFamily="34" charset="-122"/>
                <a:cs typeface="Calibri" pitchFamily="34" charset="-120"/>
              </a:rPr>
              <a:t>A new discrete breast lump present for five months</a:t>
            </a:r>
            <a:endParaRPr lang="en-GB" sz="1700" noProof="0" dirty="0"/>
          </a:p>
        </p:txBody>
      </p:sp>
      <p:sp>
        <p:nvSpPr>
          <p:cNvPr id="13" name="Text 11"/>
          <p:cNvSpPr txBox="1"/>
          <p:nvPr/>
        </p:nvSpPr>
        <p:spPr>
          <a:xfrm>
            <a:off x="5577840" y="2375916"/>
            <a:ext cx="457200" cy="620268"/>
          </a:xfrm>
          <a:prstGeom prst="rect">
            <a:avLst/>
          </a:prstGeom>
          <a:noFill/>
          <a:ln/>
        </p:spPr>
        <p:txBody>
          <a:bodyPr wrap="square" lIns="0" tIns="0" rIns="0" bIns="0" rtlCol="0" anchor="ctr"/>
          <a:lstStyle/>
          <a:p>
            <a:pPr marL="0" indent="0" algn="ctr">
              <a:buNone/>
            </a:pPr>
            <a:r>
              <a:rPr lang="en-GB" sz="2000" b="1" noProof="0" dirty="0">
                <a:solidFill>
                  <a:srgbClr val="C9761A"/>
                </a:solidFill>
                <a:latin typeface="Calibri" pitchFamily="34" charset="0"/>
                <a:ea typeface="Calibri" pitchFamily="34" charset="-122"/>
                <a:cs typeface="Calibri" pitchFamily="34" charset="-120"/>
              </a:rPr>
              <a:t>→</a:t>
            </a:r>
            <a:endParaRPr lang="en-GB" sz="2000" noProof="0" dirty="0"/>
          </a:p>
        </p:txBody>
      </p:sp>
      <p:sp>
        <p:nvSpPr>
          <p:cNvPr id="14" name="Shape 12"/>
          <p:cNvSpPr/>
          <p:nvPr/>
        </p:nvSpPr>
        <p:spPr>
          <a:xfrm>
            <a:off x="6035040" y="2375916"/>
            <a:ext cx="5608015" cy="620268"/>
          </a:xfrm>
          <a:prstGeom prst="roundRect">
            <a:avLst>
              <a:gd name="adj" fmla="val 7371"/>
            </a:avLst>
          </a:prstGeom>
          <a:solidFill>
            <a:srgbClr val="EAF5EF"/>
          </a:solidFill>
          <a:ln w="12700">
            <a:solidFill>
              <a:srgbClr val="8FC4A9"/>
            </a:solidFill>
            <a:prstDash val="solid"/>
          </a:ln>
        </p:spPr>
        <p:txBody>
          <a:bodyPr/>
          <a:lstStyle/>
          <a:p>
            <a:endParaRPr lang="en-GB" noProof="0" dirty="0"/>
          </a:p>
        </p:txBody>
      </p:sp>
      <p:sp>
        <p:nvSpPr>
          <p:cNvPr id="15" name="Text 13"/>
          <p:cNvSpPr txBox="1"/>
          <p:nvPr/>
        </p:nvSpPr>
        <p:spPr>
          <a:xfrm>
            <a:off x="6181344" y="2412492"/>
            <a:ext cx="5315407" cy="547116"/>
          </a:xfrm>
          <a:prstGeom prst="rect">
            <a:avLst/>
          </a:prstGeom>
          <a:noFill/>
          <a:ln/>
        </p:spPr>
        <p:txBody>
          <a:bodyPr wrap="square" lIns="0" tIns="0" rIns="0" bIns="0" rtlCol="0" anchor="ctr"/>
          <a:lstStyle/>
          <a:p>
            <a:pPr marL="0" indent="0">
              <a:lnSpc>
                <a:spcPct val="90000"/>
              </a:lnSpc>
              <a:buNone/>
            </a:pPr>
            <a:r>
              <a:rPr lang="en-GB" sz="1700" noProof="0" dirty="0">
                <a:solidFill>
                  <a:srgbClr val="0B1F3F"/>
                </a:solidFill>
                <a:latin typeface="Calibri" pitchFamily="34" charset="0"/>
                <a:ea typeface="Calibri" pitchFamily="34" charset="-122"/>
                <a:cs typeface="Calibri" pitchFamily="34" charset="-120"/>
              </a:rPr>
              <a:t>Prompt referral for clinical assessment, imaging and tissue diagnosis</a:t>
            </a:r>
            <a:endParaRPr lang="en-GB" sz="1700" noProof="0" dirty="0"/>
          </a:p>
        </p:txBody>
      </p:sp>
      <p:sp>
        <p:nvSpPr>
          <p:cNvPr id="16" name="Shape 14"/>
          <p:cNvSpPr/>
          <p:nvPr/>
        </p:nvSpPr>
        <p:spPr>
          <a:xfrm>
            <a:off x="548640" y="3124200"/>
            <a:ext cx="5029200" cy="620268"/>
          </a:xfrm>
          <a:prstGeom prst="roundRect">
            <a:avLst>
              <a:gd name="adj" fmla="val 7371"/>
            </a:avLst>
          </a:prstGeom>
          <a:solidFill>
            <a:srgbClr val="F4F8FC"/>
          </a:solidFill>
          <a:ln w="12700">
            <a:solidFill>
              <a:srgbClr val="C8D8EC"/>
            </a:solidFill>
            <a:prstDash val="solid"/>
          </a:ln>
        </p:spPr>
        <p:txBody>
          <a:bodyPr/>
          <a:lstStyle/>
          <a:p>
            <a:endParaRPr lang="en-GB" noProof="0" dirty="0"/>
          </a:p>
        </p:txBody>
      </p:sp>
      <p:sp>
        <p:nvSpPr>
          <p:cNvPr id="17" name="Text 15"/>
          <p:cNvSpPr txBox="1"/>
          <p:nvPr/>
        </p:nvSpPr>
        <p:spPr>
          <a:xfrm>
            <a:off x="694944" y="3160776"/>
            <a:ext cx="4736592" cy="547116"/>
          </a:xfrm>
          <a:prstGeom prst="rect">
            <a:avLst/>
          </a:prstGeom>
          <a:noFill/>
          <a:ln/>
        </p:spPr>
        <p:txBody>
          <a:bodyPr wrap="square" lIns="0" tIns="0" rIns="0" bIns="0" rtlCol="0" anchor="ctr"/>
          <a:lstStyle/>
          <a:p>
            <a:pPr marL="0" indent="0">
              <a:lnSpc>
                <a:spcPct val="90000"/>
              </a:lnSpc>
              <a:buNone/>
            </a:pPr>
            <a:r>
              <a:rPr lang="en-GB" sz="1700" noProof="0" dirty="0">
                <a:solidFill>
                  <a:srgbClr val="0B1F3F"/>
                </a:solidFill>
                <a:latin typeface="Calibri" pitchFamily="34" charset="0"/>
                <a:ea typeface="Calibri" pitchFamily="34" charset="-122"/>
                <a:cs typeface="Calibri" pitchFamily="34" charset="-120"/>
              </a:rPr>
              <a:t>A red, swollen, thickened breast that has not settled with treatment</a:t>
            </a:r>
            <a:endParaRPr lang="en-GB" sz="1700" noProof="0" dirty="0"/>
          </a:p>
        </p:txBody>
      </p:sp>
      <p:sp>
        <p:nvSpPr>
          <p:cNvPr id="18" name="Text 16"/>
          <p:cNvSpPr txBox="1"/>
          <p:nvPr/>
        </p:nvSpPr>
        <p:spPr>
          <a:xfrm>
            <a:off x="5577840" y="3124200"/>
            <a:ext cx="457200" cy="620268"/>
          </a:xfrm>
          <a:prstGeom prst="rect">
            <a:avLst/>
          </a:prstGeom>
          <a:noFill/>
          <a:ln/>
        </p:spPr>
        <p:txBody>
          <a:bodyPr wrap="square" lIns="0" tIns="0" rIns="0" bIns="0" rtlCol="0" anchor="ctr"/>
          <a:lstStyle/>
          <a:p>
            <a:pPr marL="0" indent="0" algn="ctr">
              <a:buNone/>
            </a:pPr>
            <a:r>
              <a:rPr lang="en-GB" sz="2000" b="1" noProof="0" dirty="0">
                <a:solidFill>
                  <a:srgbClr val="C9761A"/>
                </a:solidFill>
                <a:latin typeface="Calibri" pitchFamily="34" charset="0"/>
                <a:ea typeface="Calibri" pitchFamily="34" charset="-122"/>
                <a:cs typeface="Calibri" pitchFamily="34" charset="-120"/>
              </a:rPr>
              <a:t>→</a:t>
            </a:r>
            <a:endParaRPr lang="en-GB" sz="2000" noProof="0" dirty="0"/>
          </a:p>
        </p:txBody>
      </p:sp>
      <p:sp>
        <p:nvSpPr>
          <p:cNvPr id="19" name="Shape 17"/>
          <p:cNvSpPr/>
          <p:nvPr/>
        </p:nvSpPr>
        <p:spPr>
          <a:xfrm>
            <a:off x="6035040" y="3124200"/>
            <a:ext cx="5608015" cy="620268"/>
          </a:xfrm>
          <a:prstGeom prst="roundRect">
            <a:avLst>
              <a:gd name="adj" fmla="val 7371"/>
            </a:avLst>
          </a:prstGeom>
          <a:solidFill>
            <a:srgbClr val="EAF5EF"/>
          </a:solidFill>
          <a:ln w="12700">
            <a:solidFill>
              <a:srgbClr val="8FC4A9"/>
            </a:solidFill>
            <a:prstDash val="solid"/>
          </a:ln>
        </p:spPr>
        <p:txBody>
          <a:bodyPr/>
          <a:lstStyle/>
          <a:p>
            <a:endParaRPr lang="en-GB" noProof="0" dirty="0"/>
          </a:p>
        </p:txBody>
      </p:sp>
      <p:sp>
        <p:nvSpPr>
          <p:cNvPr id="20" name="Text 18"/>
          <p:cNvSpPr txBox="1"/>
          <p:nvPr/>
        </p:nvSpPr>
        <p:spPr>
          <a:xfrm>
            <a:off x="6181344" y="3160776"/>
            <a:ext cx="5315407" cy="547116"/>
          </a:xfrm>
          <a:prstGeom prst="rect">
            <a:avLst/>
          </a:prstGeom>
          <a:noFill/>
          <a:ln/>
        </p:spPr>
        <p:txBody>
          <a:bodyPr wrap="square" lIns="0" tIns="0" rIns="0" bIns="0" rtlCol="0" anchor="ctr"/>
          <a:lstStyle/>
          <a:p>
            <a:pPr marL="0" indent="0">
              <a:lnSpc>
                <a:spcPct val="90000"/>
              </a:lnSpc>
              <a:buNone/>
            </a:pPr>
            <a:r>
              <a:rPr lang="en-GB" sz="1700" noProof="0" dirty="0">
                <a:solidFill>
                  <a:srgbClr val="0B1F3F"/>
                </a:solidFill>
                <a:latin typeface="Calibri" pitchFamily="34" charset="0"/>
                <a:ea typeface="Calibri" pitchFamily="34" charset="-122"/>
                <a:cs typeface="Calibri" pitchFamily="34" charset="-120"/>
              </a:rPr>
              <a:t>Urgent referral for suspected inflammatory breast cancer</a:t>
            </a:r>
            <a:endParaRPr lang="en-GB" sz="1700" noProof="0" dirty="0"/>
          </a:p>
        </p:txBody>
      </p:sp>
      <p:sp>
        <p:nvSpPr>
          <p:cNvPr id="21" name="Shape 19"/>
          <p:cNvSpPr/>
          <p:nvPr/>
        </p:nvSpPr>
        <p:spPr>
          <a:xfrm>
            <a:off x="548640" y="3872484"/>
            <a:ext cx="5029200" cy="620268"/>
          </a:xfrm>
          <a:prstGeom prst="roundRect">
            <a:avLst>
              <a:gd name="adj" fmla="val 7371"/>
            </a:avLst>
          </a:prstGeom>
          <a:solidFill>
            <a:srgbClr val="F4F8FC"/>
          </a:solidFill>
          <a:ln w="12700">
            <a:solidFill>
              <a:srgbClr val="C8D8EC"/>
            </a:solidFill>
            <a:prstDash val="solid"/>
          </a:ln>
        </p:spPr>
        <p:txBody>
          <a:bodyPr/>
          <a:lstStyle/>
          <a:p>
            <a:endParaRPr lang="en-GB" noProof="0" dirty="0"/>
          </a:p>
        </p:txBody>
      </p:sp>
      <p:sp>
        <p:nvSpPr>
          <p:cNvPr id="22" name="Text 20"/>
          <p:cNvSpPr txBox="1"/>
          <p:nvPr/>
        </p:nvSpPr>
        <p:spPr>
          <a:xfrm>
            <a:off x="694944" y="3909060"/>
            <a:ext cx="4736592" cy="547116"/>
          </a:xfrm>
          <a:prstGeom prst="rect">
            <a:avLst/>
          </a:prstGeom>
          <a:noFill/>
          <a:ln/>
        </p:spPr>
        <p:txBody>
          <a:bodyPr wrap="square" lIns="0" tIns="0" rIns="0" bIns="0" rtlCol="0" anchor="ctr"/>
          <a:lstStyle/>
          <a:p>
            <a:pPr marL="0" indent="0">
              <a:lnSpc>
                <a:spcPct val="90000"/>
              </a:lnSpc>
              <a:buNone/>
            </a:pPr>
            <a:r>
              <a:rPr lang="en-GB" sz="1700" noProof="0" dirty="0">
                <a:solidFill>
                  <a:srgbClr val="0B1F3F"/>
                </a:solidFill>
                <a:latin typeface="Calibri" pitchFamily="34" charset="0"/>
                <a:ea typeface="Calibri" pitchFamily="34" charset="-122"/>
                <a:cs typeface="Calibri" pitchFamily="34" charset="-120"/>
              </a:rPr>
              <a:t>An abnormal mammogram in a person with no symptoms</a:t>
            </a:r>
            <a:endParaRPr lang="en-GB" sz="1700" noProof="0" dirty="0"/>
          </a:p>
        </p:txBody>
      </p:sp>
      <p:sp>
        <p:nvSpPr>
          <p:cNvPr id="23" name="Text 21"/>
          <p:cNvSpPr txBox="1"/>
          <p:nvPr/>
        </p:nvSpPr>
        <p:spPr>
          <a:xfrm>
            <a:off x="5577840" y="3872484"/>
            <a:ext cx="457200" cy="620268"/>
          </a:xfrm>
          <a:prstGeom prst="rect">
            <a:avLst/>
          </a:prstGeom>
          <a:noFill/>
          <a:ln/>
        </p:spPr>
        <p:txBody>
          <a:bodyPr wrap="square" lIns="0" tIns="0" rIns="0" bIns="0" rtlCol="0" anchor="ctr"/>
          <a:lstStyle/>
          <a:p>
            <a:pPr marL="0" indent="0" algn="ctr">
              <a:buNone/>
            </a:pPr>
            <a:r>
              <a:rPr lang="en-GB" sz="2000" b="1" noProof="0" dirty="0">
                <a:solidFill>
                  <a:srgbClr val="C9761A"/>
                </a:solidFill>
                <a:latin typeface="Calibri" pitchFamily="34" charset="0"/>
                <a:ea typeface="Calibri" pitchFamily="34" charset="-122"/>
                <a:cs typeface="Calibri" pitchFamily="34" charset="-120"/>
              </a:rPr>
              <a:t>→</a:t>
            </a:r>
            <a:endParaRPr lang="en-GB" sz="2000" noProof="0" dirty="0"/>
          </a:p>
        </p:txBody>
      </p:sp>
      <p:sp>
        <p:nvSpPr>
          <p:cNvPr id="24" name="Shape 22"/>
          <p:cNvSpPr/>
          <p:nvPr/>
        </p:nvSpPr>
        <p:spPr>
          <a:xfrm>
            <a:off x="6035040" y="3872484"/>
            <a:ext cx="5608015" cy="620268"/>
          </a:xfrm>
          <a:prstGeom prst="roundRect">
            <a:avLst>
              <a:gd name="adj" fmla="val 7371"/>
            </a:avLst>
          </a:prstGeom>
          <a:solidFill>
            <a:srgbClr val="EAF5EF"/>
          </a:solidFill>
          <a:ln w="12700">
            <a:solidFill>
              <a:srgbClr val="8FC4A9"/>
            </a:solidFill>
            <a:prstDash val="solid"/>
          </a:ln>
        </p:spPr>
        <p:txBody>
          <a:bodyPr/>
          <a:lstStyle/>
          <a:p>
            <a:endParaRPr lang="en-GB" noProof="0" dirty="0"/>
          </a:p>
        </p:txBody>
      </p:sp>
      <p:sp>
        <p:nvSpPr>
          <p:cNvPr id="25" name="Text 23"/>
          <p:cNvSpPr txBox="1"/>
          <p:nvPr/>
        </p:nvSpPr>
        <p:spPr>
          <a:xfrm>
            <a:off x="6181344" y="3909060"/>
            <a:ext cx="5315407" cy="547116"/>
          </a:xfrm>
          <a:prstGeom prst="rect">
            <a:avLst/>
          </a:prstGeom>
          <a:noFill/>
          <a:ln/>
        </p:spPr>
        <p:txBody>
          <a:bodyPr wrap="square" lIns="0" tIns="0" rIns="0" bIns="0" rtlCol="0" anchor="ctr"/>
          <a:lstStyle/>
          <a:p>
            <a:pPr marL="0" indent="0">
              <a:lnSpc>
                <a:spcPct val="90000"/>
              </a:lnSpc>
              <a:buNone/>
            </a:pPr>
            <a:r>
              <a:rPr lang="en-GB" sz="1700" noProof="0" dirty="0">
                <a:solidFill>
                  <a:srgbClr val="0B1F3F"/>
                </a:solidFill>
                <a:latin typeface="Calibri" pitchFamily="34" charset="0"/>
                <a:ea typeface="Calibri" pitchFamily="34" charset="-122"/>
                <a:cs typeface="Calibri" pitchFamily="34" charset="-120"/>
              </a:rPr>
              <a:t>Further breast assessment, with a clear explanation that cancer is not confirmed</a:t>
            </a:r>
            <a:endParaRPr lang="en-GB" sz="1700" noProof="0" dirty="0"/>
          </a:p>
        </p:txBody>
      </p:sp>
      <p:sp>
        <p:nvSpPr>
          <p:cNvPr id="26" name="Shape 24"/>
          <p:cNvSpPr/>
          <p:nvPr/>
        </p:nvSpPr>
        <p:spPr>
          <a:xfrm>
            <a:off x="548640" y="4620768"/>
            <a:ext cx="5029200" cy="620268"/>
          </a:xfrm>
          <a:prstGeom prst="roundRect">
            <a:avLst>
              <a:gd name="adj" fmla="val 7371"/>
            </a:avLst>
          </a:prstGeom>
          <a:solidFill>
            <a:srgbClr val="F4F8FC"/>
          </a:solidFill>
          <a:ln w="12700">
            <a:solidFill>
              <a:srgbClr val="C8D8EC"/>
            </a:solidFill>
            <a:prstDash val="solid"/>
          </a:ln>
        </p:spPr>
        <p:txBody>
          <a:bodyPr/>
          <a:lstStyle/>
          <a:p>
            <a:endParaRPr lang="en-GB" noProof="0" dirty="0"/>
          </a:p>
        </p:txBody>
      </p:sp>
      <p:sp>
        <p:nvSpPr>
          <p:cNvPr id="27" name="Text 25"/>
          <p:cNvSpPr txBox="1"/>
          <p:nvPr/>
        </p:nvSpPr>
        <p:spPr>
          <a:xfrm>
            <a:off x="694944" y="4657344"/>
            <a:ext cx="4736592" cy="547116"/>
          </a:xfrm>
          <a:prstGeom prst="rect">
            <a:avLst/>
          </a:prstGeom>
          <a:noFill/>
          <a:ln/>
        </p:spPr>
        <p:txBody>
          <a:bodyPr wrap="square" lIns="0" tIns="0" rIns="0" bIns="0" rtlCol="0" anchor="ctr"/>
          <a:lstStyle/>
          <a:p>
            <a:pPr marL="0" indent="0">
              <a:lnSpc>
                <a:spcPct val="90000"/>
              </a:lnSpc>
              <a:buNone/>
            </a:pPr>
            <a:r>
              <a:rPr lang="en-GB" sz="1700" noProof="0" dirty="0">
                <a:solidFill>
                  <a:srgbClr val="0B1F3F"/>
                </a:solidFill>
                <a:latin typeface="Calibri" pitchFamily="34" charset="0"/>
                <a:ea typeface="Calibri" pitchFamily="34" charset="-122"/>
                <a:cs typeface="Calibri" pitchFamily="34" charset="-120"/>
              </a:rPr>
              <a:t>A confirmed invasive breast cancer, ER positive and HER2 negative</a:t>
            </a:r>
            <a:endParaRPr lang="en-GB" sz="1700" noProof="0" dirty="0"/>
          </a:p>
        </p:txBody>
      </p:sp>
      <p:sp>
        <p:nvSpPr>
          <p:cNvPr id="28" name="Text 26"/>
          <p:cNvSpPr txBox="1"/>
          <p:nvPr/>
        </p:nvSpPr>
        <p:spPr>
          <a:xfrm>
            <a:off x="5577840" y="4620768"/>
            <a:ext cx="457200" cy="620268"/>
          </a:xfrm>
          <a:prstGeom prst="rect">
            <a:avLst/>
          </a:prstGeom>
          <a:noFill/>
          <a:ln/>
        </p:spPr>
        <p:txBody>
          <a:bodyPr wrap="square" lIns="0" tIns="0" rIns="0" bIns="0" rtlCol="0" anchor="ctr"/>
          <a:lstStyle/>
          <a:p>
            <a:pPr marL="0" indent="0" algn="ctr">
              <a:buNone/>
            </a:pPr>
            <a:r>
              <a:rPr lang="en-GB" sz="2000" b="1" noProof="0" dirty="0">
                <a:solidFill>
                  <a:srgbClr val="C9761A"/>
                </a:solidFill>
                <a:latin typeface="Calibri" pitchFamily="34" charset="0"/>
                <a:ea typeface="Calibri" pitchFamily="34" charset="-122"/>
                <a:cs typeface="Calibri" pitchFamily="34" charset="-120"/>
              </a:rPr>
              <a:t>→</a:t>
            </a:r>
            <a:endParaRPr lang="en-GB" sz="2000" noProof="0" dirty="0"/>
          </a:p>
        </p:txBody>
      </p:sp>
      <p:sp>
        <p:nvSpPr>
          <p:cNvPr id="29" name="Shape 27"/>
          <p:cNvSpPr/>
          <p:nvPr/>
        </p:nvSpPr>
        <p:spPr>
          <a:xfrm>
            <a:off x="6035040" y="4620768"/>
            <a:ext cx="5608015" cy="620268"/>
          </a:xfrm>
          <a:prstGeom prst="roundRect">
            <a:avLst>
              <a:gd name="adj" fmla="val 7371"/>
            </a:avLst>
          </a:prstGeom>
          <a:solidFill>
            <a:srgbClr val="EAF5EF"/>
          </a:solidFill>
          <a:ln w="12700">
            <a:solidFill>
              <a:srgbClr val="8FC4A9"/>
            </a:solidFill>
            <a:prstDash val="solid"/>
          </a:ln>
        </p:spPr>
        <p:txBody>
          <a:bodyPr/>
          <a:lstStyle/>
          <a:p>
            <a:endParaRPr lang="en-GB" noProof="0" dirty="0"/>
          </a:p>
        </p:txBody>
      </p:sp>
      <p:sp>
        <p:nvSpPr>
          <p:cNvPr id="30" name="Text 28"/>
          <p:cNvSpPr txBox="1"/>
          <p:nvPr/>
        </p:nvSpPr>
        <p:spPr>
          <a:xfrm>
            <a:off x="6181344" y="4657344"/>
            <a:ext cx="5315407" cy="547116"/>
          </a:xfrm>
          <a:prstGeom prst="rect">
            <a:avLst/>
          </a:prstGeom>
          <a:noFill/>
          <a:ln/>
        </p:spPr>
        <p:txBody>
          <a:bodyPr wrap="square" lIns="0" tIns="0" rIns="0" bIns="0" rtlCol="0" anchor="ctr"/>
          <a:lstStyle/>
          <a:p>
            <a:pPr marL="0" indent="0">
              <a:lnSpc>
                <a:spcPct val="90000"/>
              </a:lnSpc>
              <a:buNone/>
            </a:pPr>
            <a:r>
              <a:rPr lang="en-GB" sz="1700" noProof="0" dirty="0">
                <a:solidFill>
                  <a:srgbClr val="0B1F3F"/>
                </a:solidFill>
                <a:latin typeface="Calibri" pitchFamily="34" charset="0"/>
                <a:ea typeface="Calibri" pitchFamily="34" charset="-122"/>
                <a:cs typeface="Calibri" pitchFamily="34" charset="-120"/>
              </a:rPr>
              <a:t>Specialist treatment planning, with endocrine therapy expected to be part of it</a:t>
            </a:r>
            <a:endParaRPr lang="en-GB" sz="1700" noProof="0" dirty="0"/>
          </a:p>
        </p:txBody>
      </p:sp>
      <p:sp>
        <p:nvSpPr>
          <p:cNvPr id="31" name="Shape 29"/>
          <p:cNvSpPr/>
          <p:nvPr/>
        </p:nvSpPr>
        <p:spPr>
          <a:xfrm>
            <a:off x="548640" y="5369052"/>
            <a:ext cx="5029200" cy="620268"/>
          </a:xfrm>
          <a:prstGeom prst="roundRect">
            <a:avLst>
              <a:gd name="adj" fmla="val 7371"/>
            </a:avLst>
          </a:prstGeom>
          <a:solidFill>
            <a:srgbClr val="F4F8FC"/>
          </a:solidFill>
          <a:ln w="12700">
            <a:solidFill>
              <a:srgbClr val="C8D8EC"/>
            </a:solidFill>
            <a:prstDash val="solid"/>
          </a:ln>
        </p:spPr>
        <p:txBody>
          <a:bodyPr/>
          <a:lstStyle/>
          <a:p>
            <a:endParaRPr lang="en-GB" noProof="0" dirty="0"/>
          </a:p>
        </p:txBody>
      </p:sp>
      <p:sp>
        <p:nvSpPr>
          <p:cNvPr id="32" name="Text 30"/>
          <p:cNvSpPr txBox="1"/>
          <p:nvPr/>
        </p:nvSpPr>
        <p:spPr>
          <a:xfrm>
            <a:off x="694944" y="5405628"/>
            <a:ext cx="4736592" cy="547116"/>
          </a:xfrm>
          <a:prstGeom prst="rect">
            <a:avLst/>
          </a:prstGeom>
          <a:noFill/>
          <a:ln/>
        </p:spPr>
        <p:txBody>
          <a:bodyPr wrap="square" lIns="0" tIns="0" rIns="0" bIns="0" rtlCol="0" anchor="ctr"/>
          <a:lstStyle/>
          <a:p>
            <a:pPr marL="0" indent="0">
              <a:lnSpc>
                <a:spcPct val="90000"/>
              </a:lnSpc>
              <a:buNone/>
            </a:pPr>
            <a:r>
              <a:rPr lang="en-GB" sz="1700" noProof="0" dirty="0">
                <a:solidFill>
                  <a:srgbClr val="0B1F3F"/>
                </a:solidFill>
                <a:latin typeface="Calibri" pitchFamily="34" charset="0"/>
                <a:ea typeface="Calibri" pitchFamily="34" charset="-122"/>
                <a:cs typeface="Calibri" pitchFamily="34" charset="-120"/>
              </a:rPr>
              <a:t>New persistent bone pain in a person treated for breast cancer two years ago</a:t>
            </a:r>
            <a:endParaRPr lang="en-GB" sz="1700" noProof="0" dirty="0"/>
          </a:p>
        </p:txBody>
      </p:sp>
      <p:sp>
        <p:nvSpPr>
          <p:cNvPr id="33" name="Text 31"/>
          <p:cNvSpPr txBox="1"/>
          <p:nvPr/>
        </p:nvSpPr>
        <p:spPr>
          <a:xfrm>
            <a:off x="5577840" y="5369052"/>
            <a:ext cx="457200" cy="620268"/>
          </a:xfrm>
          <a:prstGeom prst="rect">
            <a:avLst/>
          </a:prstGeom>
          <a:noFill/>
          <a:ln/>
        </p:spPr>
        <p:txBody>
          <a:bodyPr wrap="square" lIns="0" tIns="0" rIns="0" bIns="0" rtlCol="0" anchor="ctr"/>
          <a:lstStyle/>
          <a:p>
            <a:pPr marL="0" indent="0" algn="ctr">
              <a:buNone/>
            </a:pPr>
            <a:r>
              <a:rPr lang="en-GB" sz="2000" b="1" noProof="0" dirty="0">
                <a:solidFill>
                  <a:srgbClr val="C9761A"/>
                </a:solidFill>
                <a:latin typeface="Calibri" pitchFamily="34" charset="0"/>
                <a:ea typeface="Calibri" pitchFamily="34" charset="-122"/>
                <a:cs typeface="Calibri" pitchFamily="34" charset="-120"/>
              </a:rPr>
              <a:t>→</a:t>
            </a:r>
            <a:endParaRPr lang="en-GB" sz="2000" noProof="0" dirty="0"/>
          </a:p>
        </p:txBody>
      </p:sp>
      <p:sp>
        <p:nvSpPr>
          <p:cNvPr id="34" name="Shape 32"/>
          <p:cNvSpPr/>
          <p:nvPr/>
        </p:nvSpPr>
        <p:spPr>
          <a:xfrm>
            <a:off x="6035040" y="5369052"/>
            <a:ext cx="5608015" cy="620268"/>
          </a:xfrm>
          <a:prstGeom prst="roundRect">
            <a:avLst>
              <a:gd name="adj" fmla="val 7371"/>
            </a:avLst>
          </a:prstGeom>
          <a:solidFill>
            <a:srgbClr val="EAF5EF"/>
          </a:solidFill>
          <a:ln w="12700">
            <a:solidFill>
              <a:srgbClr val="8FC4A9"/>
            </a:solidFill>
            <a:prstDash val="solid"/>
          </a:ln>
        </p:spPr>
        <p:txBody>
          <a:bodyPr/>
          <a:lstStyle/>
          <a:p>
            <a:endParaRPr lang="en-GB" noProof="0" dirty="0"/>
          </a:p>
        </p:txBody>
      </p:sp>
      <p:sp>
        <p:nvSpPr>
          <p:cNvPr id="35" name="Text 33"/>
          <p:cNvSpPr txBox="1"/>
          <p:nvPr/>
        </p:nvSpPr>
        <p:spPr>
          <a:xfrm>
            <a:off x="6181344" y="5405628"/>
            <a:ext cx="5315407" cy="547116"/>
          </a:xfrm>
          <a:prstGeom prst="rect">
            <a:avLst/>
          </a:prstGeom>
          <a:noFill/>
          <a:ln/>
        </p:spPr>
        <p:txBody>
          <a:bodyPr wrap="square" lIns="0" tIns="0" rIns="0" bIns="0" rtlCol="0" anchor="ctr"/>
          <a:lstStyle/>
          <a:p>
            <a:pPr marL="0" indent="0">
              <a:lnSpc>
                <a:spcPct val="90000"/>
              </a:lnSpc>
              <a:buNone/>
            </a:pPr>
            <a:r>
              <a:rPr lang="en-GB" sz="1700" noProof="0" dirty="0">
                <a:solidFill>
                  <a:srgbClr val="0B1F3F"/>
                </a:solidFill>
                <a:latin typeface="Calibri" pitchFamily="34" charset="0"/>
                <a:ea typeface="Calibri" pitchFamily="34" charset="-122"/>
                <a:cs typeface="Calibri" pitchFamily="34" charset="-120"/>
              </a:rPr>
              <a:t>Assessment for possible recurrence rather than reassurance</a:t>
            </a:r>
            <a:endParaRPr lang="en-GB" sz="1700" noProof="0" dirty="0"/>
          </a:p>
        </p:txBody>
      </p:sp>
    </p:spTree>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name="Slide 9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en-GB" sz="1100" b="1" kern="0" spc="100" noProof="0" dirty="0">
                <a:solidFill>
                  <a:srgbClr val="5B7699"/>
                </a:solidFill>
                <a:latin typeface="Calibri" pitchFamily="34" charset="0"/>
                <a:ea typeface="Calibri" pitchFamily="34" charset="-122"/>
                <a:cs typeface="Calibri" pitchFamily="34" charset="-120"/>
              </a:rPr>
              <a:t>S E S S I O N   4</a:t>
            </a:r>
            <a:endParaRPr lang="en-GB"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en-GB" sz="1000" noProof="0" dirty="0">
                <a:solidFill>
                  <a:srgbClr val="5B7699"/>
                </a:solidFill>
                <a:latin typeface="Calibri" pitchFamily="34" charset="0"/>
                <a:ea typeface="Calibri" pitchFamily="34" charset="-122"/>
                <a:cs typeface="Calibri" pitchFamily="34" charset="-120"/>
              </a:rPr>
              <a:t>Breast Cancer  |  Frontline HCP  |  Rwanda Biomedical Centre</a:t>
            </a:r>
            <a:endParaRPr lang="en-GB"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en-GB" sz="3000" b="1" noProof="0" dirty="0">
                <a:solidFill>
                  <a:srgbClr val="12315B"/>
                </a:solidFill>
                <a:latin typeface="Calibri" pitchFamily="34" charset="0"/>
                <a:ea typeface="Calibri" pitchFamily="34" charset="-122"/>
                <a:cs typeface="Calibri" pitchFamily="34" charset="-120"/>
              </a:rPr>
              <a:t>Treatment: Surgery</a:t>
            </a:r>
            <a:endParaRPr lang="en-GB" sz="3000" noProof="0" dirty="0"/>
          </a:p>
        </p:txBody>
      </p:sp>
      <p:grpSp>
        <p:nvGrpSpPr>
          <p:cNvPr id="11" name="Grupo 10">
            <a:extLst>
              <a:ext uri="{FF2B5EF4-FFF2-40B4-BE49-F238E27FC236}">
                <a16:creationId xmlns:a16="http://schemas.microsoft.com/office/drawing/2014/main" id="{89BADC16-8AE6-CEEC-5024-BE1489369C1E}"/>
              </a:ext>
            </a:extLst>
          </p:cNvPr>
          <p:cNvGrpSpPr/>
          <p:nvPr/>
        </p:nvGrpSpPr>
        <p:grpSpPr>
          <a:xfrm>
            <a:off x="548640" y="1371600"/>
            <a:ext cx="5394960" cy="4775200"/>
            <a:chOff x="548640" y="1371600"/>
            <a:chExt cx="5394960" cy="4775200"/>
          </a:xfrm>
        </p:grpSpPr>
        <p:sp>
          <p:nvSpPr>
            <p:cNvPr id="5" name="Shape 3"/>
            <p:cNvSpPr/>
            <p:nvPr/>
          </p:nvSpPr>
          <p:spPr>
            <a:xfrm>
              <a:off x="548640" y="1371600"/>
              <a:ext cx="5394960" cy="4775200"/>
            </a:xfrm>
            <a:prstGeom prst="roundRect">
              <a:avLst>
                <a:gd name="adj" fmla="val 2308"/>
              </a:avLst>
            </a:prstGeom>
            <a:solidFill>
              <a:srgbClr val="F4F8FC"/>
            </a:solidFill>
            <a:ln w="12700">
              <a:solidFill>
                <a:srgbClr val="C8D8EC"/>
              </a:solidFill>
              <a:prstDash val="solid"/>
            </a:ln>
          </p:spPr>
          <p:txBody>
            <a:bodyPr/>
            <a:lstStyle/>
            <a:p>
              <a:endParaRPr lang="en-GB" noProof="0" dirty="0"/>
            </a:p>
          </p:txBody>
        </p:sp>
        <p:sp>
          <p:nvSpPr>
            <p:cNvPr id="6" name="Text 4"/>
            <p:cNvSpPr txBox="1"/>
            <p:nvPr/>
          </p:nvSpPr>
          <p:spPr>
            <a:xfrm>
              <a:off x="713232" y="1463040"/>
              <a:ext cx="5065776" cy="292608"/>
            </a:xfrm>
            <a:prstGeom prst="rect">
              <a:avLst/>
            </a:prstGeom>
            <a:noFill/>
            <a:ln/>
          </p:spPr>
          <p:txBody>
            <a:bodyPr wrap="square" lIns="0" tIns="0" rIns="0" bIns="0" rtlCol="0" anchor="t"/>
            <a:lstStyle/>
            <a:p>
              <a:pPr marL="0" indent="0">
                <a:buNone/>
              </a:pPr>
              <a:r>
                <a:rPr lang="en-GB" sz="1700" b="1" noProof="0" dirty="0">
                  <a:solidFill>
                    <a:srgbClr val="12315B"/>
                  </a:solidFill>
                  <a:latin typeface="Calibri" pitchFamily="34" charset="0"/>
                  <a:ea typeface="Calibri" pitchFamily="34" charset="-122"/>
                  <a:cs typeface="Calibri" pitchFamily="34" charset="-120"/>
                </a:rPr>
                <a:t>Breast conserving surgery</a:t>
              </a:r>
              <a:endParaRPr lang="en-GB" sz="1700" noProof="0" dirty="0"/>
            </a:p>
          </p:txBody>
        </p:sp>
        <p:sp>
          <p:nvSpPr>
            <p:cNvPr id="7" name="Text 5"/>
            <p:cNvSpPr txBox="1"/>
            <p:nvPr/>
          </p:nvSpPr>
          <p:spPr>
            <a:xfrm>
              <a:off x="713232" y="1801368"/>
              <a:ext cx="5065776" cy="1892808"/>
            </a:xfrm>
            <a:prstGeom prst="rect">
              <a:avLst/>
            </a:prstGeom>
            <a:noFill/>
            <a:ln/>
          </p:spPr>
          <p:txBody>
            <a:bodyPr wrap="square" lIns="0" tIns="0" rIns="0" bIns="0" rtlCol="0" anchor="t"/>
            <a:lstStyle/>
            <a:p>
              <a:pPr marL="0" indent="0">
                <a:lnSpc>
                  <a:spcPct val="90000"/>
                </a:lnSpc>
                <a:buNone/>
              </a:pPr>
              <a:r>
                <a:rPr lang="en-GB" sz="1800" noProof="0" dirty="0">
                  <a:solidFill>
                    <a:srgbClr val="1F3A63"/>
                  </a:solidFill>
                  <a:latin typeface="Calibri" pitchFamily="34" charset="0"/>
                  <a:ea typeface="Calibri" pitchFamily="34" charset="-122"/>
                  <a:cs typeface="Calibri" pitchFamily="34" charset="-120"/>
                </a:rPr>
                <a:t>The tumour is removed with a margin of surrounding tissue and much of the breast is preserved. Radiotherapy is usually part of the treatment afterwards, so it depends on radiotherapy being accessible. It is appropriate for many, and not for every patient.</a:t>
              </a:r>
              <a:endParaRPr lang="en-GB" sz="1800" noProof="0" dirty="0"/>
            </a:p>
          </p:txBody>
        </p:sp>
        <p:pic>
          <p:nvPicPr>
            <p:cNvPr id="20" name="Imagen 19">
              <a:extLst>
                <a:ext uri="{FF2B5EF4-FFF2-40B4-BE49-F238E27FC236}">
                  <a16:creationId xmlns:a16="http://schemas.microsoft.com/office/drawing/2014/main" id="{248718DA-4DB0-1716-B3B6-E4F885D74214}"/>
                </a:ext>
              </a:extLst>
            </p:cNvPr>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a:xfrm>
              <a:off x="633497" y="3428999"/>
              <a:ext cx="5145511" cy="2450583"/>
            </a:xfrm>
            <a:prstGeom prst="rect">
              <a:avLst/>
            </a:prstGeom>
          </p:spPr>
        </p:pic>
      </p:grpSp>
      <p:grpSp>
        <p:nvGrpSpPr>
          <p:cNvPr id="12" name="Grupo 11">
            <a:extLst>
              <a:ext uri="{FF2B5EF4-FFF2-40B4-BE49-F238E27FC236}">
                <a16:creationId xmlns:a16="http://schemas.microsoft.com/office/drawing/2014/main" id="{4BFF78FB-2AC6-29C4-976F-B51E3FCF8E24}"/>
              </a:ext>
            </a:extLst>
          </p:cNvPr>
          <p:cNvGrpSpPr/>
          <p:nvPr/>
        </p:nvGrpSpPr>
        <p:grpSpPr>
          <a:xfrm>
            <a:off x="6217920" y="1371599"/>
            <a:ext cx="5425135" cy="4775199"/>
            <a:chOff x="6217920" y="1371599"/>
            <a:chExt cx="5425135" cy="4775199"/>
          </a:xfrm>
        </p:grpSpPr>
        <p:sp>
          <p:nvSpPr>
            <p:cNvPr id="8" name="Shape 6"/>
            <p:cNvSpPr/>
            <p:nvPr/>
          </p:nvSpPr>
          <p:spPr>
            <a:xfrm>
              <a:off x="6217920" y="1371599"/>
              <a:ext cx="5425135" cy="4775199"/>
            </a:xfrm>
            <a:prstGeom prst="roundRect">
              <a:avLst>
                <a:gd name="adj" fmla="val 2308"/>
              </a:avLst>
            </a:prstGeom>
            <a:solidFill>
              <a:srgbClr val="F4F8FC"/>
            </a:solidFill>
            <a:ln w="12700">
              <a:solidFill>
                <a:srgbClr val="C8D8EC"/>
              </a:solidFill>
              <a:prstDash val="solid"/>
            </a:ln>
          </p:spPr>
          <p:txBody>
            <a:bodyPr/>
            <a:lstStyle/>
            <a:p>
              <a:endParaRPr lang="en-GB" noProof="0" dirty="0"/>
            </a:p>
          </p:txBody>
        </p:sp>
        <p:sp>
          <p:nvSpPr>
            <p:cNvPr id="9" name="Text 7"/>
            <p:cNvSpPr txBox="1"/>
            <p:nvPr/>
          </p:nvSpPr>
          <p:spPr>
            <a:xfrm>
              <a:off x="6382512" y="1463040"/>
              <a:ext cx="5095951" cy="292608"/>
            </a:xfrm>
            <a:prstGeom prst="rect">
              <a:avLst/>
            </a:prstGeom>
            <a:noFill/>
            <a:ln/>
          </p:spPr>
          <p:txBody>
            <a:bodyPr wrap="square" lIns="0" tIns="0" rIns="0" bIns="0" rtlCol="0" anchor="t"/>
            <a:lstStyle/>
            <a:p>
              <a:pPr marL="0" indent="0">
                <a:buNone/>
              </a:pPr>
              <a:r>
                <a:rPr lang="en-GB" sz="1700" b="1" noProof="0" dirty="0">
                  <a:solidFill>
                    <a:srgbClr val="12315B"/>
                  </a:solidFill>
                  <a:latin typeface="Calibri" pitchFamily="34" charset="0"/>
                  <a:ea typeface="Calibri" pitchFamily="34" charset="-122"/>
                  <a:cs typeface="Calibri" pitchFamily="34" charset="-120"/>
                </a:rPr>
                <a:t>Mastectomy</a:t>
              </a:r>
              <a:endParaRPr lang="en-GB" sz="1700" noProof="0" dirty="0"/>
            </a:p>
          </p:txBody>
        </p:sp>
        <p:sp>
          <p:nvSpPr>
            <p:cNvPr id="10" name="Text 8"/>
            <p:cNvSpPr txBox="1"/>
            <p:nvPr/>
          </p:nvSpPr>
          <p:spPr>
            <a:xfrm>
              <a:off x="6382512" y="1801368"/>
              <a:ext cx="5095951" cy="1892808"/>
            </a:xfrm>
            <a:prstGeom prst="rect">
              <a:avLst/>
            </a:prstGeom>
            <a:noFill/>
            <a:ln/>
          </p:spPr>
          <p:txBody>
            <a:bodyPr wrap="square" lIns="0" tIns="0" rIns="0" bIns="0" rtlCol="0" anchor="t"/>
            <a:lstStyle/>
            <a:p>
              <a:pPr marL="0" indent="0">
                <a:lnSpc>
                  <a:spcPct val="90000"/>
                </a:lnSpc>
                <a:buNone/>
              </a:pPr>
              <a:r>
                <a:rPr lang="en-GB" sz="1800" noProof="0" dirty="0">
                  <a:solidFill>
                    <a:srgbClr val="1F3A63"/>
                  </a:solidFill>
                  <a:latin typeface="Calibri" pitchFamily="34" charset="0"/>
                  <a:ea typeface="Calibri" pitchFamily="34" charset="-122"/>
                  <a:cs typeface="Calibri" pitchFamily="34" charset="-120"/>
                </a:rPr>
                <a:t>Most or all of the breast tissue is removed. It may be chosen because of tumour size relative to the breast, more than one tumour, previous radiotherapy, or the person's own preference. It is not automatically a sign of more advanced disease.</a:t>
              </a:r>
              <a:endParaRPr lang="en-GB" sz="1800" noProof="0" dirty="0"/>
            </a:p>
          </p:txBody>
        </p:sp>
        <p:pic>
          <p:nvPicPr>
            <p:cNvPr id="21" name="Imagen 20">
              <a:extLst>
                <a:ext uri="{FF2B5EF4-FFF2-40B4-BE49-F238E27FC236}">
                  <a16:creationId xmlns:a16="http://schemas.microsoft.com/office/drawing/2014/main" id="{E004A44E-2936-D303-23AE-5BFEF7355C6F}"/>
                </a:ext>
              </a:extLst>
            </p:cNvPr>
            <p:cNvPicPr>
              <a:picLocks noChangeAspect="1"/>
            </p:cNvPicPr>
            <p:nvPr/>
          </p:nvPicPr>
          <p:blipFill>
            <a:blip r:embed="rId4" cstate="email">
              <a:extLst>
                <a:ext uri="{28A0092B-C50C-407E-A947-70E740481C1C}">
                  <a14:useLocalDpi xmlns:a14="http://schemas.microsoft.com/office/drawing/2010/main"/>
                </a:ext>
              </a:extLst>
            </a:blip>
            <a:srcRect/>
            <a:stretch>
              <a:fillRect/>
            </a:stretch>
          </p:blipFill>
          <p:spPr>
            <a:xfrm>
              <a:off x="6382512" y="3275215"/>
              <a:ext cx="5016216" cy="2736118"/>
            </a:xfrm>
            <a:prstGeom prst="rect">
              <a:avLst/>
            </a:prstGeom>
          </p:spPr>
        </p:pic>
      </p:grpSp>
    </p:spTree>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090E51CE-8E74-BBBA-967E-793F43CFBE4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565859E-27FA-54D3-61B8-EE31C3D63770}"/>
              </a:ext>
            </a:extLst>
          </p:cNvPr>
          <p:cNvSpPr txBox="1"/>
          <p:nvPr/>
        </p:nvSpPr>
        <p:spPr>
          <a:xfrm>
            <a:off x="548640" y="274320"/>
            <a:ext cx="11094415" cy="256032"/>
          </a:xfrm>
          <a:prstGeom prst="rect">
            <a:avLst/>
          </a:prstGeom>
          <a:noFill/>
          <a:ln/>
        </p:spPr>
        <p:txBody>
          <a:bodyPr wrap="square" lIns="0" tIns="0" rIns="0" bIns="0" rtlCol="0" anchor="ctr"/>
          <a:lstStyle/>
          <a:p>
            <a:pPr marL="0" indent="0">
              <a:buNone/>
            </a:pPr>
            <a:r>
              <a:rPr lang="en-GB" sz="1100" b="1" kern="0" spc="100" noProof="0" dirty="0">
                <a:solidFill>
                  <a:srgbClr val="5B7699"/>
                </a:solidFill>
                <a:latin typeface="Calibri" pitchFamily="34" charset="0"/>
                <a:ea typeface="Calibri" pitchFamily="34" charset="-122"/>
                <a:cs typeface="Calibri" pitchFamily="34" charset="-120"/>
              </a:rPr>
              <a:t>S E S S I O N   4</a:t>
            </a:r>
            <a:endParaRPr lang="en-GB" sz="1100" noProof="0" dirty="0"/>
          </a:p>
        </p:txBody>
      </p:sp>
      <p:sp>
        <p:nvSpPr>
          <p:cNvPr id="3" name="Text 1">
            <a:extLst>
              <a:ext uri="{FF2B5EF4-FFF2-40B4-BE49-F238E27FC236}">
                <a16:creationId xmlns:a16="http://schemas.microsoft.com/office/drawing/2014/main" id="{85D728C7-2DA9-4404-15AB-E65F731E5BD7}"/>
              </a:ext>
            </a:extLst>
          </p:cNvPr>
          <p:cNvSpPr txBox="1"/>
          <p:nvPr/>
        </p:nvSpPr>
        <p:spPr>
          <a:xfrm>
            <a:off x="548640" y="6382512"/>
            <a:ext cx="11094415" cy="274320"/>
          </a:xfrm>
          <a:prstGeom prst="rect">
            <a:avLst/>
          </a:prstGeom>
          <a:noFill/>
          <a:ln/>
        </p:spPr>
        <p:txBody>
          <a:bodyPr wrap="square" lIns="0" tIns="0" rIns="0" bIns="0" rtlCol="0" anchor="ctr"/>
          <a:lstStyle/>
          <a:p>
            <a:pPr marL="0" indent="0">
              <a:buNone/>
            </a:pPr>
            <a:r>
              <a:rPr lang="en-GB" sz="1000" noProof="0" dirty="0">
                <a:solidFill>
                  <a:srgbClr val="5B7699"/>
                </a:solidFill>
                <a:latin typeface="Calibri" pitchFamily="34" charset="0"/>
                <a:ea typeface="Calibri" pitchFamily="34" charset="-122"/>
                <a:cs typeface="Calibri" pitchFamily="34" charset="-120"/>
              </a:rPr>
              <a:t>Breast Cancer  |  Frontline HCP  |  Rwanda Biomedical Centre</a:t>
            </a:r>
            <a:endParaRPr lang="en-GB" sz="1000" noProof="0" dirty="0"/>
          </a:p>
        </p:txBody>
      </p:sp>
      <p:sp>
        <p:nvSpPr>
          <p:cNvPr id="4" name="Text 2">
            <a:extLst>
              <a:ext uri="{FF2B5EF4-FFF2-40B4-BE49-F238E27FC236}">
                <a16:creationId xmlns:a16="http://schemas.microsoft.com/office/drawing/2014/main" id="{E6B58A70-9CEE-D65B-7F3C-DBEAE9A5C16E}"/>
              </a:ext>
            </a:extLst>
          </p:cNvPr>
          <p:cNvSpPr txBox="1"/>
          <p:nvPr/>
        </p:nvSpPr>
        <p:spPr>
          <a:xfrm>
            <a:off x="548640" y="566928"/>
            <a:ext cx="11094415" cy="566928"/>
          </a:xfrm>
          <a:prstGeom prst="rect">
            <a:avLst/>
          </a:prstGeom>
          <a:noFill/>
          <a:ln/>
        </p:spPr>
        <p:txBody>
          <a:bodyPr wrap="square" lIns="0" tIns="0" rIns="0" bIns="0" rtlCol="0" anchor="t"/>
          <a:lstStyle/>
          <a:p>
            <a:pPr marL="0" indent="0">
              <a:buNone/>
            </a:pPr>
            <a:r>
              <a:rPr lang="en-GB" sz="3000" b="1" noProof="0" dirty="0">
                <a:solidFill>
                  <a:srgbClr val="12315B"/>
                </a:solidFill>
                <a:latin typeface="Calibri" pitchFamily="34" charset="0"/>
                <a:ea typeface="Calibri" pitchFamily="34" charset="-122"/>
                <a:cs typeface="Calibri" pitchFamily="34" charset="-120"/>
              </a:rPr>
              <a:t>Treatment: Surgery</a:t>
            </a:r>
            <a:endParaRPr lang="en-GB" sz="3000" noProof="0" dirty="0"/>
          </a:p>
        </p:txBody>
      </p:sp>
      <p:grpSp>
        <p:nvGrpSpPr>
          <p:cNvPr id="8" name="Grupo 7">
            <a:extLst>
              <a:ext uri="{FF2B5EF4-FFF2-40B4-BE49-F238E27FC236}">
                <a16:creationId xmlns:a16="http://schemas.microsoft.com/office/drawing/2014/main" id="{64CE65B4-1834-99CF-B88E-E7F4F616C3DF}"/>
              </a:ext>
            </a:extLst>
          </p:cNvPr>
          <p:cNvGrpSpPr/>
          <p:nvPr/>
        </p:nvGrpSpPr>
        <p:grpSpPr>
          <a:xfrm>
            <a:off x="548640" y="1222592"/>
            <a:ext cx="3527450" cy="4556416"/>
            <a:chOff x="548640" y="1222592"/>
            <a:chExt cx="3527450" cy="4556416"/>
          </a:xfrm>
        </p:grpSpPr>
        <p:sp>
          <p:nvSpPr>
            <p:cNvPr id="11" name="Shape 9">
              <a:extLst>
                <a:ext uri="{FF2B5EF4-FFF2-40B4-BE49-F238E27FC236}">
                  <a16:creationId xmlns:a16="http://schemas.microsoft.com/office/drawing/2014/main" id="{CD8169DD-E1BE-9372-8F61-6618C87309E1}"/>
                </a:ext>
              </a:extLst>
            </p:cNvPr>
            <p:cNvSpPr/>
            <p:nvPr/>
          </p:nvSpPr>
          <p:spPr>
            <a:xfrm>
              <a:off x="548640" y="1222592"/>
              <a:ext cx="3527450" cy="4556416"/>
            </a:xfrm>
            <a:prstGeom prst="roundRect">
              <a:avLst>
                <a:gd name="adj" fmla="val 2857"/>
              </a:avLst>
            </a:prstGeom>
            <a:solidFill>
              <a:srgbClr val="F4F8FC"/>
            </a:solidFill>
            <a:ln w="12700">
              <a:solidFill>
                <a:srgbClr val="C8D8EC"/>
              </a:solidFill>
              <a:prstDash val="solid"/>
            </a:ln>
          </p:spPr>
          <p:txBody>
            <a:bodyPr/>
            <a:lstStyle/>
            <a:p>
              <a:endParaRPr lang="en-GB" noProof="0" dirty="0"/>
            </a:p>
          </p:txBody>
        </p:sp>
        <p:sp>
          <p:nvSpPr>
            <p:cNvPr id="12" name="Text 10">
              <a:extLst>
                <a:ext uri="{FF2B5EF4-FFF2-40B4-BE49-F238E27FC236}">
                  <a16:creationId xmlns:a16="http://schemas.microsoft.com/office/drawing/2014/main" id="{048B5DB4-1551-432A-A898-54D6720CC172}"/>
                </a:ext>
              </a:extLst>
            </p:cNvPr>
            <p:cNvSpPr txBox="1"/>
            <p:nvPr/>
          </p:nvSpPr>
          <p:spPr>
            <a:xfrm>
              <a:off x="713232" y="1314032"/>
              <a:ext cx="3198266" cy="292608"/>
            </a:xfrm>
            <a:prstGeom prst="rect">
              <a:avLst/>
            </a:prstGeom>
            <a:noFill/>
            <a:ln/>
          </p:spPr>
          <p:txBody>
            <a:bodyPr wrap="square" lIns="0" tIns="0" rIns="0" bIns="0" rtlCol="0" anchor="t"/>
            <a:lstStyle/>
            <a:p>
              <a:pPr marL="0" indent="0">
                <a:buNone/>
              </a:pPr>
              <a:r>
                <a:rPr lang="en-GB" sz="1700" b="1" noProof="0" dirty="0">
                  <a:solidFill>
                    <a:srgbClr val="12315B"/>
                  </a:solidFill>
                  <a:latin typeface="Calibri" pitchFamily="34" charset="0"/>
                  <a:ea typeface="Calibri" pitchFamily="34" charset="-122"/>
                  <a:cs typeface="Calibri" pitchFamily="34" charset="-120"/>
                </a:rPr>
                <a:t>What the choice depends on</a:t>
              </a:r>
              <a:endParaRPr lang="en-GB" sz="1700" noProof="0" dirty="0"/>
            </a:p>
          </p:txBody>
        </p:sp>
        <p:sp>
          <p:nvSpPr>
            <p:cNvPr id="13" name="Text 11">
              <a:extLst>
                <a:ext uri="{FF2B5EF4-FFF2-40B4-BE49-F238E27FC236}">
                  <a16:creationId xmlns:a16="http://schemas.microsoft.com/office/drawing/2014/main" id="{EDC596F3-B82B-EE62-F4B9-80ADB6F87D0F}"/>
                </a:ext>
              </a:extLst>
            </p:cNvPr>
            <p:cNvSpPr txBox="1"/>
            <p:nvPr/>
          </p:nvSpPr>
          <p:spPr>
            <a:xfrm>
              <a:off x="713232" y="1652360"/>
              <a:ext cx="3198266" cy="1435608"/>
            </a:xfrm>
            <a:prstGeom prst="rect">
              <a:avLst/>
            </a:prstGeom>
            <a:noFill/>
            <a:ln/>
          </p:spPr>
          <p:txBody>
            <a:bodyPr wrap="square" lIns="0" tIns="0" rIns="0" bIns="0" rtlCol="0" anchor="t"/>
            <a:lstStyle/>
            <a:p>
              <a:pPr marL="0" indent="0">
                <a:lnSpc>
                  <a:spcPct val="90000"/>
                </a:lnSpc>
                <a:buNone/>
              </a:pPr>
              <a:r>
                <a:rPr lang="en-GB" sz="1800" noProof="0" dirty="0">
                  <a:solidFill>
                    <a:srgbClr val="1F3A63"/>
                  </a:solidFill>
                  <a:latin typeface="Calibri" pitchFamily="34" charset="0"/>
                  <a:ea typeface="Calibri" pitchFamily="34" charset="-122"/>
                  <a:cs typeface="Calibri" pitchFamily="34" charset="-120"/>
                </a:rPr>
                <a:t>Tumour size and extent, breast size, stage, access to radiotherapy, the person's health and, importantly, their preferences.</a:t>
              </a:r>
              <a:endParaRPr lang="en-GB" sz="1800" noProof="0" dirty="0"/>
            </a:p>
          </p:txBody>
        </p:sp>
        <p:pic>
          <p:nvPicPr>
            <p:cNvPr id="5" name="Imagen 4">
              <a:extLst>
                <a:ext uri="{FF2B5EF4-FFF2-40B4-BE49-F238E27FC236}">
                  <a16:creationId xmlns:a16="http://schemas.microsoft.com/office/drawing/2014/main" id="{44FE6862-84D3-78C7-70A6-94078018E15B}"/>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678070" y="3249609"/>
              <a:ext cx="3181065" cy="2385799"/>
            </a:xfrm>
            <a:prstGeom prst="rect">
              <a:avLst/>
            </a:prstGeom>
          </p:spPr>
        </p:pic>
      </p:grpSp>
      <p:grpSp>
        <p:nvGrpSpPr>
          <p:cNvPr id="9" name="Grupo 8">
            <a:extLst>
              <a:ext uri="{FF2B5EF4-FFF2-40B4-BE49-F238E27FC236}">
                <a16:creationId xmlns:a16="http://schemas.microsoft.com/office/drawing/2014/main" id="{A8399D4B-360E-DBFF-8D77-391A343A1FDB}"/>
              </a:ext>
            </a:extLst>
          </p:cNvPr>
          <p:cNvGrpSpPr/>
          <p:nvPr/>
        </p:nvGrpSpPr>
        <p:grpSpPr>
          <a:xfrm>
            <a:off x="4332122" y="1222591"/>
            <a:ext cx="3527450" cy="4556415"/>
            <a:chOff x="4332122" y="1222591"/>
            <a:chExt cx="3527450" cy="4556415"/>
          </a:xfrm>
        </p:grpSpPr>
        <p:sp>
          <p:nvSpPr>
            <p:cNvPr id="14" name="Shape 12">
              <a:extLst>
                <a:ext uri="{FF2B5EF4-FFF2-40B4-BE49-F238E27FC236}">
                  <a16:creationId xmlns:a16="http://schemas.microsoft.com/office/drawing/2014/main" id="{46B9D5F2-3694-1024-181F-36DDB971F8E6}"/>
                </a:ext>
              </a:extLst>
            </p:cNvPr>
            <p:cNvSpPr/>
            <p:nvPr/>
          </p:nvSpPr>
          <p:spPr>
            <a:xfrm>
              <a:off x="4332122" y="1222591"/>
              <a:ext cx="3527450" cy="4556415"/>
            </a:xfrm>
            <a:prstGeom prst="roundRect">
              <a:avLst>
                <a:gd name="adj" fmla="val 2857"/>
              </a:avLst>
            </a:prstGeom>
            <a:solidFill>
              <a:srgbClr val="F4F8FC"/>
            </a:solidFill>
            <a:ln w="12700">
              <a:solidFill>
                <a:srgbClr val="C8D8EC"/>
              </a:solidFill>
              <a:prstDash val="solid"/>
            </a:ln>
          </p:spPr>
          <p:txBody>
            <a:bodyPr/>
            <a:lstStyle/>
            <a:p>
              <a:endParaRPr lang="en-GB" noProof="0" dirty="0"/>
            </a:p>
          </p:txBody>
        </p:sp>
        <p:sp>
          <p:nvSpPr>
            <p:cNvPr id="15" name="Text 13">
              <a:extLst>
                <a:ext uri="{FF2B5EF4-FFF2-40B4-BE49-F238E27FC236}">
                  <a16:creationId xmlns:a16="http://schemas.microsoft.com/office/drawing/2014/main" id="{15BF9DA2-B32A-06C8-38AB-3C9C42E69B83}"/>
                </a:ext>
              </a:extLst>
            </p:cNvPr>
            <p:cNvSpPr txBox="1"/>
            <p:nvPr/>
          </p:nvSpPr>
          <p:spPr>
            <a:xfrm>
              <a:off x="4496714" y="1314032"/>
              <a:ext cx="3198266" cy="292608"/>
            </a:xfrm>
            <a:prstGeom prst="rect">
              <a:avLst/>
            </a:prstGeom>
            <a:noFill/>
            <a:ln/>
          </p:spPr>
          <p:txBody>
            <a:bodyPr wrap="square" lIns="0" tIns="0" rIns="0" bIns="0" rtlCol="0" anchor="t"/>
            <a:lstStyle/>
            <a:p>
              <a:pPr marL="0" indent="0">
                <a:buNone/>
              </a:pPr>
              <a:r>
                <a:rPr lang="en-GB" sz="1700" b="1" noProof="0" dirty="0">
                  <a:solidFill>
                    <a:srgbClr val="12315B"/>
                  </a:solidFill>
                  <a:latin typeface="Calibri" pitchFamily="34" charset="0"/>
                  <a:ea typeface="Calibri" pitchFamily="34" charset="-122"/>
                  <a:cs typeface="Calibri" pitchFamily="34" charset="-120"/>
                </a:rPr>
                <a:t>Reconstruction</a:t>
              </a:r>
              <a:endParaRPr lang="en-GB" sz="1700" noProof="0" dirty="0"/>
            </a:p>
          </p:txBody>
        </p:sp>
        <p:sp>
          <p:nvSpPr>
            <p:cNvPr id="16" name="Text 14">
              <a:extLst>
                <a:ext uri="{FF2B5EF4-FFF2-40B4-BE49-F238E27FC236}">
                  <a16:creationId xmlns:a16="http://schemas.microsoft.com/office/drawing/2014/main" id="{0F8FABB0-5DDA-A1E4-9885-FC8E05BD9602}"/>
                </a:ext>
              </a:extLst>
            </p:cNvPr>
            <p:cNvSpPr txBox="1"/>
            <p:nvPr/>
          </p:nvSpPr>
          <p:spPr>
            <a:xfrm>
              <a:off x="4496714" y="1652360"/>
              <a:ext cx="3198266" cy="1435608"/>
            </a:xfrm>
            <a:prstGeom prst="rect">
              <a:avLst/>
            </a:prstGeom>
            <a:noFill/>
            <a:ln/>
          </p:spPr>
          <p:txBody>
            <a:bodyPr wrap="square" lIns="0" tIns="0" rIns="0" bIns="0" rtlCol="0" anchor="t"/>
            <a:lstStyle/>
            <a:p>
              <a:pPr marL="0" indent="0">
                <a:lnSpc>
                  <a:spcPct val="90000"/>
                </a:lnSpc>
                <a:buNone/>
              </a:pPr>
              <a:r>
                <a:rPr lang="en-GB" sz="1800" noProof="0" dirty="0">
                  <a:solidFill>
                    <a:srgbClr val="1F3A63"/>
                  </a:solidFill>
                  <a:latin typeface="Calibri" pitchFamily="34" charset="0"/>
                  <a:ea typeface="Calibri" pitchFamily="34" charset="-122"/>
                  <a:cs typeface="Calibri" pitchFamily="34" charset="-120"/>
                </a:rPr>
                <a:t>Reconstruction may be considered in some settings and for some patients. Do not promise it without confirming what is available.</a:t>
              </a:r>
              <a:endParaRPr lang="en-GB" sz="1800" noProof="0" dirty="0"/>
            </a:p>
          </p:txBody>
        </p:sp>
        <p:pic>
          <p:nvPicPr>
            <p:cNvPr id="6" name="Imagen 5">
              <a:extLst>
                <a:ext uri="{FF2B5EF4-FFF2-40B4-BE49-F238E27FC236}">
                  <a16:creationId xmlns:a16="http://schemas.microsoft.com/office/drawing/2014/main" id="{34F0FD91-DC48-380B-1C93-FA50A1F5FB45}"/>
                </a:ext>
              </a:extLst>
            </p:cNvPr>
            <p:cNvPicPr>
              <a:picLocks noChangeAspect="1"/>
            </p:cNvPicPr>
            <p:nvPr/>
          </p:nvPicPr>
          <p:blipFill>
            <a:blip r:embed="rId4" cstate="email">
              <a:extLst>
                <a:ext uri="{28A0092B-C50C-407E-A947-70E740481C1C}">
                  <a14:useLocalDpi xmlns:a14="http://schemas.microsoft.com/office/drawing/2010/main"/>
                </a:ext>
              </a:extLst>
            </a:blip>
            <a:srcRect/>
            <a:stretch>
              <a:fillRect/>
            </a:stretch>
          </p:blipFill>
          <p:spPr>
            <a:xfrm>
              <a:off x="4496867" y="3540520"/>
              <a:ext cx="3198266" cy="2003448"/>
            </a:xfrm>
            <a:prstGeom prst="rect">
              <a:avLst/>
            </a:prstGeom>
          </p:spPr>
        </p:pic>
      </p:grpSp>
      <p:grpSp>
        <p:nvGrpSpPr>
          <p:cNvPr id="10" name="Grupo 9">
            <a:extLst>
              <a:ext uri="{FF2B5EF4-FFF2-40B4-BE49-F238E27FC236}">
                <a16:creationId xmlns:a16="http://schemas.microsoft.com/office/drawing/2014/main" id="{6D7053A7-280A-FA61-36E2-AB0A42E7FE1A}"/>
              </a:ext>
            </a:extLst>
          </p:cNvPr>
          <p:cNvGrpSpPr/>
          <p:nvPr/>
        </p:nvGrpSpPr>
        <p:grpSpPr>
          <a:xfrm>
            <a:off x="8115605" y="1222592"/>
            <a:ext cx="3527450" cy="4556414"/>
            <a:chOff x="8115605" y="1222592"/>
            <a:chExt cx="3527450" cy="4556414"/>
          </a:xfrm>
        </p:grpSpPr>
        <p:sp>
          <p:nvSpPr>
            <p:cNvPr id="17" name="Shape 15">
              <a:extLst>
                <a:ext uri="{FF2B5EF4-FFF2-40B4-BE49-F238E27FC236}">
                  <a16:creationId xmlns:a16="http://schemas.microsoft.com/office/drawing/2014/main" id="{0BB78F74-1019-DC28-7569-3F11D045D0A8}"/>
                </a:ext>
              </a:extLst>
            </p:cNvPr>
            <p:cNvSpPr/>
            <p:nvPr/>
          </p:nvSpPr>
          <p:spPr>
            <a:xfrm>
              <a:off x="8115605" y="1222592"/>
              <a:ext cx="3527450" cy="4556414"/>
            </a:xfrm>
            <a:prstGeom prst="roundRect">
              <a:avLst>
                <a:gd name="adj" fmla="val 2857"/>
              </a:avLst>
            </a:prstGeom>
            <a:solidFill>
              <a:srgbClr val="F4F8FC"/>
            </a:solidFill>
            <a:ln w="12700">
              <a:solidFill>
                <a:srgbClr val="C8D8EC"/>
              </a:solidFill>
              <a:prstDash val="solid"/>
            </a:ln>
          </p:spPr>
          <p:txBody>
            <a:bodyPr/>
            <a:lstStyle/>
            <a:p>
              <a:endParaRPr lang="en-GB" noProof="0" dirty="0"/>
            </a:p>
          </p:txBody>
        </p:sp>
        <p:sp>
          <p:nvSpPr>
            <p:cNvPr id="18" name="Text 16">
              <a:extLst>
                <a:ext uri="{FF2B5EF4-FFF2-40B4-BE49-F238E27FC236}">
                  <a16:creationId xmlns:a16="http://schemas.microsoft.com/office/drawing/2014/main" id="{13236808-97F1-AC3E-1D40-D7EB4FE4DD7F}"/>
                </a:ext>
              </a:extLst>
            </p:cNvPr>
            <p:cNvSpPr txBox="1"/>
            <p:nvPr/>
          </p:nvSpPr>
          <p:spPr>
            <a:xfrm>
              <a:off x="8280197" y="1314032"/>
              <a:ext cx="3198266" cy="292608"/>
            </a:xfrm>
            <a:prstGeom prst="rect">
              <a:avLst/>
            </a:prstGeom>
            <a:noFill/>
            <a:ln/>
          </p:spPr>
          <p:txBody>
            <a:bodyPr wrap="square" lIns="0" tIns="0" rIns="0" bIns="0" rtlCol="0" anchor="t"/>
            <a:lstStyle/>
            <a:p>
              <a:pPr marL="0" indent="0">
                <a:buNone/>
              </a:pPr>
              <a:r>
                <a:rPr lang="en-GB" sz="1700" b="1" noProof="0" dirty="0">
                  <a:solidFill>
                    <a:srgbClr val="12315B"/>
                  </a:solidFill>
                  <a:latin typeface="Calibri" pitchFamily="34" charset="0"/>
                  <a:ea typeface="Calibri" pitchFamily="34" charset="-122"/>
                  <a:cs typeface="Calibri" pitchFamily="34" charset="-120"/>
                </a:rPr>
                <a:t>What to say early</a:t>
              </a:r>
              <a:endParaRPr lang="en-GB" sz="1700" noProof="0" dirty="0"/>
            </a:p>
          </p:txBody>
        </p:sp>
        <p:sp>
          <p:nvSpPr>
            <p:cNvPr id="19" name="Text 17">
              <a:extLst>
                <a:ext uri="{FF2B5EF4-FFF2-40B4-BE49-F238E27FC236}">
                  <a16:creationId xmlns:a16="http://schemas.microsoft.com/office/drawing/2014/main" id="{25EC1F32-CE54-E9AE-632F-B6C350EE17AA}"/>
                </a:ext>
              </a:extLst>
            </p:cNvPr>
            <p:cNvSpPr txBox="1"/>
            <p:nvPr/>
          </p:nvSpPr>
          <p:spPr>
            <a:xfrm>
              <a:off x="8280197" y="1652360"/>
              <a:ext cx="3198266" cy="1435608"/>
            </a:xfrm>
            <a:prstGeom prst="rect">
              <a:avLst/>
            </a:prstGeom>
            <a:noFill/>
            <a:ln/>
          </p:spPr>
          <p:txBody>
            <a:bodyPr wrap="square" lIns="0" tIns="0" rIns="0" bIns="0" rtlCol="0" anchor="t"/>
            <a:lstStyle/>
            <a:p>
              <a:pPr marL="0" indent="0">
                <a:lnSpc>
                  <a:spcPct val="90000"/>
                </a:lnSpc>
                <a:buNone/>
              </a:pPr>
              <a:r>
                <a:rPr lang="en-GB" sz="1800" noProof="0" dirty="0">
                  <a:solidFill>
                    <a:srgbClr val="1F3A63"/>
                  </a:solidFill>
                  <a:latin typeface="Calibri" pitchFamily="34" charset="0"/>
                  <a:ea typeface="Calibri" pitchFamily="34" charset="-122"/>
                  <a:cs typeface="Calibri" pitchFamily="34" charset="-120"/>
                </a:rPr>
                <a:t>Say plainly that mastectomy is not required for everyone. This single sentence removes one of the largest barriers to attending.</a:t>
              </a:r>
              <a:endParaRPr lang="en-GB" sz="1800" noProof="0" dirty="0"/>
            </a:p>
          </p:txBody>
        </p:sp>
        <p:pic>
          <p:nvPicPr>
            <p:cNvPr id="7" name="Imagen 6">
              <a:extLst>
                <a:ext uri="{FF2B5EF4-FFF2-40B4-BE49-F238E27FC236}">
                  <a16:creationId xmlns:a16="http://schemas.microsoft.com/office/drawing/2014/main" id="{C81F6EB6-E76B-57C0-DD17-73E7AEC04114}"/>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8370350" y="3364817"/>
              <a:ext cx="3027454" cy="2270591"/>
            </a:xfrm>
            <a:prstGeom prst="rect">
              <a:avLst/>
            </a:prstGeom>
          </p:spPr>
        </p:pic>
      </p:grpSp>
    </p:spTree>
    <p:extLst>
      <p:ext uri="{BB962C8B-B14F-4D97-AF65-F5344CB8AC3E}">
        <p14:creationId xmlns:p14="http://schemas.microsoft.com/office/powerpoint/2010/main" val="2069013390"/>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name="Slide 9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en-GB" sz="1100" b="1" kern="0" spc="100" noProof="0" dirty="0">
                <a:solidFill>
                  <a:srgbClr val="5B7699"/>
                </a:solidFill>
                <a:latin typeface="Calibri" pitchFamily="34" charset="0"/>
                <a:ea typeface="Calibri" pitchFamily="34" charset="-122"/>
                <a:cs typeface="Calibri" pitchFamily="34" charset="-120"/>
              </a:rPr>
              <a:t>S E S S I O N   4</a:t>
            </a:r>
            <a:endParaRPr lang="en-GB"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en-GB" sz="1000" noProof="0" dirty="0">
                <a:solidFill>
                  <a:srgbClr val="5B7699"/>
                </a:solidFill>
                <a:latin typeface="Calibri" pitchFamily="34" charset="0"/>
                <a:ea typeface="Calibri" pitchFamily="34" charset="-122"/>
                <a:cs typeface="Calibri" pitchFamily="34" charset="-120"/>
              </a:rPr>
              <a:t>Breast Cancer  |  Frontline HCP  |  Rwanda Biomedical Centre</a:t>
            </a:r>
            <a:endParaRPr lang="en-GB"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en-GB" sz="3000" b="1" noProof="0" dirty="0">
                <a:solidFill>
                  <a:srgbClr val="12315B"/>
                </a:solidFill>
                <a:latin typeface="Calibri" pitchFamily="34" charset="0"/>
                <a:ea typeface="Calibri" pitchFamily="34" charset="-122"/>
                <a:cs typeface="Calibri" pitchFamily="34" charset="-120"/>
              </a:rPr>
              <a:t>Managing the axilla</a:t>
            </a:r>
            <a:endParaRPr lang="en-GB" sz="3000" noProof="0" dirty="0"/>
          </a:p>
        </p:txBody>
      </p:sp>
      <p:sp>
        <p:nvSpPr>
          <p:cNvPr id="5" name="Shape 3"/>
          <p:cNvSpPr/>
          <p:nvPr/>
        </p:nvSpPr>
        <p:spPr>
          <a:xfrm>
            <a:off x="548639" y="1371600"/>
            <a:ext cx="11094415" cy="4261104"/>
          </a:xfrm>
          <a:prstGeom prst="roundRect">
            <a:avLst>
              <a:gd name="adj" fmla="val 2844"/>
            </a:avLst>
          </a:prstGeom>
          <a:solidFill>
            <a:srgbClr val="F4F8FC"/>
          </a:solidFill>
          <a:ln w="12700">
            <a:solidFill>
              <a:srgbClr val="C8D8EC"/>
            </a:solidFill>
            <a:prstDash val="solid"/>
          </a:ln>
        </p:spPr>
        <p:txBody>
          <a:bodyPr/>
          <a:lstStyle/>
          <a:p>
            <a:endParaRPr lang="en-GB" noProof="0" dirty="0"/>
          </a:p>
        </p:txBody>
      </p:sp>
      <p:sp>
        <p:nvSpPr>
          <p:cNvPr id="7" name="Text 5"/>
          <p:cNvSpPr txBox="1"/>
          <p:nvPr/>
        </p:nvSpPr>
        <p:spPr>
          <a:xfrm>
            <a:off x="831766" y="1615102"/>
            <a:ext cx="5264234" cy="1444752"/>
          </a:xfrm>
          <a:prstGeom prst="rect">
            <a:avLst/>
          </a:prstGeom>
          <a:noFill/>
          <a:ln/>
        </p:spPr>
        <p:txBody>
          <a:bodyPr wrap="square" lIns="0" tIns="0" rIns="0" bIns="0" rtlCol="0" anchor="t"/>
          <a:lstStyle/>
          <a:p>
            <a:pPr marL="285750" indent="-285750">
              <a:lnSpc>
                <a:spcPct val="90000"/>
              </a:lnSpc>
              <a:buFont typeface="Arial" panose="020B0604020202020204" pitchFamily="34" charset="0"/>
              <a:buChar char="•"/>
            </a:pPr>
            <a:r>
              <a:rPr lang="en-GB" sz="1800" noProof="0" dirty="0">
                <a:solidFill>
                  <a:srgbClr val="1F3A63"/>
                </a:solidFill>
                <a:latin typeface="Calibri" pitchFamily="34" charset="0"/>
                <a:ea typeface="Calibri" pitchFamily="34" charset="-122"/>
                <a:cs typeface="Calibri" pitchFamily="34" charset="-120"/>
              </a:rPr>
              <a:t>Assess the axillary nodes: Node involvement helps show how far the cancer has spread and guides treatment.</a:t>
            </a:r>
          </a:p>
          <a:p>
            <a:pPr marL="285750" indent="-285750">
              <a:lnSpc>
                <a:spcPct val="90000"/>
              </a:lnSpc>
              <a:buFont typeface="Arial" panose="020B0604020202020204" pitchFamily="34" charset="0"/>
              <a:buChar char="•"/>
            </a:pPr>
            <a:r>
              <a:rPr lang="en-GB" sz="1800" noProof="0" dirty="0">
                <a:solidFill>
                  <a:srgbClr val="1F3A63"/>
                </a:solidFill>
                <a:latin typeface="Calibri" pitchFamily="34" charset="0"/>
                <a:ea typeface="Calibri" pitchFamily="34" charset="-122"/>
                <a:cs typeface="Calibri" pitchFamily="34" charset="-120"/>
              </a:rPr>
              <a:t>Sentinel lymph node assessment: Removes the first draining node(s); if clear, more extensive axillary surgery may be avoided.</a:t>
            </a:r>
          </a:p>
          <a:p>
            <a:pPr marL="285750" indent="-285750">
              <a:lnSpc>
                <a:spcPct val="90000"/>
              </a:lnSpc>
              <a:buFont typeface="Arial" panose="020B0604020202020204" pitchFamily="34" charset="0"/>
              <a:buChar char="•"/>
            </a:pPr>
            <a:r>
              <a:rPr lang="en-GB" sz="1800" noProof="0" dirty="0">
                <a:solidFill>
                  <a:srgbClr val="1F3A63"/>
                </a:solidFill>
                <a:latin typeface="Calibri" pitchFamily="34" charset="0"/>
                <a:ea typeface="Calibri" pitchFamily="34" charset="-122"/>
                <a:cs typeface="Calibri" pitchFamily="34" charset="-120"/>
              </a:rPr>
              <a:t>Axillary dissection: Removes a larger group of nodes when indicated.</a:t>
            </a:r>
          </a:p>
          <a:p>
            <a:pPr marL="285750" indent="-285750">
              <a:lnSpc>
                <a:spcPct val="90000"/>
              </a:lnSpc>
              <a:buFont typeface="Arial" panose="020B0604020202020204" pitchFamily="34" charset="0"/>
              <a:buChar char="•"/>
            </a:pPr>
            <a:r>
              <a:rPr lang="en-GB" sz="1800" noProof="0" dirty="0">
                <a:solidFill>
                  <a:srgbClr val="1F3A63"/>
                </a:solidFill>
                <a:latin typeface="Calibri" pitchFamily="34" charset="0"/>
                <a:ea typeface="Calibri" pitchFamily="34" charset="-122"/>
                <a:cs typeface="Calibri" pitchFamily="34" charset="-120"/>
              </a:rPr>
              <a:t>Avoid unnecessary surgery: More extensive node removal increases the risk of lymphoedema.</a:t>
            </a:r>
          </a:p>
          <a:p>
            <a:pPr marL="285750" indent="-285750">
              <a:lnSpc>
                <a:spcPct val="90000"/>
              </a:lnSpc>
              <a:buFont typeface="Arial" panose="020B0604020202020204" pitchFamily="34" charset="0"/>
              <a:buChar char="•"/>
            </a:pPr>
            <a:r>
              <a:rPr lang="en-GB" sz="1800" noProof="0" dirty="0">
                <a:solidFill>
                  <a:srgbClr val="1F3A63"/>
                </a:solidFill>
                <a:latin typeface="Calibri" pitchFamily="34" charset="0"/>
                <a:ea typeface="Calibri" pitchFamily="34" charset="-122"/>
                <a:cs typeface="Calibri" pitchFamily="34" charset="-120"/>
              </a:rPr>
              <a:t>After treatment: Axillary surgery or radiotherapy can affect lymph drainage.</a:t>
            </a:r>
          </a:p>
          <a:p>
            <a:pPr marL="285750" indent="-285750">
              <a:lnSpc>
                <a:spcPct val="90000"/>
              </a:lnSpc>
              <a:buFont typeface="Arial" panose="020B0604020202020204" pitchFamily="34" charset="0"/>
              <a:buChar char="•"/>
            </a:pPr>
            <a:r>
              <a:rPr lang="en-GB" sz="1800" noProof="0" dirty="0">
                <a:solidFill>
                  <a:srgbClr val="1F3A63"/>
                </a:solidFill>
                <a:latin typeface="Calibri" pitchFamily="34" charset="0"/>
                <a:ea typeface="Calibri" pitchFamily="34" charset="-122"/>
                <a:cs typeface="Calibri" pitchFamily="34" charset="-120"/>
              </a:rPr>
              <a:t>Tell the patient to report: New arm swelling, heaviness, or tightness.</a:t>
            </a:r>
          </a:p>
        </p:txBody>
      </p:sp>
      <p:pic>
        <p:nvPicPr>
          <p:cNvPr id="25" name="Imagen 24">
            <a:extLst>
              <a:ext uri="{FF2B5EF4-FFF2-40B4-BE49-F238E27FC236}">
                <a16:creationId xmlns:a16="http://schemas.microsoft.com/office/drawing/2014/main" id="{8FFEEBA3-66E6-4CAF-4108-98B49811DB19}"/>
              </a:ext>
            </a:extLst>
          </p:cNvPr>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a:xfrm>
            <a:off x="6163578" y="1615102"/>
            <a:ext cx="5148003" cy="3871298"/>
          </a:xfrm>
          <a:prstGeom prst="rect">
            <a:avLst/>
          </a:prstGeom>
        </p:spPr>
      </p:pic>
    </p:spTree>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name="Slide 9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en-GB" sz="1100" b="1" kern="0" spc="100" noProof="0" dirty="0">
                <a:solidFill>
                  <a:srgbClr val="5B7699"/>
                </a:solidFill>
                <a:latin typeface="Calibri" pitchFamily="34" charset="0"/>
                <a:ea typeface="Calibri" pitchFamily="34" charset="-122"/>
                <a:cs typeface="Calibri" pitchFamily="34" charset="-120"/>
              </a:rPr>
              <a:t>S E S S I O N   4</a:t>
            </a:r>
            <a:endParaRPr lang="en-GB"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en-GB" sz="1000" noProof="0" dirty="0">
                <a:solidFill>
                  <a:srgbClr val="5B7699"/>
                </a:solidFill>
                <a:latin typeface="Calibri" pitchFamily="34" charset="0"/>
                <a:ea typeface="Calibri" pitchFamily="34" charset="-122"/>
                <a:cs typeface="Calibri" pitchFamily="34" charset="-120"/>
              </a:rPr>
              <a:t>Breast Cancer  |  Frontline HCP  |  Rwanda Biomedical Centre</a:t>
            </a:r>
            <a:endParaRPr lang="en-GB"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r>
              <a:rPr lang="en-GB" sz="3000" b="1" dirty="0">
                <a:solidFill>
                  <a:srgbClr val="12315B"/>
                </a:solidFill>
                <a:latin typeface="Calibri" pitchFamily="34" charset="0"/>
                <a:ea typeface="Calibri" pitchFamily="34" charset="-122"/>
                <a:cs typeface="Calibri" pitchFamily="34" charset="-120"/>
              </a:rPr>
              <a:t>Treatment: Radiotherapy</a:t>
            </a:r>
            <a:endParaRPr lang="en-GB" sz="3000" noProof="0" dirty="0"/>
          </a:p>
        </p:txBody>
      </p:sp>
      <p:sp>
        <p:nvSpPr>
          <p:cNvPr id="5" name="Shape 3"/>
          <p:cNvSpPr/>
          <p:nvPr/>
        </p:nvSpPr>
        <p:spPr>
          <a:xfrm>
            <a:off x="548640" y="1371600"/>
            <a:ext cx="11094414" cy="4160520"/>
          </a:xfrm>
          <a:prstGeom prst="roundRect">
            <a:avLst>
              <a:gd name="adj" fmla="val 1319"/>
            </a:avLst>
          </a:prstGeom>
          <a:solidFill>
            <a:srgbClr val="F4F8FC"/>
          </a:solidFill>
          <a:ln w="12700">
            <a:solidFill>
              <a:srgbClr val="C8D8EC"/>
            </a:solidFill>
            <a:prstDash val="solid"/>
          </a:ln>
        </p:spPr>
        <p:txBody>
          <a:bodyPr/>
          <a:lstStyle/>
          <a:p>
            <a:endParaRPr lang="en-GB" noProof="0" dirty="0"/>
          </a:p>
        </p:txBody>
      </p:sp>
      <p:sp>
        <p:nvSpPr>
          <p:cNvPr id="6" name="Text 4"/>
          <p:cNvSpPr txBox="1"/>
          <p:nvPr/>
        </p:nvSpPr>
        <p:spPr>
          <a:xfrm>
            <a:off x="713232" y="1463040"/>
            <a:ext cx="5065776" cy="292608"/>
          </a:xfrm>
          <a:prstGeom prst="rect">
            <a:avLst/>
          </a:prstGeom>
          <a:noFill/>
          <a:ln/>
        </p:spPr>
        <p:txBody>
          <a:bodyPr wrap="square" lIns="0" tIns="0" rIns="0" bIns="0" rtlCol="0" anchor="t"/>
          <a:lstStyle/>
          <a:p>
            <a:pPr marL="0" indent="0">
              <a:buNone/>
            </a:pPr>
            <a:r>
              <a:rPr lang="en-GB" sz="1700" b="1" noProof="0" dirty="0">
                <a:solidFill>
                  <a:srgbClr val="12315B"/>
                </a:solidFill>
                <a:latin typeface="Calibri" pitchFamily="34" charset="0"/>
                <a:ea typeface="Calibri" pitchFamily="34" charset="-122"/>
                <a:cs typeface="Calibri" pitchFamily="34" charset="-120"/>
              </a:rPr>
              <a:t>Radiotherapy</a:t>
            </a:r>
            <a:endParaRPr lang="en-GB" sz="1700" noProof="0" dirty="0"/>
          </a:p>
        </p:txBody>
      </p:sp>
      <p:sp>
        <p:nvSpPr>
          <p:cNvPr id="7" name="Text 5"/>
          <p:cNvSpPr txBox="1"/>
          <p:nvPr/>
        </p:nvSpPr>
        <p:spPr>
          <a:xfrm>
            <a:off x="713232" y="1828800"/>
            <a:ext cx="5065776" cy="3611880"/>
          </a:xfrm>
          <a:prstGeom prst="rect">
            <a:avLst/>
          </a:prstGeom>
          <a:noFill/>
          <a:ln/>
        </p:spPr>
        <p:txBody>
          <a:bodyPr wrap="square" lIns="0" tIns="0" rIns="0" bIns="0" rtlCol="0" anchor="t"/>
          <a:lstStyle/>
          <a:p>
            <a:pPr marL="342900" indent="-342900">
              <a:lnSpc>
                <a:spcPct val="95000"/>
              </a:lnSpc>
              <a:spcAft>
                <a:spcPts val="600"/>
              </a:spcAft>
              <a:buSzPct val="100000"/>
              <a:buChar char="•"/>
            </a:pPr>
            <a:r>
              <a:rPr lang="en-GB" sz="1600" noProof="0" dirty="0">
                <a:solidFill>
                  <a:srgbClr val="0B1F3F"/>
                </a:solidFill>
                <a:latin typeface="Calibri" pitchFamily="34" charset="0"/>
                <a:ea typeface="Calibri" pitchFamily="34" charset="-122"/>
                <a:cs typeface="Calibri" pitchFamily="34" charset="-120"/>
              </a:rPr>
              <a:t>Ionising radiation damages the DNA of cancer cells so they cannot continue to divide and survive</a:t>
            </a:r>
            <a:endParaRPr lang="en-GB" sz="1600" noProof="0" dirty="0"/>
          </a:p>
          <a:p>
            <a:pPr marL="342900" indent="-342900">
              <a:lnSpc>
                <a:spcPct val="95000"/>
              </a:lnSpc>
              <a:spcAft>
                <a:spcPts val="600"/>
              </a:spcAft>
              <a:buSzPct val="100000"/>
              <a:buChar char="•"/>
            </a:pPr>
            <a:r>
              <a:rPr lang="en-GB" sz="1600" noProof="0" dirty="0">
                <a:solidFill>
                  <a:srgbClr val="0B1F3F"/>
                </a:solidFill>
                <a:latin typeface="Calibri" pitchFamily="34" charset="0"/>
                <a:ea typeface="Calibri" pitchFamily="34" charset="-122"/>
                <a:cs typeface="Calibri" pitchFamily="34" charset="-120"/>
              </a:rPr>
              <a:t>It acts locally or locoregionally, only where it is aimed</a:t>
            </a:r>
            <a:endParaRPr lang="en-GB" sz="1600" noProof="0" dirty="0"/>
          </a:p>
          <a:p>
            <a:pPr marL="342900" indent="-342900">
              <a:lnSpc>
                <a:spcPct val="95000"/>
              </a:lnSpc>
              <a:spcAft>
                <a:spcPts val="600"/>
              </a:spcAft>
              <a:buSzPct val="100000"/>
              <a:buChar char="•"/>
            </a:pPr>
            <a:r>
              <a:rPr lang="en-GB" sz="1600" noProof="0" dirty="0">
                <a:solidFill>
                  <a:srgbClr val="0B1F3F"/>
                </a:solidFill>
                <a:latin typeface="Calibri" pitchFamily="34" charset="0"/>
                <a:ea typeface="Calibri" pitchFamily="34" charset="-122"/>
                <a:cs typeface="Calibri" pitchFamily="34" charset="-120"/>
              </a:rPr>
              <a:t>Usually given after breast conserving surgery</a:t>
            </a:r>
            <a:endParaRPr lang="en-GB" sz="1600" noProof="0" dirty="0"/>
          </a:p>
          <a:p>
            <a:pPr marL="342900" indent="-342900">
              <a:lnSpc>
                <a:spcPct val="95000"/>
              </a:lnSpc>
              <a:spcAft>
                <a:spcPts val="600"/>
              </a:spcAft>
              <a:buSzPct val="100000"/>
              <a:buChar char="•"/>
            </a:pPr>
            <a:r>
              <a:rPr lang="en-GB" sz="1600" noProof="0" dirty="0">
                <a:solidFill>
                  <a:srgbClr val="0B1F3F"/>
                </a:solidFill>
                <a:latin typeface="Calibri" pitchFamily="34" charset="0"/>
                <a:ea typeface="Calibri" pitchFamily="34" charset="-122"/>
                <a:cs typeface="Calibri" pitchFamily="34" charset="-120"/>
              </a:rPr>
              <a:t>Given after mastectomy in selected patients, for example with larger tumours or involved nodes</a:t>
            </a:r>
            <a:endParaRPr lang="en-GB" sz="1600" noProof="0" dirty="0"/>
          </a:p>
          <a:p>
            <a:pPr marL="342900" indent="-342900">
              <a:lnSpc>
                <a:spcPct val="95000"/>
              </a:lnSpc>
              <a:spcAft>
                <a:spcPts val="600"/>
              </a:spcAft>
              <a:buSzPct val="100000"/>
              <a:buChar char="•"/>
            </a:pPr>
            <a:r>
              <a:rPr lang="en-GB" sz="1600" noProof="0" dirty="0">
                <a:solidFill>
                  <a:srgbClr val="0B1F3F"/>
                </a:solidFill>
                <a:latin typeface="Calibri" pitchFamily="34" charset="0"/>
                <a:ea typeface="Calibri" pitchFamily="34" charset="-122"/>
                <a:cs typeface="Calibri" pitchFamily="34" charset="-120"/>
              </a:rPr>
              <a:t>Also used to control symptoms, for example painful bone metastases</a:t>
            </a:r>
            <a:endParaRPr lang="en-GB" sz="1600" noProof="0" dirty="0"/>
          </a:p>
          <a:p>
            <a:pPr marL="342900" indent="-342900">
              <a:lnSpc>
                <a:spcPct val="95000"/>
              </a:lnSpc>
              <a:spcAft>
                <a:spcPts val="600"/>
              </a:spcAft>
              <a:buSzPct val="100000"/>
              <a:buChar char="•"/>
            </a:pPr>
            <a:r>
              <a:rPr lang="en-GB" sz="1600" noProof="0" dirty="0">
                <a:solidFill>
                  <a:srgbClr val="0B1F3F"/>
                </a:solidFill>
                <a:latin typeface="Calibri" pitchFamily="34" charset="0"/>
                <a:ea typeface="Calibri" pitchFamily="34" charset="-122"/>
                <a:cs typeface="Calibri" pitchFamily="34" charset="-120"/>
              </a:rPr>
              <a:t>Common effects are fatigue and skin changes in the treated area, which usually settle after treatment</a:t>
            </a:r>
            <a:endParaRPr lang="en-GB" sz="1600" noProof="0" dirty="0"/>
          </a:p>
        </p:txBody>
      </p:sp>
      <p:sp>
        <p:nvSpPr>
          <p:cNvPr id="11" name="Shape 9"/>
          <p:cNvSpPr/>
          <p:nvPr/>
        </p:nvSpPr>
        <p:spPr>
          <a:xfrm>
            <a:off x="548640" y="5669280"/>
            <a:ext cx="11094415" cy="566928"/>
          </a:xfrm>
          <a:prstGeom prst="roundRect">
            <a:avLst>
              <a:gd name="adj" fmla="val 8065"/>
            </a:avLst>
          </a:prstGeom>
          <a:solidFill>
            <a:srgbClr val="FDF1E0"/>
          </a:solidFill>
          <a:ln w="12700">
            <a:solidFill>
              <a:srgbClr val="EFD3AA"/>
            </a:solidFill>
            <a:prstDash val="solid"/>
          </a:ln>
        </p:spPr>
        <p:txBody>
          <a:bodyPr/>
          <a:lstStyle/>
          <a:p>
            <a:endParaRPr lang="en-GB" noProof="0" dirty="0"/>
          </a:p>
        </p:txBody>
      </p:sp>
      <p:sp>
        <p:nvSpPr>
          <p:cNvPr id="12" name="Text 10"/>
          <p:cNvSpPr txBox="1"/>
          <p:nvPr/>
        </p:nvSpPr>
        <p:spPr>
          <a:xfrm>
            <a:off x="713232" y="5742432"/>
            <a:ext cx="10765231" cy="420624"/>
          </a:xfrm>
          <a:prstGeom prst="rect">
            <a:avLst/>
          </a:prstGeom>
          <a:noFill/>
          <a:ln/>
        </p:spPr>
        <p:txBody>
          <a:bodyPr wrap="square" lIns="0" tIns="0" rIns="0" bIns="0" rtlCol="0" anchor="ctr"/>
          <a:lstStyle/>
          <a:p>
            <a:pPr marL="0" indent="0">
              <a:lnSpc>
                <a:spcPct val="95000"/>
              </a:lnSpc>
              <a:buNone/>
            </a:pPr>
            <a:r>
              <a:rPr lang="en-GB" sz="1300" noProof="0" dirty="0">
                <a:solidFill>
                  <a:srgbClr val="0B1F3F"/>
                </a:solidFill>
                <a:latin typeface="Calibri" pitchFamily="34" charset="0"/>
                <a:ea typeface="Calibri" pitchFamily="34" charset="-122"/>
                <a:cs typeface="Calibri" pitchFamily="34" charset="-120"/>
              </a:rPr>
              <a:t>The Rwanda Cancer Centre in Kigali is the country's radiotherapy provider, so radiotherapy involves travel and time away from home. Raise that at the point of referral rather than at the point of treatment.</a:t>
            </a:r>
            <a:endParaRPr lang="en-GB" sz="1300" noProof="0" dirty="0"/>
          </a:p>
        </p:txBody>
      </p:sp>
      <p:grpSp>
        <p:nvGrpSpPr>
          <p:cNvPr id="17" name="Grupo 16">
            <a:extLst>
              <a:ext uri="{FF2B5EF4-FFF2-40B4-BE49-F238E27FC236}">
                <a16:creationId xmlns:a16="http://schemas.microsoft.com/office/drawing/2014/main" id="{DE9C3B31-496F-5D0D-721D-824290BE75C5}"/>
              </a:ext>
            </a:extLst>
          </p:cNvPr>
          <p:cNvGrpSpPr/>
          <p:nvPr/>
        </p:nvGrpSpPr>
        <p:grpSpPr>
          <a:xfrm>
            <a:off x="6806031" y="1546860"/>
            <a:ext cx="3810000" cy="3810000"/>
            <a:chOff x="6806031" y="1546860"/>
            <a:chExt cx="3810000" cy="3810000"/>
          </a:xfrm>
        </p:grpSpPr>
        <p:pic>
          <p:nvPicPr>
            <p:cNvPr id="13" name="Imagen 12">
              <a:extLst>
                <a:ext uri="{FF2B5EF4-FFF2-40B4-BE49-F238E27FC236}">
                  <a16:creationId xmlns:a16="http://schemas.microsoft.com/office/drawing/2014/main" id="{BD047B32-B219-4E54-9F21-DAD2D5D5D759}"/>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6806031" y="1546860"/>
              <a:ext cx="3810000" cy="3810000"/>
            </a:xfrm>
            <a:prstGeom prst="rect">
              <a:avLst/>
            </a:prstGeom>
          </p:spPr>
        </p:pic>
        <p:pic>
          <p:nvPicPr>
            <p:cNvPr id="15" name="Imagen 14">
              <a:extLst>
                <a:ext uri="{FF2B5EF4-FFF2-40B4-BE49-F238E27FC236}">
                  <a16:creationId xmlns:a16="http://schemas.microsoft.com/office/drawing/2014/main" id="{1FB93542-9E1C-F46C-95F6-D916A9E83707}"/>
                </a:ext>
              </a:extLst>
            </p:cNvPr>
            <p:cNvPicPr>
              <a:picLocks noChangeAspect="1"/>
            </p:cNvPicPr>
            <p:nvPr/>
          </p:nvPicPr>
          <p:blipFill>
            <a:blip r:embed="rId4" cstate="email">
              <a:extLst>
                <a:ext uri="{28A0092B-C50C-407E-A947-70E740481C1C}">
                  <a14:useLocalDpi xmlns:a14="http://schemas.microsoft.com/office/drawing/2010/main"/>
                </a:ext>
              </a:extLst>
            </a:blip>
            <a:srcRect/>
            <a:stretch>
              <a:fillRect/>
            </a:stretch>
          </p:blipFill>
          <p:spPr>
            <a:xfrm>
              <a:off x="7111776" y="4645606"/>
              <a:ext cx="232731" cy="260502"/>
            </a:xfrm>
            <a:prstGeom prst="ellipse">
              <a:avLst/>
            </a:prstGeom>
          </p:spPr>
        </p:pic>
        <p:pic>
          <p:nvPicPr>
            <p:cNvPr id="16" name="Imagen 15">
              <a:extLst>
                <a:ext uri="{FF2B5EF4-FFF2-40B4-BE49-F238E27FC236}">
                  <a16:creationId xmlns:a16="http://schemas.microsoft.com/office/drawing/2014/main" id="{A7C33F54-1C2C-8097-A6C1-9F29E4F249C1}"/>
                </a:ext>
              </a:extLst>
            </p:cNvPr>
            <p:cNvPicPr>
              <a:picLocks noChangeAspect="1"/>
            </p:cNvPicPr>
            <p:nvPr/>
          </p:nvPicPr>
          <p:blipFill>
            <a:blip r:embed="rId4" cstate="email">
              <a:extLst>
                <a:ext uri="{28A0092B-C50C-407E-A947-70E740481C1C}">
                  <a14:useLocalDpi xmlns:a14="http://schemas.microsoft.com/office/drawing/2010/main"/>
                </a:ext>
              </a:extLst>
            </a:blip>
            <a:srcRect/>
            <a:stretch>
              <a:fillRect/>
            </a:stretch>
          </p:blipFill>
          <p:spPr>
            <a:xfrm>
              <a:off x="8078930" y="4645606"/>
              <a:ext cx="232731" cy="260502"/>
            </a:xfrm>
            <a:prstGeom prst="ellipse">
              <a:avLst/>
            </a:prstGeom>
          </p:spPr>
        </p:pic>
      </p:grpSp>
    </p:spTree>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BF3A2676-D448-FD46-674F-8B80CC6D6DEA}"/>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4B9E9BCD-AF25-7F09-FECD-AD55728B60D8}"/>
              </a:ext>
            </a:extLst>
          </p:cNvPr>
          <p:cNvSpPr txBox="1"/>
          <p:nvPr/>
        </p:nvSpPr>
        <p:spPr>
          <a:xfrm>
            <a:off x="548640" y="274320"/>
            <a:ext cx="11094415" cy="256032"/>
          </a:xfrm>
          <a:prstGeom prst="rect">
            <a:avLst/>
          </a:prstGeom>
          <a:noFill/>
          <a:ln/>
        </p:spPr>
        <p:txBody>
          <a:bodyPr wrap="square" lIns="0" tIns="0" rIns="0" bIns="0" rtlCol="0" anchor="ctr"/>
          <a:lstStyle/>
          <a:p>
            <a:pPr marL="0" indent="0">
              <a:buNone/>
            </a:pPr>
            <a:r>
              <a:rPr lang="en-GB" sz="1100" b="1" kern="0" spc="100" noProof="0" dirty="0">
                <a:solidFill>
                  <a:srgbClr val="5B7699"/>
                </a:solidFill>
                <a:latin typeface="Calibri" pitchFamily="34" charset="0"/>
                <a:ea typeface="Calibri" pitchFamily="34" charset="-122"/>
                <a:cs typeface="Calibri" pitchFamily="34" charset="-120"/>
              </a:rPr>
              <a:t>S E S S I O N   4</a:t>
            </a:r>
            <a:endParaRPr lang="en-GB" sz="1100" noProof="0" dirty="0"/>
          </a:p>
        </p:txBody>
      </p:sp>
      <p:sp>
        <p:nvSpPr>
          <p:cNvPr id="3" name="Text 1">
            <a:extLst>
              <a:ext uri="{FF2B5EF4-FFF2-40B4-BE49-F238E27FC236}">
                <a16:creationId xmlns:a16="http://schemas.microsoft.com/office/drawing/2014/main" id="{51434F83-64D0-10F8-EA20-FD2C1134EF48}"/>
              </a:ext>
            </a:extLst>
          </p:cNvPr>
          <p:cNvSpPr txBox="1"/>
          <p:nvPr/>
        </p:nvSpPr>
        <p:spPr>
          <a:xfrm>
            <a:off x="548640" y="6382512"/>
            <a:ext cx="11094415" cy="274320"/>
          </a:xfrm>
          <a:prstGeom prst="rect">
            <a:avLst/>
          </a:prstGeom>
          <a:noFill/>
          <a:ln/>
        </p:spPr>
        <p:txBody>
          <a:bodyPr wrap="square" lIns="0" tIns="0" rIns="0" bIns="0" rtlCol="0" anchor="ctr"/>
          <a:lstStyle/>
          <a:p>
            <a:pPr marL="0" indent="0">
              <a:buNone/>
            </a:pPr>
            <a:r>
              <a:rPr lang="en-GB" sz="1000" noProof="0" dirty="0">
                <a:solidFill>
                  <a:srgbClr val="5B7699"/>
                </a:solidFill>
                <a:latin typeface="Calibri" pitchFamily="34" charset="0"/>
                <a:ea typeface="Calibri" pitchFamily="34" charset="-122"/>
                <a:cs typeface="Calibri" pitchFamily="34" charset="-120"/>
              </a:rPr>
              <a:t>Breast Cancer  |  Frontline HCP  |  Rwanda Biomedical Centre</a:t>
            </a:r>
            <a:endParaRPr lang="en-GB" sz="1000" noProof="0" dirty="0"/>
          </a:p>
        </p:txBody>
      </p:sp>
      <p:sp>
        <p:nvSpPr>
          <p:cNvPr id="4" name="Text 2">
            <a:extLst>
              <a:ext uri="{FF2B5EF4-FFF2-40B4-BE49-F238E27FC236}">
                <a16:creationId xmlns:a16="http://schemas.microsoft.com/office/drawing/2014/main" id="{C6831267-366A-3A9C-1C04-5DBA06CFAE47}"/>
              </a:ext>
            </a:extLst>
          </p:cNvPr>
          <p:cNvSpPr txBox="1"/>
          <p:nvPr/>
        </p:nvSpPr>
        <p:spPr>
          <a:xfrm>
            <a:off x="548640" y="566928"/>
            <a:ext cx="11094415" cy="566928"/>
          </a:xfrm>
          <a:prstGeom prst="rect">
            <a:avLst/>
          </a:prstGeom>
          <a:noFill/>
          <a:ln/>
        </p:spPr>
        <p:txBody>
          <a:bodyPr wrap="square" lIns="0" tIns="0" rIns="0" bIns="0" rtlCol="0" anchor="t"/>
          <a:lstStyle/>
          <a:p>
            <a:r>
              <a:rPr lang="en-GB" sz="3000" b="1" dirty="0">
                <a:solidFill>
                  <a:srgbClr val="12315B"/>
                </a:solidFill>
                <a:latin typeface="Calibri" pitchFamily="34" charset="0"/>
                <a:ea typeface="Calibri" pitchFamily="34" charset="-122"/>
                <a:cs typeface="Calibri" pitchFamily="34" charset="-120"/>
              </a:rPr>
              <a:t>Treatment: E</a:t>
            </a:r>
            <a:r>
              <a:rPr lang="en-GB" sz="3000" b="1" noProof="0" dirty="0" err="1">
                <a:solidFill>
                  <a:srgbClr val="12315B"/>
                </a:solidFill>
                <a:latin typeface="Calibri" pitchFamily="34" charset="0"/>
                <a:ea typeface="Calibri" pitchFamily="34" charset="-122"/>
                <a:cs typeface="Calibri" pitchFamily="34" charset="-120"/>
              </a:rPr>
              <a:t>ndocrine</a:t>
            </a:r>
            <a:r>
              <a:rPr lang="en-GB" sz="3000" b="1" noProof="0" dirty="0">
                <a:solidFill>
                  <a:srgbClr val="12315B"/>
                </a:solidFill>
                <a:latin typeface="Calibri" pitchFamily="34" charset="0"/>
                <a:ea typeface="Calibri" pitchFamily="34" charset="-122"/>
                <a:cs typeface="Calibri" pitchFamily="34" charset="-120"/>
              </a:rPr>
              <a:t> therapy</a:t>
            </a:r>
            <a:endParaRPr lang="en-GB" sz="3000" noProof="0" dirty="0"/>
          </a:p>
        </p:txBody>
      </p:sp>
      <p:sp>
        <p:nvSpPr>
          <p:cNvPr id="8" name="Shape 6">
            <a:extLst>
              <a:ext uri="{FF2B5EF4-FFF2-40B4-BE49-F238E27FC236}">
                <a16:creationId xmlns:a16="http://schemas.microsoft.com/office/drawing/2014/main" id="{8C292874-E3A1-AA0F-B3D8-4144E518B8BF}"/>
              </a:ext>
            </a:extLst>
          </p:cNvPr>
          <p:cNvSpPr/>
          <p:nvPr/>
        </p:nvSpPr>
        <p:spPr>
          <a:xfrm>
            <a:off x="548640" y="1371600"/>
            <a:ext cx="11094415" cy="4160520"/>
          </a:xfrm>
          <a:prstGeom prst="roundRect">
            <a:avLst>
              <a:gd name="adj" fmla="val 1319"/>
            </a:avLst>
          </a:prstGeom>
          <a:solidFill>
            <a:srgbClr val="F4F8FC"/>
          </a:solidFill>
          <a:ln w="12700">
            <a:solidFill>
              <a:srgbClr val="C8D8EC"/>
            </a:solidFill>
            <a:prstDash val="solid"/>
          </a:ln>
        </p:spPr>
        <p:txBody>
          <a:bodyPr/>
          <a:lstStyle/>
          <a:p>
            <a:endParaRPr lang="en-GB" noProof="0" dirty="0"/>
          </a:p>
        </p:txBody>
      </p:sp>
      <p:sp>
        <p:nvSpPr>
          <p:cNvPr id="9" name="Text 7">
            <a:extLst>
              <a:ext uri="{FF2B5EF4-FFF2-40B4-BE49-F238E27FC236}">
                <a16:creationId xmlns:a16="http://schemas.microsoft.com/office/drawing/2014/main" id="{225298FC-D770-0D5A-465B-1443F39C44C1}"/>
              </a:ext>
            </a:extLst>
          </p:cNvPr>
          <p:cNvSpPr txBox="1"/>
          <p:nvPr/>
        </p:nvSpPr>
        <p:spPr>
          <a:xfrm>
            <a:off x="811449" y="1463040"/>
            <a:ext cx="5095951" cy="292608"/>
          </a:xfrm>
          <a:prstGeom prst="rect">
            <a:avLst/>
          </a:prstGeom>
          <a:noFill/>
          <a:ln/>
        </p:spPr>
        <p:txBody>
          <a:bodyPr wrap="square" lIns="0" tIns="0" rIns="0" bIns="0" rtlCol="0" anchor="t"/>
          <a:lstStyle/>
          <a:p>
            <a:pPr marL="0" indent="0">
              <a:buNone/>
            </a:pPr>
            <a:r>
              <a:rPr lang="en-GB" sz="1700" b="1" noProof="0" dirty="0">
                <a:solidFill>
                  <a:srgbClr val="12315B"/>
                </a:solidFill>
                <a:latin typeface="Calibri" pitchFamily="34" charset="0"/>
                <a:ea typeface="Calibri" pitchFamily="34" charset="-122"/>
                <a:cs typeface="Calibri" pitchFamily="34" charset="-120"/>
              </a:rPr>
              <a:t>Endocrine therapy</a:t>
            </a:r>
            <a:endParaRPr lang="en-GB" sz="1700" noProof="0" dirty="0"/>
          </a:p>
        </p:txBody>
      </p:sp>
      <p:sp>
        <p:nvSpPr>
          <p:cNvPr id="10" name="Text 8">
            <a:extLst>
              <a:ext uri="{FF2B5EF4-FFF2-40B4-BE49-F238E27FC236}">
                <a16:creationId xmlns:a16="http://schemas.microsoft.com/office/drawing/2014/main" id="{CF3749BD-D181-2407-66D3-734CD31C0CED}"/>
              </a:ext>
            </a:extLst>
          </p:cNvPr>
          <p:cNvSpPr txBox="1"/>
          <p:nvPr/>
        </p:nvSpPr>
        <p:spPr>
          <a:xfrm>
            <a:off x="811449" y="1828800"/>
            <a:ext cx="5095951" cy="3611880"/>
          </a:xfrm>
          <a:prstGeom prst="rect">
            <a:avLst/>
          </a:prstGeom>
          <a:noFill/>
          <a:ln/>
        </p:spPr>
        <p:txBody>
          <a:bodyPr wrap="square" lIns="0" tIns="0" rIns="0" bIns="0" rtlCol="0" anchor="t"/>
          <a:lstStyle/>
          <a:p>
            <a:pPr marL="342900" indent="-342900">
              <a:lnSpc>
                <a:spcPct val="95000"/>
              </a:lnSpc>
              <a:spcAft>
                <a:spcPts val="600"/>
              </a:spcAft>
              <a:buSzPct val="100000"/>
              <a:buChar char="•"/>
            </a:pPr>
            <a:r>
              <a:rPr lang="en-GB" sz="1600" noProof="0" dirty="0">
                <a:solidFill>
                  <a:srgbClr val="0B1F3F"/>
                </a:solidFill>
                <a:latin typeface="Calibri" pitchFamily="34" charset="0"/>
                <a:ea typeface="Calibri" pitchFamily="34" charset="-122"/>
                <a:cs typeface="Calibri" pitchFamily="34" charset="-120"/>
              </a:rPr>
              <a:t>Used when the tumour expresses oestrogen receptors and/or progesterone receptors (ER+ and/or PR+).</a:t>
            </a:r>
          </a:p>
          <a:p>
            <a:pPr marL="342900" indent="-342900">
              <a:lnSpc>
                <a:spcPct val="95000"/>
              </a:lnSpc>
              <a:spcAft>
                <a:spcPts val="600"/>
              </a:spcAft>
              <a:buSzPct val="100000"/>
              <a:buChar char="•"/>
            </a:pPr>
            <a:r>
              <a:rPr lang="en-GB" sz="1600" noProof="0" dirty="0">
                <a:solidFill>
                  <a:srgbClr val="0B1F3F"/>
                </a:solidFill>
                <a:latin typeface="Calibri" pitchFamily="34" charset="0"/>
                <a:ea typeface="Calibri" pitchFamily="34" charset="-122"/>
                <a:cs typeface="Calibri" pitchFamily="34" charset="-120"/>
              </a:rPr>
              <a:t>It reduces or blocks hormonal stimulation of ER+ and/or PR+ breast cancer cells.</a:t>
            </a:r>
          </a:p>
          <a:p>
            <a:pPr marL="342900" indent="-342900">
              <a:lnSpc>
                <a:spcPct val="95000"/>
              </a:lnSpc>
              <a:spcAft>
                <a:spcPts val="600"/>
              </a:spcAft>
              <a:buSzPct val="100000"/>
              <a:buChar char="•"/>
            </a:pPr>
            <a:r>
              <a:rPr lang="en-GB" sz="1600" noProof="0" dirty="0">
                <a:solidFill>
                  <a:srgbClr val="0B1F3F"/>
                </a:solidFill>
                <a:latin typeface="Calibri" pitchFamily="34" charset="0"/>
                <a:ea typeface="Calibri" pitchFamily="34" charset="-122"/>
                <a:cs typeface="Calibri" pitchFamily="34" charset="-120"/>
              </a:rPr>
              <a:t>Some medicines block the oestrogen receptor; others reduce oestrogen production after menopause.</a:t>
            </a:r>
          </a:p>
          <a:p>
            <a:pPr marL="342900" indent="-342900">
              <a:lnSpc>
                <a:spcPct val="95000"/>
              </a:lnSpc>
              <a:spcAft>
                <a:spcPts val="600"/>
              </a:spcAft>
              <a:buSzPct val="100000"/>
              <a:buChar char="•"/>
            </a:pPr>
            <a:r>
              <a:rPr lang="en-GB" sz="1600" noProof="0" dirty="0">
                <a:solidFill>
                  <a:srgbClr val="0B1F3F"/>
                </a:solidFill>
                <a:latin typeface="Calibri" pitchFamily="34" charset="0"/>
                <a:ea typeface="Calibri" pitchFamily="34" charset="-122"/>
                <a:cs typeface="Calibri" pitchFamily="34" charset="-120"/>
              </a:rPr>
              <a:t>Ovarian function may be suppressed in selected younger patients.</a:t>
            </a:r>
          </a:p>
          <a:p>
            <a:pPr marL="342900" indent="-342900">
              <a:lnSpc>
                <a:spcPct val="95000"/>
              </a:lnSpc>
              <a:spcAft>
                <a:spcPts val="600"/>
              </a:spcAft>
              <a:buSzPct val="100000"/>
              <a:buChar char="•"/>
            </a:pPr>
            <a:r>
              <a:rPr lang="en-GB" sz="1600" noProof="0" dirty="0">
                <a:solidFill>
                  <a:srgbClr val="0B1F3F"/>
                </a:solidFill>
                <a:latin typeface="Calibri" pitchFamily="34" charset="0"/>
                <a:ea typeface="Calibri" pitchFamily="34" charset="-122"/>
                <a:cs typeface="Calibri" pitchFamily="34" charset="-120"/>
              </a:rPr>
              <a:t>Endocrine therapy acts throughout the body and is usually taken for several years.</a:t>
            </a:r>
          </a:p>
          <a:p>
            <a:pPr marL="342900" indent="-342900">
              <a:lnSpc>
                <a:spcPct val="95000"/>
              </a:lnSpc>
              <a:spcAft>
                <a:spcPts val="600"/>
              </a:spcAft>
              <a:buSzPct val="100000"/>
              <a:buChar char="•"/>
            </a:pPr>
            <a:r>
              <a:rPr lang="en-GB" sz="1600" noProof="0" dirty="0">
                <a:solidFill>
                  <a:srgbClr val="0B1F3F"/>
                </a:solidFill>
                <a:latin typeface="Calibri" pitchFamily="34" charset="0"/>
                <a:ea typeface="Calibri" pitchFamily="34" charset="-122"/>
                <a:cs typeface="Calibri" pitchFamily="34" charset="-120"/>
              </a:rPr>
              <a:t>Common effects include hot flushes, joint aches, vaginal dryness, and effects on bone health.</a:t>
            </a:r>
          </a:p>
        </p:txBody>
      </p:sp>
      <p:pic>
        <p:nvPicPr>
          <p:cNvPr id="5" name="Imagen 4">
            <a:extLst>
              <a:ext uri="{FF2B5EF4-FFF2-40B4-BE49-F238E27FC236}">
                <a16:creationId xmlns:a16="http://schemas.microsoft.com/office/drawing/2014/main" id="{3D1BCF0A-D1BA-61B0-DB9E-DD372C7A3E61}"/>
              </a:ext>
            </a:extLst>
          </p:cNvPr>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a:xfrm>
            <a:off x="5907400" y="1668455"/>
            <a:ext cx="5507432" cy="3475588"/>
          </a:xfrm>
          <a:prstGeom prst="rect">
            <a:avLst/>
          </a:prstGeom>
        </p:spPr>
      </p:pic>
    </p:spTree>
    <p:extLst>
      <p:ext uri="{BB962C8B-B14F-4D97-AF65-F5344CB8AC3E}">
        <p14:creationId xmlns:p14="http://schemas.microsoft.com/office/powerpoint/2010/main" val="164439535"/>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name="Slide 9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en-GB" sz="1100" b="1" kern="0" spc="100" noProof="0" dirty="0">
                <a:solidFill>
                  <a:srgbClr val="5B7699"/>
                </a:solidFill>
                <a:latin typeface="Calibri" pitchFamily="34" charset="0"/>
                <a:ea typeface="Calibri" pitchFamily="34" charset="-122"/>
                <a:cs typeface="Calibri" pitchFamily="34" charset="-120"/>
              </a:rPr>
              <a:t>S E S S I O N   4</a:t>
            </a:r>
            <a:endParaRPr lang="en-GB"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en-GB" sz="1000" noProof="0" dirty="0">
                <a:solidFill>
                  <a:srgbClr val="5B7699"/>
                </a:solidFill>
                <a:latin typeface="Calibri" pitchFamily="34" charset="0"/>
                <a:ea typeface="Calibri" pitchFamily="34" charset="-122"/>
                <a:cs typeface="Calibri" pitchFamily="34" charset="-120"/>
              </a:rPr>
              <a:t>Breast Cancer  |  Frontline HCP  |  Rwanda Biomedical Centre</a:t>
            </a:r>
            <a:endParaRPr lang="en-GB" sz="1000" noProof="0" dirty="0"/>
          </a:p>
        </p:txBody>
      </p:sp>
      <p:sp>
        <p:nvSpPr>
          <p:cNvPr id="4" name="Text 2"/>
          <p:cNvSpPr txBox="1"/>
          <p:nvPr/>
        </p:nvSpPr>
        <p:spPr>
          <a:xfrm>
            <a:off x="548640" y="752094"/>
            <a:ext cx="11094415" cy="566928"/>
          </a:xfrm>
          <a:prstGeom prst="rect">
            <a:avLst/>
          </a:prstGeom>
          <a:noFill/>
          <a:ln/>
        </p:spPr>
        <p:txBody>
          <a:bodyPr wrap="square" lIns="0" tIns="0" rIns="0" bIns="0" rtlCol="0" anchor="t"/>
          <a:lstStyle/>
          <a:p>
            <a:r>
              <a:rPr lang="en-GB" sz="3000" b="1" dirty="0">
                <a:solidFill>
                  <a:srgbClr val="12315B"/>
                </a:solidFill>
                <a:latin typeface="Calibri" pitchFamily="34" charset="0"/>
                <a:ea typeface="Calibri" pitchFamily="34" charset="-122"/>
                <a:cs typeface="Calibri" pitchFamily="34" charset="-120"/>
              </a:rPr>
              <a:t>Treatment: Chemotherapy</a:t>
            </a:r>
            <a:endParaRPr lang="en-GB" sz="3000" noProof="0" dirty="0"/>
          </a:p>
        </p:txBody>
      </p:sp>
      <p:sp>
        <p:nvSpPr>
          <p:cNvPr id="5" name="Shape 3"/>
          <p:cNvSpPr/>
          <p:nvPr/>
        </p:nvSpPr>
        <p:spPr>
          <a:xfrm>
            <a:off x="548639" y="1463040"/>
            <a:ext cx="10929824" cy="4828032"/>
          </a:xfrm>
          <a:prstGeom prst="roundRect">
            <a:avLst>
              <a:gd name="adj" fmla="val 2685"/>
            </a:avLst>
          </a:prstGeom>
          <a:solidFill>
            <a:srgbClr val="F4F8FC"/>
          </a:solidFill>
          <a:ln w="12700">
            <a:solidFill>
              <a:srgbClr val="C8D8EC"/>
            </a:solidFill>
            <a:prstDash val="solid"/>
          </a:ln>
        </p:spPr>
        <p:txBody>
          <a:bodyPr/>
          <a:lstStyle/>
          <a:p>
            <a:endParaRPr lang="en-GB" noProof="0" dirty="0"/>
          </a:p>
        </p:txBody>
      </p:sp>
      <p:sp>
        <p:nvSpPr>
          <p:cNvPr id="7" name="Text 5"/>
          <p:cNvSpPr txBox="1"/>
          <p:nvPr/>
        </p:nvSpPr>
        <p:spPr>
          <a:xfrm>
            <a:off x="713079" y="1684782"/>
            <a:ext cx="5382768" cy="1559052"/>
          </a:xfrm>
          <a:prstGeom prst="rect">
            <a:avLst/>
          </a:prstGeom>
          <a:noFill/>
          <a:ln/>
        </p:spPr>
        <p:txBody>
          <a:bodyPr wrap="square" lIns="0" tIns="0" rIns="0" bIns="0" rtlCol="0" anchor="t"/>
          <a:lstStyle/>
          <a:p>
            <a:pPr>
              <a:lnSpc>
                <a:spcPct val="90000"/>
              </a:lnSpc>
            </a:pPr>
            <a:r>
              <a:rPr lang="en-GB" b="1" dirty="0">
                <a:solidFill>
                  <a:srgbClr val="12315B"/>
                </a:solidFill>
                <a:latin typeface="Calibri" pitchFamily="34" charset="0"/>
                <a:ea typeface="Calibri" pitchFamily="34" charset="-122"/>
                <a:cs typeface="Calibri" pitchFamily="34" charset="-120"/>
              </a:rPr>
              <a:t>What chemotherapy is</a:t>
            </a:r>
            <a:endParaRPr lang="en-GB" dirty="0"/>
          </a:p>
          <a:p>
            <a:pPr marL="0" indent="0">
              <a:lnSpc>
                <a:spcPct val="90000"/>
              </a:lnSpc>
              <a:buNone/>
            </a:pPr>
            <a:r>
              <a:rPr lang="en-GB" sz="1800" noProof="0" dirty="0">
                <a:solidFill>
                  <a:srgbClr val="1F3A63"/>
                </a:solidFill>
                <a:latin typeface="Calibri" pitchFamily="34" charset="0"/>
                <a:ea typeface="Calibri" pitchFamily="34" charset="-122"/>
                <a:cs typeface="Calibri" pitchFamily="34" charset="-120"/>
              </a:rPr>
              <a:t>Cytotoxic medicines that interfere with cell growth and division throughout the body. They also affect normal dividing cells, which explains the effects.</a:t>
            </a:r>
          </a:p>
          <a:p>
            <a:pPr marL="0" indent="0">
              <a:lnSpc>
                <a:spcPct val="90000"/>
              </a:lnSpc>
              <a:buNone/>
            </a:pPr>
            <a:endParaRPr lang="en-GB" dirty="0">
              <a:solidFill>
                <a:srgbClr val="1F3A63"/>
              </a:solidFill>
              <a:latin typeface="Calibri" pitchFamily="34" charset="0"/>
              <a:cs typeface="Calibri" pitchFamily="34" charset="-120"/>
            </a:endParaRPr>
          </a:p>
          <a:p>
            <a:pPr>
              <a:lnSpc>
                <a:spcPct val="90000"/>
              </a:lnSpc>
            </a:pPr>
            <a:r>
              <a:rPr lang="en-GB" b="1" dirty="0">
                <a:solidFill>
                  <a:srgbClr val="12315B"/>
                </a:solidFill>
                <a:latin typeface="Calibri" pitchFamily="34" charset="0"/>
                <a:ea typeface="Calibri" pitchFamily="34" charset="-122"/>
                <a:cs typeface="Calibri" pitchFamily="34" charset="-120"/>
              </a:rPr>
              <a:t>When chemotherapy is used</a:t>
            </a:r>
            <a:endParaRPr lang="en-GB" dirty="0">
              <a:solidFill>
                <a:srgbClr val="1F3A63"/>
              </a:solidFill>
              <a:latin typeface="Calibri" pitchFamily="34" charset="0"/>
              <a:cs typeface="Calibri" pitchFamily="34" charset="-120"/>
            </a:endParaRPr>
          </a:p>
          <a:p>
            <a:pPr>
              <a:lnSpc>
                <a:spcPct val="90000"/>
              </a:lnSpc>
            </a:pPr>
            <a:r>
              <a:rPr lang="en-GB" dirty="0">
                <a:solidFill>
                  <a:srgbClr val="1F3A63"/>
                </a:solidFill>
                <a:latin typeface="Calibri" pitchFamily="34" charset="0"/>
                <a:ea typeface="Calibri" pitchFamily="34" charset="-122"/>
                <a:cs typeface="Calibri" pitchFamily="34" charset="-120"/>
              </a:rPr>
              <a:t>Before surgery to shrink a tumour, after surgery to reduce recurrence, or as the main treatment for advanced disease.</a:t>
            </a:r>
          </a:p>
          <a:p>
            <a:pPr>
              <a:lnSpc>
                <a:spcPct val="90000"/>
              </a:lnSpc>
            </a:pPr>
            <a:endParaRPr lang="en-GB" dirty="0">
              <a:solidFill>
                <a:srgbClr val="1F3A63"/>
              </a:solidFill>
              <a:latin typeface="Calibri" pitchFamily="34" charset="0"/>
              <a:cs typeface="Calibri" pitchFamily="34" charset="-120"/>
            </a:endParaRPr>
          </a:p>
          <a:p>
            <a:pPr>
              <a:lnSpc>
                <a:spcPct val="90000"/>
              </a:lnSpc>
            </a:pPr>
            <a:r>
              <a:rPr lang="en-GB" b="1" dirty="0">
                <a:solidFill>
                  <a:srgbClr val="12315B"/>
                </a:solidFill>
                <a:latin typeface="Calibri" pitchFamily="34" charset="0"/>
                <a:ea typeface="Calibri" pitchFamily="34" charset="-122"/>
                <a:cs typeface="Calibri" pitchFamily="34" charset="-120"/>
              </a:rPr>
              <a:t>Not everyone receives it</a:t>
            </a:r>
            <a:endParaRPr lang="en-GB" dirty="0"/>
          </a:p>
          <a:p>
            <a:pPr>
              <a:lnSpc>
                <a:spcPct val="90000"/>
              </a:lnSpc>
            </a:pPr>
            <a:r>
              <a:rPr lang="en-GB" dirty="0">
                <a:solidFill>
                  <a:srgbClr val="1F3A63"/>
                </a:solidFill>
                <a:latin typeface="Calibri" pitchFamily="34" charset="0"/>
                <a:ea typeface="Calibri" pitchFamily="34" charset="-122"/>
                <a:cs typeface="Calibri" pitchFamily="34" charset="-120"/>
              </a:rPr>
              <a:t>The decision depends on stage, tumour biology, receptor results and the person's health. Some people are treated without chemotherapy.</a:t>
            </a:r>
            <a:endParaRPr lang="en-GB" dirty="0"/>
          </a:p>
          <a:p>
            <a:pPr marL="0" indent="0">
              <a:lnSpc>
                <a:spcPct val="90000"/>
              </a:lnSpc>
              <a:buNone/>
            </a:pPr>
            <a:endParaRPr lang="en-GB" sz="1800" noProof="0" dirty="0"/>
          </a:p>
        </p:txBody>
      </p:sp>
      <p:sp>
        <p:nvSpPr>
          <p:cNvPr id="9" name="Text 7"/>
          <p:cNvSpPr txBox="1"/>
          <p:nvPr/>
        </p:nvSpPr>
        <p:spPr>
          <a:xfrm>
            <a:off x="4496714" y="1463040"/>
            <a:ext cx="3198266" cy="292608"/>
          </a:xfrm>
          <a:prstGeom prst="rect">
            <a:avLst/>
          </a:prstGeom>
          <a:noFill/>
          <a:ln/>
        </p:spPr>
        <p:txBody>
          <a:bodyPr wrap="square" lIns="0" tIns="0" rIns="0" bIns="0" rtlCol="0" anchor="t"/>
          <a:lstStyle/>
          <a:p>
            <a:pPr marL="0" indent="0">
              <a:buNone/>
            </a:pPr>
            <a:endParaRPr lang="en-GB" sz="1700" noProof="0" dirty="0"/>
          </a:p>
        </p:txBody>
      </p:sp>
      <p:sp>
        <p:nvSpPr>
          <p:cNvPr id="12" name="Text 10"/>
          <p:cNvSpPr txBox="1"/>
          <p:nvPr/>
        </p:nvSpPr>
        <p:spPr>
          <a:xfrm>
            <a:off x="8280197" y="1463040"/>
            <a:ext cx="3198266" cy="292608"/>
          </a:xfrm>
          <a:prstGeom prst="rect">
            <a:avLst/>
          </a:prstGeom>
          <a:noFill/>
          <a:ln/>
        </p:spPr>
        <p:txBody>
          <a:bodyPr wrap="square" lIns="0" tIns="0" rIns="0" bIns="0" rtlCol="0" anchor="t"/>
          <a:lstStyle/>
          <a:p>
            <a:pPr marL="0" indent="0">
              <a:buNone/>
            </a:pPr>
            <a:endParaRPr lang="en-GB" sz="1700" noProof="0" dirty="0"/>
          </a:p>
        </p:txBody>
      </p:sp>
      <p:pic>
        <p:nvPicPr>
          <p:cNvPr id="25" name="Imagen 24">
            <a:extLst>
              <a:ext uri="{FF2B5EF4-FFF2-40B4-BE49-F238E27FC236}">
                <a16:creationId xmlns:a16="http://schemas.microsoft.com/office/drawing/2014/main" id="{53361178-034C-70A5-F22F-9C311D9D069A}"/>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6341504" y="1980604"/>
            <a:ext cx="4891454" cy="3260969"/>
          </a:xfrm>
          <a:prstGeom prst="rect">
            <a:avLst/>
          </a:prstGeom>
        </p:spPr>
      </p:pic>
    </p:spTree>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1B6FA3D1-FBF2-ECAD-2EC1-3752D70C8C56}"/>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DD26574-5292-E00A-520A-874CF3FABBF4}"/>
              </a:ext>
            </a:extLst>
          </p:cNvPr>
          <p:cNvSpPr txBox="1"/>
          <p:nvPr/>
        </p:nvSpPr>
        <p:spPr>
          <a:xfrm>
            <a:off x="548640" y="274320"/>
            <a:ext cx="11094415" cy="256032"/>
          </a:xfrm>
          <a:prstGeom prst="rect">
            <a:avLst/>
          </a:prstGeom>
          <a:noFill/>
          <a:ln/>
        </p:spPr>
        <p:txBody>
          <a:bodyPr wrap="square" lIns="0" tIns="0" rIns="0" bIns="0" rtlCol="0" anchor="ctr"/>
          <a:lstStyle/>
          <a:p>
            <a:pPr marL="0" indent="0">
              <a:buNone/>
            </a:pPr>
            <a:r>
              <a:rPr lang="en-GB" sz="1100" b="1" kern="0" spc="100" noProof="0" dirty="0">
                <a:solidFill>
                  <a:srgbClr val="5B7699"/>
                </a:solidFill>
                <a:latin typeface="Calibri" pitchFamily="34" charset="0"/>
                <a:ea typeface="Calibri" pitchFamily="34" charset="-122"/>
                <a:cs typeface="Calibri" pitchFamily="34" charset="-120"/>
              </a:rPr>
              <a:t>S E S S I O N   4</a:t>
            </a:r>
            <a:endParaRPr lang="en-GB" sz="1100" noProof="0" dirty="0"/>
          </a:p>
        </p:txBody>
      </p:sp>
      <p:sp>
        <p:nvSpPr>
          <p:cNvPr id="3" name="Text 1">
            <a:extLst>
              <a:ext uri="{FF2B5EF4-FFF2-40B4-BE49-F238E27FC236}">
                <a16:creationId xmlns:a16="http://schemas.microsoft.com/office/drawing/2014/main" id="{F74CEF88-5F91-9F37-82C5-879461820E42}"/>
              </a:ext>
            </a:extLst>
          </p:cNvPr>
          <p:cNvSpPr txBox="1"/>
          <p:nvPr/>
        </p:nvSpPr>
        <p:spPr>
          <a:xfrm>
            <a:off x="548640" y="6382512"/>
            <a:ext cx="11094415" cy="274320"/>
          </a:xfrm>
          <a:prstGeom prst="rect">
            <a:avLst/>
          </a:prstGeom>
          <a:noFill/>
          <a:ln/>
        </p:spPr>
        <p:txBody>
          <a:bodyPr wrap="square" lIns="0" tIns="0" rIns="0" bIns="0" rtlCol="0" anchor="ctr"/>
          <a:lstStyle/>
          <a:p>
            <a:pPr marL="0" indent="0">
              <a:buNone/>
            </a:pPr>
            <a:r>
              <a:rPr lang="en-GB" sz="1000" noProof="0" dirty="0">
                <a:solidFill>
                  <a:srgbClr val="5B7699"/>
                </a:solidFill>
                <a:latin typeface="Calibri" pitchFamily="34" charset="0"/>
                <a:ea typeface="Calibri" pitchFamily="34" charset="-122"/>
                <a:cs typeface="Calibri" pitchFamily="34" charset="-120"/>
              </a:rPr>
              <a:t>Breast Cancer  |  Frontline HCP  |  Rwanda Biomedical Centre</a:t>
            </a:r>
            <a:endParaRPr lang="en-GB" sz="1000" noProof="0" dirty="0"/>
          </a:p>
        </p:txBody>
      </p:sp>
      <p:sp>
        <p:nvSpPr>
          <p:cNvPr id="4" name="Text 2">
            <a:extLst>
              <a:ext uri="{FF2B5EF4-FFF2-40B4-BE49-F238E27FC236}">
                <a16:creationId xmlns:a16="http://schemas.microsoft.com/office/drawing/2014/main" id="{A6F9E835-51FE-FA2E-65B3-5C735AA92CC3}"/>
              </a:ext>
            </a:extLst>
          </p:cNvPr>
          <p:cNvSpPr txBox="1"/>
          <p:nvPr/>
        </p:nvSpPr>
        <p:spPr>
          <a:xfrm>
            <a:off x="548640" y="566928"/>
            <a:ext cx="11094415" cy="566928"/>
          </a:xfrm>
          <a:prstGeom prst="rect">
            <a:avLst/>
          </a:prstGeom>
          <a:noFill/>
          <a:ln/>
        </p:spPr>
        <p:txBody>
          <a:bodyPr wrap="square" lIns="0" tIns="0" rIns="0" bIns="0" rtlCol="0" anchor="t"/>
          <a:lstStyle/>
          <a:p>
            <a:r>
              <a:rPr lang="en-GB" sz="3000" b="1" dirty="0">
                <a:solidFill>
                  <a:srgbClr val="12315B"/>
                </a:solidFill>
                <a:latin typeface="Calibri" pitchFamily="34" charset="0"/>
                <a:ea typeface="Calibri" pitchFamily="34" charset="-122"/>
                <a:cs typeface="Calibri" pitchFamily="34" charset="-120"/>
              </a:rPr>
              <a:t>Treatment: Targeted </a:t>
            </a:r>
            <a:r>
              <a:rPr lang="en-GB" sz="3000" b="1" noProof="0" dirty="0">
                <a:solidFill>
                  <a:srgbClr val="12315B"/>
                </a:solidFill>
                <a:latin typeface="Calibri" pitchFamily="34" charset="0"/>
                <a:ea typeface="Calibri" pitchFamily="34" charset="-122"/>
                <a:cs typeface="Calibri" pitchFamily="34" charset="-120"/>
              </a:rPr>
              <a:t>therapy and immunotherapy</a:t>
            </a:r>
            <a:endParaRPr lang="en-GB" sz="3000" noProof="0" dirty="0"/>
          </a:p>
        </p:txBody>
      </p:sp>
      <p:sp>
        <p:nvSpPr>
          <p:cNvPr id="14" name="Shape 12">
            <a:extLst>
              <a:ext uri="{FF2B5EF4-FFF2-40B4-BE49-F238E27FC236}">
                <a16:creationId xmlns:a16="http://schemas.microsoft.com/office/drawing/2014/main" id="{28DCCBE6-CED5-EB3F-13F3-EFFAB8131B4C}"/>
              </a:ext>
            </a:extLst>
          </p:cNvPr>
          <p:cNvSpPr/>
          <p:nvPr/>
        </p:nvSpPr>
        <p:spPr>
          <a:xfrm>
            <a:off x="548640" y="1112574"/>
            <a:ext cx="5547360" cy="4541412"/>
          </a:xfrm>
          <a:prstGeom prst="roundRect">
            <a:avLst>
              <a:gd name="adj" fmla="val 3101"/>
            </a:avLst>
          </a:prstGeom>
          <a:solidFill>
            <a:srgbClr val="F4F8FC"/>
          </a:solidFill>
          <a:ln w="12700">
            <a:solidFill>
              <a:srgbClr val="C8D8EC"/>
            </a:solidFill>
            <a:prstDash val="solid"/>
          </a:ln>
        </p:spPr>
        <p:txBody>
          <a:bodyPr/>
          <a:lstStyle/>
          <a:p>
            <a:endParaRPr lang="en-GB" noProof="0" dirty="0"/>
          </a:p>
        </p:txBody>
      </p:sp>
      <p:sp>
        <p:nvSpPr>
          <p:cNvPr id="15" name="Text 13">
            <a:extLst>
              <a:ext uri="{FF2B5EF4-FFF2-40B4-BE49-F238E27FC236}">
                <a16:creationId xmlns:a16="http://schemas.microsoft.com/office/drawing/2014/main" id="{AF9AA8C2-3415-6B0E-97BD-DDD285912F1A}"/>
              </a:ext>
            </a:extLst>
          </p:cNvPr>
          <p:cNvSpPr txBox="1"/>
          <p:nvPr/>
        </p:nvSpPr>
        <p:spPr>
          <a:xfrm>
            <a:off x="713231" y="1204014"/>
            <a:ext cx="5029677" cy="292608"/>
          </a:xfrm>
          <a:prstGeom prst="rect">
            <a:avLst/>
          </a:prstGeom>
          <a:noFill/>
          <a:ln/>
        </p:spPr>
        <p:txBody>
          <a:bodyPr wrap="square" lIns="0" tIns="0" rIns="0" bIns="0" rtlCol="0" anchor="t"/>
          <a:lstStyle/>
          <a:p>
            <a:pPr marL="0" indent="0">
              <a:buNone/>
            </a:pPr>
            <a:r>
              <a:rPr lang="en-GB" sz="1700" b="1" noProof="0" dirty="0">
                <a:solidFill>
                  <a:srgbClr val="12315B"/>
                </a:solidFill>
                <a:latin typeface="Calibri" pitchFamily="34" charset="0"/>
                <a:ea typeface="Calibri" pitchFamily="34" charset="-122"/>
                <a:cs typeface="Calibri" pitchFamily="34" charset="-120"/>
              </a:rPr>
              <a:t>HER2-directed therapy</a:t>
            </a:r>
            <a:endParaRPr lang="en-GB" sz="1700" noProof="0" dirty="0"/>
          </a:p>
        </p:txBody>
      </p:sp>
      <p:sp>
        <p:nvSpPr>
          <p:cNvPr id="16" name="Text 14">
            <a:extLst>
              <a:ext uri="{FF2B5EF4-FFF2-40B4-BE49-F238E27FC236}">
                <a16:creationId xmlns:a16="http://schemas.microsoft.com/office/drawing/2014/main" id="{690BC31A-B1FD-4EE2-C9F0-1B485C2C3FB3}"/>
              </a:ext>
            </a:extLst>
          </p:cNvPr>
          <p:cNvSpPr txBox="1"/>
          <p:nvPr/>
        </p:nvSpPr>
        <p:spPr>
          <a:xfrm>
            <a:off x="713231" y="1542342"/>
            <a:ext cx="5029677" cy="1284732"/>
          </a:xfrm>
          <a:prstGeom prst="rect">
            <a:avLst/>
          </a:prstGeom>
          <a:noFill/>
          <a:ln/>
        </p:spPr>
        <p:txBody>
          <a:bodyPr wrap="square" lIns="0" tIns="0" rIns="0" bIns="0" rtlCol="0" anchor="t"/>
          <a:lstStyle/>
          <a:p>
            <a:pPr marL="0" indent="0">
              <a:lnSpc>
                <a:spcPct val="90000"/>
              </a:lnSpc>
              <a:buNone/>
            </a:pPr>
            <a:r>
              <a:rPr lang="en-GB" sz="1800" noProof="0" dirty="0">
                <a:solidFill>
                  <a:srgbClr val="1F3A63"/>
                </a:solidFill>
                <a:latin typeface="Calibri" pitchFamily="34" charset="0"/>
                <a:ea typeface="Calibri" pitchFamily="34" charset="-122"/>
                <a:cs typeface="Calibri" pitchFamily="34" charset="-120"/>
              </a:rPr>
              <a:t>For tumours that are HER2 positive, these medicines interfere with HER2-related growth signalling and are given alongside other treatment.</a:t>
            </a:r>
            <a:endParaRPr lang="en-GB" sz="1800" noProof="0" dirty="0"/>
          </a:p>
        </p:txBody>
      </p:sp>
      <p:sp>
        <p:nvSpPr>
          <p:cNvPr id="17" name="Shape 15">
            <a:extLst>
              <a:ext uri="{FF2B5EF4-FFF2-40B4-BE49-F238E27FC236}">
                <a16:creationId xmlns:a16="http://schemas.microsoft.com/office/drawing/2014/main" id="{F4EB1D9F-AE4C-FDE2-2497-9DC7EBD7BD82}"/>
              </a:ext>
            </a:extLst>
          </p:cNvPr>
          <p:cNvSpPr/>
          <p:nvPr/>
        </p:nvSpPr>
        <p:spPr>
          <a:xfrm>
            <a:off x="6432331" y="1112574"/>
            <a:ext cx="5211031" cy="4541412"/>
          </a:xfrm>
          <a:prstGeom prst="roundRect">
            <a:avLst>
              <a:gd name="adj" fmla="val 3101"/>
            </a:avLst>
          </a:prstGeom>
          <a:solidFill>
            <a:srgbClr val="F4F8FC"/>
          </a:solidFill>
          <a:ln w="12700">
            <a:solidFill>
              <a:srgbClr val="C8D8EC"/>
            </a:solidFill>
            <a:prstDash val="solid"/>
          </a:ln>
        </p:spPr>
        <p:txBody>
          <a:bodyPr/>
          <a:lstStyle/>
          <a:p>
            <a:endParaRPr lang="en-GB" noProof="0" dirty="0"/>
          </a:p>
        </p:txBody>
      </p:sp>
      <p:sp>
        <p:nvSpPr>
          <p:cNvPr id="18" name="Text 16">
            <a:extLst>
              <a:ext uri="{FF2B5EF4-FFF2-40B4-BE49-F238E27FC236}">
                <a16:creationId xmlns:a16="http://schemas.microsoft.com/office/drawing/2014/main" id="{1756A1EE-E03A-A4DC-1784-76F1F3627AC9}"/>
              </a:ext>
            </a:extLst>
          </p:cNvPr>
          <p:cNvSpPr txBox="1"/>
          <p:nvPr/>
        </p:nvSpPr>
        <p:spPr>
          <a:xfrm>
            <a:off x="6627908" y="1204014"/>
            <a:ext cx="4724734" cy="292608"/>
          </a:xfrm>
          <a:prstGeom prst="rect">
            <a:avLst/>
          </a:prstGeom>
          <a:noFill/>
          <a:ln/>
        </p:spPr>
        <p:txBody>
          <a:bodyPr wrap="square" lIns="0" tIns="0" rIns="0" bIns="0" rtlCol="0" anchor="t"/>
          <a:lstStyle/>
          <a:p>
            <a:pPr marL="0" indent="0">
              <a:buNone/>
            </a:pPr>
            <a:r>
              <a:rPr lang="en-GB" sz="1700" b="1" noProof="0" dirty="0">
                <a:solidFill>
                  <a:srgbClr val="12315B"/>
                </a:solidFill>
                <a:latin typeface="Calibri" pitchFamily="34" charset="0"/>
                <a:ea typeface="Calibri" pitchFamily="34" charset="-122"/>
                <a:cs typeface="Calibri" pitchFamily="34" charset="-120"/>
              </a:rPr>
              <a:t>Immunotherapy</a:t>
            </a:r>
            <a:endParaRPr lang="en-GB" sz="1700" noProof="0" dirty="0"/>
          </a:p>
        </p:txBody>
      </p:sp>
      <p:sp>
        <p:nvSpPr>
          <p:cNvPr id="19" name="Text 17">
            <a:extLst>
              <a:ext uri="{FF2B5EF4-FFF2-40B4-BE49-F238E27FC236}">
                <a16:creationId xmlns:a16="http://schemas.microsoft.com/office/drawing/2014/main" id="{A2A4D5D6-E983-D0E9-60E7-F71AEC20A6FF}"/>
              </a:ext>
            </a:extLst>
          </p:cNvPr>
          <p:cNvSpPr txBox="1"/>
          <p:nvPr/>
        </p:nvSpPr>
        <p:spPr>
          <a:xfrm>
            <a:off x="6627908" y="1542342"/>
            <a:ext cx="4724734" cy="1284732"/>
          </a:xfrm>
          <a:prstGeom prst="rect">
            <a:avLst/>
          </a:prstGeom>
          <a:noFill/>
          <a:ln/>
        </p:spPr>
        <p:txBody>
          <a:bodyPr wrap="square" lIns="0" tIns="0" rIns="0" bIns="0" rtlCol="0" anchor="t"/>
          <a:lstStyle/>
          <a:p>
            <a:pPr marL="0" indent="0">
              <a:lnSpc>
                <a:spcPct val="90000"/>
              </a:lnSpc>
              <a:buNone/>
            </a:pPr>
            <a:r>
              <a:rPr lang="en-GB" sz="1800" noProof="0" dirty="0">
                <a:solidFill>
                  <a:srgbClr val="1F3A63"/>
                </a:solidFill>
                <a:latin typeface="Calibri" pitchFamily="34" charset="0"/>
                <a:ea typeface="Calibri" pitchFamily="34" charset="-122"/>
                <a:cs typeface="Calibri" pitchFamily="34" charset="-120"/>
              </a:rPr>
              <a:t>Modifies the immune response against the cancer. It suits selected tumours, particularly some triple negative disease, and not most.</a:t>
            </a:r>
            <a:endParaRPr lang="en-GB" sz="1800" noProof="0" dirty="0"/>
          </a:p>
        </p:txBody>
      </p:sp>
      <p:sp>
        <p:nvSpPr>
          <p:cNvPr id="23" name="Shape 21">
            <a:extLst>
              <a:ext uri="{FF2B5EF4-FFF2-40B4-BE49-F238E27FC236}">
                <a16:creationId xmlns:a16="http://schemas.microsoft.com/office/drawing/2014/main" id="{8D4C47BA-BC13-149B-C6EF-9EA0631BA653}"/>
              </a:ext>
            </a:extLst>
          </p:cNvPr>
          <p:cNvSpPr/>
          <p:nvPr/>
        </p:nvSpPr>
        <p:spPr>
          <a:xfrm>
            <a:off x="548640" y="5837028"/>
            <a:ext cx="11094415" cy="530352"/>
          </a:xfrm>
          <a:prstGeom prst="roundRect">
            <a:avLst>
              <a:gd name="adj" fmla="val 8621"/>
            </a:avLst>
          </a:prstGeom>
          <a:solidFill>
            <a:schemeClr val="accent4">
              <a:lumMod val="20000"/>
              <a:lumOff val="80000"/>
            </a:schemeClr>
          </a:solidFill>
          <a:ln w="12700">
            <a:solidFill>
              <a:srgbClr val="E7B6B0"/>
            </a:solidFill>
            <a:prstDash val="solid"/>
          </a:ln>
        </p:spPr>
        <p:txBody>
          <a:bodyPr/>
          <a:lstStyle/>
          <a:p>
            <a:endParaRPr lang="en-GB" noProof="0" dirty="0"/>
          </a:p>
        </p:txBody>
      </p:sp>
      <p:sp>
        <p:nvSpPr>
          <p:cNvPr id="24" name="Text 22">
            <a:extLst>
              <a:ext uri="{FF2B5EF4-FFF2-40B4-BE49-F238E27FC236}">
                <a16:creationId xmlns:a16="http://schemas.microsoft.com/office/drawing/2014/main" id="{F6BC320E-7902-F54D-C28B-015A649E55E1}"/>
              </a:ext>
            </a:extLst>
          </p:cNvPr>
          <p:cNvSpPr txBox="1"/>
          <p:nvPr/>
        </p:nvSpPr>
        <p:spPr>
          <a:xfrm>
            <a:off x="713232" y="5910180"/>
            <a:ext cx="10765231" cy="384048"/>
          </a:xfrm>
          <a:prstGeom prst="rect">
            <a:avLst/>
          </a:prstGeom>
          <a:noFill/>
          <a:ln/>
        </p:spPr>
        <p:txBody>
          <a:bodyPr wrap="square" lIns="0" tIns="0" rIns="0" bIns="0" rtlCol="0" anchor="ctr"/>
          <a:lstStyle/>
          <a:p>
            <a:pPr marL="0" indent="0">
              <a:lnSpc>
                <a:spcPct val="95000"/>
              </a:lnSpc>
              <a:buNone/>
            </a:pPr>
            <a:r>
              <a:rPr lang="en-GB" sz="1250" b="1" dirty="0">
                <a:solidFill>
                  <a:schemeClr val="accent4">
                    <a:lumMod val="75000"/>
                  </a:schemeClr>
                </a:solidFill>
                <a:latin typeface="Calibri" pitchFamily="34" charset="0"/>
                <a:ea typeface="Calibri" pitchFamily="34" charset="-122"/>
                <a:cs typeface="Calibri" pitchFamily="34" charset="-120"/>
              </a:rPr>
              <a:t>IMPORTANT: </a:t>
            </a:r>
            <a:r>
              <a:rPr lang="en-GB" sz="1250" dirty="0">
                <a:solidFill>
                  <a:srgbClr val="0B1F3F"/>
                </a:solidFill>
                <a:latin typeface="Calibri" pitchFamily="34" charset="0"/>
                <a:ea typeface="Calibri" pitchFamily="34" charset="-122"/>
                <a:cs typeface="Calibri" pitchFamily="34" charset="-120"/>
              </a:rPr>
              <a:t>Please c</a:t>
            </a:r>
            <a:r>
              <a:rPr lang="en-GB" sz="1250" noProof="0" dirty="0" err="1">
                <a:solidFill>
                  <a:srgbClr val="0B1F3F"/>
                </a:solidFill>
                <a:latin typeface="Calibri" pitchFamily="34" charset="0"/>
                <a:ea typeface="Calibri" pitchFamily="34" charset="-122"/>
                <a:cs typeface="Calibri" pitchFamily="34" charset="-120"/>
              </a:rPr>
              <a:t>onfirm</a:t>
            </a:r>
            <a:r>
              <a:rPr lang="en-GB" sz="1250" noProof="0" dirty="0">
                <a:solidFill>
                  <a:srgbClr val="0B1F3F"/>
                </a:solidFill>
                <a:latin typeface="Calibri" pitchFamily="34" charset="0"/>
                <a:ea typeface="Calibri" pitchFamily="34" charset="-122"/>
                <a:cs typeface="Calibri" pitchFamily="34" charset="-120"/>
              </a:rPr>
              <a:t> of current availability in Rwanda of these therapies for breast cancer, at which facilities, and the referral route for each.</a:t>
            </a:r>
            <a:endParaRPr lang="en-GB" sz="1250" noProof="0" dirty="0"/>
          </a:p>
        </p:txBody>
      </p:sp>
      <p:pic>
        <p:nvPicPr>
          <p:cNvPr id="27" name="Imagen 26">
            <a:extLst>
              <a:ext uri="{FF2B5EF4-FFF2-40B4-BE49-F238E27FC236}">
                <a16:creationId xmlns:a16="http://schemas.microsoft.com/office/drawing/2014/main" id="{10BA2999-F882-5058-A64A-93B94FD4C808}"/>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6967486" y="2564308"/>
            <a:ext cx="4045577" cy="2697051"/>
          </a:xfrm>
          <a:prstGeom prst="rect">
            <a:avLst/>
          </a:prstGeom>
        </p:spPr>
      </p:pic>
      <p:pic>
        <p:nvPicPr>
          <p:cNvPr id="28" name="Imagen 27">
            <a:extLst>
              <a:ext uri="{FF2B5EF4-FFF2-40B4-BE49-F238E27FC236}">
                <a16:creationId xmlns:a16="http://schemas.microsoft.com/office/drawing/2014/main" id="{C4B907CB-F6B1-AB2F-EDB7-41678E881AB2}"/>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1212599" y="2506353"/>
            <a:ext cx="4090758" cy="2727172"/>
          </a:xfrm>
          <a:prstGeom prst="rect">
            <a:avLst/>
          </a:prstGeom>
        </p:spPr>
      </p:pic>
    </p:spTree>
    <p:extLst>
      <p:ext uri="{BB962C8B-B14F-4D97-AF65-F5344CB8AC3E}">
        <p14:creationId xmlns:p14="http://schemas.microsoft.com/office/powerpoint/2010/main" val="1169098848"/>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name="Slide 9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en-GB" sz="1100" b="1" kern="0" spc="100" noProof="0" dirty="0">
                <a:solidFill>
                  <a:srgbClr val="5B7699"/>
                </a:solidFill>
                <a:latin typeface="Calibri" pitchFamily="34" charset="0"/>
                <a:ea typeface="Calibri" pitchFamily="34" charset="-122"/>
                <a:cs typeface="Calibri" pitchFamily="34" charset="-120"/>
              </a:rPr>
              <a:t>S E S S I O N   4</a:t>
            </a:r>
            <a:endParaRPr lang="en-GB"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en-GB" sz="1000" noProof="0" dirty="0">
                <a:solidFill>
                  <a:srgbClr val="5B7699"/>
                </a:solidFill>
                <a:latin typeface="Calibri" pitchFamily="34" charset="0"/>
                <a:ea typeface="Calibri" pitchFamily="34" charset="-122"/>
                <a:cs typeface="Calibri" pitchFamily="34" charset="-120"/>
              </a:rPr>
              <a:t>Breast Cancer  |  Frontline HCP  |  Rwanda Biomedical Centre</a:t>
            </a:r>
            <a:endParaRPr lang="en-GB"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en-GB" sz="3000" b="1" noProof="0" dirty="0">
                <a:solidFill>
                  <a:srgbClr val="12315B"/>
                </a:solidFill>
                <a:latin typeface="Calibri" pitchFamily="34" charset="0"/>
                <a:ea typeface="Calibri" pitchFamily="34" charset="-122"/>
                <a:cs typeface="Calibri" pitchFamily="34" charset="-120"/>
              </a:rPr>
              <a:t>Common misconceptions</a:t>
            </a:r>
            <a:endParaRPr lang="en-GB" sz="3000" noProof="0" dirty="0"/>
          </a:p>
        </p:txBody>
      </p:sp>
      <p:sp>
        <p:nvSpPr>
          <p:cNvPr id="5" name="Shape 3"/>
          <p:cNvSpPr/>
          <p:nvPr/>
        </p:nvSpPr>
        <p:spPr>
          <a:xfrm>
            <a:off x="548640" y="1371600"/>
            <a:ext cx="3527450" cy="1929384"/>
          </a:xfrm>
          <a:prstGeom prst="roundRect">
            <a:avLst>
              <a:gd name="adj" fmla="val 2844"/>
            </a:avLst>
          </a:prstGeom>
          <a:solidFill>
            <a:srgbClr val="F4F8FC"/>
          </a:solidFill>
          <a:ln w="12700">
            <a:solidFill>
              <a:srgbClr val="C8D8EC"/>
            </a:solidFill>
            <a:prstDash val="solid"/>
          </a:ln>
        </p:spPr>
        <p:txBody>
          <a:bodyPr/>
          <a:lstStyle/>
          <a:p>
            <a:endParaRPr lang="en-GB" noProof="0" dirty="0"/>
          </a:p>
        </p:txBody>
      </p:sp>
      <p:sp>
        <p:nvSpPr>
          <p:cNvPr id="6" name="Text 4"/>
          <p:cNvSpPr txBox="1"/>
          <p:nvPr/>
        </p:nvSpPr>
        <p:spPr>
          <a:xfrm>
            <a:off x="713232" y="1463040"/>
            <a:ext cx="3198266" cy="292608"/>
          </a:xfrm>
          <a:prstGeom prst="rect">
            <a:avLst/>
          </a:prstGeom>
          <a:noFill/>
          <a:ln/>
        </p:spPr>
        <p:txBody>
          <a:bodyPr wrap="square" lIns="0" tIns="0" rIns="0" bIns="0" rtlCol="0" anchor="t"/>
          <a:lstStyle/>
          <a:p>
            <a:pPr marL="0" indent="0">
              <a:buNone/>
            </a:pPr>
            <a:r>
              <a:rPr lang="en-GB" sz="1700" b="1" noProof="0" dirty="0">
                <a:solidFill>
                  <a:srgbClr val="12315B"/>
                </a:solidFill>
                <a:latin typeface="Calibri" pitchFamily="34" charset="0"/>
                <a:ea typeface="Calibri" pitchFamily="34" charset="-122"/>
                <a:cs typeface="Calibri" pitchFamily="34" charset="-120"/>
              </a:rPr>
              <a:t>A painless lump is not serious</a:t>
            </a:r>
            <a:endParaRPr lang="en-GB" sz="1700" noProof="0" dirty="0"/>
          </a:p>
        </p:txBody>
      </p:sp>
      <p:sp>
        <p:nvSpPr>
          <p:cNvPr id="7" name="Text 5"/>
          <p:cNvSpPr txBox="1"/>
          <p:nvPr/>
        </p:nvSpPr>
        <p:spPr>
          <a:xfrm>
            <a:off x="713232" y="1801368"/>
            <a:ext cx="3198266" cy="1444752"/>
          </a:xfrm>
          <a:prstGeom prst="rect">
            <a:avLst/>
          </a:prstGeom>
          <a:noFill/>
          <a:ln/>
        </p:spPr>
        <p:txBody>
          <a:bodyPr wrap="square" lIns="0" tIns="0" rIns="0" bIns="0" rtlCol="0" anchor="t"/>
          <a:lstStyle/>
          <a:p>
            <a:pPr marL="0" indent="0">
              <a:lnSpc>
                <a:spcPct val="90000"/>
              </a:lnSpc>
              <a:buNone/>
            </a:pPr>
            <a:r>
              <a:rPr lang="en-GB" sz="1800" noProof="0" dirty="0">
                <a:solidFill>
                  <a:srgbClr val="1F3A63"/>
                </a:solidFill>
                <a:latin typeface="Calibri" pitchFamily="34" charset="0"/>
                <a:ea typeface="Calibri" pitchFamily="34" charset="-122"/>
                <a:cs typeface="Calibri" pitchFamily="34" charset="-120"/>
              </a:rPr>
              <a:t>False. Most breast cancers are painless. Pain is a poor guide in either direction.</a:t>
            </a:r>
            <a:endParaRPr lang="en-GB" sz="1800" noProof="0" dirty="0"/>
          </a:p>
        </p:txBody>
      </p:sp>
      <p:sp>
        <p:nvSpPr>
          <p:cNvPr id="8" name="Shape 6"/>
          <p:cNvSpPr/>
          <p:nvPr/>
        </p:nvSpPr>
        <p:spPr>
          <a:xfrm>
            <a:off x="4332122" y="1371600"/>
            <a:ext cx="3527450" cy="1929384"/>
          </a:xfrm>
          <a:prstGeom prst="roundRect">
            <a:avLst>
              <a:gd name="adj" fmla="val 2844"/>
            </a:avLst>
          </a:prstGeom>
          <a:solidFill>
            <a:srgbClr val="F4F8FC"/>
          </a:solidFill>
          <a:ln w="12700">
            <a:solidFill>
              <a:srgbClr val="C8D8EC"/>
            </a:solidFill>
            <a:prstDash val="solid"/>
          </a:ln>
        </p:spPr>
        <p:txBody>
          <a:bodyPr/>
          <a:lstStyle/>
          <a:p>
            <a:endParaRPr lang="en-GB" noProof="0" dirty="0"/>
          </a:p>
        </p:txBody>
      </p:sp>
      <p:sp>
        <p:nvSpPr>
          <p:cNvPr id="9" name="Text 7"/>
          <p:cNvSpPr txBox="1"/>
          <p:nvPr/>
        </p:nvSpPr>
        <p:spPr>
          <a:xfrm>
            <a:off x="4496714" y="1463040"/>
            <a:ext cx="3198266" cy="292608"/>
          </a:xfrm>
          <a:prstGeom prst="rect">
            <a:avLst/>
          </a:prstGeom>
          <a:noFill/>
          <a:ln/>
        </p:spPr>
        <p:txBody>
          <a:bodyPr wrap="square" lIns="0" tIns="0" rIns="0" bIns="0" rtlCol="0" anchor="t"/>
          <a:lstStyle/>
          <a:p>
            <a:pPr marL="0" indent="0">
              <a:buNone/>
            </a:pPr>
            <a:r>
              <a:rPr lang="en-GB" sz="1700" b="1" noProof="0" dirty="0">
                <a:solidFill>
                  <a:srgbClr val="12315B"/>
                </a:solidFill>
                <a:latin typeface="Calibri" pitchFamily="34" charset="0"/>
                <a:ea typeface="Calibri" pitchFamily="34" charset="-122"/>
                <a:cs typeface="Calibri" pitchFamily="34" charset="-120"/>
              </a:rPr>
              <a:t>No family history means no risk</a:t>
            </a:r>
            <a:endParaRPr lang="en-GB" sz="1700" noProof="0" dirty="0"/>
          </a:p>
        </p:txBody>
      </p:sp>
      <p:sp>
        <p:nvSpPr>
          <p:cNvPr id="10" name="Text 8"/>
          <p:cNvSpPr txBox="1"/>
          <p:nvPr/>
        </p:nvSpPr>
        <p:spPr>
          <a:xfrm>
            <a:off x="4496714" y="1801368"/>
            <a:ext cx="3198266" cy="1444752"/>
          </a:xfrm>
          <a:prstGeom prst="rect">
            <a:avLst/>
          </a:prstGeom>
          <a:noFill/>
          <a:ln/>
        </p:spPr>
        <p:txBody>
          <a:bodyPr wrap="square" lIns="0" tIns="0" rIns="0" bIns="0" rtlCol="0" anchor="t"/>
          <a:lstStyle/>
          <a:p>
            <a:pPr marL="0" indent="0">
              <a:lnSpc>
                <a:spcPct val="90000"/>
              </a:lnSpc>
              <a:buNone/>
            </a:pPr>
            <a:r>
              <a:rPr lang="en-GB" sz="1800" noProof="0" dirty="0">
                <a:solidFill>
                  <a:srgbClr val="1F3A63"/>
                </a:solidFill>
                <a:latin typeface="Calibri" pitchFamily="34" charset="0"/>
                <a:ea typeface="Calibri" pitchFamily="34" charset="-122"/>
                <a:cs typeface="Calibri" pitchFamily="34" charset="-120"/>
              </a:rPr>
              <a:t>False. Most people who develop breast cancer have no strong family history.</a:t>
            </a:r>
            <a:endParaRPr lang="en-GB" sz="1800" noProof="0" dirty="0"/>
          </a:p>
        </p:txBody>
      </p:sp>
      <p:sp>
        <p:nvSpPr>
          <p:cNvPr id="11" name="Shape 9"/>
          <p:cNvSpPr/>
          <p:nvPr/>
        </p:nvSpPr>
        <p:spPr>
          <a:xfrm>
            <a:off x="8115605" y="1371600"/>
            <a:ext cx="3527450" cy="1929384"/>
          </a:xfrm>
          <a:prstGeom prst="roundRect">
            <a:avLst>
              <a:gd name="adj" fmla="val 2844"/>
            </a:avLst>
          </a:prstGeom>
          <a:solidFill>
            <a:srgbClr val="F4F8FC"/>
          </a:solidFill>
          <a:ln w="12700">
            <a:solidFill>
              <a:srgbClr val="C8D8EC"/>
            </a:solidFill>
            <a:prstDash val="solid"/>
          </a:ln>
        </p:spPr>
        <p:txBody>
          <a:bodyPr/>
          <a:lstStyle/>
          <a:p>
            <a:endParaRPr lang="en-GB" noProof="0" dirty="0"/>
          </a:p>
        </p:txBody>
      </p:sp>
      <p:sp>
        <p:nvSpPr>
          <p:cNvPr id="12" name="Text 10"/>
          <p:cNvSpPr txBox="1"/>
          <p:nvPr/>
        </p:nvSpPr>
        <p:spPr>
          <a:xfrm>
            <a:off x="8280197" y="1463040"/>
            <a:ext cx="3198266" cy="292608"/>
          </a:xfrm>
          <a:prstGeom prst="rect">
            <a:avLst/>
          </a:prstGeom>
          <a:noFill/>
          <a:ln/>
        </p:spPr>
        <p:txBody>
          <a:bodyPr wrap="square" lIns="0" tIns="0" rIns="0" bIns="0" rtlCol="0" anchor="t"/>
          <a:lstStyle/>
          <a:p>
            <a:pPr marL="0" indent="0">
              <a:buNone/>
            </a:pPr>
            <a:r>
              <a:rPr lang="en-GB" sz="1700" b="1" noProof="0" dirty="0">
                <a:solidFill>
                  <a:srgbClr val="12315B"/>
                </a:solidFill>
                <a:latin typeface="Calibri" pitchFamily="34" charset="0"/>
                <a:ea typeface="Calibri" pitchFamily="34" charset="-122"/>
                <a:cs typeface="Calibri" pitchFamily="34" charset="-120"/>
              </a:rPr>
              <a:t>A biopsy makes cancer spread</a:t>
            </a:r>
            <a:endParaRPr lang="en-GB" sz="1700" noProof="0" dirty="0"/>
          </a:p>
        </p:txBody>
      </p:sp>
      <p:sp>
        <p:nvSpPr>
          <p:cNvPr id="13" name="Text 11"/>
          <p:cNvSpPr txBox="1"/>
          <p:nvPr/>
        </p:nvSpPr>
        <p:spPr>
          <a:xfrm>
            <a:off x="8280197" y="1801368"/>
            <a:ext cx="3198266" cy="1444752"/>
          </a:xfrm>
          <a:prstGeom prst="rect">
            <a:avLst/>
          </a:prstGeom>
          <a:noFill/>
          <a:ln/>
        </p:spPr>
        <p:txBody>
          <a:bodyPr wrap="square" lIns="0" tIns="0" rIns="0" bIns="0" rtlCol="0" anchor="t"/>
          <a:lstStyle/>
          <a:p>
            <a:pPr marL="0" indent="0">
              <a:lnSpc>
                <a:spcPct val="90000"/>
              </a:lnSpc>
              <a:buNone/>
            </a:pPr>
            <a:r>
              <a:rPr lang="en-GB" sz="1800" noProof="0" dirty="0">
                <a:solidFill>
                  <a:srgbClr val="1F3A63"/>
                </a:solidFill>
                <a:latin typeface="Calibri" pitchFamily="34" charset="0"/>
                <a:ea typeface="Calibri" pitchFamily="34" charset="-122"/>
                <a:cs typeface="Calibri" pitchFamily="34" charset="-120"/>
              </a:rPr>
              <a:t>False. A biopsy takes a small sample so the tissue can be examined. Declining it only delays the answer.</a:t>
            </a:r>
            <a:endParaRPr lang="en-GB" sz="1800" noProof="0" dirty="0"/>
          </a:p>
        </p:txBody>
      </p:sp>
      <p:sp>
        <p:nvSpPr>
          <p:cNvPr id="14" name="Shape 12"/>
          <p:cNvSpPr/>
          <p:nvPr/>
        </p:nvSpPr>
        <p:spPr>
          <a:xfrm>
            <a:off x="548640" y="3557016"/>
            <a:ext cx="3527450" cy="1929384"/>
          </a:xfrm>
          <a:prstGeom prst="roundRect">
            <a:avLst>
              <a:gd name="adj" fmla="val 2844"/>
            </a:avLst>
          </a:prstGeom>
          <a:solidFill>
            <a:srgbClr val="F4F8FC"/>
          </a:solidFill>
          <a:ln w="12700">
            <a:solidFill>
              <a:srgbClr val="C8D8EC"/>
            </a:solidFill>
            <a:prstDash val="solid"/>
          </a:ln>
        </p:spPr>
        <p:txBody>
          <a:bodyPr/>
          <a:lstStyle/>
          <a:p>
            <a:endParaRPr lang="en-GB" noProof="0" dirty="0"/>
          </a:p>
        </p:txBody>
      </p:sp>
      <p:sp>
        <p:nvSpPr>
          <p:cNvPr id="15" name="Text 13"/>
          <p:cNvSpPr txBox="1"/>
          <p:nvPr/>
        </p:nvSpPr>
        <p:spPr>
          <a:xfrm>
            <a:off x="713232" y="3648456"/>
            <a:ext cx="3198266" cy="292608"/>
          </a:xfrm>
          <a:prstGeom prst="rect">
            <a:avLst/>
          </a:prstGeom>
          <a:noFill/>
          <a:ln/>
        </p:spPr>
        <p:txBody>
          <a:bodyPr wrap="square" lIns="0" tIns="0" rIns="0" bIns="0" rtlCol="0" anchor="t"/>
          <a:lstStyle/>
          <a:p>
            <a:pPr marL="0" indent="0">
              <a:buNone/>
            </a:pPr>
            <a:r>
              <a:rPr lang="en-GB" sz="1700" b="1" noProof="0" dirty="0">
                <a:solidFill>
                  <a:srgbClr val="12315B"/>
                </a:solidFill>
                <a:latin typeface="Calibri" pitchFamily="34" charset="0"/>
                <a:ea typeface="Calibri" pitchFamily="34" charset="-122"/>
                <a:cs typeface="Calibri" pitchFamily="34" charset="-120"/>
              </a:rPr>
              <a:t>Every patient loses the breast</a:t>
            </a:r>
            <a:endParaRPr lang="en-GB" sz="1700" noProof="0" dirty="0"/>
          </a:p>
        </p:txBody>
      </p:sp>
      <p:sp>
        <p:nvSpPr>
          <p:cNvPr id="16" name="Text 14"/>
          <p:cNvSpPr txBox="1"/>
          <p:nvPr/>
        </p:nvSpPr>
        <p:spPr>
          <a:xfrm>
            <a:off x="713232" y="3986784"/>
            <a:ext cx="3198266" cy="1444752"/>
          </a:xfrm>
          <a:prstGeom prst="rect">
            <a:avLst/>
          </a:prstGeom>
          <a:noFill/>
          <a:ln/>
        </p:spPr>
        <p:txBody>
          <a:bodyPr wrap="square" lIns="0" tIns="0" rIns="0" bIns="0" rtlCol="0" anchor="t"/>
          <a:lstStyle/>
          <a:p>
            <a:pPr marL="0" indent="0">
              <a:lnSpc>
                <a:spcPct val="90000"/>
              </a:lnSpc>
              <a:buNone/>
            </a:pPr>
            <a:r>
              <a:rPr lang="en-GB" sz="1800" noProof="0" dirty="0">
                <a:solidFill>
                  <a:srgbClr val="1F3A63"/>
                </a:solidFill>
                <a:latin typeface="Calibri" pitchFamily="34" charset="0"/>
                <a:ea typeface="Calibri" pitchFamily="34" charset="-122"/>
                <a:cs typeface="Calibri" pitchFamily="34" charset="-120"/>
              </a:rPr>
              <a:t>False. Breast conserving surgery is possible for many patients, and the choice depends on the situation.</a:t>
            </a:r>
            <a:endParaRPr lang="en-GB" sz="1800" noProof="0" dirty="0"/>
          </a:p>
        </p:txBody>
      </p:sp>
      <p:sp>
        <p:nvSpPr>
          <p:cNvPr id="17" name="Shape 15"/>
          <p:cNvSpPr/>
          <p:nvPr/>
        </p:nvSpPr>
        <p:spPr>
          <a:xfrm>
            <a:off x="4332122" y="3557016"/>
            <a:ext cx="3527450" cy="1929384"/>
          </a:xfrm>
          <a:prstGeom prst="roundRect">
            <a:avLst>
              <a:gd name="adj" fmla="val 2844"/>
            </a:avLst>
          </a:prstGeom>
          <a:solidFill>
            <a:srgbClr val="F4F8FC"/>
          </a:solidFill>
          <a:ln w="12700">
            <a:solidFill>
              <a:srgbClr val="C8D8EC"/>
            </a:solidFill>
            <a:prstDash val="solid"/>
          </a:ln>
        </p:spPr>
        <p:txBody>
          <a:bodyPr/>
          <a:lstStyle/>
          <a:p>
            <a:endParaRPr lang="en-GB" noProof="0" dirty="0"/>
          </a:p>
        </p:txBody>
      </p:sp>
      <p:sp>
        <p:nvSpPr>
          <p:cNvPr id="18" name="Text 16"/>
          <p:cNvSpPr txBox="1"/>
          <p:nvPr/>
        </p:nvSpPr>
        <p:spPr>
          <a:xfrm>
            <a:off x="4496714" y="3648456"/>
            <a:ext cx="3198266" cy="292608"/>
          </a:xfrm>
          <a:prstGeom prst="rect">
            <a:avLst/>
          </a:prstGeom>
          <a:noFill/>
          <a:ln/>
        </p:spPr>
        <p:txBody>
          <a:bodyPr wrap="square" lIns="0" tIns="0" rIns="0" bIns="0" rtlCol="0" anchor="t"/>
          <a:lstStyle/>
          <a:p>
            <a:pPr marL="0" indent="0">
              <a:buNone/>
            </a:pPr>
            <a:r>
              <a:rPr lang="en-GB" sz="1700" b="1" noProof="0" dirty="0">
                <a:solidFill>
                  <a:srgbClr val="12315B"/>
                </a:solidFill>
                <a:latin typeface="Calibri" pitchFamily="34" charset="0"/>
                <a:ea typeface="Calibri" pitchFamily="34" charset="-122"/>
                <a:cs typeface="Calibri" pitchFamily="34" charset="-120"/>
              </a:rPr>
              <a:t>Breast cancer only affects older women</a:t>
            </a:r>
            <a:endParaRPr lang="en-GB" sz="1700" noProof="0" dirty="0"/>
          </a:p>
        </p:txBody>
      </p:sp>
      <p:sp>
        <p:nvSpPr>
          <p:cNvPr id="19" name="Text 17"/>
          <p:cNvSpPr txBox="1"/>
          <p:nvPr/>
        </p:nvSpPr>
        <p:spPr>
          <a:xfrm>
            <a:off x="4496714" y="4205727"/>
            <a:ext cx="3198266" cy="814329"/>
          </a:xfrm>
          <a:prstGeom prst="rect">
            <a:avLst/>
          </a:prstGeom>
          <a:noFill/>
          <a:ln/>
        </p:spPr>
        <p:txBody>
          <a:bodyPr wrap="square" lIns="0" tIns="0" rIns="0" bIns="0" rtlCol="0" anchor="t"/>
          <a:lstStyle/>
          <a:p>
            <a:pPr marL="0" indent="0">
              <a:lnSpc>
                <a:spcPct val="90000"/>
              </a:lnSpc>
              <a:buNone/>
            </a:pPr>
            <a:r>
              <a:rPr lang="en-GB" sz="1800" noProof="0" dirty="0">
                <a:solidFill>
                  <a:srgbClr val="1F3A63"/>
                </a:solidFill>
                <a:latin typeface="Calibri" pitchFamily="34" charset="0"/>
                <a:ea typeface="Calibri" pitchFamily="34" charset="-122"/>
                <a:cs typeface="Calibri" pitchFamily="34" charset="-120"/>
              </a:rPr>
              <a:t>False. Risk rises with age, and breast cancer occurs in younger women, and uncommonly in men.</a:t>
            </a:r>
            <a:endParaRPr lang="en-GB" sz="1800" noProof="0" dirty="0"/>
          </a:p>
        </p:txBody>
      </p:sp>
      <p:sp>
        <p:nvSpPr>
          <p:cNvPr id="20" name="Shape 18"/>
          <p:cNvSpPr/>
          <p:nvPr/>
        </p:nvSpPr>
        <p:spPr>
          <a:xfrm>
            <a:off x="8115605" y="3557016"/>
            <a:ext cx="3527450" cy="1929384"/>
          </a:xfrm>
          <a:prstGeom prst="roundRect">
            <a:avLst>
              <a:gd name="adj" fmla="val 2844"/>
            </a:avLst>
          </a:prstGeom>
          <a:solidFill>
            <a:srgbClr val="F4F8FC"/>
          </a:solidFill>
          <a:ln w="12700">
            <a:solidFill>
              <a:srgbClr val="C8D8EC"/>
            </a:solidFill>
            <a:prstDash val="solid"/>
          </a:ln>
        </p:spPr>
        <p:txBody>
          <a:bodyPr/>
          <a:lstStyle/>
          <a:p>
            <a:endParaRPr lang="en-GB" noProof="0" dirty="0"/>
          </a:p>
        </p:txBody>
      </p:sp>
      <p:sp>
        <p:nvSpPr>
          <p:cNvPr id="21" name="Text 19"/>
          <p:cNvSpPr txBox="1"/>
          <p:nvPr/>
        </p:nvSpPr>
        <p:spPr>
          <a:xfrm>
            <a:off x="8280197" y="3648456"/>
            <a:ext cx="3198266" cy="292608"/>
          </a:xfrm>
          <a:prstGeom prst="rect">
            <a:avLst/>
          </a:prstGeom>
          <a:noFill/>
          <a:ln/>
        </p:spPr>
        <p:txBody>
          <a:bodyPr wrap="square" lIns="0" tIns="0" rIns="0" bIns="0" rtlCol="0" anchor="t"/>
          <a:lstStyle/>
          <a:p>
            <a:pPr marL="0" indent="0">
              <a:buNone/>
            </a:pPr>
            <a:r>
              <a:rPr lang="en-GB" sz="1700" b="1" noProof="0" dirty="0">
                <a:solidFill>
                  <a:srgbClr val="12315B"/>
                </a:solidFill>
                <a:latin typeface="Calibri" pitchFamily="34" charset="0"/>
                <a:ea typeface="Calibri" pitchFamily="34" charset="-122"/>
                <a:cs typeface="Calibri" pitchFamily="34" charset="-120"/>
              </a:rPr>
              <a:t>Breast cancer always means death</a:t>
            </a:r>
            <a:endParaRPr lang="en-GB" sz="1700" noProof="0" dirty="0"/>
          </a:p>
        </p:txBody>
      </p:sp>
      <p:sp>
        <p:nvSpPr>
          <p:cNvPr id="22" name="Text 20"/>
          <p:cNvSpPr txBox="1"/>
          <p:nvPr/>
        </p:nvSpPr>
        <p:spPr>
          <a:xfrm>
            <a:off x="8280197" y="3986784"/>
            <a:ext cx="3198266" cy="1444752"/>
          </a:xfrm>
          <a:prstGeom prst="rect">
            <a:avLst/>
          </a:prstGeom>
          <a:noFill/>
          <a:ln/>
        </p:spPr>
        <p:txBody>
          <a:bodyPr wrap="square" lIns="0" tIns="0" rIns="0" bIns="0" rtlCol="0" anchor="t"/>
          <a:lstStyle/>
          <a:p>
            <a:pPr marL="0" indent="0">
              <a:lnSpc>
                <a:spcPct val="90000"/>
              </a:lnSpc>
              <a:buNone/>
            </a:pPr>
            <a:r>
              <a:rPr lang="en-GB" sz="1800" noProof="0" dirty="0">
                <a:solidFill>
                  <a:srgbClr val="1F3A63"/>
                </a:solidFill>
                <a:latin typeface="Calibri" pitchFamily="34" charset="0"/>
                <a:ea typeface="Calibri" pitchFamily="34" charset="-122"/>
                <a:cs typeface="Calibri" pitchFamily="34" charset="-120"/>
              </a:rPr>
              <a:t>False. Outcomes depend heavily on stage at diagnosis, which is exactly why earlier assessment matters.</a:t>
            </a:r>
            <a:endParaRPr lang="en-GB" sz="1800" noProof="0" dirty="0"/>
          </a:p>
        </p:txBody>
      </p:sp>
      <p:sp>
        <p:nvSpPr>
          <p:cNvPr id="23" name="Shape 21"/>
          <p:cNvSpPr/>
          <p:nvPr/>
        </p:nvSpPr>
        <p:spPr>
          <a:xfrm>
            <a:off x="548640" y="5623560"/>
            <a:ext cx="11094415" cy="566928"/>
          </a:xfrm>
          <a:prstGeom prst="roundRect">
            <a:avLst>
              <a:gd name="adj" fmla="val 8065"/>
            </a:avLst>
          </a:prstGeom>
          <a:solidFill>
            <a:srgbClr val="FDF1E0"/>
          </a:solidFill>
          <a:ln w="12700">
            <a:solidFill>
              <a:srgbClr val="EFD3AA"/>
            </a:solidFill>
            <a:prstDash val="solid"/>
          </a:ln>
        </p:spPr>
        <p:txBody>
          <a:bodyPr/>
          <a:lstStyle/>
          <a:p>
            <a:endParaRPr lang="en-GB" noProof="0" dirty="0"/>
          </a:p>
        </p:txBody>
      </p:sp>
      <p:sp>
        <p:nvSpPr>
          <p:cNvPr id="24" name="Text 22"/>
          <p:cNvSpPr txBox="1"/>
          <p:nvPr/>
        </p:nvSpPr>
        <p:spPr>
          <a:xfrm>
            <a:off x="713232" y="5696712"/>
            <a:ext cx="10765231" cy="420624"/>
          </a:xfrm>
          <a:prstGeom prst="rect">
            <a:avLst/>
          </a:prstGeom>
          <a:noFill/>
          <a:ln/>
        </p:spPr>
        <p:txBody>
          <a:bodyPr wrap="square" lIns="0" tIns="0" rIns="0" bIns="0" rtlCol="0" anchor="ctr"/>
          <a:lstStyle/>
          <a:p>
            <a:pPr marL="0" indent="0">
              <a:lnSpc>
                <a:spcPct val="95000"/>
              </a:lnSpc>
              <a:buNone/>
            </a:pPr>
            <a:r>
              <a:rPr lang="en-GB" sz="1300" noProof="0" dirty="0">
                <a:solidFill>
                  <a:srgbClr val="0B1F3F"/>
                </a:solidFill>
                <a:latin typeface="Calibri" pitchFamily="34" charset="0"/>
                <a:ea typeface="Calibri" pitchFamily="34" charset="-122"/>
                <a:cs typeface="Calibri" pitchFamily="34" charset="-120"/>
              </a:rPr>
              <a:t>An injury or a knock to the breast does not cause breast cancer, although it may be the reason a person first notices a lump that was already there. Assess the lump rather than attributing it to the injury.</a:t>
            </a:r>
            <a:endParaRPr lang="en-GB" sz="1300" noProof="0" dirty="0"/>
          </a:p>
        </p:txBody>
      </p:sp>
    </p:spTree>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name="Slide 9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en-GB" sz="1100" b="1" kern="0" spc="100" noProof="0" dirty="0">
                <a:solidFill>
                  <a:srgbClr val="5B7699"/>
                </a:solidFill>
                <a:latin typeface="Calibri" pitchFamily="34" charset="0"/>
                <a:ea typeface="Calibri" pitchFamily="34" charset="-122"/>
                <a:cs typeface="Calibri" pitchFamily="34" charset="-120"/>
              </a:rPr>
              <a:t>S E S S I O N   4</a:t>
            </a:r>
            <a:endParaRPr lang="en-GB"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en-GB" sz="1000" noProof="0" dirty="0">
                <a:solidFill>
                  <a:srgbClr val="5B7699"/>
                </a:solidFill>
                <a:latin typeface="Calibri" pitchFamily="34" charset="0"/>
                <a:ea typeface="Calibri" pitchFamily="34" charset="-122"/>
                <a:cs typeface="Calibri" pitchFamily="34" charset="-120"/>
              </a:rPr>
              <a:t>Breast Cancer  |  Frontline HCP  |  Rwanda Biomedical Centre</a:t>
            </a:r>
            <a:endParaRPr lang="en-GB"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en-GB" sz="3000" b="1" noProof="0" dirty="0">
                <a:solidFill>
                  <a:srgbClr val="12315B"/>
                </a:solidFill>
                <a:latin typeface="Calibri" pitchFamily="34" charset="0"/>
                <a:ea typeface="Calibri" pitchFamily="34" charset="-122"/>
                <a:cs typeface="Calibri" pitchFamily="34" charset="-120"/>
              </a:rPr>
              <a:t>Apply it</a:t>
            </a:r>
            <a:endParaRPr lang="en-GB" sz="3000" noProof="0" dirty="0"/>
          </a:p>
        </p:txBody>
      </p:sp>
      <p:sp>
        <p:nvSpPr>
          <p:cNvPr id="5" name="Shape 3"/>
          <p:cNvSpPr/>
          <p:nvPr/>
        </p:nvSpPr>
        <p:spPr>
          <a:xfrm>
            <a:off x="548640" y="1371600"/>
            <a:ext cx="7589520" cy="868680"/>
          </a:xfrm>
          <a:prstGeom prst="roundRect">
            <a:avLst>
              <a:gd name="adj" fmla="val 6316"/>
            </a:avLst>
          </a:prstGeom>
          <a:solidFill>
            <a:srgbClr val="FDF6E3"/>
          </a:solidFill>
          <a:ln w="12700">
            <a:solidFill>
              <a:srgbClr val="E0C07A"/>
            </a:solidFill>
            <a:prstDash val="solid"/>
          </a:ln>
        </p:spPr>
        <p:txBody>
          <a:bodyPr/>
          <a:lstStyle/>
          <a:p>
            <a:endParaRPr lang="en-GB" noProof="0" dirty="0"/>
          </a:p>
        </p:txBody>
      </p:sp>
      <p:sp>
        <p:nvSpPr>
          <p:cNvPr id="6" name="Text 4"/>
          <p:cNvSpPr txBox="1"/>
          <p:nvPr/>
        </p:nvSpPr>
        <p:spPr>
          <a:xfrm>
            <a:off x="713232" y="1444752"/>
            <a:ext cx="7260336" cy="731520"/>
          </a:xfrm>
          <a:prstGeom prst="rect">
            <a:avLst/>
          </a:prstGeom>
          <a:noFill/>
          <a:ln/>
        </p:spPr>
        <p:txBody>
          <a:bodyPr wrap="square" lIns="0" tIns="0" rIns="0" bIns="0" rtlCol="0" anchor="ctr"/>
          <a:lstStyle/>
          <a:p>
            <a:pPr marL="0" indent="0">
              <a:lnSpc>
                <a:spcPct val="92000"/>
              </a:lnSpc>
              <a:buNone/>
            </a:pPr>
            <a:r>
              <a:rPr lang="en-GB" sz="1600" b="1" noProof="0" dirty="0">
                <a:solidFill>
                  <a:srgbClr val="C9761A"/>
                </a:solidFill>
                <a:latin typeface="Calibri" pitchFamily="34" charset="0"/>
                <a:ea typeface="Calibri" pitchFamily="34" charset="-122"/>
                <a:cs typeface="Calibri" pitchFamily="34" charset="-120"/>
              </a:rPr>
              <a:t>Scenario   </a:t>
            </a:r>
            <a:r>
              <a:rPr lang="en-GB" sz="1600" noProof="0" dirty="0">
                <a:solidFill>
                  <a:srgbClr val="0B1F3F"/>
                </a:solidFill>
                <a:latin typeface="Calibri" pitchFamily="34" charset="0"/>
                <a:ea typeface="Calibri" pitchFamily="34" charset="-122"/>
                <a:cs typeface="Calibri" pitchFamily="34" charset="-120"/>
              </a:rPr>
              <a:t>A woman has a breast lump, an abnormal ultrasound and an abnormal mammogram. Her daughter asks whether the diagnosis is now certain.</a:t>
            </a:r>
            <a:endParaRPr lang="en-GB" sz="1600" noProof="0" dirty="0"/>
          </a:p>
        </p:txBody>
      </p:sp>
      <p:sp>
        <p:nvSpPr>
          <p:cNvPr id="7" name="Text 5"/>
          <p:cNvSpPr txBox="1"/>
          <p:nvPr/>
        </p:nvSpPr>
        <p:spPr>
          <a:xfrm>
            <a:off x="548640" y="2377440"/>
            <a:ext cx="7589520" cy="365760"/>
          </a:xfrm>
          <a:prstGeom prst="rect">
            <a:avLst/>
          </a:prstGeom>
          <a:noFill/>
          <a:ln/>
        </p:spPr>
        <p:txBody>
          <a:bodyPr wrap="square" lIns="0" tIns="0" rIns="0" bIns="0" rtlCol="0" anchor="ctr"/>
          <a:lstStyle/>
          <a:p>
            <a:pPr marL="0" indent="0">
              <a:buNone/>
            </a:pPr>
            <a:r>
              <a:rPr lang="en-GB" sz="1900" b="1" noProof="0" dirty="0">
                <a:solidFill>
                  <a:srgbClr val="12315B"/>
                </a:solidFill>
                <a:latin typeface="Calibri" pitchFamily="34" charset="0"/>
                <a:ea typeface="Calibri" pitchFamily="34" charset="-122"/>
                <a:cs typeface="Calibri" pitchFamily="34" charset="-120"/>
              </a:rPr>
              <a:t>What is accurate?</a:t>
            </a:r>
            <a:endParaRPr lang="en-GB" sz="1900" noProof="0" dirty="0"/>
          </a:p>
        </p:txBody>
      </p:sp>
      <p:sp>
        <p:nvSpPr>
          <p:cNvPr id="8" name="Shape 6"/>
          <p:cNvSpPr/>
          <p:nvPr/>
        </p:nvSpPr>
        <p:spPr>
          <a:xfrm>
            <a:off x="548640" y="2816352"/>
            <a:ext cx="7589520" cy="466344"/>
          </a:xfrm>
          <a:prstGeom prst="roundRect">
            <a:avLst>
              <a:gd name="adj" fmla="val 9804"/>
            </a:avLst>
          </a:prstGeom>
          <a:solidFill>
            <a:srgbClr val="FFFFFF"/>
          </a:solidFill>
          <a:ln w="12700">
            <a:solidFill>
              <a:srgbClr val="C8D8EC"/>
            </a:solidFill>
            <a:prstDash val="solid"/>
          </a:ln>
        </p:spPr>
        <p:txBody>
          <a:bodyPr/>
          <a:lstStyle/>
          <a:p>
            <a:endParaRPr lang="en-GB" noProof="0" dirty="0"/>
          </a:p>
        </p:txBody>
      </p:sp>
      <p:sp>
        <p:nvSpPr>
          <p:cNvPr id="9" name="Text 7"/>
          <p:cNvSpPr txBox="1"/>
          <p:nvPr/>
        </p:nvSpPr>
        <p:spPr>
          <a:xfrm>
            <a:off x="713232" y="2871216"/>
            <a:ext cx="7260336" cy="356616"/>
          </a:xfrm>
          <a:prstGeom prst="rect">
            <a:avLst/>
          </a:prstGeom>
          <a:noFill/>
          <a:ln/>
        </p:spPr>
        <p:txBody>
          <a:bodyPr wrap="square" lIns="0" tIns="0" rIns="0" bIns="0" rtlCol="0" anchor="ctr"/>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A   </a:t>
            </a:r>
            <a:r>
              <a:rPr lang="en-GB" sz="1800" noProof="0" dirty="0">
                <a:solidFill>
                  <a:srgbClr val="1F3A63"/>
                </a:solidFill>
                <a:latin typeface="Calibri" pitchFamily="34" charset="0"/>
                <a:ea typeface="Calibri" pitchFamily="34" charset="-122"/>
                <a:cs typeface="Calibri" pitchFamily="34" charset="-120"/>
              </a:rPr>
              <a:t>The diagnosis is confirmed by these findings together</a:t>
            </a:r>
            <a:endParaRPr lang="en-GB" sz="1800" noProof="0" dirty="0"/>
          </a:p>
        </p:txBody>
      </p:sp>
      <p:sp>
        <p:nvSpPr>
          <p:cNvPr id="10" name="Shape 8"/>
          <p:cNvSpPr/>
          <p:nvPr/>
        </p:nvSpPr>
        <p:spPr>
          <a:xfrm>
            <a:off x="548640" y="3374136"/>
            <a:ext cx="7589520" cy="713232"/>
          </a:xfrm>
          <a:prstGeom prst="roundRect">
            <a:avLst>
              <a:gd name="adj" fmla="val 6410"/>
            </a:avLst>
          </a:prstGeom>
          <a:solidFill>
            <a:srgbClr val="EAF5EF"/>
          </a:solidFill>
          <a:ln w="19050">
            <a:solidFill>
              <a:srgbClr val="8FC4A9"/>
            </a:solidFill>
            <a:prstDash val="solid"/>
          </a:ln>
        </p:spPr>
        <p:txBody>
          <a:bodyPr/>
          <a:lstStyle/>
          <a:p>
            <a:endParaRPr lang="en-GB" noProof="0" dirty="0"/>
          </a:p>
        </p:txBody>
      </p:sp>
      <p:sp>
        <p:nvSpPr>
          <p:cNvPr id="11" name="Text 9"/>
          <p:cNvSpPr txBox="1"/>
          <p:nvPr/>
        </p:nvSpPr>
        <p:spPr>
          <a:xfrm>
            <a:off x="713232" y="3429000"/>
            <a:ext cx="7260336" cy="603504"/>
          </a:xfrm>
          <a:prstGeom prst="rect">
            <a:avLst/>
          </a:prstGeom>
          <a:noFill/>
          <a:ln/>
        </p:spPr>
        <p:txBody>
          <a:bodyPr wrap="square" lIns="0" tIns="0" rIns="0" bIns="0" rtlCol="0" anchor="ctr"/>
          <a:lstStyle/>
          <a:p>
            <a:pPr marL="0" indent="0">
              <a:lnSpc>
                <a:spcPct val="90000"/>
              </a:lnSpc>
              <a:buNone/>
            </a:pPr>
            <a:r>
              <a:rPr lang="en-GB" sz="1800" b="1" noProof="0" dirty="0">
                <a:solidFill>
                  <a:srgbClr val="1B6E4A"/>
                </a:solidFill>
                <a:latin typeface="Calibri" pitchFamily="34" charset="0"/>
                <a:ea typeface="Calibri" pitchFamily="34" charset="-122"/>
                <a:cs typeface="Calibri" pitchFamily="34" charset="-120"/>
              </a:rPr>
              <a:t>B   Breast cancer is confirmed only when tissue has been examined by histopathology   ✓</a:t>
            </a:r>
            <a:endParaRPr lang="en-GB" sz="1800" noProof="0" dirty="0"/>
          </a:p>
        </p:txBody>
      </p:sp>
      <p:sp>
        <p:nvSpPr>
          <p:cNvPr id="12" name="Shape 10"/>
          <p:cNvSpPr/>
          <p:nvPr/>
        </p:nvSpPr>
        <p:spPr>
          <a:xfrm>
            <a:off x="548640" y="4178808"/>
            <a:ext cx="7589520" cy="466344"/>
          </a:xfrm>
          <a:prstGeom prst="roundRect">
            <a:avLst>
              <a:gd name="adj" fmla="val 9804"/>
            </a:avLst>
          </a:prstGeom>
          <a:solidFill>
            <a:srgbClr val="FFFFFF"/>
          </a:solidFill>
          <a:ln w="12700">
            <a:solidFill>
              <a:srgbClr val="C8D8EC"/>
            </a:solidFill>
            <a:prstDash val="solid"/>
          </a:ln>
        </p:spPr>
        <p:txBody>
          <a:bodyPr/>
          <a:lstStyle/>
          <a:p>
            <a:endParaRPr lang="en-GB" noProof="0" dirty="0"/>
          </a:p>
        </p:txBody>
      </p:sp>
      <p:sp>
        <p:nvSpPr>
          <p:cNvPr id="13" name="Text 11"/>
          <p:cNvSpPr txBox="1"/>
          <p:nvPr/>
        </p:nvSpPr>
        <p:spPr>
          <a:xfrm>
            <a:off x="713232" y="4233672"/>
            <a:ext cx="7260336" cy="356616"/>
          </a:xfrm>
          <a:prstGeom prst="rect">
            <a:avLst/>
          </a:prstGeom>
          <a:noFill/>
          <a:ln/>
        </p:spPr>
        <p:txBody>
          <a:bodyPr wrap="square" lIns="0" tIns="0" rIns="0" bIns="0" rtlCol="0" anchor="ctr"/>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C   </a:t>
            </a:r>
            <a:r>
              <a:rPr lang="en-GB" sz="1800" noProof="0" dirty="0">
                <a:solidFill>
                  <a:srgbClr val="1F3A63"/>
                </a:solidFill>
                <a:latin typeface="Calibri" pitchFamily="34" charset="0"/>
                <a:ea typeface="Calibri" pitchFamily="34" charset="-122"/>
                <a:cs typeface="Calibri" pitchFamily="34" charset="-120"/>
              </a:rPr>
              <a:t>The mammogram alone confirms it</a:t>
            </a:r>
            <a:endParaRPr lang="en-GB" sz="1800" noProof="0" dirty="0"/>
          </a:p>
        </p:txBody>
      </p:sp>
      <p:sp>
        <p:nvSpPr>
          <p:cNvPr id="14" name="Shape 12"/>
          <p:cNvSpPr/>
          <p:nvPr/>
        </p:nvSpPr>
        <p:spPr>
          <a:xfrm>
            <a:off x="548640" y="4736592"/>
            <a:ext cx="7589520" cy="466344"/>
          </a:xfrm>
          <a:prstGeom prst="roundRect">
            <a:avLst>
              <a:gd name="adj" fmla="val 9804"/>
            </a:avLst>
          </a:prstGeom>
          <a:solidFill>
            <a:srgbClr val="FFFFFF"/>
          </a:solidFill>
          <a:ln w="12700">
            <a:solidFill>
              <a:srgbClr val="C8D8EC"/>
            </a:solidFill>
            <a:prstDash val="solid"/>
          </a:ln>
        </p:spPr>
        <p:txBody>
          <a:bodyPr/>
          <a:lstStyle/>
          <a:p>
            <a:endParaRPr lang="en-GB" noProof="0" dirty="0"/>
          </a:p>
        </p:txBody>
      </p:sp>
      <p:sp>
        <p:nvSpPr>
          <p:cNvPr id="15" name="Text 13"/>
          <p:cNvSpPr txBox="1"/>
          <p:nvPr/>
        </p:nvSpPr>
        <p:spPr>
          <a:xfrm>
            <a:off x="713232" y="4791456"/>
            <a:ext cx="7260336" cy="356616"/>
          </a:xfrm>
          <a:prstGeom prst="rect">
            <a:avLst/>
          </a:prstGeom>
          <a:noFill/>
          <a:ln/>
        </p:spPr>
        <p:txBody>
          <a:bodyPr wrap="square" lIns="0" tIns="0" rIns="0" bIns="0" rtlCol="0" anchor="ctr"/>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D   </a:t>
            </a:r>
            <a:r>
              <a:rPr lang="en-GB" sz="1800" noProof="0" dirty="0">
                <a:solidFill>
                  <a:srgbClr val="1F3A63"/>
                </a:solidFill>
                <a:latin typeface="Calibri" pitchFamily="34" charset="0"/>
                <a:ea typeface="Calibri" pitchFamily="34" charset="-122"/>
                <a:cs typeface="Calibri" pitchFamily="34" charset="-120"/>
              </a:rPr>
              <a:t>The ultrasound alone confirms it</a:t>
            </a:r>
            <a:endParaRPr lang="en-GB" sz="1800" noProof="0" dirty="0"/>
          </a:p>
        </p:txBody>
      </p:sp>
      <p:sp>
        <p:nvSpPr>
          <p:cNvPr id="16" name="Shape 14"/>
          <p:cNvSpPr/>
          <p:nvPr/>
        </p:nvSpPr>
        <p:spPr>
          <a:xfrm>
            <a:off x="8412480" y="1371600"/>
            <a:ext cx="3230575" cy="4754880"/>
          </a:xfrm>
          <a:prstGeom prst="roundRect">
            <a:avLst>
              <a:gd name="adj" fmla="val 1698"/>
            </a:avLst>
          </a:prstGeom>
          <a:solidFill>
            <a:srgbClr val="EAF5EF"/>
          </a:solidFill>
          <a:ln w="12700">
            <a:solidFill>
              <a:srgbClr val="8FC4A9"/>
            </a:solidFill>
            <a:prstDash val="solid"/>
          </a:ln>
        </p:spPr>
        <p:txBody>
          <a:bodyPr/>
          <a:lstStyle/>
          <a:p>
            <a:endParaRPr lang="en-GB" noProof="0" dirty="0"/>
          </a:p>
        </p:txBody>
      </p:sp>
      <p:sp>
        <p:nvSpPr>
          <p:cNvPr id="17" name="Text 15"/>
          <p:cNvSpPr txBox="1"/>
          <p:nvPr/>
        </p:nvSpPr>
        <p:spPr>
          <a:xfrm>
            <a:off x="8595360" y="1508760"/>
            <a:ext cx="2864815" cy="365760"/>
          </a:xfrm>
          <a:prstGeom prst="rect">
            <a:avLst/>
          </a:prstGeom>
          <a:noFill/>
          <a:ln/>
        </p:spPr>
        <p:txBody>
          <a:bodyPr wrap="square" lIns="0" tIns="0" rIns="0" bIns="0" rtlCol="0" anchor="ctr"/>
          <a:lstStyle/>
          <a:p>
            <a:pPr marL="0" indent="0">
              <a:buNone/>
            </a:pPr>
            <a:r>
              <a:rPr lang="en-GB" sz="1800" b="1" noProof="0" dirty="0">
                <a:solidFill>
                  <a:srgbClr val="1B6E4A"/>
                </a:solidFill>
                <a:latin typeface="Calibri" pitchFamily="34" charset="0"/>
                <a:ea typeface="Calibri" pitchFamily="34" charset="-122"/>
                <a:cs typeface="Calibri" pitchFamily="34" charset="-120"/>
              </a:rPr>
              <a:t>Correct answer: B</a:t>
            </a:r>
            <a:endParaRPr lang="en-GB" sz="1800" noProof="0" dirty="0"/>
          </a:p>
        </p:txBody>
      </p:sp>
      <p:sp>
        <p:nvSpPr>
          <p:cNvPr id="18" name="Text 16"/>
          <p:cNvSpPr txBox="1"/>
          <p:nvPr/>
        </p:nvSpPr>
        <p:spPr>
          <a:xfrm>
            <a:off x="8595360" y="1938528"/>
            <a:ext cx="2864815" cy="4069080"/>
          </a:xfrm>
          <a:prstGeom prst="rect">
            <a:avLst/>
          </a:prstGeom>
          <a:noFill/>
          <a:ln/>
        </p:spPr>
        <p:txBody>
          <a:bodyPr wrap="square" lIns="0" tIns="0" rIns="0" bIns="0" rtlCol="0" anchor="t"/>
          <a:lstStyle/>
          <a:p>
            <a:pPr marL="0" indent="0">
              <a:lnSpc>
                <a:spcPct val="95000"/>
              </a:lnSpc>
              <a:buNone/>
            </a:pPr>
            <a:r>
              <a:rPr lang="en-GB" sz="1800" noProof="0" dirty="0">
                <a:solidFill>
                  <a:srgbClr val="0B1F3F"/>
                </a:solidFill>
                <a:latin typeface="Calibri" pitchFamily="34" charset="0"/>
                <a:ea typeface="Calibri" pitchFamily="34" charset="-122"/>
                <a:cs typeface="Calibri" pitchFamily="34" charset="-120"/>
              </a:rPr>
              <a:t>Examination and imaging raise or lower suspicion and describe the extent of a finding. Only histopathology confirms that cancer is present, names the type and grade, and allows receptor testing that decides treatment. Say clearly what is known so far and what the next step is, without stating that cancer has been found.</a:t>
            </a:r>
            <a:endParaRPr lang="en-GB" sz="1800" noProof="0" dirty="0"/>
          </a:p>
        </p:txBody>
      </p:sp>
    </p:spTree>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name="Slide 9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en-GB" sz="1100" b="1" kern="0" spc="100" noProof="0" dirty="0">
                <a:solidFill>
                  <a:srgbClr val="5B7699"/>
                </a:solidFill>
                <a:latin typeface="Calibri" pitchFamily="34" charset="0"/>
                <a:ea typeface="Calibri" pitchFamily="34" charset="-122"/>
                <a:cs typeface="Calibri" pitchFamily="34" charset="-120"/>
              </a:rPr>
              <a:t>S E S S I O N   4</a:t>
            </a:r>
            <a:endParaRPr lang="en-GB"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en-GB" sz="1000" noProof="0" dirty="0">
                <a:solidFill>
                  <a:srgbClr val="5B7699"/>
                </a:solidFill>
                <a:latin typeface="Calibri" pitchFamily="34" charset="0"/>
                <a:ea typeface="Calibri" pitchFamily="34" charset="-122"/>
                <a:cs typeface="Calibri" pitchFamily="34" charset="-120"/>
              </a:rPr>
              <a:t>Breast Cancer  |  Frontline HCP  |  Rwanda Biomedical Centre</a:t>
            </a:r>
            <a:endParaRPr lang="en-GB"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en-GB" sz="3000" b="1" noProof="0" dirty="0">
                <a:solidFill>
                  <a:srgbClr val="12315B"/>
                </a:solidFill>
                <a:latin typeface="Calibri" pitchFamily="34" charset="0"/>
                <a:ea typeface="Calibri" pitchFamily="34" charset="-122"/>
                <a:cs typeface="Calibri" pitchFamily="34" charset="-120"/>
              </a:rPr>
              <a:t>Knowledge check (1 of 3)</a:t>
            </a:r>
            <a:endParaRPr lang="en-GB" sz="3000" noProof="0" dirty="0"/>
          </a:p>
        </p:txBody>
      </p:sp>
      <p:sp>
        <p:nvSpPr>
          <p:cNvPr id="5" name="Shape 3"/>
          <p:cNvSpPr/>
          <p:nvPr/>
        </p:nvSpPr>
        <p:spPr>
          <a:xfrm>
            <a:off x="548640" y="1738274"/>
            <a:ext cx="11094415" cy="1841602"/>
          </a:xfrm>
          <a:prstGeom prst="roundRect">
            <a:avLst>
              <a:gd name="adj" fmla="val 2979"/>
            </a:avLst>
          </a:prstGeom>
          <a:solidFill>
            <a:srgbClr val="F4F8FC"/>
          </a:solidFill>
          <a:ln w="12700">
            <a:solidFill>
              <a:srgbClr val="C8D8EC"/>
            </a:solidFill>
            <a:prstDash val="solid"/>
          </a:ln>
        </p:spPr>
        <p:txBody>
          <a:bodyPr/>
          <a:lstStyle/>
          <a:p>
            <a:endParaRPr lang="en-GB" noProof="0" dirty="0"/>
          </a:p>
        </p:txBody>
      </p:sp>
      <p:sp>
        <p:nvSpPr>
          <p:cNvPr id="6" name="Text 4"/>
          <p:cNvSpPr txBox="1"/>
          <p:nvPr/>
        </p:nvSpPr>
        <p:spPr>
          <a:xfrm>
            <a:off x="731520" y="1848002"/>
            <a:ext cx="10728655" cy="384048"/>
          </a:xfrm>
          <a:prstGeom prst="rect">
            <a:avLst/>
          </a:prstGeom>
          <a:noFill/>
          <a:ln/>
        </p:spPr>
        <p:txBody>
          <a:bodyPr wrap="square" lIns="0" tIns="0" rIns="0" bIns="0" rtlCol="0" anchor="t"/>
          <a:lstStyle/>
          <a:p>
            <a:pPr marL="0" indent="0">
              <a:buNone/>
            </a:pPr>
            <a:r>
              <a:rPr lang="en-GB" sz="1800" b="1" noProof="0" dirty="0">
                <a:solidFill>
                  <a:srgbClr val="12315B"/>
                </a:solidFill>
                <a:latin typeface="Calibri" pitchFamily="34" charset="0"/>
                <a:ea typeface="Calibri" pitchFamily="34" charset="-122"/>
                <a:cs typeface="Calibri" pitchFamily="34" charset="-120"/>
              </a:rPr>
              <a:t>Q1. Breast cancer is confirmed by:</a:t>
            </a:r>
            <a:endParaRPr lang="en-GB" sz="1800" noProof="0" dirty="0"/>
          </a:p>
        </p:txBody>
      </p:sp>
      <p:sp>
        <p:nvSpPr>
          <p:cNvPr id="7" name="Text 5"/>
          <p:cNvSpPr txBox="1"/>
          <p:nvPr/>
        </p:nvSpPr>
        <p:spPr>
          <a:xfrm>
            <a:off x="731520" y="2268626"/>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A. </a:t>
            </a:r>
            <a:r>
              <a:rPr lang="en-GB" sz="1800" noProof="0" dirty="0">
                <a:solidFill>
                  <a:srgbClr val="1F3A63"/>
                </a:solidFill>
                <a:latin typeface="Calibri" pitchFamily="34" charset="0"/>
                <a:ea typeface="Calibri" pitchFamily="34" charset="-122"/>
                <a:cs typeface="Calibri" pitchFamily="34" charset="-120"/>
              </a:rPr>
              <a:t>Mammography</a:t>
            </a:r>
            <a:endParaRPr lang="en-GB" sz="1800" noProof="0" dirty="0"/>
          </a:p>
        </p:txBody>
      </p:sp>
      <p:sp>
        <p:nvSpPr>
          <p:cNvPr id="8" name="Text 6"/>
          <p:cNvSpPr txBox="1"/>
          <p:nvPr/>
        </p:nvSpPr>
        <p:spPr>
          <a:xfrm>
            <a:off x="6210148" y="2268626"/>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B. </a:t>
            </a:r>
            <a:r>
              <a:rPr lang="en-GB" sz="1800" noProof="0" dirty="0">
                <a:solidFill>
                  <a:srgbClr val="1F3A63"/>
                </a:solidFill>
                <a:latin typeface="Calibri" pitchFamily="34" charset="0"/>
                <a:ea typeface="Calibri" pitchFamily="34" charset="-122"/>
                <a:cs typeface="Calibri" pitchFamily="34" charset="-120"/>
              </a:rPr>
              <a:t>Clinical breast examination</a:t>
            </a:r>
            <a:endParaRPr lang="en-GB" sz="1800" noProof="0" dirty="0"/>
          </a:p>
        </p:txBody>
      </p:sp>
      <p:sp>
        <p:nvSpPr>
          <p:cNvPr id="9" name="Text 7"/>
          <p:cNvSpPr txBox="1"/>
          <p:nvPr/>
        </p:nvSpPr>
        <p:spPr>
          <a:xfrm>
            <a:off x="731520" y="2643530"/>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1B6E4A"/>
                </a:solidFill>
                <a:latin typeface="Calibri" pitchFamily="34" charset="0"/>
                <a:ea typeface="Calibri" pitchFamily="34" charset="-122"/>
                <a:cs typeface="Calibri" pitchFamily="34" charset="-120"/>
              </a:rPr>
              <a:t>C. Biopsy and histopathology</a:t>
            </a:r>
            <a:endParaRPr lang="en-GB" sz="1800" noProof="0" dirty="0"/>
          </a:p>
        </p:txBody>
      </p:sp>
      <p:sp>
        <p:nvSpPr>
          <p:cNvPr id="10" name="Text 8"/>
          <p:cNvSpPr txBox="1"/>
          <p:nvPr/>
        </p:nvSpPr>
        <p:spPr>
          <a:xfrm>
            <a:off x="6210148" y="2643530"/>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D. </a:t>
            </a:r>
            <a:r>
              <a:rPr lang="en-GB" sz="1800" noProof="0" dirty="0">
                <a:solidFill>
                  <a:srgbClr val="1F3A63"/>
                </a:solidFill>
                <a:latin typeface="Calibri" pitchFamily="34" charset="0"/>
                <a:ea typeface="Calibri" pitchFamily="34" charset="-122"/>
                <a:cs typeface="Calibri" pitchFamily="34" charset="-120"/>
              </a:rPr>
              <a:t>Breast ultrasound</a:t>
            </a:r>
            <a:endParaRPr lang="en-GB" sz="1800" noProof="0" dirty="0"/>
          </a:p>
        </p:txBody>
      </p:sp>
      <p:sp>
        <p:nvSpPr>
          <p:cNvPr id="11" name="Text 9"/>
          <p:cNvSpPr txBox="1"/>
          <p:nvPr/>
        </p:nvSpPr>
        <p:spPr>
          <a:xfrm>
            <a:off x="731520" y="3073298"/>
            <a:ext cx="10728655" cy="433426"/>
          </a:xfrm>
          <a:prstGeom prst="rect">
            <a:avLst/>
          </a:prstGeom>
          <a:noFill/>
          <a:ln/>
        </p:spPr>
        <p:txBody>
          <a:bodyPr wrap="square" lIns="0" tIns="0" rIns="0" bIns="0" rtlCol="0" anchor="t"/>
          <a:lstStyle/>
          <a:p>
            <a:pPr marL="0" indent="0">
              <a:lnSpc>
                <a:spcPct val="92000"/>
              </a:lnSpc>
              <a:buNone/>
            </a:pPr>
            <a:r>
              <a:rPr lang="en-GB" sz="1350" b="1" noProof="0" dirty="0">
                <a:solidFill>
                  <a:srgbClr val="1B6E4A"/>
                </a:solidFill>
                <a:latin typeface="Calibri" pitchFamily="34" charset="0"/>
                <a:ea typeface="Calibri" pitchFamily="34" charset="-122"/>
                <a:cs typeface="Calibri" pitchFamily="34" charset="-120"/>
              </a:rPr>
              <a:t>Correct: C. </a:t>
            </a:r>
            <a:r>
              <a:rPr lang="en-GB" sz="1350" noProof="0" dirty="0">
                <a:solidFill>
                  <a:srgbClr val="0B1F3F"/>
                </a:solidFill>
                <a:latin typeface="Calibri" pitchFamily="34" charset="0"/>
                <a:ea typeface="Calibri" pitchFamily="34" charset="-122"/>
                <a:cs typeface="Calibri" pitchFamily="34" charset="-120"/>
              </a:rPr>
              <a:t>Tissue examined under the microscope confirms the diagnosis and provides the type, grade and receptor results that determine treatment.</a:t>
            </a:r>
            <a:endParaRPr lang="en-GB" sz="1350" noProof="0" dirty="0"/>
          </a:p>
        </p:txBody>
      </p:sp>
      <p:sp>
        <p:nvSpPr>
          <p:cNvPr id="12" name="Shape 10"/>
          <p:cNvSpPr/>
          <p:nvPr/>
        </p:nvSpPr>
        <p:spPr>
          <a:xfrm>
            <a:off x="548640" y="3781044"/>
            <a:ext cx="11094415" cy="2088490"/>
          </a:xfrm>
          <a:prstGeom prst="roundRect">
            <a:avLst>
              <a:gd name="adj" fmla="val 2627"/>
            </a:avLst>
          </a:prstGeom>
          <a:solidFill>
            <a:srgbClr val="F4F8FC"/>
          </a:solidFill>
          <a:ln w="12700">
            <a:solidFill>
              <a:srgbClr val="C8D8EC"/>
            </a:solidFill>
            <a:prstDash val="solid"/>
          </a:ln>
        </p:spPr>
        <p:txBody>
          <a:bodyPr/>
          <a:lstStyle/>
          <a:p>
            <a:endParaRPr lang="en-GB" noProof="0" dirty="0"/>
          </a:p>
        </p:txBody>
      </p:sp>
      <p:sp>
        <p:nvSpPr>
          <p:cNvPr id="13" name="Text 11"/>
          <p:cNvSpPr txBox="1"/>
          <p:nvPr/>
        </p:nvSpPr>
        <p:spPr>
          <a:xfrm>
            <a:off x="731520" y="3890772"/>
            <a:ext cx="10728655" cy="384048"/>
          </a:xfrm>
          <a:prstGeom prst="rect">
            <a:avLst/>
          </a:prstGeom>
          <a:noFill/>
          <a:ln/>
        </p:spPr>
        <p:txBody>
          <a:bodyPr wrap="square" lIns="0" tIns="0" rIns="0" bIns="0" rtlCol="0" anchor="t"/>
          <a:lstStyle/>
          <a:p>
            <a:pPr marL="0" indent="0">
              <a:buNone/>
            </a:pPr>
            <a:r>
              <a:rPr lang="en-GB" sz="1800" b="1" noProof="0" dirty="0">
                <a:solidFill>
                  <a:srgbClr val="12315B"/>
                </a:solidFill>
                <a:latin typeface="Calibri" pitchFamily="34" charset="0"/>
                <a:ea typeface="Calibri" pitchFamily="34" charset="-122"/>
                <a:cs typeface="Calibri" pitchFamily="34" charset="-120"/>
              </a:rPr>
              <a:t>Q2. A normal breast examination in a person reporting a persistent breast change means:</a:t>
            </a:r>
            <a:endParaRPr lang="en-GB" sz="1800" noProof="0" dirty="0"/>
          </a:p>
        </p:txBody>
      </p:sp>
      <p:sp>
        <p:nvSpPr>
          <p:cNvPr id="14" name="Text 12"/>
          <p:cNvSpPr txBox="1"/>
          <p:nvPr/>
        </p:nvSpPr>
        <p:spPr>
          <a:xfrm>
            <a:off x="731520" y="4311396"/>
            <a:ext cx="5250028" cy="566928"/>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A. </a:t>
            </a:r>
            <a:r>
              <a:rPr lang="en-GB" sz="1800" noProof="0" dirty="0">
                <a:solidFill>
                  <a:srgbClr val="1F3A63"/>
                </a:solidFill>
                <a:latin typeface="Calibri" pitchFamily="34" charset="0"/>
                <a:ea typeface="Calibri" pitchFamily="34" charset="-122"/>
                <a:cs typeface="Calibri" pitchFamily="34" charset="-120"/>
              </a:rPr>
              <a:t>Cancer is excluded</a:t>
            </a:r>
            <a:endParaRPr lang="en-GB" sz="1800" noProof="0" dirty="0"/>
          </a:p>
        </p:txBody>
      </p:sp>
      <p:sp>
        <p:nvSpPr>
          <p:cNvPr id="15" name="Text 13"/>
          <p:cNvSpPr txBox="1"/>
          <p:nvPr/>
        </p:nvSpPr>
        <p:spPr>
          <a:xfrm>
            <a:off x="6210148" y="4311396"/>
            <a:ext cx="5250028" cy="566928"/>
          </a:xfrm>
          <a:prstGeom prst="rect">
            <a:avLst/>
          </a:prstGeom>
          <a:noFill/>
          <a:ln/>
        </p:spPr>
        <p:txBody>
          <a:bodyPr wrap="square" lIns="0" tIns="0" rIns="0" bIns="0" rtlCol="0" anchor="t"/>
          <a:lstStyle/>
          <a:p>
            <a:pPr marL="0" indent="0">
              <a:lnSpc>
                <a:spcPct val="90000"/>
              </a:lnSpc>
              <a:buNone/>
            </a:pPr>
            <a:r>
              <a:rPr lang="en-GB" sz="1800" b="1" noProof="0" dirty="0">
                <a:solidFill>
                  <a:srgbClr val="1B6E4A"/>
                </a:solidFill>
                <a:latin typeface="Calibri" pitchFamily="34" charset="0"/>
                <a:ea typeface="Calibri" pitchFamily="34" charset="-122"/>
                <a:cs typeface="Calibri" pitchFamily="34" charset="-120"/>
              </a:rPr>
              <a:t>B. Cancer is not excluded and assessment must continue</a:t>
            </a:r>
            <a:endParaRPr lang="en-GB" sz="1800" noProof="0" dirty="0"/>
          </a:p>
        </p:txBody>
      </p:sp>
      <p:sp>
        <p:nvSpPr>
          <p:cNvPr id="16" name="Text 14"/>
          <p:cNvSpPr txBox="1"/>
          <p:nvPr/>
        </p:nvSpPr>
        <p:spPr>
          <a:xfrm>
            <a:off x="731520" y="4933188"/>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C. </a:t>
            </a:r>
            <a:r>
              <a:rPr lang="en-GB" sz="1800" noProof="0" dirty="0">
                <a:solidFill>
                  <a:srgbClr val="1F3A63"/>
                </a:solidFill>
                <a:latin typeface="Calibri" pitchFamily="34" charset="0"/>
                <a:ea typeface="Calibri" pitchFamily="34" charset="-122"/>
                <a:cs typeface="Calibri" pitchFamily="34" charset="-120"/>
              </a:rPr>
              <a:t>No referral is needed</a:t>
            </a:r>
            <a:endParaRPr lang="en-GB" sz="1800" noProof="0" dirty="0"/>
          </a:p>
        </p:txBody>
      </p:sp>
      <p:sp>
        <p:nvSpPr>
          <p:cNvPr id="17" name="Text 15"/>
          <p:cNvSpPr txBox="1"/>
          <p:nvPr/>
        </p:nvSpPr>
        <p:spPr>
          <a:xfrm>
            <a:off x="6210148" y="4933188"/>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D. </a:t>
            </a:r>
            <a:r>
              <a:rPr lang="en-GB" sz="1800" noProof="0" dirty="0">
                <a:solidFill>
                  <a:srgbClr val="1F3A63"/>
                </a:solidFill>
                <a:latin typeface="Calibri" pitchFamily="34" charset="0"/>
                <a:ea typeface="Calibri" pitchFamily="34" charset="-122"/>
                <a:cs typeface="Calibri" pitchFamily="34" charset="-120"/>
              </a:rPr>
              <a:t>A screening test is now sufficient</a:t>
            </a:r>
            <a:endParaRPr lang="en-GB" sz="1800" noProof="0" dirty="0"/>
          </a:p>
        </p:txBody>
      </p:sp>
      <p:sp>
        <p:nvSpPr>
          <p:cNvPr id="18" name="Text 16"/>
          <p:cNvSpPr txBox="1"/>
          <p:nvPr/>
        </p:nvSpPr>
        <p:spPr>
          <a:xfrm>
            <a:off x="731520" y="5362956"/>
            <a:ext cx="10728655" cy="433426"/>
          </a:xfrm>
          <a:prstGeom prst="rect">
            <a:avLst/>
          </a:prstGeom>
          <a:noFill/>
          <a:ln/>
        </p:spPr>
        <p:txBody>
          <a:bodyPr wrap="square" lIns="0" tIns="0" rIns="0" bIns="0" rtlCol="0" anchor="t"/>
          <a:lstStyle/>
          <a:p>
            <a:pPr marL="0" indent="0">
              <a:lnSpc>
                <a:spcPct val="92000"/>
              </a:lnSpc>
              <a:buNone/>
            </a:pPr>
            <a:r>
              <a:rPr lang="en-GB" sz="1350" b="1" noProof="0" dirty="0">
                <a:solidFill>
                  <a:srgbClr val="1B6E4A"/>
                </a:solidFill>
                <a:latin typeface="Calibri" pitchFamily="34" charset="0"/>
                <a:ea typeface="Calibri" pitchFamily="34" charset="-122"/>
                <a:cs typeface="Calibri" pitchFamily="34" charset="-120"/>
              </a:rPr>
              <a:t>Correct: B. </a:t>
            </a:r>
            <a:r>
              <a:rPr lang="en-GB" sz="1350" noProof="0" dirty="0">
                <a:solidFill>
                  <a:srgbClr val="0B1F3F"/>
                </a:solidFill>
                <a:latin typeface="Calibri" pitchFamily="34" charset="0"/>
                <a:ea typeface="Calibri" pitchFamily="34" charset="-122"/>
                <a:cs typeface="Calibri" pitchFamily="34" charset="-120"/>
              </a:rPr>
              <a:t>Not every breast cancer is palpable, particularly in dense breast tissue. Record the normal examination and continue the assessment.</a:t>
            </a:r>
            <a:endParaRPr lang="en-GB" sz="1350" noProof="0" dirty="0"/>
          </a:p>
        </p:txBody>
      </p:sp>
    </p:spTree>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name="Slide 10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en-GB" sz="1100" b="1" kern="0" spc="100" noProof="0" dirty="0">
                <a:solidFill>
                  <a:srgbClr val="5B7699"/>
                </a:solidFill>
                <a:latin typeface="Calibri" pitchFamily="34" charset="0"/>
                <a:ea typeface="Calibri" pitchFamily="34" charset="-122"/>
                <a:cs typeface="Calibri" pitchFamily="34" charset="-120"/>
              </a:rPr>
              <a:t>S E S S I O N   4</a:t>
            </a:r>
            <a:endParaRPr lang="en-GB"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en-GB" sz="1000" noProof="0" dirty="0">
                <a:solidFill>
                  <a:srgbClr val="5B7699"/>
                </a:solidFill>
                <a:latin typeface="Calibri" pitchFamily="34" charset="0"/>
                <a:ea typeface="Calibri" pitchFamily="34" charset="-122"/>
                <a:cs typeface="Calibri" pitchFamily="34" charset="-120"/>
              </a:rPr>
              <a:t>Breast Cancer  |  Frontline HCP  |  Rwanda Biomedical Centre</a:t>
            </a:r>
            <a:endParaRPr lang="en-GB"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en-GB" sz="3000" b="1" noProof="0" dirty="0">
                <a:solidFill>
                  <a:srgbClr val="12315B"/>
                </a:solidFill>
                <a:latin typeface="Calibri" pitchFamily="34" charset="0"/>
                <a:ea typeface="Calibri" pitchFamily="34" charset="-122"/>
                <a:cs typeface="Calibri" pitchFamily="34" charset="-120"/>
              </a:rPr>
              <a:t>Knowledge check (2 of 3)</a:t>
            </a:r>
            <a:endParaRPr lang="en-GB" sz="3000" noProof="0" dirty="0"/>
          </a:p>
        </p:txBody>
      </p:sp>
      <p:sp>
        <p:nvSpPr>
          <p:cNvPr id="5" name="Shape 3"/>
          <p:cNvSpPr/>
          <p:nvPr/>
        </p:nvSpPr>
        <p:spPr>
          <a:xfrm>
            <a:off x="548640" y="1738274"/>
            <a:ext cx="11094415" cy="2088490"/>
          </a:xfrm>
          <a:prstGeom prst="roundRect">
            <a:avLst>
              <a:gd name="adj" fmla="val 2627"/>
            </a:avLst>
          </a:prstGeom>
          <a:solidFill>
            <a:srgbClr val="F4F8FC"/>
          </a:solidFill>
          <a:ln w="12700">
            <a:solidFill>
              <a:srgbClr val="C8D8EC"/>
            </a:solidFill>
            <a:prstDash val="solid"/>
          </a:ln>
        </p:spPr>
        <p:txBody>
          <a:bodyPr/>
          <a:lstStyle/>
          <a:p>
            <a:endParaRPr lang="en-GB" noProof="0" dirty="0"/>
          </a:p>
        </p:txBody>
      </p:sp>
      <p:sp>
        <p:nvSpPr>
          <p:cNvPr id="6" name="Text 4"/>
          <p:cNvSpPr txBox="1"/>
          <p:nvPr/>
        </p:nvSpPr>
        <p:spPr>
          <a:xfrm>
            <a:off x="731520" y="1848002"/>
            <a:ext cx="10728655" cy="384048"/>
          </a:xfrm>
          <a:prstGeom prst="rect">
            <a:avLst/>
          </a:prstGeom>
          <a:noFill/>
          <a:ln/>
        </p:spPr>
        <p:txBody>
          <a:bodyPr wrap="square" lIns="0" tIns="0" rIns="0" bIns="0" rtlCol="0" anchor="t"/>
          <a:lstStyle/>
          <a:p>
            <a:pPr marL="0" indent="0">
              <a:buNone/>
            </a:pPr>
            <a:r>
              <a:rPr lang="en-GB" sz="1800" b="1" noProof="0" dirty="0">
                <a:solidFill>
                  <a:srgbClr val="12315B"/>
                </a:solidFill>
                <a:latin typeface="Calibri" pitchFamily="34" charset="0"/>
                <a:ea typeface="Calibri" pitchFamily="34" charset="-122"/>
                <a:cs typeface="Calibri" pitchFamily="34" charset="-120"/>
              </a:rPr>
              <a:t>Q3. A tumour is reported as ER positive and HER2 negative. This means:</a:t>
            </a:r>
            <a:endParaRPr lang="en-GB" sz="1800" noProof="0" dirty="0"/>
          </a:p>
        </p:txBody>
      </p:sp>
      <p:sp>
        <p:nvSpPr>
          <p:cNvPr id="7" name="Text 5"/>
          <p:cNvSpPr txBox="1"/>
          <p:nvPr/>
        </p:nvSpPr>
        <p:spPr>
          <a:xfrm>
            <a:off x="731520" y="2268626"/>
            <a:ext cx="5250028" cy="566928"/>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A. </a:t>
            </a:r>
            <a:r>
              <a:rPr lang="en-GB" sz="1800" noProof="0" dirty="0">
                <a:solidFill>
                  <a:srgbClr val="1F3A63"/>
                </a:solidFill>
                <a:latin typeface="Calibri" pitchFamily="34" charset="0"/>
                <a:ea typeface="Calibri" pitchFamily="34" charset="-122"/>
                <a:cs typeface="Calibri" pitchFamily="34" charset="-120"/>
              </a:rPr>
              <a:t>The cancer has spread to lymph nodes</a:t>
            </a:r>
            <a:endParaRPr lang="en-GB" sz="1800" noProof="0" dirty="0"/>
          </a:p>
        </p:txBody>
      </p:sp>
      <p:sp>
        <p:nvSpPr>
          <p:cNvPr id="8" name="Text 6"/>
          <p:cNvSpPr txBox="1"/>
          <p:nvPr/>
        </p:nvSpPr>
        <p:spPr>
          <a:xfrm>
            <a:off x="6210148" y="2268626"/>
            <a:ext cx="5250028" cy="566928"/>
          </a:xfrm>
          <a:prstGeom prst="rect">
            <a:avLst/>
          </a:prstGeom>
          <a:noFill/>
          <a:ln/>
        </p:spPr>
        <p:txBody>
          <a:bodyPr wrap="square" lIns="0" tIns="0" rIns="0" bIns="0" rtlCol="0" anchor="t"/>
          <a:lstStyle/>
          <a:p>
            <a:pPr marL="0" indent="0">
              <a:lnSpc>
                <a:spcPct val="90000"/>
              </a:lnSpc>
              <a:buNone/>
            </a:pPr>
            <a:r>
              <a:rPr lang="en-GB" sz="1800" b="1" noProof="0" dirty="0">
                <a:solidFill>
                  <a:srgbClr val="1B6E4A"/>
                </a:solidFill>
                <a:latin typeface="Calibri" pitchFamily="34" charset="0"/>
                <a:ea typeface="Calibri" pitchFamily="34" charset="-122"/>
                <a:cs typeface="Calibri" pitchFamily="34" charset="-120"/>
              </a:rPr>
              <a:t>B. Endocrine therapy is likely to be part of the treatment plan</a:t>
            </a:r>
            <a:endParaRPr lang="en-GB" sz="1800" noProof="0" dirty="0"/>
          </a:p>
        </p:txBody>
      </p:sp>
      <p:sp>
        <p:nvSpPr>
          <p:cNvPr id="9" name="Text 7"/>
          <p:cNvSpPr txBox="1"/>
          <p:nvPr/>
        </p:nvSpPr>
        <p:spPr>
          <a:xfrm>
            <a:off x="731520" y="2890418"/>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C. </a:t>
            </a:r>
            <a:r>
              <a:rPr lang="en-GB" sz="1800" noProof="0" dirty="0">
                <a:solidFill>
                  <a:srgbClr val="1F3A63"/>
                </a:solidFill>
                <a:latin typeface="Calibri" pitchFamily="34" charset="0"/>
                <a:ea typeface="Calibri" pitchFamily="34" charset="-122"/>
                <a:cs typeface="Calibri" pitchFamily="34" charset="-120"/>
              </a:rPr>
              <a:t>HER2-directed therapy will definitely be given</a:t>
            </a:r>
            <a:endParaRPr lang="en-GB" sz="1800" noProof="0" dirty="0"/>
          </a:p>
        </p:txBody>
      </p:sp>
      <p:sp>
        <p:nvSpPr>
          <p:cNvPr id="10" name="Text 8"/>
          <p:cNvSpPr txBox="1"/>
          <p:nvPr/>
        </p:nvSpPr>
        <p:spPr>
          <a:xfrm>
            <a:off x="6210148" y="2890418"/>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D. </a:t>
            </a:r>
            <a:r>
              <a:rPr lang="en-GB" sz="1800" noProof="0" dirty="0">
                <a:solidFill>
                  <a:srgbClr val="1F3A63"/>
                </a:solidFill>
                <a:latin typeface="Calibri" pitchFamily="34" charset="0"/>
                <a:ea typeface="Calibri" pitchFamily="34" charset="-122"/>
                <a:cs typeface="Calibri" pitchFamily="34" charset="-120"/>
              </a:rPr>
              <a:t>Chemotherapy is never needed</a:t>
            </a:r>
            <a:endParaRPr lang="en-GB" sz="1800" noProof="0" dirty="0"/>
          </a:p>
        </p:txBody>
      </p:sp>
      <p:sp>
        <p:nvSpPr>
          <p:cNvPr id="11" name="Text 9"/>
          <p:cNvSpPr txBox="1"/>
          <p:nvPr/>
        </p:nvSpPr>
        <p:spPr>
          <a:xfrm>
            <a:off x="731520" y="3320186"/>
            <a:ext cx="10728655" cy="433426"/>
          </a:xfrm>
          <a:prstGeom prst="rect">
            <a:avLst/>
          </a:prstGeom>
          <a:noFill/>
          <a:ln/>
        </p:spPr>
        <p:txBody>
          <a:bodyPr wrap="square" lIns="0" tIns="0" rIns="0" bIns="0" rtlCol="0" anchor="t"/>
          <a:lstStyle/>
          <a:p>
            <a:pPr marL="0" indent="0">
              <a:lnSpc>
                <a:spcPct val="92000"/>
              </a:lnSpc>
              <a:buNone/>
            </a:pPr>
            <a:r>
              <a:rPr lang="en-GB" sz="1350" b="1" noProof="0" dirty="0">
                <a:solidFill>
                  <a:srgbClr val="1B6E4A"/>
                </a:solidFill>
                <a:latin typeface="Calibri" pitchFamily="34" charset="0"/>
                <a:ea typeface="Calibri" pitchFamily="34" charset="-122"/>
                <a:cs typeface="Calibri" pitchFamily="34" charset="-120"/>
              </a:rPr>
              <a:t>Correct: B. </a:t>
            </a:r>
            <a:r>
              <a:rPr lang="en-GB" sz="1350" noProof="0" dirty="0">
                <a:solidFill>
                  <a:srgbClr val="0B1F3F"/>
                </a:solidFill>
                <a:latin typeface="Calibri" pitchFamily="34" charset="0"/>
                <a:ea typeface="Calibri" pitchFamily="34" charset="-122"/>
                <a:cs typeface="Calibri" pitchFamily="34" charset="-120"/>
              </a:rPr>
              <a:t>ER positivity indicates that the tumour is likely to respond to endocrine therapy. HER2 negative means HER2-directed therapy is not indicated. Neither result describes the stage, and chemotherapy may still be part of the plan depending on other factors.</a:t>
            </a:r>
            <a:endParaRPr lang="en-GB" sz="1350" noProof="0" dirty="0"/>
          </a:p>
        </p:txBody>
      </p:sp>
      <p:sp>
        <p:nvSpPr>
          <p:cNvPr id="12" name="Shape 10"/>
          <p:cNvSpPr/>
          <p:nvPr/>
        </p:nvSpPr>
        <p:spPr>
          <a:xfrm>
            <a:off x="548640" y="4027932"/>
            <a:ext cx="11094415" cy="1841602"/>
          </a:xfrm>
          <a:prstGeom prst="roundRect">
            <a:avLst>
              <a:gd name="adj" fmla="val 2979"/>
            </a:avLst>
          </a:prstGeom>
          <a:solidFill>
            <a:srgbClr val="F4F8FC"/>
          </a:solidFill>
          <a:ln w="12700">
            <a:solidFill>
              <a:srgbClr val="C8D8EC"/>
            </a:solidFill>
            <a:prstDash val="solid"/>
          </a:ln>
        </p:spPr>
        <p:txBody>
          <a:bodyPr/>
          <a:lstStyle/>
          <a:p>
            <a:endParaRPr lang="en-GB" noProof="0" dirty="0"/>
          </a:p>
        </p:txBody>
      </p:sp>
      <p:sp>
        <p:nvSpPr>
          <p:cNvPr id="13" name="Text 11"/>
          <p:cNvSpPr txBox="1"/>
          <p:nvPr/>
        </p:nvSpPr>
        <p:spPr>
          <a:xfrm>
            <a:off x="731520" y="4137660"/>
            <a:ext cx="10728655" cy="384048"/>
          </a:xfrm>
          <a:prstGeom prst="rect">
            <a:avLst/>
          </a:prstGeom>
          <a:noFill/>
          <a:ln/>
        </p:spPr>
        <p:txBody>
          <a:bodyPr wrap="square" lIns="0" tIns="0" rIns="0" bIns="0" rtlCol="0" anchor="t"/>
          <a:lstStyle/>
          <a:p>
            <a:pPr marL="0" indent="0">
              <a:buNone/>
            </a:pPr>
            <a:r>
              <a:rPr lang="en-GB" sz="1800" b="1" noProof="0" dirty="0">
                <a:solidFill>
                  <a:srgbClr val="12315B"/>
                </a:solidFill>
                <a:latin typeface="Calibri" pitchFamily="34" charset="0"/>
                <a:ea typeface="Calibri" pitchFamily="34" charset="-122"/>
                <a:cs typeface="Calibri" pitchFamily="34" charset="-120"/>
              </a:rPr>
              <a:t>Q4. Endocrine therapy differs from radiotherapy because it:</a:t>
            </a:r>
            <a:endParaRPr lang="en-GB" sz="1800" noProof="0" dirty="0"/>
          </a:p>
        </p:txBody>
      </p:sp>
      <p:sp>
        <p:nvSpPr>
          <p:cNvPr id="14" name="Text 12"/>
          <p:cNvSpPr txBox="1"/>
          <p:nvPr/>
        </p:nvSpPr>
        <p:spPr>
          <a:xfrm>
            <a:off x="731520" y="4558284"/>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A. </a:t>
            </a:r>
            <a:r>
              <a:rPr lang="en-GB" sz="1800" noProof="0" dirty="0">
                <a:solidFill>
                  <a:srgbClr val="1F3A63"/>
                </a:solidFill>
                <a:latin typeface="Calibri" pitchFamily="34" charset="0"/>
                <a:ea typeface="Calibri" pitchFamily="34" charset="-122"/>
                <a:cs typeface="Calibri" pitchFamily="34" charset="-120"/>
              </a:rPr>
              <a:t>Acts only where it is aimed</a:t>
            </a:r>
            <a:endParaRPr lang="en-GB" sz="1800" noProof="0" dirty="0"/>
          </a:p>
        </p:txBody>
      </p:sp>
      <p:sp>
        <p:nvSpPr>
          <p:cNvPr id="15" name="Text 13"/>
          <p:cNvSpPr txBox="1"/>
          <p:nvPr/>
        </p:nvSpPr>
        <p:spPr>
          <a:xfrm>
            <a:off x="6210148" y="4558284"/>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1B6E4A"/>
                </a:solidFill>
                <a:latin typeface="Calibri" pitchFamily="34" charset="0"/>
                <a:ea typeface="Calibri" pitchFamily="34" charset="-122"/>
                <a:cs typeface="Calibri" pitchFamily="34" charset="-120"/>
              </a:rPr>
              <a:t>B. Acts throughout the body</a:t>
            </a:r>
            <a:endParaRPr lang="en-GB" sz="1800" noProof="0" dirty="0"/>
          </a:p>
        </p:txBody>
      </p:sp>
      <p:sp>
        <p:nvSpPr>
          <p:cNvPr id="16" name="Text 14"/>
          <p:cNvSpPr txBox="1"/>
          <p:nvPr/>
        </p:nvSpPr>
        <p:spPr>
          <a:xfrm>
            <a:off x="731520" y="4933188"/>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C. </a:t>
            </a:r>
            <a:r>
              <a:rPr lang="en-GB" sz="1800" noProof="0" dirty="0">
                <a:solidFill>
                  <a:srgbClr val="1F3A63"/>
                </a:solidFill>
                <a:latin typeface="Calibri" pitchFamily="34" charset="0"/>
                <a:ea typeface="Calibri" pitchFamily="34" charset="-122"/>
                <a:cs typeface="Calibri" pitchFamily="34" charset="-120"/>
              </a:rPr>
              <a:t>Requires no monitoring</a:t>
            </a:r>
            <a:endParaRPr lang="en-GB" sz="1800" noProof="0" dirty="0"/>
          </a:p>
        </p:txBody>
      </p:sp>
      <p:sp>
        <p:nvSpPr>
          <p:cNvPr id="17" name="Text 15"/>
          <p:cNvSpPr txBox="1"/>
          <p:nvPr/>
        </p:nvSpPr>
        <p:spPr>
          <a:xfrm>
            <a:off x="6210148" y="4933188"/>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D. </a:t>
            </a:r>
            <a:r>
              <a:rPr lang="en-GB" sz="1800" noProof="0" dirty="0">
                <a:solidFill>
                  <a:srgbClr val="1F3A63"/>
                </a:solidFill>
                <a:latin typeface="Calibri" pitchFamily="34" charset="0"/>
                <a:ea typeface="Calibri" pitchFamily="34" charset="-122"/>
                <a:cs typeface="Calibri" pitchFamily="34" charset="-120"/>
              </a:rPr>
              <a:t>Is always given first</a:t>
            </a:r>
            <a:endParaRPr lang="en-GB" sz="1800" noProof="0" dirty="0"/>
          </a:p>
        </p:txBody>
      </p:sp>
      <p:sp>
        <p:nvSpPr>
          <p:cNvPr id="18" name="Text 16"/>
          <p:cNvSpPr txBox="1"/>
          <p:nvPr/>
        </p:nvSpPr>
        <p:spPr>
          <a:xfrm>
            <a:off x="731520" y="5362956"/>
            <a:ext cx="10728655" cy="433426"/>
          </a:xfrm>
          <a:prstGeom prst="rect">
            <a:avLst/>
          </a:prstGeom>
          <a:noFill/>
          <a:ln/>
        </p:spPr>
        <p:txBody>
          <a:bodyPr wrap="square" lIns="0" tIns="0" rIns="0" bIns="0" rtlCol="0" anchor="t"/>
          <a:lstStyle/>
          <a:p>
            <a:pPr marL="0" indent="0">
              <a:lnSpc>
                <a:spcPct val="92000"/>
              </a:lnSpc>
              <a:buNone/>
            </a:pPr>
            <a:r>
              <a:rPr lang="en-GB" sz="1350" b="1" noProof="0" dirty="0">
                <a:solidFill>
                  <a:srgbClr val="1B6E4A"/>
                </a:solidFill>
                <a:latin typeface="Calibri" pitchFamily="34" charset="0"/>
                <a:ea typeface="Calibri" pitchFamily="34" charset="-122"/>
                <a:cs typeface="Calibri" pitchFamily="34" charset="-120"/>
              </a:rPr>
              <a:t>Correct: B. </a:t>
            </a:r>
            <a:r>
              <a:rPr lang="en-GB" sz="1350" noProof="0" dirty="0">
                <a:solidFill>
                  <a:srgbClr val="0B1F3F"/>
                </a:solidFill>
                <a:latin typeface="Calibri" pitchFamily="34" charset="0"/>
                <a:ea typeface="Calibri" pitchFamily="34" charset="-122"/>
                <a:cs typeface="Calibri" pitchFamily="34" charset="-120"/>
              </a:rPr>
              <a:t>Endocrine therapy is systemic and is usually taken for several years. Radiotherapy is local or locoregional and acts only in the treated area.</a:t>
            </a:r>
            <a:endParaRPr lang="en-GB" sz="1350" noProof="0" dirty="0"/>
          </a:p>
        </p:txBody>
      </p:sp>
    </p:spTree>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name="Slide 10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en-GB" sz="1100" b="1" kern="0" spc="100" noProof="0" dirty="0">
                <a:solidFill>
                  <a:srgbClr val="5B7699"/>
                </a:solidFill>
                <a:latin typeface="Calibri" pitchFamily="34" charset="0"/>
                <a:ea typeface="Calibri" pitchFamily="34" charset="-122"/>
                <a:cs typeface="Calibri" pitchFamily="34" charset="-120"/>
              </a:rPr>
              <a:t>S E S S I O N   4</a:t>
            </a:r>
            <a:endParaRPr lang="en-GB"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en-GB" sz="1000" noProof="0" dirty="0">
                <a:solidFill>
                  <a:srgbClr val="5B7699"/>
                </a:solidFill>
                <a:latin typeface="Calibri" pitchFamily="34" charset="0"/>
                <a:ea typeface="Calibri" pitchFamily="34" charset="-122"/>
                <a:cs typeface="Calibri" pitchFamily="34" charset="-120"/>
              </a:rPr>
              <a:t>Breast Cancer  |  Frontline HCP  |  Rwanda Biomedical Centre</a:t>
            </a:r>
            <a:endParaRPr lang="en-GB"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en-GB" sz="3000" b="1" noProof="0" dirty="0">
                <a:solidFill>
                  <a:srgbClr val="12315B"/>
                </a:solidFill>
                <a:latin typeface="Calibri" pitchFamily="34" charset="0"/>
                <a:ea typeface="Calibri" pitchFamily="34" charset="-122"/>
                <a:cs typeface="Calibri" pitchFamily="34" charset="-120"/>
              </a:rPr>
              <a:t>Knowledge check (3 of 3)</a:t>
            </a:r>
            <a:endParaRPr lang="en-GB" sz="3000" noProof="0" dirty="0"/>
          </a:p>
        </p:txBody>
      </p:sp>
      <p:sp>
        <p:nvSpPr>
          <p:cNvPr id="5" name="Shape 3"/>
          <p:cNvSpPr/>
          <p:nvPr/>
        </p:nvSpPr>
        <p:spPr>
          <a:xfrm>
            <a:off x="548640" y="1738274"/>
            <a:ext cx="11094415" cy="2088490"/>
          </a:xfrm>
          <a:prstGeom prst="roundRect">
            <a:avLst>
              <a:gd name="adj" fmla="val 2627"/>
            </a:avLst>
          </a:prstGeom>
          <a:solidFill>
            <a:srgbClr val="F4F8FC"/>
          </a:solidFill>
          <a:ln w="12700">
            <a:solidFill>
              <a:srgbClr val="C8D8EC"/>
            </a:solidFill>
            <a:prstDash val="solid"/>
          </a:ln>
        </p:spPr>
        <p:txBody>
          <a:bodyPr/>
          <a:lstStyle/>
          <a:p>
            <a:endParaRPr lang="en-GB" noProof="0" dirty="0"/>
          </a:p>
        </p:txBody>
      </p:sp>
      <p:sp>
        <p:nvSpPr>
          <p:cNvPr id="6" name="Text 4"/>
          <p:cNvSpPr txBox="1"/>
          <p:nvPr/>
        </p:nvSpPr>
        <p:spPr>
          <a:xfrm>
            <a:off x="731520" y="1848002"/>
            <a:ext cx="10728655" cy="384048"/>
          </a:xfrm>
          <a:prstGeom prst="rect">
            <a:avLst/>
          </a:prstGeom>
          <a:noFill/>
          <a:ln/>
        </p:spPr>
        <p:txBody>
          <a:bodyPr wrap="square" lIns="0" tIns="0" rIns="0" bIns="0" rtlCol="0" anchor="t"/>
          <a:lstStyle/>
          <a:p>
            <a:pPr marL="0" indent="0">
              <a:buNone/>
            </a:pPr>
            <a:r>
              <a:rPr lang="en-GB" sz="1800" b="1" noProof="0" dirty="0">
                <a:solidFill>
                  <a:srgbClr val="12315B"/>
                </a:solidFill>
                <a:latin typeface="Calibri" pitchFamily="34" charset="0"/>
                <a:ea typeface="Calibri" pitchFamily="34" charset="-122"/>
                <a:cs typeface="Calibri" pitchFamily="34" charset="-120"/>
              </a:rPr>
              <a:t>Q5. A patient is frightened that surgery will mean losing her breast. The accurate response is:</a:t>
            </a:r>
            <a:endParaRPr lang="en-GB" sz="1800" noProof="0" dirty="0"/>
          </a:p>
        </p:txBody>
      </p:sp>
      <p:sp>
        <p:nvSpPr>
          <p:cNvPr id="7" name="Text 5"/>
          <p:cNvSpPr txBox="1"/>
          <p:nvPr/>
        </p:nvSpPr>
        <p:spPr>
          <a:xfrm>
            <a:off x="731520" y="2268626"/>
            <a:ext cx="5250028" cy="566928"/>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A. </a:t>
            </a:r>
            <a:r>
              <a:rPr lang="en-GB" sz="1800" noProof="0" dirty="0">
                <a:solidFill>
                  <a:srgbClr val="1F3A63"/>
                </a:solidFill>
                <a:latin typeface="Calibri" pitchFamily="34" charset="0"/>
                <a:ea typeface="Calibri" pitchFamily="34" charset="-122"/>
                <a:cs typeface="Calibri" pitchFamily="34" charset="-120"/>
              </a:rPr>
              <a:t>Everyone with breast cancer has the breast removed</a:t>
            </a:r>
            <a:endParaRPr lang="en-GB" sz="1800" noProof="0" dirty="0"/>
          </a:p>
        </p:txBody>
      </p:sp>
      <p:sp>
        <p:nvSpPr>
          <p:cNvPr id="8" name="Text 6"/>
          <p:cNvSpPr txBox="1"/>
          <p:nvPr/>
        </p:nvSpPr>
        <p:spPr>
          <a:xfrm>
            <a:off x="6210148" y="2268626"/>
            <a:ext cx="5250028" cy="566928"/>
          </a:xfrm>
          <a:prstGeom prst="rect">
            <a:avLst/>
          </a:prstGeom>
          <a:noFill/>
          <a:ln/>
        </p:spPr>
        <p:txBody>
          <a:bodyPr wrap="square" lIns="0" tIns="0" rIns="0" bIns="0" rtlCol="0" anchor="t"/>
          <a:lstStyle/>
          <a:p>
            <a:pPr marL="0" indent="0">
              <a:lnSpc>
                <a:spcPct val="90000"/>
              </a:lnSpc>
              <a:buNone/>
            </a:pPr>
            <a:r>
              <a:rPr lang="en-GB" sz="1800" b="1" noProof="0" dirty="0">
                <a:solidFill>
                  <a:srgbClr val="1B6E4A"/>
                </a:solidFill>
                <a:latin typeface="Calibri" pitchFamily="34" charset="0"/>
                <a:ea typeface="Calibri" pitchFamily="34" charset="-122"/>
                <a:cs typeface="Calibri" pitchFamily="34" charset="-120"/>
              </a:rPr>
              <a:t>B. Breast conserving surgery is possible for many patients, and the choice depends on the situation</a:t>
            </a:r>
            <a:endParaRPr lang="en-GB" sz="1800" noProof="0" dirty="0"/>
          </a:p>
        </p:txBody>
      </p:sp>
      <p:sp>
        <p:nvSpPr>
          <p:cNvPr id="9" name="Text 7"/>
          <p:cNvSpPr txBox="1"/>
          <p:nvPr/>
        </p:nvSpPr>
        <p:spPr>
          <a:xfrm>
            <a:off x="731520" y="2890418"/>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C. </a:t>
            </a:r>
            <a:r>
              <a:rPr lang="en-GB" sz="1800" noProof="0" dirty="0">
                <a:solidFill>
                  <a:srgbClr val="1F3A63"/>
                </a:solidFill>
                <a:latin typeface="Calibri" pitchFamily="34" charset="0"/>
                <a:ea typeface="Calibri" pitchFamily="34" charset="-122"/>
                <a:cs typeface="Calibri" pitchFamily="34" charset="-120"/>
              </a:rPr>
              <a:t>Nobody needs a mastectomy nowadays</a:t>
            </a:r>
            <a:endParaRPr lang="en-GB" sz="1800" noProof="0" dirty="0"/>
          </a:p>
        </p:txBody>
      </p:sp>
      <p:sp>
        <p:nvSpPr>
          <p:cNvPr id="10" name="Text 8"/>
          <p:cNvSpPr txBox="1"/>
          <p:nvPr/>
        </p:nvSpPr>
        <p:spPr>
          <a:xfrm>
            <a:off x="6210148" y="2890418"/>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D. </a:t>
            </a:r>
            <a:r>
              <a:rPr lang="en-GB" sz="1800" noProof="0" dirty="0">
                <a:solidFill>
                  <a:srgbClr val="1F3A63"/>
                </a:solidFill>
                <a:latin typeface="Calibri" pitchFamily="34" charset="0"/>
                <a:ea typeface="Calibri" pitchFamily="34" charset="-122"/>
                <a:cs typeface="Calibri" pitchFamily="34" charset="-120"/>
              </a:rPr>
              <a:t>The surgeon decides without any discussion</a:t>
            </a:r>
            <a:endParaRPr lang="en-GB" sz="1800" noProof="0" dirty="0"/>
          </a:p>
        </p:txBody>
      </p:sp>
      <p:sp>
        <p:nvSpPr>
          <p:cNvPr id="11" name="Text 9"/>
          <p:cNvSpPr txBox="1"/>
          <p:nvPr/>
        </p:nvSpPr>
        <p:spPr>
          <a:xfrm>
            <a:off x="731520" y="3320186"/>
            <a:ext cx="10728655" cy="433426"/>
          </a:xfrm>
          <a:prstGeom prst="rect">
            <a:avLst/>
          </a:prstGeom>
          <a:noFill/>
          <a:ln/>
        </p:spPr>
        <p:txBody>
          <a:bodyPr wrap="square" lIns="0" tIns="0" rIns="0" bIns="0" rtlCol="0" anchor="t"/>
          <a:lstStyle/>
          <a:p>
            <a:pPr marL="0" indent="0">
              <a:lnSpc>
                <a:spcPct val="92000"/>
              </a:lnSpc>
              <a:buNone/>
            </a:pPr>
            <a:r>
              <a:rPr lang="en-GB" sz="1350" b="1" noProof="0" dirty="0">
                <a:solidFill>
                  <a:srgbClr val="1B6E4A"/>
                </a:solidFill>
                <a:latin typeface="Calibri" pitchFamily="34" charset="0"/>
                <a:ea typeface="Calibri" pitchFamily="34" charset="-122"/>
                <a:cs typeface="Calibri" pitchFamily="34" charset="-120"/>
              </a:rPr>
              <a:t>Correct: B. </a:t>
            </a:r>
            <a:r>
              <a:rPr lang="en-GB" sz="1350" noProof="0" dirty="0">
                <a:solidFill>
                  <a:srgbClr val="0B1F3F"/>
                </a:solidFill>
                <a:latin typeface="Calibri" pitchFamily="34" charset="0"/>
                <a:ea typeface="Calibri" pitchFamily="34" charset="-122"/>
                <a:cs typeface="Calibri" pitchFamily="34" charset="-120"/>
              </a:rPr>
              <a:t>This is one of the commonest fears and one of the commonest reasons for delay. Answer it honestly and early, without promising a particular operation.</a:t>
            </a:r>
            <a:endParaRPr lang="en-GB" sz="1350" noProof="0" dirty="0"/>
          </a:p>
        </p:txBody>
      </p:sp>
      <p:sp>
        <p:nvSpPr>
          <p:cNvPr id="12" name="Shape 10"/>
          <p:cNvSpPr/>
          <p:nvPr/>
        </p:nvSpPr>
        <p:spPr>
          <a:xfrm>
            <a:off x="548640" y="4027932"/>
            <a:ext cx="11094415" cy="1841602"/>
          </a:xfrm>
          <a:prstGeom prst="roundRect">
            <a:avLst>
              <a:gd name="adj" fmla="val 2979"/>
            </a:avLst>
          </a:prstGeom>
          <a:solidFill>
            <a:srgbClr val="F4F8FC"/>
          </a:solidFill>
          <a:ln w="12700">
            <a:solidFill>
              <a:srgbClr val="C8D8EC"/>
            </a:solidFill>
            <a:prstDash val="solid"/>
          </a:ln>
        </p:spPr>
        <p:txBody>
          <a:bodyPr/>
          <a:lstStyle/>
          <a:p>
            <a:endParaRPr lang="en-GB" noProof="0" dirty="0"/>
          </a:p>
        </p:txBody>
      </p:sp>
      <p:sp>
        <p:nvSpPr>
          <p:cNvPr id="13" name="Text 11"/>
          <p:cNvSpPr txBox="1"/>
          <p:nvPr/>
        </p:nvSpPr>
        <p:spPr>
          <a:xfrm>
            <a:off x="731520" y="4137660"/>
            <a:ext cx="10728655" cy="384048"/>
          </a:xfrm>
          <a:prstGeom prst="rect">
            <a:avLst/>
          </a:prstGeom>
          <a:noFill/>
          <a:ln/>
        </p:spPr>
        <p:txBody>
          <a:bodyPr wrap="square" lIns="0" tIns="0" rIns="0" bIns="0" rtlCol="0" anchor="t"/>
          <a:lstStyle/>
          <a:p>
            <a:pPr marL="0" indent="0">
              <a:buNone/>
            </a:pPr>
            <a:r>
              <a:rPr lang="en-GB" sz="1800" b="1" noProof="0" dirty="0">
                <a:solidFill>
                  <a:srgbClr val="12315B"/>
                </a:solidFill>
                <a:latin typeface="Calibri" pitchFamily="34" charset="0"/>
                <a:ea typeface="Calibri" pitchFamily="34" charset="-122"/>
                <a:cs typeface="Calibri" pitchFamily="34" charset="-120"/>
              </a:rPr>
              <a:t>Q6. Staging investigations in breast cancer are used mainly to:</a:t>
            </a:r>
            <a:endParaRPr lang="en-GB" sz="1800" noProof="0" dirty="0"/>
          </a:p>
        </p:txBody>
      </p:sp>
      <p:sp>
        <p:nvSpPr>
          <p:cNvPr id="14" name="Text 12"/>
          <p:cNvSpPr txBox="1"/>
          <p:nvPr/>
        </p:nvSpPr>
        <p:spPr>
          <a:xfrm>
            <a:off x="731520" y="4558284"/>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A. </a:t>
            </a:r>
            <a:r>
              <a:rPr lang="en-GB" sz="1800" noProof="0" dirty="0">
                <a:solidFill>
                  <a:srgbClr val="1F3A63"/>
                </a:solidFill>
                <a:latin typeface="Calibri" pitchFamily="34" charset="0"/>
                <a:ea typeface="Calibri" pitchFamily="34" charset="-122"/>
                <a:cs typeface="Calibri" pitchFamily="34" charset="-120"/>
              </a:rPr>
              <a:t>Confirm that cancer is present</a:t>
            </a:r>
            <a:endParaRPr lang="en-GB" sz="1800" noProof="0" dirty="0"/>
          </a:p>
        </p:txBody>
      </p:sp>
      <p:sp>
        <p:nvSpPr>
          <p:cNvPr id="15" name="Text 13"/>
          <p:cNvSpPr txBox="1"/>
          <p:nvPr/>
        </p:nvSpPr>
        <p:spPr>
          <a:xfrm>
            <a:off x="6210148" y="4558284"/>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1B6E4A"/>
                </a:solidFill>
                <a:latin typeface="Calibri" pitchFamily="34" charset="0"/>
                <a:ea typeface="Calibri" pitchFamily="34" charset="-122"/>
                <a:cs typeface="Calibri" pitchFamily="34" charset="-120"/>
              </a:rPr>
              <a:t>B. Assess the extent of disease and plan treatment</a:t>
            </a:r>
            <a:endParaRPr lang="en-GB" sz="1800" noProof="0" dirty="0"/>
          </a:p>
        </p:txBody>
      </p:sp>
      <p:sp>
        <p:nvSpPr>
          <p:cNvPr id="16" name="Text 14"/>
          <p:cNvSpPr txBox="1"/>
          <p:nvPr/>
        </p:nvSpPr>
        <p:spPr>
          <a:xfrm>
            <a:off x="731520" y="4933188"/>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C. </a:t>
            </a:r>
            <a:r>
              <a:rPr lang="en-GB" sz="1800" noProof="0" dirty="0">
                <a:solidFill>
                  <a:srgbClr val="1F3A63"/>
                </a:solidFill>
                <a:latin typeface="Calibri" pitchFamily="34" charset="0"/>
                <a:ea typeface="Calibri" pitchFamily="34" charset="-122"/>
                <a:cs typeface="Calibri" pitchFamily="34" charset="-120"/>
              </a:rPr>
              <a:t>Replace biopsy</a:t>
            </a:r>
            <a:endParaRPr lang="en-GB" sz="1800" noProof="0" dirty="0"/>
          </a:p>
        </p:txBody>
      </p:sp>
      <p:sp>
        <p:nvSpPr>
          <p:cNvPr id="17" name="Text 15"/>
          <p:cNvSpPr txBox="1"/>
          <p:nvPr/>
        </p:nvSpPr>
        <p:spPr>
          <a:xfrm>
            <a:off x="6210148" y="4933188"/>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D. </a:t>
            </a:r>
            <a:r>
              <a:rPr lang="en-GB" sz="1800" noProof="0" dirty="0">
                <a:solidFill>
                  <a:srgbClr val="1F3A63"/>
                </a:solidFill>
                <a:latin typeface="Calibri" pitchFamily="34" charset="0"/>
                <a:ea typeface="Calibri" pitchFamily="34" charset="-122"/>
                <a:cs typeface="Calibri" pitchFamily="34" charset="-120"/>
              </a:rPr>
              <a:t>Determine the tumour grade</a:t>
            </a:r>
            <a:endParaRPr lang="en-GB" sz="1800" noProof="0" dirty="0"/>
          </a:p>
        </p:txBody>
      </p:sp>
      <p:sp>
        <p:nvSpPr>
          <p:cNvPr id="18" name="Text 16"/>
          <p:cNvSpPr txBox="1"/>
          <p:nvPr/>
        </p:nvSpPr>
        <p:spPr>
          <a:xfrm>
            <a:off x="731520" y="5362956"/>
            <a:ext cx="10728655" cy="433426"/>
          </a:xfrm>
          <a:prstGeom prst="rect">
            <a:avLst/>
          </a:prstGeom>
          <a:noFill/>
          <a:ln/>
        </p:spPr>
        <p:txBody>
          <a:bodyPr wrap="square" lIns="0" tIns="0" rIns="0" bIns="0" rtlCol="0" anchor="t"/>
          <a:lstStyle/>
          <a:p>
            <a:pPr marL="0" indent="0">
              <a:lnSpc>
                <a:spcPct val="92000"/>
              </a:lnSpc>
              <a:buNone/>
            </a:pPr>
            <a:r>
              <a:rPr lang="en-GB" sz="1350" b="1" noProof="0" dirty="0">
                <a:solidFill>
                  <a:srgbClr val="1B6E4A"/>
                </a:solidFill>
                <a:latin typeface="Calibri" pitchFamily="34" charset="0"/>
                <a:ea typeface="Calibri" pitchFamily="34" charset="-122"/>
                <a:cs typeface="Calibri" pitchFamily="34" charset="-120"/>
              </a:rPr>
              <a:t>Correct: B. </a:t>
            </a:r>
            <a:r>
              <a:rPr lang="en-GB" sz="1350" noProof="0" dirty="0">
                <a:solidFill>
                  <a:srgbClr val="0B1F3F"/>
                </a:solidFill>
                <a:latin typeface="Calibri" pitchFamily="34" charset="0"/>
                <a:ea typeface="Calibri" pitchFamily="34" charset="-122"/>
                <a:cs typeface="Calibri" pitchFamily="34" charset="-120"/>
              </a:rPr>
              <a:t>Staging describes how far disease has travelled. Histopathology confirms the diagnosis and reports the grade and receptor results.</a:t>
            </a:r>
            <a:endParaRPr lang="en-GB" sz="1350" noProof="0" dirty="0"/>
          </a:p>
        </p:txBody>
      </p:sp>
    </p:spTree>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name="Slide 10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en-GB" sz="1100" b="1" kern="0" spc="100" noProof="0" dirty="0">
                <a:solidFill>
                  <a:srgbClr val="5B7699"/>
                </a:solidFill>
                <a:latin typeface="Calibri" pitchFamily="34" charset="0"/>
                <a:ea typeface="Calibri" pitchFamily="34" charset="-122"/>
                <a:cs typeface="Calibri" pitchFamily="34" charset="-120"/>
              </a:rPr>
              <a:t>S E S S I O N   4</a:t>
            </a:r>
            <a:endParaRPr lang="en-GB"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en-GB" sz="1000" noProof="0" dirty="0">
                <a:solidFill>
                  <a:srgbClr val="5B7699"/>
                </a:solidFill>
                <a:latin typeface="Calibri" pitchFamily="34" charset="0"/>
                <a:ea typeface="Calibri" pitchFamily="34" charset="-122"/>
                <a:cs typeface="Calibri" pitchFamily="34" charset="-120"/>
              </a:rPr>
              <a:t>Breast Cancer  |  Frontline HCP  |  Rwanda Biomedical Centre</a:t>
            </a:r>
            <a:endParaRPr lang="en-GB"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en-GB" sz="3000" b="1" noProof="0" dirty="0">
                <a:solidFill>
                  <a:srgbClr val="12315B"/>
                </a:solidFill>
                <a:latin typeface="Calibri" pitchFamily="34" charset="0"/>
                <a:ea typeface="Calibri" pitchFamily="34" charset="-122"/>
                <a:cs typeface="Calibri" pitchFamily="34" charset="-120"/>
              </a:rPr>
              <a:t>Session reflection</a:t>
            </a:r>
            <a:endParaRPr lang="en-GB" sz="3000" noProof="0" dirty="0"/>
          </a:p>
        </p:txBody>
      </p:sp>
      <p:sp>
        <p:nvSpPr>
          <p:cNvPr id="5" name="Text 3"/>
          <p:cNvSpPr txBox="1"/>
          <p:nvPr/>
        </p:nvSpPr>
        <p:spPr>
          <a:xfrm>
            <a:off x="548640" y="1234440"/>
            <a:ext cx="11094415" cy="411480"/>
          </a:xfrm>
          <a:prstGeom prst="rect">
            <a:avLst/>
          </a:prstGeom>
          <a:noFill/>
          <a:ln/>
        </p:spPr>
        <p:txBody>
          <a:bodyPr wrap="square" lIns="0" tIns="0" rIns="0" bIns="0" rtlCol="0" anchor="ctr"/>
          <a:lstStyle/>
          <a:p>
            <a:pPr marL="0" indent="0">
              <a:lnSpc>
                <a:spcPct val="95000"/>
              </a:lnSpc>
              <a:buNone/>
            </a:pPr>
            <a:r>
              <a:rPr lang="en-GB" sz="1500" i="1" noProof="0" dirty="0">
                <a:solidFill>
                  <a:srgbClr val="5B7699"/>
                </a:solidFill>
                <a:latin typeface="Calibri" pitchFamily="34" charset="0"/>
                <a:ea typeface="Calibri" pitchFamily="34" charset="-122"/>
                <a:cs typeface="Calibri" pitchFamily="34" charset="-120"/>
              </a:rPr>
              <a:t>Enter your response in the text box. There is no single correct answer. These prompts are not scored, and are for your own practice and for discussion.</a:t>
            </a:r>
            <a:endParaRPr lang="en-GB" sz="1500" noProof="0" dirty="0"/>
          </a:p>
        </p:txBody>
      </p:sp>
      <p:sp>
        <p:nvSpPr>
          <p:cNvPr id="6" name="Shape 4"/>
          <p:cNvSpPr/>
          <p:nvPr/>
        </p:nvSpPr>
        <p:spPr>
          <a:xfrm>
            <a:off x="548640" y="1828800"/>
            <a:ext cx="11094415" cy="1188720"/>
          </a:xfrm>
          <a:prstGeom prst="roundRect">
            <a:avLst>
              <a:gd name="adj" fmla="val 4615"/>
            </a:avLst>
          </a:prstGeom>
          <a:solidFill>
            <a:srgbClr val="F4F8FC"/>
          </a:solidFill>
          <a:ln w="12700">
            <a:solidFill>
              <a:srgbClr val="C8D8EC"/>
            </a:solidFill>
            <a:prstDash val="solid"/>
          </a:ln>
        </p:spPr>
        <p:txBody>
          <a:bodyPr/>
          <a:lstStyle/>
          <a:p>
            <a:endParaRPr lang="en-GB" noProof="0" dirty="0"/>
          </a:p>
        </p:txBody>
      </p:sp>
      <p:sp>
        <p:nvSpPr>
          <p:cNvPr id="7" name="Shape 5"/>
          <p:cNvSpPr/>
          <p:nvPr/>
        </p:nvSpPr>
        <p:spPr>
          <a:xfrm>
            <a:off x="777240" y="2203704"/>
            <a:ext cx="438912" cy="438912"/>
          </a:xfrm>
          <a:prstGeom prst="ellipse">
            <a:avLst/>
          </a:prstGeom>
          <a:solidFill>
            <a:srgbClr val="12315B"/>
          </a:solidFill>
          <a:ln/>
        </p:spPr>
        <p:txBody>
          <a:bodyPr/>
          <a:lstStyle/>
          <a:p>
            <a:endParaRPr lang="en-GB" noProof="0" dirty="0"/>
          </a:p>
        </p:txBody>
      </p:sp>
      <p:sp>
        <p:nvSpPr>
          <p:cNvPr id="8" name="Text 6"/>
          <p:cNvSpPr txBox="1"/>
          <p:nvPr/>
        </p:nvSpPr>
        <p:spPr>
          <a:xfrm>
            <a:off x="777240" y="2203704"/>
            <a:ext cx="438912" cy="438912"/>
          </a:xfrm>
          <a:prstGeom prst="rect">
            <a:avLst/>
          </a:prstGeom>
          <a:noFill/>
          <a:ln/>
        </p:spPr>
        <p:txBody>
          <a:bodyPr wrap="square" lIns="0" tIns="0" rIns="0" bIns="0" rtlCol="0" anchor="ctr"/>
          <a:lstStyle/>
          <a:p>
            <a:pPr marL="0" indent="0" algn="ctr">
              <a:buNone/>
            </a:pPr>
            <a:r>
              <a:rPr lang="en-GB" sz="1800" b="1" noProof="0" dirty="0">
                <a:solidFill>
                  <a:srgbClr val="FFFFFF"/>
                </a:solidFill>
                <a:latin typeface="Calibri" pitchFamily="34" charset="0"/>
                <a:ea typeface="Calibri" pitchFamily="34" charset="-122"/>
                <a:cs typeface="Calibri" pitchFamily="34" charset="-120"/>
              </a:rPr>
              <a:t>1</a:t>
            </a:r>
            <a:endParaRPr lang="en-GB" sz="1800" noProof="0" dirty="0"/>
          </a:p>
        </p:txBody>
      </p:sp>
      <p:sp>
        <p:nvSpPr>
          <p:cNvPr id="9" name="Text 7"/>
          <p:cNvSpPr txBox="1"/>
          <p:nvPr/>
        </p:nvSpPr>
        <p:spPr>
          <a:xfrm>
            <a:off x="1417320" y="1938528"/>
            <a:ext cx="9997135" cy="969264"/>
          </a:xfrm>
          <a:prstGeom prst="rect">
            <a:avLst/>
          </a:prstGeom>
          <a:noFill/>
          <a:ln/>
        </p:spPr>
        <p:txBody>
          <a:bodyPr wrap="square" lIns="0" tIns="0" rIns="0" bIns="0" rtlCol="0" anchor="ctr"/>
          <a:lstStyle/>
          <a:p>
            <a:pPr marL="0" indent="0">
              <a:lnSpc>
                <a:spcPct val="95000"/>
              </a:lnSpc>
              <a:buNone/>
            </a:pPr>
            <a:r>
              <a:rPr lang="en-GB" sz="1800" noProof="0" dirty="0">
                <a:solidFill>
                  <a:srgbClr val="0B1F3F"/>
                </a:solidFill>
                <a:latin typeface="Calibri" pitchFamily="34" charset="0"/>
                <a:ea typeface="Calibri" pitchFamily="34" charset="-122"/>
                <a:cs typeface="Calibri" pitchFamily="34" charset="-120"/>
              </a:rPr>
              <a:t>How would you explain a core needle biopsy, in plain terms, to someone who has never heard of one and is afraid of it?</a:t>
            </a:r>
            <a:endParaRPr lang="en-GB" sz="1800" noProof="0" dirty="0"/>
          </a:p>
        </p:txBody>
      </p:sp>
      <p:sp>
        <p:nvSpPr>
          <p:cNvPr id="10" name="Shape 8"/>
          <p:cNvSpPr/>
          <p:nvPr/>
        </p:nvSpPr>
        <p:spPr>
          <a:xfrm>
            <a:off x="548640" y="3218688"/>
            <a:ext cx="11094415" cy="1188720"/>
          </a:xfrm>
          <a:prstGeom prst="roundRect">
            <a:avLst>
              <a:gd name="adj" fmla="val 4615"/>
            </a:avLst>
          </a:prstGeom>
          <a:solidFill>
            <a:srgbClr val="F4F8FC"/>
          </a:solidFill>
          <a:ln w="12700">
            <a:solidFill>
              <a:srgbClr val="C8D8EC"/>
            </a:solidFill>
            <a:prstDash val="solid"/>
          </a:ln>
        </p:spPr>
        <p:txBody>
          <a:bodyPr/>
          <a:lstStyle/>
          <a:p>
            <a:endParaRPr lang="en-GB" noProof="0" dirty="0"/>
          </a:p>
        </p:txBody>
      </p:sp>
      <p:sp>
        <p:nvSpPr>
          <p:cNvPr id="11" name="Shape 9"/>
          <p:cNvSpPr/>
          <p:nvPr/>
        </p:nvSpPr>
        <p:spPr>
          <a:xfrm>
            <a:off x="777240" y="3593592"/>
            <a:ext cx="438912" cy="438912"/>
          </a:xfrm>
          <a:prstGeom prst="ellipse">
            <a:avLst/>
          </a:prstGeom>
          <a:solidFill>
            <a:srgbClr val="12315B"/>
          </a:solidFill>
          <a:ln/>
        </p:spPr>
        <p:txBody>
          <a:bodyPr/>
          <a:lstStyle/>
          <a:p>
            <a:endParaRPr lang="en-GB" noProof="0" dirty="0"/>
          </a:p>
        </p:txBody>
      </p:sp>
      <p:sp>
        <p:nvSpPr>
          <p:cNvPr id="12" name="Text 10"/>
          <p:cNvSpPr txBox="1"/>
          <p:nvPr/>
        </p:nvSpPr>
        <p:spPr>
          <a:xfrm>
            <a:off x="777240" y="3593592"/>
            <a:ext cx="438912" cy="438912"/>
          </a:xfrm>
          <a:prstGeom prst="rect">
            <a:avLst/>
          </a:prstGeom>
          <a:noFill/>
          <a:ln/>
        </p:spPr>
        <p:txBody>
          <a:bodyPr wrap="square" lIns="0" tIns="0" rIns="0" bIns="0" rtlCol="0" anchor="ctr"/>
          <a:lstStyle/>
          <a:p>
            <a:pPr marL="0" indent="0" algn="ctr">
              <a:buNone/>
            </a:pPr>
            <a:r>
              <a:rPr lang="en-GB" sz="1800" b="1" noProof="0" dirty="0">
                <a:solidFill>
                  <a:srgbClr val="FFFFFF"/>
                </a:solidFill>
                <a:latin typeface="Calibri" pitchFamily="34" charset="0"/>
                <a:ea typeface="Calibri" pitchFamily="34" charset="-122"/>
                <a:cs typeface="Calibri" pitchFamily="34" charset="-120"/>
              </a:rPr>
              <a:t>2</a:t>
            </a:r>
            <a:endParaRPr lang="en-GB" sz="1800" noProof="0" dirty="0"/>
          </a:p>
        </p:txBody>
      </p:sp>
      <p:sp>
        <p:nvSpPr>
          <p:cNvPr id="13" name="Text 11"/>
          <p:cNvSpPr txBox="1"/>
          <p:nvPr/>
        </p:nvSpPr>
        <p:spPr>
          <a:xfrm>
            <a:off x="1417320" y="3328416"/>
            <a:ext cx="9997135" cy="969264"/>
          </a:xfrm>
          <a:prstGeom prst="rect">
            <a:avLst/>
          </a:prstGeom>
          <a:noFill/>
          <a:ln/>
        </p:spPr>
        <p:txBody>
          <a:bodyPr wrap="square" lIns="0" tIns="0" rIns="0" bIns="0" rtlCol="0" anchor="ctr"/>
          <a:lstStyle/>
          <a:p>
            <a:pPr marL="0" indent="0">
              <a:lnSpc>
                <a:spcPct val="95000"/>
              </a:lnSpc>
              <a:buNone/>
            </a:pPr>
            <a:r>
              <a:rPr lang="en-GB" sz="1800" noProof="0" dirty="0">
                <a:solidFill>
                  <a:srgbClr val="0B1F3F"/>
                </a:solidFill>
                <a:latin typeface="Calibri" pitchFamily="34" charset="0"/>
                <a:ea typeface="Calibri" pitchFamily="34" charset="-122"/>
                <a:cs typeface="Calibri" pitchFamily="34" charset="-120"/>
              </a:rPr>
              <a:t>How would you describe the difference between a treatment that acts locally and one that acts throughout the body?</a:t>
            </a:r>
            <a:endParaRPr lang="en-GB" sz="1800" noProof="0" dirty="0"/>
          </a:p>
        </p:txBody>
      </p:sp>
      <p:sp>
        <p:nvSpPr>
          <p:cNvPr id="14" name="Shape 12"/>
          <p:cNvSpPr/>
          <p:nvPr/>
        </p:nvSpPr>
        <p:spPr>
          <a:xfrm>
            <a:off x="548640" y="4608576"/>
            <a:ext cx="11094415" cy="1188720"/>
          </a:xfrm>
          <a:prstGeom prst="roundRect">
            <a:avLst>
              <a:gd name="adj" fmla="val 4615"/>
            </a:avLst>
          </a:prstGeom>
          <a:solidFill>
            <a:srgbClr val="F4F8FC"/>
          </a:solidFill>
          <a:ln w="12700">
            <a:solidFill>
              <a:srgbClr val="C8D8EC"/>
            </a:solidFill>
            <a:prstDash val="solid"/>
          </a:ln>
        </p:spPr>
        <p:txBody>
          <a:bodyPr/>
          <a:lstStyle/>
          <a:p>
            <a:endParaRPr lang="en-GB" noProof="0" dirty="0"/>
          </a:p>
        </p:txBody>
      </p:sp>
      <p:sp>
        <p:nvSpPr>
          <p:cNvPr id="15" name="Shape 13"/>
          <p:cNvSpPr/>
          <p:nvPr/>
        </p:nvSpPr>
        <p:spPr>
          <a:xfrm>
            <a:off x="777240" y="4983480"/>
            <a:ext cx="438912" cy="438912"/>
          </a:xfrm>
          <a:prstGeom prst="ellipse">
            <a:avLst/>
          </a:prstGeom>
          <a:solidFill>
            <a:srgbClr val="12315B"/>
          </a:solidFill>
          <a:ln/>
        </p:spPr>
        <p:txBody>
          <a:bodyPr/>
          <a:lstStyle/>
          <a:p>
            <a:endParaRPr lang="en-GB" noProof="0" dirty="0"/>
          </a:p>
        </p:txBody>
      </p:sp>
      <p:sp>
        <p:nvSpPr>
          <p:cNvPr id="16" name="Text 14"/>
          <p:cNvSpPr txBox="1"/>
          <p:nvPr/>
        </p:nvSpPr>
        <p:spPr>
          <a:xfrm>
            <a:off x="777240" y="4983480"/>
            <a:ext cx="438912" cy="438912"/>
          </a:xfrm>
          <a:prstGeom prst="rect">
            <a:avLst/>
          </a:prstGeom>
          <a:noFill/>
          <a:ln/>
        </p:spPr>
        <p:txBody>
          <a:bodyPr wrap="square" lIns="0" tIns="0" rIns="0" bIns="0" rtlCol="0" anchor="ctr"/>
          <a:lstStyle/>
          <a:p>
            <a:pPr marL="0" indent="0" algn="ctr">
              <a:buNone/>
            </a:pPr>
            <a:r>
              <a:rPr lang="en-GB" sz="1800" b="1" noProof="0" dirty="0">
                <a:solidFill>
                  <a:srgbClr val="FFFFFF"/>
                </a:solidFill>
                <a:latin typeface="Calibri" pitchFamily="34" charset="0"/>
                <a:ea typeface="Calibri" pitchFamily="34" charset="-122"/>
                <a:cs typeface="Calibri" pitchFamily="34" charset="-120"/>
              </a:rPr>
              <a:t>3</a:t>
            </a:r>
            <a:endParaRPr lang="en-GB" sz="1800" noProof="0" dirty="0"/>
          </a:p>
        </p:txBody>
      </p:sp>
      <p:sp>
        <p:nvSpPr>
          <p:cNvPr id="17" name="Text 15"/>
          <p:cNvSpPr txBox="1"/>
          <p:nvPr/>
        </p:nvSpPr>
        <p:spPr>
          <a:xfrm>
            <a:off x="1417320" y="4718304"/>
            <a:ext cx="9997135" cy="969264"/>
          </a:xfrm>
          <a:prstGeom prst="rect">
            <a:avLst/>
          </a:prstGeom>
          <a:noFill/>
          <a:ln/>
        </p:spPr>
        <p:txBody>
          <a:bodyPr wrap="square" lIns="0" tIns="0" rIns="0" bIns="0" rtlCol="0" anchor="ctr"/>
          <a:lstStyle/>
          <a:p>
            <a:pPr marL="0" indent="0">
              <a:lnSpc>
                <a:spcPct val="95000"/>
              </a:lnSpc>
              <a:buNone/>
            </a:pPr>
            <a:r>
              <a:rPr lang="en-GB" sz="1800" noProof="0" dirty="0">
                <a:solidFill>
                  <a:srgbClr val="0B1F3F"/>
                </a:solidFill>
                <a:latin typeface="Calibri" pitchFamily="34" charset="0"/>
                <a:ea typeface="Calibri" pitchFamily="34" charset="-122"/>
                <a:cs typeface="Calibri" pitchFamily="34" charset="-120"/>
              </a:rPr>
              <a:t>Which misconception about breast cancer would you most want to correct in your own setting, and how would you go about it?</a:t>
            </a:r>
            <a:endParaRPr lang="en-GB" sz="1800" noProof="0" dirty="0"/>
          </a:p>
        </p:txBody>
      </p:sp>
    </p:spTree>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name="Slide 103">
    <p:bg>
      <p:bgPr>
        <a:solidFill>
          <a:srgbClr val="12315B"/>
        </a:solidFill>
        <a:effectLst/>
      </p:bgPr>
    </p:bg>
    <p:spTree>
      <p:nvGrpSpPr>
        <p:cNvPr id="1" name=""/>
        <p:cNvGrpSpPr/>
        <p:nvPr/>
      </p:nvGrpSpPr>
      <p:grpSpPr>
        <a:xfrm>
          <a:off x="0" y="0"/>
          <a:ext cx="0" cy="0"/>
          <a:chOff x="0" y="0"/>
          <a:chExt cx="0" cy="0"/>
        </a:xfrm>
      </p:grpSpPr>
      <p:sp>
        <p:nvSpPr>
          <p:cNvPr id="2" name="Text 0"/>
          <p:cNvSpPr txBox="1"/>
          <p:nvPr/>
        </p:nvSpPr>
        <p:spPr>
          <a:xfrm>
            <a:off x="868680" y="1417320"/>
            <a:ext cx="2011680" cy="1737360"/>
          </a:xfrm>
          <a:prstGeom prst="rect">
            <a:avLst/>
          </a:prstGeom>
          <a:noFill/>
          <a:ln/>
        </p:spPr>
        <p:txBody>
          <a:bodyPr wrap="square" lIns="0" tIns="0" rIns="0" bIns="0" rtlCol="0" anchor="ctr"/>
          <a:lstStyle/>
          <a:p>
            <a:pPr marL="0" indent="0">
              <a:buNone/>
            </a:pPr>
            <a:r>
              <a:rPr lang="en-GB" sz="12000" b="1" noProof="0" dirty="0">
                <a:solidFill>
                  <a:srgbClr val="2C5C99"/>
                </a:solidFill>
                <a:latin typeface="Calibri" pitchFamily="34" charset="0"/>
                <a:ea typeface="Calibri" pitchFamily="34" charset="-122"/>
                <a:cs typeface="Calibri" pitchFamily="34" charset="-120"/>
              </a:rPr>
              <a:t>5</a:t>
            </a:r>
            <a:endParaRPr lang="en-GB" sz="12000" noProof="0" dirty="0"/>
          </a:p>
        </p:txBody>
      </p:sp>
      <p:sp>
        <p:nvSpPr>
          <p:cNvPr id="3" name="Text 1"/>
          <p:cNvSpPr txBox="1"/>
          <p:nvPr/>
        </p:nvSpPr>
        <p:spPr>
          <a:xfrm>
            <a:off x="960120" y="3063240"/>
            <a:ext cx="9144000" cy="365760"/>
          </a:xfrm>
          <a:prstGeom prst="rect">
            <a:avLst/>
          </a:prstGeom>
          <a:noFill/>
          <a:ln/>
        </p:spPr>
        <p:txBody>
          <a:bodyPr wrap="square" lIns="0" tIns="0" rIns="0" bIns="0" rtlCol="0" anchor="ctr"/>
          <a:lstStyle/>
          <a:p>
            <a:pPr marL="0" indent="0">
              <a:buNone/>
            </a:pPr>
            <a:r>
              <a:rPr lang="en-GB" sz="1600" b="1" noProof="0" dirty="0">
                <a:solidFill>
                  <a:srgbClr val="9FC2E8"/>
                </a:solidFill>
                <a:latin typeface="Calibri" pitchFamily="34" charset="0"/>
                <a:ea typeface="Calibri" pitchFamily="34" charset="-122"/>
                <a:cs typeface="Calibri" pitchFamily="34" charset="-120"/>
              </a:rPr>
              <a:t>S e s s </a:t>
            </a:r>
            <a:r>
              <a:rPr lang="en-GB" sz="1600" b="1" noProof="0" dirty="0" err="1">
                <a:solidFill>
                  <a:srgbClr val="9FC2E8"/>
                </a:solidFill>
                <a:latin typeface="Calibri" pitchFamily="34" charset="0"/>
                <a:ea typeface="Calibri" pitchFamily="34" charset="-122"/>
                <a:cs typeface="Calibri" pitchFamily="34" charset="-120"/>
              </a:rPr>
              <a:t>i</a:t>
            </a:r>
            <a:r>
              <a:rPr lang="en-GB" sz="1600" b="1" noProof="0" dirty="0">
                <a:solidFill>
                  <a:srgbClr val="9FC2E8"/>
                </a:solidFill>
                <a:latin typeface="Calibri" pitchFamily="34" charset="0"/>
                <a:ea typeface="Calibri" pitchFamily="34" charset="-122"/>
                <a:cs typeface="Calibri" pitchFamily="34" charset="-120"/>
              </a:rPr>
              <a:t> o n  5</a:t>
            </a:r>
            <a:endParaRPr lang="en-GB" sz="1600" noProof="0" dirty="0"/>
          </a:p>
        </p:txBody>
      </p:sp>
      <p:sp>
        <p:nvSpPr>
          <p:cNvPr id="4" name="Text 2"/>
          <p:cNvSpPr txBox="1"/>
          <p:nvPr/>
        </p:nvSpPr>
        <p:spPr>
          <a:xfrm>
            <a:off x="914400" y="3429000"/>
            <a:ext cx="10241280" cy="777240"/>
          </a:xfrm>
          <a:prstGeom prst="rect">
            <a:avLst/>
          </a:prstGeom>
          <a:noFill/>
          <a:ln/>
        </p:spPr>
        <p:txBody>
          <a:bodyPr wrap="square" lIns="0" tIns="0" rIns="0" bIns="0" rtlCol="0" anchor="ctr"/>
          <a:lstStyle/>
          <a:p>
            <a:pPr marL="0" indent="0">
              <a:buNone/>
            </a:pPr>
            <a:r>
              <a:rPr lang="en-GB" sz="4000" b="1" noProof="0" dirty="0">
                <a:solidFill>
                  <a:srgbClr val="FFFFFF"/>
                </a:solidFill>
                <a:latin typeface="Calibri" pitchFamily="34" charset="0"/>
                <a:ea typeface="Calibri" pitchFamily="34" charset="-122"/>
                <a:cs typeface="Calibri" pitchFamily="34" charset="-120"/>
              </a:rPr>
              <a:t>Supportive treatment</a:t>
            </a:r>
            <a:endParaRPr lang="en-GB" sz="4000" noProof="0" dirty="0"/>
          </a:p>
        </p:txBody>
      </p:sp>
      <p:sp>
        <p:nvSpPr>
          <p:cNvPr id="5" name="Text 3"/>
          <p:cNvSpPr txBox="1"/>
          <p:nvPr/>
        </p:nvSpPr>
        <p:spPr>
          <a:xfrm>
            <a:off x="914400" y="4297680"/>
            <a:ext cx="9692640" cy="914400"/>
          </a:xfrm>
          <a:prstGeom prst="rect">
            <a:avLst/>
          </a:prstGeom>
          <a:noFill/>
          <a:ln/>
        </p:spPr>
        <p:txBody>
          <a:bodyPr wrap="square" lIns="0" tIns="0" rIns="0" bIns="0" rtlCol="0" anchor="ctr"/>
          <a:lstStyle/>
          <a:p>
            <a:pPr marL="0" indent="0">
              <a:lnSpc>
                <a:spcPct val="100000"/>
              </a:lnSpc>
              <a:buNone/>
            </a:pPr>
            <a:r>
              <a:rPr lang="en-GB" sz="1800" noProof="0" dirty="0">
                <a:solidFill>
                  <a:srgbClr val="CFE0F4"/>
                </a:solidFill>
                <a:latin typeface="Calibri" pitchFamily="34" charset="0"/>
                <a:ea typeface="Calibri" pitchFamily="34" charset="-122"/>
                <a:cs typeface="Calibri" pitchFamily="34" charset="-120"/>
              </a:rPr>
              <a:t>Support people through treatment and beyond: recognise the effects, know which are emergencies, protect the arm and shoulder, and protect quality of life.</a:t>
            </a:r>
            <a:endParaRPr lang="en-GB" sz="1800" noProof="0" dirty="0"/>
          </a:p>
        </p:txBody>
      </p:sp>
      <p:sp>
        <p:nvSpPr>
          <p:cNvPr id="6" name="Text 4"/>
          <p:cNvSpPr txBox="1"/>
          <p:nvPr/>
        </p:nvSpPr>
        <p:spPr>
          <a:xfrm>
            <a:off x="914400" y="6035040"/>
            <a:ext cx="10058400" cy="274320"/>
          </a:xfrm>
          <a:prstGeom prst="rect">
            <a:avLst/>
          </a:prstGeom>
          <a:noFill/>
          <a:ln/>
        </p:spPr>
        <p:txBody>
          <a:bodyPr wrap="square" lIns="0" tIns="0" rIns="0" bIns="0" rtlCol="0" anchor="ctr"/>
          <a:lstStyle/>
          <a:p>
            <a:pPr marL="0" indent="0">
              <a:buNone/>
            </a:pPr>
            <a:r>
              <a:rPr lang="en-GB" sz="1000" noProof="0" dirty="0">
                <a:solidFill>
                  <a:srgbClr val="7FA6D4"/>
                </a:solidFill>
                <a:latin typeface="Calibri" pitchFamily="34" charset="0"/>
                <a:ea typeface="Calibri" pitchFamily="34" charset="-122"/>
                <a:cs typeface="Calibri" pitchFamily="34" charset="-120"/>
              </a:rPr>
              <a:t>Breast Cancer  |  Frontline HCP  |  Rwanda Biomedical Centre</a:t>
            </a:r>
            <a:endParaRPr lang="en-GB" sz="1000" noProof="0" dirty="0"/>
          </a:p>
        </p:txBody>
      </p:sp>
    </p:spTree>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name="Slide 10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en-GB" sz="1100" b="1" kern="0" spc="100" noProof="0" dirty="0">
                <a:solidFill>
                  <a:srgbClr val="5B7699"/>
                </a:solidFill>
                <a:latin typeface="Calibri" pitchFamily="34" charset="0"/>
                <a:ea typeface="Calibri" pitchFamily="34" charset="-122"/>
                <a:cs typeface="Calibri" pitchFamily="34" charset="-120"/>
              </a:rPr>
              <a:t>S E S S I O N   5</a:t>
            </a:r>
            <a:endParaRPr lang="en-GB"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en-GB" sz="1000" noProof="0" dirty="0">
                <a:solidFill>
                  <a:srgbClr val="5B7699"/>
                </a:solidFill>
                <a:latin typeface="Calibri" pitchFamily="34" charset="0"/>
                <a:ea typeface="Calibri" pitchFamily="34" charset="-122"/>
                <a:cs typeface="Calibri" pitchFamily="34" charset="-120"/>
              </a:rPr>
              <a:t>Breast Cancer  |  Frontline HCP  |  Rwanda Biomedical Centre</a:t>
            </a:r>
            <a:endParaRPr lang="en-GB"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en-GB" sz="3000" b="1" noProof="0" dirty="0">
                <a:solidFill>
                  <a:srgbClr val="12315B"/>
                </a:solidFill>
                <a:latin typeface="Calibri" pitchFamily="34" charset="0"/>
                <a:ea typeface="Calibri" pitchFamily="34" charset="-122"/>
                <a:cs typeface="Calibri" pitchFamily="34" charset="-120"/>
              </a:rPr>
              <a:t>Learning objectives</a:t>
            </a:r>
            <a:endParaRPr lang="en-GB" sz="3000" noProof="0" dirty="0"/>
          </a:p>
        </p:txBody>
      </p:sp>
      <p:sp>
        <p:nvSpPr>
          <p:cNvPr id="5" name="Shape 3"/>
          <p:cNvSpPr/>
          <p:nvPr/>
        </p:nvSpPr>
        <p:spPr>
          <a:xfrm>
            <a:off x="548640" y="1417320"/>
            <a:ext cx="3527450" cy="2180844"/>
          </a:xfrm>
          <a:prstGeom prst="roundRect">
            <a:avLst>
              <a:gd name="adj" fmla="val 2516"/>
            </a:avLst>
          </a:prstGeom>
          <a:solidFill>
            <a:srgbClr val="F4F8FC"/>
          </a:solidFill>
          <a:ln w="12700">
            <a:solidFill>
              <a:srgbClr val="C8D8EC"/>
            </a:solidFill>
            <a:prstDash val="solid"/>
          </a:ln>
        </p:spPr>
        <p:txBody>
          <a:bodyPr/>
          <a:lstStyle/>
          <a:p>
            <a:endParaRPr lang="en-GB" noProof="0" dirty="0"/>
          </a:p>
        </p:txBody>
      </p:sp>
      <p:sp>
        <p:nvSpPr>
          <p:cNvPr id="6" name="Text 4"/>
          <p:cNvSpPr txBox="1"/>
          <p:nvPr/>
        </p:nvSpPr>
        <p:spPr>
          <a:xfrm>
            <a:off x="713232" y="1508760"/>
            <a:ext cx="3198266" cy="292608"/>
          </a:xfrm>
          <a:prstGeom prst="rect">
            <a:avLst/>
          </a:prstGeom>
          <a:noFill/>
          <a:ln/>
        </p:spPr>
        <p:txBody>
          <a:bodyPr wrap="square" lIns="0" tIns="0" rIns="0" bIns="0" rtlCol="0" anchor="t"/>
          <a:lstStyle/>
          <a:p>
            <a:pPr marL="0" indent="0">
              <a:buNone/>
            </a:pPr>
            <a:r>
              <a:rPr lang="en-GB" sz="1700" b="1" noProof="0" dirty="0">
                <a:solidFill>
                  <a:srgbClr val="12315B"/>
                </a:solidFill>
                <a:latin typeface="Calibri" pitchFamily="34" charset="0"/>
                <a:ea typeface="Calibri" pitchFamily="34" charset="-122"/>
                <a:cs typeface="Calibri" pitchFamily="34" charset="-120"/>
              </a:rPr>
              <a:t>Recognise</a:t>
            </a:r>
            <a:endParaRPr lang="en-GB" sz="1700" noProof="0" dirty="0"/>
          </a:p>
        </p:txBody>
      </p:sp>
      <p:sp>
        <p:nvSpPr>
          <p:cNvPr id="7" name="Text 5"/>
          <p:cNvSpPr txBox="1"/>
          <p:nvPr/>
        </p:nvSpPr>
        <p:spPr>
          <a:xfrm>
            <a:off x="713232" y="1847088"/>
            <a:ext cx="3198266" cy="1696212"/>
          </a:xfrm>
          <a:prstGeom prst="rect">
            <a:avLst/>
          </a:prstGeom>
          <a:noFill/>
          <a:ln/>
        </p:spPr>
        <p:txBody>
          <a:bodyPr wrap="square" lIns="0" tIns="0" rIns="0" bIns="0" rtlCol="0" anchor="t"/>
          <a:lstStyle/>
          <a:p>
            <a:pPr marL="0" indent="0">
              <a:lnSpc>
                <a:spcPct val="90000"/>
              </a:lnSpc>
              <a:buNone/>
            </a:pPr>
            <a:r>
              <a:rPr lang="en-GB" sz="1800" noProof="0" dirty="0">
                <a:solidFill>
                  <a:srgbClr val="1F3A63"/>
                </a:solidFill>
                <a:latin typeface="Calibri" pitchFamily="34" charset="0"/>
                <a:ea typeface="Calibri" pitchFamily="34" charset="-122"/>
                <a:cs typeface="Calibri" pitchFamily="34" charset="-120"/>
              </a:rPr>
              <a:t>Recognise the common effects of surgery, radiotherapy, endocrine therapy and chemotherapy.</a:t>
            </a:r>
            <a:endParaRPr lang="en-GB" sz="1800" noProof="0" dirty="0"/>
          </a:p>
        </p:txBody>
      </p:sp>
      <p:sp>
        <p:nvSpPr>
          <p:cNvPr id="8" name="Shape 6"/>
          <p:cNvSpPr/>
          <p:nvPr/>
        </p:nvSpPr>
        <p:spPr>
          <a:xfrm>
            <a:off x="4332122" y="1417320"/>
            <a:ext cx="3527450" cy="2180844"/>
          </a:xfrm>
          <a:prstGeom prst="roundRect">
            <a:avLst>
              <a:gd name="adj" fmla="val 2516"/>
            </a:avLst>
          </a:prstGeom>
          <a:solidFill>
            <a:srgbClr val="F4F8FC"/>
          </a:solidFill>
          <a:ln w="12700">
            <a:solidFill>
              <a:srgbClr val="C8D8EC"/>
            </a:solidFill>
            <a:prstDash val="solid"/>
          </a:ln>
        </p:spPr>
        <p:txBody>
          <a:bodyPr/>
          <a:lstStyle/>
          <a:p>
            <a:endParaRPr lang="en-GB" noProof="0" dirty="0"/>
          </a:p>
        </p:txBody>
      </p:sp>
      <p:sp>
        <p:nvSpPr>
          <p:cNvPr id="9" name="Text 7"/>
          <p:cNvSpPr txBox="1"/>
          <p:nvPr/>
        </p:nvSpPr>
        <p:spPr>
          <a:xfrm>
            <a:off x="4496714" y="1508760"/>
            <a:ext cx="3198266" cy="292608"/>
          </a:xfrm>
          <a:prstGeom prst="rect">
            <a:avLst/>
          </a:prstGeom>
          <a:noFill/>
          <a:ln/>
        </p:spPr>
        <p:txBody>
          <a:bodyPr wrap="square" lIns="0" tIns="0" rIns="0" bIns="0" rtlCol="0" anchor="t"/>
          <a:lstStyle/>
          <a:p>
            <a:pPr marL="0" indent="0">
              <a:buNone/>
            </a:pPr>
            <a:r>
              <a:rPr lang="en-GB" sz="1700" b="1" noProof="0" dirty="0">
                <a:solidFill>
                  <a:srgbClr val="12315B"/>
                </a:solidFill>
                <a:latin typeface="Calibri" pitchFamily="34" charset="0"/>
                <a:ea typeface="Calibri" pitchFamily="34" charset="-122"/>
                <a:cs typeface="Calibri" pitchFamily="34" charset="-120"/>
              </a:rPr>
              <a:t>Sort</a:t>
            </a:r>
            <a:endParaRPr lang="en-GB" sz="1700" noProof="0" dirty="0"/>
          </a:p>
        </p:txBody>
      </p:sp>
      <p:sp>
        <p:nvSpPr>
          <p:cNvPr id="10" name="Text 8"/>
          <p:cNvSpPr txBox="1"/>
          <p:nvPr/>
        </p:nvSpPr>
        <p:spPr>
          <a:xfrm>
            <a:off x="4496714" y="1847088"/>
            <a:ext cx="3198266" cy="1696212"/>
          </a:xfrm>
          <a:prstGeom prst="rect">
            <a:avLst/>
          </a:prstGeom>
          <a:noFill/>
          <a:ln/>
        </p:spPr>
        <p:txBody>
          <a:bodyPr wrap="square" lIns="0" tIns="0" rIns="0" bIns="0" rtlCol="0" anchor="t"/>
          <a:lstStyle/>
          <a:p>
            <a:pPr marL="0" indent="0">
              <a:lnSpc>
                <a:spcPct val="90000"/>
              </a:lnSpc>
              <a:buNone/>
            </a:pPr>
            <a:r>
              <a:rPr lang="en-GB" sz="1800" noProof="0" dirty="0">
                <a:solidFill>
                  <a:srgbClr val="1F3A63"/>
                </a:solidFill>
                <a:latin typeface="Calibri" pitchFamily="34" charset="0"/>
                <a:ea typeface="Calibri" pitchFamily="34" charset="-122"/>
                <a:cs typeface="Calibri" pitchFamily="34" charset="-120"/>
              </a:rPr>
              <a:t>Sort effects into expected, needing assessment, and urgent.</a:t>
            </a:r>
            <a:endParaRPr lang="en-GB" sz="1800" noProof="0" dirty="0"/>
          </a:p>
        </p:txBody>
      </p:sp>
      <p:sp>
        <p:nvSpPr>
          <p:cNvPr id="11" name="Shape 9"/>
          <p:cNvSpPr/>
          <p:nvPr/>
        </p:nvSpPr>
        <p:spPr>
          <a:xfrm>
            <a:off x="8115605" y="1417320"/>
            <a:ext cx="3527450" cy="2180844"/>
          </a:xfrm>
          <a:prstGeom prst="roundRect">
            <a:avLst>
              <a:gd name="adj" fmla="val 2516"/>
            </a:avLst>
          </a:prstGeom>
          <a:solidFill>
            <a:srgbClr val="F4F8FC"/>
          </a:solidFill>
          <a:ln w="12700">
            <a:solidFill>
              <a:srgbClr val="C8D8EC"/>
            </a:solidFill>
            <a:prstDash val="solid"/>
          </a:ln>
        </p:spPr>
        <p:txBody>
          <a:bodyPr/>
          <a:lstStyle/>
          <a:p>
            <a:endParaRPr lang="en-GB" noProof="0" dirty="0"/>
          </a:p>
        </p:txBody>
      </p:sp>
      <p:sp>
        <p:nvSpPr>
          <p:cNvPr id="12" name="Text 10"/>
          <p:cNvSpPr txBox="1"/>
          <p:nvPr/>
        </p:nvSpPr>
        <p:spPr>
          <a:xfrm>
            <a:off x="8280197" y="1508760"/>
            <a:ext cx="3198266" cy="292608"/>
          </a:xfrm>
          <a:prstGeom prst="rect">
            <a:avLst/>
          </a:prstGeom>
          <a:noFill/>
          <a:ln/>
        </p:spPr>
        <p:txBody>
          <a:bodyPr wrap="square" lIns="0" tIns="0" rIns="0" bIns="0" rtlCol="0" anchor="t"/>
          <a:lstStyle/>
          <a:p>
            <a:pPr marL="0" indent="0">
              <a:buNone/>
            </a:pPr>
            <a:r>
              <a:rPr lang="en-GB" sz="1700" b="1" noProof="0" dirty="0">
                <a:solidFill>
                  <a:srgbClr val="12315B"/>
                </a:solidFill>
                <a:latin typeface="Calibri" pitchFamily="34" charset="0"/>
                <a:ea typeface="Calibri" pitchFamily="34" charset="-122"/>
                <a:cs typeface="Calibri" pitchFamily="34" charset="-120"/>
              </a:rPr>
              <a:t>Assess</a:t>
            </a:r>
            <a:endParaRPr lang="en-GB" sz="1700" noProof="0" dirty="0"/>
          </a:p>
        </p:txBody>
      </p:sp>
      <p:sp>
        <p:nvSpPr>
          <p:cNvPr id="13" name="Text 11"/>
          <p:cNvSpPr txBox="1"/>
          <p:nvPr/>
        </p:nvSpPr>
        <p:spPr>
          <a:xfrm>
            <a:off x="8280197" y="1847088"/>
            <a:ext cx="3198266" cy="1696212"/>
          </a:xfrm>
          <a:prstGeom prst="rect">
            <a:avLst/>
          </a:prstGeom>
          <a:noFill/>
          <a:ln/>
        </p:spPr>
        <p:txBody>
          <a:bodyPr wrap="square" lIns="0" tIns="0" rIns="0" bIns="0" rtlCol="0" anchor="t"/>
          <a:lstStyle/>
          <a:p>
            <a:pPr marL="0" indent="0">
              <a:lnSpc>
                <a:spcPct val="90000"/>
              </a:lnSpc>
              <a:buNone/>
            </a:pPr>
            <a:r>
              <a:rPr lang="en-GB" sz="1800" noProof="0" dirty="0">
                <a:solidFill>
                  <a:srgbClr val="1F3A63"/>
                </a:solidFill>
                <a:latin typeface="Calibri" pitchFamily="34" charset="0"/>
                <a:ea typeface="Calibri" pitchFamily="34" charset="-122"/>
                <a:cs typeface="Calibri" pitchFamily="34" charset="-120"/>
              </a:rPr>
              <a:t>Assess and refer arm swelling, and support arm and shoulder recovery.</a:t>
            </a:r>
            <a:endParaRPr lang="en-GB" sz="1800" noProof="0" dirty="0"/>
          </a:p>
        </p:txBody>
      </p:sp>
      <p:sp>
        <p:nvSpPr>
          <p:cNvPr id="14" name="Shape 12"/>
          <p:cNvSpPr/>
          <p:nvPr/>
        </p:nvSpPr>
        <p:spPr>
          <a:xfrm>
            <a:off x="548640" y="3854196"/>
            <a:ext cx="3527450" cy="2180844"/>
          </a:xfrm>
          <a:prstGeom prst="roundRect">
            <a:avLst>
              <a:gd name="adj" fmla="val 2516"/>
            </a:avLst>
          </a:prstGeom>
          <a:solidFill>
            <a:srgbClr val="F4F8FC"/>
          </a:solidFill>
          <a:ln w="12700">
            <a:solidFill>
              <a:srgbClr val="C8D8EC"/>
            </a:solidFill>
            <a:prstDash val="solid"/>
          </a:ln>
        </p:spPr>
        <p:txBody>
          <a:bodyPr/>
          <a:lstStyle/>
          <a:p>
            <a:endParaRPr lang="en-GB" noProof="0" dirty="0"/>
          </a:p>
        </p:txBody>
      </p:sp>
      <p:sp>
        <p:nvSpPr>
          <p:cNvPr id="15" name="Text 13"/>
          <p:cNvSpPr txBox="1"/>
          <p:nvPr/>
        </p:nvSpPr>
        <p:spPr>
          <a:xfrm>
            <a:off x="713232" y="3945636"/>
            <a:ext cx="3198266" cy="292608"/>
          </a:xfrm>
          <a:prstGeom prst="rect">
            <a:avLst/>
          </a:prstGeom>
          <a:noFill/>
          <a:ln/>
        </p:spPr>
        <p:txBody>
          <a:bodyPr wrap="square" lIns="0" tIns="0" rIns="0" bIns="0" rtlCol="0" anchor="t"/>
          <a:lstStyle/>
          <a:p>
            <a:pPr marL="0" indent="0">
              <a:buNone/>
            </a:pPr>
            <a:r>
              <a:rPr lang="en-GB" sz="1700" b="1" noProof="0" dirty="0">
                <a:solidFill>
                  <a:srgbClr val="12315B"/>
                </a:solidFill>
                <a:latin typeface="Calibri" pitchFamily="34" charset="0"/>
                <a:ea typeface="Calibri" pitchFamily="34" charset="-122"/>
                <a:cs typeface="Calibri" pitchFamily="34" charset="-120"/>
              </a:rPr>
              <a:t>Support</a:t>
            </a:r>
            <a:endParaRPr lang="en-GB" sz="1700" noProof="0" dirty="0"/>
          </a:p>
        </p:txBody>
      </p:sp>
      <p:sp>
        <p:nvSpPr>
          <p:cNvPr id="16" name="Text 14"/>
          <p:cNvSpPr txBox="1"/>
          <p:nvPr/>
        </p:nvSpPr>
        <p:spPr>
          <a:xfrm>
            <a:off x="713232" y="4283964"/>
            <a:ext cx="3198266" cy="1696212"/>
          </a:xfrm>
          <a:prstGeom prst="rect">
            <a:avLst/>
          </a:prstGeom>
          <a:noFill/>
          <a:ln/>
        </p:spPr>
        <p:txBody>
          <a:bodyPr wrap="square" lIns="0" tIns="0" rIns="0" bIns="0" rtlCol="0" anchor="t"/>
          <a:lstStyle/>
          <a:p>
            <a:pPr marL="0" indent="0">
              <a:lnSpc>
                <a:spcPct val="90000"/>
              </a:lnSpc>
              <a:buNone/>
            </a:pPr>
            <a:r>
              <a:rPr lang="en-GB" sz="1800" noProof="0" dirty="0">
                <a:solidFill>
                  <a:srgbClr val="1F3A63"/>
                </a:solidFill>
                <a:latin typeface="Calibri" pitchFamily="34" charset="0"/>
                <a:ea typeface="Calibri" pitchFamily="34" charset="-122"/>
                <a:cs typeface="Calibri" pitchFamily="34" charset="-120"/>
              </a:rPr>
              <a:t>Support adherence to endocrine therapy taken over several years.</a:t>
            </a:r>
            <a:endParaRPr lang="en-GB" sz="1800" noProof="0" dirty="0"/>
          </a:p>
        </p:txBody>
      </p:sp>
      <p:sp>
        <p:nvSpPr>
          <p:cNvPr id="17" name="Shape 15"/>
          <p:cNvSpPr/>
          <p:nvPr/>
        </p:nvSpPr>
        <p:spPr>
          <a:xfrm>
            <a:off x="4332122" y="3854196"/>
            <a:ext cx="3527450" cy="2180844"/>
          </a:xfrm>
          <a:prstGeom prst="roundRect">
            <a:avLst>
              <a:gd name="adj" fmla="val 2516"/>
            </a:avLst>
          </a:prstGeom>
          <a:solidFill>
            <a:srgbClr val="F4F8FC"/>
          </a:solidFill>
          <a:ln w="12700">
            <a:solidFill>
              <a:srgbClr val="C8D8EC"/>
            </a:solidFill>
            <a:prstDash val="solid"/>
          </a:ln>
        </p:spPr>
        <p:txBody>
          <a:bodyPr/>
          <a:lstStyle/>
          <a:p>
            <a:endParaRPr lang="en-GB" noProof="0" dirty="0"/>
          </a:p>
        </p:txBody>
      </p:sp>
      <p:sp>
        <p:nvSpPr>
          <p:cNvPr id="18" name="Text 16"/>
          <p:cNvSpPr txBox="1"/>
          <p:nvPr/>
        </p:nvSpPr>
        <p:spPr>
          <a:xfrm>
            <a:off x="4496714" y="3945636"/>
            <a:ext cx="3198266" cy="292608"/>
          </a:xfrm>
          <a:prstGeom prst="rect">
            <a:avLst/>
          </a:prstGeom>
          <a:noFill/>
          <a:ln/>
        </p:spPr>
        <p:txBody>
          <a:bodyPr wrap="square" lIns="0" tIns="0" rIns="0" bIns="0" rtlCol="0" anchor="t"/>
          <a:lstStyle/>
          <a:p>
            <a:pPr marL="0" indent="0">
              <a:buNone/>
            </a:pPr>
            <a:r>
              <a:rPr lang="en-GB" sz="1700" b="1" noProof="0" dirty="0">
                <a:solidFill>
                  <a:srgbClr val="12315B"/>
                </a:solidFill>
                <a:latin typeface="Calibri" pitchFamily="34" charset="0"/>
                <a:ea typeface="Calibri" pitchFamily="34" charset="-122"/>
                <a:cs typeface="Calibri" pitchFamily="34" charset="-120"/>
              </a:rPr>
              <a:t>Discuss</a:t>
            </a:r>
            <a:endParaRPr lang="en-GB" sz="1700" noProof="0" dirty="0"/>
          </a:p>
        </p:txBody>
      </p:sp>
      <p:sp>
        <p:nvSpPr>
          <p:cNvPr id="19" name="Text 17"/>
          <p:cNvSpPr txBox="1"/>
          <p:nvPr/>
        </p:nvSpPr>
        <p:spPr>
          <a:xfrm>
            <a:off x="4496714" y="4283964"/>
            <a:ext cx="3198266" cy="1696212"/>
          </a:xfrm>
          <a:prstGeom prst="rect">
            <a:avLst/>
          </a:prstGeom>
          <a:noFill/>
          <a:ln/>
        </p:spPr>
        <p:txBody>
          <a:bodyPr wrap="square" lIns="0" tIns="0" rIns="0" bIns="0" rtlCol="0" anchor="t"/>
          <a:lstStyle/>
          <a:p>
            <a:pPr marL="0" indent="0">
              <a:lnSpc>
                <a:spcPct val="90000"/>
              </a:lnSpc>
              <a:buNone/>
            </a:pPr>
            <a:r>
              <a:rPr lang="en-GB" sz="1800" noProof="0" dirty="0">
                <a:solidFill>
                  <a:srgbClr val="1F3A63"/>
                </a:solidFill>
                <a:latin typeface="Calibri" pitchFamily="34" charset="0"/>
                <a:ea typeface="Calibri" pitchFamily="34" charset="-122"/>
                <a:cs typeface="Calibri" pitchFamily="34" charset="-120"/>
              </a:rPr>
              <a:t>Discuss body image, sexual health, fertility and menopause respectfully.</a:t>
            </a:r>
            <a:endParaRPr lang="en-GB" sz="1800" noProof="0" dirty="0"/>
          </a:p>
        </p:txBody>
      </p:sp>
      <p:sp>
        <p:nvSpPr>
          <p:cNvPr id="20" name="Shape 18"/>
          <p:cNvSpPr/>
          <p:nvPr/>
        </p:nvSpPr>
        <p:spPr>
          <a:xfrm>
            <a:off x="8115605" y="3854196"/>
            <a:ext cx="3527450" cy="2180844"/>
          </a:xfrm>
          <a:prstGeom prst="roundRect">
            <a:avLst>
              <a:gd name="adj" fmla="val 2516"/>
            </a:avLst>
          </a:prstGeom>
          <a:solidFill>
            <a:srgbClr val="F4F8FC"/>
          </a:solidFill>
          <a:ln w="12700">
            <a:solidFill>
              <a:srgbClr val="C8D8EC"/>
            </a:solidFill>
            <a:prstDash val="solid"/>
          </a:ln>
        </p:spPr>
        <p:txBody>
          <a:bodyPr/>
          <a:lstStyle/>
          <a:p>
            <a:endParaRPr lang="en-GB" noProof="0" dirty="0"/>
          </a:p>
        </p:txBody>
      </p:sp>
      <p:sp>
        <p:nvSpPr>
          <p:cNvPr id="21" name="Text 19"/>
          <p:cNvSpPr txBox="1"/>
          <p:nvPr/>
        </p:nvSpPr>
        <p:spPr>
          <a:xfrm>
            <a:off x="8280197" y="3945636"/>
            <a:ext cx="3198266" cy="292608"/>
          </a:xfrm>
          <a:prstGeom prst="rect">
            <a:avLst/>
          </a:prstGeom>
          <a:noFill/>
          <a:ln/>
        </p:spPr>
        <p:txBody>
          <a:bodyPr wrap="square" lIns="0" tIns="0" rIns="0" bIns="0" rtlCol="0" anchor="t"/>
          <a:lstStyle/>
          <a:p>
            <a:pPr marL="0" indent="0">
              <a:buNone/>
            </a:pPr>
            <a:r>
              <a:rPr lang="en-GB" sz="1700" b="1" noProof="0" dirty="0">
                <a:solidFill>
                  <a:srgbClr val="12315B"/>
                </a:solidFill>
                <a:latin typeface="Calibri" pitchFamily="34" charset="0"/>
                <a:ea typeface="Calibri" pitchFamily="34" charset="-122"/>
                <a:cs typeface="Calibri" pitchFamily="34" charset="-120"/>
              </a:rPr>
              <a:t>Follow up</a:t>
            </a:r>
            <a:endParaRPr lang="en-GB" sz="1700" noProof="0" dirty="0"/>
          </a:p>
        </p:txBody>
      </p:sp>
      <p:sp>
        <p:nvSpPr>
          <p:cNvPr id="22" name="Text 20"/>
          <p:cNvSpPr txBox="1"/>
          <p:nvPr/>
        </p:nvSpPr>
        <p:spPr>
          <a:xfrm>
            <a:off x="8280197" y="4283964"/>
            <a:ext cx="3198266" cy="1696212"/>
          </a:xfrm>
          <a:prstGeom prst="rect">
            <a:avLst/>
          </a:prstGeom>
          <a:noFill/>
          <a:ln/>
        </p:spPr>
        <p:txBody>
          <a:bodyPr wrap="square" lIns="0" tIns="0" rIns="0" bIns="0" rtlCol="0" anchor="t"/>
          <a:lstStyle/>
          <a:p>
            <a:pPr marL="0" indent="0">
              <a:lnSpc>
                <a:spcPct val="90000"/>
              </a:lnSpc>
              <a:buNone/>
            </a:pPr>
            <a:r>
              <a:rPr lang="en-GB" sz="1800" noProof="0" dirty="0">
                <a:solidFill>
                  <a:srgbClr val="1F3A63"/>
                </a:solidFill>
                <a:latin typeface="Calibri" pitchFamily="34" charset="0"/>
                <a:ea typeface="Calibri" pitchFamily="34" charset="-122"/>
                <a:cs typeface="Calibri" pitchFamily="34" charset="-120"/>
              </a:rPr>
              <a:t>Explain the purpose of follow-up and encourage prompt reporting of new symptoms.</a:t>
            </a:r>
            <a:endParaRPr lang="en-GB" sz="1800" noProof="0" dirty="0"/>
          </a:p>
        </p:txBody>
      </p:sp>
    </p:spTree>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name="Slide 10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en-GB" sz="1100" b="1" kern="0" spc="100" noProof="0" dirty="0">
                <a:solidFill>
                  <a:srgbClr val="5B7699"/>
                </a:solidFill>
                <a:latin typeface="Calibri" pitchFamily="34" charset="0"/>
                <a:ea typeface="Calibri" pitchFamily="34" charset="-122"/>
                <a:cs typeface="Calibri" pitchFamily="34" charset="-120"/>
              </a:rPr>
              <a:t>S E S S I O N   5</a:t>
            </a:r>
            <a:endParaRPr lang="en-GB"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en-GB" sz="1000" noProof="0" dirty="0">
                <a:solidFill>
                  <a:srgbClr val="5B7699"/>
                </a:solidFill>
                <a:latin typeface="Calibri" pitchFamily="34" charset="0"/>
                <a:ea typeface="Calibri" pitchFamily="34" charset="-122"/>
                <a:cs typeface="Calibri" pitchFamily="34" charset="-120"/>
              </a:rPr>
              <a:t>Breast Cancer  |  Frontline HCP  |  Rwanda Biomedical Centre</a:t>
            </a:r>
            <a:endParaRPr lang="en-GB"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en-GB" sz="3000" b="1" noProof="0" dirty="0">
                <a:solidFill>
                  <a:srgbClr val="12315B"/>
                </a:solidFill>
                <a:latin typeface="Calibri" pitchFamily="34" charset="0"/>
                <a:ea typeface="Calibri" pitchFamily="34" charset="-122"/>
                <a:cs typeface="Calibri" pitchFamily="34" charset="-120"/>
              </a:rPr>
              <a:t>Effects to recognise, by treatment</a:t>
            </a:r>
            <a:endParaRPr lang="en-GB" sz="3000" noProof="0" dirty="0"/>
          </a:p>
        </p:txBody>
      </p:sp>
      <p:grpSp>
        <p:nvGrpSpPr>
          <p:cNvPr id="13" name="Grupo 12">
            <a:extLst>
              <a:ext uri="{FF2B5EF4-FFF2-40B4-BE49-F238E27FC236}">
                <a16:creationId xmlns:a16="http://schemas.microsoft.com/office/drawing/2014/main" id="{043B3A79-EBE1-4588-0BF9-FF480E645ED1}"/>
              </a:ext>
            </a:extLst>
          </p:cNvPr>
          <p:cNvGrpSpPr/>
          <p:nvPr/>
        </p:nvGrpSpPr>
        <p:grpSpPr>
          <a:xfrm>
            <a:off x="6323142" y="1325880"/>
            <a:ext cx="5319913" cy="4709160"/>
            <a:chOff x="6323142" y="1325880"/>
            <a:chExt cx="5319913" cy="4709160"/>
          </a:xfrm>
        </p:grpSpPr>
        <p:sp>
          <p:nvSpPr>
            <p:cNvPr id="8" name="Shape 6"/>
            <p:cNvSpPr/>
            <p:nvPr/>
          </p:nvSpPr>
          <p:spPr>
            <a:xfrm>
              <a:off x="6323142" y="1325880"/>
              <a:ext cx="5319913" cy="4709160"/>
            </a:xfrm>
            <a:prstGeom prst="roundRect">
              <a:avLst>
                <a:gd name="adj" fmla="val 2125"/>
              </a:avLst>
            </a:prstGeom>
            <a:solidFill>
              <a:srgbClr val="F4F8FC"/>
            </a:solidFill>
            <a:ln w="12700">
              <a:solidFill>
                <a:srgbClr val="C8D8EC"/>
              </a:solidFill>
              <a:prstDash val="solid"/>
            </a:ln>
          </p:spPr>
          <p:txBody>
            <a:bodyPr/>
            <a:lstStyle/>
            <a:p>
              <a:endParaRPr lang="en-GB" noProof="0" dirty="0"/>
            </a:p>
          </p:txBody>
        </p:sp>
        <p:sp>
          <p:nvSpPr>
            <p:cNvPr id="9" name="Text 7"/>
            <p:cNvSpPr txBox="1"/>
            <p:nvPr/>
          </p:nvSpPr>
          <p:spPr>
            <a:xfrm>
              <a:off x="6534905" y="1715156"/>
              <a:ext cx="2252396" cy="384048"/>
            </a:xfrm>
            <a:prstGeom prst="rect">
              <a:avLst/>
            </a:prstGeom>
            <a:noFill/>
            <a:ln/>
          </p:spPr>
          <p:txBody>
            <a:bodyPr wrap="square" lIns="0" tIns="0" rIns="0" bIns="0" rtlCol="0" anchor="t"/>
            <a:lstStyle/>
            <a:p>
              <a:pPr marL="0" indent="0">
                <a:buNone/>
              </a:pPr>
              <a:r>
                <a:rPr lang="en-GB" sz="1800" b="1" noProof="0" dirty="0">
                  <a:solidFill>
                    <a:srgbClr val="12315B"/>
                  </a:solidFill>
                  <a:latin typeface="Calibri" pitchFamily="34" charset="0"/>
                  <a:ea typeface="Calibri" pitchFamily="34" charset="-122"/>
                  <a:cs typeface="Calibri" pitchFamily="34" charset="-120"/>
                </a:rPr>
                <a:t>Radiotherapy</a:t>
              </a:r>
              <a:endParaRPr lang="en-GB" sz="1800" noProof="0" dirty="0"/>
            </a:p>
          </p:txBody>
        </p:sp>
        <p:sp>
          <p:nvSpPr>
            <p:cNvPr id="10" name="Text 8"/>
            <p:cNvSpPr txBox="1"/>
            <p:nvPr/>
          </p:nvSpPr>
          <p:spPr>
            <a:xfrm>
              <a:off x="6534905" y="2163149"/>
              <a:ext cx="4987000" cy="2000000"/>
            </a:xfrm>
            <a:prstGeom prst="rect">
              <a:avLst/>
            </a:prstGeom>
            <a:noFill/>
            <a:ln/>
          </p:spPr>
          <p:txBody>
            <a:bodyPr wrap="square" lIns="0" tIns="0" rIns="0" bIns="0" rtlCol="0" anchor="t"/>
            <a:lstStyle/>
            <a:p>
              <a:pPr marL="342900" indent="-342900">
                <a:lnSpc>
                  <a:spcPct val="95000"/>
                </a:lnSpc>
                <a:spcAft>
                  <a:spcPts val="600"/>
                </a:spcAft>
                <a:buSzPct val="100000"/>
                <a:buChar char="•"/>
              </a:pPr>
              <a:r>
                <a:rPr lang="en-GB" sz="1600" noProof="0" dirty="0">
                  <a:solidFill>
                    <a:srgbClr val="0B1F3F"/>
                  </a:solidFill>
                  <a:latin typeface="Calibri" pitchFamily="34" charset="0"/>
                  <a:ea typeface="Calibri" pitchFamily="34" charset="-122"/>
                  <a:cs typeface="Calibri" pitchFamily="34" charset="-120"/>
                </a:rPr>
                <a:t>Fatigue that builds through the course</a:t>
              </a:r>
              <a:endParaRPr lang="en-GB" sz="1600" noProof="0" dirty="0"/>
            </a:p>
            <a:p>
              <a:pPr marL="342900" indent="-342900">
                <a:lnSpc>
                  <a:spcPct val="95000"/>
                </a:lnSpc>
                <a:spcAft>
                  <a:spcPts val="600"/>
                </a:spcAft>
                <a:buSzPct val="100000"/>
                <a:buChar char="•"/>
              </a:pPr>
              <a:r>
                <a:rPr lang="en-GB" sz="1600" noProof="0" dirty="0">
                  <a:solidFill>
                    <a:srgbClr val="0B1F3F"/>
                  </a:solidFill>
                  <a:latin typeface="Calibri" pitchFamily="34" charset="0"/>
                  <a:ea typeface="Calibri" pitchFamily="34" charset="-122"/>
                  <a:cs typeface="Calibri" pitchFamily="34" charset="-120"/>
                </a:rPr>
                <a:t>Redness, dryness and soreness of the treated skin</a:t>
              </a:r>
              <a:endParaRPr lang="en-GB" sz="1600" noProof="0" dirty="0"/>
            </a:p>
            <a:p>
              <a:pPr marL="342900" indent="-342900">
                <a:lnSpc>
                  <a:spcPct val="95000"/>
                </a:lnSpc>
                <a:spcAft>
                  <a:spcPts val="600"/>
                </a:spcAft>
                <a:buSzPct val="100000"/>
                <a:buChar char="•"/>
              </a:pPr>
              <a:r>
                <a:rPr lang="en-GB" sz="1600" noProof="0" dirty="0">
                  <a:solidFill>
                    <a:srgbClr val="0B1F3F"/>
                  </a:solidFill>
                  <a:latin typeface="Calibri" pitchFamily="34" charset="0"/>
                  <a:ea typeface="Calibri" pitchFamily="34" charset="-122"/>
                  <a:cs typeface="Calibri" pitchFamily="34" charset="-120"/>
                </a:rPr>
                <a:t>Breast swelling or heaviness</a:t>
              </a:r>
              <a:endParaRPr lang="en-GB" sz="1600" noProof="0" dirty="0"/>
            </a:p>
            <a:p>
              <a:pPr marL="342900" indent="-342900">
                <a:lnSpc>
                  <a:spcPct val="95000"/>
                </a:lnSpc>
                <a:spcAft>
                  <a:spcPts val="600"/>
                </a:spcAft>
                <a:buSzPct val="100000"/>
                <a:buChar char="•"/>
              </a:pPr>
              <a:r>
                <a:rPr lang="en-GB" sz="1600" noProof="0" dirty="0">
                  <a:solidFill>
                    <a:srgbClr val="0B1F3F"/>
                  </a:solidFill>
                  <a:latin typeface="Calibri" pitchFamily="34" charset="0"/>
                  <a:ea typeface="Calibri" pitchFamily="34" charset="-122"/>
                  <a:cs typeface="Calibri" pitchFamily="34" charset="-120"/>
                </a:rPr>
                <a:t>Longer-term firmness of the treated breast</a:t>
              </a:r>
              <a:endParaRPr lang="en-GB" sz="1600" noProof="0" dirty="0"/>
            </a:p>
            <a:p>
              <a:pPr marL="342900" indent="-342900">
                <a:lnSpc>
                  <a:spcPct val="95000"/>
                </a:lnSpc>
                <a:spcAft>
                  <a:spcPts val="600"/>
                </a:spcAft>
                <a:buSzPct val="100000"/>
                <a:buChar char="•"/>
              </a:pPr>
              <a:r>
                <a:rPr lang="en-GB" sz="1600" noProof="0" dirty="0">
                  <a:solidFill>
                    <a:srgbClr val="0B1F3F"/>
                  </a:solidFill>
                  <a:latin typeface="Calibri" pitchFamily="34" charset="0"/>
                  <a:ea typeface="Calibri" pitchFamily="34" charset="-122"/>
                  <a:cs typeface="Calibri" pitchFamily="34" charset="-120"/>
                </a:rPr>
                <a:t>Contribution to lymphoedema risk when the axilla is treated</a:t>
              </a:r>
              <a:endParaRPr lang="en-GB" sz="1600" noProof="0" dirty="0"/>
            </a:p>
          </p:txBody>
        </p:sp>
        <p:pic>
          <p:nvPicPr>
            <p:cNvPr id="28" name="Imagen 27">
              <a:extLst>
                <a:ext uri="{FF2B5EF4-FFF2-40B4-BE49-F238E27FC236}">
                  <a16:creationId xmlns:a16="http://schemas.microsoft.com/office/drawing/2014/main" id="{FABA06A2-48FD-D4B1-0826-062334B3F53E}"/>
                </a:ext>
              </a:extLst>
            </p:cNvPr>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a:xfrm>
              <a:off x="6432668" y="4196549"/>
              <a:ext cx="5054843" cy="1335571"/>
            </a:xfrm>
            <a:prstGeom prst="rect">
              <a:avLst/>
            </a:prstGeom>
          </p:spPr>
        </p:pic>
      </p:grpSp>
      <p:grpSp>
        <p:nvGrpSpPr>
          <p:cNvPr id="12" name="Grupo 11">
            <a:extLst>
              <a:ext uri="{FF2B5EF4-FFF2-40B4-BE49-F238E27FC236}">
                <a16:creationId xmlns:a16="http://schemas.microsoft.com/office/drawing/2014/main" id="{8CB90733-0D9F-20A7-B78A-E33D66ECA3CB}"/>
              </a:ext>
            </a:extLst>
          </p:cNvPr>
          <p:cNvGrpSpPr/>
          <p:nvPr/>
        </p:nvGrpSpPr>
        <p:grpSpPr>
          <a:xfrm>
            <a:off x="548640" y="1325880"/>
            <a:ext cx="5319913" cy="4709160"/>
            <a:chOff x="548640" y="1325880"/>
            <a:chExt cx="5319913" cy="4709160"/>
          </a:xfrm>
        </p:grpSpPr>
        <p:sp>
          <p:nvSpPr>
            <p:cNvPr id="5" name="Shape 3"/>
            <p:cNvSpPr/>
            <p:nvPr/>
          </p:nvSpPr>
          <p:spPr>
            <a:xfrm>
              <a:off x="548640" y="1325880"/>
              <a:ext cx="5319913" cy="4709160"/>
            </a:xfrm>
            <a:prstGeom prst="roundRect">
              <a:avLst>
                <a:gd name="adj" fmla="val 2125"/>
              </a:avLst>
            </a:prstGeom>
            <a:solidFill>
              <a:srgbClr val="F4F8FC"/>
            </a:solidFill>
            <a:ln w="12700">
              <a:solidFill>
                <a:srgbClr val="C8D8EC"/>
              </a:solidFill>
              <a:prstDash val="solid"/>
            </a:ln>
          </p:spPr>
          <p:txBody>
            <a:bodyPr/>
            <a:lstStyle/>
            <a:p>
              <a:endParaRPr lang="en-GB" noProof="0" dirty="0"/>
            </a:p>
          </p:txBody>
        </p:sp>
        <p:sp>
          <p:nvSpPr>
            <p:cNvPr id="6" name="Text 4"/>
            <p:cNvSpPr txBox="1"/>
            <p:nvPr/>
          </p:nvSpPr>
          <p:spPr>
            <a:xfrm>
              <a:off x="804673" y="1754345"/>
              <a:ext cx="2252396" cy="331569"/>
            </a:xfrm>
            <a:prstGeom prst="rect">
              <a:avLst/>
            </a:prstGeom>
            <a:noFill/>
            <a:ln/>
          </p:spPr>
          <p:txBody>
            <a:bodyPr wrap="square" lIns="0" tIns="0" rIns="0" bIns="0" rtlCol="0" anchor="t"/>
            <a:lstStyle/>
            <a:p>
              <a:pPr marL="0" indent="0">
                <a:buNone/>
              </a:pPr>
              <a:r>
                <a:rPr lang="en-GB" sz="1800" b="1" noProof="0" dirty="0">
                  <a:solidFill>
                    <a:srgbClr val="12315B"/>
                  </a:solidFill>
                  <a:latin typeface="Calibri" pitchFamily="34" charset="0"/>
                  <a:ea typeface="Calibri" pitchFamily="34" charset="-122"/>
                  <a:cs typeface="Calibri" pitchFamily="34" charset="-120"/>
                </a:rPr>
                <a:t>Surgery</a:t>
              </a:r>
              <a:endParaRPr lang="en-GB" sz="1800" noProof="0" dirty="0"/>
            </a:p>
          </p:txBody>
        </p:sp>
        <p:sp>
          <p:nvSpPr>
            <p:cNvPr id="7" name="Text 5"/>
            <p:cNvSpPr txBox="1"/>
            <p:nvPr/>
          </p:nvSpPr>
          <p:spPr>
            <a:xfrm>
              <a:off x="726009" y="2163149"/>
              <a:ext cx="4987000" cy="2000000"/>
            </a:xfrm>
            <a:prstGeom prst="rect">
              <a:avLst/>
            </a:prstGeom>
            <a:noFill/>
            <a:ln/>
          </p:spPr>
          <p:txBody>
            <a:bodyPr wrap="square" lIns="0" tIns="0" rIns="0" bIns="0" rtlCol="0" anchor="t"/>
            <a:lstStyle/>
            <a:p>
              <a:pPr marL="342900" indent="-342900">
                <a:lnSpc>
                  <a:spcPct val="95000"/>
                </a:lnSpc>
                <a:spcAft>
                  <a:spcPts val="600"/>
                </a:spcAft>
                <a:buSzPct val="100000"/>
                <a:buChar char="•"/>
              </a:pPr>
              <a:r>
                <a:rPr lang="en-GB" sz="1600" noProof="0" dirty="0">
                  <a:solidFill>
                    <a:srgbClr val="0B1F3F"/>
                  </a:solidFill>
                  <a:latin typeface="Calibri" pitchFamily="34" charset="0"/>
                  <a:ea typeface="Calibri" pitchFamily="34" charset="-122"/>
                  <a:cs typeface="Calibri" pitchFamily="34" charset="-120"/>
                </a:rPr>
                <a:t>Wound pain, swelling and bruising</a:t>
              </a:r>
              <a:endParaRPr lang="en-GB" sz="1600" noProof="0" dirty="0"/>
            </a:p>
            <a:p>
              <a:pPr marL="342900" indent="-342900">
                <a:lnSpc>
                  <a:spcPct val="95000"/>
                </a:lnSpc>
                <a:spcAft>
                  <a:spcPts val="600"/>
                </a:spcAft>
                <a:buSzPct val="100000"/>
                <a:buChar char="•"/>
              </a:pPr>
              <a:r>
                <a:rPr lang="en-GB" sz="1600" noProof="0" dirty="0">
                  <a:solidFill>
                    <a:srgbClr val="0B1F3F"/>
                  </a:solidFill>
                  <a:latin typeface="Calibri" pitchFamily="34" charset="0"/>
                  <a:ea typeface="Calibri" pitchFamily="34" charset="-122"/>
                  <a:cs typeface="Calibri" pitchFamily="34" charset="-120"/>
                </a:rPr>
                <a:t>Wound infection or fluid collection</a:t>
              </a:r>
              <a:endParaRPr lang="en-GB" sz="1600" noProof="0" dirty="0"/>
            </a:p>
            <a:p>
              <a:pPr marL="342900" indent="-342900">
                <a:lnSpc>
                  <a:spcPct val="95000"/>
                </a:lnSpc>
                <a:spcAft>
                  <a:spcPts val="600"/>
                </a:spcAft>
                <a:buSzPct val="100000"/>
                <a:buChar char="•"/>
              </a:pPr>
              <a:r>
                <a:rPr lang="en-GB" sz="1600" noProof="0" dirty="0">
                  <a:solidFill>
                    <a:srgbClr val="0B1F3F"/>
                  </a:solidFill>
                  <a:latin typeface="Calibri" pitchFamily="34" charset="0"/>
                  <a:ea typeface="Calibri" pitchFamily="34" charset="-122"/>
                  <a:cs typeface="Calibri" pitchFamily="34" charset="-120"/>
                </a:rPr>
                <a:t>Numbness of the upper inner arm</a:t>
              </a:r>
              <a:endParaRPr lang="en-GB" sz="1600" noProof="0" dirty="0"/>
            </a:p>
            <a:p>
              <a:pPr marL="342900" indent="-342900">
                <a:lnSpc>
                  <a:spcPct val="95000"/>
                </a:lnSpc>
                <a:spcAft>
                  <a:spcPts val="600"/>
                </a:spcAft>
                <a:buSzPct val="100000"/>
                <a:buChar char="•"/>
              </a:pPr>
              <a:r>
                <a:rPr lang="en-GB" sz="1600" noProof="0" dirty="0">
                  <a:solidFill>
                    <a:srgbClr val="0B1F3F"/>
                  </a:solidFill>
                  <a:latin typeface="Calibri" pitchFamily="34" charset="0"/>
                  <a:ea typeface="Calibri" pitchFamily="34" charset="-122"/>
                  <a:cs typeface="Calibri" pitchFamily="34" charset="-120"/>
                </a:rPr>
                <a:t>Reduced shoulder movement</a:t>
              </a:r>
              <a:endParaRPr lang="en-GB" sz="1600" noProof="0" dirty="0"/>
            </a:p>
            <a:p>
              <a:pPr marL="342900" indent="-342900">
                <a:lnSpc>
                  <a:spcPct val="95000"/>
                </a:lnSpc>
                <a:spcAft>
                  <a:spcPts val="600"/>
                </a:spcAft>
                <a:buSzPct val="100000"/>
                <a:buChar char="•"/>
              </a:pPr>
              <a:r>
                <a:rPr lang="en-GB" sz="1600" noProof="0" dirty="0">
                  <a:solidFill>
                    <a:srgbClr val="0B1F3F"/>
                  </a:solidFill>
                  <a:latin typeface="Calibri" pitchFamily="34" charset="0"/>
                  <a:ea typeface="Calibri" pitchFamily="34" charset="-122"/>
                  <a:cs typeface="Calibri" pitchFamily="34" charset="-120"/>
                </a:rPr>
                <a:t>Scar discomfort and tightness</a:t>
              </a:r>
              <a:endParaRPr lang="en-GB" sz="1600" noProof="0" dirty="0"/>
            </a:p>
            <a:p>
              <a:pPr marL="342900" indent="-342900">
                <a:lnSpc>
                  <a:spcPct val="95000"/>
                </a:lnSpc>
                <a:spcAft>
                  <a:spcPts val="600"/>
                </a:spcAft>
                <a:buSzPct val="100000"/>
                <a:buChar char="•"/>
              </a:pPr>
              <a:r>
                <a:rPr lang="en-GB" sz="1600" noProof="0" dirty="0">
                  <a:solidFill>
                    <a:srgbClr val="0B1F3F"/>
                  </a:solidFill>
                  <a:latin typeface="Calibri" pitchFamily="34" charset="0"/>
                  <a:ea typeface="Calibri" pitchFamily="34" charset="-122"/>
                  <a:cs typeface="Calibri" pitchFamily="34" charset="-120"/>
                </a:rPr>
                <a:t>Change in breast shape or loss of the breast</a:t>
              </a:r>
              <a:endParaRPr lang="en-GB" sz="1600" noProof="0" dirty="0"/>
            </a:p>
          </p:txBody>
        </p:sp>
        <p:pic>
          <p:nvPicPr>
            <p:cNvPr id="11" name="Imagen 10">
              <a:extLst>
                <a:ext uri="{FF2B5EF4-FFF2-40B4-BE49-F238E27FC236}">
                  <a16:creationId xmlns:a16="http://schemas.microsoft.com/office/drawing/2014/main" id="{B2053F71-1927-58BD-73D9-C91428406E4A}"/>
                </a:ext>
              </a:extLst>
            </p:cNvPr>
            <p:cNvPicPr>
              <a:picLocks noChangeAspect="1"/>
            </p:cNvPicPr>
            <p:nvPr/>
          </p:nvPicPr>
          <p:blipFill>
            <a:blip r:embed="rId4" cstate="email">
              <a:extLst>
                <a:ext uri="{28A0092B-C50C-407E-A947-70E740481C1C}">
                  <a14:useLocalDpi xmlns:a14="http://schemas.microsoft.com/office/drawing/2010/main"/>
                </a:ext>
              </a:extLst>
            </a:blip>
            <a:srcRect/>
            <a:stretch>
              <a:fillRect/>
            </a:stretch>
          </p:blipFill>
          <p:spPr>
            <a:xfrm>
              <a:off x="658166" y="4196549"/>
              <a:ext cx="5054843" cy="1335571"/>
            </a:xfrm>
            <a:prstGeom prst="rect">
              <a:avLst/>
            </a:prstGeom>
          </p:spPr>
        </p:pic>
      </p:grpSp>
    </p:spTree>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1E8F5913-4235-F931-EFE4-57C642B88FB7}"/>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8267E4F5-CE22-D383-528D-9FC59B75C3E6}"/>
              </a:ext>
            </a:extLst>
          </p:cNvPr>
          <p:cNvSpPr txBox="1"/>
          <p:nvPr/>
        </p:nvSpPr>
        <p:spPr>
          <a:xfrm>
            <a:off x="548640" y="274320"/>
            <a:ext cx="11094415" cy="256032"/>
          </a:xfrm>
          <a:prstGeom prst="rect">
            <a:avLst/>
          </a:prstGeom>
          <a:noFill/>
          <a:ln/>
        </p:spPr>
        <p:txBody>
          <a:bodyPr wrap="square" lIns="0" tIns="0" rIns="0" bIns="0" rtlCol="0" anchor="ctr"/>
          <a:lstStyle/>
          <a:p>
            <a:pPr marL="0" indent="0">
              <a:buNone/>
            </a:pPr>
            <a:r>
              <a:rPr lang="en-GB" sz="1100" b="1" kern="0" spc="100" noProof="0" dirty="0">
                <a:solidFill>
                  <a:srgbClr val="5B7699"/>
                </a:solidFill>
                <a:latin typeface="Calibri" pitchFamily="34" charset="0"/>
                <a:ea typeface="Calibri" pitchFamily="34" charset="-122"/>
                <a:cs typeface="Calibri" pitchFamily="34" charset="-120"/>
              </a:rPr>
              <a:t>S E S S I O N   5</a:t>
            </a:r>
            <a:endParaRPr lang="en-GB" sz="1100" noProof="0" dirty="0"/>
          </a:p>
        </p:txBody>
      </p:sp>
      <p:sp>
        <p:nvSpPr>
          <p:cNvPr id="3" name="Text 1">
            <a:extLst>
              <a:ext uri="{FF2B5EF4-FFF2-40B4-BE49-F238E27FC236}">
                <a16:creationId xmlns:a16="http://schemas.microsoft.com/office/drawing/2014/main" id="{F9068C55-1593-7AFA-59FB-AB6843BDB679}"/>
              </a:ext>
            </a:extLst>
          </p:cNvPr>
          <p:cNvSpPr txBox="1"/>
          <p:nvPr/>
        </p:nvSpPr>
        <p:spPr>
          <a:xfrm>
            <a:off x="548640" y="6382512"/>
            <a:ext cx="11094415" cy="274320"/>
          </a:xfrm>
          <a:prstGeom prst="rect">
            <a:avLst/>
          </a:prstGeom>
          <a:noFill/>
          <a:ln/>
        </p:spPr>
        <p:txBody>
          <a:bodyPr wrap="square" lIns="0" tIns="0" rIns="0" bIns="0" rtlCol="0" anchor="ctr"/>
          <a:lstStyle/>
          <a:p>
            <a:pPr marL="0" indent="0">
              <a:buNone/>
            </a:pPr>
            <a:r>
              <a:rPr lang="en-GB" sz="1000" noProof="0" dirty="0">
                <a:solidFill>
                  <a:srgbClr val="5B7699"/>
                </a:solidFill>
                <a:latin typeface="Calibri" pitchFamily="34" charset="0"/>
                <a:ea typeface="Calibri" pitchFamily="34" charset="-122"/>
                <a:cs typeface="Calibri" pitchFamily="34" charset="-120"/>
              </a:rPr>
              <a:t>Breast Cancer  |  Frontline HCP  |  Rwanda Biomedical Centre</a:t>
            </a:r>
            <a:endParaRPr lang="en-GB" sz="1000" noProof="0" dirty="0"/>
          </a:p>
        </p:txBody>
      </p:sp>
      <p:sp>
        <p:nvSpPr>
          <p:cNvPr id="4" name="Text 2">
            <a:extLst>
              <a:ext uri="{FF2B5EF4-FFF2-40B4-BE49-F238E27FC236}">
                <a16:creationId xmlns:a16="http://schemas.microsoft.com/office/drawing/2014/main" id="{1DF9E3E6-1402-DB41-95A4-7EBB696BDDE5}"/>
              </a:ext>
            </a:extLst>
          </p:cNvPr>
          <p:cNvSpPr txBox="1"/>
          <p:nvPr/>
        </p:nvSpPr>
        <p:spPr>
          <a:xfrm>
            <a:off x="548640" y="566928"/>
            <a:ext cx="11094415" cy="566928"/>
          </a:xfrm>
          <a:prstGeom prst="rect">
            <a:avLst/>
          </a:prstGeom>
          <a:noFill/>
          <a:ln/>
        </p:spPr>
        <p:txBody>
          <a:bodyPr wrap="square" lIns="0" tIns="0" rIns="0" bIns="0" rtlCol="0" anchor="t"/>
          <a:lstStyle/>
          <a:p>
            <a:pPr marL="0" indent="0">
              <a:buNone/>
            </a:pPr>
            <a:r>
              <a:rPr lang="en-GB" sz="3000" b="1" noProof="0" dirty="0">
                <a:solidFill>
                  <a:srgbClr val="12315B"/>
                </a:solidFill>
                <a:latin typeface="Calibri" pitchFamily="34" charset="0"/>
                <a:ea typeface="Calibri" pitchFamily="34" charset="-122"/>
                <a:cs typeface="Calibri" pitchFamily="34" charset="-120"/>
              </a:rPr>
              <a:t>Effects to recognise, by treatment</a:t>
            </a:r>
            <a:endParaRPr lang="en-GB" sz="3000" noProof="0" dirty="0"/>
          </a:p>
        </p:txBody>
      </p:sp>
      <p:grpSp>
        <p:nvGrpSpPr>
          <p:cNvPr id="6" name="Grupo 5">
            <a:extLst>
              <a:ext uri="{FF2B5EF4-FFF2-40B4-BE49-F238E27FC236}">
                <a16:creationId xmlns:a16="http://schemas.microsoft.com/office/drawing/2014/main" id="{681E27AF-603B-C554-9465-6FBA8E92EEC9}"/>
              </a:ext>
            </a:extLst>
          </p:cNvPr>
          <p:cNvGrpSpPr/>
          <p:nvPr/>
        </p:nvGrpSpPr>
        <p:grpSpPr>
          <a:xfrm>
            <a:off x="6409510" y="1134758"/>
            <a:ext cx="5225143" cy="4709160"/>
            <a:chOff x="6409510" y="1134758"/>
            <a:chExt cx="5225143" cy="4709160"/>
          </a:xfrm>
        </p:grpSpPr>
        <p:sp>
          <p:nvSpPr>
            <p:cNvPr id="14" name="Shape 12">
              <a:extLst>
                <a:ext uri="{FF2B5EF4-FFF2-40B4-BE49-F238E27FC236}">
                  <a16:creationId xmlns:a16="http://schemas.microsoft.com/office/drawing/2014/main" id="{C94A15A2-D9BA-DE19-CCCE-3FB477D48293}"/>
                </a:ext>
              </a:extLst>
            </p:cNvPr>
            <p:cNvSpPr/>
            <p:nvPr/>
          </p:nvSpPr>
          <p:spPr>
            <a:xfrm>
              <a:off x="6409510" y="1134758"/>
              <a:ext cx="5225143" cy="4709160"/>
            </a:xfrm>
            <a:prstGeom prst="roundRect">
              <a:avLst>
                <a:gd name="adj" fmla="val 2125"/>
              </a:avLst>
            </a:prstGeom>
            <a:solidFill>
              <a:srgbClr val="F4F8FC"/>
            </a:solidFill>
            <a:ln w="12700">
              <a:solidFill>
                <a:srgbClr val="C8D8EC"/>
              </a:solidFill>
              <a:prstDash val="solid"/>
            </a:ln>
          </p:spPr>
          <p:txBody>
            <a:bodyPr/>
            <a:lstStyle/>
            <a:p>
              <a:endParaRPr lang="en-GB" noProof="0" dirty="0"/>
            </a:p>
          </p:txBody>
        </p:sp>
        <p:sp>
          <p:nvSpPr>
            <p:cNvPr id="15" name="Text 13">
              <a:extLst>
                <a:ext uri="{FF2B5EF4-FFF2-40B4-BE49-F238E27FC236}">
                  <a16:creationId xmlns:a16="http://schemas.microsoft.com/office/drawing/2014/main" id="{FE7A39C8-B107-CF21-94CB-FC382944DB40}"/>
                </a:ext>
              </a:extLst>
            </p:cNvPr>
            <p:cNvSpPr txBox="1"/>
            <p:nvPr/>
          </p:nvSpPr>
          <p:spPr>
            <a:xfrm>
              <a:off x="6574103" y="1484845"/>
              <a:ext cx="2252396" cy="384048"/>
            </a:xfrm>
            <a:prstGeom prst="rect">
              <a:avLst/>
            </a:prstGeom>
            <a:noFill/>
            <a:ln/>
          </p:spPr>
          <p:txBody>
            <a:bodyPr wrap="square" lIns="0" tIns="0" rIns="0" bIns="0" rtlCol="0" anchor="t"/>
            <a:lstStyle/>
            <a:p>
              <a:pPr marL="0" indent="0">
                <a:buNone/>
              </a:pPr>
              <a:r>
                <a:rPr lang="en-GB" sz="1800" b="1" noProof="0" dirty="0">
                  <a:solidFill>
                    <a:srgbClr val="12315B"/>
                  </a:solidFill>
                  <a:latin typeface="Calibri" pitchFamily="34" charset="0"/>
                  <a:ea typeface="Calibri" pitchFamily="34" charset="-122"/>
                  <a:cs typeface="Calibri" pitchFamily="34" charset="-120"/>
                </a:rPr>
                <a:t>Endocrine therapy</a:t>
              </a:r>
              <a:endParaRPr lang="en-GB" sz="1800" noProof="0" dirty="0"/>
            </a:p>
          </p:txBody>
        </p:sp>
        <p:sp>
          <p:nvSpPr>
            <p:cNvPr id="16" name="Text 14">
              <a:extLst>
                <a:ext uri="{FF2B5EF4-FFF2-40B4-BE49-F238E27FC236}">
                  <a16:creationId xmlns:a16="http://schemas.microsoft.com/office/drawing/2014/main" id="{DF6EA851-0A86-A259-BA48-A5E5264D35AF}"/>
                </a:ext>
              </a:extLst>
            </p:cNvPr>
            <p:cNvSpPr txBox="1"/>
            <p:nvPr/>
          </p:nvSpPr>
          <p:spPr>
            <a:xfrm>
              <a:off x="6574102" y="1923757"/>
              <a:ext cx="4896000" cy="2150000"/>
            </a:xfrm>
            <a:prstGeom prst="rect">
              <a:avLst/>
            </a:prstGeom>
            <a:noFill/>
            <a:ln/>
          </p:spPr>
          <p:txBody>
            <a:bodyPr wrap="square" lIns="0" tIns="0" rIns="0" bIns="0" rtlCol="0" anchor="t"/>
            <a:lstStyle/>
            <a:p>
              <a:pPr marL="342900" indent="-342900">
                <a:lnSpc>
                  <a:spcPct val="95000"/>
                </a:lnSpc>
                <a:spcAft>
                  <a:spcPts val="600"/>
                </a:spcAft>
                <a:buSzPct val="100000"/>
                <a:buChar char="•"/>
              </a:pPr>
              <a:r>
                <a:rPr lang="en-GB" sz="1600" noProof="0" dirty="0">
                  <a:solidFill>
                    <a:srgbClr val="0B1F3F"/>
                  </a:solidFill>
                  <a:latin typeface="Calibri" pitchFamily="34" charset="0"/>
                  <a:ea typeface="Calibri" pitchFamily="34" charset="-122"/>
                  <a:cs typeface="Calibri" pitchFamily="34" charset="-120"/>
                </a:rPr>
                <a:t>Hot flushes and night sweats</a:t>
              </a:r>
              <a:endParaRPr lang="en-GB" sz="1600" noProof="0" dirty="0"/>
            </a:p>
            <a:p>
              <a:pPr marL="342900" indent="-342900">
                <a:lnSpc>
                  <a:spcPct val="95000"/>
                </a:lnSpc>
                <a:spcAft>
                  <a:spcPts val="600"/>
                </a:spcAft>
                <a:buSzPct val="100000"/>
                <a:buChar char="•"/>
              </a:pPr>
              <a:r>
                <a:rPr lang="en-GB" sz="1600" noProof="0" dirty="0">
                  <a:solidFill>
                    <a:srgbClr val="0B1F3F"/>
                  </a:solidFill>
                  <a:latin typeface="Calibri" pitchFamily="34" charset="0"/>
                  <a:ea typeface="Calibri" pitchFamily="34" charset="-122"/>
                  <a:cs typeface="Calibri" pitchFamily="34" charset="-120"/>
                </a:rPr>
                <a:t>Joint and muscle aches</a:t>
              </a:r>
              <a:endParaRPr lang="en-GB" sz="1600" noProof="0" dirty="0"/>
            </a:p>
            <a:p>
              <a:pPr marL="342900" indent="-342900">
                <a:lnSpc>
                  <a:spcPct val="95000"/>
                </a:lnSpc>
                <a:spcAft>
                  <a:spcPts val="600"/>
                </a:spcAft>
                <a:buSzPct val="100000"/>
                <a:buChar char="•"/>
              </a:pPr>
              <a:r>
                <a:rPr lang="en-GB" sz="1600" noProof="0" dirty="0">
                  <a:solidFill>
                    <a:srgbClr val="0B1F3F"/>
                  </a:solidFill>
                  <a:latin typeface="Calibri" pitchFamily="34" charset="0"/>
                  <a:ea typeface="Calibri" pitchFamily="34" charset="-122"/>
                  <a:cs typeface="Calibri" pitchFamily="34" charset="-120"/>
                </a:rPr>
                <a:t>Vaginal dryness and discomfort</a:t>
              </a:r>
              <a:endParaRPr lang="en-GB" sz="1600" noProof="0" dirty="0"/>
            </a:p>
            <a:p>
              <a:pPr marL="342900" indent="-342900">
                <a:lnSpc>
                  <a:spcPct val="95000"/>
                </a:lnSpc>
                <a:spcAft>
                  <a:spcPts val="600"/>
                </a:spcAft>
                <a:buSzPct val="100000"/>
                <a:buChar char="•"/>
              </a:pPr>
              <a:r>
                <a:rPr lang="en-GB" sz="1600" noProof="0" dirty="0">
                  <a:solidFill>
                    <a:srgbClr val="0B1F3F"/>
                  </a:solidFill>
                  <a:latin typeface="Calibri" pitchFamily="34" charset="0"/>
                  <a:ea typeface="Calibri" pitchFamily="34" charset="-122"/>
                  <a:cs typeface="Calibri" pitchFamily="34" charset="-120"/>
                </a:rPr>
                <a:t>Mood changes and sleep disturbance</a:t>
              </a:r>
              <a:endParaRPr lang="en-GB" sz="1600" noProof="0" dirty="0"/>
            </a:p>
            <a:p>
              <a:pPr marL="342900" indent="-342900">
                <a:lnSpc>
                  <a:spcPct val="95000"/>
                </a:lnSpc>
                <a:spcAft>
                  <a:spcPts val="600"/>
                </a:spcAft>
                <a:buSzPct val="100000"/>
                <a:buChar char="•"/>
              </a:pPr>
              <a:r>
                <a:rPr lang="en-GB" sz="1600" noProof="0" dirty="0">
                  <a:solidFill>
                    <a:srgbClr val="0B1F3F"/>
                  </a:solidFill>
                  <a:latin typeface="Calibri" pitchFamily="34" charset="0"/>
                  <a:ea typeface="Calibri" pitchFamily="34" charset="-122"/>
                  <a:cs typeface="Calibri" pitchFamily="34" charset="-120"/>
                </a:rPr>
                <a:t>Effects on bone health with some medicines</a:t>
              </a:r>
              <a:endParaRPr lang="en-GB" sz="1600" noProof="0" dirty="0"/>
            </a:p>
            <a:p>
              <a:pPr marL="342900" indent="-342900">
                <a:lnSpc>
                  <a:spcPct val="95000"/>
                </a:lnSpc>
                <a:spcAft>
                  <a:spcPts val="600"/>
                </a:spcAft>
                <a:buSzPct val="100000"/>
                <a:buChar char="•"/>
              </a:pPr>
              <a:r>
                <a:rPr lang="en-GB" sz="1600" noProof="0" dirty="0">
                  <a:solidFill>
                    <a:srgbClr val="0B1F3F"/>
                  </a:solidFill>
                  <a:latin typeface="Calibri" pitchFamily="34" charset="0"/>
                  <a:ea typeface="Calibri" pitchFamily="34" charset="-122"/>
                  <a:cs typeface="Calibri" pitchFamily="34" charset="-120"/>
                </a:rPr>
                <a:t>Effects that persist for years, which is why adherence suffers</a:t>
              </a:r>
              <a:endParaRPr lang="en-GB" sz="1600" noProof="0" dirty="0"/>
            </a:p>
          </p:txBody>
        </p:sp>
        <p:pic>
          <p:nvPicPr>
            <p:cNvPr id="18" name="Imagen 17">
              <a:extLst>
                <a:ext uri="{FF2B5EF4-FFF2-40B4-BE49-F238E27FC236}">
                  <a16:creationId xmlns:a16="http://schemas.microsoft.com/office/drawing/2014/main" id="{DDC4FCC3-BDE7-E3B4-2F70-06E626E52187}"/>
                </a:ext>
              </a:extLst>
            </p:cNvPr>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a:xfrm>
              <a:off x="6574102" y="4250000"/>
              <a:ext cx="4896000" cy="1294000"/>
            </a:xfrm>
            <a:prstGeom prst="rect">
              <a:avLst/>
            </a:prstGeom>
          </p:spPr>
        </p:pic>
      </p:grpSp>
      <p:grpSp>
        <p:nvGrpSpPr>
          <p:cNvPr id="5" name="Grupo 4">
            <a:extLst>
              <a:ext uri="{FF2B5EF4-FFF2-40B4-BE49-F238E27FC236}">
                <a16:creationId xmlns:a16="http://schemas.microsoft.com/office/drawing/2014/main" id="{E6B556F3-CE8F-78BC-0720-B74BD3A5059E}"/>
              </a:ext>
            </a:extLst>
          </p:cNvPr>
          <p:cNvGrpSpPr/>
          <p:nvPr/>
        </p:nvGrpSpPr>
        <p:grpSpPr>
          <a:xfrm>
            <a:off x="548639" y="1170432"/>
            <a:ext cx="5547361" cy="4709160"/>
            <a:chOff x="548639" y="1170432"/>
            <a:chExt cx="5547361" cy="4709160"/>
          </a:xfrm>
        </p:grpSpPr>
        <p:sp>
          <p:nvSpPr>
            <p:cNvPr id="11" name="Shape 9">
              <a:extLst>
                <a:ext uri="{FF2B5EF4-FFF2-40B4-BE49-F238E27FC236}">
                  <a16:creationId xmlns:a16="http://schemas.microsoft.com/office/drawing/2014/main" id="{BE5C946E-7E8B-5668-C93D-C8DEF1D82FF5}"/>
                </a:ext>
              </a:extLst>
            </p:cNvPr>
            <p:cNvSpPr/>
            <p:nvPr/>
          </p:nvSpPr>
          <p:spPr>
            <a:xfrm>
              <a:off x="548639" y="1170432"/>
              <a:ext cx="5547361" cy="4709160"/>
            </a:xfrm>
            <a:prstGeom prst="roundRect">
              <a:avLst>
                <a:gd name="adj" fmla="val 2125"/>
              </a:avLst>
            </a:prstGeom>
            <a:solidFill>
              <a:srgbClr val="F4F8FC"/>
            </a:solidFill>
            <a:ln w="12700">
              <a:solidFill>
                <a:srgbClr val="C8D8EC"/>
              </a:solidFill>
              <a:prstDash val="solid"/>
            </a:ln>
          </p:spPr>
          <p:txBody>
            <a:bodyPr/>
            <a:lstStyle/>
            <a:p>
              <a:endParaRPr lang="en-GB" noProof="0" dirty="0"/>
            </a:p>
          </p:txBody>
        </p:sp>
        <p:sp>
          <p:nvSpPr>
            <p:cNvPr id="12" name="Text 10">
              <a:extLst>
                <a:ext uri="{FF2B5EF4-FFF2-40B4-BE49-F238E27FC236}">
                  <a16:creationId xmlns:a16="http://schemas.microsoft.com/office/drawing/2014/main" id="{2E4237E4-865F-CF37-DB38-0B41FD7EF61A}"/>
                </a:ext>
              </a:extLst>
            </p:cNvPr>
            <p:cNvSpPr txBox="1"/>
            <p:nvPr/>
          </p:nvSpPr>
          <p:spPr>
            <a:xfrm>
              <a:off x="713232" y="1598896"/>
              <a:ext cx="2252396" cy="384048"/>
            </a:xfrm>
            <a:prstGeom prst="rect">
              <a:avLst/>
            </a:prstGeom>
            <a:noFill/>
            <a:ln/>
          </p:spPr>
          <p:txBody>
            <a:bodyPr wrap="square" lIns="0" tIns="0" rIns="0" bIns="0" rtlCol="0" anchor="t"/>
            <a:lstStyle/>
            <a:p>
              <a:pPr marL="0" indent="0">
                <a:buNone/>
              </a:pPr>
              <a:r>
                <a:rPr lang="en-GB" sz="1800" b="1" noProof="0" dirty="0">
                  <a:solidFill>
                    <a:srgbClr val="12315B"/>
                  </a:solidFill>
                  <a:latin typeface="Calibri" pitchFamily="34" charset="0"/>
                  <a:ea typeface="Calibri" pitchFamily="34" charset="-122"/>
                  <a:cs typeface="Calibri" pitchFamily="34" charset="-120"/>
                </a:rPr>
                <a:t>Chemotherapy</a:t>
              </a:r>
              <a:endParaRPr lang="en-GB" sz="1800" noProof="0" dirty="0"/>
            </a:p>
          </p:txBody>
        </p:sp>
        <p:sp>
          <p:nvSpPr>
            <p:cNvPr id="13" name="Text 11">
              <a:extLst>
                <a:ext uri="{FF2B5EF4-FFF2-40B4-BE49-F238E27FC236}">
                  <a16:creationId xmlns:a16="http://schemas.microsoft.com/office/drawing/2014/main" id="{36C3AB54-1C33-DCC6-26F2-60EEFF5F5524}"/>
                </a:ext>
              </a:extLst>
            </p:cNvPr>
            <p:cNvSpPr txBox="1"/>
            <p:nvPr/>
          </p:nvSpPr>
          <p:spPr>
            <a:xfrm>
              <a:off x="713232" y="2037808"/>
              <a:ext cx="5218000" cy="2050000"/>
            </a:xfrm>
            <a:prstGeom prst="rect">
              <a:avLst/>
            </a:prstGeom>
            <a:noFill/>
            <a:ln/>
          </p:spPr>
          <p:txBody>
            <a:bodyPr wrap="square" lIns="0" tIns="0" rIns="0" bIns="0" rtlCol="0" anchor="t"/>
            <a:lstStyle/>
            <a:p>
              <a:pPr marL="342900" indent="-342900">
                <a:lnSpc>
                  <a:spcPct val="95000"/>
                </a:lnSpc>
                <a:spcAft>
                  <a:spcPts val="600"/>
                </a:spcAft>
                <a:buSzPct val="100000"/>
                <a:buChar char="•"/>
              </a:pPr>
              <a:r>
                <a:rPr lang="en-GB" sz="1600" noProof="0" dirty="0">
                  <a:solidFill>
                    <a:srgbClr val="0B1F3F"/>
                  </a:solidFill>
                  <a:latin typeface="Calibri" pitchFamily="34" charset="0"/>
                  <a:ea typeface="Calibri" pitchFamily="34" charset="-122"/>
                  <a:cs typeface="Calibri" pitchFamily="34" charset="-120"/>
                </a:rPr>
                <a:t>Fatigue, nausea and vomiting</a:t>
              </a:r>
              <a:endParaRPr lang="en-GB" sz="1600" noProof="0" dirty="0"/>
            </a:p>
            <a:p>
              <a:pPr marL="342900" indent="-342900">
                <a:lnSpc>
                  <a:spcPct val="95000"/>
                </a:lnSpc>
                <a:spcAft>
                  <a:spcPts val="600"/>
                </a:spcAft>
                <a:buSzPct val="100000"/>
                <a:buChar char="•"/>
              </a:pPr>
              <a:r>
                <a:rPr lang="en-GB" sz="1600" noProof="0" dirty="0">
                  <a:solidFill>
                    <a:srgbClr val="0B1F3F"/>
                  </a:solidFill>
                  <a:latin typeface="Calibri" pitchFamily="34" charset="0"/>
                  <a:ea typeface="Calibri" pitchFamily="34" charset="-122"/>
                  <a:cs typeface="Calibri" pitchFamily="34" charset="-120"/>
                </a:rPr>
                <a:t>Hair loss, usually temporary</a:t>
              </a:r>
              <a:endParaRPr lang="en-GB" sz="1600" noProof="0" dirty="0"/>
            </a:p>
            <a:p>
              <a:pPr marL="342900" indent="-342900">
                <a:lnSpc>
                  <a:spcPct val="95000"/>
                </a:lnSpc>
                <a:spcAft>
                  <a:spcPts val="600"/>
                </a:spcAft>
                <a:buSzPct val="100000"/>
                <a:buChar char="•"/>
              </a:pPr>
              <a:r>
                <a:rPr lang="en-GB" sz="1600" noProof="0" dirty="0">
                  <a:solidFill>
                    <a:srgbClr val="0B1F3F"/>
                  </a:solidFill>
                  <a:latin typeface="Calibri" pitchFamily="34" charset="0"/>
                  <a:ea typeface="Calibri" pitchFamily="34" charset="-122"/>
                  <a:cs typeface="Calibri" pitchFamily="34" charset="-120"/>
                </a:rPr>
                <a:t>Mouth soreness</a:t>
              </a:r>
              <a:endParaRPr lang="en-GB" sz="1600" noProof="0" dirty="0"/>
            </a:p>
            <a:p>
              <a:pPr marL="342900" indent="-342900">
                <a:lnSpc>
                  <a:spcPct val="95000"/>
                </a:lnSpc>
                <a:spcAft>
                  <a:spcPts val="600"/>
                </a:spcAft>
                <a:buSzPct val="100000"/>
                <a:buChar char="•"/>
              </a:pPr>
              <a:r>
                <a:rPr lang="en-GB" sz="1600" noProof="0" dirty="0">
                  <a:solidFill>
                    <a:srgbClr val="0B1F3F"/>
                  </a:solidFill>
                  <a:latin typeface="Calibri" pitchFamily="34" charset="0"/>
                  <a:ea typeface="Calibri" pitchFamily="34" charset="-122"/>
                  <a:cs typeface="Calibri" pitchFamily="34" charset="-120"/>
                </a:rPr>
                <a:t>Low blood counts and infection risk</a:t>
              </a:r>
              <a:endParaRPr lang="en-GB" sz="1600" noProof="0" dirty="0"/>
            </a:p>
            <a:p>
              <a:pPr marL="342900" indent="-342900">
                <a:lnSpc>
                  <a:spcPct val="95000"/>
                </a:lnSpc>
                <a:spcAft>
                  <a:spcPts val="600"/>
                </a:spcAft>
                <a:buSzPct val="100000"/>
                <a:buChar char="•"/>
              </a:pPr>
              <a:r>
                <a:rPr lang="en-GB" sz="1600" noProof="0" dirty="0">
                  <a:solidFill>
                    <a:srgbClr val="0B1F3F"/>
                  </a:solidFill>
                  <a:latin typeface="Calibri" pitchFamily="34" charset="0"/>
                  <a:ea typeface="Calibri" pitchFamily="34" charset="-122"/>
                  <a:cs typeface="Calibri" pitchFamily="34" charset="-120"/>
                </a:rPr>
                <a:t>Numbness and tingling in hands or feet</a:t>
              </a:r>
              <a:endParaRPr lang="en-GB" sz="1600" noProof="0" dirty="0"/>
            </a:p>
            <a:p>
              <a:pPr marL="342900" indent="-342900">
                <a:lnSpc>
                  <a:spcPct val="95000"/>
                </a:lnSpc>
                <a:spcAft>
                  <a:spcPts val="600"/>
                </a:spcAft>
                <a:buSzPct val="100000"/>
                <a:buChar char="•"/>
              </a:pPr>
              <a:r>
                <a:rPr lang="en-GB" sz="1600" noProof="0" dirty="0">
                  <a:solidFill>
                    <a:srgbClr val="0B1F3F"/>
                  </a:solidFill>
                  <a:latin typeface="Calibri" pitchFamily="34" charset="0"/>
                  <a:ea typeface="Calibri" pitchFamily="34" charset="-122"/>
                  <a:cs typeface="Calibri" pitchFamily="34" charset="-120"/>
                </a:rPr>
                <a:t>Effects on periods and on fertility</a:t>
              </a:r>
              <a:endParaRPr lang="en-GB" sz="1600" noProof="0" dirty="0"/>
            </a:p>
          </p:txBody>
        </p:sp>
        <p:pic>
          <p:nvPicPr>
            <p:cNvPr id="19" name="Imagen 18">
              <a:extLst>
                <a:ext uri="{FF2B5EF4-FFF2-40B4-BE49-F238E27FC236}">
                  <a16:creationId xmlns:a16="http://schemas.microsoft.com/office/drawing/2014/main" id="{0F41BB82-1A6E-ED11-AC66-1E6CFD207F79}"/>
                </a:ext>
              </a:extLst>
            </p:cNvPr>
            <p:cNvPicPr>
              <a:picLocks noChangeAspect="1"/>
            </p:cNvPicPr>
            <p:nvPr/>
          </p:nvPicPr>
          <p:blipFill>
            <a:blip r:embed="rId4" cstate="email">
              <a:extLst>
                <a:ext uri="{28A0092B-C50C-407E-A947-70E740481C1C}">
                  <a14:useLocalDpi xmlns:a14="http://schemas.microsoft.com/office/drawing/2010/main"/>
                </a:ext>
              </a:extLst>
            </a:blip>
            <a:srcRect/>
            <a:stretch>
              <a:fillRect/>
            </a:stretch>
          </p:blipFill>
          <p:spPr>
            <a:xfrm>
              <a:off x="713232" y="4250000"/>
              <a:ext cx="5218000" cy="1379000"/>
            </a:xfrm>
            <a:prstGeom prst="rect">
              <a:avLst/>
            </a:prstGeom>
          </p:spPr>
        </p:pic>
      </p:grpSp>
    </p:spTree>
    <p:extLst>
      <p:ext uri="{BB962C8B-B14F-4D97-AF65-F5344CB8AC3E}">
        <p14:creationId xmlns:p14="http://schemas.microsoft.com/office/powerpoint/2010/main" val="2668377695"/>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name="Slide 10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en-GB" sz="1100" b="1" kern="0" spc="100" noProof="0" dirty="0">
                <a:solidFill>
                  <a:srgbClr val="5B7699"/>
                </a:solidFill>
                <a:latin typeface="Calibri" pitchFamily="34" charset="0"/>
                <a:ea typeface="Calibri" pitchFamily="34" charset="-122"/>
                <a:cs typeface="Calibri" pitchFamily="34" charset="-120"/>
              </a:rPr>
              <a:t>S E S S I O N   5</a:t>
            </a:r>
            <a:endParaRPr lang="en-GB"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en-GB" sz="1000" noProof="0" dirty="0">
                <a:solidFill>
                  <a:srgbClr val="5B7699"/>
                </a:solidFill>
                <a:latin typeface="Calibri" pitchFamily="34" charset="0"/>
                <a:ea typeface="Calibri" pitchFamily="34" charset="-122"/>
                <a:cs typeface="Calibri" pitchFamily="34" charset="-120"/>
              </a:rPr>
              <a:t>Breast Cancer  |  Frontline HCP  |  Rwanda Biomedical Centre</a:t>
            </a:r>
            <a:endParaRPr lang="en-GB"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en-GB" sz="3000" b="1" noProof="0" dirty="0">
                <a:solidFill>
                  <a:srgbClr val="12315B"/>
                </a:solidFill>
                <a:latin typeface="Calibri" pitchFamily="34" charset="0"/>
                <a:ea typeface="Calibri" pitchFamily="34" charset="-122"/>
                <a:cs typeface="Calibri" pitchFamily="34" charset="-120"/>
              </a:rPr>
              <a:t>Sort the symptom</a:t>
            </a:r>
            <a:endParaRPr lang="en-GB" sz="3000" noProof="0" dirty="0"/>
          </a:p>
        </p:txBody>
      </p:sp>
      <p:sp>
        <p:nvSpPr>
          <p:cNvPr id="5" name="Shape 3"/>
          <p:cNvSpPr/>
          <p:nvPr/>
        </p:nvSpPr>
        <p:spPr>
          <a:xfrm>
            <a:off x="8039988" y="1325880"/>
            <a:ext cx="3527450" cy="4572000"/>
          </a:xfrm>
          <a:prstGeom prst="roundRect">
            <a:avLst>
              <a:gd name="adj" fmla="val 1555"/>
            </a:avLst>
          </a:prstGeom>
          <a:solidFill>
            <a:srgbClr val="EAF5EF"/>
          </a:solidFill>
          <a:ln w="12700">
            <a:solidFill>
              <a:srgbClr val="8FC4A9"/>
            </a:solidFill>
            <a:prstDash val="solid"/>
          </a:ln>
        </p:spPr>
        <p:txBody>
          <a:bodyPr/>
          <a:lstStyle/>
          <a:p>
            <a:endParaRPr lang="en-GB" noProof="0" dirty="0"/>
          </a:p>
        </p:txBody>
      </p:sp>
      <p:sp>
        <p:nvSpPr>
          <p:cNvPr id="6" name="Text 4"/>
          <p:cNvSpPr txBox="1"/>
          <p:nvPr/>
        </p:nvSpPr>
        <p:spPr>
          <a:xfrm>
            <a:off x="8204580" y="1453896"/>
            <a:ext cx="3198266" cy="384048"/>
          </a:xfrm>
          <a:prstGeom prst="rect">
            <a:avLst/>
          </a:prstGeom>
          <a:noFill/>
          <a:ln/>
        </p:spPr>
        <p:txBody>
          <a:bodyPr wrap="square" lIns="0" tIns="0" rIns="0" bIns="0" rtlCol="0" anchor="t"/>
          <a:lstStyle/>
          <a:p>
            <a:r>
              <a:rPr lang="en-GB" b="1" dirty="0">
                <a:solidFill>
                  <a:srgbClr val="1B6E4A"/>
                </a:solidFill>
                <a:latin typeface="Calibri" pitchFamily="34" charset="0"/>
                <a:ea typeface="Calibri" pitchFamily="34" charset="-122"/>
                <a:cs typeface="Calibri" pitchFamily="34" charset="-120"/>
              </a:rPr>
              <a:t>🟢 Expected</a:t>
            </a:r>
            <a:r>
              <a:rPr lang="en-GB" sz="1800" b="1" noProof="0" dirty="0">
                <a:solidFill>
                  <a:srgbClr val="1B6E4A"/>
                </a:solidFill>
                <a:latin typeface="Calibri" pitchFamily="34" charset="0"/>
                <a:ea typeface="Calibri" pitchFamily="34" charset="-122"/>
                <a:cs typeface="Calibri" pitchFamily="34" charset="-120"/>
              </a:rPr>
              <a:t>, manage and review</a:t>
            </a:r>
            <a:endParaRPr lang="en-GB" sz="1800" noProof="0" dirty="0"/>
          </a:p>
        </p:txBody>
      </p:sp>
      <p:sp>
        <p:nvSpPr>
          <p:cNvPr id="7" name="Text 5"/>
          <p:cNvSpPr txBox="1"/>
          <p:nvPr/>
        </p:nvSpPr>
        <p:spPr>
          <a:xfrm>
            <a:off x="8204580" y="1892808"/>
            <a:ext cx="3198266" cy="3858768"/>
          </a:xfrm>
          <a:prstGeom prst="rect">
            <a:avLst/>
          </a:prstGeom>
          <a:noFill/>
          <a:ln/>
        </p:spPr>
        <p:txBody>
          <a:bodyPr wrap="square" lIns="0" tIns="0" rIns="0" bIns="0" rtlCol="0" anchor="t"/>
          <a:lstStyle/>
          <a:p>
            <a:pPr marL="342900" indent="-342900">
              <a:lnSpc>
                <a:spcPct val="95000"/>
              </a:lnSpc>
              <a:spcAft>
                <a:spcPts val="600"/>
              </a:spcAft>
              <a:buSzPct val="100000"/>
              <a:buChar char="•"/>
            </a:pPr>
            <a:r>
              <a:rPr lang="en-GB" sz="1600" noProof="0" dirty="0">
                <a:solidFill>
                  <a:srgbClr val="0B1F3F"/>
                </a:solidFill>
                <a:latin typeface="Calibri" pitchFamily="34" charset="0"/>
                <a:ea typeface="Calibri" pitchFamily="34" charset="-122"/>
                <a:cs typeface="Calibri" pitchFamily="34" charset="-120"/>
              </a:rPr>
              <a:t>Mild fatigue during treatment</a:t>
            </a:r>
            <a:endParaRPr lang="en-GB" sz="1600" noProof="0" dirty="0"/>
          </a:p>
          <a:p>
            <a:pPr marL="342900" indent="-342900">
              <a:lnSpc>
                <a:spcPct val="95000"/>
              </a:lnSpc>
              <a:spcAft>
                <a:spcPts val="600"/>
              </a:spcAft>
              <a:buSzPct val="100000"/>
              <a:buChar char="•"/>
            </a:pPr>
            <a:r>
              <a:rPr lang="en-GB" sz="1600" noProof="0" dirty="0">
                <a:solidFill>
                  <a:srgbClr val="0B1F3F"/>
                </a:solidFill>
                <a:latin typeface="Calibri" pitchFamily="34" charset="0"/>
                <a:ea typeface="Calibri" pitchFamily="34" charset="-122"/>
                <a:cs typeface="Calibri" pitchFamily="34" charset="-120"/>
              </a:rPr>
              <a:t>Mild nausea controlled by medicines</a:t>
            </a:r>
            <a:endParaRPr lang="en-GB" sz="1600" noProof="0" dirty="0"/>
          </a:p>
          <a:p>
            <a:pPr marL="342900" indent="-342900">
              <a:lnSpc>
                <a:spcPct val="95000"/>
              </a:lnSpc>
              <a:spcAft>
                <a:spcPts val="600"/>
              </a:spcAft>
              <a:buSzPct val="100000"/>
              <a:buChar char="•"/>
            </a:pPr>
            <a:r>
              <a:rPr lang="en-GB" sz="1600" noProof="0" dirty="0">
                <a:solidFill>
                  <a:srgbClr val="0B1F3F"/>
                </a:solidFill>
                <a:latin typeface="Calibri" pitchFamily="34" charset="0"/>
                <a:ea typeface="Calibri" pitchFamily="34" charset="-122"/>
                <a:cs typeface="Calibri" pitchFamily="34" charset="-120"/>
              </a:rPr>
              <a:t>Hair thinning or hair loss</a:t>
            </a:r>
            <a:endParaRPr lang="en-GB" sz="1600" noProof="0" dirty="0"/>
          </a:p>
          <a:p>
            <a:pPr marL="342900" indent="-342900">
              <a:lnSpc>
                <a:spcPct val="95000"/>
              </a:lnSpc>
              <a:spcAft>
                <a:spcPts val="600"/>
              </a:spcAft>
              <a:buSzPct val="100000"/>
              <a:buChar char="•"/>
            </a:pPr>
            <a:r>
              <a:rPr lang="en-GB" sz="1600" noProof="0" dirty="0">
                <a:solidFill>
                  <a:srgbClr val="0B1F3F"/>
                </a:solidFill>
                <a:latin typeface="Calibri" pitchFamily="34" charset="0"/>
                <a:ea typeface="Calibri" pitchFamily="34" charset="-122"/>
                <a:cs typeface="Calibri" pitchFamily="34" charset="-120"/>
              </a:rPr>
              <a:t>Mild skin dryness in the radiotherapy area</a:t>
            </a:r>
            <a:endParaRPr lang="en-GB" sz="1600" noProof="0" dirty="0"/>
          </a:p>
          <a:p>
            <a:pPr marL="342900" indent="-342900">
              <a:lnSpc>
                <a:spcPct val="95000"/>
              </a:lnSpc>
              <a:spcAft>
                <a:spcPts val="600"/>
              </a:spcAft>
              <a:buSzPct val="100000"/>
              <a:buChar char="•"/>
            </a:pPr>
            <a:r>
              <a:rPr lang="en-GB" sz="1600" noProof="0" dirty="0">
                <a:solidFill>
                  <a:srgbClr val="0B1F3F"/>
                </a:solidFill>
                <a:latin typeface="Calibri" pitchFamily="34" charset="0"/>
                <a:ea typeface="Calibri" pitchFamily="34" charset="-122"/>
                <a:cs typeface="Calibri" pitchFamily="34" charset="-120"/>
              </a:rPr>
              <a:t>Hot flushes on endocrine therapy</a:t>
            </a:r>
            <a:endParaRPr lang="en-GB" sz="1600" noProof="0" dirty="0"/>
          </a:p>
          <a:p>
            <a:pPr marL="342900" indent="-342900">
              <a:lnSpc>
                <a:spcPct val="95000"/>
              </a:lnSpc>
              <a:spcAft>
                <a:spcPts val="600"/>
              </a:spcAft>
              <a:buSzPct val="100000"/>
              <a:buChar char="•"/>
            </a:pPr>
            <a:r>
              <a:rPr lang="en-GB" sz="1600" noProof="0" dirty="0">
                <a:solidFill>
                  <a:srgbClr val="0B1F3F"/>
                </a:solidFill>
                <a:latin typeface="Calibri" pitchFamily="34" charset="0"/>
                <a:ea typeface="Calibri" pitchFamily="34" charset="-122"/>
                <a:cs typeface="Calibri" pitchFamily="34" charset="-120"/>
              </a:rPr>
              <a:t>Mild scar discomfort in the weeks after surgery</a:t>
            </a:r>
            <a:endParaRPr lang="en-GB" sz="1600" noProof="0" dirty="0"/>
          </a:p>
        </p:txBody>
      </p:sp>
      <p:sp>
        <p:nvSpPr>
          <p:cNvPr id="8" name="Shape 6"/>
          <p:cNvSpPr/>
          <p:nvPr/>
        </p:nvSpPr>
        <p:spPr>
          <a:xfrm>
            <a:off x="4332122" y="1325880"/>
            <a:ext cx="3527450" cy="4572000"/>
          </a:xfrm>
          <a:prstGeom prst="roundRect">
            <a:avLst>
              <a:gd name="adj" fmla="val 1555"/>
            </a:avLst>
          </a:prstGeom>
          <a:solidFill>
            <a:srgbClr val="FDF1E0"/>
          </a:solidFill>
          <a:ln w="12700">
            <a:solidFill>
              <a:srgbClr val="EFD3AA"/>
            </a:solidFill>
            <a:prstDash val="solid"/>
          </a:ln>
        </p:spPr>
        <p:txBody>
          <a:bodyPr/>
          <a:lstStyle/>
          <a:p>
            <a:endParaRPr lang="en-GB" noProof="0" dirty="0"/>
          </a:p>
        </p:txBody>
      </p:sp>
      <p:sp>
        <p:nvSpPr>
          <p:cNvPr id="9" name="Text 7"/>
          <p:cNvSpPr txBox="1"/>
          <p:nvPr/>
        </p:nvSpPr>
        <p:spPr>
          <a:xfrm>
            <a:off x="4496714" y="1453896"/>
            <a:ext cx="3198266" cy="384048"/>
          </a:xfrm>
          <a:prstGeom prst="rect">
            <a:avLst/>
          </a:prstGeom>
          <a:noFill/>
          <a:ln/>
        </p:spPr>
        <p:txBody>
          <a:bodyPr wrap="square" lIns="0" tIns="0" rIns="0" bIns="0" rtlCol="0" anchor="t"/>
          <a:lstStyle/>
          <a:p>
            <a:r>
              <a:rPr lang="en-GB" b="1" dirty="0">
                <a:solidFill>
                  <a:srgbClr val="C9761A"/>
                </a:solidFill>
                <a:latin typeface="Calibri" pitchFamily="34" charset="0"/>
                <a:ea typeface="Calibri" pitchFamily="34" charset="-122"/>
                <a:cs typeface="Calibri" pitchFamily="34" charset="-120"/>
              </a:rPr>
              <a:t>🟠 Assess </a:t>
            </a:r>
            <a:r>
              <a:rPr lang="en-GB" sz="1800" b="1" noProof="0" dirty="0">
                <a:solidFill>
                  <a:srgbClr val="C9761A"/>
                </a:solidFill>
                <a:latin typeface="Calibri" pitchFamily="34" charset="0"/>
                <a:ea typeface="Calibri" pitchFamily="34" charset="-122"/>
                <a:cs typeface="Calibri" pitchFamily="34" charset="-120"/>
              </a:rPr>
              <a:t>soon</a:t>
            </a:r>
            <a:endParaRPr lang="en-GB" sz="1800" noProof="0" dirty="0"/>
          </a:p>
        </p:txBody>
      </p:sp>
      <p:sp>
        <p:nvSpPr>
          <p:cNvPr id="10" name="Text 8"/>
          <p:cNvSpPr txBox="1"/>
          <p:nvPr/>
        </p:nvSpPr>
        <p:spPr>
          <a:xfrm>
            <a:off x="4496714" y="1892808"/>
            <a:ext cx="3198266" cy="3858768"/>
          </a:xfrm>
          <a:prstGeom prst="rect">
            <a:avLst/>
          </a:prstGeom>
          <a:noFill/>
          <a:ln/>
        </p:spPr>
        <p:txBody>
          <a:bodyPr wrap="square" lIns="0" tIns="0" rIns="0" bIns="0" rtlCol="0" anchor="t"/>
          <a:lstStyle/>
          <a:p>
            <a:pPr marL="342900" indent="-342900">
              <a:lnSpc>
                <a:spcPct val="95000"/>
              </a:lnSpc>
              <a:spcAft>
                <a:spcPts val="600"/>
              </a:spcAft>
              <a:buSzPct val="100000"/>
              <a:buChar char="•"/>
            </a:pPr>
            <a:r>
              <a:rPr lang="en-GB" sz="1600" noProof="0" dirty="0">
                <a:solidFill>
                  <a:srgbClr val="0B1F3F"/>
                </a:solidFill>
                <a:latin typeface="Calibri" pitchFamily="34" charset="0"/>
                <a:ea typeface="Calibri" pitchFamily="34" charset="-122"/>
                <a:cs typeface="Calibri" pitchFamily="34" charset="-120"/>
              </a:rPr>
              <a:t>New or increasing swelling of the arm or hand</a:t>
            </a:r>
            <a:endParaRPr lang="en-GB" sz="1600" noProof="0" dirty="0"/>
          </a:p>
          <a:p>
            <a:pPr marL="342900" indent="-342900">
              <a:lnSpc>
                <a:spcPct val="95000"/>
              </a:lnSpc>
              <a:spcAft>
                <a:spcPts val="600"/>
              </a:spcAft>
              <a:buSzPct val="100000"/>
              <a:buChar char="•"/>
            </a:pPr>
            <a:r>
              <a:rPr lang="en-GB" sz="1600" noProof="0" dirty="0">
                <a:solidFill>
                  <a:srgbClr val="0B1F3F"/>
                </a:solidFill>
                <a:latin typeface="Calibri" pitchFamily="34" charset="0"/>
                <a:ea typeface="Calibri" pitchFamily="34" charset="-122"/>
                <a:cs typeface="Calibri" pitchFamily="34" charset="-120"/>
              </a:rPr>
              <a:t>Shoulder stiffness limiting daily activity</a:t>
            </a:r>
            <a:endParaRPr lang="en-GB" sz="1600" noProof="0" dirty="0"/>
          </a:p>
          <a:p>
            <a:pPr marL="342900" indent="-342900">
              <a:lnSpc>
                <a:spcPct val="95000"/>
              </a:lnSpc>
              <a:spcAft>
                <a:spcPts val="600"/>
              </a:spcAft>
              <a:buSzPct val="100000"/>
              <a:buChar char="•"/>
            </a:pPr>
            <a:r>
              <a:rPr lang="en-GB" sz="1600" noProof="0" dirty="0">
                <a:solidFill>
                  <a:srgbClr val="0B1F3F"/>
                </a:solidFill>
                <a:latin typeface="Calibri" pitchFamily="34" charset="0"/>
                <a:ea typeface="Calibri" pitchFamily="34" charset="-122"/>
                <a:cs typeface="Calibri" pitchFamily="34" charset="-120"/>
              </a:rPr>
              <a:t>New numbness or tingling in hands or feet</a:t>
            </a:r>
            <a:endParaRPr lang="en-GB" sz="1600" noProof="0" dirty="0"/>
          </a:p>
          <a:p>
            <a:pPr marL="342900" indent="-342900">
              <a:lnSpc>
                <a:spcPct val="95000"/>
              </a:lnSpc>
              <a:spcAft>
                <a:spcPts val="600"/>
              </a:spcAft>
              <a:buSzPct val="100000"/>
              <a:buChar char="•"/>
            </a:pPr>
            <a:r>
              <a:rPr lang="en-GB" sz="1600" noProof="0" dirty="0">
                <a:solidFill>
                  <a:srgbClr val="0B1F3F"/>
                </a:solidFill>
                <a:latin typeface="Calibri" pitchFamily="34" charset="0"/>
                <a:ea typeface="Calibri" pitchFamily="34" charset="-122"/>
                <a:cs typeface="Calibri" pitchFamily="34" charset="-120"/>
              </a:rPr>
              <a:t>Persistent vomiting or poor oral intake</a:t>
            </a:r>
            <a:endParaRPr lang="en-GB" sz="1600" noProof="0" dirty="0"/>
          </a:p>
          <a:p>
            <a:pPr marL="342900" indent="-342900">
              <a:lnSpc>
                <a:spcPct val="95000"/>
              </a:lnSpc>
              <a:spcAft>
                <a:spcPts val="600"/>
              </a:spcAft>
              <a:buSzPct val="100000"/>
              <a:buChar char="•"/>
            </a:pPr>
            <a:r>
              <a:rPr lang="en-GB" sz="1600" noProof="0" dirty="0">
                <a:solidFill>
                  <a:srgbClr val="0B1F3F"/>
                </a:solidFill>
                <a:latin typeface="Calibri" pitchFamily="34" charset="0"/>
                <a:ea typeface="Calibri" pitchFamily="34" charset="-122"/>
                <a:cs typeface="Calibri" pitchFamily="34" charset="-120"/>
              </a:rPr>
              <a:t>A wound that is not healing, or increasing discharge</a:t>
            </a:r>
            <a:endParaRPr lang="en-GB" sz="1600" noProof="0" dirty="0"/>
          </a:p>
          <a:p>
            <a:pPr marL="342900" indent="-342900">
              <a:lnSpc>
                <a:spcPct val="95000"/>
              </a:lnSpc>
              <a:spcAft>
                <a:spcPts val="600"/>
              </a:spcAft>
              <a:buSzPct val="100000"/>
              <a:buChar char="•"/>
            </a:pPr>
            <a:r>
              <a:rPr lang="en-GB" sz="1600" noProof="0" dirty="0">
                <a:solidFill>
                  <a:srgbClr val="0B1F3F"/>
                </a:solidFill>
                <a:latin typeface="Calibri" pitchFamily="34" charset="0"/>
                <a:ea typeface="Calibri" pitchFamily="34" charset="-122"/>
                <a:cs typeface="Calibri" pitchFamily="34" charset="-120"/>
              </a:rPr>
              <a:t>Joint pain or low mood that is stopping treatment being taken</a:t>
            </a:r>
            <a:endParaRPr lang="en-GB" sz="1600" noProof="0" dirty="0"/>
          </a:p>
          <a:p>
            <a:pPr marL="342900" indent="-342900">
              <a:lnSpc>
                <a:spcPct val="95000"/>
              </a:lnSpc>
              <a:spcAft>
                <a:spcPts val="600"/>
              </a:spcAft>
              <a:buSzPct val="100000"/>
              <a:buChar char="•"/>
            </a:pPr>
            <a:r>
              <a:rPr lang="en-GB" sz="1600" noProof="0" dirty="0">
                <a:solidFill>
                  <a:srgbClr val="0B1F3F"/>
                </a:solidFill>
                <a:latin typeface="Calibri" pitchFamily="34" charset="0"/>
                <a:ea typeface="Calibri" pitchFamily="34" charset="-122"/>
                <a:cs typeface="Calibri" pitchFamily="34" charset="-120"/>
              </a:rPr>
              <a:t>New persistent bone pain</a:t>
            </a:r>
            <a:endParaRPr lang="en-GB" sz="1600" noProof="0" dirty="0"/>
          </a:p>
        </p:txBody>
      </p:sp>
      <p:sp>
        <p:nvSpPr>
          <p:cNvPr id="11" name="Shape 9"/>
          <p:cNvSpPr/>
          <p:nvPr/>
        </p:nvSpPr>
        <p:spPr>
          <a:xfrm>
            <a:off x="624562" y="1325880"/>
            <a:ext cx="3527450" cy="4572000"/>
          </a:xfrm>
          <a:prstGeom prst="roundRect">
            <a:avLst>
              <a:gd name="adj" fmla="val 1555"/>
            </a:avLst>
          </a:prstGeom>
          <a:solidFill>
            <a:srgbClr val="FBECEA"/>
          </a:solidFill>
          <a:ln w="12700">
            <a:solidFill>
              <a:srgbClr val="E7B6B0"/>
            </a:solidFill>
            <a:prstDash val="solid"/>
          </a:ln>
        </p:spPr>
        <p:txBody>
          <a:bodyPr/>
          <a:lstStyle/>
          <a:p>
            <a:endParaRPr lang="en-GB" noProof="0" dirty="0"/>
          </a:p>
        </p:txBody>
      </p:sp>
      <p:sp>
        <p:nvSpPr>
          <p:cNvPr id="12" name="Text 10"/>
          <p:cNvSpPr txBox="1"/>
          <p:nvPr/>
        </p:nvSpPr>
        <p:spPr>
          <a:xfrm>
            <a:off x="789154" y="1453896"/>
            <a:ext cx="3198266" cy="384048"/>
          </a:xfrm>
          <a:prstGeom prst="rect">
            <a:avLst/>
          </a:prstGeom>
          <a:noFill/>
          <a:ln/>
        </p:spPr>
        <p:txBody>
          <a:bodyPr wrap="square" lIns="0" tIns="0" rIns="0" bIns="0" rtlCol="0" anchor="t"/>
          <a:lstStyle/>
          <a:p>
            <a:r>
              <a:rPr lang="en-GB" b="1" dirty="0">
                <a:solidFill>
                  <a:srgbClr val="A32319"/>
                </a:solidFill>
                <a:latin typeface="Calibri" pitchFamily="34" charset="0"/>
                <a:ea typeface="Calibri" pitchFamily="34" charset="-122"/>
                <a:cs typeface="Calibri" pitchFamily="34" charset="-120"/>
              </a:rPr>
              <a:t>🔴 Urgent</a:t>
            </a:r>
            <a:r>
              <a:rPr lang="en-GB" sz="1800" b="1" noProof="0" dirty="0">
                <a:solidFill>
                  <a:srgbClr val="A32319"/>
                </a:solidFill>
                <a:latin typeface="Calibri" pitchFamily="34" charset="0"/>
                <a:ea typeface="Calibri" pitchFamily="34" charset="-122"/>
                <a:cs typeface="Calibri" pitchFamily="34" charset="-120"/>
              </a:rPr>
              <a:t>, do not wait</a:t>
            </a:r>
            <a:endParaRPr lang="en-GB" sz="1800" noProof="0" dirty="0"/>
          </a:p>
        </p:txBody>
      </p:sp>
      <p:sp>
        <p:nvSpPr>
          <p:cNvPr id="13" name="Text 11"/>
          <p:cNvSpPr txBox="1"/>
          <p:nvPr/>
        </p:nvSpPr>
        <p:spPr>
          <a:xfrm>
            <a:off x="789154" y="1892808"/>
            <a:ext cx="3198266" cy="3858768"/>
          </a:xfrm>
          <a:prstGeom prst="rect">
            <a:avLst/>
          </a:prstGeom>
          <a:noFill/>
          <a:ln/>
        </p:spPr>
        <p:txBody>
          <a:bodyPr wrap="square" lIns="0" tIns="0" rIns="0" bIns="0" rtlCol="0" anchor="t"/>
          <a:lstStyle/>
          <a:p>
            <a:pPr marL="342900" indent="-342900">
              <a:lnSpc>
                <a:spcPct val="95000"/>
              </a:lnSpc>
              <a:spcAft>
                <a:spcPts val="600"/>
              </a:spcAft>
              <a:buSzPct val="100000"/>
              <a:buChar char="•"/>
            </a:pPr>
            <a:r>
              <a:rPr lang="en-GB" sz="1600" noProof="0" dirty="0">
                <a:solidFill>
                  <a:srgbClr val="0B1F3F"/>
                </a:solidFill>
                <a:latin typeface="Calibri" pitchFamily="34" charset="0"/>
                <a:ea typeface="Calibri" pitchFamily="34" charset="-122"/>
                <a:cs typeface="Calibri" pitchFamily="34" charset="-120"/>
              </a:rPr>
              <a:t>Fever or rigors during chemotherapy</a:t>
            </a:r>
            <a:endParaRPr lang="en-GB" sz="1600" noProof="0" dirty="0"/>
          </a:p>
          <a:p>
            <a:pPr marL="342900" indent="-342900">
              <a:lnSpc>
                <a:spcPct val="95000"/>
              </a:lnSpc>
              <a:spcAft>
                <a:spcPts val="600"/>
              </a:spcAft>
              <a:buSzPct val="100000"/>
              <a:buChar char="•"/>
            </a:pPr>
            <a:r>
              <a:rPr lang="en-GB" sz="1600" noProof="0" dirty="0">
                <a:solidFill>
                  <a:srgbClr val="0B1F3F"/>
                </a:solidFill>
                <a:latin typeface="Calibri" pitchFamily="34" charset="0"/>
                <a:ea typeface="Calibri" pitchFamily="34" charset="-122"/>
                <a:cs typeface="Calibri" pitchFamily="34" charset="-120"/>
              </a:rPr>
              <a:t>A hot, red, painful arm or breast with fever, suggesting infection</a:t>
            </a:r>
            <a:endParaRPr lang="en-GB" sz="1600" noProof="0" dirty="0"/>
          </a:p>
          <a:p>
            <a:pPr marL="342900" indent="-342900">
              <a:lnSpc>
                <a:spcPct val="95000"/>
              </a:lnSpc>
              <a:spcAft>
                <a:spcPts val="600"/>
              </a:spcAft>
              <a:buSzPct val="100000"/>
              <a:buChar char="•"/>
            </a:pPr>
            <a:r>
              <a:rPr lang="en-GB" sz="1600" noProof="0" dirty="0">
                <a:solidFill>
                  <a:srgbClr val="0B1F3F"/>
                </a:solidFill>
                <a:latin typeface="Calibri" pitchFamily="34" charset="0"/>
                <a:ea typeface="Calibri" pitchFamily="34" charset="-122"/>
                <a:cs typeface="Calibri" pitchFamily="34" charset="-120"/>
              </a:rPr>
              <a:t>Breathlessness or chest pain</a:t>
            </a:r>
            <a:endParaRPr lang="en-GB" sz="1600" noProof="0" dirty="0"/>
          </a:p>
          <a:p>
            <a:pPr marL="342900" indent="-342900">
              <a:lnSpc>
                <a:spcPct val="95000"/>
              </a:lnSpc>
              <a:spcAft>
                <a:spcPts val="600"/>
              </a:spcAft>
              <a:buSzPct val="100000"/>
              <a:buChar char="•"/>
            </a:pPr>
            <a:r>
              <a:rPr lang="en-GB" sz="1600" noProof="0" dirty="0">
                <a:solidFill>
                  <a:srgbClr val="0B1F3F"/>
                </a:solidFill>
                <a:latin typeface="Calibri" pitchFamily="34" charset="0"/>
                <a:ea typeface="Calibri" pitchFamily="34" charset="-122"/>
                <a:cs typeface="Calibri" pitchFamily="34" charset="-120"/>
              </a:rPr>
              <a:t>New neurological symptoms, including severe headache, weakness or confusion</a:t>
            </a:r>
            <a:endParaRPr lang="en-GB" sz="1600" noProof="0" dirty="0"/>
          </a:p>
          <a:p>
            <a:pPr marL="342900" indent="-342900">
              <a:lnSpc>
                <a:spcPct val="95000"/>
              </a:lnSpc>
              <a:spcAft>
                <a:spcPts val="600"/>
              </a:spcAft>
              <a:buSzPct val="100000"/>
              <a:buChar char="•"/>
            </a:pPr>
            <a:r>
              <a:rPr lang="en-GB" sz="1600" noProof="0" dirty="0">
                <a:solidFill>
                  <a:srgbClr val="0B1F3F"/>
                </a:solidFill>
                <a:latin typeface="Calibri" pitchFamily="34" charset="0"/>
                <a:ea typeface="Calibri" pitchFamily="34" charset="-122"/>
                <a:cs typeface="Calibri" pitchFamily="34" charset="-120"/>
              </a:rPr>
              <a:t>Severe uncontrolled pain</a:t>
            </a:r>
            <a:endParaRPr lang="en-GB" sz="1600" noProof="0" dirty="0"/>
          </a:p>
          <a:p>
            <a:pPr marL="342900" indent="-342900">
              <a:lnSpc>
                <a:spcPct val="95000"/>
              </a:lnSpc>
              <a:spcAft>
                <a:spcPts val="600"/>
              </a:spcAft>
              <a:buSzPct val="100000"/>
              <a:buChar char="•"/>
            </a:pPr>
            <a:r>
              <a:rPr lang="en-GB" sz="1600" noProof="0" dirty="0">
                <a:solidFill>
                  <a:srgbClr val="0B1F3F"/>
                </a:solidFill>
                <a:latin typeface="Calibri" pitchFamily="34" charset="0"/>
                <a:ea typeface="Calibri" pitchFamily="34" charset="-122"/>
                <a:cs typeface="Calibri" pitchFamily="34" charset="-120"/>
              </a:rPr>
              <a:t>Heavy bleeding or a rapidly expanding wound swelling</a:t>
            </a:r>
            <a:endParaRPr lang="en-GB" sz="1600" noProof="0" dirty="0"/>
          </a:p>
        </p:txBody>
      </p:sp>
    </p:spTree>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name="Slide 10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en-GB" sz="1100" b="1" kern="0" spc="100" noProof="0" dirty="0">
                <a:solidFill>
                  <a:srgbClr val="5B7699"/>
                </a:solidFill>
                <a:latin typeface="Calibri" pitchFamily="34" charset="0"/>
                <a:ea typeface="Calibri" pitchFamily="34" charset="-122"/>
                <a:cs typeface="Calibri" pitchFamily="34" charset="-120"/>
              </a:rPr>
              <a:t>S E S S I O N   5</a:t>
            </a:r>
            <a:endParaRPr lang="en-GB"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en-GB" sz="1000" noProof="0" dirty="0">
                <a:solidFill>
                  <a:srgbClr val="5B7699"/>
                </a:solidFill>
                <a:latin typeface="Calibri" pitchFamily="34" charset="0"/>
                <a:ea typeface="Calibri" pitchFamily="34" charset="-122"/>
                <a:cs typeface="Calibri" pitchFamily="34" charset="-120"/>
              </a:rPr>
              <a:t>Breast Cancer  |  Frontline HCP  |  Rwanda Biomedical Centre</a:t>
            </a:r>
            <a:endParaRPr lang="en-GB"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en-GB" sz="3000" b="1" noProof="0" dirty="0">
                <a:solidFill>
                  <a:srgbClr val="12315B"/>
                </a:solidFill>
                <a:latin typeface="Calibri" pitchFamily="34" charset="0"/>
                <a:ea typeface="Calibri" pitchFamily="34" charset="-122"/>
                <a:cs typeface="Calibri" pitchFamily="34" charset="-120"/>
              </a:rPr>
              <a:t>Lymphoedema</a:t>
            </a:r>
            <a:endParaRPr lang="en-GB" sz="3000" noProof="0" dirty="0"/>
          </a:p>
        </p:txBody>
      </p:sp>
      <p:sp>
        <p:nvSpPr>
          <p:cNvPr id="5" name="Shape 3"/>
          <p:cNvSpPr/>
          <p:nvPr/>
        </p:nvSpPr>
        <p:spPr>
          <a:xfrm>
            <a:off x="548639" y="1207008"/>
            <a:ext cx="10910907" cy="5084063"/>
          </a:xfrm>
          <a:prstGeom prst="roundRect">
            <a:avLst>
              <a:gd name="adj" fmla="val 2878"/>
            </a:avLst>
          </a:prstGeom>
          <a:solidFill>
            <a:srgbClr val="F4F8FC"/>
          </a:solidFill>
          <a:ln w="12700">
            <a:solidFill>
              <a:srgbClr val="C8D8EC"/>
            </a:solidFill>
            <a:prstDash val="solid"/>
          </a:ln>
        </p:spPr>
        <p:txBody>
          <a:bodyPr/>
          <a:lstStyle/>
          <a:p>
            <a:endParaRPr lang="en-GB" noProof="0" dirty="0"/>
          </a:p>
        </p:txBody>
      </p:sp>
      <p:sp>
        <p:nvSpPr>
          <p:cNvPr id="7" name="Text 5"/>
          <p:cNvSpPr txBox="1"/>
          <p:nvPr/>
        </p:nvSpPr>
        <p:spPr>
          <a:xfrm>
            <a:off x="713232" y="1566236"/>
            <a:ext cx="10390197" cy="2100000"/>
          </a:xfrm>
          <a:prstGeom prst="rect">
            <a:avLst/>
          </a:prstGeom>
          <a:noFill/>
          <a:ln/>
        </p:spPr>
        <p:txBody>
          <a:bodyPr wrap="square" lIns="0" tIns="0" rIns="0" bIns="0" rtlCol="0" anchor="t"/>
          <a:lstStyle/>
          <a:p>
            <a:pPr marL="285750" indent="-285750">
              <a:lnSpc>
                <a:spcPct val="90000"/>
              </a:lnSpc>
              <a:buFont typeface="Arial" panose="020B0604020202020204" pitchFamily="34" charset="0"/>
              <a:buChar char="•"/>
            </a:pPr>
            <a:r>
              <a:rPr lang="en-GB" sz="1800" b="1" noProof="0" dirty="0">
                <a:solidFill>
                  <a:srgbClr val="1F3A63"/>
                </a:solidFill>
                <a:latin typeface="Calibri" pitchFamily="34" charset="0"/>
                <a:ea typeface="Calibri" pitchFamily="34" charset="-122"/>
                <a:cs typeface="Calibri" pitchFamily="34" charset="-120"/>
              </a:rPr>
              <a:t>What it is: </a:t>
            </a:r>
            <a:r>
              <a:rPr lang="en-GB" sz="1800" noProof="0" dirty="0">
                <a:solidFill>
                  <a:srgbClr val="1F3A63"/>
                </a:solidFill>
                <a:latin typeface="Calibri" pitchFamily="34" charset="0"/>
                <a:ea typeface="Calibri" pitchFamily="34" charset="-122"/>
                <a:cs typeface="Calibri" pitchFamily="34" charset="-120"/>
              </a:rPr>
              <a:t>Swelling caused by disrupted lymph drainage, often after axillary surgery or radiotherapy.</a:t>
            </a:r>
          </a:p>
          <a:p>
            <a:pPr marL="285750" indent="-285750">
              <a:lnSpc>
                <a:spcPct val="90000"/>
              </a:lnSpc>
              <a:buFont typeface="Arial" panose="020B0604020202020204" pitchFamily="34" charset="0"/>
              <a:buChar char="•"/>
            </a:pPr>
            <a:r>
              <a:rPr lang="en-GB" sz="1800" b="1" noProof="0" dirty="0">
                <a:solidFill>
                  <a:srgbClr val="1F3A63"/>
                </a:solidFill>
                <a:latin typeface="Calibri" pitchFamily="34" charset="0"/>
                <a:ea typeface="Calibri" pitchFamily="34" charset="-122"/>
                <a:cs typeface="Calibri" pitchFamily="34" charset="-120"/>
              </a:rPr>
              <a:t>Not inevitable: </a:t>
            </a:r>
            <a:r>
              <a:rPr lang="en-GB" sz="1800" noProof="0" dirty="0">
                <a:solidFill>
                  <a:srgbClr val="1F3A63"/>
                </a:solidFill>
                <a:latin typeface="Calibri" pitchFamily="34" charset="0"/>
                <a:ea typeface="Calibri" pitchFamily="34" charset="-122"/>
                <a:cs typeface="Calibri" pitchFamily="34" charset="-120"/>
              </a:rPr>
              <a:t>Many patients never develop it.</a:t>
            </a:r>
          </a:p>
          <a:p>
            <a:pPr marL="285750" indent="-285750">
              <a:lnSpc>
                <a:spcPct val="90000"/>
              </a:lnSpc>
              <a:buFont typeface="Arial" panose="020B0604020202020204" pitchFamily="34" charset="0"/>
              <a:buChar char="•"/>
            </a:pPr>
            <a:r>
              <a:rPr lang="en-GB" sz="1800" b="1" noProof="0" dirty="0">
                <a:solidFill>
                  <a:srgbClr val="1F3A63"/>
                </a:solidFill>
                <a:latin typeface="Calibri" pitchFamily="34" charset="0"/>
                <a:ea typeface="Calibri" pitchFamily="34" charset="-122"/>
                <a:cs typeface="Calibri" pitchFamily="34" charset="-120"/>
              </a:rPr>
              <a:t>Watch for: </a:t>
            </a:r>
            <a:r>
              <a:rPr lang="en-GB" sz="1800" noProof="0" dirty="0">
                <a:solidFill>
                  <a:srgbClr val="1F3A63"/>
                </a:solidFill>
                <a:latin typeface="Calibri" pitchFamily="34" charset="0"/>
                <a:ea typeface="Calibri" pitchFamily="34" charset="-122"/>
                <a:cs typeface="Calibri" pitchFamily="34" charset="-120"/>
              </a:rPr>
              <a:t>New swelling of the hand or arm, heaviness, tightness, tighter rings/clothing, or reduced movement.</a:t>
            </a:r>
          </a:p>
          <a:p>
            <a:pPr marL="285750" indent="-285750">
              <a:lnSpc>
                <a:spcPct val="90000"/>
              </a:lnSpc>
              <a:buFont typeface="Arial" panose="020B0604020202020204" pitchFamily="34" charset="0"/>
              <a:buChar char="•"/>
            </a:pPr>
            <a:r>
              <a:rPr lang="en-GB" sz="1800" b="1" noProof="0" dirty="0">
                <a:solidFill>
                  <a:srgbClr val="1F3A63"/>
                </a:solidFill>
                <a:latin typeface="Calibri" pitchFamily="34" charset="0"/>
                <a:ea typeface="Calibri" pitchFamily="34" charset="-122"/>
                <a:cs typeface="Calibri" pitchFamily="34" charset="-120"/>
              </a:rPr>
              <a:t>Act early: </a:t>
            </a:r>
            <a:r>
              <a:rPr lang="en-GB" sz="1800" noProof="0" dirty="0">
                <a:solidFill>
                  <a:srgbClr val="1F3A63"/>
                </a:solidFill>
                <a:latin typeface="Calibri" pitchFamily="34" charset="0"/>
                <a:ea typeface="Calibri" pitchFamily="34" charset="-122"/>
                <a:cs typeface="Calibri" pitchFamily="34" charset="-120"/>
              </a:rPr>
              <a:t>New or increasing swelling should be assessed promptly.</a:t>
            </a:r>
          </a:p>
          <a:p>
            <a:pPr marL="285750" indent="-285750">
              <a:lnSpc>
                <a:spcPct val="90000"/>
              </a:lnSpc>
              <a:buFont typeface="Arial" panose="020B0604020202020204" pitchFamily="34" charset="0"/>
              <a:buChar char="•"/>
            </a:pPr>
            <a:r>
              <a:rPr lang="en-GB" sz="1800" b="1" noProof="0" dirty="0">
                <a:solidFill>
                  <a:srgbClr val="1F3A63"/>
                </a:solidFill>
                <a:latin typeface="Calibri" pitchFamily="34" charset="0"/>
                <a:ea typeface="Calibri" pitchFamily="34" charset="-122"/>
                <a:cs typeface="Calibri" pitchFamily="34" charset="-120"/>
              </a:rPr>
              <a:t>Exclude infection: </a:t>
            </a:r>
            <a:r>
              <a:rPr lang="en-GB" sz="1800" noProof="0" dirty="0">
                <a:solidFill>
                  <a:srgbClr val="1F3A63"/>
                </a:solidFill>
                <a:latin typeface="Calibri" pitchFamily="34" charset="0"/>
                <a:ea typeface="Calibri" pitchFamily="34" charset="-122"/>
                <a:cs typeface="Calibri" pitchFamily="34" charset="-120"/>
              </a:rPr>
              <a:t>A hot, red, painful swollen arm with fever needs urgent evaluation and treatment.</a:t>
            </a:r>
          </a:p>
          <a:p>
            <a:pPr marL="285750" indent="-285750">
              <a:lnSpc>
                <a:spcPct val="90000"/>
              </a:lnSpc>
              <a:buFont typeface="Arial" panose="020B0604020202020204" pitchFamily="34" charset="0"/>
              <a:buChar char="•"/>
            </a:pPr>
            <a:r>
              <a:rPr lang="en-GB" sz="1800" b="1" noProof="0" dirty="0">
                <a:solidFill>
                  <a:srgbClr val="1F3A63"/>
                </a:solidFill>
                <a:latin typeface="Calibri" pitchFamily="34" charset="0"/>
                <a:ea typeface="Calibri" pitchFamily="34" charset="-122"/>
                <a:cs typeface="Calibri" pitchFamily="34" charset="-120"/>
              </a:rPr>
              <a:t>Management: </a:t>
            </a:r>
            <a:r>
              <a:rPr lang="en-GB" sz="1800" noProof="0" dirty="0">
                <a:solidFill>
                  <a:srgbClr val="1F3A63"/>
                </a:solidFill>
                <a:latin typeface="Calibri" pitchFamily="34" charset="0"/>
                <a:ea typeface="Calibri" pitchFamily="34" charset="-122"/>
                <a:cs typeface="Calibri" pitchFamily="34" charset="-120"/>
              </a:rPr>
              <a:t>Skin care, regular arm movement, prompt treatment of infection, and referral for specialist assessment and compression therapy where available.</a:t>
            </a:r>
          </a:p>
        </p:txBody>
      </p:sp>
      <p:pic>
        <p:nvPicPr>
          <p:cNvPr id="25" name="Imagen 24">
            <a:extLst>
              <a:ext uri="{FF2B5EF4-FFF2-40B4-BE49-F238E27FC236}">
                <a16:creationId xmlns:a16="http://schemas.microsoft.com/office/drawing/2014/main" id="{192663CC-21B1-031D-D0EF-EE5389258BDC}"/>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937680" y="3666235"/>
            <a:ext cx="7636625" cy="2545103"/>
          </a:xfrm>
          <a:prstGeom prst="rect">
            <a:avLst/>
          </a:prstGeom>
        </p:spPr>
      </p:pic>
    </p:spTree>
  </p:cSld>
  <p:clrMapOvr>
    <a:masterClrMapping/>
  </p:clrMapOvr>
</p:sld>
</file>

<file path=ppt/slides/slide139.xml><?xml version="1.0" encoding="utf-8"?>
<p:sld xmlns:a="http://schemas.openxmlformats.org/drawingml/2006/main" xmlns:r="http://schemas.openxmlformats.org/officeDocument/2006/relationships" xmlns:p="http://schemas.openxmlformats.org/presentationml/2006/main">
  <p:cSld name="Slide 10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en-GB" sz="1100" b="1" kern="0" spc="100" noProof="0" dirty="0">
                <a:solidFill>
                  <a:srgbClr val="5B7699"/>
                </a:solidFill>
                <a:latin typeface="Calibri" pitchFamily="34" charset="0"/>
                <a:ea typeface="Calibri" pitchFamily="34" charset="-122"/>
                <a:cs typeface="Calibri" pitchFamily="34" charset="-120"/>
              </a:rPr>
              <a:t>S E S S I O N   5</a:t>
            </a:r>
            <a:endParaRPr lang="en-GB"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en-GB" sz="1000" noProof="0" dirty="0">
                <a:solidFill>
                  <a:srgbClr val="5B7699"/>
                </a:solidFill>
                <a:latin typeface="Calibri" pitchFamily="34" charset="0"/>
                <a:ea typeface="Calibri" pitchFamily="34" charset="-122"/>
                <a:cs typeface="Calibri" pitchFamily="34" charset="-120"/>
              </a:rPr>
              <a:t>Breast Cancer  |  Frontline HCP  |  Rwanda Biomedical Centre</a:t>
            </a:r>
            <a:endParaRPr lang="en-GB"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en-GB" sz="3000" b="1" noProof="0" dirty="0">
                <a:solidFill>
                  <a:srgbClr val="12315B"/>
                </a:solidFill>
                <a:latin typeface="Calibri" pitchFamily="34" charset="0"/>
                <a:ea typeface="Calibri" pitchFamily="34" charset="-122"/>
                <a:cs typeface="Calibri" pitchFamily="34" charset="-120"/>
              </a:rPr>
              <a:t>Arm and shoulder function, and adherence</a:t>
            </a:r>
            <a:endParaRPr lang="en-GB" sz="3000" noProof="0" dirty="0"/>
          </a:p>
        </p:txBody>
      </p:sp>
      <p:sp>
        <p:nvSpPr>
          <p:cNvPr id="5" name="Shape 3"/>
          <p:cNvSpPr/>
          <p:nvPr/>
        </p:nvSpPr>
        <p:spPr>
          <a:xfrm>
            <a:off x="548640" y="1371600"/>
            <a:ext cx="5394960" cy="4160520"/>
          </a:xfrm>
          <a:prstGeom prst="roundRect">
            <a:avLst>
              <a:gd name="adj" fmla="val 1319"/>
            </a:avLst>
          </a:prstGeom>
          <a:solidFill>
            <a:srgbClr val="F4F8FC"/>
          </a:solidFill>
          <a:ln w="12700">
            <a:solidFill>
              <a:srgbClr val="C8D8EC"/>
            </a:solidFill>
            <a:prstDash val="solid"/>
          </a:ln>
        </p:spPr>
        <p:txBody>
          <a:bodyPr/>
          <a:lstStyle/>
          <a:p>
            <a:endParaRPr lang="en-GB" noProof="0" dirty="0"/>
          </a:p>
        </p:txBody>
      </p:sp>
      <p:sp>
        <p:nvSpPr>
          <p:cNvPr id="6" name="Text 4"/>
          <p:cNvSpPr txBox="1"/>
          <p:nvPr/>
        </p:nvSpPr>
        <p:spPr>
          <a:xfrm>
            <a:off x="713232" y="1463040"/>
            <a:ext cx="5065776" cy="292608"/>
          </a:xfrm>
          <a:prstGeom prst="rect">
            <a:avLst/>
          </a:prstGeom>
          <a:noFill/>
          <a:ln/>
        </p:spPr>
        <p:txBody>
          <a:bodyPr wrap="square" lIns="0" tIns="0" rIns="0" bIns="0" rtlCol="0" anchor="t"/>
          <a:lstStyle/>
          <a:p>
            <a:pPr marL="0" indent="0">
              <a:buNone/>
            </a:pPr>
            <a:r>
              <a:rPr lang="en-GB" sz="1700" b="1" noProof="0" dirty="0">
                <a:solidFill>
                  <a:srgbClr val="12315B"/>
                </a:solidFill>
                <a:latin typeface="Calibri" pitchFamily="34" charset="0"/>
                <a:ea typeface="Calibri" pitchFamily="34" charset="-122"/>
                <a:cs typeface="Calibri" pitchFamily="34" charset="-120"/>
              </a:rPr>
              <a:t>Arm and shoulder after treatment</a:t>
            </a:r>
            <a:endParaRPr lang="en-GB" sz="1700" noProof="0" dirty="0"/>
          </a:p>
        </p:txBody>
      </p:sp>
      <p:sp>
        <p:nvSpPr>
          <p:cNvPr id="7" name="Text 5"/>
          <p:cNvSpPr txBox="1"/>
          <p:nvPr/>
        </p:nvSpPr>
        <p:spPr>
          <a:xfrm>
            <a:off x="713232" y="1828800"/>
            <a:ext cx="5065776" cy="3611880"/>
          </a:xfrm>
          <a:prstGeom prst="rect">
            <a:avLst/>
          </a:prstGeom>
          <a:noFill/>
          <a:ln/>
        </p:spPr>
        <p:txBody>
          <a:bodyPr wrap="square" lIns="0" tIns="0" rIns="0" bIns="0" rtlCol="0" anchor="t"/>
          <a:lstStyle/>
          <a:p>
            <a:pPr marL="342900" indent="-342900">
              <a:lnSpc>
                <a:spcPct val="95000"/>
              </a:lnSpc>
              <a:spcAft>
                <a:spcPts val="600"/>
              </a:spcAft>
              <a:buSzPct val="100000"/>
              <a:buChar char="•"/>
            </a:pPr>
            <a:r>
              <a:rPr lang="en-GB" sz="1600" noProof="0" dirty="0">
                <a:solidFill>
                  <a:srgbClr val="0B1F3F"/>
                </a:solidFill>
                <a:latin typeface="Calibri" pitchFamily="34" charset="0"/>
                <a:ea typeface="Calibri" pitchFamily="34" charset="-122"/>
                <a:cs typeface="Calibri" pitchFamily="34" charset="-120"/>
              </a:rPr>
              <a:t>Surgery and radiotherapy to the breast and axilla can reduce shoulder movement</a:t>
            </a:r>
            <a:endParaRPr lang="en-GB" sz="1600" noProof="0" dirty="0"/>
          </a:p>
          <a:p>
            <a:pPr marL="342900" indent="-342900">
              <a:lnSpc>
                <a:spcPct val="95000"/>
              </a:lnSpc>
              <a:spcAft>
                <a:spcPts val="600"/>
              </a:spcAft>
              <a:buSzPct val="100000"/>
              <a:buChar char="•"/>
            </a:pPr>
            <a:r>
              <a:rPr lang="en-GB" sz="1600" noProof="0" dirty="0">
                <a:solidFill>
                  <a:srgbClr val="0B1F3F"/>
                </a:solidFill>
                <a:latin typeface="Calibri" pitchFamily="34" charset="0"/>
                <a:ea typeface="Calibri" pitchFamily="34" charset="-122"/>
                <a:cs typeface="Calibri" pitchFamily="34" charset="-120"/>
              </a:rPr>
              <a:t>Pain, tightness across the chest and scar restriction are common early on</a:t>
            </a:r>
            <a:endParaRPr lang="en-GB" sz="1600" noProof="0" dirty="0"/>
          </a:p>
          <a:p>
            <a:pPr marL="342900" indent="-342900">
              <a:lnSpc>
                <a:spcPct val="95000"/>
              </a:lnSpc>
              <a:spcAft>
                <a:spcPts val="600"/>
              </a:spcAft>
              <a:buSzPct val="100000"/>
              <a:buChar char="•"/>
            </a:pPr>
            <a:r>
              <a:rPr lang="en-GB" sz="1600" noProof="0" dirty="0">
                <a:solidFill>
                  <a:srgbClr val="0B1F3F"/>
                </a:solidFill>
                <a:latin typeface="Calibri" pitchFamily="34" charset="0"/>
                <a:ea typeface="Calibri" pitchFamily="34" charset="-122"/>
                <a:cs typeface="Calibri" pitchFamily="34" charset="-120"/>
              </a:rPr>
              <a:t>Early gentle movement, and the exercises given after surgery, protect function</a:t>
            </a:r>
            <a:endParaRPr lang="en-GB" sz="1600" noProof="0" dirty="0"/>
          </a:p>
          <a:p>
            <a:pPr marL="342900" indent="-342900">
              <a:lnSpc>
                <a:spcPct val="95000"/>
              </a:lnSpc>
              <a:spcAft>
                <a:spcPts val="600"/>
              </a:spcAft>
              <a:buSzPct val="100000"/>
              <a:buChar char="•"/>
            </a:pPr>
            <a:r>
              <a:rPr lang="en-GB" sz="1600" noProof="0" dirty="0">
                <a:solidFill>
                  <a:srgbClr val="0B1F3F"/>
                </a:solidFill>
                <a:latin typeface="Calibri" pitchFamily="34" charset="0"/>
                <a:ea typeface="Calibri" pitchFamily="34" charset="-122"/>
                <a:cs typeface="Calibri" pitchFamily="34" charset="-120"/>
              </a:rPr>
              <a:t>Numbness of the upper inner arm after axillary surgery is common and often persists</a:t>
            </a:r>
            <a:endParaRPr lang="en-GB" sz="1600" noProof="0" dirty="0"/>
          </a:p>
          <a:p>
            <a:pPr marL="342900" indent="-342900">
              <a:lnSpc>
                <a:spcPct val="95000"/>
              </a:lnSpc>
              <a:spcAft>
                <a:spcPts val="600"/>
              </a:spcAft>
              <a:buSzPct val="100000"/>
              <a:buChar char="•"/>
            </a:pPr>
            <a:r>
              <a:rPr lang="en-GB" sz="1600" noProof="0" dirty="0">
                <a:solidFill>
                  <a:srgbClr val="0B1F3F"/>
                </a:solidFill>
                <a:latin typeface="Calibri" pitchFamily="34" charset="0"/>
                <a:ea typeface="Calibri" pitchFamily="34" charset="-122"/>
                <a:cs typeface="Calibri" pitchFamily="34" charset="-120"/>
              </a:rPr>
              <a:t>Ask specifically about washing, dressing, reaching and carrying, because people rarely volunteer it</a:t>
            </a:r>
            <a:endParaRPr lang="en-GB" sz="1600" noProof="0" dirty="0"/>
          </a:p>
          <a:p>
            <a:pPr marL="342900" indent="-342900">
              <a:lnSpc>
                <a:spcPct val="95000"/>
              </a:lnSpc>
              <a:spcAft>
                <a:spcPts val="600"/>
              </a:spcAft>
              <a:buSzPct val="100000"/>
              <a:buChar char="•"/>
            </a:pPr>
            <a:r>
              <a:rPr lang="en-GB" sz="1600" noProof="0" dirty="0">
                <a:solidFill>
                  <a:srgbClr val="0B1F3F"/>
                </a:solidFill>
                <a:latin typeface="Calibri" pitchFamily="34" charset="0"/>
                <a:ea typeface="Calibri" pitchFamily="34" charset="-122"/>
                <a:cs typeface="Calibri" pitchFamily="34" charset="-120"/>
              </a:rPr>
              <a:t>Refer for rehabilitation where movement is not recovering</a:t>
            </a:r>
            <a:endParaRPr lang="en-GB" sz="1600" noProof="0" dirty="0"/>
          </a:p>
        </p:txBody>
      </p:sp>
      <p:sp>
        <p:nvSpPr>
          <p:cNvPr id="8" name="Shape 6"/>
          <p:cNvSpPr/>
          <p:nvPr/>
        </p:nvSpPr>
        <p:spPr>
          <a:xfrm>
            <a:off x="6217920" y="1371600"/>
            <a:ext cx="5425135" cy="4160520"/>
          </a:xfrm>
          <a:prstGeom prst="roundRect">
            <a:avLst>
              <a:gd name="adj" fmla="val 1319"/>
            </a:avLst>
          </a:prstGeom>
          <a:solidFill>
            <a:srgbClr val="F4F8FC"/>
          </a:solidFill>
          <a:ln w="12700">
            <a:solidFill>
              <a:srgbClr val="C8D8EC"/>
            </a:solidFill>
            <a:prstDash val="solid"/>
          </a:ln>
        </p:spPr>
        <p:txBody>
          <a:bodyPr/>
          <a:lstStyle/>
          <a:p>
            <a:endParaRPr lang="en-GB" noProof="0" dirty="0"/>
          </a:p>
        </p:txBody>
      </p:sp>
      <p:sp>
        <p:nvSpPr>
          <p:cNvPr id="9" name="Text 7"/>
          <p:cNvSpPr txBox="1"/>
          <p:nvPr/>
        </p:nvSpPr>
        <p:spPr>
          <a:xfrm>
            <a:off x="6382512" y="1463040"/>
            <a:ext cx="5095951" cy="292608"/>
          </a:xfrm>
          <a:prstGeom prst="rect">
            <a:avLst/>
          </a:prstGeom>
          <a:noFill/>
          <a:ln/>
        </p:spPr>
        <p:txBody>
          <a:bodyPr wrap="square" lIns="0" tIns="0" rIns="0" bIns="0" rtlCol="0" anchor="t"/>
          <a:lstStyle/>
          <a:p>
            <a:pPr marL="0" indent="0">
              <a:buNone/>
            </a:pPr>
            <a:r>
              <a:rPr lang="en-GB" sz="1700" b="1" noProof="0" dirty="0">
                <a:solidFill>
                  <a:srgbClr val="12315B"/>
                </a:solidFill>
                <a:latin typeface="Calibri" pitchFamily="34" charset="0"/>
                <a:ea typeface="Calibri" pitchFamily="34" charset="-122"/>
                <a:cs typeface="Calibri" pitchFamily="34" charset="-120"/>
              </a:rPr>
              <a:t>Staying on endocrine therapy</a:t>
            </a:r>
            <a:endParaRPr lang="en-GB" sz="1700" noProof="0" dirty="0"/>
          </a:p>
        </p:txBody>
      </p:sp>
      <p:sp>
        <p:nvSpPr>
          <p:cNvPr id="10" name="Text 8"/>
          <p:cNvSpPr txBox="1"/>
          <p:nvPr/>
        </p:nvSpPr>
        <p:spPr>
          <a:xfrm>
            <a:off x="6382512" y="1828800"/>
            <a:ext cx="5095951" cy="3611880"/>
          </a:xfrm>
          <a:prstGeom prst="rect">
            <a:avLst/>
          </a:prstGeom>
          <a:noFill/>
          <a:ln/>
        </p:spPr>
        <p:txBody>
          <a:bodyPr wrap="square" lIns="0" tIns="0" rIns="0" bIns="0" rtlCol="0" anchor="t"/>
          <a:lstStyle/>
          <a:p>
            <a:pPr marL="342900" indent="-342900">
              <a:lnSpc>
                <a:spcPct val="95000"/>
              </a:lnSpc>
              <a:spcAft>
                <a:spcPts val="600"/>
              </a:spcAft>
              <a:buSzPct val="100000"/>
              <a:buChar char="•"/>
            </a:pPr>
            <a:r>
              <a:rPr lang="en-GB" sz="1600" noProof="0" dirty="0">
                <a:solidFill>
                  <a:srgbClr val="0B1F3F"/>
                </a:solidFill>
                <a:latin typeface="Calibri" pitchFamily="34" charset="0"/>
                <a:ea typeface="Calibri" pitchFamily="34" charset="-122"/>
                <a:cs typeface="Calibri" pitchFamily="34" charset="-120"/>
              </a:rPr>
              <a:t>Endocrine therapy is taken for several years, long after the person feels well</a:t>
            </a:r>
            <a:endParaRPr lang="en-GB" sz="1600" noProof="0" dirty="0"/>
          </a:p>
          <a:p>
            <a:pPr marL="342900" indent="-342900">
              <a:lnSpc>
                <a:spcPct val="95000"/>
              </a:lnSpc>
              <a:spcAft>
                <a:spcPts val="600"/>
              </a:spcAft>
              <a:buSzPct val="100000"/>
              <a:buChar char="•"/>
            </a:pPr>
            <a:r>
              <a:rPr lang="en-GB" sz="1600" noProof="0" dirty="0">
                <a:solidFill>
                  <a:srgbClr val="0B1F3F"/>
                </a:solidFill>
                <a:latin typeface="Calibri" pitchFamily="34" charset="0"/>
                <a:ea typeface="Calibri" pitchFamily="34" charset="-122"/>
                <a:cs typeface="Calibri" pitchFamily="34" charset="-120"/>
              </a:rPr>
              <a:t>Hot flushes, joint aches, vaginal dryness and low mood are the usual reasons it is stopped</a:t>
            </a:r>
            <a:endParaRPr lang="en-GB" sz="1600" noProof="0" dirty="0"/>
          </a:p>
          <a:p>
            <a:pPr marL="342900" indent="-342900">
              <a:lnSpc>
                <a:spcPct val="95000"/>
              </a:lnSpc>
              <a:spcAft>
                <a:spcPts val="600"/>
              </a:spcAft>
              <a:buSzPct val="100000"/>
              <a:buChar char="•"/>
            </a:pPr>
            <a:r>
              <a:rPr lang="en-GB" sz="1600" noProof="0" dirty="0">
                <a:solidFill>
                  <a:srgbClr val="0B1F3F"/>
                </a:solidFill>
                <a:latin typeface="Calibri" pitchFamily="34" charset="0"/>
                <a:ea typeface="Calibri" pitchFamily="34" charset="-122"/>
                <a:cs typeface="Calibri" pitchFamily="34" charset="-120"/>
              </a:rPr>
              <a:t>Ask directly whether the tablets are being taken, without blame</a:t>
            </a:r>
            <a:endParaRPr lang="en-GB" sz="1600" noProof="0" dirty="0"/>
          </a:p>
          <a:p>
            <a:pPr marL="342900" indent="-342900">
              <a:lnSpc>
                <a:spcPct val="95000"/>
              </a:lnSpc>
              <a:spcAft>
                <a:spcPts val="600"/>
              </a:spcAft>
              <a:buSzPct val="100000"/>
              <a:buChar char="•"/>
            </a:pPr>
            <a:r>
              <a:rPr lang="en-GB" sz="1600" noProof="0" dirty="0">
                <a:solidFill>
                  <a:srgbClr val="0B1F3F"/>
                </a:solidFill>
                <a:latin typeface="Calibri" pitchFamily="34" charset="0"/>
                <a:ea typeface="Calibri" pitchFamily="34" charset="-122"/>
                <a:cs typeface="Calibri" pitchFamily="34" charset="-120"/>
              </a:rPr>
              <a:t>Treat the effect rather than accepting that treatment will be abandoned</a:t>
            </a:r>
            <a:endParaRPr lang="en-GB" sz="1600" noProof="0" dirty="0"/>
          </a:p>
          <a:p>
            <a:pPr marL="342900" indent="-342900">
              <a:lnSpc>
                <a:spcPct val="95000"/>
              </a:lnSpc>
              <a:spcAft>
                <a:spcPts val="600"/>
              </a:spcAft>
              <a:buSzPct val="100000"/>
              <a:buChar char="•"/>
            </a:pPr>
            <a:r>
              <a:rPr lang="en-GB" sz="1600" noProof="0" dirty="0">
                <a:solidFill>
                  <a:srgbClr val="0B1F3F"/>
                </a:solidFill>
                <a:latin typeface="Calibri" pitchFamily="34" charset="0"/>
                <a:ea typeface="Calibri" pitchFamily="34" charset="-122"/>
                <a:cs typeface="Calibri" pitchFamily="34" charset="-120"/>
              </a:rPr>
              <a:t>Explain what the medicine is doing and why the duration matters</a:t>
            </a:r>
            <a:endParaRPr lang="en-GB" sz="1600" noProof="0" dirty="0"/>
          </a:p>
          <a:p>
            <a:pPr marL="342900" indent="-342900">
              <a:lnSpc>
                <a:spcPct val="95000"/>
              </a:lnSpc>
              <a:spcAft>
                <a:spcPts val="600"/>
              </a:spcAft>
              <a:buSzPct val="100000"/>
              <a:buChar char="•"/>
            </a:pPr>
            <a:r>
              <a:rPr lang="en-GB" sz="1600" noProof="0" dirty="0">
                <a:solidFill>
                  <a:srgbClr val="0B1F3F"/>
                </a:solidFill>
                <a:latin typeface="Calibri" pitchFamily="34" charset="0"/>
                <a:ea typeface="Calibri" pitchFamily="34" charset="-122"/>
                <a:cs typeface="Calibri" pitchFamily="34" charset="-120"/>
              </a:rPr>
              <a:t>Report persistent effects to the treating team, because alternatives sometimes exist</a:t>
            </a:r>
            <a:endParaRPr lang="en-GB" sz="1600" noProof="0" dirty="0"/>
          </a:p>
        </p:txBody>
      </p:sp>
      <p:sp>
        <p:nvSpPr>
          <p:cNvPr id="11" name="Shape 9"/>
          <p:cNvSpPr/>
          <p:nvPr/>
        </p:nvSpPr>
        <p:spPr>
          <a:xfrm>
            <a:off x="548640" y="5669280"/>
            <a:ext cx="11094415" cy="566928"/>
          </a:xfrm>
          <a:prstGeom prst="roundRect">
            <a:avLst>
              <a:gd name="adj" fmla="val 8065"/>
            </a:avLst>
          </a:prstGeom>
          <a:solidFill>
            <a:srgbClr val="FDF1E0"/>
          </a:solidFill>
          <a:ln w="12700">
            <a:solidFill>
              <a:srgbClr val="EFD3AA"/>
            </a:solidFill>
            <a:prstDash val="solid"/>
          </a:ln>
        </p:spPr>
        <p:txBody>
          <a:bodyPr/>
          <a:lstStyle/>
          <a:p>
            <a:endParaRPr lang="en-GB" noProof="0" dirty="0"/>
          </a:p>
        </p:txBody>
      </p:sp>
      <p:sp>
        <p:nvSpPr>
          <p:cNvPr id="12" name="Text 10"/>
          <p:cNvSpPr txBox="1"/>
          <p:nvPr/>
        </p:nvSpPr>
        <p:spPr>
          <a:xfrm>
            <a:off x="713232" y="5742432"/>
            <a:ext cx="10765231" cy="420624"/>
          </a:xfrm>
          <a:prstGeom prst="rect">
            <a:avLst/>
          </a:prstGeom>
          <a:noFill/>
          <a:ln/>
        </p:spPr>
        <p:txBody>
          <a:bodyPr wrap="square" lIns="0" tIns="0" rIns="0" bIns="0" rtlCol="0" anchor="ctr"/>
          <a:lstStyle/>
          <a:p>
            <a:pPr marL="0" indent="0">
              <a:lnSpc>
                <a:spcPct val="95000"/>
              </a:lnSpc>
              <a:buNone/>
            </a:pPr>
            <a:r>
              <a:rPr lang="en-GB" sz="1300" noProof="0" dirty="0">
                <a:solidFill>
                  <a:srgbClr val="0B1F3F"/>
                </a:solidFill>
                <a:latin typeface="Calibri" pitchFamily="34" charset="0"/>
                <a:ea typeface="Calibri" pitchFamily="34" charset="-122"/>
                <a:cs typeface="Calibri" pitchFamily="34" charset="-120"/>
              </a:rPr>
              <a:t>A person who quietly stops taking endocrine therapy loses a large part of the benefit of everything that came before it. Asking about it at every review is one of the most valuable things a frontline HCP does.</a:t>
            </a:r>
            <a:endParaRPr lang="en-GB" sz="1300" noProof="0" dirty="0"/>
          </a:p>
        </p:txBody>
      </p:sp>
    </p:spTree>
  </p:cSld>
  <p:clrMapOvr>
    <a:masterClrMapping/>
  </p:clrMapOvr>
</p:sld>
</file>

<file path=ppt/slides/slide140.xml><?xml version="1.0" encoding="utf-8"?>
<p:sld xmlns:a="http://schemas.openxmlformats.org/drawingml/2006/main" xmlns:r="http://schemas.openxmlformats.org/officeDocument/2006/relationships" xmlns:p="http://schemas.openxmlformats.org/presentationml/2006/main">
  <p:cSld name="Slide 10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en-GB" sz="1100" b="1" kern="0" spc="100" noProof="0" dirty="0">
                <a:solidFill>
                  <a:srgbClr val="5B7699"/>
                </a:solidFill>
                <a:latin typeface="Calibri" pitchFamily="34" charset="0"/>
                <a:ea typeface="Calibri" pitchFamily="34" charset="-122"/>
                <a:cs typeface="Calibri" pitchFamily="34" charset="-120"/>
              </a:rPr>
              <a:t>S E S S I O N   5</a:t>
            </a:r>
            <a:endParaRPr lang="en-GB" sz="11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en-GB" sz="3000" b="1" noProof="0" dirty="0">
                <a:solidFill>
                  <a:srgbClr val="12315B"/>
                </a:solidFill>
                <a:latin typeface="Calibri" pitchFamily="34" charset="0"/>
                <a:ea typeface="Calibri" pitchFamily="34" charset="-122"/>
                <a:cs typeface="Calibri" pitchFamily="34" charset="-120"/>
              </a:rPr>
              <a:t>Body image, sexual health, fertility and menopause</a:t>
            </a:r>
            <a:endParaRPr lang="en-GB" sz="3000" noProof="0" dirty="0"/>
          </a:p>
        </p:txBody>
      </p:sp>
      <p:pic>
        <p:nvPicPr>
          <p:cNvPr id="5" name="Imagen 4">
            <a:extLst>
              <a:ext uri="{FF2B5EF4-FFF2-40B4-BE49-F238E27FC236}">
                <a16:creationId xmlns:a16="http://schemas.microsoft.com/office/drawing/2014/main" id="{3E70C99A-BFF7-2B9B-B89E-4F034B08DD35}"/>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1079268" y="1032996"/>
            <a:ext cx="9211887" cy="5679509"/>
          </a:xfrm>
          <a:prstGeom prst="rect">
            <a:avLst/>
          </a:prstGeom>
        </p:spPr>
      </p:pic>
    </p:spTree>
  </p:cSld>
  <p:clrMapOvr>
    <a:masterClrMapping/>
  </p:clrMapOvr>
</p:sld>
</file>

<file path=ppt/slides/slide141.xml><?xml version="1.0" encoding="utf-8"?>
<p:sld xmlns:a="http://schemas.openxmlformats.org/drawingml/2006/main" xmlns:r="http://schemas.openxmlformats.org/officeDocument/2006/relationships" xmlns:p="http://schemas.openxmlformats.org/presentationml/2006/main">
  <p:cSld name="Slide 1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en-GB" sz="1100" b="1" kern="0" spc="100" noProof="0" dirty="0">
                <a:solidFill>
                  <a:srgbClr val="5B7699"/>
                </a:solidFill>
                <a:latin typeface="Calibri" pitchFamily="34" charset="0"/>
                <a:ea typeface="Calibri" pitchFamily="34" charset="-122"/>
                <a:cs typeface="Calibri" pitchFamily="34" charset="-120"/>
              </a:rPr>
              <a:t>S E S S I O N   5</a:t>
            </a:r>
            <a:endParaRPr lang="en-GB"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en-GB" sz="1000" noProof="0" dirty="0">
                <a:solidFill>
                  <a:srgbClr val="5B7699"/>
                </a:solidFill>
                <a:latin typeface="Calibri" pitchFamily="34" charset="0"/>
                <a:ea typeface="Calibri" pitchFamily="34" charset="-122"/>
                <a:cs typeface="Calibri" pitchFamily="34" charset="-120"/>
              </a:rPr>
              <a:t>Breast Cancer  |  Frontline HCP  |  Rwanda Biomedical Centre</a:t>
            </a:r>
            <a:endParaRPr lang="en-GB"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en-GB" sz="3000" b="1" noProof="0" dirty="0">
                <a:solidFill>
                  <a:srgbClr val="12315B"/>
                </a:solidFill>
                <a:latin typeface="Calibri" pitchFamily="34" charset="0"/>
                <a:ea typeface="Calibri" pitchFamily="34" charset="-122"/>
                <a:cs typeface="Calibri" pitchFamily="34" charset="-120"/>
              </a:rPr>
              <a:t>Palliative care</a:t>
            </a:r>
            <a:endParaRPr lang="en-GB" sz="3000" noProof="0" dirty="0"/>
          </a:p>
        </p:txBody>
      </p:sp>
      <p:sp>
        <p:nvSpPr>
          <p:cNvPr id="5" name="Shape 3"/>
          <p:cNvSpPr/>
          <p:nvPr/>
        </p:nvSpPr>
        <p:spPr>
          <a:xfrm>
            <a:off x="548639" y="1254032"/>
            <a:ext cx="11094415" cy="4342095"/>
          </a:xfrm>
          <a:prstGeom prst="roundRect">
            <a:avLst>
              <a:gd name="adj" fmla="val 1319"/>
            </a:avLst>
          </a:prstGeom>
          <a:solidFill>
            <a:srgbClr val="F4F8FC"/>
          </a:solidFill>
          <a:ln w="12700">
            <a:solidFill>
              <a:srgbClr val="C8D8EC"/>
            </a:solidFill>
            <a:prstDash val="solid"/>
          </a:ln>
        </p:spPr>
        <p:txBody>
          <a:bodyPr/>
          <a:lstStyle/>
          <a:p>
            <a:endParaRPr lang="en-GB" noProof="0" dirty="0"/>
          </a:p>
        </p:txBody>
      </p:sp>
      <p:sp>
        <p:nvSpPr>
          <p:cNvPr id="6" name="Text 4"/>
          <p:cNvSpPr txBox="1"/>
          <p:nvPr/>
        </p:nvSpPr>
        <p:spPr>
          <a:xfrm>
            <a:off x="713232" y="1345473"/>
            <a:ext cx="5065776" cy="292608"/>
          </a:xfrm>
          <a:prstGeom prst="rect">
            <a:avLst/>
          </a:prstGeom>
          <a:noFill/>
          <a:ln/>
        </p:spPr>
        <p:txBody>
          <a:bodyPr wrap="square" lIns="0" tIns="0" rIns="0" bIns="0" rtlCol="0" anchor="t"/>
          <a:lstStyle/>
          <a:p>
            <a:pPr marL="0" indent="0">
              <a:buNone/>
            </a:pPr>
            <a:r>
              <a:rPr lang="en-GB" sz="1700" b="1" noProof="0" dirty="0">
                <a:solidFill>
                  <a:srgbClr val="12315B"/>
                </a:solidFill>
                <a:latin typeface="Calibri" pitchFamily="34" charset="0"/>
                <a:ea typeface="Calibri" pitchFamily="34" charset="-122"/>
                <a:cs typeface="Calibri" pitchFamily="34" charset="-120"/>
              </a:rPr>
              <a:t>Palliative care</a:t>
            </a:r>
            <a:endParaRPr lang="en-GB" sz="1700" noProof="0" dirty="0"/>
          </a:p>
        </p:txBody>
      </p:sp>
      <p:sp>
        <p:nvSpPr>
          <p:cNvPr id="7" name="Text 5"/>
          <p:cNvSpPr txBox="1"/>
          <p:nvPr/>
        </p:nvSpPr>
        <p:spPr>
          <a:xfrm>
            <a:off x="713232" y="1711233"/>
            <a:ext cx="10417468" cy="1900000"/>
          </a:xfrm>
          <a:prstGeom prst="rect">
            <a:avLst/>
          </a:prstGeom>
          <a:noFill/>
          <a:ln/>
        </p:spPr>
        <p:txBody>
          <a:bodyPr wrap="square" lIns="0" tIns="0" rIns="0" bIns="0" rtlCol="0" anchor="t"/>
          <a:lstStyle/>
          <a:p>
            <a:pPr marL="342900" indent="-342900">
              <a:lnSpc>
                <a:spcPct val="95000"/>
              </a:lnSpc>
              <a:spcAft>
                <a:spcPts val="600"/>
              </a:spcAft>
              <a:buSzPct val="100000"/>
              <a:buChar char="•"/>
            </a:pPr>
            <a:r>
              <a:rPr lang="en-GB" sz="1600" noProof="0" dirty="0">
                <a:solidFill>
                  <a:srgbClr val="0B1F3F"/>
                </a:solidFill>
                <a:latin typeface="Calibri" pitchFamily="34" charset="0"/>
                <a:ea typeface="Calibri" pitchFamily="34" charset="-122"/>
                <a:cs typeface="Calibri" pitchFamily="34" charset="-120"/>
              </a:rPr>
              <a:t>Symptom relief and quality-of-life support for the person and the family</a:t>
            </a:r>
            <a:endParaRPr lang="en-GB" sz="1600" noProof="0" dirty="0"/>
          </a:p>
          <a:p>
            <a:pPr marL="342900" indent="-342900">
              <a:lnSpc>
                <a:spcPct val="95000"/>
              </a:lnSpc>
              <a:spcAft>
                <a:spcPts val="600"/>
              </a:spcAft>
              <a:buSzPct val="100000"/>
              <a:buChar char="•"/>
            </a:pPr>
            <a:r>
              <a:rPr lang="en-GB" sz="1600" noProof="0" dirty="0">
                <a:solidFill>
                  <a:srgbClr val="0B1F3F"/>
                </a:solidFill>
                <a:latin typeface="Calibri" pitchFamily="34" charset="0"/>
                <a:ea typeface="Calibri" pitchFamily="34" charset="-122"/>
                <a:cs typeface="Calibri" pitchFamily="34" charset="-120"/>
              </a:rPr>
              <a:t>Provided alongside cancer treatment when appropriate, not only at the end of life</a:t>
            </a:r>
            <a:endParaRPr lang="en-GB" sz="1600" noProof="0" dirty="0"/>
          </a:p>
          <a:p>
            <a:pPr marL="342900" indent="-342900">
              <a:lnSpc>
                <a:spcPct val="95000"/>
              </a:lnSpc>
              <a:spcAft>
                <a:spcPts val="600"/>
              </a:spcAft>
              <a:buSzPct val="100000"/>
              <a:buChar char="•"/>
            </a:pPr>
            <a:r>
              <a:rPr lang="en-GB" sz="1600" noProof="0" dirty="0">
                <a:solidFill>
                  <a:srgbClr val="0B1F3F"/>
                </a:solidFill>
                <a:latin typeface="Calibri" pitchFamily="34" charset="0"/>
                <a:ea typeface="Calibri" pitchFamily="34" charset="-122"/>
                <a:cs typeface="Calibri" pitchFamily="34" charset="-120"/>
              </a:rPr>
              <a:t>Pain, including bone pain, assessed and treated properly. Oral morphine is available in Rwanda</a:t>
            </a:r>
            <a:endParaRPr lang="en-GB" sz="1600" noProof="0" dirty="0"/>
          </a:p>
          <a:p>
            <a:pPr marL="342900" indent="-342900">
              <a:lnSpc>
                <a:spcPct val="95000"/>
              </a:lnSpc>
              <a:spcAft>
                <a:spcPts val="600"/>
              </a:spcAft>
              <a:buSzPct val="100000"/>
              <a:buChar char="•"/>
            </a:pPr>
            <a:r>
              <a:rPr lang="en-GB" sz="1600" noProof="0" dirty="0">
                <a:solidFill>
                  <a:srgbClr val="0B1F3F"/>
                </a:solidFill>
                <a:latin typeface="Calibri" pitchFamily="34" charset="0"/>
                <a:ea typeface="Calibri" pitchFamily="34" charset="-122"/>
                <a:cs typeface="Calibri" pitchFamily="34" charset="-120"/>
              </a:rPr>
              <a:t>Breathlessness, nausea, fatigue and neurological symptoms all have treatments</a:t>
            </a:r>
            <a:endParaRPr lang="en-GB" sz="1600" noProof="0" dirty="0"/>
          </a:p>
          <a:p>
            <a:pPr marL="342900" indent="-342900">
              <a:lnSpc>
                <a:spcPct val="95000"/>
              </a:lnSpc>
              <a:spcAft>
                <a:spcPts val="600"/>
              </a:spcAft>
              <a:buSzPct val="100000"/>
              <a:buChar char="•"/>
            </a:pPr>
            <a:r>
              <a:rPr lang="en-GB" sz="1600" noProof="0" dirty="0">
                <a:solidFill>
                  <a:srgbClr val="0B1F3F"/>
                </a:solidFill>
                <a:latin typeface="Calibri" pitchFamily="34" charset="0"/>
                <a:ea typeface="Calibri" pitchFamily="34" charset="-122"/>
                <a:cs typeface="Calibri" pitchFamily="34" charset="-120"/>
              </a:rPr>
              <a:t>Wound care for a fungating breast wound, with attention to odour and dignity</a:t>
            </a:r>
            <a:endParaRPr lang="en-GB" sz="1600" noProof="0" dirty="0"/>
          </a:p>
          <a:p>
            <a:pPr marL="342900" indent="-342900">
              <a:lnSpc>
                <a:spcPct val="95000"/>
              </a:lnSpc>
              <a:spcAft>
                <a:spcPts val="600"/>
              </a:spcAft>
              <a:buSzPct val="100000"/>
              <a:buChar char="•"/>
            </a:pPr>
            <a:r>
              <a:rPr lang="en-GB" sz="1600" noProof="0" dirty="0">
                <a:solidFill>
                  <a:srgbClr val="0B1F3F"/>
                </a:solidFill>
                <a:latin typeface="Calibri" pitchFamily="34" charset="0"/>
                <a:ea typeface="Calibri" pitchFamily="34" charset="-122"/>
                <a:cs typeface="Calibri" pitchFamily="34" charset="-120"/>
              </a:rPr>
              <a:t>Clear information for the family, a contact for help, and guidance on what needs urgent care</a:t>
            </a:r>
            <a:endParaRPr lang="en-GB" sz="1600" noProof="0" dirty="0"/>
          </a:p>
        </p:txBody>
      </p:sp>
      <p:sp>
        <p:nvSpPr>
          <p:cNvPr id="11" name="Shape 9"/>
          <p:cNvSpPr/>
          <p:nvPr/>
        </p:nvSpPr>
        <p:spPr>
          <a:xfrm>
            <a:off x="548640" y="5669280"/>
            <a:ext cx="11094415" cy="566928"/>
          </a:xfrm>
          <a:prstGeom prst="roundRect">
            <a:avLst>
              <a:gd name="adj" fmla="val 8065"/>
            </a:avLst>
          </a:prstGeom>
          <a:solidFill>
            <a:srgbClr val="FDF1E0"/>
          </a:solidFill>
          <a:ln w="12700">
            <a:solidFill>
              <a:srgbClr val="EFD3AA"/>
            </a:solidFill>
            <a:prstDash val="solid"/>
          </a:ln>
        </p:spPr>
        <p:txBody>
          <a:bodyPr/>
          <a:lstStyle/>
          <a:p>
            <a:endParaRPr lang="en-GB" noProof="0" dirty="0"/>
          </a:p>
        </p:txBody>
      </p:sp>
      <p:sp>
        <p:nvSpPr>
          <p:cNvPr id="12" name="Text 10"/>
          <p:cNvSpPr txBox="1"/>
          <p:nvPr/>
        </p:nvSpPr>
        <p:spPr>
          <a:xfrm>
            <a:off x="713232" y="5742432"/>
            <a:ext cx="10765231" cy="420624"/>
          </a:xfrm>
          <a:prstGeom prst="rect">
            <a:avLst/>
          </a:prstGeom>
          <a:noFill/>
          <a:ln/>
        </p:spPr>
        <p:txBody>
          <a:bodyPr wrap="square" lIns="0" tIns="0" rIns="0" bIns="0" rtlCol="0" anchor="ctr"/>
          <a:lstStyle/>
          <a:p>
            <a:pPr marL="0" indent="0">
              <a:lnSpc>
                <a:spcPct val="95000"/>
              </a:lnSpc>
              <a:buNone/>
            </a:pPr>
            <a:r>
              <a:rPr lang="en-GB" sz="1300" noProof="0" dirty="0">
                <a:solidFill>
                  <a:srgbClr val="0B1F3F"/>
                </a:solidFill>
                <a:latin typeface="Calibri" pitchFamily="34" charset="0"/>
                <a:ea typeface="Calibri" pitchFamily="34" charset="-122"/>
                <a:cs typeface="Calibri" pitchFamily="34" charset="-120"/>
              </a:rPr>
              <a:t>Palliative care is not the same as stopping treatment. Saying so plainly, to the person and to the family, is often the difference between accepting symptom control and refusing it.</a:t>
            </a:r>
            <a:endParaRPr lang="en-GB" sz="1300" noProof="0" dirty="0"/>
          </a:p>
        </p:txBody>
      </p:sp>
      <p:pic>
        <p:nvPicPr>
          <p:cNvPr id="13" name="Imagen 12">
            <a:extLst>
              <a:ext uri="{FF2B5EF4-FFF2-40B4-BE49-F238E27FC236}">
                <a16:creationId xmlns:a16="http://schemas.microsoft.com/office/drawing/2014/main" id="{AB067E93-5D68-C551-0428-438CBDF0BE8D}"/>
              </a:ext>
            </a:extLst>
          </p:cNvPr>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a:xfrm>
            <a:off x="1939860" y="3611233"/>
            <a:ext cx="7741711" cy="1900000"/>
          </a:xfrm>
          <a:prstGeom prst="rect">
            <a:avLst/>
          </a:prstGeom>
        </p:spPr>
      </p:pic>
    </p:spTree>
  </p:cSld>
  <p:clrMapOvr>
    <a:masterClrMapping/>
  </p:clrMapOvr>
</p:sld>
</file>

<file path=ppt/slides/slide14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a:extLst>
            <a:ext uri="{FF2B5EF4-FFF2-40B4-BE49-F238E27FC236}">
              <a16:creationId xmlns:a16="http://schemas.microsoft.com/office/drawing/2014/main" id="{7D2DDFC6-8C9E-28D2-FEBE-57CF1E11DDB3}"/>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0F428224-1B06-A96E-8309-4CC9E53471AD}"/>
              </a:ext>
            </a:extLst>
          </p:cNvPr>
          <p:cNvSpPr txBox="1"/>
          <p:nvPr/>
        </p:nvSpPr>
        <p:spPr>
          <a:xfrm>
            <a:off x="548640" y="274320"/>
            <a:ext cx="11094415" cy="256032"/>
          </a:xfrm>
          <a:prstGeom prst="rect">
            <a:avLst/>
          </a:prstGeom>
          <a:noFill/>
          <a:ln/>
        </p:spPr>
        <p:txBody>
          <a:bodyPr wrap="square" lIns="0" tIns="0" rIns="0" bIns="0" rtlCol="0" anchor="ctr"/>
          <a:lstStyle/>
          <a:p>
            <a:pPr marL="0" indent="0">
              <a:buNone/>
            </a:pPr>
            <a:r>
              <a:rPr lang="en-GB" sz="1100" b="1" kern="0" spc="100" noProof="0" dirty="0">
                <a:solidFill>
                  <a:srgbClr val="5B7699"/>
                </a:solidFill>
                <a:latin typeface="Calibri" pitchFamily="34" charset="0"/>
                <a:ea typeface="Calibri" pitchFamily="34" charset="-122"/>
                <a:cs typeface="Calibri" pitchFamily="34" charset="-120"/>
              </a:rPr>
              <a:t>S E S S I O N   5</a:t>
            </a:r>
            <a:endParaRPr lang="en-GB" sz="1100" noProof="0" dirty="0"/>
          </a:p>
        </p:txBody>
      </p:sp>
      <p:sp>
        <p:nvSpPr>
          <p:cNvPr id="3" name="Text 1">
            <a:extLst>
              <a:ext uri="{FF2B5EF4-FFF2-40B4-BE49-F238E27FC236}">
                <a16:creationId xmlns:a16="http://schemas.microsoft.com/office/drawing/2014/main" id="{CEAD78FF-2A56-314D-20A6-4BAC7DBBEB76}"/>
              </a:ext>
            </a:extLst>
          </p:cNvPr>
          <p:cNvSpPr txBox="1"/>
          <p:nvPr/>
        </p:nvSpPr>
        <p:spPr>
          <a:xfrm>
            <a:off x="548640" y="6382512"/>
            <a:ext cx="11094415" cy="274320"/>
          </a:xfrm>
          <a:prstGeom prst="rect">
            <a:avLst/>
          </a:prstGeom>
          <a:noFill/>
          <a:ln/>
        </p:spPr>
        <p:txBody>
          <a:bodyPr wrap="square" lIns="0" tIns="0" rIns="0" bIns="0" rtlCol="0" anchor="ctr"/>
          <a:lstStyle/>
          <a:p>
            <a:pPr marL="0" indent="0">
              <a:buNone/>
            </a:pPr>
            <a:r>
              <a:rPr lang="en-GB" sz="1000" noProof="0" dirty="0">
                <a:solidFill>
                  <a:srgbClr val="5B7699"/>
                </a:solidFill>
                <a:latin typeface="Calibri" pitchFamily="34" charset="0"/>
                <a:ea typeface="Calibri" pitchFamily="34" charset="-122"/>
                <a:cs typeface="Calibri" pitchFamily="34" charset="-120"/>
              </a:rPr>
              <a:t>Breast Cancer  |  Frontline HCP  |  Rwanda Biomedical Centre</a:t>
            </a:r>
            <a:endParaRPr lang="en-GB" sz="1000" noProof="0" dirty="0"/>
          </a:p>
        </p:txBody>
      </p:sp>
      <p:sp>
        <p:nvSpPr>
          <p:cNvPr id="4" name="Text 2">
            <a:extLst>
              <a:ext uri="{FF2B5EF4-FFF2-40B4-BE49-F238E27FC236}">
                <a16:creationId xmlns:a16="http://schemas.microsoft.com/office/drawing/2014/main" id="{DD264A3B-4C6B-5D00-7DD5-EB0B0969D78A}"/>
              </a:ext>
            </a:extLst>
          </p:cNvPr>
          <p:cNvSpPr txBox="1"/>
          <p:nvPr/>
        </p:nvSpPr>
        <p:spPr>
          <a:xfrm>
            <a:off x="548640" y="566928"/>
            <a:ext cx="11094415" cy="566928"/>
          </a:xfrm>
          <a:prstGeom prst="rect">
            <a:avLst/>
          </a:prstGeom>
          <a:noFill/>
          <a:ln/>
        </p:spPr>
        <p:txBody>
          <a:bodyPr wrap="square" lIns="0" tIns="0" rIns="0" bIns="0" rtlCol="0" anchor="t"/>
          <a:lstStyle/>
          <a:p>
            <a:pPr marL="0" indent="0">
              <a:buNone/>
            </a:pPr>
            <a:r>
              <a:rPr lang="en-GB" sz="3000" b="1" noProof="0" dirty="0">
                <a:solidFill>
                  <a:srgbClr val="12315B"/>
                </a:solidFill>
                <a:latin typeface="Calibri" pitchFamily="34" charset="0"/>
                <a:ea typeface="Calibri" pitchFamily="34" charset="-122"/>
                <a:cs typeface="Calibri" pitchFamily="34" charset="-120"/>
              </a:rPr>
              <a:t>Palliative care and quality of life</a:t>
            </a:r>
            <a:endParaRPr lang="en-GB" sz="3000" noProof="0" dirty="0"/>
          </a:p>
        </p:txBody>
      </p:sp>
      <p:sp>
        <p:nvSpPr>
          <p:cNvPr id="8" name="Shape 6">
            <a:extLst>
              <a:ext uri="{FF2B5EF4-FFF2-40B4-BE49-F238E27FC236}">
                <a16:creationId xmlns:a16="http://schemas.microsoft.com/office/drawing/2014/main" id="{010BCB9E-3F9A-FB56-DAF6-E2515BFECBC4}"/>
              </a:ext>
            </a:extLst>
          </p:cNvPr>
          <p:cNvSpPr/>
          <p:nvPr/>
        </p:nvSpPr>
        <p:spPr>
          <a:xfrm>
            <a:off x="548640" y="1476104"/>
            <a:ext cx="11225097" cy="4906407"/>
          </a:xfrm>
          <a:prstGeom prst="roundRect">
            <a:avLst>
              <a:gd name="adj" fmla="val 1319"/>
            </a:avLst>
          </a:prstGeom>
          <a:solidFill>
            <a:srgbClr val="F4F8FC"/>
          </a:solidFill>
          <a:ln w="12700">
            <a:solidFill>
              <a:srgbClr val="C8D8EC"/>
            </a:solidFill>
            <a:prstDash val="solid"/>
          </a:ln>
        </p:spPr>
        <p:txBody>
          <a:bodyPr/>
          <a:lstStyle/>
          <a:p>
            <a:endParaRPr lang="en-GB" noProof="0" dirty="0"/>
          </a:p>
        </p:txBody>
      </p:sp>
      <p:sp>
        <p:nvSpPr>
          <p:cNvPr id="9" name="Text 7">
            <a:extLst>
              <a:ext uri="{FF2B5EF4-FFF2-40B4-BE49-F238E27FC236}">
                <a16:creationId xmlns:a16="http://schemas.microsoft.com/office/drawing/2014/main" id="{DF951462-7C96-30B3-2005-3696B2D3ED21}"/>
              </a:ext>
            </a:extLst>
          </p:cNvPr>
          <p:cNvSpPr txBox="1"/>
          <p:nvPr/>
        </p:nvSpPr>
        <p:spPr>
          <a:xfrm>
            <a:off x="713232" y="1567545"/>
            <a:ext cx="10543985" cy="292608"/>
          </a:xfrm>
          <a:prstGeom prst="rect">
            <a:avLst/>
          </a:prstGeom>
          <a:noFill/>
          <a:ln/>
        </p:spPr>
        <p:txBody>
          <a:bodyPr wrap="square" lIns="0" tIns="0" rIns="0" bIns="0" rtlCol="0" anchor="t"/>
          <a:lstStyle/>
          <a:p>
            <a:pPr marL="0" indent="0">
              <a:buNone/>
            </a:pPr>
            <a:r>
              <a:rPr lang="en-GB" sz="1700" b="1" noProof="0" dirty="0">
                <a:solidFill>
                  <a:srgbClr val="12315B"/>
                </a:solidFill>
                <a:latin typeface="Calibri" pitchFamily="34" charset="0"/>
                <a:ea typeface="Calibri" pitchFamily="34" charset="-122"/>
                <a:cs typeface="Calibri" pitchFamily="34" charset="-120"/>
              </a:rPr>
              <a:t>Quality of life</a:t>
            </a:r>
            <a:endParaRPr lang="en-GB" sz="1700" noProof="0" dirty="0"/>
          </a:p>
        </p:txBody>
      </p:sp>
      <p:sp>
        <p:nvSpPr>
          <p:cNvPr id="10" name="Text 8">
            <a:extLst>
              <a:ext uri="{FF2B5EF4-FFF2-40B4-BE49-F238E27FC236}">
                <a16:creationId xmlns:a16="http://schemas.microsoft.com/office/drawing/2014/main" id="{C59C6D00-86A3-7389-65E2-8C597B871C93}"/>
              </a:ext>
            </a:extLst>
          </p:cNvPr>
          <p:cNvSpPr txBox="1"/>
          <p:nvPr/>
        </p:nvSpPr>
        <p:spPr>
          <a:xfrm>
            <a:off x="713232" y="1933305"/>
            <a:ext cx="10543985" cy="1900000"/>
          </a:xfrm>
          <a:prstGeom prst="rect">
            <a:avLst/>
          </a:prstGeom>
          <a:noFill/>
          <a:ln/>
        </p:spPr>
        <p:txBody>
          <a:bodyPr wrap="square" lIns="0" tIns="0" rIns="0" bIns="0" rtlCol="0" anchor="t"/>
          <a:lstStyle/>
          <a:p>
            <a:pPr marL="342900" indent="-342900">
              <a:lnSpc>
                <a:spcPct val="95000"/>
              </a:lnSpc>
              <a:spcAft>
                <a:spcPts val="600"/>
              </a:spcAft>
              <a:buSzPct val="100000"/>
              <a:buChar char="•"/>
            </a:pPr>
            <a:r>
              <a:rPr lang="en-GB" sz="1600" noProof="0" dirty="0">
                <a:solidFill>
                  <a:srgbClr val="0B1F3F"/>
                </a:solidFill>
                <a:latin typeface="Calibri" pitchFamily="34" charset="0"/>
                <a:ea typeface="Calibri" pitchFamily="34" charset="-122"/>
                <a:cs typeface="Calibri" pitchFamily="34" charset="-120"/>
              </a:rPr>
              <a:t>Arm function, pain and fatigue, which shape what a person can actually do</a:t>
            </a:r>
            <a:endParaRPr lang="en-GB" sz="1600" noProof="0" dirty="0"/>
          </a:p>
          <a:p>
            <a:pPr marL="342900" indent="-342900">
              <a:lnSpc>
                <a:spcPct val="95000"/>
              </a:lnSpc>
              <a:spcAft>
                <a:spcPts val="600"/>
              </a:spcAft>
              <a:buSzPct val="100000"/>
              <a:buChar char="•"/>
            </a:pPr>
            <a:r>
              <a:rPr lang="en-GB" sz="1600" noProof="0" dirty="0">
                <a:solidFill>
                  <a:srgbClr val="0B1F3F"/>
                </a:solidFill>
                <a:latin typeface="Calibri" pitchFamily="34" charset="0"/>
                <a:ea typeface="Calibri" pitchFamily="34" charset="-122"/>
                <a:cs typeface="Calibri" pitchFamily="34" charset="-120"/>
              </a:rPr>
              <a:t>Emotional wellbeing, including fear of recurrence at every review</a:t>
            </a:r>
            <a:endParaRPr lang="en-GB" sz="1600" noProof="0" dirty="0"/>
          </a:p>
          <a:p>
            <a:pPr marL="342900" indent="-342900">
              <a:lnSpc>
                <a:spcPct val="95000"/>
              </a:lnSpc>
              <a:spcAft>
                <a:spcPts val="600"/>
              </a:spcAft>
              <a:buSzPct val="100000"/>
              <a:buChar char="•"/>
            </a:pPr>
            <a:r>
              <a:rPr lang="en-GB" sz="1600" noProof="0" dirty="0">
                <a:solidFill>
                  <a:srgbClr val="0B1F3F"/>
                </a:solidFill>
                <a:latin typeface="Calibri" pitchFamily="34" charset="0"/>
                <a:ea typeface="Calibri" pitchFamily="34" charset="-122"/>
                <a:cs typeface="Calibri" pitchFamily="34" charset="-120"/>
              </a:rPr>
              <a:t>Body image, sexual health and relationships</a:t>
            </a:r>
            <a:endParaRPr lang="en-GB" sz="1600" noProof="0" dirty="0"/>
          </a:p>
          <a:p>
            <a:pPr marL="342900" indent="-342900">
              <a:lnSpc>
                <a:spcPct val="95000"/>
              </a:lnSpc>
              <a:spcAft>
                <a:spcPts val="600"/>
              </a:spcAft>
              <a:buSzPct val="100000"/>
              <a:buChar char="•"/>
            </a:pPr>
            <a:r>
              <a:rPr lang="en-GB" sz="1600" noProof="0" dirty="0">
                <a:solidFill>
                  <a:srgbClr val="0B1F3F"/>
                </a:solidFill>
                <a:latin typeface="Calibri" pitchFamily="34" charset="0"/>
                <a:ea typeface="Calibri" pitchFamily="34" charset="-122"/>
                <a:cs typeface="Calibri" pitchFamily="34" charset="-120"/>
              </a:rPr>
              <a:t>Work, income and the practical burden of travelling for treatment</a:t>
            </a:r>
            <a:endParaRPr lang="en-GB" sz="1600" noProof="0" dirty="0"/>
          </a:p>
          <a:p>
            <a:pPr marL="342900" indent="-342900">
              <a:lnSpc>
                <a:spcPct val="95000"/>
              </a:lnSpc>
              <a:spcAft>
                <a:spcPts val="600"/>
              </a:spcAft>
              <a:buSzPct val="100000"/>
              <a:buChar char="•"/>
            </a:pPr>
            <a:r>
              <a:rPr lang="en-GB" sz="1600" noProof="0" dirty="0">
                <a:solidFill>
                  <a:srgbClr val="0B1F3F"/>
                </a:solidFill>
                <a:latin typeface="Calibri" pitchFamily="34" charset="0"/>
                <a:ea typeface="Calibri" pitchFamily="34" charset="-122"/>
                <a:cs typeface="Calibri" pitchFamily="34" charset="-120"/>
              </a:rPr>
              <a:t>Family roles, childcare and who is caring for whom</a:t>
            </a:r>
            <a:endParaRPr lang="en-GB" sz="1600" noProof="0" dirty="0"/>
          </a:p>
          <a:p>
            <a:pPr marL="342900" indent="-342900">
              <a:lnSpc>
                <a:spcPct val="95000"/>
              </a:lnSpc>
              <a:spcAft>
                <a:spcPts val="600"/>
              </a:spcAft>
              <a:buSzPct val="100000"/>
              <a:buChar char="•"/>
            </a:pPr>
            <a:r>
              <a:rPr lang="en-GB" sz="1600" noProof="0" dirty="0">
                <a:solidFill>
                  <a:srgbClr val="0B1F3F"/>
                </a:solidFill>
                <a:latin typeface="Calibri" pitchFamily="34" charset="0"/>
                <a:ea typeface="Calibri" pitchFamily="34" charset="-122"/>
                <a:cs typeface="Calibri" pitchFamily="34" charset="-120"/>
              </a:rPr>
              <a:t>Privacy and dignity at every contact, with no blame and no judgement</a:t>
            </a:r>
            <a:endParaRPr lang="en-GB" sz="1600" noProof="0" dirty="0"/>
          </a:p>
        </p:txBody>
      </p:sp>
      <p:pic>
        <p:nvPicPr>
          <p:cNvPr id="13" name="Imagen 12">
            <a:extLst>
              <a:ext uri="{FF2B5EF4-FFF2-40B4-BE49-F238E27FC236}">
                <a16:creationId xmlns:a16="http://schemas.microsoft.com/office/drawing/2014/main" id="{261BC6EA-BE0A-4F68-767A-6C0E46E850EE}"/>
              </a:ext>
            </a:extLst>
          </p:cNvPr>
          <p:cNvPicPr>
            <a:picLocks noChangeAspect="1"/>
          </p:cNvPicPr>
          <p:nvPr/>
        </p:nvPicPr>
        <p:blipFill>
          <a:blip r:embed="rId3" cstate="email">
            <a:extLst>
              <a:ext uri="{28A0092B-C50C-407E-A947-70E740481C1C}">
                <a14:useLocalDpi xmlns:a14="http://schemas.microsoft.com/office/drawing/2010/main"/>
              </a:ext>
            </a:extLst>
          </a:blip>
          <a:srcRect/>
          <a:stretch>
            <a:fillRect/>
          </a:stretch>
        </p:blipFill>
        <p:spPr>
          <a:xfrm>
            <a:off x="1347717" y="3956895"/>
            <a:ext cx="9496566" cy="1967952"/>
          </a:xfrm>
          <a:prstGeom prst="rect">
            <a:avLst/>
          </a:prstGeom>
        </p:spPr>
      </p:pic>
    </p:spTree>
    <p:extLst>
      <p:ext uri="{BB962C8B-B14F-4D97-AF65-F5344CB8AC3E}">
        <p14:creationId xmlns:p14="http://schemas.microsoft.com/office/powerpoint/2010/main" val="38071096"/>
      </p:ext>
    </p:extLst>
  </p:cSld>
  <p:clrMapOvr>
    <a:masterClrMapping/>
  </p:clrMapOvr>
</p:sld>
</file>

<file path=ppt/slides/slide143.xml><?xml version="1.0" encoding="utf-8"?>
<p:sld xmlns:a="http://schemas.openxmlformats.org/drawingml/2006/main" xmlns:r="http://schemas.openxmlformats.org/officeDocument/2006/relationships" xmlns:p="http://schemas.openxmlformats.org/presentationml/2006/main">
  <p:cSld name="Slide 1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en-GB" sz="1100" b="1" kern="0" spc="100" noProof="0" dirty="0">
                <a:solidFill>
                  <a:srgbClr val="5B7699"/>
                </a:solidFill>
                <a:latin typeface="Calibri" pitchFamily="34" charset="0"/>
                <a:ea typeface="Calibri" pitchFamily="34" charset="-122"/>
                <a:cs typeface="Calibri" pitchFamily="34" charset="-120"/>
              </a:rPr>
              <a:t>S E S S I O N   5</a:t>
            </a:r>
            <a:endParaRPr lang="en-GB"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en-GB" sz="1000" noProof="0" dirty="0">
                <a:solidFill>
                  <a:srgbClr val="5B7699"/>
                </a:solidFill>
                <a:latin typeface="Calibri" pitchFamily="34" charset="0"/>
                <a:ea typeface="Calibri" pitchFamily="34" charset="-122"/>
                <a:cs typeface="Calibri" pitchFamily="34" charset="-120"/>
              </a:rPr>
              <a:t>Breast Cancer  |  Frontline HCP  |  Rwanda Biomedical Centre</a:t>
            </a:r>
            <a:endParaRPr lang="en-GB"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en-GB" sz="3000" b="1" noProof="0" dirty="0">
                <a:solidFill>
                  <a:srgbClr val="12315B"/>
                </a:solidFill>
                <a:latin typeface="Calibri" pitchFamily="34" charset="0"/>
                <a:ea typeface="Calibri" pitchFamily="34" charset="-122"/>
                <a:cs typeface="Calibri" pitchFamily="34" charset="-120"/>
              </a:rPr>
              <a:t>Survivorship and follow-up</a:t>
            </a:r>
            <a:endParaRPr lang="en-GB" sz="3000" noProof="0" dirty="0"/>
          </a:p>
        </p:txBody>
      </p:sp>
      <p:sp>
        <p:nvSpPr>
          <p:cNvPr id="5" name="Shape 3"/>
          <p:cNvSpPr/>
          <p:nvPr/>
        </p:nvSpPr>
        <p:spPr>
          <a:xfrm>
            <a:off x="548640" y="1371600"/>
            <a:ext cx="3527450" cy="1767251"/>
          </a:xfrm>
          <a:prstGeom prst="roundRect">
            <a:avLst>
              <a:gd name="adj" fmla="val 3104"/>
            </a:avLst>
          </a:prstGeom>
          <a:solidFill>
            <a:srgbClr val="F4F8FC"/>
          </a:solidFill>
          <a:ln w="12700">
            <a:solidFill>
              <a:srgbClr val="C8D8EC"/>
            </a:solidFill>
            <a:prstDash val="solid"/>
          </a:ln>
        </p:spPr>
        <p:txBody>
          <a:bodyPr/>
          <a:lstStyle/>
          <a:p>
            <a:endParaRPr lang="en-GB" noProof="0" dirty="0"/>
          </a:p>
        </p:txBody>
      </p:sp>
      <p:sp>
        <p:nvSpPr>
          <p:cNvPr id="6" name="Text 4"/>
          <p:cNvSpPr txBox="1"/>
          <p:nvPr/>
        </p:nvSpPr>
        <p:spPr>
          <a:xfrm>
            <a:off x="713232" y="1463040"/>
            <a:ext cx="3198266" cy="292608"/>
          </a:xfrm>
          <a:prstGeom prst="rect">
            <a:avLst/>
          </a:prstGeom>
          <a:noFill/>
          <a:ln/>
        </p:spPr>
        <p:txBody>
          <a:bodyPr wrap="square" lIns="0" tIns="0" rIns="0" bIns="0" rtlCol="0" anchor="t"/>
          <a:lstStyle/>
          <a:p>
            <a:pPr marL="0" indent="0">
              <a:buNone/>
            </a:pPr>
            <a:r>
              <a:rPr lang="en-GB" sz="1700" b="1" noProof="0" dirty="0">
                <a:solidFill>
                  <a:srgbClr val="12315B"/>
                </a:solidFill>
                <a:latin typeface="Calibri" pitchFamily="34" charset="0"/>
                <a:ea typeface="Calibri" pitchFamily="34" charset="-122"/>
                <a:cs typeface="Calibri" pitchFamily="34" charset="-120"/>
              </a:rPr>
              <a:t>Monitor recovery</a:t>
            </a:r>
            <a:endParaRPr lang="en-GB" sz="1700" noProof="0" dirty="0"/>
          </a:p>
        </p:txBody>
      </p:sp>
      <p:sp>
        <p:nvSpPr>
          <p:cNvPr id="7" name="Text 5"/>
          <p:cNvSpPr txBox="1"/>
          <p:nvPr/>
        </p:nvSpPr>
        <p:spPr>
          <a:xfrm>
            <a:off x="713232" y="1801368"/>
            <a:ext cx="3198266" cy="1282619"/>
          </a:xfrm>
          <a:prstGeom prst="rect">
            <a:avLst/>
          </a:prstGeom>
          <a:noFill/>
          <a:ln/>
        </p:spPr>
        <p:txBody>
          <a:bodyPr wrap="square" lIns="0" tIns="0" rIns="0" bIns="0" rtlCol="0" anchor="t"/>
          <a:lstStyle/>
          <a:p>
            <a:pPr marL="0" indent="0">
              <a:lnSpc>
                <a:spcPct val="90000"/>
              </a:lnSpc>
              <a:buNone/>
            </a:pPr>
            <a:r>
              <a:rPr lang="en-GB" sz="1800" noProof="0" dirty="0">
                <a:solidFill>
                  <a:srgbClr val="1F3A63"/>
                </a:solidFill>
                <a:latin typeface="Calibri" pitchFamily="34" charset="0"/>
                <a:ea typeface="Calibri" pitchFamily="34" charset="-122"/>
                <a:cs typeface="Calibri" pitchFamily="34" charset="-120"/>
              </a:rPr>
              <a:t>Wound healing, shoulder movement, arm swelling, weight, fatigue and return to normal activity.</a:t>
            </a:r>
            <a:endParaRPr lang="en-GB" sz="1800" noProof="0" dirty="0"/>
          </a:p>
        </p:txBody>
      </p:sp>
      <p:sp>
        <p:nvSpPr>
          <p:cNvPr id="8" name="Shape 6"/>
          <p:cNvSpPr/>
          <p:nvPr/>
        </p:nvSpPr>
        <p:spPr>
          <a:xfrm>
            <a:off x="4332122" y="1371600"/>
            <a:ext cx="3527450" cy="1767251"/>
          </a:xfrm>
          <a:prstGeom prst="roundRect">
            <a:avLst>
              <a:gd name="adj" fmla="val 3104"/>
            </a:avLst>
          </a:prstGeom>
          <a:solidFill>
            <a:srgbClr val="F4F8FC"/>
          </a:solidFill>
          <a:ln w="12700">
            <a:solidFill>
              <a:srgbClr val="C8D8EC"/>
            </a:solidFill>
            <a:prstDash val="solid"/>
          </a:ln>
        </p:spPr>
        <p:txBody>
          <a:bodyPr/>
          <a:lstStyle/>
          <a:p>
            <a:endParaRPr lang="en-GB" noProof="0" dirty="0"/>
          </a:p>
        </p:txBody>
      </p:sp>
      <p:sp>
        <p:nvSpPr>
          <p:cNvPr id="9" name="Text 7"/>
          <p:cNvSpPr txBox="1"/>
          <p:nvPr/>
        </p:nvSpPr>
        <p:spPr>
          <a:xfrm>
            <a:off x="4496714" y="1463040"/>
            <a:ext cx="3198266" cy="292608"/>
          </a:xfrm>
          <a:prstGeom prst="rect">
            <a:avLst/>
          </a:prstGeom>
          <a:noFill/>
          <a:ln/>
        </p:spPr>
        <p:txBody>
          <a:bodyPr wrap="square" lIns="0" tIns="0" rIns="0" bIns="0" rtlCol="0" anchor="t"/>
          <a:lstStyle/>
          <a:p>
            <a:pPr marL="0" indent="0">
              <a:buNone/>
            </a:pPr>
            <a:r>
              <a:rPr lang="en-GB" sz="1700" b="1" noProof="0" dirty="0">
                <a:solidFill>
                  <a:srgbClr val="12315B"/>
                </a:solidFill>
                <a:latin typeface="Calibri" pitchFamily="34" charset="0"/>
                <a:ea typeface="Calibri" pitchFamily="34" charset="-122"/>
                <a:cs typeface="Calibri" pitchFamily="34" charset="-120"/>
              </a:rPr>
              <a:t>Manage lasting effects</a:t>
            </a:r>
            <a:endParaRPr lang="en-GB" sz="1700" noProof="0" dirty="0"/>
          </a:p>
        </p:txBody>
      </p:sp>
      <p:sp>
        <p:nvSpPr>
          <p:cNvPr id="10" name="Text 8"/>
          <p:cNvSpPr txBox="1"/>
          <p:nvPr/>
        </p:nvSpPr>
        <p:spPr>
          <a:xfrm>
            <a:off x="4496714" y="1801368"/>
            <a:ext cx="3198266" cy="1282619"/>
          </a:xfrm>
          <a:prstGeom prst="rect">
            <a:avLst/>
          </a:prstGeom>
          <a:noFill/>
          <a:ln/>
        </p:spPr>
        <p:txBody>
          <a:bodyPr wrap="square" lIns="0" tIns="0" rIns="0" bIns="0" rtlCol="0" anchor="t"/>
          <a:lstStyle/>
          <a:p>
            <a:pPr marL="0" indent="0">
              <a:lnSpc>
                <a:spcPct val="90000"/>
              </a:lnSpc>
              <a:buNone/>
            </a:pPr>
            <a:r>
              <a:rPr lang="en-GB" sz="1800" noProof="0" dirty="0">
                <a:solidFill>
                  <a:srgbClr val="1F3A63"/>
                </a:solidFill>
                <a:latin typeface="Calibri" pitchFamily="34" charset="0"/>
                <a:ea typeface="Calibri" pitchFamily="34" charset="-122"/>
                <a:cs typeface="Calibri" pitchFamily="34" charset="-120"/>
              </a:rPr>
              <a:t>Continue assessing and treating neuropathy, menopausal symptoms, joint pain, lymphoedema and fatigue.</a:t>
            </a:r>
            <a:endParaRPr lang="en-GB" sz="1800" noProof="0" dirty="0"/>
          </a:p>
        </p:txBody>
      </p:sp>
      <p:sp>
        <p:nvSpPr>
          <p:cNvPr id="11" name="Shape 9"/>
          <p:cNvSpPr/>
          <p:nvPr/>
        </p:nvSpPr>
        <p:spPr>
          <a:xfrm>
            <a:off x="8115605" y="1371600"/>
            <a:ext cx="3527450" cy="1767251"/>
          </a:xfrm>
          <a:prstGeom prst="roundRect">
            <a:avLst>
              <a:gd name="adj" fmla="val 3104"/>
            </a:avLst>
          </a:prstGeom>
          <a:solidFill>
            <a:srgbClr val="F4F8FC"/>
          </a:solidFill>
          <a:ln w="12700">
            <a:solidFill>
              <a:srgbClr val="C8D8EC"/>
            </a:solidFill>
            <a:prstDash val="solid"/>
          </a:ln>
        </p:spPr>
        <p:txBody>
          <a:bodyPr/>
          <a:lstStyle/>
          <a:p>
            <a:endParaRPr lang="en-GB" noProof="0" dirty="0"/>
          </a:p>
        </p:txBody>
      </p:sp>
      <p:sp>
        <p:nvSpPr>
          <p:cNvPr id="12" name="Text 10"/>
          <p:cNvSpPr txBox="1"/>
          <p:nvPr/>
        </p:nvSpPr>
        <p:spPr>
          <a:xfrm>
            <a:off x="8280197" y="1463040"/>
            <a:ext cx="3198266" cy="292608"/>
          </a:xfrm>
          <a:prstGeom prst="rect">
            <a:avLst/>
          </a:prstGeom>
          <a:noFill/>
          <a:ln/>
        </p:spPr>
        <p:txBody>
          <a:bodyPr wrap="square" lIns="0" tIns="0" rIns="0" bIns="0" rtlCol="0" anchor="t"/>
          <a:lstStyle/>
          <a:p>
            <a:pPr marL="0" indent="0">
              <a:buNone/>
            </a:pPr>
            <a:r>
              <a:rPr lang="en-GB" sz="1700" b="1" noProof="0" dirty="0">
                <a:solidFill>
                  <a:srgbClr val="12315B"/>
                </a:solidFill>
                <a:latin typeface="Calibri" pitchFamily="34" charset="0"/>
                <a:ea typeface="Calibri" pitchFamily="34" charset="-122"/>
                <a:cs typeface="Calibri" pitchFamily="34" charset="-120"/>
              </a:rPr>
              <a:t>Support ongoing treatment</a:t>
            </a:r>
            <a:endParaRPr lang="en-GB" sz="1700" noProof="0" dirty="0"/>
          </a:p>
        </p:txBody>
      </p:sp>
      <p:sp>
        <p:nvSpPr>
          <p:cNvPr id="13" name="Text 11"/>
          <p:cNvSpPr txBox="1"/>
          <p:nvPr/>
        </p:nvSpPr>
        <p:spPr>
          <a:xfrm>
            <a:off x="8280197" y="1801368"/>
            <a:ext cx="3198266" cy="1282619"/>
          </a:xfrm>
          <a:prstGeom prst="rect">
            <a:avLst/>
          </a:prstGeom>
          <a:noFill/>
          <a:ln/>
        </p:spPr>
        <p:txBody>
          <a:bodyPr wrap="square" lIns="0" tIns="0" rIns="0" bIns="0" rtlCol="0" anchor="t"/>
          <a:lstStyle/>
          <a:p>
            <a:pPr marL="0" indent="0">
              <a:lnSpc>
                <a:spcPct val="90000"/>
              </a:lnSpc>
              <a:buNone/>
            </a:pPr>
            <a:r>
              <a:rPr lang="en-GB" sz="1800" noProof="0" dirty="0">
                <a:solidFill>
                  <a:srgbClr val="1F3A63"/>
                </a:solidFill>
                <a:latin typeface="Calibri" pitchFamily="34" charset="0"/>
                <a:ea typeface="Calibri" pitchFamily="34" charset="-122"/>
                <a:cs typeface="Calibri" pitchFamily="34" charset="-120"/>
              </a:rPr>
              <a:t>Endocrine therapy continues for years after the person feels well. Ask about it, and treat the effects that threaten it.</a:t>
            </a:r>
            <a:endParaRPr lang="en-GB" sz="1800" noProof="0" dirty="0"/>
          </a:p>
        </p:txBody>
      </p:sp>
      <p:sp>
        <p:nvSpPr>
          <p:cNvPr id="14" name="Shape 12"/>
          <p:cNvSpPr/>
          <p:nvPr/>
        </p:nvSpPr>
        <p:spPr>
          <a:xfrm>
            <a:off x="548640" y="3394883"/>
            <a:ext cx="3527450" cy="2091517"/>
          </a:xfrm>
          <a:prstGeom prst="roundRect">
            <a:avLst>
              <a:gd name="adj" fmla="val 2623"/>
            </a:avLst>
          </a:prstGeom>
          <a:solidFill>
            <a:srgbClr val="F4F8FC"/>
          </a:solidFill>
          <a:ln w="12700">
            <a:solidFill>
              <a:srgbClr val="C8D8EC"/>
            </a:solidFill>
            <a:prstDash val="solid"/>
          </a:ln>
        </p:spPr>
        <p:txBody>
          <a:bodyPr/>
          <a:lstStyle/>
          <a:p>
            <a:endParaRPr lang="en-GB" noProof="0" dirty="0"/>
          </a:p>
        </p:txBody>
      </p:sp>
      <p:sp>
        <p:nvSpPr>
          <p:cNvPr id="15" name="Text 13"/>
          <p:cNvSpPr txBox="1"/>
          <p:nvPr/>
        </p:nvSpPr>
        <p:spPr>
          <a:xfrm>
            <a:off x="713232" y="3486323"/>
            <a:ext cx="3198266" cy="292608"/>
          </a:xfrm>
          <a:prstGeom prst="rect">
            <a:avLst/>
          </a:prstGeom>
          <a:noFill/>
          <a:ln/>
        </p:spPr>
        <p:txBody>
          <a:bodyPr wrap="square" lIns="0" tIns="0" rIns="0" bIns="0" rtlCol="0" anchor="t"/>
          <a:lstStyle/>
          <a:p>
            <a:pPr marL="0" indent="0">
              <a:buNone/>
            </a:pPr>
            <a:r>
              <a:rPr lang="en-GB" sz="1700" b="1" noProof="0" dirty="0">
                <a:solidFill>
                  <a:srgbClr val="12315B"/>
                </a:solidFill>
                <a:latin typeface="Calibri" pitchFamily="34" charset="0"/>
                <a:ea typeface="Calibri" pitchFamily="34" charset="-122"/>
                <a:cs typeface="Calibri" pitchFamily="34" charset="-120"/>
              </a:rPr>
              <a:t>Watch for recurrence</a:t>
            </a:r>
            <a:endParaRPr lang="en-GB" sz="1700" noProof="0" dirty="0"/>
          </a:p>
        </p:txBody>
      </p:sp>
      <p:sp>
        <p:nvSpPr>
          <p:cNvPr id="16" name="Text 14"/>
          <p:cNvSpPr txBox="1"/>
          <p:nvPr/>
        </p:nvSpPr>
        <p:spPr>
          <a:xfrm>
            <a:off x="713232" y="3824651"/>
            <a:ext cx="3198266" cy="1606885"/>
          </a:xfrm>
          <a:prstGeom prst="rect">
            <a:avLst/>
          </a:prstGeom>
          <a:noFill/>
          <a:ln/>
        </p:spPr>
        <p:txBody>
          <a:bodyPr wrap="square" lIns="0" tIns="0" rIns="0" bIns="0" rtlCol="0" anchor="t"/>
          <a:lstStyle/>
          <a:p>
            <a:pPr marL="0" indent="0">
              <a:lnSpc>
                <a:spcPct val="90000"/>
              </a:lnSpc>
              <a:buNone/>
            </a:pPr>
            <a:r>
              <a:rPr lang="en-GB" sz="1800" noProof="0" dirty="0">
                <a:solidFill>
                  <a:srgbClr val="1F3A63"/>
                </a:solidFill>
                <a:latin typeface="Calibri" pitchFamily="34" charset="0"/>
                <a:ea typeface="Calibri" pitchFamily="34" charset="-122"/>
                <a:cs typeface="Calibri" pitchFamily="34" charset="-120"/>
              </a:rPr>
              <a:t>New breast or chest wall lumps, new axillary swelling, persistent bone pain, breathlessness or neurological symptoms are assessed, not waited out.</a:t>
            </a:r>
            <a:endParaRPr lang="en-GB" sz="1800" noProof="0" dirty="0"/>
          </a:p>
        </p:txBody>
      </p:sp>
      <p:sp>
        <p:nvSpPr>
          <p:cNvPr id="17" name="Shape 15"/>
          <p:cNvSpPr/>
          <p:nvPr/>
        </p:nvSpPr>
        <p:spPr>
          <a:xfrm>
            <a:off x="4332122" y="3394883"/>
            <a:ext cx="3527450" cy="2091517"/>
          </a:xfrm>
          <a:prstGeom prst="roundRect">
            <a:avLst>
              <a:gd name="adj" fmla="val 2623"/>
            </a:avLst>
          </a:prstGeom>
          <a:solidFill>
            <a:srgbClr val="F4F8FC"/>
          </a:solidFill>
          <a:ln w="12700">
            <a:solidFill>
              <a:srgbClr val="C8D8EC"/>
            </a:solidFill>
            <a:prstDash val="solid"/>
          </a:ln>
        </p:spPr>
        <p:txBody>
          <a:bodyPr/>
          <a:lstStyle/>
          <a:p>
            <a:endParaRPr lang="en-GB" noProof="0" dirty="0"/>
          </a:p>
        </p:txBody>
      </p:sp>
      <p:sp>
        <p:nvSpPr>
          <p:cNvPr id="18" name="Text 16"/>
          <p:cNvSpPr txBox="1"/>
          <p:nvPr/>
        </p:nvSpPr>
        <p:spPr>
          <a:xfrm>
            <a:off x="4496714" y="3486323"/>
            <a:ext cx="3198266" cy="292608"/>
          </a:xfrm>
          <a:prstGeom prst="rect">
            <a:avLst/>
          </a:prstGeom>
          <a:noFill/>
          <a:ln/>
        </p:spPr>
        <p:txBody>
          <a:bodyPr wrap="square" lIns="0" tIns="0" rIns="0" bIns="0" rtlCol="0" anchor="t"/>
          <a:lstStyle/>
          <a:p>
            <a:pPr marL="0" indent="0">
              <a:buNone/>
            </a:pPr>
            <a:r>
              <a:rPr lang="en-GB" sz="1700" b="1" noProof="0" dirty="0">
                <a:solidFill>
                  <a:srgbClr val="12315B"/>
                </a:solidFill>
                <a:latin typeface="Calibri" pitchFamily="34" charset="0"/>
                <a:ea typeface="Calibri" pitchFamily="34" charset="-122"/>
                <a:cs typeface="Calibri" pitchFamily="34" charset="-120"/>
              </a:rPr>
              <a:t>Continue breast care</a:t>
            </a:r>
            <a:endParaRPr lang="en-GB" sz="1700" noProof="0" dirty="0"/>
          </a:p>
        </p:txBody>
      </p:sp>
      <p:sp>
        <p:nvSpPr>
          <p:cNvPr id="19" name="Text 17"/>
          <p:cNvSpPr txBox="1"/>
          <p:nvPr/>
        </p:nvSpPr>
        <p:spPr>
          <a:xfrm>
            <a:off x="4496714" y="3824651"/>
            <a:ext cx="3198266" cy="1606885"/>
          </a:xfrm>
          <a:prstGeom prst="rect">
            <a:avLst/>
          </a:prstGeom>
          <a:noFill/>
          <a:ln/>
        </p:spPr>
        <p:txBody>
          <a:bodyPr wrap="square" lIns="0" tIns="0" rIns="0" bIns="0" rtlCol="0" anchor="t"/>
          <a:lstStyle/>
          <a:p>
            <a:pPr marL="0" indent="0">
              <a:lnSpc>
                <a:spcPct val="90000"/>
              </a:lnSpc>
              <a:buNone/>
            </a:pPr>
            <a:r>
              <a:rPr lang="en-GB" sz="1800" noProof="0" dirty="0">
                <a:solidFill>
                  <a:srgbClr val="1F3A63"/>
                </a:solidFill>
                <a:latin typeface="Calibri" pitchFamily="34" charset="0"/>
                <a:ea typeface="Calibri" pitchFamily="34" charset="-122"/>
                <a:cs typeface="Calibri" pitchFamily="34" charset="-120"/>
              </a:rPr>
              <a:t>The remaining breast tissue still needs attention. Reinforce awareness of change and support any planned imaging.</a:t>
            </a:r>
            <a:endParaRPr lang="en-GB" sz="1800" noProof="0" dirty="0"/>
          </a:p>
        </p:txBody>
      </p:sp>
      <p:sp>
        <p:nvSpPr>
          <p:cNvPr id="20" name="Shape 18"/>
          <p:cNvSpPr/>
          <p:nvPr/>
        </p:nvSpPr>
        <p:spPr>
          <a:xfrm>
            <a:off x="8115605" y="3394883"/>
            <a:ext cx="3527450" cy="2091517"/>
          </a:xfrm>
          <a:prstGeom prst="roundRect">
            <a:avLst>
              <a:gd name="adj" fmla="val 2623"/>
            </a:avLst>
          </a:prstGeom>
          <a:solidFill>
            <a:srgbClr val="F4F8FC"/>
          </a:solidFill>
          <a:ln w="12700">
            <a:solidFill>
              <a:srgbClr val="C8D8EC"/>
            </a:solidFill>
            <a:prstDash val="solid"/>
          </a:ln>
        </p:spPr>
        <p:txBody>
          <a:bodyPr/>
          <a:lstStyle/>
          <a:p>
            <a:endParaRPr lang="en-GB" noProof="0" dirty="0"/>
          </a:p>
        </p:txBody>
      </p:sp>
      <p:sp>
        <p:nvSpPr>
          <p:cNvPr id="21" name="Text 19"/>
          <p:cNvSpPr txBox="1"/>
          <p:nvPr/>
        </p:nvSpPr>
        <p:spPr>
          <a:xfrm>
            <a:off x="8280197" y="3486323"/>
            <a:ext cx="3198266" cy="292608"/>
          </a:xfrm>
          <a:prstGeom prst="rect">
            <a:avLst/>
          </a:prstGeom>
          <a:noFill/>
          <a:ln/>
        </p:spPr>
        <p:txBody>
          <a:bodyPr wrap="square" lIns="0" tIns="0" rIns="0" bIns="0" rtlCol="0" anchor="t"/>
          <a:lstStyle/>
          <a:p>
            <a:pPr marL="0" indent="0">
              <a:buNone/>
            </a:pPr>
            <a:r>
              <a:rPr lang="en-GB" sz="1700" b="1" noProof="0" dirty="0">
                <a:solidFill>
                  <a:srgbClr val="12315B"/>
                </a:solidFill>
                <a:latin typeface="Calibri" pitchFamily="34" charset="0"/>
                <a:ea typeface="Calibri" pitchFamily="34" charset="-122"/>
                <a:cs typeface="Calibri" pitchFamily="34" charset="-120"/>
              </a:rPr>
              <a:t>Support the whole person</a:t>
            </a:r>
            <a:endParaRPr lang="en-GB" sz="1700" noProof="0" dirty="0"/>
          </a:p>
        </p:txBody>
      </p:sp>
      <p:sp>
        <p:nvSpPr>
          <p:cNvPr id="22" name="Text 20"/>
          <p:cNvSpPr txBox="1"/>
          <p:nvPr/>
        </p:nvSpPr>
        <p:spPr>
          <a:xfrm>
            <a:off x="8280197" y="3824651"/>
            <a:ext cx="3198266" cy="1606885"/>
          </a:xfrm>
          <a:prstGeom prst="rect">
            <a:avLst/>
          </a:prstGeom>
          <a:noFill/>
          <a:ln/>
        </p:spPr>
        <p:txBody>
          <a:bodyPr wrap="square" lIns="0" tIns="0" rIns="0" bIns="0" rtlCol="0" anchor="t"/>
          <a:lstStyle/>
          <a:p>
            <a:pPr marL="0" indent="0">
              <a:lnSpc>
                <a:spcPct val="90000"/>
              </a:lnSpc>
              <a:buNone/>
            </a:pPr>
            <a:r>
              <a:rPr lang="en-GB" sz="1800" noProof="0" dirty="0">
                <a:solidFill>
                  <a:srgbClr val="1F3A63"/>
                </a:solidFill>
                <a:latin typeface="Calibri" pitchFamily="34" charset="0"/>
                <a:ea typeface="Calibri" pitchFamily="34" charset="-122"/>
                <a:cs typeface="Calibri" pitchFamily="34" charset="-120"/>
              </a:rPr>
              <a:t>Emotional wellbeing, family relationships, return to work and financial pressure all belong in follow-up, alongside the physical review.</a:t>
            </a:r>
            <a:endParaRPr lang="en-GB" sz="1800" noProof="0" dirty="0"/>
          </a:p>
        </p:txBody>
      </p:sp>
      <p:sp>
        <p:nvSpPr>
          <p:cNvPr id="23" name="Shape 21"/>
          <p:cNvSpPr/>
          <p:nvPr/>
        </p:nvSpPr>
        <p:spPr>
          <a:xfrm>
            <a:off x="548640" y="5742432"/>
            <a:ext cx="11094415" cy="530352"/>
          </a:xfrm>
          <a:prstGeom prst="roundRect">
            <a:avLst>
              <a:gd name="adj" fmla="val 8621"/>
            </a:avLst>
          </a:prstGeom>
          <a:solidFill>
            <a:srgbClr val="FBECEA"/>
          </a:solidFill>
          <a:ln w="12700">
            <a:solidFill>
              <a:srgbClr val="E7B6B0"/>
            </a:solidFill>
            <a:prstDash val="solid"/>
          </a:ln>
        </p:spPr>
        <p:txBody>
          <a:bodyPr/>
          <a:lstStyle/>
          <a:p>
            <a:endParaRPr lang="en-GB" noProof="0" dirty="0"/>
          </a:p>
        </p:txBody>
      </p:sp>
      <p:sp>
        <p:nvSpPr>
          <p:cNvPr id="24" name="Text 22"/>
          <p:cNvSpPr txBox="1"/>
          <p:nvPr/>
        </p:nvSpPr>
        <p:spPr>
          <a:xfrm>
            <a:off x="713232" y="5815584"/>
            <a:ext cx="10765231" cy="384048"/>
          </a:xfrm>
          <a:prstGeom prst="rect">
            <a:avLst/>
          </a:prstGeom>
          <a:noFill/>
          <a:ln/>
        </p:spPr>
        <p:txBody>
          <a:bodyPr wrap="square" lIns="0" tIns="0" rIns="0" bIns="0" rtlCol="0" anchor="ctr"/>
          <a:lstStyle/>
          <a:p>
            <a:pPr marL="0" indent="0">
              <a:lnSpc>
                <a:spcPct val="95000"/>
              </a:lnSpc>
              <a:buNone/>
            </a:pPr>
            <a:r>
              <a:rPr lang="en-GB" sz="1250" b="1" noProof="0" dirty="0">
                <a:solidFill>
                  <a:srgbClr val="A32319"/>
                </a:solidFill>
                <a:latin typeface="Calibri" pitchFamily="34" charset="0"/>
                <a:ea typeface="Calibri" pitchFamily="34" charset="-122"/>
                <a:cs typeface="Calibri" pitchFamily="34" charset="-120"/>
              </a:rPr>
              <a:t>RBC CONFIRMATION REQUIRED: </a:t>
            </a:r>
            <a:r>
              <a:rPr lang="en-GB" sz="1250" noProof="0" dirty="0">
                <a:solidFill>
                  <a:srgbClr val="0B1F3F"/>
                </a:solidFill>
                <a:latin typeface="Calibri" pitchFamily="34" charset="0"/>
                <a:ea typeface="Calibri" pitchFamily="34" charset="-122"/>
                <a:cs typeface="Calibri" pitchFamily="34" charset="-120"/>
              </a:rPr>
              <a:t>Confirm the intended follow-up schedule after breast cancer treatment in Rwanda, including which facility level is responsible for each review and what breast imaging is planned during follow-up.</a:t>
            </a:r>
            <a:endParaRPr lang="en-GB" sz="1250" noProof="0" dirty="0"/>
          </a:p>
        </p:txBody>
      </p:sp>
    </p:spTree>
  </p:cSld>
  <p:clrMapOvr>
    <a:masterClrMapping/>
  </p:clrMapOvr>
</p:sld>
</file>

<file path=ppt/slides/slide144.xml><?xml version="1.0" encoding="utf-8"?>
<p:sld xmlns:a="http://schemas.openxmlformats.org/drawingml/2006/main" xmlns:r="http://schemas.openxmlformats.org/officeDocument/2006/relationships" xmlns:p="http://schemas.openxmlformats.org/presentationml/2006/main">
  <p:cSld name="Slide 1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en-GB" sz="1100" b="1" kern="0" spc="100" noProof="0" dirty="0">
                <a:solidFill>
                  <a:srgbClr val="5B7699"/>
                </a:solidFill>
                <a:latin typeface="Calibri" pitchFamily="34" charset="0"/>
                <a:ea typeface="Calibri" pitchFamily="34" charset="-122"/>
                <a:cs typeface="Calibri" pitchFamily="34" charset="-120"/>
              </a:rPr>
              <a:t>S E S S I O N   5</a:t>
            </a:r>
            <a:endParaRPr lang="en-GB"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en-GB" sz="1000" noProof="0" dirty="0">
                <a:solidFill>
                  <a:srgbClr val="5B7699"/>
                </a:solidFill>
                <a:latin typeface="Calibri" pitchFamily="34" charset="0"/>
                <a:ea typeface="Calibri" pitchFamily="34" charset="-122"/>
                <a:cs typeface="Calibri" pitchFamily="34" charset="-120"/>
              </a:rPr>
              <a:t>Breast Cancer  |  Frontline HCP  |  Rwanda Biomedical Centre</a:t>
            </a:r>
            <a:endParaRPr lang="en-GB"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en-GB" sz="3000" b="1" noProof="0" dirty="0">
                <a:solidFill>
                  <a:srgbClr val="12315B"/>
                </a:solidFill>
                <a:latin typeface="Calibri" pitchFamily="34" charset="0"/>
                <a:ea typeface="Calibri" pitchFamily="34" charset="-122"/>
                <a:cs typeface="Calibri" pitchFamily="34" charset="-120"/>
              </a:rPr>
              <a:t>Apply it</a:t>
            </a:r>
            <a:endParaRPr lang="en-GB" sz="3000" noProof="0" dirty="0"/>
          </a:p>
        </p:txBody>
      </p:sp>
      <p:sp>
        <p:nvSpPr>
          <p:cNvPr id="5" name="Shape 3"/>
          <p:cNvSpPr/>
          <p:nvPr/>
        </p:nvSpPr>
        <p:spPr>
          <a:xfrm>
            <a:off x="548640" y="1371600"/>
            <a:ext cx="7589520" cy="868680"/>
          </a:xfrm>
          <a:prstGeom prst="roundRect">
            <a:avLst>
              <a:gd name="adj" fmla="val 6316"/>
            </a:avLst>
          </a:prstGeom>
          <a:solidFill>
            <a:srgbClr val="FDF6E3"/>
          </a:solidFill>
          <a:ln w="12700">
            <a:solidFill>
              <a:srgbClr val="E0C07A"/>
            </a:solidFill>
            <a:prstDash val="solid"/>
          </a:ln>
        </p:spPr>
        <p:txBody>
          <a:bodyPr/>
          <a:lstStyle/>
          <a:p>
            <a:endParaRPr lang="en-GB" noProof="0" dirty="0"/>
          </a:p>
        </p:txBody>
      </p:sp>
      <p:sp>
        <p:nvSpPr>
          <p:cNvPr id="6" name="Text 4"/>
          <p:cNvSpPr txBox="1"/>
          <p:nvPr/>
        </p:nvSpPr>
        <p:spPr>
          <a:xfrm>
            <a:off x="713232" y="1444752"/>
            <a:ext cx="7260336" cy="731520"/>
          </a:xfrm>
          <a:prstGeom prst="rect">
            <a:avLst/>
          </a:prstGeom>
          <a:noFill/>
          <a:ln/>
        </p:spPr>
        <p:txBody>
          <a:bodyPr wrap="square" lIns="0" tIns="0" rIns="0" bIns="0" rtlCol="0" anchor="ctr"/>
          <a:lstStyle/>
          <a:p>
            <a:pPr marL="0" indent="0">
              <a:lnSpc>
                <a:spcPct val="92000"/>
              </a:lnSpc>
              <a:buNone/>
            </a:pPr>
            <a:r>
              <a:rPr lang="en-GB" sz="1600" b="1" noProof="0" dirty="0">
                <a:solidFill>
                  <a:srgbClr val="C9761A"/>
                </a:solidFill>
                <a:latin typeface="Calibri" pitchFamily="34" charset="0"/>
                <a:ea typeface="Calibri" pitchFamily="34" charset="-122"/>
                <a:cs typeface="Calibri" pitchFamily="34" charset="-120"/>
              </a:rPr>
              <a:t>Scenario   </a:t>
            </a:r>
            <a:r>
              <a:rPr lang="en-GB" sz="1600" noProof="0" dirty="0">
                <a:solidFill>
                  <a:srgbClr val="0B1F3F"/>
                </a:solidFill>
                <a:latin typeface="Calibri" pitchFamily="34" charset="0"/>
                <a:ea typeface="Calibri" pitchFamily="34" charset="-122"/>
                <a:cs typeface="Calibri" pitchFamily="34" charset="-120"/>
              </a:rPr>
              <a:t>A woman ten days into a chemotherapy cycle after breast cancer surgery reports fever, shivering and feeling suddenly much worse.</a:t>
            </a:r>
            <a:endParaRPr lang="en-GB" sz="1600" noProof="0" dirty="0"/>
          </a:p>
        </p:txBody>
      </p:sp>
      <p:sp>
        <p:nvSpPr>
          <p:cNvPr id="7" name="Text 5"/>
          <p:cNvSpPr txBox="1"/>
          <p:nvPr/>
        </p:nvSpPr>
        <p:spPr>
          <a:xfrm>
            <a:off x="548640" y="2377440"/>
            <a:ext cx="7589520" cy="365760"/>
          </a:xfrm>
          <a:prstGeom prst="rect">
            <a:avLst/>
          </a:prstGeom>
          <a:noFill/>
          <a:ln/>
        </p:spPr>
        <p:txBody>
          <a:bodyPr wrap="square" lIns="0" tIns="0" rIns="0" bIns="0" rtlCol="0" anchor="ctr"/>
          <a:lstStyle/>
          <a:p>
            <a:pPr marL="0" indent="0">
              <a:buNone/>
            </a:pPr>
            <a:r>
              <a:rPr lang="en-GB" sz="1900" b="1" noProof="0" dirty="0">
                <a:solidFill>
                  <a:srgbClr val="12315B"/>
                </a:solidFill>
                <a:latin typeface="Calibri" pitchFamily="34" charset="0"/>
                <a:ea typeface="Calibri" pitchFamily="34" charset="-122"/>
                <a:cs typeface="Calibri" pitchFamily="34" charset="-120"/>
              </a:rPr>
              <a:t>What is the priority?</a:t>
            </a:r>
            <a:endParaRPr lang="en-GB" sz="1900" noProof="0" dirty="0"/>
          </a:p>
        </p:txBody>
      </p:sp>
      <p:sp>
        <p:nvSpPr>
          <p:cNvPr id="8" name="Shape 6"/>
          <p:cNvSpPr/>
          <p:nvPr/>
        </p:nvSpPr>
        <p:spPr>
          <a:xfrm>
            <a:off x="548640" y="2816352"/>
            <a:ext cx="7589520" cy="466344"/>
          </a:xfrm>
          <a:prstGeom prst="roundRect">
            <a:avLst>
              <a:gd name="adj" fmla="val 9804"/>
            </a:avLst>
          </a:prstGeom>
          <a:solidFill>
            <a:srgbClr val="FFFFFF"/>
          </a:solidFill>
          <a:ln w="12700">
            <a:solidFill>
              <a:srgbClr val="C8D8EC"/>
            </a:solidFill>
            <a:prstDash val="solid"/>
          </a:ln>
        </p:spPr>
        <p:txBody>
          <a:bodyPr/>
          <a:lstStyle/>
          <a:p>
            <a:endParaRPr lang="en-GB" noProof="0" dirty="0"/>
          </a:p>
        </p:txBody>
      </p:sp>
      <p:sp>
        <p:nvSpPr>
          <p:cNvPr id="9" name="Text 7"/>
          <p:cNvSpPr txBox="1"/>
          <p:nvPr/>
        </p:nvSpPr>
        <p:spPr>
          <a:xfrm>
            <a:off x="713232" y="2871216"/>
            <a:ext cx="7260336" cy="356616"/>
          </a:xfrm>
          <a:prstGeom prst="rect">
            <a:avLst/>
          </a:prstGeom>
          <a:noFill/>
          <a:ln/>
        </p:spPr>
        <p:txBody>
          <a:bodyPr wrap="square" lIns="0" tIns="0" rIns="0" bIns="0" rtlCol="0" anchor="ctr"/>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A   </a:t>
            </a:r>
            <a:r>
              <a:rPr lang="en-GB" sz="1800" noProof="0" dirty="0">
                <a:solidFill>
                  <a:srgbClr val="1F3A63"/>
                </a:solidFill>
                <a:latin typeface="Calibri" pitchFamily="34" charset="0"/>
                <a:ea typeface="Calibri" pitchFamily="34" charset="-122"/>
                <a:cs typeface="Calibri" pitchFamily="34" charset="-120"/>
              </a:rPr>
              <a:t>Advise paracetamol and review in a week</a:t>
            </a:r>
            <a:endParaRPr lang="en-GB" sz="1800" noProof="0" dirty="0"/>
          </a:p>
        </p:txBody>
      </p:sp>
      <p:sp>
        <p:nvSpPr>
          <p:cNvPr id="10" name="Shape 8"/>
          <p:cNvSpPr/>
          <p:nvPr/>
        </p:nvSpPr>
        <p:spPr>
          <a:xfrm>
            <a:off x="548640" y="3374136"/>
            <a:ext cx="7589520" cy="713232"/>
          </a:xfrm>
          <a:prstGeom prst="roundRect">
            <a:avLst>
              <a:gd name="adj" fmla="val 6410"/>
            </a:avLst>
          </a:prstGeom>
          <a:solidFill>
            <a:srgbClr val="EAF5EF"/>
          </a:solidFill>
          <a:ln w="19050">
            <a:solidFill>
              <a:srgbClr val="8FC4A9"/>
            </a:solidFill>
            <a:prstDash val="solid"/>
          </a:ln>
        </p:spPr>
        <p:txBody>
          <a:bodyPr/>
          <a:lstStyle/>
          <a:p>
            <a:endParaRPr lang="en-GB" noProof="0" dirty="0"/>
          </a:p>
        </p:txBody>
      </p:sp>
      <p:sp>
        <p:nvSpPr>
          <p:cNvPr id="11" name="Text 9"/>
          <p:cNvSpPr txBox="1"/>
          <p:nvPr/>
        </p:nvSpPr>
        <p:spPr>
          <a:xfrm>
            <a:off x="713232" y="3429000"/>
            <a:ext cx="7260336" cy="603504"/>
          </a:xfrm>
          <a:prstGeom prst="rect">
            <a:avLst/>
          </a:prstGeom>
          <a:noFill/>
          <a:ln/>
        </p:spPr>
        <p:txBody>
          <a:bodyPr wrap="square" lIns="0" tIns="0" rIns="0" bIns="0" rtlCol="0" anchor="ctr"/>
          <a:lstStyle/>
          <a:p>
            <a:pPr marL="0" indent="0">
              <a:lnSpc>
                <a:spcPct val="90000"/>
              </a:lnSpc>
              <a:buNone/>
            </a:pPr>
            <a:r>
              <a:rPr lang="en-GB" sz="1800" b="1" noProof="0" dirty="0">
                <a:solidFill>
                  <a:srgbClr val="1B6E4A"/>
                </a:solidFill>
                <a:latin typeface="Calibri" pitchFamily="34" charset="0"/>
                <a:ea typeface="Calibri" pitchFamily="34" charset="-122"/>
                <a:cs typeface="Calibri" pitchFamily="34" charset="-120"/>
              </a:rPr>
              <a:t>B   Arrange urgent assessment for possible infection with a low neutrophil count   ✓</a:t>
            </a:r>
            <a:endParaRPr lang="en-GB" sz="1800" noProof="0" dirty="0"/>
          </a:p>
        </p:txBody>
      </p:sp>
      <p:sp>
        <p:nvSpPr>
          <p:cNvPr id="12" name="Shape 10"/>
          <p:cNvSpPr/>
          <p:nvPr/>
        </p:nvSpPr>
        <p:spPr>
          <a:xfrm>
            <a:off x="548640" y="4178808"/>
            <a:ext cx="7589520" cy="466344"/>
          </a:xfrm>
          <a:prstGeom prst="roundRect">
            <a:avLst>
              <a:gd name="adj" fmla="val 9804"/>
            </a:avLst>
          </a:prstGeom>
          <a:solidFill>
            <a:srgbClr val="FFFFFF"/>
          </a:solidFill>
          <a:ln w="12700">
            <a:solidFill>
              <a:srgbClr val="C8D8EC"/>
            </a:solidFill>
            <a:prstDash val="solid"/>
          </a:ln>
        </p:spPr>
        <p:txBody>
          <a:bodyPr/>
          <a:lstStyle/>
          <a:p>
            <a:endParaRPr lang="en-GB" noProof="0" dirty="0"/>
          </a:p>
        </p:txBody>
      </p:sp>
      <p:sp>
        <p:nvSpPr>
          <p:cNvPr id="13" name="Text 11"/>
          <p:cNvSpPr txBox="1"/>
          <p:nvPr/>
        </p:nvSpPr>
        <p:spPr>
          <a:xfrm>
            <a:off x="713232" y="4233672"/>
            <a:ext cx="7260336" cy="356616"/>
          </a:xfrm>
          <a:prstGeom prst="rect">
            <a:avLst/>
          </a:prstGeom>
          <a:noFill/>
          <a:ln/>
        </p:spPr>
        <p:txBody>
          <a:bodyPr wrap="square" lIns="0" tIns="0" rIns="0" bIns="0" rtlCol="0" anchor="ctr"/>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C   </a:t>
            </a:r>
            <a:r>
              <a:rPr lang="en-GB" sz="1800" noProof="0" dirty="0">
                <a:solidFill>
                  <a:srgbClr val="1F3A63"/>
                </a:solidFill>
                <a:latin typeface="Calibri" pitchFamily="34" charset="0"/>
                <a:ea typeface="Calibri" pitchFamily="34" charset="-122"/>
                <a:cs typeface="Calibri" pitchFamily="34" charset="-120"/>
              </a:rPr>
              <a:t>Advise rest and increased fluids only</a:t>
            </a:r>
            <a:endParaRPr lang="en-GB" sz="1800" noProof="0" dirty="0"/>
          </a:p>
        </p:txBody>
      </p:sp>
      <p:sp>
        <p:nvSpPr>
          <p:cNvPr id="14" name="Shape 12"/>
          <p:cNvSpPr/>
          <p:nvPr/>
        </p:nvSpPr>
        <p:spPr>
          <a:xfrm>
            <a:off x="548640" y="4736592"/>
            <a:ext cx="7589520" cy="466344"/>
          </a:xfrm>
          <a:prstGeom prst="roundRect">
            <a:avLst>
              <a:gd name="adj" fmla="val 9804"/>
            </a:avLst>
          </a:prstGeom>
          <a:solidFill>
            <a:srgbClr val="FFFFFF"/>
          </a:solidFill>
          <a:ln w="12700">
            <a:solidFill>
              <a:srgbClr val="C8D8EC"/>
            </a:solidFill>
            <a:prstDash val="solid"/>
          </a:ln>
        </p:spPr>
        <p:txBody>
          <a:bodyPr/>
          <a:lstStyle/>
          <a:p>
            <a:endParaRPr lang="en-GB" noProof="0" dirty="0"/>
          </a:p>
        </p:txBody>
      </p:sp>
      <p:sp>
        <p:nvSpPr>
          <p:cNvPr id="15" name="Text 13"/>
          <p:cNvSpPr txBox="1"/>
          <p:nvPr/>
        </p:nvSpPr>
        <p:spPr>
          <a:xfrm>
            <a:off x="713232" y="4791456"/>
            <a:ext cx="7260336" cy="356616"/>
          </a:xfrm>
          <a:prstGeom prst="rect">
            <a:avLst/>
          </a:prstGeom>
          <a:noFill/>
          <a:ln/>
        </p:spPr>
        <p:txBody>
          <a:bodyPr wrap="square" lIns="0" tIns="0" rIns="0" bIns="0" rtlCol="0" anchor="ctr"/>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D   </a:t>
            </a:r>
            <a:r>
              <a:rPr lang="en-GB" sz="1800" noProof="0" dirty="0">
                <a:solidFill>
                  <a:srgbClr val="1F3A63"/>
                </a:solidFill>
                <a:latin typeface="Calibri" pitchFamily="34" charset="0"/>
                <a:ea typeface="Calibri" pitchFamily="34" charset="-122"/>
                <a:cs typeface="Calibri" pitchFamily="34" charset="-120"/>
              </a:rPr>
              <a:t>Stop the chemotherapy and take no other action</a:t>
            </a:r>
            <a:endParaRPr lang="en-GB" sz="1800" noProof="0" dirty="0"/>
          </a:p>
        </p:txBody>
      </p:sp>
      <p:sp>
        <p:nvSpPr>
          <p:cNvPr id="16" name="Shape 14"/>
          <p:cNvSpPr/>
          <p:nvPr/>
        </p:nvSpPr>
        <p:spPr>
          <a:xfrm>
            <a:off x="8412480" y="1371600"/>
            <a:ext cx="3230575" cy="4754880"/>
          </a:xfrm>
          <a:prstGeom prst="roundRect">
            <a:avLst>
              <a:gd name="adj" fmla="val 1698"/>
            </a:avLst>
          </a:prstGeom>
          <a:solidFill>
            <a:srgbClr val="EAF5EF"/>
          </a:solidFill>
          <a:ln w="12700">
            <a:solidFill>
              <a:srgbClr val="8FC4A9"/>
            </a:solidFill>
            <a:prstDash val="solid"/>
          </a:ln>
        </p:spPr>
        <p:txBody>
          <a:bodyPr/>
          <a:lstStyle/>
          <a:p>
            <a:endParaRPr lang="en-GB" noProof="0" dirty="0"/>
          </a:p>
        </p:txBody>
      </p:sp>
      <p:sp>
        <p:nvSpPr>
          <p:cNvPr id="17" name="Text 15"/>
          <p:cNvSpPr txBox="1"/>
          <p:nvPr/>
        </p:nvSpPr>
        <p:spPr>
          <a:xfrm>
            <a:off x="8595360" y="1508760"/>
            <a:ext cx="2864815" cy="365760"/>
          </a:xfrm>
          <a:prstGeom prst="rect">
            <a:avLst/>
          </a:prstGeom>
          <a:noFill/>
          <a:ln/>
        </p:spPr>
        <p:txBody>
          <a:bodyPr wrap="square" lIns="0" tIns="0" rIns="0" bIns="0" rtlCol="0" anchor="ctr"/>
          <a:lstStyle/>
          <a:p>
            <a:pPr marL="0" indent="0">
              <a:buNone/>
            </a:pPr>
            <a:r>
              <a:rPr lang="en-GB" sz="1800" b="1" noProof="0" dirty="0">
                <a:solidFill>
                  <a:srgbClr val="1B6E4A"/>
                </a:solidFill>
                <a:latin typeface="Calibri" pitchFamily="34" charset="0"/>
                <a:ea typeface="Calibri" pitchFamily="34" charset="-122"/>
                <a:cs typeface="Calibri" pitchFamily="34" charset="-120"/>
              </a:rPr>
              <a:t>Correct answer: B</a:t>
            </a:r>
            <a:endParaRPr lang="en-GB" sz="1800" noProof="0" dirty="0"/>
          </a:p>
        </p:txBody>
      </p:sp>
      <p:sp>
        <p:nvSpPr>
          <p:cNvPr id="18" name="Text 16"/>
          <p:cNvSpPr txBox="1"/>
          <p:nvPr/>
        </p:nvSpPr>
        <p:spPr>
          <a:xfrm>
            <a:off x="8595360" y="1938528"/>
            <a:ext cx="2864815" cy="4069080"/>
          </a:xfrm>
          <a:prstGeom prst="rect">
            <a:avLst/>
          </a:prstGeom>
          <a:noFill/>
          <a:ln/>
        </p:spPr>
        <p:txBody>
          <a:bodyPr wrap="square" lIns="0" tIns="0" rIns="0" bIns="0" rtlCol="0" anchor="t"/>
          <a:lstStyle/>
          <a:p>
            <a:pPr marL="0" indent="0">
              <a:lnSpc>
                <a:spcPct val="95000"/>
              </a:lnSpc>
              <a:buNone/>
            </a:pPr>
            <a:r>
              <a:rPr lang="en-GB" sz="1800" noProof="0" dirty="0">
                <a:solidFill>
                  <a:srgbClr val="0B1F3F"/>
                </a:solidFill>
                <a:latin typeface="Calibri" pitchFamily="34" charset="0"/>
                <a:ea typeface="Calibri" pitchFamily="34" charset="-122"/>
                <a:cs typeface="Calibri" pitchFamily="34" charset="-120"/>
              </a:rPr>
              <a:t>Fever during chemotherapy may mean infection at a time when the neutrophil count is low, and this can deteriorate very quickly. Arrange urgent assessment and contact the treating team the same day. Do not wait to see whether the fever settles, and do not treat at home with oral antibiotics alone.</a:t>
            </a:r>
            <a:endParaRPr lang="en-GB" sz="1800" noProof="0" dirty="0"/>
          </a:p>
        </p:txBody>
      </p:sp>
    </p:spTree>
  </p:cSld>
  <p:clrMapOvr>
    <a:masterClrMapping/>
  </p:clrMapOvr>
</p:sld>
</file>

<file path=ppt/slides/slide145.xml><?xml version="1.0" encoding="utf-8"?>
<p:sld xmlns:a="http://schemas.openxmlformats.org/drawingml/2006/main" xmlns:r="http://schemas.openxmlformats.org/officeDocument/2006/relationships" xmlns:p="http://schemas.openxmlformats.org/presentationml/2006/main">
  <p:cSld name="Slide 1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en-GB" sz="1100" b="1" kern="0" spc="100" noProof="0" dirty="0">
                <a:solidFill>
                  <a:srgbClr val="5B7699"/>
                </a:solidFill>
                <a:latin typeface="Calibri" pitchFamily="34" charset="0"/>
                <a:ea typeface="Calibri" pitchFamily="34" charset="-122"/>
                <a:cs typeface="Calibri" pitchFamily="34" charset="-120"/>
              </a:rPr>
              <a:t>S E S S I O N   5</a:t>
            </a:r>
            <a:endParaRPr lang="en-GB"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en-GB" sz="1000" noProof="0" dirty="0">
                <a:solidFill>
                  <a:srgbClr val="5B7699"/>
                </a:solidFill>
                <a:latin typeface="Calibri" pitchFamily="34" charset="0"/>
                <a:ea typeface="Calibri" pitchFamily="34" charset="-122"/>
                <a:cs typeface="Calibri" pitchFamily="34" charset="-120"/>
              </a:rPr>
              <a:t>Breast Cancer  |  Frontline HCP  |  Rwanda Biomedical Centre</a:t>
            </a:r>
            <a:endParaRPr lang="en-GB"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en-GB" sz="3000" b="1" noProof="0" dirty="0">
                <a:solidFill>
                  <a:srgbClr val="12315B"/>
                </a:solidFill>
                <a:latin typeface="Calibri" pitchFamily="34" charset="0"/>
                <a:ea typeface="Calibri" pitchFamily="34" charset="-122"/>
                <a:cs typeface="Calibri" pitchFamily="34" charset="-120"/>
              </a:rPr>
              <a:t>Knowledge check (1 of 3)</a:t>
            </a:r>
            <a:endParaRPr lang="en-GB" sz="3000" noProof="0" dirty="0"/>
          </a:p>
        </p:txBody>
      </p:sp>
      <p:sp>
        <p:nvSpPr>
          <p:cNvPr id="5" name="Shape 3"/>
          <p:cNvSpPr/>
          <p:nvPr/>
        </p:nvSpPr>
        <p:spPr>
          <a:xfrm>
            <a:off x="548640" y="1738274"/>
            <a:ext cx="11094415" cy="2088490"/>
          </a:xfrm>
          <a:prstGeom prst="roundRect">
            <a:avLst>
              <a:gd name="adj" fmla="val 2627"/>
            </a:avLst>
          </a:prstGeom>
          <a:solidFill>
            <a:srgbClr val="F4F8FC"/>
          </a:solidFill>
          <a:ln w="12700">
            <a:solidFill>
              <a:srgbClr val="C8D8EC"/>
            </a:solidFill>
            <a:prstDash val="solid"/>
          </a:ln>
        </p:spPr>
        <p:txBody>
          <a:bodyPr/>
          <a:lstStyle/>
          <a:p>
            <a:endParaRPr lang="en-GB" noProof="0" dirty="0"/>
          </a:p>
        </p:txBody>
      </p:sp>
      <p:sp>
        <p:nvSpPr>
          <p:cNvPr id="6" name="Text 4"/>
          <p:cNvSpPr txBox="1"/>
          <p:nvPr/>
        </p:nvSpPr>
        <p:spPr>
          <a:xfrm>
            <a:off x="731520" y="1848002"/>
            <a:ext cx="10728655" cy="384048"/>
          </a:xfrm>
          <a:prstGeom prst="rect">
            <a:avLst/>
          </a:prstGeom>
          <a:noFill/>
          <a:ln/>
        </p:spPr>
        <p:txBody>
          <a:bodyPr wrap="square" lIns="0" tIns="0" rIns="0" bIns="0" rtlCol="0" anchor="t"/>
          <a:lstStyle/>
          <a:p>
            <a:pPr marL="0" indent="0">
              <a:buNone/>
            </a:pPr>
            <a:r>
              <a:rPr lang="en-GB" sz="1800" b="1" noProof="0" dirty="0">
                <a:solidFill>
                  <a:srgbClr val="12315B"/>
                </a:solidFill>
                <a:latin typeface="Calibri" pitchFamily="34" charset="0"/>
                <a:ea typeface="Calibri" pitchFamily="34" charset="-122"/>
                <a:cs typeface="Calibri" pitchFamily="34" charset="-120"/>
              </a:rPr>
              <a:t>Q1. Palliative care is:</a:t>
            </a:r>
            <a:endParaRPr lang="en-GB" sz="1800" noProof="0" dirty="0"/>
          </a:p>
        </p:txBody>
      </p:sp>
      <p:sp>
        <p:nvSpPr>
          <p:cNvPr id="7" name="Text 5"/>
          <p:cNvSpPr txBox="1"/>
          <p:nvPr/>
        </p:nvSpPr>
        <p:spPr>
          <a:xfrm>
            <a:off x="731520" y="2268626"/>
            <a:ext cx="5250028" cy="566928"/>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A. </a:t>
            </a:r>
            <a:r>
              <a:rPr lang="en-GB" sz="1800" noProof="0" dirty="0">
                <a:solidFill>
                  <a:srgbClr val="1F3A63"/>
                </a:solidFill>
                <a:latin typeface="Calibri" pitchFamily="34" charset="0"/>
                <a:ea typeface="Calibri" pitchFamily="34" charset="-122"/>
                <a:cs typeface="Calibri" pitchFamily="34" charset="-120"/>
              </a:rPr>
              <a:t>Only for the last days of life</a:t>
            </a:r>
            <a:endParaRPr lang="en-GB" sz="1800" noProof="0" dirty="0"/>
          </a:p>
        </p:txBody>
      </p:sp>
      <p:sp>
        <p:nvSpPr>
          <p:cNvPr id="8" name="Text 6"/>
          <p:cNvSpPr txBox="1"/>
          <p:nvPr/>
        </p:nvSpPr>
        <p:spPr>
          <a:xfrm>
            <a:off x="6210148" y="2268626"/>
            <a:ext cx="5250028" cy="566928"/>
          </a:xfrm>
          <a:prstGeom prst="rect">
            <a:avLst/>
          </a:prstGeom>
          <a:noFill/>
          <a:ln/>
        </p:spPr>
        <p:txBody>
          <a:bodyPr wrap="square" lIns="0" tIns="0" rIns="0" bIns="0" rtlCol="0" anchor="t"/>
          <a:lstStyle/>
          <a:p>
            <a:pPr marL="0" indent="0">
              <a:lnSpc>
                <a:spcPct val="90000"/>
              </a:lnSpc>
              <a:buNone/>
            </a:pPr>
            <a:r>
              <a:rPr lang="en-GB" sz="1800" b="1" noProof="0" dirty="0">
                <a:solidFill>
                  <a:srgbClr val="1B6E4A"/>
                </a:solidFill>
                <a:latin typeface="Calibri" pitchFamily="34" charset="0"/>
                <a:ea typeface="Calibri" pitchFamily="34" charset="-122"/>
                <a:cs typeface="Calibri" pitchFamily="34" charset="-120"/>
              </a:rPr>
              <a:t>B. Symptom relief and quality of life, alongside treatment when appropriate</a:t>
            </a:r>
            <a:endParaRPr lang="en-GB" sz="1800" noProof="0" dirty="0"/>
          </a:p>
        </p:txBody>
      </p:sp>
      <p:sp>
        <p:nvSpPr>
          <p:cNvPr id="9" name="Text 7"/>
          <p:cNvSpPr txBox="1"/>
          <p:nvPr/>
        </p:nvSpPr>
        <p:spPr>
          <a:xfrm>
            <a:off x="731520" y="2890418"/>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C. </a:t>
            </a:r>
            <a:r>
              <a:rPr lang="en-GB" sz="1800" noProof="0" dirty="0">
                <a:solidFill>
                  <a:srgbClr val="1F3A63"/>
                </a:solidFill>
                <a:latin typeface="Calibri" pitchFamily="34" charset="0"/>
                <a:ea typeface="Calibri" pitchFamily="34" charset="-122"/>
                <a:cs typeface="Calibri" pitchFamily="34" charset="-120"/>
              </a:rPr>
              <a:t>The same as stopping treatment</a:t>
            </a:r>
            <a:endParaRPr lang="en-GB" sz="1800" noProof="0" dirty="0"/>
          </a:p>
        </p:txBody>
      </p:sp>
      <p:sp>
        <p:nvSpPr>
          <p:cNvPr id="10" name="Text 8"/>
          <p:cNvSpPr txBox="1"/>
          <p:nvPr/>
        </p:nvSpPr>
        <p:spPr>
          <a:xfrm>
            <a:off x="6210148" y="2890418"/>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D. </a:t>
            </a:r>
            <a:r>
              <a:rPr lang="en-GB" sz="1800" noProof="0" dirty="0">
                <a:solidFill>
                  <a:srgbClr val="1F3A63"/>
                </a:solidFill>
                <a:latin typeface="Calibri" pitchFamily="34" charset="0"/>
                <a:ea typeface="Calibri" pitchFamily="34" charset="-122"/>
                <a:cs typeface="Calibri" pitchFamily="34" charset="-120"/>
              </a:rPr>
              <a:t>Only pain medicine</a:t>
            </a:r>
            <a:endParaRPr lang="en-GB" sz="1800" noProof="0" dirty="0"/>
          </a:p>
        </p:txBody>
      </p:sp>
      <p:sp>
        <p:nvSpPr>
          <p:cNvPr id="11" name="Text 9"/>
          <p:cNvSpPr txBox="1"/>
          <p:nvPr/>
        </p:nvSpPr>
        <p:spPr>
          <a:xfrm>
            <a:off x="731520" y="3320186"/>
            <a:ext cx="10728655" cy="433426"/>
          </a:xfrm>
          <a:prstGeom prst="rect">
            <a:avLst/>
          </a:prstGeom>
          <a:noFill/>
          <a:ln/>
        </p:spPr>
        <p:txBody>
          <a:bodyPr wrap="square" lIns="0" tIns="0" rIns="0" bIns="0" rtlCol="0" anchor="t"/>
          <a:lstStyle/>
          <a:p>
            <a:pPr marL="0" indent="0">
              <a:lnSpc>
                <a:spcPct val="92000"/>
              </a:lnSpc>
              <a:buNone/>
            </a:pPr>
            <a:r>
              <a:rPr lang="en-GB" sz="1350" b="1" noProof="0" dirty="0">
                <a:solidFill>
                  <a:srgbClr val="1B6E4A"/>
                </a:solidFill>
                <a:latin typeface="Calibri" pitchFamily="34" charset="0"/>
                <a:ea typeface="Calibri" pitchFamily="34" charset="-122"/>
                <a:cs typeface="Calibri" pitchFamily="34" charset="-120"/>
              </a:rPr>
              <a:t>Correct: B. </a:t>
            </a:r>
            <a:r>
              <a:rPr lang="en-GB" sz="1350" noProof="0" dirty="0">
                <a:solidFill>
                  <a:srgbClr val="0B1F3F"/>
                </a:solidFill>
                <a:latin typeface="Calibri" pitchFamily="34" charset="0"/>
                <a:ea typeface="Calibri" pitchFamily="34" charset="-122"/>
                <a:cs typeface="Calibri" pitchFamily="34" charset="-120"/>
              </a:rPr>
              <a:t>It focuses on symptoms, function and support for the person and the family, and it can run alongside cancer-directed treatment from early in the illness.</a:t>
            </a:r>
            <a:endParaRPr lang="en-GB" sz="1350" noProof="0" dirty="0"/>
          </a:p>
        </p:txBody>
      </p:sp>
      <p:sp>
        <p:nvSpPr>
          <p:cNvPr id="12" name="Shape 10"/>
          <p:cNvSpPr/>
          <p:nvPr/>
        </p:nvSpPr>
        <p:spPr>
          <a:xfrm>
            <a:off x="548640" y="4027932"/>
            <a:ext cx="11094415" cy="1841602"/>
          </a:xfrm>
          <a:prstGeom prst="roundRect">
            <a:avLst>
              <a:gd name="adj" fmla="val 2979"/>
            </a:avLst>
          </a:prstGeom>
          <a:solidFill>
            <a:srgbClr val="F4F8FC"/>
          </a:solidFill>
          <a:ln w="12700">
            <a:solidFill>
              <a:srgbClr val="C8D8EC"/>
            </a:solidFill>
            <a:prstDash val="solid"/>
          </a:ln>
        </p:spPr>
        <p:txBody>
          <a:bodyPr/>
          <a:lstStyle/>
          <a:p>
            <a:endParaRPr lang="en-GB" noProof="0" dirty="0"/>
          </a:p>
        </p:txBody>
      </p:sp>
      <p:sp>
        <p:nvSpPr>
          <p:cNvPr id="13" name="Text 11"/>
          <p:cNvSpPr txBox="1"/>
          <p:nvPr/>
        </p:nvSpPr>
        <p:spPr>
          <a:xfrm>
            <a:off x="731520" y="4137660"/>
            <a:ext cx="10728655" cy="384048"/>
          </a:xfrm>
          <a:prstGeom prst="rect">
            <a:avLst/>
          </a:prstGeom>
          <a:noFill/>
          <a:ln/>
        </p:spPr>
        <p:txBody>
          <a:bodyPr wrap="square" lIns="0" tIns="0" rIns="0" bIns="0" rtlCol="0" anchor="t"/>
          <a:lstStyle/>
          <a:p>
            <a:pPr marL="0" indent="0">
              <a:buNone/>
            </a:pPr>
            <a:r>
              <a:rPr lang="en-GB" sz="1800" b="1" noProof="0" dirty="0">
                <a:solidFill>
                  <a:srgbClr val="12315B"/>
                </a:solidFill>
                <a:latin typeface="Calibri" pitchFamily="34" charset="0"/>
                <a:ea typeface="Calibri" pitchFamily="34" charset="-122"/>
                <a:cs typeface="Calibri" pitchFamily="34" charset="-120"/>
              </a:rPr>
              <a:t>Q2. Which of these needs urgent assessment?</a:t>
            </a:r>
            <a:endParaRPr lang="en-GB" sz="1800" noProof="0" dirty="0"/>
          </a:p>
        </p:txBody>
      </p:sp>
      <p:sp>
        <p:nvSpPr>
          <p:cNvPr id="14" name="Text 12"/>
          <p:cNvSpPr txBox="1"/>
          <p:nvPr/>
        </p:nvSpPr>
        <p:spPr>
          <a:xfrm>
            <a:off x="731520" y="4558284"/>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A. </a:t>
            </a:r>
            <a:r>
              <a:rPr lang="en-GB" sz="1800" noProof="0" dirty="0">
                <a:solidFill>
                  <a:srgbClr val="1F3A63"/>
                </a:solidFill>
                <a:latin typeface="Calibri" pitchFamily="34" charset="0"/>
                <a:ea typeface="Calibri" pitchFamily="34" charset="-122"/>
                <a:cs typeface="Calibri" pitchFamily="34" charset="-120"/>
              </a:rPr>
              <a:t>Mild fatigue in week two of chemotherapy</a:t>
            </a:r>
            <a:endParaRPr lang="en-GB" sz="1800" noProof="0" dirty="0"/>
          </a:p>
        </p:txBody>
      </p:sp>
      <p:sp>
        <p:nvSpPr>
          <p:cNvPr id="15" name="Text 13"/>
          <p:cNvSpPr txBox="1"/>
          <p:nvPr/>
        </p:nvSpPr>
        <p:spPr>
          <a:xfrm>
            <a:off x="6210148" y="4558284"/>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1B6E4A"/>
                </a:solidFill>
                <a:latin typeface="Calibri" pitchFamily="34" charset="0"/>
                <a:ea typeface="Calibri" pitchFamily="34" charset="-122"/>
                <a:cs typeface="Calibri" pitchFamily="34" charset="-120"/>
              </a:rPr>
              <a:t>B. Fever and shivering during chemotherapy</a:t>
            </a:r>
            <a:endParaRPr lang="en-GB" sz="1800" noProof="0" dirty="0"/>
          </a:p>
        </p:txBody>
      </p:sp>
      <p:sp>
        <p:nvSpPr>
          <p:cNvPr id="16" name="Text 14"/>
          <p:cNvSpPr txBox="1"/>
          <p:nvPr/>
        </p:nvSpPr>
        <p:spPr>
          <a:xfrm>
            <a:off x="731520" y="4933188"/>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C. </a:t>
            </a:r>
            <a:r>
              <a:rPr lang="en-GB" sz="1800" noProof="0" dirty="0">
                <a:solidFill>
                  <a:srgbClr val="1F3A63"/>
                </a:solidFill>
                <a:latin typeface="Calibri" pitchFamily="34" charset="0"/>
                <a:ea typeface="Calibri" pitchFamily="34" charset="-122"/>
                <a:cs typeface="Calibri" pitchFamily="34" charset="-120"/>
              </a:rPr>
              <a:t>Slight hair thinning</a:t>
            </a:r>
            <a:endParaRPr lang="en-GB" sz="1800" noProof="0" dirty="0"/>
          </a:p>
        </p:txBody>
      </p:sp>
      <p:sp>
        <p:nvSpPr>
          <p:cNvPr id="17" name="Text 15"/>
          <p:cNvSpPr txBox="1"/>
          <p:nvPr/>
        </p:nvSpPr>
        <p:spPr>
          <a:xfrm>
            <a:off x="6210148" y="4933188"/>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D. </a:t>
            </a:r>
            <a:r>
              <a:rPr lang="en-GB" sz="1800" noProof="0" dirty="0">
                <a:solidFill>
                  <a:srgbClr val="1F3A63"/>
                </a:solidFill>
                <a:latin typeface="Calibri" pitchFamily="34" charset="0"/>
                <a:ea typeface="Calibri" pitchFamily="34" charset="-122"/>
                <a:cs typeface="Calibri" pitchFamily="34" charset="-120"/>
              </a:rPr>
              <a:t>Mild dry skin in the radiotherapy area</a:t>
            </a:r>
            <a:endParaRPr lang="en-GB" sz="1800" noProof="0" dirty="0"/>
          </a:p>
        </p:txBody>
      </p:sp>
      <p:sp>
        <p:nvSpPr>
          <p:cNvPr id="18" name="Text 16"/>
          <p:cNvSpPr txBox="1"/>
          <p:nvPr/>
        </p:nvSpPr>
        <p:spPr>
          <a:xfrm>
            <a:off x="731520" y="5362956"/>
            <a:ext cx="10728655" cy="433426"/>
          </a:xfrm>
          <a:prstGeom prst="rect">
            <a:avLst/>
          </a:prstGeom>
          <a:noFill/>
          <a:ln/>
        </p:spPr>
        <p:txBody>
          <a:bodyPr wrap="square" lIns="0" tIns="0" rIns="0" bIns="0" rtlCol="0" anchor="t"/>
          <a:lstStyle/>
          <a:p>
            <a:pPr marL="0" indent="0">
              <a:lnSpc>
                <a:spcPct val="92000"/>
              </a:lnSpc>
              <a:buNone/>
            </a:pPr>
            <a:r>
              <a:rPr lang="en-GB" sz="1350" b="1" noProof="0" dirty="0">
                <a:solidFill>
                  <a:srgbClr val="1B6E4A"/>
                </a:solidFill>
                <a:latin typeface="Calibri" pitchFamily="34" charset="0"/>
                <a:ea typeface="Calibri" pitchFamily="34" charset="-122"/>
                <a:cs typeface="Calibri" pitchFamily="34" charset="-120"/>
              </a:rPr>
              <a:t>Correct: B. </a:t>
            </a:r>
            <a:r>
              <a:rPr lang="en-GB" sz="1350" noProof="0" dirty="0">
                <a:solidFill>
                  <a:srgbClr val="0B1F3F"/>
                </a:solidFill>
                <a:latin typeface="Calibri" pitchFamily="34" charset="0"/>
                <a:ea typeface="Calibri" pitchFamily="34" charset="-122"/>
                <a:cs typeface="Calibri" pitchFamily="34" charset="-120"/>
              </a:rPr>
              <a:t>Fever during chemotherapy may indicate infection with a low neutrophil count, which is an emergency. The others are expected effects that are managed and reviewed.</a:t>
            </a:r>
            <a:endParaRPr lang="en-GB" sz="1350" noProof="0" dirty="0"/>
          </a:p>
        </p:txBody>
      </p:sp>
    </p:spTree>
  </p:cSld>
  <p:clrMapOvr>
    <a:masterClrMapping/>
  </p:clrMapOvr>
</p:sld>
</file>

<file path=ppt/slides/slide146.xml><?xml version="1.0" encoding="utf-8"?>
<p:sld xmlns:a="http://schemas.openxmlformats.org/drawingml/2006/main" xmlns:r="http://schemas.openxmlformats.org/officeDocument/2006/relationships" xmlns:p="http://schemas.openxmlformats.org/presentationml/2006/main">
  <p:cSld name="Slide 1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en-GB" sz="1100" b="1" kern="0" spc="100" noProof="0" dirty="0">
                <a:solidFill>
                  <a:srgbClr val="5B7699"/>
                </a:solidFill>
                <a:latin typeface="Calibri" pitchFamily="34" charset="0"/>
                <a:ea typeface="Calibri" pitchFamily="34" charset="-122"/>
                <a:cs typeface="Calibri" pitchFamily="34" charset="-120"/>
              </a:rPr>
              <a:t>S E S S I O N   5</a:t>
            </a:r>
            <a:endParaRPr lang="en-GB"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en-GB" sz="1000" noProof="0" dirty="0">
                <a:solidFill>
                  <a:srgbClr val="5B7699"/>
                </a:solidFill>
                <a:latin typeface="Calibri" pitchFamily="34" charset="0"/>
                <a:ea typeface="Calibri" pitchFamily="34" charset="-122"/>
                <a:cs typeface="Calibri" pitchFamily="34" charset="-120"/>
              </a:rPr>
              <a:t>Breast Cancer  |  Frontline HCP  |  Rwanda Biomedical Centre</a:t>
            </a:r>
            <a:endParaRPr lang="en-GB"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en-GB" sz="3000" b="1" noProof="0" dirty="0">
                <a:solidFill>
                  <a:srgbClr val="12315B"/>
                </a:solidFill>
                <a:latin typeface="Calibri" pitchFamily="34" charset="0"/>
                <a:ea typeface="Calibri" pitchFamily="34" charset="-122"/>
                <a:cs typeface="Calibri" pitchFamily="34" charset="-120"/>
              </a:rPr>
              <a:t>Knowledge check (2 of 3)</a:t>
            </a:r>
            <a:endParaRPr lang="en-GB" sz="3000" noProof="0" dirty="0"/>
          </a:p>
        </p:txBody>
      </p:sp>
      <p:sp>
        <p:nvSpPr>
          <p:cNvPr id="5" name="Shape 3"/>
          <p:cNvSpPr/>
          <p:nvPr/>
        </p:nvSpPr>
        <p:spPr>
          <a:xfrm>
            <a:off x="548640" y="1491386"/>
            <a:ext cx="11094415" cy="2088490"/>
          </a:xfrm>
          <a:prstGeom prst="roundRect">
            <a:avLst>
              <a:gd name="adj" fmla="val 2627"/>
            </a:avLst>
          </a:prstGeom>
          <a:solidFill>
            <a:srgbClr val="F4F8FC"/>
          </a:solidFill>
          <a:ln w="12700">
            <a:solidFill>
              <a:srgbClr val="C8D8EC"/>
            </a:solidFill>
            <a:prstDash val="solid"/>
          </a:ln>
        </p:spPr>
        <p:txBody>
          <a:bodyPr/>
          <a:lstStyle/>
          <a:p>
            <a:endParaRPr lang="en-GB" noProof="0" dirty="0"/>
          </a:p>
        </p:txBody>
      </p:sp>
      <p:sp>
        <p:nvSpPr>
          <p:cNvPr id="6" name="Text 4"/>
          <p:cNvSpPr txBox="1"/>
          <p:nvPr/>
        </p:nvSpPr>
        <p:spPr>
          <a:xfrm>
            <a:off x="731520" y="1601114"/>
            <a:ext cx="10728655" cy="384048"/>
          </a:xfrm>
          <a:prstGeom prst="rect">
            <a:avLst/>
          </a:prstGeom>
          <a:noFill/>
          <a:ln/>
        </p:spPr>
        <p:txBody>
          <a:bodyPr wrap="square" lIns="0" tIns="0" rIns="0" bIns="0" rtlCol="0" anchor="t"/>
          <a:lstStyle/>
          <a:p>
            <a:pPr marL="0" indent="0">
              <a:buNone/>
            </a:pPr>
            <a:r>
              <a:rPr lang="en-GB" sz="1800" b="1" noProof="0" dirty="0">
                <a:solidFill>
                  <a:srgbClr val="12315B"/>
                </a:solidFill>
                <a:latin typeface="Calibri" pitchFamily="34" charset="0"/>
                <a:ea typeface="Calibri" pitchFamily="34" charset="-122"/>
                <a:cs typeface="Calibri" pitchFamily="34" charset="-120"/>
              </a:rPr>
              <a:t>Q3. A woman reports that her arm feels heavy and her ring no longer fits, two years after axillary surgery. You should:</a:t>
            </a:r>
            <a:endParaRPr lang="en-GB" sz="1800" noProof="0" dirty="0"/>
          </a:p>
        </p:txBody>
      </p:sp>
      <p:sp>
        <p:nvSpPr>
          <p:cNvPr id="7" name="Text 5"/>
          <p:cNvSpPr txBox="1"/>
          <p:nvPr/>
        </p:nvSpPr>
        <p:spPr>
          <a:xfrm>
            <a:off x="731520" y="2021738"/>
            <a:ext cx="5250028" cy="566928"/>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A. </a:t>
            </a:r>
            <a:r>
              <a:rPr lang="en-GB" sz="1800" noProof="0" dirty="0">
                <a:solidFill>
                  <a:srgbClr val="1F3A63"/>
                </a:solidFill>
                <a:latin typeface="Calibri" pitchFamily="34" charset="0"/>
                <a:ea typeface="Calibri" pitchFamily="34" charset="-122"/>
                <a:cs typeface="Calibri" pitchFamily="34" charset="-120"/>
              </a:rPr>
              <a:t>Reassure her that this is normal and expected</a:t>
            </a:r>
            <a:endParaRPr lang="en-GB" sz="1800" noProof="0" dirty="0"/>
          </a:p>
        </p:txBody>
      </p:sp>
      <p:sp>
        <p:nvSpPr>
          <p:cNvPr id="8" name="Text 6"/>
          <p:cNvSpPr txBox="1"/>
          <p:nvPr/>
        </p:nvSpPr>
        <p:spPr>
          <a:xfrm>
            <a:off x="6210148" y="2021738"/>
            <a:ext cx="5250028" cy="566928"/>
          </a:xfrm>
          <a:prstGeom prst="rect">
            <a:avLst/>
          </a:prstGeom>
          <a:noFill/>
          <a:ln/>
        </p:spPr>
        <p:txBody>
          <a:bodyPr wrap="square" lIns="0" tIns="0" rIns="0" bIns="0" rtlCol="0" anchor="t"/>
          <a:lstStyle/>
          <a:p>
            <a:pPr marL="0" indent="0">
              <a:lnSpc>
                <a:spcPct val="90000"/>
              </a:lnSpc>
              <a:buNone/>
            </a:pPr>
            <a:r>
              <a:rPr lang="en-GB" sz="1800" b="1" noProof="0" dirty="0">
                <a:solidFill>
                  <a:srgbClr val="1B6E4A"/>
                </a:solidFill>
                <a:latin typeface="Calibri" pitchFamily="34" charset="0"/>
                <a:ea typeface="Calibri" pitchFamily="34" charset="-122"/>
                <a:cs typeface="Calibri" pitchFamily="34" charset="-120"/>
              </a:rPr>
              <a:t>B. Assess for lymphoedema, exclude infection, and refer for assessment and management</a:t>
            </a:r>
            <a:endParaRPr lang="en-GB" sz="1800" noProof="0" dirty="0"/>
          </a:p>
        </p:txBody>
      </p:sp>
      <p:sp>
        <p:nvSpPr>
          <p:cNvPr id="9" name="Text 7"/>
          <p:cNvSpPr txBox="1"/>
          <p:nvPr/>
        </p:nvSpPr>
        <p:spPr>
          <a:xfrm>
            <a:off x="731520" y="2643530"/>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C. </a:t>
            </a:r>
            <a:r>
              <a:rPr lang="en-GB" sz="1800" noProof="0" dirty="0">
                <a:solidFill>
                  <a:srgbClr val="1F3A63"/>
                </a:solidFill>
                <a:latin typeface="Calibri" pitchFamily="34" charset="0"/>
                <a:ea typeface="Calibri" pitchFamily="34" charset="-122"/>
                <a:cs typeface="Calibri" pitchFamily="34" charset="-120"/>
              </a:rPr>
              <a:t>Advise her to keep the arm still</a:t>
            </a:r>
            <a:endParaRPr lang="en-GB" sz="1800" noProof="0" dirty="0"/>
          </a:p>
        </p:txBody>
      </p:sp>
      <p:sp>
        <p:nvSpPr>
          <p:cNvPr id="10" name="Text 8"/>
          <p:cNvSpPr txBox="1"/>
          <p:nvPr/>
        </p:nvSpPr>
        <p:spPr>
          <a:xfrm>
            <a:off x="6210148" y="2643530"/>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D. </a:t>
            </a:r>
            <a:r>
              <a:rPr lang="en-GB" sz="1800" noProof="0" dirty="0">
                <a:solidFill>
                  <a:srgbClr val="1F3A63"/>
                </a:solidFill>
                <a:latin typeface="Calibri" pitchFamily="34" charset="0"/>
                <a:ea typeface="Calibri" pitchFamily="34" charset="-122"/>
                <a:cs typeface="Calibri" pitchFamily="34" charset="-120"/>
              </a:rPr>
              <a:t>Tell her the cancer has returned</a:t>
            </a:r>
            <a:endParaRPr lang="en-GB" sz="1800" noProof="0" dirty="0"/>
          </a:p>
        </p:txBody>
      </p:sp>
      <p:sp>
        <p:nvSpPr>
          <p:cNvPr id="11" name="Text 9"/>
          <p:cNvSpPr txBox="1"/>
          <p:nvPr/>
        </p:nvSpPr>
        <p:spPr>
          <a:xfrm>
            <a:off x="731520" y="3073298"/>
            <a:ext cx="10728655" cy="433426"/>
          </a:xfrm>
          <a:prstGeom prst="rect">
            <a:avLst/>
          </a:prstGeom>
          <a:noFill/>
          <a:ln/>
        </p:spPr>
        <p:txBody>
          <a:bodyPr wrap="square" lIns="0" tIns="0" rIns="0" bIns="0" rtlCol="0" anchor="t"/>
          <a:lstStyle/>
          <a:p>
            <a:pPr marL="0" indent="0">
              <a:lnSpc>
                <a:spcPct val="92000"/>
              </a:lnSpc>
              <a:buNone/>
            </a:pPr>
            <a:r>
              <a:rPr lang="en-GB" sz="1350" b="1" noProof="0" dirty="0">
                <a:solidFill>
                  <a:srgbClr val="1B6E4A"/>
                </a:solidFill>
                <a:latin typeface="Calibri" pitchFamily="34" charset="0"/>
                <a:ea typeface="Calibri" pitchFamily="34" charset="-122"/>
                <a:cs typeface="Calibri" pitchFamily="34" charset="-120"/>
              </a:rPr>
              <a:t>Correct: B. </a:t>
            </a:r>
            <a:r>
              <a:rPr lang="en-GB" sz="1350" noProof="0" dirty="0">
                <a:solidFill>
                  <a:srgbClr val="0B1F3F"/>
                </a:solidFill>
                <a:latin typeface="Calibri" pitchFamily="34" charset="0"/>
                <a:ea typeface="Calibri" pitchFamily="34" charset="-122"/>
                <a:cs typeface="Calibri" pitchFamily="34" charset="-120"/>
              </a:rPr>
              <a:t>This describes early lymphoedema. Exclude infection first, then refer. Earlier assessment gives better control, and immobilising the arm is not helpful.</a:t>
            </a:r>
            <a:endParaRPr lang="en-GB" sz="1350" noProof="0" dirty="0"/>
          </a:p>
        </p:txBody>
      </p:sp>
      <p:sp>
        <p:nvSpPr>
          <p:cNvPr id="12" name="Shape 10"/>
          <p:cNvSpPr/>
          <p:nvPr/>
        </p:nvSpPr>
        <p:spPr>
          <a:xfrm>
            <a:off x="548640" y="3781044"/>
            <a:ext cx="11094415" cy="2335378"/>
          </a:xfrm>
          <a:prstGeom prst="roundRect">
            <a:avLst>
              <a:gd name="adj" fmla="val 2349"/>
            </a:avLst>
          </a:prstGeom>
          <a:solidFill>
            <a:srgbClr val="F4F8FC"/>
          </a:solidFill>
          <a:ln w="12700">
            <a:solidFill>
              <a:srgbClr val="C8D8EC"/>
            </a:solidFill>
            <a:prstDash val="solid"/>
          </a:ln>
        </p:spPr>
        <p:txBody>
          <a:bodyPr/>
          <a:lstStyle/>
          <a:p>
            <a:endParaRPr lang="en-GB" noProof="0" dirty="0"/>
          </a:p>
        </p:txBody>
      </p:sp>
      <p:sp>
        <p:nvSpPr>
          <p:cNvPr id="13" name="Text 11"/>
          <p:cNvSpPr txBox="1"/>
          <p:nvPr/>
        </p:nvSpPr>
        <p:spPr>
          <a:xfrm>
            <a:off x="731520" y="3890772"/>
            <a:ext cx="10728655" cy="384048"/>
          </a:xfrm>
          <a:prstGeom prst="rect">
            <a:avLst/>
          </a:prstGeom>
          <a:noFill/>
          <a:ln/>
        </p:spPr>
        <p:txBody>
          <a:bodyPr wrap="square" lIns="0" tIns="0" rIns="0" bIns="0" rtlCol="0" anchor="t"/>
          <a:lstStyle/>
          <a:p>
            <a:pPr marL="0" indent="0">
              <a:buNone/>
            </a:pPr>
            <a:r>
              <a:rPr lang="en-GB" sz="1800" b="1" noProof="0" dirty="0">
                <a:solidFill>
                  <a:srgbClr val="12315B"/>
                </a:solidFill>
                <a:latin typeface="Calibri" pitchFamily="34" charset="0"/>
                <a:ea typeface="Calibri" pitchFamily="34" charset="-122"/>
                <a:cs typeface="Calibri" pitchFamily="34" charset="-120"/>
              </a:rPr>
              <a:t>Q4. A woman has stopped her endocrine therapy because of hot flushes and joint pain. The best response is:</a:t>
            </a:r>
            <a:endParaRPr lang="en-GB" sz="1800" noProof="0" dirty="0"/>
          </a:p>
        </p:txBody>
      </p:sp>
      <p:sp>
        <p:nvSpPr>
          <p:cNvPr id="14" name="Text 12"/>
          <p:cNvSpPr txBox="1"/>
          <p:nvPr/>
        </p:nvSpPr>
        <p:spPr>
          <a:xfrm>
            <a:off x="731520" y="4311396"/>
            <a:ext cx="5250028" cy="813816"/>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A. </a:t>
            </a:r>
            <a:r>
              <a:rPr lang="en-GB" sz="1800" noProof="0" dirty="0">
                <a:solidFill>
                  <a:srgbClr val="1F3A63"/>
                </a:solidFill>
                <a:latin typeface="Calibri" pitchFamily="34" charset="0"/>
                <a:ea typeface="Calibri" pitchFamily="34" charset="-122"/>
                <a:cs typeface="Calibri" pitchFamily="34" charset="-120"/>
              </a:rPr>
              <a:t>Accept the decision and record it</a:t>
            </a:r>
            <a:endParaRPr lang="en-GB" sz="1800" noProof="0" dirty="0"/>
          </a:p>
        </p:txBody>
      </p:sp>
      <p:sp>
        <p:nvSpPr>
          <p:cNvPr id="15" name="Text 13"/>
          <p:cNvSpPr txBox="1"/>
          <p:nvPr/>
        </p:nvSpPr>
        <p:spPr>
          <a:xfrm>
            <a:off x="6210148" y="4311396"/>
            <a:ext cx="5250028" cy="813816"/>
          </a:xfrm>
          <a:prstGeom prst="rect">
            <a:avLst/>
          </a:prstGeom>
          <a:noFill/>
          <a:ln/>
        </p:spPr>
        <p:txBody>
          <a:bodyPr wrap="square" lIns="0" tIns="0" rIns="0" bIns="0" rtlCol="0" anchor="t"/>
          <a:lstStyle/>
          <a:p>
            <a:pPr marL="0" indent="0">
              <a:lnSpc>
                <a:spcPct val="90000"/>
              </a:lnSpc>
              <a:buNone/>
            </a:pPr>
            <a:r>
              <a:rPr lang="en-GB" sz="1800" b="1" noProof="0" dirty="0">
                <a:solidFill>
                  <a:srgbClr val="1B6E4A"/>
                </a:solidFill>
                <a:latin typeface="Calibri" pitchFamily="34" charset="0"/>
                <a:ea typeface="Calibri" pitchFamily="34" charset="-122"/>
                <a:cs typeface="Calibri" pitchFamily="34" charset="-120"/>
              </a:rPr>
              <a:t>B. Explain what the medicine is doing, treat the effects, and report the problem to the treating team</a:t>
            </a:r>
            <a:endParaRPr lang="en-GB" sz="1800" noProof="0" dirty="0"/>
          </a:p>
        </p:txBody>
      </p:sp>
      <p:sp>
        <p:nvSpPr>
          <p:cNvPr id="16" name="Text 14"/>
          <p:cNvSpPr txBox="1"/>
          <p:nvPr/>
        </p:nvSpPr>
        <p:spPr>
          <a:xfrm>
            <a:off x="731520" y="5180076"/>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C. </a:t>
            </a:r>
            <a:r>
              <a:rPr lang="en-GB" sz="1800" noProof="0" dirty="0">
                <a:solidFill>
                  <a:srgbClr val="1F3A63"/>
                </a:solidFill>
                <a:latin typeface="Calibri" pitchFamily="34" charset="0"/>
                <a:ea typeface="Calibri" pitchFamily="34" charset="-122"/>
                <a:cs typeface="Calibri" pitchFamily="34" charset="-120"/>
              </a:rPr>
              <a:t>Tell her she is putting her life at risk</a:t>
            </a:r>
            <a:endParaRPr lang="en-GB" sz="1800" noProof="0" dirty="0"/>
          </a:p>
        </p:txBody>
      </p:sp>
      <p:sp>
        <p:nvSpPr>
          <p:cNvPr id="17" name="Text 15"/>
          <p:cNvSpPr txBox="1"/>
          <p:nvPr/>
        </p:nvSpPr>
        <p:spPr>
          <a:xfrm>
            <a:off x="6210148" y="5180076"/>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D. </a:t>
            </a:r>
            <a:r>
              <a:rPr lang="en-GB" sz="1800" noProof="0" dirty="0">
                <a:solidFill>
                  <a:srgbClr val="1F3A63"/>
                </a:solidFill>
                <a:latin typeface="Calibri" pitchFamily="34" charset="0"/>
                <a:ea typeface="Calibri" pitchFamily="34" charset="-122"/>
                <a:cs typeface="Calibri" pitchFamily="34" charset="-120"/>
              </a:rPr>
              <a:t>Advise her to double the dose when she restarts</a:t>
            </a:r>
            <a:endParaRPr lang="en-GB" sz="1800" noProof="0" dirty="0"/>
          </a:p>
        </p:txBody>
      </p:sp>
      <p:sp>
        <p:nvSpPr>
          <p:cNvPr id="18" name="Text 16"/>
          <p:cNvSpPr txBox="1"/>
          <p:nvPr/>
        </p:nvSpPr>
        <p:spPr>
          <a:xfrm>
            <a:off x="731520" y="5609844"/>
            <a:ext cx="10728655" cy="433426"/>
          </a:xfrm>
          <a:prstGeom prst="rect">
            <a:avLst/>
          </a:prstGeom>
          <a:noFill/>
          <a:ln/>
        </p:spPr>
        <p:txBody>
          <a:bodyPr wrap="square" lIns="0" tIns="0" rIns="0" bIns="0" rtlCol="0" anchor="t"/>
          <a:lstStyle/>
          <a:p>
            <a:pPr marL="0" indent="0">
              <a:lnSpc>
                <a:spcPct val="92000"/>
              </a:lnSpc>
              <a:buNone/>
            </a:pPr>
            <a:r>
              <a:rPr lang="en-GB" sz="1350" b="1" noProof="0" dirty="0">
                <a:solidFill>
                  <a:srgbClr val="1B6E4A"/>
                </a:solidFill>
                <a:latin typeface="Calibri" pitchFamily="34" charset="0"/>
                <a:ea typeface="Calibri" pitchFamily="34" charset="-122"/>
                <a:cs typeface="Calibri" pitchFamily="34" charset="-120"/>
              </a:rPr>
              <a:t>Correct: B. </a:t>
            </a:r>
            <a:r>
              <a:rPr lang="en-GB" sz="1350" noProof="0" dirty="0">
                <a:solidFill>
                  <a:srgbClr val="0B1F3F"/>
                </a:solidFill>
                <a:latin typeface="Calibri" pitchFamily="34" charset="0"/>
                <a:ea typeface="Calibri" pitchFamily="34" charset="-122"/>
                <a:cs typeface="Calibri" pitchFamily="34" charset="-120"/>
              </a:rPr>
              <a:t>Effects are the usual reason endocrine therapy is abandoned, and they are often manageable. Ask without blame, treat the symptom, and involve the treating team, because alternatives sometimes exist.</a:t>
            </a:r>
            <a:endParaRPr lang="en-GB" sz="1350" noProof="0" dirty="0"/>
          </a:p>
        </p:txBody>
      </p:sp>
    </p:spTree>
  </p:cSld>
  <p:clrMapOvr>
    <a:masterClrMapping/>
  </p:clrMapOvr>
</p:sld>
</file>

<file path=ppt/slides/slide147.xml><?xml version="1.0" encoding="utf-8"?>
<p:sld xmlns:a="http://schemas.openxmlformats.org/drawingml/2006/main" xmlns:r="http://schemas.openxmlformats.org/officeDocument/2006/relationships" xmlns:p="http://schemas.openxmlformats.org/presentationml/2006/main">
  <p:cSld name="Slide 1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en-GB" sz="1100" b="1" kern="0" spc="100" noProof="0" dirty="0">
                <a:solidFill>
                  <a:srgbClr val="5B7699"/>
                </a:solidFill>
                <a:latin typeface="Calibri" pitchFamily="34" charset="0"/>
                <a:ea typeface="Calibri" pitchFamily="34" charset="-122"/>
                <a:cs typeface="Calibri" pitchFamily="34" charset="-120"/>
              </a:rPr>
              <a:t>S E S S I O N   5</a:t>
            </a:r>
            <a:endParaRPr lang="en-GB"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en-GB" sz="1000" noProof="0" dirty="0">
                <a:solidFill>
                  <a:srgbClr val="5B7699"/>
                </a:solidFill>
                <a:latin typeface="Calibri" pitchFamily="34" charset="0"/>
                <a:ea typeface="Calibri" pitchFamily="34" charset="-122"/>
                <a:cs typeface="Calibri" pitchFamily="34" charset="-120"/>
              </a:rPr>
              <a:t>Breast Cancer  |  Frontline HCP  |  Rwanda Biomedical Centre</a:t>
            </a:r>
            <a:endParaRPr lang="en-GB"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en-GB" sz="3000" b="1" noProof="0" dirty="0">
                <a:solidFill>
                  <a:srgbClr val="12315B"/>
                </a:solidFill>
                <a:latin typeface="Calibri" pitchFamily="34" charset="0"/>
                <a:ea typeface="Calibri" pitchFamily="34" charset="-122"/>
                <a:cs typeface="Calibri" pitchFamily="34" charset="-120"/>
              </a:rPr>
              <a:t>Knowledge check (3 of 3)</a:t>
            </a:r>
            <a:endParaRPr lang="en-GB" sz="3000" noProof="0" dirty="0"/>
          </a:p>
        </p:txBody>
      </p:sp>
      <p:sp>
        <p:nvSpPr>
          <p:cNvPr id="5" name="Shape 3"/>
          <p:cNvSpPr/>
          <p:nvPr/>
        </p:nvSpPr>
        <p:spPr>
          <a:xfrm>
            <a:off x="548640" y="1491386"/>
            <a:ext cx="11094415" cy="2335378"/>
          </a:xfrm>
          <a:prstGeom prst="roundRect">
            <a:avLst>
              <a:gd name="adj" fmla="val 2349"/>
            </a:avLst>
          </a:prstGeom>
          <a:solidFill>
            <a:srgbClr val="F4F8FC"/>
          </a:solidFill>
          <a:ln w="12700">
            <a:solidFill>
              <a:srgbClr val="C8D8EC"/>
            </a:solidFill>
            <a:prstDash val="solid"/>
          </a:ln>
        </p:spPr>
        <p:txBody>
          <a:bodyPr/>
          <a:lstStyle/>
          <a:p>
            <a:endParaRPr lang="en-GB" noProof="0" dirty="0"/>
          </a:p>
        </p:txBody>
      </p:sp>
      <p:sp>
        <p:nvSpPr>
          <p:cNvPr id="6" name="Text 4"/>
          <p:cNvSpPr txBox="1"/>
          <p:nvPr/>
        </p:nvSpPr>
        <p:spPr>
          <a:xfrm>
            <a:off x="731520" y="1601114"/>
            <a:ext cx="10728655" cy="384048"/>
          </a:xfrm>
          <a:prstGeom prst="rect">
            <a:avLst/>
          </a:prstGeom>
          <a:noFill/>
          <a:ln/>
        </p:spPr>
        <p:txBody>
          <a:bodyPr wrap="square" lIns="0" tIns="0" rIns="0" bIns="0" rtlCol="0" anchor="t"/>
          <a:lstStyle/>
          <a:p>
            <a:pPr marL="0" indent="0">
              <a:buNone/>
            </a:pPr>
            <a:r>
              <a:rPr lang="en-GB" sz="1800" b="1" noProof="0" dirty="0">
                <a:solidFill>
                  <a:srgbClr val="12315B"/>
                </a:solidFill>
                <a:latin typeface="Calibri" pitchFamily="34" charset="0"/>
                <a:ea typeface="Calibri" pitchFamily="34" charset="-122"/>
                <a:cs typeface="Calibri" pitchFamily="34" charset="-120"/>
              </a:rPr>
              <a:t>Q5. Follow-up after treatment for breast cancer includes:</a:t>
            </a:r>
            <a:endParaRPr lang="en-GB" sz="1800" noProof="0" dirty="0"/>
          </a:p>
        </p:txBody>
      </p:sp>
      <p:sp>
        <p:nvSpPr>
          <p:cNvPr id="7" name="Text 5"/>
          <p:cNvSpPr txBox="1"/>
          <p:nvPr/>
        </p:nvSpPr>
        <p:spPr>
          <a:xfrm>
            <a:off x="731520" y="2021738"/>
            <a:ext cx="5250028" cy="813816"/>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A. </a:t>
            </a:r>
            <a:r>
              <a:rPr lang="en-GB" sz="1800" noProof="0" dirty="0">
                <a:solidFill>
                  <a:srgbClr val="1F3A63"/>
                </a:solidFill>
                <a:latin typeface="Calibri" pitchFamily="34" charset="0"/>
                <a:ea typeface="Calibri" pitchFamily="34" charset="-122"/>
                <a:cs typeface="Calibri" pitchFamily="34" charset="-120"/>
              </a:rPr>
              <a:t>Only wound checks</a:t>
            </a:r>
            <a:endParaRPr lang="en-GB" sz="1800" noProof="0" dirty="0"/>
          </a:p>
        </p:txBody>
      </p:sp>
      <p:sp>
        <p:nvSpPr>
          <p:cNvPr id="8" name="Text 6"/>
          <p:cNvSpPr txBox="1"/>
          <p:nvPr/>
        </p:nvSpPr>
        <p:spPr>
          <a:xfrm>
            <a:off x="6210148" y="2021738"/>
            <a:ext cx="5250028" cy="813816"/>
          </a:xfrm>
          <a:prstGeom prst="rect">
            <a:avLst/>
          </a:prstGeom>
          <a:noFill/>
          <a:ln/>
        </p:spPr>
        <p:txBody>
          <a:bodyPr wrap="square" lIns="0" tIns="0" rIns="0" bIns="0" rtlCol="0" anchor="t"/>
          <a:lstStyle/>
          <a:p>
            <a:pPr marL="0" indent="0">
              <a:lnSpc>
                <a:spcPct val="90000"/>
              </a:lnSpc>
              <a:buNone/>
            </a:pPr>
            <a:r>
              <a:rPr lang="en-GB" sz="1800" b="1" noProof="0" dirty="0">
                <a:solidFill>
                  <a:srgbClr val="1B6E4A"/>
                </a:solidFill>
                <a:latin typeface="Calibri" pitchFamily="34" charset="0"/>
                <a:ea typeface="Calibri" pitchFamily="34" charset="-122"/>
                <a:cs typeface="Calibri" pitchFamily="34" charset="-120"/>
              </a:rPr>
              <a:t>B. Monitoring recovery, managing lasting effects, supporting ongoing treatment, and assessing new symptoms</a:t>
            </a:r>
            <a:endParaRPr lang="en-GB" sz="1800" noProof="0" dirty="0"/>
          </a:p>
        </p:txBody>
      </p:sp>
      <p:sp>
        <p:nvSpPr>
          <p:cNvPr id="9" name="Text 7"/>
          <p:cNvSpPr txBox="1"/>
          <p:nvPr/>
        </p:nvSpPr>
        <p:spPr>
          <a:xfrm>
            <a:off x="731520" y="2890418"/>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C. </a:t>
            </a:r>
            <a:r>
              <a:rPr lang="en-GB" sz="1800" noProof="0" dirty="0">
                <a:solidFill>
                  <a:srgbClr val="1F3A63"/>
                </a:solidFill>
                <a:latin typeface="Calibri" pitchFamily="34" charset="0"/>
                <a:ea typeface="Calibri" pitchFamily="34" charset="-122"/>
                <a:cs typeface="Calibri" pitchFamily="34" charset="-120"/>
              </a:rPr>
              <a:t>Nothing once treatment ends</a:t>
            </a:r>
            <a:endParaRPr lang="en-GB" sz="1800" noProof="0" dirty="0"/>
          </a:p>
        </p:txBody>
      </p:sp>
      <p:sp>
        <p:nvSpPr>
          <p:cNvPr id="10" name="Text 8"/>
          <p:cNvSpPr txBox="1"/>
          <p:nvPr/>
        </p:nvSpPr>
        <p:spPr>
          <a:xfrm>
            <a:off x="6210148" y="2890418"/>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D. </a:t>
            </a:r>
            <a:r>
              <a:rPr lang="en-GB" sz="1800" noProof="0" dirty="0">
                <a:solidFill>
                  <a:srgbClr val="1F3A63"/>
                </a:solidFill>
                <a:latin typeface="Calibri" pitchFamily="34" charset="0"/>
                <a:ea typeface="Calibri" pitchFamily="34" charset="-122"/>
                <a:cs typeface="Calibri" pitchFamily="34" charset="-120"/>
              </a:rPr>
              <a:t>Repeating the original operation</a:t>
            </a:r>
            <a:endParaRPr lang="en-GB" sz="1800" noProof="0" dirty="0"/>
          </a:p>
        </p:txBody>
      </p:sp>
      <p:sp>
        <p:nvSpPr>
          <p:cNvPr id="11" name="Text 9"/>
          <p:cNvSpPr txBox="1"/>
          <p:nvPr/>
        </p:nvSpPr>
        <p:spPr>
          <a:xfrm>
            <a:off x="731520" y="3320186"/>
            <a:ext cx="10728655" cy="433426"/>
          </a:xfrm>
          <a:prstGeom prst="rect">
            <a:avLst/>
          </a:prstGeom>
          <a:noFill/>
          <a:ln/>
        </p:spPr>
        <p:txBody>
          <a:bodyPr wrap="square" lIns="0" tIns="0" rIns="0" bIns="0" rtlCol="0" anchor="t"/>
          <a:lstStyle/>
          <a:p>
            <a:pPr marL="0" indent="0">
              <a:lnSpc>
                <a:spcPct val="92000"/>
              </a:lnSpc>
              <a:buNone/>
            </a:pPr>
            <a:r>
              <a:rPr lang="en-GB" sz="1350" b="1" noProof="0" dirty="0">
                <a:solidFill>
                  <a:srgbClr val="1B6E4A"/>
                </a:solidFill>
                <a:latin typeface="Calibri" pitchFamily="34" charset="0"/>
                <a:ea typeface="Calibri" pitchFamily="34" charset="-122"/>
                <a:cs typeface="Calibri" pitchFamily="34" charset="-120"/>
              </a:rPr>
              <a:t>Correct: B. </a:t>
            </a:r>
            <a:r>
              <a:rPr lang="en-GB" sz="1350" noProof="0" dirty="0">
                <a:solidFill>
                  <a:srgbClr val="0B1F3F"/>
                </a:solidFill>
                <a:latin typeface="Calibri" pitchFamily="34" charset="0"/>
                <a:ea typeface="Calibri" pitchFamily="34" charset="-122"/>
                <a:cs typeface="Calibri" pitchFamily="34" charset="-120"/>
              </a:rPr>
              <a:t>Follow-up supports recovery, manages lasting effects, keeps long-term treatment on track, and looks for recurrence when new symptoms appear.</a:t>
            </a:r>
            <a:endParaRPr lang="en-GB" sz="1350" noProof="0" dirty="0"/>
          </a:p>
        </p:txBody>
      </p:sp>
      <p:sp>
        <p:nvSpPr>
          <p:cNvPr id="12" name="Shape 10"/>
          <p:cNvSpPr/>
          <p:nvPr/>
        </p:nvSpPr>
        <p:spPr>
          <a:xfrm>
            <a:off x="548640" y="4027932"/>
            <a:ext cx="11094415" cy="2088490"/>
          </a:xfrm>
          <a:prstGeom prst="roundRect">
            <a:avLst>
              <a:gd name="adj" fmla="val 2627"/>
            </a:avLst>
          </a:prstGeom>
          <a:solidFill>
            <a:srgbClr val="F4F8FC"/>
          </a:solidFill>
          <a:ln w="12700">
            <a:solidFill>
              <a:srgbClr val="C8D8EC"/>
            </a:solidFill>
            <a:prstDash val="solid"/>
          </a:ln>
        </p:spPr>
        <p:txBody>
          <a:bodyPr/>
          <a:lstStyle/>
          <a:p>
            <a:endParaRPr lang="en-GB" noProof="0" dirty="0"/>
          </a:p>
        </p:txBody>
      </p:sp>
      <p:sp>
        <p:nvSpPr>
          <p:cNvPr id="13" name="Text 11"/>
          <p:cNvSpPr txBox="1"/>
          <p:nvPr/>
        </p:nvSpPr>
        <p:spPr>
          <a:xfrm>
            <a:off x="731520" y="4137660"/>
            <a:ext cx="10728655" cy="384048"/>
          </a:xfrm>
          <a:prstGeom prst="rect">
            <a:avLst/>
          </a:prstGeom>
          <a:noFill/>
          <a:ln/>
        </p:spPr>
        <p:txBody>
          <a:bodyPr wrap="square" lIns="0" tIns="0" rIns="0" bIns="0" rtlCol="0" anchor="t"/>
          <a:lstStyle/>
          <a:p>
            <a:pPr marL="0" indent="0">
              <a:buNone/>
            </a:pPr>
            <a:r>
              <a:rPr lang="en-GB" sz="1800" b="1" noProof="0" dirty="0">
                <a:solidFill>
                  <a:srgbClr val="12315B"/>
                </a:solidFill>
                <a:latin typeface="Calibri" pitchFamily="34" charset="0"/>
                <a:ea typeface="Calibri" pitchFamily="34" charset="-122"/>
                <a:cs typeface="Calibri" pitchFamily="34" charset="-120"/>
              </a:rPr>
              <a:t>Q6. Sexual health and body image after breast cancer treatment should be:</a:t>
            </a:r>
            <a:endParaRPr lang="en-GB" sz="1800" noProof="0" dirty="0"/>
          </a:p>
        </p:txBody>
      </p:sp>
      <p:sp>
        <p:nvSpPr>
          <p:cNvPr id="14" name="Text 12"/>
          <p:cNvSpPr txBox="1"/>
          <p:nvPr/>
        </p:nvSpPr>
        <p:spPr>
          <a:xfrm>
            <a:off x="731520" y="4558284"/>
            <a:ext cx="5250028" cy="566928"/>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A. </a:t>
            </a:r>
            <a:r>
              <a:rPr lang="en-GB" sz="1800" noProof="0" dirty="0">
                <a:solidFill>
                  <a:srgbClr val="1F3A63"/>
                </a:solidFill>
                <a:latin typeface="Calibri" pitchFamily="34" charset="0"/>
                <a:ea typeface="Calibri" pitchFamily="34" charset="-122"/>
                <a:cs typeface="Calibri" pitchFamily="34" charset="-120"/>
              </a:rPr>
              <a:t>Avoided as too sensitive</a:t>
            </a:r>
            <a:endParaRPr lang="en-GB" sz="1800" noProof="0" dirty="0"/>
          </a:p>
        </p:txBody>
      </p:sp>
      <p:sp>
        <p:nvSpPr>
          <p:cNvPr id="15" name="Text 13"/>
          <p:cNvSpPr txBox="1"/>
          <p:nvPr/>
        </p:nvSpPr>
        <p:spPr>
          <a:xfrm>
            <a:off x="6210148" y="4558284"/>
            <a:ext cx="5250028" cy="566928"/>
          </a:xfrm>
          <a:prstGeom prst="rect">
            <a:avLst/>
          </a:prstGeom>
          <a:noFill/>
          <a:ln/>
        </p:spPr>
        <p:txBody>
          <a:bodyPr wrap="square" lIns="0" tIns="0" rIns="0" bIns="0" rtlCol="0" anchor="t"/>
          <a:lstStyle/>
          <a:p>
            <a:pPr marL="0" indent="0">
              <a:lnSpc>
                <a:spcPct val="90000"/>
              </a:lnSpc>
              <a:buNone/>
            </a:pPr>
            <a:r>
              <a:rPr lang="en-GB" sz="1800" b="1" noProof="0" dirty="0">
                <a:solidFill>
                  <a:srgbClr val="1B6E4A"/>
                </a:solidFill>
                <a:latin typeface="Calibri" pitchFamily="34" charset="0"/>
                <a:ea typeface="Calibri" pitchFamily="34" charset="-122"/>
                <a:cs typeface="Calibri" pitchFamily="34" charset="-120"/>
              </a:rPr>
              <a:t>B. Raised by you, respectfully and without assumptions</a:t>
            </a:r>
            <a:endParaRPr lang="en-GB" sz="1800" noProof="0" dirty="0"/>
          </a:p>
        </p:txBody>
      </p:sp>
      <p:sp>
        <p:nvSpPr>
          <p:cNvPr id="16" name="Text 14"/>
          <p:cNvSpPr txBox="1"/>
          <p:nvPr/>
        </p:nvSpPr>
        <p:spPr>
          <a:xfrm>
            <a:off x="731520" y="5180076"/>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C. </a:t>
            </a:r>
            <a:r>
              <a:rPr lang="en-GB" sz="1800" noProof="0" dirty="0">
                <a:solidFill>
                  <a:srgbClr val="1F3A63"/>
                </a:solidFill>
                <a:latin typeface="Calibri" pitchFamily="34" charset="0"/>
                <a:ea typeface="Calibri" pitchFamily="34" charset="-122"/>
                <a:cs typeface="Calibri" pitchFamily="34" charset="-120"/>
              </a:rPr>
              <a:t>Discussed only if the person insists</a:t>
            </a:r>
            <a:endParaRPr lang="en-GB" sz="1800" noProof="0" dirty="0"/>
          </a:p>
        </p:txBody>
      </p:sp>
      <p:sp>
        <p:nvSpPr>
          <p:cNvPr id="17" name="Text 15"/>
          <p:cNvSpPr txBox="1"/>
          <p:nvPr/>
        </p:nvSpPr>
        <p:spPr>
          <a:xfrm>
            <a:off x="6210148" y="5180076"/>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D. </a:t>
            </a:r>
            <a:r>
              <a:rPr lang="en-GB" sz="1800" noProof="0" dirty="0">
                <a:solidFill>
                  <a:srgbClr val="1F3A63"/>
                </a:solidFill>
                <a:latin typeface="Calibri" pitchFamily="34" charset="0"/>
                <a:ea typeface="Calibri" pitchFamily="34" charset="-122"/>
                <a:cs typeface="Calibri" pitchFamily="34" charset="-120"/>
              </a:rPr>
              <a:t>Left entirely to the specialist</a:t>
            </a:r>
            <a:endParaRPr lang="en-GB" sz="1800" noProof="0" dirty="0"/>
          </a:p>
        </p:txBody>
      </p:sp>
      <p:sp>
        <p:nvSpPr>
          <p:cNvPr id="18" name="Text 16"/>
          <p:cNvSpPr txBox="1"/>
          <p:nvPr/>
        </p:nvSpPr>
        <p:spPr>
          <a:xfrm>
            <a:off x="731520" y="5609844"/>
            <a:ext cx="10728655" cy="433426"/>
          </a:xfrm>
          <a:prstGeom prst="rect">
            <a:avLst/>
          </a:prstGeom>
          <a:noFill/>
          <a:ln/>
        </p:spPr>
        <p:txBody>
          <a:bodyPr wrap="square" lIns="0" tIns="0" rIns="0" bIns="0" rtlCol="0" anchor="t"/>
          <a:lstStyle/>
          <a:p>
            <a:pPr marL="0" indent="0">
              <a:lnSpc>
                <a:spcPct val="92000"/>
              </a:lnSpc>
              <a:buNone/>
            </a:pPr>
            <a:r>
              <a:rPr lang="en-GB" sz="1350" b="1" noProof="0" dirty="0">
                <a:solidFill>
                  <a:srgbClr val="1B6E4A"/>
                </a:solidFill>
                <a:latin typeface="Calibri" pitchFamily="34" charset="0"/>
                <a:ea typeface="Calibri" pitchFamily="34" charset="-122"/>
                <a:cs typeface="Calibri" pitchFamily="34" charset="-120"/>
              </a:rPr>
              <a:t>Correct: B. </a:t>
            </a:r>
            <a:r>
              <a:rPr lang="en-GB" sz="1350" noProof="0" dirty="0">
                <a:solidFill>
                  <a:srgbClr val="0B1F3F"/>
                </a:solidFill>
                <a:latin typeface="Calibri" pitchFamily="34" charset="0"/>
                <a:ea typeface="Calibri" pitchFamily="34" charset="-122"/>
                <a:cs typeface="Calibri" pitchFamily="34" charset="-120"/>
              </a:rPr>
              <a:t>People rarely raise these themselves. Asking, in private and without assuming marital status or sexual activity, is what makes it possible to offer help.</a:t>
            </a:r>
            <a:endParaRPr lang="en-GB" sz="1350" noProof="0" dirty="0"/>
          </a:p>
        </p:txBody>
      </p:sp>
    </p:spTree>
  </p:cSld>
  <p:clrMapOvr>
    <a:masterClrMapping/>
  </p:clrMapOvr>
</p:sld>
</file>

<file path=ppt/slides/slide148.xml><?xml version="1.0" encoding="utf-8"?>
<p:sld xmlns:a="http://schemas.openxmlformats.org/drawingml/2006/main" xmlns:r="http://schemas.openxmlformats.org/officeDocument/2006/relationships" xmlns:p="http://schemas.openxmlformats.org/presentationml/2006/main">
  <p:cSld name="Slide 11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en-GB" sz="1100" b="1" kern="0" spc="100" noProof="0" dirty="0">
                <a:solidFill>
                  <a:srgbClr val="5B7699"/>
                </a:solidFill>
                <a:latin typeface="Calibri" pitchFamily="34" charset="0"/>
                <a:ea typeface="Calibri" pitchFamily="34" charset="-122"/>
                <a:cs typeface="Calibri" pitchFamily="34" charset="-120"/>
              </a:rPr>
              <a:t>S E S S I O N   5</a:t>
            </a:r>
            <a:endParaRPr lang="en-GB"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en-GB" sz="1000" noProof="0" dirty="0">
                <a:solidFill>
                  <a:srgbClr val="5B7699"/>
                </a:solidFill>
                <a:latin typeface="Calibri" pitchFamily="34" charset="0"/>
                <a:ea typeface="Calibri" pitchFamily="34" charset="-122"/>
                <a:cs typeface="Calibri" pitchFamily="34" charset="-120"/>
              </a:rPr>
              <a:t>Breast Cancer  |  Frontline HCP  |  Rwanda Biomedical Centre</a:t>
            </a:r>
            <a:endParaRPr lang="en-GB"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en-GB" sz="3000" b="1" noProof="0" dirty="0">
                <a:solidFill>
                  <a:srgbClr val="12315B"/>
                </a:solidFill>
                <a:latin typeface="Calibri" pitchFamily="34" charset="0"/>
                <a:ea typeface="Calibri" pitchFamily="34" charset="-122"/>
                <a:cs typeface="Calibri" pitchFamily="34" charset="-120"/>
              </a:rPr>
              <a:t>Session reflection</a:t>
            </a:r>
            <a:endParaRPr lang="en-GB" sz="3000" noProof="0" dirty="0"/>
          </a:p>
        </p:txBody>
      </p:sp>
      <p:sp>
        <p:nvSpPr>
          <p:cNvPr id="5" name="Text 3"/>
          <p:cNvSpPr txBox="1"/>
          <p:nvPr/>
        </p:nvSpPr>
        <p:spPr>
          <a:xfrm>
            <a:off x="548640" y="1234440"/>
            <a:ext cx="11094415" cy="411480"/>
          </a:xfrm>
          <a:prstGeom prst="rect">
            <a:avLst/>
          </a:prstGeom>
          <a:noFill/>
          <a:ln/>
        </p:spPr>
        <p:txBody>
          <a:bodyPr wrap="square" lIns="0" tIns="0" rIns="0" bIns="0" rtlCol="0" anchor="ctr"/>
          <a:lstStyle/>
          <a:p>
            <a:pPr marL="0" indent="0">
              <a:lnSpc>
                <a:spcPct val="95000"/>
              </a:lnSpc>
              <a:buNone/>
            </a:pPr>
            <a:r>
              <a:rPr lang="en-GB" sz="1500" i="1" noProof="0" dirty="0">
                <a:solidFill>
                  <a:srgbClr val="5B7699"/>
                </a:solidFill>
                <a:latin typeface="Calibri" pitchFamily="34" charset="0"/>
                <a:ea typeface="Calibri" pitchFamily="34" charset="-122"/>
                <a:cs typeface="Calibri" pitchFamily="34" charset="-120"/>
              </a:rPr>
              <a:t>Enter your response in the text box. There is no single correct answer. These prompts are not scored, and are for your own practice and for discussion.</a:t>
            </a:r>
            <a:endParaRPr lang="en-GB" sz="1500" noProof="0" dirty="0"/>
          </a:p>
        </p:txBody>
      </p:sp>
      <p:sp>
        <p:nvSpPr>
          <p:cNvPr id="6" name="Shape 4"/>
          <p:cNvSpPr/>
          <p:nvPr/>
        </p:nvSpPr>
        <p:spPr>
          <a:xfrm>
            <a:off x="548640" y="1828800"/>
            <a:ext cx="11094415" cy="1188720"/>
          </a:xfrm>
          <a:prstGeom prst="roundRect">
            <a:avLst>
              <a:gd name="adj" fmla="val 4615"/>
            </a:avLst>
          </a:prstGeom>
          <a:solidFill>
            <a:srgbClr val="F4F8FC"/>
          </a:solidFill>
          <a:ln w="12700">
            <a:solidFill>
              <a:srgbClr val="C8D8EC"/>
            </a:solidFill>
            <a:prstDash val="solid"/>
          </a:ln>
        </p:spPr>
        <p:txBody>
          <a:bodyPr/>
          <a:lstStyle/>
          <a:p>
            <a:endParaRPr lang="en-GB" noProof="0" dirty="0"/>
          </a:p>
        </p:txBody>
      </p:sp>
      <p:sp>
        <p:nvSpPr>
          <p:cNvPr id="7" name="Shape 5"/>
          <p:cNvSpPr/>
          <p:nvPr/>
        </p:nvSpPr>
        <p:spPr>
          <a:xfrm>
            <a:off x="777240" y="2203704"/>
            <a:ext cx="438912" cy="438912"/>
          </a:xfrm>
          <a:prstGeom prst="ellipse">
            <a:avLst/>
          </a:prstGeom>
          <a:solidFill>
            <a:srgbClr val="12315B"/>
          </a:solidFill>
          <a:ln/>
        </p:spPr>
        <p:txBody>
          <a:bodyPr/>
          <a:lstStyle/>
          <a:p>
            <a:endParaRPr lang="en-GB" noProof="0" dirty="0"/>
          </a:p>
        </p:txBody>
      </p:sp>
      <p:sp>
        <p:nvSpPr>
          <p:cNvPr id="8" name="Text 6"/>
          <p:cNvSpPr txBox="1"/>
          <p:nvPr/>
        </p:nvSpPr>
        <p:spPr>
          <a:xfrm>
            <a:off x="777240" y="2203704"/>
            <a:ext cx="438912" cy="438912"/>
          </a:xfrm>
          <a:prstGeom prst="rect">
            <a:avLst/>
          </a:prstGeom>
          <a:noFill/>
          <a:ln/>
        </p:spPr>
        <p:txBody>
          <a:bodyPr wrap="square" lIns="0" tIns="0" rIns="0" bIns="0" rtlCol="0" anchor="ctr"/>
          <a:lstStyle/>
          <a:p>
            <a:pPr marL="0" indent="0" algn="ctr">
              <a:buNone/>
            </a:pPr>
            <a:r>
              <a:rPr lang="en-GB" sz="1800" b="1" noProof="0" dirty="0">
                <a:solidFill>
                  <a:srgbClr val="FFFFFF"/>
                </a:solidFill>
                <a:latin typeface="Calibri" pitchFamily="34" charset="0"/>
                <a:ea typeface="Calibri" pitchFamily="34" charset="-122"/>
                <a:cs typeface="Calibri" pitchFamily="34" charset="-120"/>
              </a:rPr>
              <a:t>1</a:t>
            </a:r>
            <a:endParaRPr lang="en-GB" sz="1800" noProof="0" dirty="0"/>
          </a:p>
        </p:txBody>
      </p:sp>
      <p:sp>
        <p:nvSpPr>
          <p:cNvPr id="9" name="Text 7"/>
          <p:cNvSpPr txBox="1"/>
          <p:nvPr/>
        </p:nvSpPr>
        <p:spPr>
          <a:xfrm>
            <a:off x="1417320" y="1938528"/>
            <a:ext cx="9997135" cy="969264"/>
          </a:xfrm>
          <a:prstGeom prst="rect">
            <a:avLst/>
          </a:prstGeom>
          <a:noFill/>
          <a:ln/>
        </p:spPr>
        <p:txBody>
          <a:bodyPr wrap="square" lIns="0" tIns="0" rIns="0" bIns="0" rtlCol="0" anchor="ctr"/>
          <a:lstStyle/>
          <a:p>
            <a:pPr marL="0" indent="0">
              <a:lnSpc>
                <a:spcPct val="95000"/>
              </a:lnSpc>
              <a:buNone/>
            </a:pPr>
            <a:r>
              <a:rPr lang="en-GB" sz="1800" noProof="0" dirty="0">
                <a:solidFill>
                  <a:srgbClr val="0B1F3F"/>
                </a:solidFill>
                <a:latin typeface="Calibri" pitchFamily="34" charset="0"/>
                <a:ea typeface="Calibri" pitchFamily="34" charset="-122"/>
                <a:cs typeface="Calibri" pitchFamily="34" charset="-120"/>
              </a:rPr>
              <a:t>How would you help a patient and her family decide which symptoms to report urgently and which can wait for the next review?</a:t>
            </a:r>
            <a:endParaRPr lang="en-GB" sz="1800" noProof="0" dirty="0"/>
          </a:p>
        </p:txBody>
      </p:sp>
      <p:sp>
        <p:nvSpPr>
          <p:cNvPr id="10" name="Shape 8"/>
          <p:cNvSpPr/>
          <p:nvPr/>
        </p:nvSpPr>
        <p:spPr>
          <a:xfrm>
            <a:off x="548640" y="3218688"/>
            <a:ext cx="11094415" cy="1188720"/>
          </a:xfrm>
          <a:prstGeom prst="roundRect">
            <a:avLst>
              <a:gd name="adj" fmla="val 4615"/>
            </a:avLst>
          </a:prstGeom>
          <a:solidFill>
            <a:srgbClr val="F4F8FC"/>
          </a:solidFill>
          <a:ln w="12700">
            <a:solidFill>
              <a:srgbClr val="C8D8EC"/>
            </a:solidFill>
            <a:prstDash val="solid"/>
          </a:ln>
        </p:spPr>
        <p:txBody>
          <a:bodyPr/>
          <a:lstStyle/>
          <a:p>
            <a:endParaRPr lang="en-GB" noProof="0" dirty="0"/>
          </a:p>
        </p:txBody>
      </p:sp>
      <p:sp>
        <p:nvSpPr>
          <p:cNvPr id="11" name="Shape 9"/>
          <p:cNvSpPr/>
          <p:nvPr/>
        </p:nvSpPr>
        <p:spPr>
          <a:xfrm>
            <a:off x="777240" y="3593592"/>
            <a:ext cx="438912" cy="438912"/>
          </a:xfrm>
          <a:prstGeom prst="ellipse">
            <a:avLst/>
          </a:prstGeom>
          <a:solidFill>
            <a:srgbClr val="12315B"/>
          </a:solidFill>
          <a:ln/>
        </p:spPr>
        <p:txBody>
          <a:bodyPr/>
          <a:lstStyle/>
          <a:p>
            <a:endParaRPr lang="en-GB" noProof="0" dirty="0"/>
          </a:p>
        </p:txBody>
      </p:sp>
      <p:sp>
        <p:nvSpPr>
          <p:cNvPr id="12" name="Text 10"/>
          <p:cNvSpPr txBox="1"/>
          <p:nvPr/>
        </p:nvSpPr>
        <p:spPr>
          <a:xfrm>
            <a:off x="777240" y="3593592"/>
            <a:ext cx="438912" cy="438912"/>
          </a:xfrm>
          <a:prstGeom prst="rect">
            <a:avLst/>
          </a:prstGeom>
          <a:noFill/>
          <a:ln/>
        </p:spPr>
        <p:txBody>
          <a:bodyPr wrap="square" lIns="0" tIns="0" rIns="0" bIns="0" rtlCol="0" anchor="ctr"/>
          <a:lstStyle/>
          <a:p>
            <a:pPr marL="0" indent="0" algn="ctr">
              <a:buNone/>
            </a:pPr>
            <a:r>
              <a:rPr lang="en-GB" sz="1800" b="1" noProof="0" dirty="0">
                <a:solidFill>
                  <a:srgbClr val="FFFFFF"/>
                </a:solidFill>
                <a:latin typeface="Calibri" pitchFamily="34" charset="0"/>
                <a:ea typeface="Calibri" pitchFamily="34" charset="-122"/>
                <a:cs typeface="Calibri" pitchFamily="34" charset="-120"/>
              </a:rPr>
              <a:t>2</a:t>
            </a:r>
            <a:endParaRPr lang="en-GB" sz="1800" noProof="0" dirty="0"/>
          </a:p>
        </p:txBody>
      </p:sp>
      <p:sp>
        <p:nvSpPr>
          <p:cNvPr id="13" name="Text 11"/>
          <p:cNvSpPr txBox="1"/>
          <p:nvPr/>
        </p:nvSpPr>
        <p:spPr>
          <a:xfrm>
            <a:off x="1417320" y="3328416"/>
            <a:ext cx="9997135" cy="969264"/>
          </a:xfrm>
          <a:prstGeom prst="rect">
            <a:avLst/>
          </a:prstGeom>
          <a:noFill/>
          <a:ln/>
        </p:spPr>
        <p:txBody>
          <a:bodyPr wrap="square" lIns="0" tIns="0" rIns="0" bIns="0" rtlCol="0" anchor="ctr"/>
          <a:lstStyle/>
          <a:p>
            <a:pPr marL="0" indent="0">
              <a:lnSpc>
                <a:spcPct val="95000"/>
              </a:lnSpc>
              <a:buNone/>
            </a:pPr>
            <a:r>
              <a:rPr lang="en-GB" sz="1800" noProof="0" dirty="0">
                <a:solidFill>
                  <a:srgbClr val="0B1F3F"/>
                </a:solidFill>
                <a:latin typeface="Calibri" pitchFamily="34" charset="0"/>
                <a:ea typeface="Calibri" pitchFamily="34" charset="-122"/>
                <a:cs typeface="Calibri" pitchFamily="34" charset="-120"/>
              </a:rPr>
              <a:t>How would you talk about the loss of a breast with someone who is frightened of how her family and community will react?</a:t>
            </a:r>
            <a:endParaRPr lang="en-GB" sz="1800" noProof="0" dirty="0"/>
          </a:p>
        </p:txBody>
      </p:sp>
      <p:sp>
        <p:nvSpPr>
          <p:cNvPr id="14" name="Shape 12"/>
          <p:cNvSpPr/>
          <p:nvPr/>
        </p:nvSpPr>
        <p:spPr>
          <a:xfrm>
            <a:off x="548640" y="4608576"/>
            <a:ext cx="11094415" cy="1188720"/>
          </a:xfrm>
          <a:prstGeom prst="roundRect">
            <a:avLst>
              <a:gd name="adj" fmla="val 4615"/>
            </a:avLst>
          </a:prstGeom>
          <a:solidFill>
            <a:srgbClr val="F4F8FC"/>
          </a:solidFill>
          <a:ln w="12700">
            <a:solidFill>
              <a:srgbClr val="C8D8EC"/>
            </a:solidFill>
            <a:prstDash val="solid"/>
          </a:ln>
        </p:spPr>
        <p:txBody>
          <a:bodyPr/>
          <a:lstStyle/>
          <a:p>
            <a:endParaRPr lang="en-GB" noProof="0" dirty="0"/>
          </a:p>
        </p:txBody>
      </p:sp>
      <p:sp>
        <p:nvSpPr>
          <p:cNvPr id="15" name="Shape 13"/>
          <p:cNvSpPr/>
          <p:nvPr/>
        </p:nvSpPr>
        <p:spPr>
          <a:xfrm>
            <a:off x="777240" y="4983480"/>
            <a:ext cx="438912" cy="438912"/>
          </a:xfrm>
          <a:prstGeom prst="ellipse">
            <a:avLst/>
          </a:prstGeom>
          <a:solidFill>
            <a:srgbClr val="12315B"/>
          </a:solidFill>
          <a:ln/>
        </p:spPr>
        <p:txBody>
          <a:bodyPr/>
          <a:lstStyle/>
          <a:p>
            <a:endParaRPr lang="en-GB" noProof="0" dirty="0"/>
          </a:p>
        </p:txBody>
      </p:sp>
      <p:sp>
        <p:nvSpPr>
          <p:cNvPr id="16" name="Text 14"/>
          <p:cNvSpPr txBox="1"/>
          <p:nvPr/>
        </p:nvSpPr>
        <p:spPr>
          <a:xfrm>
            <a:off x="777240" y="4983480"/>
            <a:ext cx="438912" cy="438912"/>
          </a:xfrm>
          <a:prstGeom prst="rect">
            <a:avLst/>
          </a:prstGeom>
          <a:noFill/>
          <a:ln/>
        </p:spPr>
        <p:txBody>
          <a:bodyPr wrap="square" lIns="0" tIns="0" rIns="0" bIns="0" rtlCol="0" anchor="ctr"/>
          <a:lstStyle/>
          <a:p>
            <a:pPr marL="0" indent="0" algn="ctr">
              <a:buNone/>
            </a:pPr>
            <a:r>
              <a:rPr lang="en-GB" sz="1800" b="1" noProof="0" dirty="0">
                <a:solidFill>
                  <a:srgbClr val="FFFFFF"/>
                </a:solidFill>
                <a:latin typeface="Calibri" pitchFamily="34" charset="0"/>
                <a:ea typeface="Calibri" pitchFamily="34" charset="-122"/>
                <a:cs typeface="Calibri" pitchFamily="34" charset="-120"/>
              </a:rPr>
              <a:t>3</a:t>
            </a:r>
            <a:endParaRPr lang="en-GB" sz="1800" noProof="0" dirty="0"/>
          </a:p>
        </p:txBody>
      </p:sp>
      <p:sp>
        <p:nvSpPr>
          <p:cNvPr id="17" name="Text 15"/>
          <p:cNvSpPr txBox="1"/>
          <p:nvPr/>
        </p:nvSpPr>
        <p:spPr>
          <a:xfrm>
            <a:off x="1417320" y="4718304"/>
            <a:ext cx="9997135" cy="969264"/>
          </a:xfrm>
          <a:prstGeom prst="rect">
            <a:avLst/>
          </a:prstGeom>
          <a:noFill/>
          <a:ln/>
        </p:spPr>
        <p:txBody>
          <a:bodyPr wrap="square" lIns="0" tIns="0" rIns="0" bIns="0" rtlCol="0" anchor="ctr"/>
          <a:lstStyle/>
          <a:p>
            <a:pPr marL="0" indent="0">
              <a:lnSpc>
                <a:spcPct val="95000"/>
              </a:lnSpc>
              <a:buNone/>
            </a:pPr>
            <a:r>
              <a:rPr lang="en-GB" sz="1800" noProof="0" dirty="0">
                <a:solidFill>
                  <a:srgbClr val="0B1F3F"/>
                </a:solidFill>
                <a:latin typeface="Calibri" pitchFamily="34" charset="0"/>
                <a:ea typeface="Calibri" pitchFamily="34" charset="-122"/>
                <a:cs typeface="Calibri" pitchFamily="34" charset="-120"/>
              </a:rPr>
              <a:t>What one practical thing could you change in your setting to help people stay on endocrine therapy for the full duration?</a:t>
            </a:r>
            <a:endParaRPr lang="en-GB" sz="1800" noProof="0" dirty="0"/>
          </a:p>
        </p:txBody>
      </p:sp>
    </p:spTree>
  </p:cSld>
  <p:clrMapOvr>
    <a:masterClrMapping/>
  </p:clrMapOvr>
</p:sld>
</file>

<file path=ppt/slides/slide149.xml><?xml version="1.0" encoding="utf-8"?>
<p:sld xmlns:a="http://schemas.openxmlformats.org/drawingml/2006/main" xmlns:r="http://schemas.openxmlformats.org/officeDocument/2006/relationships" xmlns:p="http://schemas.openxmlformats.org/presentationml/2006/main">
  <p:cSld name="Slide 1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en-GB" sz="1100" b="1" kern="0" spc="100" noProof="0" dirty="0">
                <a:solidFill>
                  <a:srgbClr val="5B7699"/>
                </a:solidFill>
                <a:latin typeface="Calibri" pitchFamily="34" charset="0"/>
                <a:ea typeface="Calibri" pitchFamily="34" charset="-122"/>
                <a:cs typeface="Calibri" pitchFamily="34" charset="-120"/>
              </a:rPr>
              <a:t>F I N A L   C H E C K</a:t>
            </a:r>
            <a:endParaRPr lang="en-GB"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en-GB" sz="1000" noProof="0" dirty="0">
                <a:solidFill>
                  <a:srgbClr val="5B7699"/>
                </a:solidFill>
                <a:latin typeface="Calibri" pitchFamily="34" charset="0"/>
                <a:ea typeface="Calibri" pitchFamily="34" charset="-122"/>
                <a:cs typeface="Calibri" pitchFamily="34" charset="-120"/>
              </a:rPr>
              <a:t>Breast Cancer  |  Frontline HCP  |  Rwanda Biomedical Centre</a:t>
            </a:r>
            <a:endParaRPr lang="en-GB" sz="1000" noProof="0" dirty="0"/>
          </a:p>
        </p:txBody>
      </p:sp>
      <p:sp>
        <p:nvSpPr>
          <p:cNvPr id="4" name="Text 2"/>
          <p:cNvSpPr txBox="1"/>
          <p:nvPr/>
        </p:nvSpPr>
        <p:spPr>
          <a:xfrm>
            <a:off x="548640" y="2148840"/>
            <a:ext cx="11094415" cy="777240"/>
          </a:xfrm>
          <a:prstGeom prst="rect">
            <a:avLst/>
          </a:prstGeom>
          <a:noFill/>
          <a:ln/>
        </p:spPr>
        <p:txBody>
          <a:bodyPr wrap="square" lIns="0" tIns="0" rIns="0" bIns="0" rtlCol="0" anchor="ctr"/>
          <a:lstStyle/>
          <a:p>
            <a:pPr marL="0" indent="0">
              <a:buNone/>
            </a:pPr>
            <a:r>
              <a:rPr lang="en-GB" sz="4000" b="1" noProof="0" dirty="0">
                <a:solidFill>
                  <a:srgbClr val="12315B"/>
                </a:solidFill>
                <a:latin typeface="Calibri" pitchFamily="34" charset="0"/>
                <a:ea typeface="Calibri" pitchFamily="34" charset="-122"/>
                <a:cs typeface="Calibri" pitchFamily="34" charset="-120"/>
              </a:rPr>
              <a:t>Post-test</a:t>
            </a:r>
            <a:endParaRPr lang="en-GB" sz="4000" noProof="0" dirty="0"/>
          </a:p>
        </p:txBody>
      </p:sp>
      <p:sp>
        <p:nvSpPr>
          <p:cNvPr id="5" name="Text 3"/>
          <p:cNvSpPr txBox="1"/>
          <p:nvPr/>
        </p:nvSpPr>
        <p:spPr>
          <a:xfrm>
            <a:off x="548640" y="3017520"/>
            <a:ext cx="9509760" cy="1005840"/>
          </a:xfrm>
          <a:prstGeom prst="rect">
            <a:avLst/>
          </a:prstGeom>
          <a:noFill/>
          <a:ln/>
        </p:spPr>
        <p:txBody>
          <a:bodyPr wrap="square" lIns="0" tIns="0" rIns="0" bIns="0" rtlCol="0" anchor="ctr"/>
          <a:lstStyle/>
          <a:p>
            <a:pPr marL="0" indent="0">
              <a:lnSpc>
                <a:spcPct val="100000"/>
              </a:lnSpc>
              <a:buNone/>
            </a:pPr>
            <a:r>
              <a:rPr lang="en-GB" sz="1900" noProof="0" dirty="0">
                <a:solidFill>
                  <a:srgbClr val="1F3A63"/>
                </a:solidFill>
                <a:latin typeface="Calibri" pitchFamily="34" charset="0"/>
                <a:ea typeface="Calibri" pitchFamily="34" charset="-122"/>
                <a:cs typeface="Calibri" pitchFamily="34" charset="-120"/>
              </a:rPr>
              <a:t>Twenty questions covering the whole module. Correct answers and feedback are shown so that you can see the reasoning, not only the score.</a:t>
            </a:r>
            <a:endParaRPr lang="en-GB" sz="1900" noProof="0" dirty="0"/>
          </a:p>
        </p:txBody>
      </p:sp>
    </p:spTree>
  </p:cSld>
  <p:clrMapOvr>
    <a:masterClrMapping/>
  </p:clrMapOvr>
</p:sld>
</file>

<file path=ppt/slides/slide150.xml><?xml version="1.0" encoding="utf-8"?>
<p:sld xmlns:a="http://schemas.openxmlformats.org/drawingml/2006/main" xmlns:r="http://schemas.openxmlformats.org/officeDocument/2006/relationships" xmlns:p="http://schemas.openxmlformats.org/presentationml/2006/main">
  <p:cSld name="Slide 1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en-GB" sz="1100" b="1" kern="0" spc="100" noProof="0" dirty="0">
                <a:solidFill>
                  <a:srgbClr val="5B7699"/>
                </a:solidFill>
                <a:latin typeface="Calibri" pitchFamily="34" charset="0"/>
                <a:ea typeface="Calibri" pitchFamily="34" charset="-122"/>
                <a:cs typeface="Calibri" pitchFamily="34" charset="-120"/>
              </a:rPr>
              <a:t>F I N A L   C H E C K</a:t>
            </a:r>
            <a:endParaRPr lang="en-GB"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en-GB" sz="1000" noProof="0" dirty="0">
                <a:solidFill>
                  <a:srgbClr val="5B7699"/>
                </a:solidFill>
                <a:latin typeface="Calibri" pitchFamily="34" charset="0"/>
                <a:ea typeface="Calibri" pitchFamily="34" charset="-122"/>
                <a:cs typeface="Calibri" pitchFamily="34" charset="-120"/>
              </a:rPr>
              <a:t>Breast Cancer  |  Frontline HCP  |  Rwanda Biomedical Centre</a:t>
            </a:r>
            <a:endParaRPr lang="en-GB"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en-GB" sz="3000" b="1" noProof="0" dirty="0">
                <a:solidFill>
                  <a:srgbClr val="12315B"/>
                </a:solidFill>
                <a:latin typeface="Calibri" pitchFamily="34" charset="0"/>
                <a:ea typeface="Calibri" pitchFamily="34" charset="-122"/>
                <a:cs typeface="Calibri" pitchFamily="34" charset="-120"/>
              </a:rPr>
              <a:t>Post-test (1 of 10)</a:t>
            </a:r>
            <a:endParaRPr lang="en-GB" sz="3000" noProof="0" dirty="0"/>
          </a:p>
        </p:txBody>
      </p:sp>
      <p:sp>
        <p:nvSpPr>
          <p:cNvPr id="5" name="Shape 3"/>
          <p:cNvSpPr/>
          <p:nvPr/>
        </p:nvSpPr>
        <p:spPr>
          <a:xfrm>
            <a:off x="548640" y="1832915"/>
            <a:ext cx="11094415" cy="1652321"/>
          </a:xfrm>
          <a:prstGeom prst="roundRect">
            <a:avLst>
              <a:gd name="adj" fmla="val 3320"/>
            </a:avLst>
          </a:prstGeom>
          <a:solidFill>
            <a:srgbClr val="F4F8FC"/>
          </a:solidFill>
          <a:ln w="12700">
            <a:solidFill>
              <a:srgbClr val="C8D8EC"/>
            </a:solidFill>
            <a:prstDash val="solid"/>
          </a:ln>
        </p:spPr>
        <p:txBody>
          <a:bodyPr/>
          <a:lstStyle/>
          <a:p>
            <a:endParaRPr lang="en-GB" noProof="0" dirty="0"/>
          </a:p>
        </p:txBody>
      </p:sp>
      <p:sp>
        <p:nvSpPr>
          <p:cNvPr id="6" name="Text 4"/>
          <p:cNvSpPr txBox="1"/>
          <p:nvPr/>
        </p:nvSpPr>
        <p:spPr>
          <a:xfrm>
            <a:off x="731520" y="1942643"/>
            <a:ext cx="10728655" cy="384048"/>
          </a:xfrm>
          <a:prstGeom prst="rect">
            <a:avLst/>
          </a:prstGeom>
          <a:noFill/>
          <a:ln/>
        </p:spPr>
        <p:txBody>
          <a:bodyPr wrap="square" lIns="0" tIns="0" rIns="0" bIns="0" rtlCol="0" anchor="t"/>
          <a:lstStyle/>
          <a:p>
            <a:pPr marL="0" indent="0">
              <a:buNone/>
            </a:pPr>
            <a:r>
              <a:rPr lang="en-GB" sz="1800" b="1" noProof="0" dirty="0">
                <a:solidFill>
                  <a:srgbClr val="12315B"/>
                </a:solidFill>
                <a:latin typeface="Calibri" pitchFamily="34" charset="0"/>
                <a:ea typeface="Calibri" pitchFamily="34" charset="-122"/>
                <a:cs typeface="Calibri" pitchFamily="34" charset="-120"/>
              </a:rPr>
              <a:t>Q1. Most breast cancers arise from:</a:t>
            </a:r>
            <a:endParaRPr lang="en-GB" sz="1800" noProof="0" dirty="0"/>
          </a:p>
        </p:txBody>
      </p:sp>
      <p:sp>
        <p:nvSpPr>
          <p:cNvPr id="7" name="Text 5"/>
          <p:cNvSpPr txBox="1"/>
          <p:nvPr/>
        </p:nvSpPr>
        <p:spPr>
          <a:xfrm>
            <a:off x="731520" y="2363267"/>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A. </a:t>
            </a:r>
            <a:r>
              <a:rPr lang="en-GB" sz="1800" noProof="0" dirty="0">
                <a:solidFill>
                  <a:srgbClr val="1F3A63"/>
                </a:solidFill>
                <a:latin typeface="Calibri" pitchFamily="34" charset="0"/>
                <a:ea typeface="Calibri" pitchFamily="34" charset="-122"/>
                <a:cs typeface="Calibri" pitchFamily="34" charset="-120"/>
              </a:rPr>
              <a:t>Chest wall muscle</a:t>
            </a:r>
            <a:endParaRPr lang="en-GB" sz="1800" noProof="0" dirty="0"/>
          </a:p>
        </p:txBody>
      </p:sp>
      <p:sp>
        <p:nvSpPr>
          <p:cNvPr id="8" name="Text 6"/>
          <p:cNvSpPr txBox="1"/>
          <p:nvPr/>
        </p:nvSpPr>
        <p:spPr>
          <a:xfrm>
            <a:off x="6210148" y="2363267"/>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1B6E4A"/>
                </a:solidFill>
                <a:latin typeface="Calibri" pitchFamily="34" charset="0"/>
                <a:ea typeface="Calibri" pitchFamily="34" charset="-122"/>
                <a:cs typeface="Calibri" pitchFamily="34" charset="-120"/>
              </a:rPr>
              <a:t>B. Epithelium of the ducts and lobules</a:t>
            </a:r>
            <a:endParaRPr lang="en-GB" sz="1800" noProof="0" dirty="0"/>
          </a:p>
        </p:txBody>
      </p:sp>
      <p:sp>
        <p:nvSpPr>
          <p:cNvPr id="9" name="Text 7"/>
          <p:cNvSpPr txBox="1"/>
          <p:nvPr/>
        </p:nvSpPr>
        <p:spPr>
          <a:xfrm>
            <a:off x="731520" y="2738171"/>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C. </a:t>
            </a:r>
            <a:r>
              <a:rPr lang="en-GB" sz="1800" noProof="0" dirty="0">
                <a:solidFill>
                  <a:srgbClr val="1F3A63"/>
                </a:solidFill>
                <a:latin typeface="Calibri" pitchFamily="34" charset="0"/>
                <a:ea typeface="Calibri" pitchFamily="34" charset="-122"/>
                <a:cs typeface="Calibri" pitchFamily="34" charset="-120"/>
              </a:rPr>
              <a:t>Axillary lymph node tissue</a:t>
            </a:r>
            <a:endParaRPr lang="en-GB" sz="1800" noProof="0" dirty="0"/>
          </a:p>
        </p:txBody>
      </p:sp>
      <p:sp>
        <p:nvSpPr>
          <p:cNvPr id="10" name="Text 8"/>
          <p:cNvSpPr txBox="1"/>
          <p:nvPr/>
        </p:nvSpPr>
        <p:spPr>
          <a:xfrm>
            <a:off x="6210148" y="2738171"/>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D. </a:t>
            </a:r>
            <a:r>
              <a:rPr lang="en-GB" sz="1800" noProof="0" dirty="0">
                <a:solidFill>
                  <a:srgbClr val="1F3A63"/>
                </a:solidFill>
                <a:latin typeface="Calibri" pitchFamily="34" charset="0"/>
                <a:ea typeface="Calibri" pitchFamily="34" charset="-122"/>
                <a:cs typeface="Calibri" pitchFamily="34" charset="-120"/>
              </a:rPr>
              <a:t>Breast skin</a:t>
            </a:r>
            <a:endParaRPr lang="en-GB" sz="1800" noProof="0" dirty="0"/>
          </a:p>
        </p:txBody>
      </p:sp>
      <p:sp>
        <p:nvSpPr>
          <p:cNvPr id="11" name="Text 9"/>
          <p:cNvSpPr txBox="1"/>
          <p:nvPr/>
        </p:nvSpPr>
        <p:spPr>
          <a:xfrm>
            <a:off x="731520" y="3167939"/>
            <a:ext cx="10728655" cy="244145"/>
          </a:xfrm>
          <a:prstGeom prst="rect">
            <a:avLst/>
          </a:prstGeom>
          <a:noFill/>
          <a:ln/>
        </p:spPr>
        <p:txBody>
          <a:bodyPr wrap="square" lIns="0" tIns="0" rIns="0" bIns="0" rtlCol="0" anchor="t"/>
          <a:lstStyle/>
          <a:p>
            <a:pPr marL="0" indent="0">
              <a:lnSpc>
                <a:spcPct val="92000"/>
              </a:lnSpc>
              <a:buNone/>
            </a:pPr>
            <a:r>
              <a:rPr lang="en-GB" sz="1350" b="1" noProof="0" dirty="0">
                <a:solidFill>
                  <a:srgbClr val="1B6E4A"/>
                </a:solidFill>
                <a:latin typeface="Calibri" pitchFamily="34" charset="0"/>
                <a:ea typeface="Calibri" pitchFamily="34" charset="-122"/>
                <a:cs typeface="Calibri" pitchFamily="34" charset="-120"/>
              </a:rPr>
              <a:t>Correct: B. </a:t>
            </a:r>
            <a:r>
              <a:rPr lang="en-GB" sz="1350" noProof="0" dirty="0">
                <a:solidFill>
                  <a:srgbClr val="0B1F3F"/>
                </a:solidFill>
                <a:latin typeface="Calibri" pitchFamily="34" charset="0"/>
                <a:ea typeface="Calibri" pitchFamily="34" charset="-122"/>
                <a:cs typeface="Calibri" pitchFamily="34" charset="-120"/>
              </a:rPr>
              <a:t>Breast cancers are carcinomas arising from the epithelial cells lining the ducts and lobules.</a:t>
            </a:r>
            <a:endParaRPr lang="en-GB" sz="1350" noProof="0" dirty="0"/>
          </a:p>
        </p:txBody>
      </p:sp>
      <p:sp>
        <p:nvSpPr>
          <p:cNvPr id="12" name="Shape 10"/>
          <p:cNvSpPr/>
          <p:nvPr/>
        </p:nvSpPr>
        <p:spPr>
          <a:xfrm>
            <a:off x="548640" y="3686404"/>
            <a:ext cx="11094415" cy="2088490"/>
          </a:xfrm>
          <a:prstGeom prst="roundRect">
            <a:avLst>
              <a:gd name="adj" fmla="val 2627"/>
            </a:avLst>
          </a:prstGeom>
          <a:solidFill>
            <a:srgbClr val="F4F8FC"/>
          </a:solidFill>
          <a:ln w="12700">
            <a:solidFill>
              <a:srgbClr val="C8D8EC"/>
            </a:solidFill>
            <a:prstDash val="solid"/>
          </a:ln>
        </p:spPr>
        <p:txBody>
          <a:bodyPr/>
          <a:lstStyle/>
          <a:p>
            <a:endParaRPr lang="en-GB" noProof="0" dirty="0"/>
          </a:p>
        </p:txBody>
      </p:sp>
      <p:sp>
        <p:nvSpPr>
          <p:cNvPr id="13" name="Text 11"/>
          <p:cNvSpPr txBox="1"/>
          <p:nvPr/>
        </p:nvSpPr>
        <p:spPr>
          <a:xfrm>
            <a:off x="731520" y="3796132"/>
            <a:ext cx="10728655" cy="384048"/>
          </a:xfrm>
          <a:prstGeom prst="rect">
            <a:avLst/>
          </a:prstGeom>
          <a:noFill/>
          <a:ln/>
        </p:spPr>
        <p:txBody>
          <a:bodyPr wrap="square" lIns="0" tIns="0" rIns="0" bIns="0" rtlCol="0" anchor="t"/>
          <a:lstStyle/>
          <a:p>
            <a:pPr marL="0" indent="0">
              <a:buNone/>
            </a:pPr>
            <a:r>
              <a:rPr lang="en-GB" sz="1800" b="1" noProof="0" dirty="0">
                <a:solidFill>
                  <a:srgbClr val="12315B"/>
                </a:solidFill>
                <a:latin typeface="Calibri" pitchFamily="34" charset="0"/>
                <a:ea typeface="Calibri" pitchFamily="34" charset="-122"/>
                <a:cs typeface="Calibri" pitchFamily="34" charset="-120"/>
              </a:rPr>
              <a:t>Q2. Carcinoma in situ of the breast means that:</a:t>
            </a:r>
            <a:endParaRPr lang="en-GB" sz="1800" noProof="0" dirty="0"/>
          </a:p>
        </p:txBody>
      </p:sp>
      <p:sp>
        <p:nvSpPr>
          <p:cNvPr id="14" name="Text 12"/>
          <p:cNvSpPr txBox="1"/>
          <p:nvPr/>
        </p:nvSpPr>
        <p:spPr>
          <a:xfrm>
            <a:off x="731520" y="4216756"/>
            <a:ext cx="5250028" cy="566928"/>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A. </a:t>
            </a:r>
            <a:r>
              <a:rPr lang="en-GB" sz="1800" noProof="0" dirty="0">
                <a:solidFill>
                  <a:srgbClr val="1F3A63"/>
                </a:solidFill>
                <a:latin typeface="Calibri" pitchFamily="34" charset="0"/>
                <a:ea typeface="Calibri" pitchFamily="34" charset="-122"/>
                <a:cs typeface="Calibri" pitchFamily="34" charset="-120"/>
              </a:rPr>
              <a:t>Disease has reached the lymph nodes</a:t>
            </a:r>
            <a:endParaRPr lang="en-GB" sz="1800" noProof="0" dirty="0"/>
          </a:p>
        </p:txBody>
      </p:sp>
      <p:sp>
        <p:nvSpPr>
          <p:cNvPr id="15" name="Text 13"/>
          <p:cNvSpPr txBox="1"/>
          <p:nvPr/>
        </p:nvSpPr>
        <p:spPr>
          <a:xfrm>
            <a:off x="6210148" y="4216756"/>
            <a:ext cx="5250028" cy="566928"/>
          </a:xfrm>
          <a:prstGeom prst="rect">
            <a:avLst/>
          </a:prstGeom>
          <a:noFill/>
          <a:ln/>
        </p:spPr>
        <p:txBody>
          <a:bodyPr wrap="square" lIns="0" tIns="0" rIns="0" bIns="0" rtlCol="0" anchor="t"/>
          <a:lstStyle/>
          <a:p>
            <a:pPr marL="0" indent="0">
              <a:lnSpc>
                <a:spcPct val="90000"/>
              </a:lnSpc>
              <a:buNone/>
            </a:pPr>
            <a:r>
              <a:rPr lang="en-GB" sz="1800" b="1" noProof="0" dirty="0">
                <a:solidFill>
                  <a:srgbClr val="1B6E4A"/>
                </a:solidFill>
                <a:latin typeface="Calibri" pitchFamily="34" charset="0"/>
                <a:ea typeface="Calibri" pitchFamily="34" charset="-122"/>
                <a:cs typeface="Calibri" pitchFamily="34" charset="-120"/>
              </a:rPr>
              <a:t>B. Malignant cells remain within the duct or lobule and have not invaded</a:t>
            </a:r>
            <a:endParaRPr lang="en-GB" sz="1800" noProof="0" dirty="0"/>
          </a:p>
        </p:txBody>
      </p:sp>
      <p:sp>
        <p:nvSpPr>
          <p:cNvPr id="16" name="Text 14"/>
          <p:cNvSpPr txBox="1"/>
          <p:nvPr/>
        </p:nvSpPr>
        <p:spPr>
          <a:xfrm>
            <a:off x="731520" y="4838548"/>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C. </a:t>
            </a:r>
            <a:r>
              <a:rPr lang="en-GB" sz="1800" noProof="0" dirty="0">
                <a:solidFill>
                  <a:srgbClr val="1F3A63"/>
                </a:solidFill>
                <a:latin typeface="Calibri" pitchFamily="34" charset="0"/>
                <a:ea typeface="Calibri" pitchFamily="34" charset="-122"/>
                <a:cs typeface="Calibri" pitchFamily="34" charset="-120"/>
              </a:rPr>
              <a:t>The lesion is benign and needs no treatment</a:t>
            </a:r>
            <a:endParaRPr lang="en-GB" sz="1800" noProof="0" dirty="0"/>
          </a:p>
        </p:txBody>
      </p:sp>
      <p:sp>
        <p:nvSpPr>
          <p:cNvPr id="17" name="Text 15"/>
          <p:cNvSpPr txBox="1"/>
          <p:nvPr/>
        </p:nvSpPr>
        <p:spPr>
          <a:xfrm>
            <a:off x="6210148" y="4838548"/>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D. </a:t>
            </a:r>
            <a:r>
              <a:rPr lang="en-GB" sz="1800" noProof="0" dirty="0">
                <a:solidFill>
                  <a:srgbClr val="1F3A63"/>
                </a:solidFill>
                <a:latin typeface="Calibri" pitchFamily="34" charset="0"/>
                <a:ea typeface="Calibri" pitchFamily="34" charset="-122"/>
                <a:cs typeface="Calibri" pitchFamily="34" charset="-120"/>
              </a:rPr>
              <a:t>Distant spread has occurred</a:t>
            </a:r>
            <a:endParaRPr lang="en-GB" sz="1800" noProof="0" dirty="0"/>
          </a:p>
        </p:txBody>
      </p:sp>
      <p:sp>
        <p:nvSpPr>
          <p:cNvPr id="18" name="Text 16"/>
          <p:cNvSpPr txBox="1"/>
          <p:nvPr/>
        </p:nvSpPr>
        <p:spPr>
          <a:xfrm>
            <a:off x="731520" y="5268316"/>
            <a:ext cx="10728655" cy="433426"/>
          </a:xfrm>
          <a:prstGeom prst="rect">
            <a:avLst/>
          </a:prstGeom>
          <a:noFill/>
          <a:ln/>
        </p:spPr>
        <p:txBody>
          <a:bodyPr wrap="square" lIns="0" tIns="0" rIns="0" bIns="0" rtlCol="0" anchor="t"/>
          <a:lstStyle/>
          <a:p>
            <a:pPr marL="0" indent="0">
              <a:lnSpc>
                <a:spcPct val="92000"/>
              </a:lnSpc>
              <a:buNone/>
            </a:pPr>
            <a:r>
              <a:rPr lang="en-GB" sz="1350" b="1" noProof="0" dirty="0">
                <a:solidFill>
                  <a:srgbClr val="1B6E4A"/>
                </a:solidFill>
                <a:latin typeface="Calibri" pitchFamily="34" charset="0"/>
                <a:ea typeface="Calibri" pitchFamily="34" charset="-122"/>
                <a:cs typeface="Calibri" pitchFamily="34" charset="-120"/>
              </a:rPr>
              <a:t>Correct: B. </a:t>
            </a:r>
            <a:r>
              <a:rPr lang="en-GB" sz="1350" noProof="0" dirty="0">
                <a:solidFill>
                  <a:srgbClr val="0B1F3F"/>
                </a:solidFill>
                <a:latin typeface="Calibri" pitchFamily="34" charset="0"/>
                <a:ea typeface="Calibri" pitchFamily="34" charset="-122"/>
                <a:cs typeface="Calibri" pitchFamily="34" charset="-120"/>
              </a:rPr>
              <a:t>In situ disease is contained. It is still treated, because a proportion would progress to invasive cancer, and it does not spread to nodes or distant sites.</a:t>
            </a:r>
            <a:endParaRPr lang="en-GB" sz="1350" noProof="0" dirty="0"/>
          </a:p>
        </p:txBody>
      </p:sp>
    </p:spTree>
  </p:cSld>
  <p:clrMapOvr>
    <a:masterClrMapping/>
  </p:clrMapOvr>
</p:sld>
</file>

<file path=ppt/slides/slide151.xml><?xml version="1.0" encoding="utf-8"?>
<p:sld xmlns:a="http://schemas.openxmlformats.org/drawingml/2006/main" xmlns:r="http://schemas.openxmlformats.org/officeDocument/2006/relationships" xmlns:p="http://schemas.openxmlformats.org/presentationml/2006/main">
  <p:cSld name="Slide 1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en-GB" sz="1100" b="1" kern="0" spc="100" noProof="0" dirty="0">
                <a:solidFill>
                  <a:srgbClr val="5B7699"/>
                </a:solidFill>
                <a:latin typeface="Calibri" pitchFamily="34" charset="0"/>
                <a:ea typeface="Calibri" pitchFamily="34" charset="-122"/>
                <a:cs typeface="Calibri" pitchFamily="34" charset="-120"/>
              </a:rPr>
              <a:t>F I N A L   C H E C K</a:t>
            </a:r>
            <a:endParaRPr lang="en-GB"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en-GB" sz="1000" noProof="0" dirty="0">
                <a:solidFill>
                  <a:srgbClr val="5B7699"/>
                </a:solidFill>
                <a:latin typeface="Calibri" pitchFamily="34" charset="0"/>
                <a:ea typeface="Calibri" pitchFamily="34" charset="-122"/>
                <a:cs typeface="Calibri" pitchFamily="34" charset="-120"/>
              </a:rPr>
              <a:t>Breast Cancer  |  Frontline HCP  |  Rwanda Biomedical Centre</a:t>
            </a:r>
            <a:endParaRPr lang="en-GB"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en-GB" sz="3000" b="1" noProof="0" dirty="0">
                <a:solidFill>
                  <a:srgbClr val="12315B"/>
                </a:solidFill>
                <a:latin typeface="Calibri" pitchFamily="34" charset="0"/>
                <a:ea typeface="Calibri" pitchFamily="34" charset="-122"/>
                <a:cs typeface="Calibri" pitchFamily="34" charset="-120"/>
              </a:rPr>
              <a:t>Post-test (2 of 10)</a:t>
            </a:r>
            <a:endParaRPr lang="en-GB" sz="3000" noProof="0" dirty="0"/>
          </a:p>
        </p:txBody>
      </p:sp>
      <p:sp>
        <p:nvSpPr>
          <p:cNvPr id="5" name="Shape 3"/>
          <p:cNvSpPr/>
          <p:nvPr/>
        </p:nvSpPr>
        <p:spPr>
          <a:xfrm>
            <a:off x="548640" y="1614830"/>
            <a:ext cx="11094415" cy="2088490"/>
          </a:xfrm>
          <a:prstGeom prst="roundRect">
            <a:avLst>
              <a:gd name="adj" fmla="val 2627"/>
            </a:avLst>
          </a:prstGeom>
          <a:solidFill>
            <a:srgbClr val="F4F8FC"/>
          </a:solidFill>
          <a:ln w="12700">
            <a:solidFill>
              <a:srgbClr val="C8D8EC"/>
            </a:solidFill>
            <a:prstDash val="solid"/>
          </a:ln>
        </p:spPr>
        <p:txBody>
          <a:bodyPr/>
          <a:lstStyle/>
          <a:p>
            <a:endParaRPr lang="en-GB" noProof="0" dirty="0"/>
          </a:p>
        </p:txBody>
      </p:sp>
      <p:sp>
        <p:nvSpPr>
          <p:cNvPr id="6" name="Text 4"/>
          <p:cNvSpPr txBox="1"/>
          <p:nvPr/>
        </p:nvSpPr>
        <p:spPr>
          <a:xfrm>
            <a:off x="731520" y="1724558"/>
            <a:ext cx="10728655" cy="384048"/>
          </a:xfrm>
          <a:prstGeom prst="rect">
            <a:avLst/>
          </a:prstGeom>
          <a:noFill/>
          <a:ln/>
        </p:spPr>
        <p:txBody>
          <a:bodyPr wrap="square" lIns="0" tIns="0" rIns="0" bIns="0" rtlCol="0" anchor="t"/>
          <a:lstStyle/>
          <a:p>
            <a:pPr marL="0" indent="0">
              <a:buNone/>
            </a:pPr>
            <a:r>
              <a:rPr lang="en-GB" sz="1800" b="1" noProof="0" dirty="0">
                <a:solidFill>
                  <a:srgbClr val="12315B"/>
                </a:solidFill>
                <a:latin typeface="Calibri" pitchFamily="34" charset="0"/>
                <a:ea typeface="Calibri" pitchFamily="34" charset="-122"/>
                <a:cs typeface="Calibri" pitchFamily="34" charset="-120"/>
              </a:rPr>
              <a:t>Q3. A woman with a painless breast lump present for four months needs:</a:t>
            </a:r>
            <a:endParaRPr lang="en-GB" sz="1800" noProof="0" dirty="0"/>
          </a:p>
        </p:txBody>
      </p:sp>
      <p:sp>
        <p:nvSpPr>
          <p:cNvPr id="7" name="Text 5"/>
          <p:cNvSpPr txBox="1"/>
          <p:nvPr/>
        </p:nvSpPr>
        <p:spPr>
          <a:xfrm>
            <a:off x="731520" y="2145182"/>
            <a:ext cx="5250028" cy="566928"/>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A. </a:t>
            </a:r>
            <a:r>
              <a:rPr lang="en-GB" sz="1800" noProof="0" dirty="0">
                <a:solidFill>
                  <a:srgbClr val="1F3A63"/>
                </a:solidFill>
                <a:latin typeface="Calibri" pitchFamily="34" charset="0"/>
                <a:ea typeface="Calibri" pitchFamily="34" charset="-122"/>
                <a:cs typeface="Calibri" pitchFamily="34" charset="-120"/>
              </a:rPr>
              <a:t>A screening appointment at the next outreach visit</a:t>
            </a:r>
            <a:endParaRPr lang="en-GB" sz="1800" noProof="0" dirty="0"/>
          </a:p>
        </p:txBody>
      </p:sp>
      <p:sp>
        <p:nvSpPr>
          <p:cNvPr id="8" name="Text 6"/>
          <p:cNvSpPr txBox="1"/>
          <p:nvPr/>
        </p:nvSpPr>
        <p:spPr>
          <a:xfrm>
            <a:off x="6210148" y="2145182"/>
            <a:ext cx="5250028" cy="566928"/>
          </a:xfrm>
          <a:prstGeom prst="rect">
            <a:avLst/>
          </a:prstGeom>
          <a:noFill/>
          <a:ln/>
        </p:spPr>
        <p:txBody>
          <a:bodyPr wrap="square" lIns="0" tIns="0" rIns="0" bIns="0" rtlCol="0" anchor="t"/>
          <a:lstStyle/>
          <a:p>
            <a:pPr marL="0" indent="0">
              <a:lnSpc>
                <a:spcPct val="90000"/>
              </a:lnSpc>
              <a:buNone/>
            </a:pPr>
            <a:r>
              <a:rPr lang="en-GB" sz="1800" b="1" noProof="0" dirty="0">
                <a:solidFill>
                  <a:srgbClr val="1B6E4A"/>
                </a:solidFill>
                <a:latin typeface="Calibri" pitchFamily="34" charset="0"/>
                <a:ea typeface="Calibri" pitchFamily="34" charset="-122"/>
                <a:cs typeface="Calibri" pitchFamily="34" charset="-120"/>
              </a:rPr>
              <a:t>B. Diagnostic assessment of the breast now</a:t>
            </a:r>
            <a:endParaRPr lang="en-GB" sz="1800" noProof="0" dirty="0"/>
          </a:p>
        </p:txBody>
      </p:sp>
      <p:sp>
        <p:nvSpPr>
          <p:cNvPr id="9" name="Text 7"/>
          <p:cNvSpPr txBox="1"/>
          <p:nvPr/>
        </p:nvSpPr>
        <p:spPr>
          <a:xfrm>
            <a:off x="731520" y="2766974"/>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C. </a:t>
            </a:r>
            <a:r>
              <a:rPr lang="en-GB" sz="1800" noProof="0" dirty="0">
                <a:solidFill>
                  <a:srgbClr val="1F3A63"/>
                </a:solidFill>
                <a:latin typeface="Calibri" pitchFamily="34" charset="0"/>
                <a:ea typeface="Calibri" pitchFamily="34" charset="-122"/>
                <a:cs typeface="Calibri" pitchFamily="34" charset="-120"/>
              </a:rPr>
              <a:t>Reassurance only</a:t>
            </a:r>
            <a:endParaRPr lang="en-GB" sz="1800" noProof="0" dirty="0"/>
          </a:p>
        </p:txBody>
      </p:sp>
      <p:sp>
        <p:nvSpPr>
          <p:cNvPr id="10" name="Text 8"/>
          <p:cNvSpPr txBox="1"/>
          <p:nvPr/>
        </p:nvSpPr>
        <p:spPr>
          <a:xfrm>
            <a:off x="6210148" y="2766974"/>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D. </a:t>
            </a:r>
            <a:r>
              <a:rPr lang="en-GB" sz="1800" noProof="0" dirty="0">
                <a:solidFill>
                  <a:srgbClr val="1F3A63"/>
                </a:solidFill>
                <a:latin typeface="Calibri" pitchFamily="34" charset="0"/>
                <a:ea typeface="Calibri" pitchFamily="34" charset="-122"/>
                <a:cs typeface="Calibri" pitchFamily="34" charset="-120"/>
              </a:rPr>
              <a:t>Review in six months</a:t>
            </a:r>
            <a:endParaRPr lang="en-GB" sz="1800" noProof="0" dirty="0"/>
          </a:p>
        </p:txBody>
      </p:sp>
      <p:sp>
        <p:nvSpPr>
          <p:cNvPr id="11" name="Text 9"/>
          <p:cNvSpPr txBox="1"/>
          <p:nvPr/>
        </p:nvSpPr>
        <p:spPr>
          <a:xfrm>
            <a:off x="731520" y="3196742"/>
            <a:ext cx="10728655" cy="433426"/>
          </a:xfrm>
          <a:prstGeom prst="rect">
            <a:avLst/>
          </a:prstGeom>
          <a:noFill/>
          <a:ln/>
        </p:spPr>
        <p:txBody>
          <a:bodyPr wrap="square" lIns="0" tIns="0" rIns="0" bIns="0" rtlCol="0" anchor="t"/>
          <a:lstStyle/>
          <a:p>
            <a:pPr marL="0" indent="0">
              <a:lnSpc>
                <a:spcPct val="92000"/>
              </a:lnSpc>
              <a:buNone/>
            </a:pPr>
            <a:r>
              <a:rPr lang="en-GB" sz="1350" b="1" noProof="0" dirty="0">
                <a:solidFill>
                  <a:srgbClr val="1B6E4A"/>
                </a:solidFill>
                <a:latin typeface="Calibri" pitchFamily="34" charset="0"/>
                <a:ea typeface="Calibri" pitchFamily="34" charset="-122"/>
                <a:cs typeface="Calibri" pitchFamily="34" charset="-120"/>
              </a:rPr>
              <a:t>Correct: B. </a:t>
            </a:r>
            <a:r>
              <a:rPr lang="en-GB" sz="1350" noProof="0" dirty="0">
                <a:solidFill>
                  <a:srgbClr val="0B1F3F"/>
                </a:solidFill>
                <a:latin typeface="Calibri" pitchFamily="34" charset="0"/>
                <a:ea typeface="Calibri" pitchFamily="34" charset="-122"/>
                <a:cs typeface="Calibri" pitchFamily="34" charset="-120"/>
              </a:rPr>
              <a:t>A persistent breast lump is a symptom, so it requires diagnostic assessment. Absence of pain does not make it less concerning.</a:t>
            </a:r>
            <a:endParaRPr lang="en-GB" sz="1350" noProof="0" dirty="0"/>
          </a:p>
        </p:txBody>
      </p:sp>
      <p:sp>
        <p:nvSpPr>
          <p:cNvPr id="12" name="Shape 10"/>
          <p:cNvSpPr/>
          <p:nvPr/>
        </p:nvSpPr>
        <p:spPr>
          <a:xfrm>
            <a:off x="548640" y="3904488"/>
            <a:ext cx="11094415" cy="2088490"/>
          </a:xfrm>
          <a:prstGeom prst="roundRect">
            <a:avLst>
              <a:gd name="adj" fmla="val 2627"/>
            </a:avLst>
          </a:prstGeom>
          <a:solidFill>
            <a:srgbClr val="F4F8FC"/>
          </a:solidFill>
          <a:ln w="12700">
            <a:solidFill>
              <a:srgbClr val="C8D8EC"/>
            </a:solidFill>
            <a:prstDash val="solid"/>
          </a:ln>
        </p:spPr>
        <p:txBody>
          <a:bodyPr/>
          <a:lstStyle/>
          <a:p>
            <a:endParaRPr lang="en-GB" noProof="0" dirty="0"/>
          </a:p>
        </p:txBody>
      </p:sp>
      <p:sp>
        <p:nvSpPr>
          <p:cNvPr id="13" name="Text 11"/>
          <p:cNvSpPr txBox="1"/>
          <p:nvPr/>
        </p:nvSpPr>
        <p:spPr>
          <a:xfrm>
            <a:off x="731520" y="4014216"/>
            <a:ext cx="10728655" cy="384048"/>
          </a:xfrm>
          <a:prstGeom prst="rect">
            <a:avLst/>
          </a:prstGeom>
          <a:noFill/>
          <a:ln/>
        </p:spPr>
        <p:txBody>
          <a:bodyPr wrap="square" lIns="0" tIns="0" rIns="0" bIns="0" rtlCol="0" anchor="t"/>
          <a:lstStyle/>
          <a:p>
            <a:pPr marL="0" indent="0">
              <a:buNone/>
            </a:pPr>
            <a:r>
              <a:rPr lang="en-GB" sz="1800" b="1" noProof="0" dirty="0">
                <a:solidFill>
                  <a:srgbClr val="12315B"/>
                </a:solidFill>
                <a:latin typeface="Calibri" pitchFamily="34" charset="0"/>
                <a:ea typeface="Calibri" pitchFamily="34" charset="-122"/>
                <a:cs typeface="Calibri" pitchFamily="34" charset="-120"/>
              </a:rPr>
              <a:t>Q4. Finding a benign cause for a breast change means:</a:t>
            </a:r>
            <a:endParaRPr lang="en-GB" sz="1800" noProof="0" dirty="0"/>
          </a:p>
        </p:txBody>
      </p:sp>
      <p:sp>
        <p:nvSpPr>
          <p:cNvPr id="14" name="Text 12"/>
          <p:cNvSpPr txBox="1"/>
          <p:nvPr/>
        </p:nvSpPr>
        <p:spPr>
          <a:xfrm>
            <a:off x="731520" y="4434840"/>
            <a:ext cx="5250028" cy="566928"/>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A. </a:t>
            </a:r>
            <a:r>
              <a:rPr lang="en-GB" sz="1800" noProof="0" dirty="0">
                <a:solidFill>
                  <a:srgbClr val="1F3A63"/>
                </a:solidFill>
                <a:latin typeface="Calibri" pitchFamily="34" charset="0"/>
                <a:ea typeface="Calibri" pitchFamily="34" charset="-122"/>
                <a:cs typeface="Calibri" pitchFamily="34" charset="-120"/>
              </a:rPr>
              <a:t>The change is fully explained in every case</a:t>
            </a:r>
            <a:endParaRPr lang="en-GB" sz="1800" noProof="0" dirty="0"/>
          </a:p>
        </p:txBody>
      </p:sp>
      <p:sp>
        <p:nvSpPr>
          <p:cNvPr id="15" name="Text 13"/>
          <p:cNvSpPr txBox="1"/>
          <p:nvPr/>
        </p:nvSpPr>
        <p:spPr>
          <a:xfrm>
            <a:off x="6210148" y="4434840"/>
            <a:ext cx="5250028" cy="566928"/>
          </a:xfrm>
          <a:prstGeom prst="rect">
            <a:avLst/>
          </a:prstGeom>
          <a:noFill/>
          <a:ln/>
        </p:spPr>
        <p:txBody>
          <a:bodyPr wrap="square" lIns="0" tIns="0" rIns="0" bIns="0" rtlCol="0" anchor="t"/>
          <a:lstStyle/>
          <a:p>
            <a:pPr marL="0" indent="0">
              <a:lnSpc>
                <a:spcPct val="90000"/>
              </a:lnSpc>
              <a:buNone/>
            </a:pPr>
            <a:r>
              <a:rPr lang="en-GB" sz="1800" b="1" noProof="0" dirty="0">
                <a:solidFill>
                  <a:srgbClr val="1B6E4A"/>
                </a:solidFill>
                <a:latin typeface="Calibri" pitchFamily="34" charset="0"/>
                <a:ea typeface="Calibri" pitchFamily="34" charset="-122"/>
                <a:cs typeface="Calibri" pitchFamily="34" charset="-120"/>
              </a:rPr>
              <a:t>B. Assessment may still be needed if the finding does not behave as expected</a:t>
            </a:r>
            <a:endParaRPr lang="en-GB" sz="1800" noProof="0" dirty="0"/>
          </a:p>
        </p:txBody>
      </p:sp>
      <p:sp>
        <p:nvSpPr>
          <p:cNvPr id="16" name="Text 14"/>
          <p:cNvSpPr txBox="1"/>
          <p:nvPr/>
        </p:nvSpPr>
        <p:spPr>
          <a:xfrm>
            <a:off x="731520" y="5056632"/>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C. </a:t>
            </a:r>
            <a:r>
              <a:rPr lang="en-GB" sz="1800" noProof="0" dirty="0">
                <a:solidFill>
                  <a:srgbClr val="1F3A63"/>
                </a:solidFill>
                <a:latin typeface="Calibri" pitchFamily="34" charset="0"/>
                <a:ea typeface="Calibri" pitchFamily="34" charset="-122"/>
                <a:cs typeface="Calibri" pitchFamily="34" charset="-120"/>
              </a:rPr>
              <a:t>No follow-up is ever required</a:t>
            </a:r>
            <a:endParaRPr lang="en-GB" sz="1800" noProof="0" dirty="0"/>
          </a:p>
        </p:txBody>
      </p:sp>
      <p:sp>
        <p:nvSpPr>
          <p:cNvPr id="17" name="Text 15"/>
          <p:cNvSpPr txBox="1"/>
          <p:nvPr/>
        </p:nvSpPr>
        <p:spPr>
          <a:xfrm>
            <a:off x="6210148" y="5056632"/>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D. </a:t>
            </a:r>
            <a:r>
              <a:rPr lang="en-GB" sz="1800" noProof="0" dirty="0">
                <a:solidFill>
                  <a:srgbClr val="1F3A63"/>
                </a:solidFill>
                <a:latin typeface="Calibri" pitchFamily="34" charset="0"/>
                <a:ea typeface="Calibri" pitchFamily="34" charset="-122"/>
                <a:cs typeface="Calibri" pitchFamily="34" charset="-120"/>
              </a:rPr>
              <a:t>Cancer is excluded for life</a:t>
            </a:r>
            <a:endParaRPr lang="en-GB" sz="1800" noProof="0" dirty="0"/>
          </a:p>
        </p:txBody>
      </p:sp>
      <p:sp>
        <p:nvSpPr>
          <p:cNvPr id="18" name="Text 16"/>
          <p:cNvSpPr txBox="1"/>
          <p:nvPr/>
        </p:nvSpPr>
        <p:spPr>
          <a:xfrm>
            <a:off x="731520" y="5486400"/>
            <a:ext cx="10728655" cy="433426"/>
          </a:xfrm>
          <a:prstGeom prst="rect">
            <a:avLst/>
          </a:prstGeom>
          <a:noFill/>
          <a:ln/>
        </p:spPr>
        <p:txBody>
          <a:bodyPr wrap="square" lIns="0" tIns="0" rIns="0" bIns="0" rtlCol="0" anchor="t"/>
          <a:lstStyle/>
          <a:p>
            <a:pPr marL="0" indent="0">
              <a:lnSpc>
                <a:spcPct val="92000"/>
              </a:lnSpc>
              <a:buNone/>
            </a:pPr>
            <a:r>
              <a:rPr lang="en-GB" sz="1350" b="1" noProof="0" dirty="0">
                <a:solidFill>
                  <a:srgbClr val="1B6E4A"/>
                </a:solidFill>
                <a:latin typeface="Calibri" pitchFamily="34" charset="0"/>
                <a:ea typeface="Calibri" pitchFamily="34" charset="-122"/>
                <a:cs typeface="Calibri" pitchFamily="34" charset="-120"/>
              </a:rPr>
              <a:t>Correct: B. </a:t>
            </a:r>
            <a:r>
              <a:rPr lang="en-GB" sz="1350" noProof="0" dirty="0">
                <a:solidFill>
                  <a:srgbClr val="0B1F3F"/>
                </a:solidFill>
                <a:latin typeface="Calibri" pitchFamily="34" charset="0"/>
                <a:ea typeface="Calibri" pitchFamily="34" charset="-122"/>
                <a:cs typeface="Calibri" pitchFamily="34" charset="-120"/>
              </a:rPr>
              <a:t>Benign conditions are common and can coexist with cancer. A finding that persists, grows or behaves atypically is reassessed rather than relabelled.</a:t>
            </a:r>
            <a:endParaRPr lang="en-GB" sz="1350" noProof="0" dirty="0"/>
          </a:p>
        </p:txBody>
      </p:sp>
    </p:spTree>
  </p:cSld>
  <p:clrMapOvr>
    <a:masterClrMapping/>
  </p:clrMapOvr>
</p:sld>
</file>

<file path=ppt/slides/slide152.xml><?xml version="1.0" encoding="utf-8"?>
<p:sld xmlns:a="http://schemas.openxmlformats.org/drawingml/2006/main" xmlns:r="http://schemas.openxmlformats.org/officeDocument/2006/relationships" xmlns:p="http://schemas.openxmlformats.org/presentationml/2006/main">
  <p:cSld name="Slide 1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en-GB" sz="1100" b="1" kern="0" spc="100" noProof="0" dirty="0">
                <a:solidFill>
                  <a:srgbClr val="5B7699"/>
                </a:solidFill>
                <a:latin typeface="Calibri" pitchFamily="34" charset="0"/>
                <a:ea typeface="Calibri" pitchFamily="34" charset="-122"/>
                <a:cs typeface="Calibri" pitchFamily="34" charset="-120"/>
              </a:rPr>
              <a:t>F I N A L   C H E C K</a:t>
            </a:r>
            <a:endParaRPr lang="en-GB"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en-GB" sz="1000" noProof="0" dirty="0">
                <a:solidFill>
                  <a:srgbClr val="5B7699"/>
                </a:solidFill>
                <a:latin typeface="Calibri" pitchFamily="34" charset="0"/>
                <a:ea typeface="Calibri" pitchFamily="34" charset="-122"/>
                <a:cs typeface="Calibri" pitchFamily="34" charset="-120"/>
              </a:rPr>
              <a:t>Breast Cancer  |  Frontline HCP  |  Rwanda Biomedical Centre</a:t>
            </a:r>
            <a:endParaRPr lang="en-GB"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en-GB" sz="3000" b="1" noProof="0" dirty="0">
                <a:solidFill>
                  <a:srgbClr val="12315B"/>
                </a:solidFill>
                <a:latin typeface="Calibri" pitchFamily="34" charset="0"/>
                <a:ea typeface="Calibri" pitchFamily="34" charset="-122"/>
                <a:cs typeface="Calibri" pitchFamily="34" charset="-120"/>
              </a:rPr>
              <a:t>Post-test (3 of 10)</a:t>
            </a:r>
            <a:endParaRPr lang="en-GB" sz="3000" noProof="0" dirty="0"/>
          </a:p>
        </p:txBody>
      </p:sp>
      <p:sp>
        <p:nvSpPr>
          <p:cNvPr id="5" name="Shape 3"/>
          <p:cNvSpPr/>
          <p:nvPr/>
        </p:nvSpPr>
        <p:spPr>
          <a:xfrm>
            <a:off x="548640" y="1491386"/>
            <a:ext cx="11094415" cy="2335378"/>
          </a:xfrm>
          <a:prstGeom prst="roundRect">
            <a:avLst>
              <a:gd name="adj" fmla="val 2349"/>
            </a:avLst>
          </a:prstGeom>
          <a:solidFill>
            <a:srgbClr val="F4F8FC"/>
          </a:solidFill>
          <a:ln w="12700">
            <a:solidFill>
              <a:srgbClr val="C8D8EC"/>
            </a:solidFill>
            <a:prstDash val="solid"/>
          </a:ln>
        </p:spPr>
        <p:txBody>
          <a:bodyPr/>
          <a:lstStyle/>
          <a:p>
            <a:endParaRPr lang="en-GB" noProof="0" dirty="0"/>
          </a:p>
        </p:txBody>
      </p:sp>
      <p:sp>
        <p:nvSpPr>
          <p:cNvPr id="6" name="Text 4"/>
          <p:cNvSpPr txBox="1"/>
          <p:nvPr/>
        </p:nvSpPr>
        <p:spPr>
          <a:xfrm>
            <a:off x="731520" y="1601114"/>
            <a:ext cx="10728655" cy="384048"/>
          </a:xfrm>
          <a:prstGeom prst="rect">
            <a:avLst/>
          </a:prstGeom>
          <a:noFill/>
          <a:ln/>
        </p:spPr>
        <p:txBody>
          <a:bodyPr wrap="square" lIns="0" tIns="0" rIns="0" bIns="0" rtlCol="0" anchor="t"/>
          <a:lstStyle/>
          <a:p>
            <a:pPr marL="0" indent="0">
              <a:buNone/>
            </a:pPr>
            <a:r>
              <a:rPr lang="en-GB" sz="1800" b="1" noProof="0" dirty="0">
                <a:solidFill>
                  <a:srgbClr val="12315B"/>
                </a:solidFill>
                <a:latin typeface="Calibri" pitchFamily="34" charset="0"/>
                <a:ea typeface="Calibri" pitchFamily="34" charset="-122"/>
                <a:cs typeface="Calibri" pitchFamily="34" charset="-120"/>
              </a:rPr>
              <a:t>Q5. Mammography:</a:t>
            </a:r>
            <a:endParaRPr lang="en-GB" sz="1800" noProof="0" dirty="0"/>
          </a:p>
        </p:txBody>
      </p:sp>
      <p:sp>
        <p:nvSpPr>
          <p:cNvPr id="7" name="Text 5"/>
          <p:cNvSpPr txBox="1"/>
          <p:nvPr/>
        </p:nvSpPr>
        <p:spPr>
          <a:xfrm>
            <a:off x="731520" y="2021738"/>
            <a:ext cx="5250028" cy="566928"/>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A. </a:t>
            </a:r>
            <a:r>
              <a:rPr lang="en-GB" sz="1800" noProof="0" dirty="0">
                <a:solidFill>
                  <a:srgbClr val="1F3A63"/>
                </a:solidFill>
                <a:latin typeface="Calibri" pitchFamily="34" charset="0"/>
                <a:ea typeface="Calibri" pitchFamily="34" charset="-122"/>
                <a:cs typeface="Calibri" pitchFamily="34" charset="-120"/>
              </a:rPr>
              <a:t>Confirms breast cancer on its own</a:t>
            </a:r>
            <a:endParaRPr lang="en-GB" sz="1800" noProof="0" dirty="0"/>
          </a:p>
        </p:txBody>
      </p:sp>
      <p:sp>
        <p:nvSpPr>
          <p:cNvPr id="8" name="Text 6"/>
          <p:cNvSpPr txBox="1"/>
          <p:nvPr/>
        </p:nvSpPr>
        <p:spPr>
          <a:xfrm>
            <a:off x="6210148" y="2021738"/>
            <a:ext cx="5250028" cy="566928"/>
          </a:xfrm>
          <a:prstGeom prst="rect">
            <a:avLst/>
          </a:prstGeom>
          <a:noFill/>
          <a:ln/>
        </p:spPr>
        <p:txBody>
          <a:bodyPr wrap="square" lIns="0" tIns="0" rIns="0" bIns="0" rtlCol="0" anchor="t"/>
          <a:lstStyle/>
          <a:p>
            <a:pPr marL="0" indent="0">
              <a:lnSpc>
                <a:spcPct val="90000"/>
              </a:lnSpc>
              <a:buNone/>
            </a:pPr>
            <a:r>
              <a:rPr lang="en-GB" sz="1800" b="1" noProof="0" dirty="0">
                <a:solidFill>
                  <a:srgbClr val="1B6E4A"/>
                </a:solidFill>
                <a:latin typeface="Calibri" pitchFamily="34" charset="0"/>
                <a:ea typeface="Calibri" pitchFamily="34" charset="-122"/>
                <a:cs typeface="Calibri" pitchFamily="34" charset="-120"/>
              </a:rPr>
              <a:t>B. Uses low-dose X-rays and can detect cancers before they can be felt</a:t>
            </a:r>
            <a:endParaRPr lang="en-GB" sz="1800" noProof="0" dirty="0"/>
          </a:p>
        </p:txBody>
      </p:sp>
      <p:sp>
        <p:nvSpPr>
          <p:cNvPr id="9" name="Text 7"/>
          <p:cNvSpPr txBox="1"/>
          <p:nvPr/>
        </p:nvSpPr>
        <p:spPr>
          <a:xfrm>
            <a:off x="731520" y="2643530"/>
            <a:ext cx="5250028" cy="566928"/>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C. </a:t>
            </a:r>
            <a:r>
              <a:rPr lang="en-GB" sz="1800" noProof="0" dirty="0">
                <a:solidFill>
                  <a:srgbClr val="1F3A63"/>
                </a:solidFill>
                <a:latin typeface="Calibri" pitchFamily="34" charset="0"/>
                <a:ea typeface="Calibri" pitchFamily="34" charset="-122"/>
                <a:cs typeface="Calibri" pitchFamily="34" charset="-120"/>
              </a:rPr>
              <a:t>Is the first imaging test in every young or pregnant patient</a:t>
            </a:r>
            <a:endParaRPr lang="en-GB" sz="1800" noProof="0" dirty="0"/>
          </a:p>
        </p:txBody>
      </p:sp>
      <p:sp>
        <p:nvSpPr>
          <p:cNvPr id="10" name="Text 8"/>
          <p:cNvSpPr txBox="1"/>
          <p:nvPr/>
        </p:nvSpPr>
        <p:spPr>
          <a:xfrm>
            <a:off x="6210148" y="2643530"/>
            <a:ext cx="5250028" cy="566928"/>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D. </a:t>
            </a:r>
            <a:r>
              <a:rPr lang="en-GB" sz="1800" noProof="0" dirty="0">
                <a:solidFill>
                  <a:srgbClr val="1F3A63"/>
                </a:solidFill>
                <a:latin typeface="Calibri" pitchFamily="34" charset="0"/>
                <a:ea typeface="Calibri" pitchFamily="34" charset="-122"/>
                <a:cs typeface="Calibri" pitchFamily="34" charset="-120"/>
              </a:rPr>
              <a:t>Never produces false results</a:t>
            </a:r>
            <a:endParaRPr lang="en-GB" sz="1800" noProof="0" dirty="0"/>
          </a:p>
        </p:txBody>
      </p:sp>
      <p:sp>
        <p:nvSpPr>
          <p:cNvPr id="11" name="Text 9"/>
          <p:cNvSpPr txBox="1"/>
          <p:nvPr/>
        </p:nvSpPr>
        <p:spPr>
          <a:xfrm>
            <a:off x="731520" y="3320186"/>
            <a:ext cx="10728655" cy="433426"/>
          </a:xfrm>
          <a:prstGeom prst="rect">
            <a:avLst/>
          </a:prstGeom>
          <a:noFill/>
          <a:ln/>
        </p:spPr>
        <p:txBody>
          <a:bodyPr wrap="square" lIns="0" tIns="0" rIns="0" bIns="0" rtlCol="0" anchor="t"/>
          <a:lstStyle/>
          <a:p>
            <a:pPr marL="0" indent="0">
              <a:lnSpc>
                <a:spcPct val="92000"/>
              </a:lnSpc>
              <a:buNone/>
            </a:pPr>
            <a:r>
              <a:rPr lang="en-GB" sz="1350" b="1" noProof="0" dirty="0">
                <a:solidFill>
                  <a:srgbClr val="1B6E4A"/>
                </a:solidFill>
                <a:latin typeface="Calibri" pitchFamily="34" charset="0"/>
                <a:ea typeface="Calibri" pitchFamily="34" charset="-122"/>
                <a:cs typeface="Calibri" pitchFamily="34" charset="-120"/>
              </a:rPr>
              <a:t>Correct: B. </a:t>
            </a:r>
            <a:r>
              <a:rPr lang="en-GB" sz="1350" noProof="0" dirty="0">
                <a:solidFill>
                  <a:srgbClr val="0B1F3F"/>
                </a:solidFill>
                <a:latin typeface="Calibri" pitchFamily="34" charset="0"/>
                <a:ea typeface="Calibri" pitchFamily="34" charset="-122"/>
                <a:cs typeface="Calibri" pitchFamily="34" charset="-120"/>
              </a:rPr>
              <a:t>Mammography images the breast and can detect masses, distortion and calcifications before they are palpable. It does not confirm a diagnosis, and it produces both false positive and false negative results.</a:t>
            </a:r>
            <a:endParaRPr lang="en-GB" sz="1350" noProof="0" dirty="0"/>
          </a:p>
        </p:txBody>
      </p:sp>
      <p:sp>
        <p:nvSpPr>
          <p:cNvPr id="12" name="Shape 10"/>
          <p:cNvSpPr/>
          <p:nvPr/>
        </p:nvSpPr>
        <p:spPr>
          <a:xfrm>
            <a:off x="548640" y="4027932"/>
            <a:ext cx="11094415" cy="2088490"/>
          </a:xfrm>
          <a:prstGeom prst="roundRect">
            <a:avLst>
              <a:gd name="adj" fmla="val 2627"/>
            </a:avLst>
          </a:prstGeom>
          <a:solidFill>
            <a:srgbClr val="F4F8FC"/>
          </a:solidFill>
          <a:ln w="12700">
            <a:solidFill>
              <a:srgbClr val="C8D8EC"/>
            </a:solidFill>
            <a:prstDash val="solid"/>
          </a:ln>
        </p:spPr>
        <p:txBody>
          <a:bodyPr/>
          <a:lstStyle/>
          <a:p>
            <a:endParaRPr lang="en-GB" noProof="0" dirty="0"/>
          </a:p>
        </p:txBody>
      </p:sp>
      <p:sp>
        <p:nvSpPr>
          <p:cNvPr id="13" name="Text 11"/>
          <p:cNvSpPr txBox="1"/>
          <p:nvPr/>
        </p:nvSpPr>
        <p:spPr>
          <a:xfrm>
            <a:off x="731520" y="4137660"/>
            <a:ext cx="10728655" cy="384048"/>
          </a:xfrm>
          <a:prstGeom prst="rect">
            <a:avLst/>
          </a:prstGeom>
          <a:noFill/>
          <a:ln/>
        </p:spPr>
        <p:txBody>
          <a:bodyPr wrap="square" lIns="0" tIns="0" rIns="0" bIns="0" rtlCol="0" anchor="t"/>
          <a:lstStyle/>
          <a:p>
            <a:pPr marL="0" indent="0">
              <a:buNone/>
            </a:pPr>
            <a:r>
              <a:rPr lang="en-GB" sz="1800" b="1" noProof="0" dirty="0">
                <a:solidFill>
                  <a:srgbClr val="12315B"/>
                </a:solidFill>
                <a:latin typeface="Calibri" pitchFamily="34" charset="0"/>
                <a:ea typeface="Calibri" pitchFamily="34" charset="-122"/>
                <a:cs typeface="Calibri" pitchFamily="34" charset="-120"/>
              </a:rPr>
              <a:t>Q6. The correct next step after an abnormal screening mammogram is:</a:t>
            </a:r>
            <a:endParaRPr lang="en-GB" sz="1800" noProof="0" dirty="0"/>
          </a:p>
        </p:txBody>
      </p:sp>
      <p:sp>
        <p:nvSpPr>
          <p:cNvPr id="14" name="Text 12"/>
          <p:cNvSpPr txBox="1"/>
          <p:nvPr/>
        </p:nvSpPr>
        <p:spPr>
          <a:xfrm>
            <a:off x="731520" y="4558284"/>
            <a:ext cx="5250028" cy="566928"/>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A. </a:t>
            </a:r>
            <a:r>
              <a:rPr lang="en-GB" sz="1800" noProof="0" dirty="0">
                <a:solidFill>
                  <a:srgbClr val="1F3A63"/>
                </a:solidFill>
                <a:latin typeface="Calibri" pitchFamily="34" charset="0"/>
                <a:ea typeface="Calibri" pitchFamily="34" charset="-122"/>
                <a:cs typeface="Calibri" pitchFamily="34" charset="-120"/>
              </a:rPr>
              <a:t>Tell the person she has cancer</a:t>
            </a:r>
            <a:endParaRPr lang="en-GB" sz="1800" noProof="0" dirty="0"/>
          </a:p>
        </p:txBody>
      </p:sp>
      <p:sp>
        <p:nvSpPr>
          <p:cNvPr id="15" name="Text 13"/>
          <p:cNvSpPr txBox="1"/>
          <p:nvPr/>
        </p:nvSpPr>
        <p:spPr>
          <a:xfrm>
            <a:off x="6210148" y="4558284"/>
            <a:ext cx="5250028" cy="566928"/>
          </a:xfrm>
          <a:prstGeom prst="rect">
            <a:avLst/>
          </a:prstGeom>
          <a:noFill/>
          <a:ln/>
        </p:spPr>
        <p:txBody>
          <a:bodyPr wrap="square" lIns="0" tIns="0" rIns="0" bIns="0" rtlCol="0" anchor="t"/>
          <a:lstStyle/>
          <a:p>
            <a:pPr marL="0" indent="0">
              <a:lnSpc>
                <a:spcPct val="90000"/>
              </a:lnSpc>
              <a:buNone/>
            </a:pPr>
            <a:r>
              <a:rPr lang="en-GB" sz="1800" b="1" noProof="0" dirty="0">
                <a:solidFill>
                  <a:srgbClr val="1B6E4A"/>
                </a:solidFill>
                <a:latin typeface="Calibri" pitchFamily="34" charset="0"/>
                <a:ea typeface="Calibri" pitchFamily="34" charset="-122"/>
                <a:cs typeface="Calibri" pitchFamily="34" charset="-120"/>
              </a:rPr>
              <a:t>B. Arrange further breast assessment according to the agreed pathway</a:t>
            </a:r>
            <a:endParaRPr lang="en-GB" sz="1800" noProof="0" dirty="0"/>
          </a:p>
        </p:txBody>
      </p:sp>
      <p:sp>
        <p:nvSpPr>
          <p:cNvPr id="16" name="Text 14"/>
          <p:cNvSpPr txBox="1"/>
          <p:nvPr/>
        </p:nvSpPr>
        <p:spPr>
          <a:xfrm>
            <a:off x="731520" y="5180076"/>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C. </a:t>
            </a:r>
            <a:r>
              <a:rPr lang="en-GB" sz="1800" noProof="0" dirty="0">
                <a:solidFill>
                  <a:srgbClr val="1F3A63"/>
                </a:solidFill>
                <a:latin typeface="Calibri" pitchFamily="34" charset="0"/>
                <a:ea typeface="Calibri" pitchFamily="34" charset="-122"/>
                <a:cs typeface="Calibri" pitchFamily="34" charset="-120"/>
              </a:rPr>
              <a:t>Repeat the mammogram in five years</a:t>
            </a:r>
            <a:endParaRPr lang="en-GB" sz="1800" noProof="0" dirty="0"/>
          </a:p>
        </p:txBody>
      </p:sp>
      <p:sp>
        <p:nvSpPr>
          <p:cNvPr id="17" name="Text 15"/>
          <p:cNvSpPr txBox="1"/>
          <p:nvPr/>
        </p:nvSpPr>
        <p:spPr>
          <a:xfrm>
            <a:off x="6210148" y="5180076"/>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D. </a:t>
            </a:r>
            <a:r>
              <a:rPr lang="en-GB" sz="1800" noProof="0" dirty="0">
                <a:solidFill>
                  <a:srgbClr val="1F3A63"/>
                </a:solidFill>
                <a:latin typeface="Calibri" pitchFamily="34" charset="0"/>
                <a:ea typeface="Calibri" pitchFamily="34" charset="-122"/>
                <a:cs typeface="Calibri" pitchFamily="34" charset="-120"/>
              </a:rPr>
              <a:t>Start treatment</a:t>
            </a:r>
            <a:endParaRPr lang="en-GB" sz="1800" noProof="0" dirty="0"/>
          </a:p>
        </p:txBody>
      </p:sp>
      <p:sp>
        <p:nvSpPr>
          <p:cNvPr id="18" name="Text 16"/>
          <p:cNvSpPr txBox="1"/>
          <p:nvPr/>
        </p:nvSpPr>
        <p:spPr>
          <a:xfrm>
            <a:off x="731520" y="5609844"/>
            <a:ext cx="10728655" cy="433426"/>
          </a:xfrm>
          <a:prstGeom prst="rect">
            <a:avLst/>
          </a:prstGeom>
          <a:noFill/>
          <a:ln/>
        </p:spPr>
        <p:txBody>
          <a:bodyPr wrap="square" lIns="0" tIns="0" rIns="0" bIns="0" rtlCol="0" anchor="t"/>
          <a:lstStyle/>
          <a:p>
            <a:pPr marL="0" indent="0">
              <a:lnSpc>
                <a:spcPct val="92000"/>
              </a:lnSpc>
              <a:buNone/>
            </a:pPr>
            <a:r>
              <a:rPr lang="en-GB" sz="1350" b="1" noProof="0" dirty="0">
                <a:solidFill>
                  <a:srgbClr val="1B6E4A"/>
                </a:solidFill>
                <a:latin typeface="Calibri" pitchFamily="34" charset="0"/>
                <a:ea typeface="Calibri" pitchFamily="34" charset="-122"/>
                <a:cs typeface="Calibri" pitchFamily="34" charset="-120"/>
              </a:rPr>
              <a:t>Correct: B. </a:t>
            </a:r>
            <a:r>
              <a:rPr lang="en-GB" sz="1350" noProof="0" dirty="0">
                <a:solidFill>
                  <a:srgbClr val="0B1F3F"/>
                </a:solidFill>
                <a:latin typeface="Calibri" pitchFamily="34" charset="0"/>
                <a:ea typeface="Calibri" pitchFamily="34" charset="-122"/>
                <a:cs typeface="Calibri" pitchFamily="34" charset="-120"/>
              </a:rPr>
              <a:t>An abnormal screening result triggers further assessment, which may include additional imaging and a tissue sample. It is not a diagnosis.</a:t>
            </a:r>
            <a:endParaRPr lang="en-GB" sz="1350" noProof="0" dirty="0"/>
          </a:p>
        </p:txBody>
      </p:sp>
    </p:spTree>
  </p:cSld>
  <p:clrMapOvr>
    <a:masterClrMapping/>
  </p:clrMapOvr>
</p:sld>
</file>

<file path=ppt/slides/slide153.xml><?xml version="1.0" encoding="utf-8"?>
<p:sld xmlns:a="http://schemas.openxmlformats.org/drawingml/2006/main" xmlns:r="http://schemas.openxmlformats.org/officeDocument/2006/relationships" xmlns:p="http://schemas.openxmlformats.org/presentationml/2006/main">
  <p:cSld name="Slide 1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en-GB" sz="1100" b="1" kern="0" spc="100" noProof="0" dirty="0">
                <a:solidFill>
                  <a:srgbClr val="5B7699"/>
                </a:solidFill>
                <a:latin typeface="Calibri" pitchFamily="34" charset="0"/>
                <a:ea typeface="Calibri" pitchFamily="34" charset="-122"/>
                <a:cs typeface="Calibri" pitchFamily="34" charset="-120"/>
              </a:rPr>
              <a:t>F I N A L   C H E C K</a:t>
            </a:r>
            <a:endParaRPr lang="en-GB"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en-GB" sz="1000" noProof="0" dirty="0">
                <a:solidFill>
                  <a:srgbClr val="5B7699"/>
                </a:solidFill>
                <a:latin typeface="Calibri" pitchFamily="34" charset="0"/>
                <a:ea typeface="Calibri" pitchFamily="34" charset="-122"/>
                <a:cs typeface="Calibri" pitchFamily="34" charset="-120"/>
              </a:rPr>
              <a:t>Breast Cancer  |  Frontline HCP  |  Rwanda Biomedical Centre</a:t>
            </a:r>
            <a:endParaRPr lang="en-GB"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en-GB" sz="3000" b="1" noProof="0" dirty="0">
                <a:solidFill>
                  <a:srgbClr val="12315B"/>
                </a:solidFill>
                <a:latin typeface="Calibri" pitchFamily="34" charset="0"/>
                <a:ea typeface="Calibri" pitchFamily="34" charset="-122"/>
                <a:cs typeface="Calibri" pitchFamily="34" charset="-120"/>
              </a:rPr>
              <a:t>Post-test (4 of 10)</a:t>
            </a:r>
            <a:endParaRPr lang="en-GB" sz="3000" noProof="0" dirty="0"/>
          </a:p>
        </p:txBody>
      </p:sp>
      <p:sp>
        <p:nvSpPr>
          <p:cNvPr id="5" name="Shape 3"/>
          <p:cNvSpPr/>
          <p:nvPr/>
        </p:nvSpPr>
        <p:spPr>
          <a:xfrm>
            <a:off x="548640" y="1709471"/>
            <a:ext cx="11094415" cy="1899209"/>
          </a:xfrm>
          <a:prstGeom prst="roundRect">
            <a:avLst>
              <a:gd name="adj" fmla="val 2889"/>
            </a:avLst>
          </a:prstGeom>
          <a:solidFill>
            <a:srgbClr val="F4F8FC"/>
          </a:solidFill>
          <a:ln w="12700">
            <a:solidFill>
              <a:srgbClr val="C8D8EC"/>
            </a:solidFill>
            <a:prstDash val="solid"/>
          </a:ln>
        </p:spPr>
        <p:txBody>
          <a:bodyPr/>
          <a:lstStyle/>
          <a:p>
            <a:endParaRPr lang="en-GB" noProof="0" dirty="0"/>
          </a:p>
        </p:txBody>
      </p:sp>
      <p:sp>
        <p:nvSpPr>
          <p:cNvPr id="6" name="Text 4"/>
          <p:cNvSpPr txBox="1"/>
          <p:nvPr/>
        </p:nvSpPr>
        <p:spPr>
          <a:xfrm>
            <a:off x="731520" y="1819199"/>
            <a:ext cx="10728655" cy="384048"/>
          </a:xfrm>
          <a:prstGeom prst="rect">
            <a:avLst/>
          </a:prstGeom>
          <a:noFill/>
          <a:ln/>
        </p:spPr>
        <p:txBody>
          <a:bodyPr wrap="square" lIns="0" tIns="0" rIns="0" bIns="0" rtlCol="0" anchor="t"/>
          <a:lstStyle/>
          <a:p>
            <a:pPr marL="0" indent="0">
              <a:buNone/>
            </a:pPr>
            <a:r>
              <a:rPr lang="en-GB" sz="1800" b="1" noProof="0" dirty="0">
                <a:solidFill>
                  <a:srgbClr val="12315B"/>
                </a:solidFill>
                <a:latin typeface="Calibri" pitchFamily="34" charset="0"/>
                <a:ea typeface="Calibri" pitchFamily="34" charset="-122"/>
                <a:cs typeface="Calibri" pitchFamily="34" charset="-120"/>
              </a:rPr>
              <a:t>Q7. Which woman is at increased, rather than average, risk?</a:t>
            </a:r>
            <a:endParaRPr lang="en-GB" sz="1800" noProof="0" dirty="0"/>
          </a:p>
        </p:txBody>
      </p:sp>
      <p:sp>
        <p:nvSpPr>
          <p:cNvPr id="7" name="Text 5"/>
          <p:cNvSpPr txBox="1"/>
          <p:nvPr/>
        </p:nvSpPr>
        <p:spPr>
          <a:xfrm>
            <a:off x="731520" y="2239823"/>
            <a:ext cx="5250028" cy="566928"/>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A. </a:t>
            </a:r>
            <a:r>
              <a:rPr lang="en-GB" sz="1800" noProof="0" dirty="0">
                <a:solidFill>
                  <a:srgbClr val="1F3A63"/>
                </a:solidFill>
                <a:latin typeface="Calibri" pitchFamily="34" charset="0"/>
                <a:ea typeface="Calibri" pitchFamily="34" charset="-122"/>
                <a:cs typeface="Calibri" pitchFamily="34" charset="-120"/>
              </a:rPr>
              <a:t>A 50 year old with no personal or family history</a:t>
            </a:r>
            <a:endParaRPr lang="en-GB" sz="1800" noProof="0" dirty="0"/>
          </a:p>
        </p:txBody>
      </p:sp>
      <p:sp>
        <p:nvSpPr>
          <p:cNvPr id="8" name="Text 6"/>
          <p:cNvSpPr txBox="1"/>
          <p:nvPr/>
        </p:nvSpPr>
        <p:spPr>
          <a:xfrm>
            <a:off x="6210148" y="2239823"/>
            <a:ext cx="5250028" cy="566928"/>
          </a:xfrm>
          <a:prstGeom prst="rect">
            <a:avLst/>
          </a:prstGeom>
          <a:noFill/>
          <a:ln/>
        </p:spPr>
        <p:txBody>
          <a:bodyPr wrap="square" lIns="0" tIns="0" rIns="0" bIns="0" rtlCol="0" anchor="t"/>
          <a:lstStyle/>
          <a:p>
            <a:pPr marL="0" indent="0">
              <a:lnSpc>
                <a:spcPct val="90000"/>
              </a:lnSpc>
              <a:buNone/>
            </a:pPr>
            <a:r>
              <a:rPr lang="en-GB" sz="1800" b="1" noProof="0" dirty="0">
                <a:solidFill>
                  <a:srgbClr val="1B6E4A"/>
                </a:solidFill>
                <a:latin typeface="Calibri" pitchFamily="34" charset="0"/>
                <a:ea typeface="Calibri" pitchFamily="34" charset="-122"/>
                <a:cs typeface="Calibri" pitchFamily="34" charset="-120"/>
              </a:rPr>
              <a:t>B. A 42 year old whose mother and sister both had breast cancer, one before the age of 40</a:t>
            </a:r>
            <a:endParaRPr lang="en-GB" sz="1800" noProof="0" dirty="0"/>
          </a:p>
        </p:txBody>
      </p:sp>
      <p:sp>
        <p:nvSpPr>
          <p:cNvPr id="9" name="Text 7"/>
          <p:cNvSpPr txBox="1"/>
          <p:nvPr/>
        </p:nvSpPr>
        <p:spPr>
          <a:xfrm>
            <a:off x="731520" y="2861615"/>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C. </a:t>
            </a:r>
            <a:r>
              <a:rPr lang="en-GB" sz="1800" noProof="0" dirty="0">
                <a:solidFill>
                  <a:srgbClr val="1F3A63"/>
                </a:solidFill>
                <a:latin typeface="Calibri" pitchFamily="34" charset="0"/>
                <a:ea typeface="Calibri" pitchFamily="34" charset="-122"/>
                <a:cs typeface="Calibri" pitchFamily="34" charset="-120"/>
              </a:rPr>
              <a:t>A 55 year old who exercises regularly</a:t>
            </a:r>
            <a:endParaRPr lang="en-GB" sz="1800" noProof="0" dirty="0"/>
          </a:p>
        </p:txBody>
      </p:sp>
      <p:sp>
        <p:nvSpPr>
          <p:cNvPr id="10" name="Text 8"/>
          <p:cNvSpPr txBox="1"/>
          <p:nvPr/>
        </p:nvSpPr>
        <p:spPr>
          <a:xfrm>
            <a:off x="6210148" y="2861615"/>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D. </a:t>
            </a:r>
            <a:r>
              <a:rPr lang="en-GB" sz="1800" noProof="0" dirty="0">
                <a:solidFill>
                  <a:srgbClr val="1F3A63"/>
                </a:solidFill>
                <a:latin typeface="Calibri" pitchFamily="34" charset="0"/>
                <a:ea typeface="Calibri" pitchFamily="34" charset="-122"/>
                <a:cs typeface="Calibri" pitchFamily="34" charset="-120"/>
              </a:rPr>
              <a:t>A 46 year old with cyclical breast tenderness</a:t>
            </a:r>
            <a:endParaRPr lang="en-GB" sz="1800" noProof="0" dirty="0"/>
          </a:p>
        </p:txBody>
      </p:sp>
      <p:sp>
        <p:nvSpPr>
          <p:cNvPr id="11" name="Text 9"/>
          <p:cNvSpPr txBox="1"/>
          <p:nvPr/>
        </p:nvSpPr>
        <p:spPr>
          <a:xfrm>
            <a:off x="731520" y="3291383"/>
            <a:ext cx="10728655" cy="244145"/>
          </a:xfrm>
          <a:prstGeom prst="rect">
            <a:avLst/>
          </a:prstGeom>
          <a:noFill/>
          <a:ln/>
        </p:spPr>
        <p:txBody>
          <a:bodyPr wrap="square" lIns="0" tIns="0" rIns="0" bIns="0" rtlCol="0" anchor="t"/>
          <a:lstStyle/>
          <a:p>
            <a:pPr marL="0" indent="0">
              <a:lnSpc>
                <a:spcPct val="92000"/>
              </a:lnSpc>
              <a:buNone/>
            </a:pPr>
            <a:r>
              <a:rPr lang="en-GB" sz="1350" b="1" noProof="0" dirty="0">
                <a:solidFill>
                  <a:srgbClr val="1B6E4A"/>
                </a:solidFill>
                <a:latin typeface="Calibri" pitchFamily="34" charset="0"/>
                <a:ea typeface="Calibri" pitchFamily="34" charset="-122"/>
                <a:cs typeface="Calibri" pitchFamily="34" charset="-120"/>
              </a:rPr>
              <a:t>Correct: B. </a:t>
            </a:r>
            <a:r>
              <a:rPr lang="en-GB" sz="1350" noProof="0" dirty="0">
                <a:solidFill>
                  <a:srgbClr val="0B1F3F"/>
                </a:solidFill>
                <a:latin typeface="Calibri" pitchFamily="34" charset="0"/>
                <a:ea typeface="Calibri" pitchFamily="34" charset="-122"/>
                <a:cs typeface="Calibri" pitchFamily="34" charset="-120"/>
              </a:rPr>
              <a:t>Several affected close relatives, and disease at a young age, raise risk and may justify earlier or specialist assessment.</a:t>
            </a:r>
            <a:endParaRPr lang="en-GB" sz="1350" noProof="0" dirty="0"/>
          </a:p>
        </p:txBody>
      </p:sp>
      <p:sp>
        <p:nvSpPr>
          <p:cNvPr id="12" name="Shape 10"/>
          <p:cNvSpPr/>
          <p:nvPr/>
        </p:nvSpPr>
        <p:spPr>
          <a:xfrm>
            <a:off x="548640" y="3809848"/>
            <a:ext cx="11094415" cy="2088490"/>
          </a:xfrm>
          <a:prstGeom prst="roundRect">
            <a:avLst>
              <a:gd name="adj" fmla="val 2627"/>
            </a:avLst>
          </a:prstGeom>
          <a:solidFill>
            <a:srgbClr val="F4F8FC"/>
          </a:solidFill>
          <a:ln w="12700">
            <a:solidFill>
              <a:srgbClr val="C8D8EC"/>
            </a:solidFill>
            <a:prstDash val="solid"/>
          </a:ln>
        </p:spPr>
        <p:txBody>
          <a:bodyPr/>
          <a:lstStyle/>
          <a:p>
            <a:endParaRPr lang="en-GB" noProof="0" dirty="0"/>
          </a:p>
        </p:txBody>
      </p:sp>
      <p:sp>
        <p:nvSpPr>
          <p:cNvPr id="13" name="Text 11"/>
          <p:cNvSpPr txBox="1"/>
          <p:nvPr/>
        </p:nvSpPr>
        <p:spPr>
          <a:xfrm>
            <a:off x="731520" y="3919576"/>
            <a:ext cx="10728655" cy="384048"/>
          </a:xfrm>
          <a:prstGeom prst="rect">
            <a:avLst/>
          </a:prstGeom>
          <a:noFill/>
          <a:ln/>
        </p:spPr>
        <p:txBody>
          <a:bodyPr wrap="square" lIns="0" tIns="0" rIns="0" bIns="0" rtlCol="0" anchor="t"/>
          <a:lstStyle/>
          <a:p>
            <a:pPr marL="0" indent="0">
              <a:buNone/>
            </a:pPr>
            <a:r>
              <a:rPr lang="en-GB" sz="1800" b="1" noProof="0" dirty="0">
                <a:solidFill>
                  <a:srgbClr val="12315B"/>
                </a:solidFill>
                <a:latin typeface="Calibri" pitchFamily="34" charset="0"/>
                <a:ea typeface="Calibri" pitchFamily="34" charset="-122"/>
                <a:cs typeface="Calibri" pitchFamily="34" charset="-120"/>
              </a:rPr>
              <a:t>Q8. Breast awareness means:</a:t>
            </a:r>
            <a:endParaRPr lang="en-GB" sz="1800" noProof="0" dirty="0"/>
          </a:p>
        </p:txBody>
      </p:sp>
      <p:sp>
        <p:nvSpPr>
          <p:cNvPr id="14" name="Text 12"/>
          <p:cNvSpPr txBox="1"/>
          <p:nvPr/>
        </p:nvSpPr>
        <p:spPr>
          <a:xfrm>
            <a:off x="731520" y="4340200"/>
            <a:ext cx="5250028" cy="566928"/>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A. </a:t>
            </a:r>
            <a:r>
              <a:rPr lang="en-GB" sz="1800" noProof="0" dirty="0">
                <a:solidFill>
                  <a:srgbClr val="1F3A63"/>
                </a:solidFill>
                <a:latin typeface="Calibri" pitchFamily="34" charset="0"/>
                <a:ea typeface="Calibri" pitchFamily="34" charset="-122"/>
                <a:cs typeface="Calibri" pitchFamily="34" charset="-120"/>
              </a:rPr>
              <a:t>A fixed monthly self-examination technique that replaces screening</a:t>
            </a:r>
            <a:endParaRPr lang="en-GB" sz="1800" noProof="0" dirty="0"/>
          </a:p>
        </p:txBody>
      </p:sp>
      <p:sp>
        <p:nvSpPr>
          <p:cNvPr id="15" name="Text 13"/>
          <p:cNvSpPr txBox="1"/>
          <p:nvPr/>
        </p:nvSpPr>
        <p:spPr>
          <a:xfrm>
            <a:off x="6210148" y="4340200"/>
            <a:ext cx="5250028" cy="566928"/>
          </a:xfrm>
          <a:prstGeom prst="rect">
            <a:avLst/>
          </a:prstGeom>
          <a:noFill/>
          <a:ln/>
        </p:spPr>
        <p:txBody>
          <a:bodyPr wrap="square" lIns="0" tIns="0" rIns="0" bIns="0" rtlCol="0" anchor="t"/>
          <a:lstStyle/>
          <a:p>
            <a:pPr marL="0" indent="0">
              <a:lnSpc>
                <a:spcPct val="90000"/>
              </a:lnSpc>
              <a:buNone/>
            </a:pPr>
            <a:r>
              <a:rPr lang="en-GB" sz="1800" b="1" noProof="0" dirty="0">
                <a:solidFill>
                  <a:srgbClr val="1B6E4A"/>
                </a:solidFill>
                <a:latin typeface="Calibri" pitchFamily="34" charset="0"/>
                <a:ea typeface="Calibri" pitchFamily="34" charset="-122"/>
                <a:cs typeface="Calibri" pitchFamily="34" charset="-120"/>
              </a:rPr>
              <a:t>B. Knowing what is usual for one's own breasts and seeking assessment when something changes</a:t>
            </a:r>
            <a:endParaRPr lang="en-GB" sz="1800" noProof="0" dirty="0"/>
          </a:p>
        </p:txBody>
      </p:sp>
      <p:sp>
        <p:nvSpPr>
          <p:cNvPr id="16" name="Text 14"/>
          <p:cNvSpPr txBox="1"/>
          <p:nvPr/>
        </p:nvSpPr>
        <p:spPr>
          <a:xfrm>
            <a:off x="731520" y="4961992"/>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C. </a:t>
            </a:r>
            <a:r>
              <a:rPr lang="en-GB" sz="1800" noProof="0" dirty="0">
                <a:solidFill>
                  <a:srgbClr val="1F3A63"/>
                </a:solidFill>
                <a:latin typeface="Calibri" pitchFamily="34" charset="0"/>
                <a:ea typeface="Calibri" pitchFamily="34" charset="-122"/>
                <a:cs typeface="Calibri" pitchFamily="34" charset="-120"/>
              </a:rPr>
              <a:t>Examining only if there is a family history</a:t>
            </a:r>
            <a:endParaRPr lang="en-GB" sz="1800" noProof="0" dirty="0"/>
          </a:p>
        </p:txBody>
      </p:sp>
      <p:sp>
        <p:nvSpPr>
          <p:cNvPr id="17" name="Text 15"/>
          <p:cNvSpPr txBox="1"/>
          <p:nvPr/>
        </p:nvSpPr>
        <p:spPr>
          <a:xfrm>
            <a:off x="6210148" y="4961992"/>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D. </a:t>
            </a:r>
            <a:r>
              <a:rPr lang="en-GB" sz="1800" noProof="0" dirty="0">
                <a:solidFill>
                  <a:srgbClr val="1F3A63"/>
                </a:solidFill>
                <a:latin typeface="Calibri" pitchFamily="34" charset="0"/>
                <a:ea typeface="Calibri" pitchFamily="34" charset="-122"/>
                <a:cs typeface="Calibri" pitchFamily="34" charset="-120"/>
              </a:rPr>
              <a:t>Waiting until a lump becomes painful</a:t>
            </a:r>
            <a:endParaRPr lang="en-GB" sz="1800" noProof="0" dirty="0"/>
          </a:p>
        </p:txBody>
      </p:sp>
      <p:sp>
        <p:nvSpPr>
          <p:cNvPr id="18" name="Text 16"/>
          <p:cNvSpPr txBox="1"/>
          <p:nvPr/>
        </p:nvSpPr>
        <p:spPr>
          <a:xfrm>
            <a:off x="731520" y="5391760"/>
            <a:ext cx="10728655" cy="433426"/>
          </a:xfrm>
          <a:prstGeom prst="rect">
            <a:avLst/>
          </a:prstGeom>
          <a:noFill/>
          <a:ln/>
        </p:spPr>
        <p:txBody>
          <a:bodyPr wrap="square" lIns="0" tIns="0" rIns="0" bIns="0" rtlCol="0" anchor="t"/>
          <a:lstStyle/>
          <a:p>
            <a:pPr marL="0" indent="0">
              <a:lnSpc>
                <a:spcPct val="92000"/>
              </a:lnSpc>
              <a:buNone/>
            </a:pPr>
            <a:r>
              <a:rPr lang="en-GB" sz="1350" b="1" noProof="0" dirty="0">
                <a:solidFill>
                  <a:srgbClr val="1B6E4A"/>
                </a:solidFill>
                <a:latin typeface="Calibri" pitchFamily="34" charset="0"/>
                <a:ea typeface="Calibri" pitchFamily="34" charset="-122"/>
                <a:cs typeface="Calibri" pitchFamily="34" charset="-120"/>
              </a:rPr>
              <a:t>Correct: B. </a:t>
            </a:r>
            <a:r>
              <a:rPr lang="en-GB" sz="1350" noProof="0" dirty="0">
                <a:solidFill>
                  <a:srgbClr val="0B1F3F"/>
                </a:solidFill>
                <a:latin typeface="Calibri" pitchFamily="34" charset="0"/>
                <a:ea typeface="Calibri" pitchFamily="34" charset="-122"/>
                <a:cs typeface="Calibri" pitchFamily="34" charset="-120"/>
              </a:rPr>
              <a:t>Breast awareness is a habit of noticing change and acting on it. In Rwanda, monthly self-examination is taught from age 25; it supports, but never replaces, clinical breast examination.</a:t>
            </a:r>
            <a:endParaRPr lang="en-GB" sz="1350" noProof="0" dirty="0"/>
          </a:p>
        </p:txBody>
      </p:sp>
    </p:spTree>
  </p:cSld>
  <p:clrMapOvr>
    <a:masterClrMapping/>
  </p:clrMapOvr>
</p:sld>
</file>

<file path=ppt/slides/slide154.xml><?xml version="1.0" encoding="utf-8"?>
<p:sld xmlns:a="http://schemas.openxmlformats.org/drawingml/2006/main" xmlns:r="http://schemas.openxmlformats.org/officeDocument/2006/relationships" xmlns:p="http://schemas.openxmlformats.org/presentationml/2006/main">
  <p:cSld name="Slide 12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en-GB" sz="1100" b="1" kern="0" spc="100" noProof="0" dirty="0">
                <a:solidFill>
                  <a:srgbClr val="5B7699"/>
                </a:solidFill>
                <a:latin typeface="Calibri" pitchFamily="34" charset="0"/>
                <a:ea typeface="Calibri" pitchFamily="34" charset="-122"/>
                <a:cs typeface="Calibri" pitchFamily="34" charset="-120"/>
              </a:rPr>
              <a:t>F I N A L   C H E C K</a:t>
            </a:r>
            <a:endParaRPr lang="en-GB"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en-GB" sz="1000" noProof="0" dirty="0">
                <a:solidFill>
                  <a:srgbClr val="5B7699"/>
                </a:solidFill>
                <a:latin typeface="Calibri" pitchFamily="34" charset="0"/>
                <a:ea typeface="Calibri" pitchFamily="34" charset="-122"/>
                <a:cs typeface="Calibri" pitchFamily="34" charset="-120"/>
              </a:rPr>
              <a:t>Breast Cancer  |  Frontline HCP  |  Rwanda Biomedical Centre</a:t>
            </a:r>
            <a:endParaRPr lang="en-GB"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en-GB" sz="3000" b="1" noProof="0" dirty="0">
                <a:solidFill>
                  <a:srgbClr val="12315B"/>
                </a:solidFill>
                <a:latin typeface="Calibri" pitchFamily="34" charset="0"/>
                <a:ea typeface="Calibri" pitchFamily="34" charset="-122"/>
                <a:cs typeface="Calibri" pitchFamily="34" charset="-120"/>
              </a:rPr>
              <a:t>Post-test (5 of 10)</a:t>
            </a:r>
            <a:endParaRPr lang="en-GB" sz="3000" noProof="0" dirty="0"/>
          </a:p>
        </p:txBody>
      </p:sp>
      <p:sp>
        <p:nvSpPr>
          <p:cNvPr id="5" name="Shape 3"/>
          <p:cNvSpPr/>
          <p:nvPr/>
        </p:nvSpPr>
        <p:spPr>
          <a:xfrm>
            <a:off x="548640" y="1927555"/>
            <a:ext cx="11094415" cy="1652321"/>
          </a:xfrm>
          <a:prstGeom prst="roundRect">
            <a:avLst>
              <a:gd name="adj" fmla="val 3320"/>
            </a:avLst>
          </a:prstGeom>
          <a:solidFill>
            <a:srgbClr val="F4F8FC"/>
          </a:solidFill>
          <a:ln w="12700">
            <a:solidFill>
              <a:srgbClr val="C8D8EC"/>
            </a:solidFill>
            <a:prstDash val="solid"/>
          </a:ln>
        </p:spPr>
        <p:txBody>
          <a:bodyPr/>
          <a:lstStyle/>
          <a:p>
            <a:endParaRPr lang="en-GB" noProof="0" dirty="0"/>
          </a:p>
        </p:txBody>
      </p:sp>
      <p:sp>
        <p:nvSpPr>
          <p:cNvPr id="6" name="Text 4"/>
          <p:cNvSpPr txBox="1"/>
          <p:nvPr/>
        </p:nvSpPr>
        <p:spPr>
          <a:xfrm>
            <a:off x="731520" y="2037283"/>
            <a:ext cx="10728655" cy="384048"/>
          </a:xfrm>
          <a:prstGeom prst="rect">
            <a:avLst/>
          </a:prstGeom>
          <a:noFill/>
          <a:ln/>
        </p:spPr>
        <p:txBody>
          <a:bodyPr wrap="square" lIns="0" tIns="0" rIns="0" bIns="0" rtlCol="0" anchor="t"/>
          <a:lstStyle/>
          <a:p>
            <a:pPr marL="0" indent="0">
              <a:buNone/>
            </a:pPr>
            <a:r>
              <a:rPr lang="en-GB" sz="1800" b="1" noProof="0" dirty="0">
                <a:solidFill>
                  <a:srgbClr val="12315B"/>
                </a:solidFill>
                <a:latin typeface="Calibri" pitchFamily="34" charset="0"/>
                <a:ea typeface="Calibri" pitchFamily="34" charset="-122"/>
                <a:cs typeface="Calibri" pitchFamily="34" charset="-120"/>
              </a:rPr>
              <a:t>Q9. In TNM staging, the letter N describes:</a:t>
            </a:r>
            <a:endParaRPr lang="en-GB" sz="1800" noProof="0" dirty="0"/>
          </a:p>
        </p:txBody>
      </p:sp>
      <p:sp>
        <p:nvSpPr>
          <p:cNvPr id="7" name="Text 5"/>
          <p:cNvSpPr txBox="1"/>
          <p:nvPr/>
        </p:nvSpPr>
        <p:spPr>
          <a:xfrm>
            <a:off x="731520" y="2457907"/>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A. </a:t>
            </a:r>
            <a:r>
              <a:rPr lang="en-GB" sz="1800" noProof="0" dirty="0">
                <a:solidFill>
                  <a:srgbClr val="1F3A63"/>
                </a:solidFill>
                <a:latin typeface="Calibri" pitchFamily="34" charset="0"/>
                <a:ea typeface="Calibri" pitchFamily="34" charset="-122"/>
                <a:cs typeface="Calibri" pitchFamily="34" charset="-120"/>
              </a:rPr>
              <a:t>Tumour size</a:t>
            </a:r>
            <a:endParaRPr lang="en-GB" sz="1800" noProof="0" dirty="0"/>
          </a:p>
        </p:txBody>
      </p:sp>
      <p:sp>
        <p:nvSpPr>
          <p:cNvPr id="8" name="Text 6"/>
          <p:cNvSpPr txBox="1"/>
          <p:nvPr/>
        </p:nvSpPr>
        <p:spPr>
          <a:xfrm>
            <a:off x="6210148" y="2457907"/>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1B6E4A"/>
                </a:solidFill>
                <a:latin typeface="Calibri" pitchFamily="34" charset="0"/>
                <a:ea typeface="Calibri" pitchFamily="34" charset="-122"/>
                <a:cs typeface="Calibri" pitchFamily="34" charset="-120"/>
              </a:rPr>
              <a:t>B. Regional lymph node involvement</a:t>
            </a:r>
            <a:endParaRPr lang="en-GB" sz="1800" noProof="0" dirty="0"/>
          </a:p>
        </p:txBody>
      </p:sp>
      <p:sp>
        <p:nvSpPr>
          <p:cNvPr id="9" name="Text 7"/>
          <p:cNvSpPr txBox="1"/>
          <p:nvPr/>
        </p:nvSpPr>
        <p:spPr>
          <a:xfrm>
            <a:off x="731520" y="2832811"/>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C. </a:t>
            </a:r>
            <a:r>
              <a:rPr lang="en-GB" sz="1800" noProof="0" dirty="0">
                <a:solidFill>
                  <a:srgbClr val="1F3A63"/>
                </a:solidFill>
                <a:latin typeface="Calibri" pitchFamily="34" charset="0"/>
                <a:ea typeface="Calibri" pitchFamily="34" charset="-122"/>
                <a:cs typeface="Calibri" pitchFamily="34" charset="-120"/>
              </a:rPr>
              <a:t>Distant spread</a:t>
            </a:r>
            <a:endParaRPr lang="en-GB" sz="1800" noProof="0" dirty="0"/>
          </a:p>
        </p:txBody>
      </p:sp>
      <p:sp>
        <p:nvSpPr>
          <p:cNvPr id="10" name="Text 8"/>
          <p:cNvSpPr txBox="1"/>
          <p:nvPr/>
        </p:nvSpPr>
        <p:spPr>
          <a:xfrm>
            <a:off x="6210148" y="2832811"/>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D. </a:t>
            </a:r>
            <a:r>
              <a:rPr lang="en-GB" sz="1800" noProof="0" dirty="0">
                <a:solidFill>
                  <a:srgbClr val="1F3A63"/>
                </a:solidFill>
                <a:latin typeface="Calibri" pitchFamily="34" charset="0"/>
                <a:ea typeface="Calibri" pitchFamily="34" charset="-122"/>
                <a:cs typeface="Calibri" pitchFamily="34" charset="-120"/>
              </a:rPr>
              <a:t>Tumour grade</a:t>
            </a:r>
            <a:endParaRPr lang="en-GB" sz="1800" noProof="0" dirty="0"/>
          </a:p>
        </p:txBody>
      </p:sp>
      <p:sp>
        <p:nvSpPr>
          <p:cNvPr id="11" name="Text 9"/>
          <p:cNvSpPr txBox="1"/>
          <p:nvPr/>
        </p:nvSpPr>
        <p:spPr>
          <a:xfrm>
            <a:off x="731520" y="3262579"/>
            <a:ext cx="10728655" cy="244145"/>
          </a:xfrm>
          <a:prstGeom prst="rect">
            <a:avLst/>
          </a:prstGeom>
          <a:noFill/>
          <a:ln/>
        </p:spPr>
        <p:txBody>
          <a:bodyPr wrap="square" lIns="0" tIns="0" rIns="0" bIns="0" rtlCol="0" anchor="t"/>
          <a:lstStyle/>
          <a:p>
            <a:pPr marL="0" indent="0">
              <a:lnSpc>
                <a:spcPct val="92000"/>
              </a:lnSpc>
              <a:buNone/>
            </a:pPr>
            <a:r>
              <a:rPr lang="en-GB" sz="1350" b="1" noProof="0" dirty="0">
                <a:solidFill>
                  <a:srgbClr val="1B6E4A"/>
                </a:solidFill>
                <a:latin typeface="Calibri" pitchFamily="34" charset="0"/>
                <a:ea typeface="Calibri" pitchFamily="34" charset="-122"/>
                <a:cs typeface="Calibri" pitchFamily="34" charset="-120"/>
              </a:rPr>
              <a:t>Correct: B. </a:t>
            </a:r>
            <a:r>
              <a:rPr lang="en-GB" sz="1350" noProof="0" dirty="0">
                <a:solidFill>
                  <a:srgbClr val="0B1F3F"/>
                </a:solidFill>
                <a:latin typeface="Calibri" pitchFamily="34" charset="0"/>
                <a:ea typeface="Calibri" pitchFamily="34" charset="-122"/>
                <a:cs typeface="Calibri" pitchFamily="34" charset="-120"/>
              </a:rPr>
              <a:t>T is the primary tumour, N is regional lymph nodes, M is distant metastasis.</a:t>
            </a:r>
            <a:endParaRPr lang="en-GB" sz="1350" noProof="0" dirty="0"/>
          </a:p>
        </p:txBody>
      </p:sp>
      <p:sp>
        <p:nvSpPr>
          <p:cNvPr id="12" name="Shape 10"/>
          <p:cNvSpPr/>
          <p:nvPr/>
        </p:nvSpPr>
        <p:spPr>
          <a:xfrm>
            <a:off x="548640" y="3781044"/>
            <a:ext cx="11094415" cy="1899209"/>
          </a:xfrm>
          <a:prstGeom prst="roundRect">
            <a:avLst>
              <a:gd name="adj" fmla="val 2889"/>
            </a:avLst>
          </a:prstGeom>
          <a:solidFill>
            <a:srgbClr val="F4F8FC"/>
          </a:solidFill>
          <a:ln w="12700">
            <a:solidFill>
              <a:srgbClr val="C8D8EC"/>
            </a:solidFill>
            <a:prstDash val="solid"/>
          </a:ln>
        </p:spPr>
        <p:txBody>
          <a:bodyPr/>
          <a:lstStyle/>
          <a:p>
            <a:endParaRPr lang="en-GB" noProof="0" dirty="0"/>
          </a:p>
        </p:txBody>
      </p:sp>
      <p:sp>
        <p:nvSpPr>
          <p:cNvPr id="13" name="Text 11"/>
          <p:cNvSpPr txBox="1"/>
          <p:nvPr/>
        </p:nvSpPr>
        <p:spPr>
          <a:xfrm>
            <a:off x="731520" y="3890772"/>
            <a:ext cx="10728655" cy="384048"/>
          </a:xfrm>
          <a:prstGeom prst="rect">
            <a:avLst/>
          </a:prstGeom>
          <a:noFill/>
          <a:ln/>
        </p:spPr>
        <p:txBody>
          <a:bodyPr wrap="square" lIns="0" tIns="0" rIns="0" bIns="0" rtlCol="0" anchor="t"/>
          <a:lstStyle/>
          <a:p>
            <a:pPr marL="0" indent="0">
              <a:buNone/>
            </a:pPr>
            <a:r>
              <a:rPr lang="en-GB" sz="1800" b="1" noProof="0" dirty="0">
                <a:solidFill>
                  <a:srgbClr val="12315B"/>
                </a:solidFill>
                <a:latin typeface="Calibri" pitchFamily="34" charset="0"/>
                <a:ea typeface="Calibri" pitchFamily="34" charset="-122"/>
                <a:cs typeface="Calibri" pitchFamily="34" charset="-120"/>
              </a:rPr>
              <a:t>Q10. Grade tells you:</a:t>
            </a:r>
            <a:endParaRPr lang="en-GB" sz="1800" noProof="0" dirty="0"/>
          </a:p>
        </p:txBody>
      </p:sp>
      <p:sp>
        <p:nvSpPr>
          <p:cNvPr id="14" name="Text 12"/>
          <p:cNvSpPr txBox="1"/>
          <p:nvPr/>
        </p:nvSpPr>
        <p:spPr>
          <a:xfrm>
            <a:off x="731520" y="4311396"/>
            <a:ext cx="5250028" cy="566928"/>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A. </a:t>
            </a:r>
            <a:r>
              <a:rPr lang="en-GB" sz="1800" noProof="0" dirty="0">
                <a:solidFill>
                  <a:srgbClr val="1F3A63"/>
                </a:solidFill>
                <a:latin typeface="Calibri" pitchFamily="34" charset="0"/>
                <a:ea typeface="Calibri" pitchFamily="34" charset="-122"/>
                <a:cs typeface="Calibri" pitchFamily="34" charset="-120"/>
              </a:rPr>
              <a:t>How far the cancer has spread</a:t>
            </a:r>
            <a:endParaRPr lang="en-GB" sz="1800" noProof="0" dirty="0"/>
          </a:p>
        </p:txBody>
      </p:sp>
      <p:sp>
        <p:nvSpPr>
          <p:cNvPr id="15" name="Text 13"/>
          <p:cNvSpPr txBox="1"/>
          <p:nvPr/>
        </p:nvSpPr>
        <p:spPr>
          <a:xfrm>
            <a:off x="6210148" y="4311396"/>
            <a:ext cx="5250028" cy="566928"/>
          </a:xfrm>
          <a:prstGeom prst="rect">
            <a:avLst/>
          </a:prstGeom>
          <a:noFill/>
          <a:ln/>
        </p:spPr>
        <p:txBody>
          <a:bodyPr wrap="square" lIns="0" tIns="0" rIns="0" bIns="0" rtlCol="0" anchor="t"/>
          <a:lstStyle/>
          <a:p>
            <a:pPr marL="0" indent="0">
              <a:lnSpc>
                <a:spcPct val="90000"/>
              </a:lnSpc>
              <a:buNone/>
            </a:pPr>
            <a:r>
              <a:rPr lang="en-GB" sz="1800" b="1" noProof="0" dirty="0">
                <a:solidFill>
                  <a:srgbClr val="1B6E4A"/>
                </a:solidFill>
                <a:latin typeface="Calibri" pitchFamily="34" charset="0"/>
                <a:ea typeface="Calibri" pitchFamily="34" charset="-122"/>
                <a:cs typeface="Calibri" pitchFamily="34" charset="-120"/>
              </a:rPr>
              <a:t>B. How abnormal the cells look under the microscope</a:t>
            </a:r>
            <a:endParaRPr lang="en-GB" sz="1800" noProof="0" dirty="0"/>
          </a:p>
        </p:txBody>
      </p:sp>
      <p:sp>
        <p:nvSpPr>
          <p:cNvPr id="16" name="Text 14"/>
          <p:cNvSpPr txBox="1"/>
          <p:nvPr/>
        </p:nvSpPr>
        <p:spPr>
          <a:xfrm>
            <a:off x="731520" y="4933188"/>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C. </a:t>
            </a:r>
            <a:r>
              <a:rPr lang="en-GB" sz="1800" noProof="0" dirty="0">
                <a:solidFill>
                  <a:srgbClr val="1F3A63"/>
                </a:solidFill>
                <a:latin typeface="Calibri" pitchFamily="34" charset="0"/>
                <a:ea typeface="Calibri" pitchFamily="34" charset="-122"/>
                <a:cs typeface="Calibri" pitchFamily="34" charset="-120"/>
              </a:rPr>
              <a:t>The imaging score</a:t>
            </a:r>
            <a:endParaRPr lang="en-GB" sz="1800" noProof="0" dirty="0"/>
          </a:p>
        </p:txBody>
      </p:sp>
      <p:sp>
        <p:nvSpPr>
          <p:cNvPr id="17" name="Text 15"/>
          <p:cNvSpPr txBox="1"/>
          <p:nvPr/>
        </p:nvSpPr>
        <p:spPr>
          <a:xfrm>
            <a:off x="6210148" y="4933188"/>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D. </a:t>
            </a:r>
            <a:r>
              <a:rPr lang="en-GB" sz="1800" noProof="0" dirty="0">
                <a:solidFill>
                  <a:srgbClr val="1F3A63"/>
                </a:solidFill>
                <a:latin typeface="Calibri" pitchFamily="34" charset="0"/>
                <a:ea typeface="Calibri" pitchFamily="34" charset="-122"/>
                <a:cs typeface="Calibri" pitchFamily="34" charset="-120"/>
              </a:rPr>
              <a:t>The type of surgery</a:t>
            </a:r>
            <a:endParaRPr lang="en-GB" sz="1800" noProof="0" dirty="0"/>
          </a:p>
        </p:txBody>
      </p:sp>
      <p:sp>
        <p:nvSpPr>
          <p:cNvPr id="18" name="Text 16"/>
          <p:cNvSpPr txBox="1"/>
          <p:nvPr/>
        </p:nvSpPr>
        <p:spPr>
          <a:xfrm>
            <a:off x="731520" y="5362956"/>
            <a:ext cx="10728655" cy="244145"/>
          </a:xfrm>
          <a:prstGeom prst="rect">
            <a:avLst/>
          </a:prstGeom>
          <a:noFill/>
          <a:ln/>
        </p:spPr>
        <p:txBody>
          <a:bodyPr wrap="square" lIns="0" tIns="0" rIns="0" bIns="0" rtlCol="0" anchor="t"/>
          <a:lstStyle/>
          <a:p>
            <a:pPr marL="0" indent="0">
              <a:lnSpc>
                <a:spcPct val="92000"/>
              </a:lnSpc>
              <a:buNone/>
            </a:pPr>
            <a:r>
              <a:rPr lang="en-GB" sz="1350" b="1" noProof="0" dirty="0">
                <a:solidFill>
                  <a:srgbClr val="1B6E4A"/>
                </a:solidFill>
                <a:latin typeface="Calibri" pitchFamily="34" charset="0"/>
                <a:ea typeface="Calibri" pitchFamily="34" charset="-122"/>
                <a:cs typeface="Calibri" pitchFamily="34" charset="-120"/>
              </a:rPr>
              <a:t>Correct: B. </a:t>
            </a:r>
            <a:r>
              <a:rPr lang="en-GB" sz="1350" noProof="0" dirty="0">
                <a:solidFill>
                  <a:srgbClr val="0B1F3F"/>
                </a:solidFill>
                <a:latin typeface="Calibri" pitchFamily="34" charset="0"/>
                <a:ea typeface="Calibri" pitchFamily="34" charset="-122"/>
                <a:cs typeface="Calibri" pitchFamily="34" charset="-120"/>
              </a:rPr>
              <a:t>Grade is the microscopic appearance of the tumour cells. Stage is the extent of spread.</a:t>
            </a:r>
            <a:endParaRPr lang="en-GB" sz="1350" noProof="0" dirty="0"/>
          </a:p>
        </p:txBody>
      </p:sp>
    </p:spTree>
  </p:cSld>
  <p:clrMapOvr>
    <a:masterClrMapping/>
  </p:clrMapOvr>
</p:sld>
</file>

<file path=ppt/slides/slide155.xml><?xml version="1.0" encoding="utf-8"?>
<p:sld xmlns:a="http://schemas.openxmlformats.org/drawingml/2006/main" xmlns:r="http://schemas.openxmlformats.org/officeDocument/2006/relationships" xmlns:p="http://schemas.openxmlformats.org/presentationml/2006/main">
  <p:cSld name="Slide 12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en-GB" sz="1100" b="1" kern="0" spc="100" noProof="0" dirty="0">
                <a:solidFill>
                  <a:srgbClr val="5B7699"/>
                </a:solidFill>
                <a:latin typeface="Calibri" pitchFamily="34" charset="0"/>
                <a:ea typeface="Calibri" pitchFamily="34" charset="-122"/>
                <a:cs typeface="Calibri" pitchFamily="34" charset="-120"/>
              </a:rPr>
              <a:t>F I N A L   C H E C K</a:t>
            </a:r>
            <a:endParaRPr lang="en-GB"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en-GB" sz="1000" noProof="0" dirty="0">
                <a:solidFill>
                  <a:srgbClr val="5B7699"/>
                </a:solidFill>
                <a:latin typeface="Calibri" pitchFamily="34" charset="0"/>
                <a:ea typeface="Calibri" pitchFamily="34" charset="-122"/>
                <a:cs typeface="Calibri" pitchFamily="34" charset="-120"/>
              </a:rPr>
              <a:t>Breast Cancer  |  Frontline HCP  |  Rwanda Biomedical Centre</a:t>
            </a:r>
            <a:endParaRPr lang="en-GB"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en-GB" sz="3000" b="1" noProof="0" dirty="0">
                <a:solidFill>
                  <a:srgbClr val="12315B"/>
                </a:solidFill>
                <a:latin typeface="Calibri" pitchFamily="34" charset="0"/>
                <a:ea typeface="Calibri" pitchFamily="34" charset="-122"/>
                <a:cs typeface="Calibri" pitchFamily="34" charset="-120"/>
              </a:rPr>
              <a:t>Post-test (6 of 10)</a:t>
            </a:r>
            <a:endParaRPr lang="en-GB" sz="3000" noProof="0" dirty="0"/>
          </a:p>
        </p:txBody>
      </p:sp>
      <p:sp>
        <p:nvSpPr>
          <p:cNvPr id="5" name="Shape 3"/>
          <p:cNvSpPr/>
          <p:nvPr/>
        </p:nvSpPr>
        <p:spPr>
          <a:xfrm>
            <a:off x="548640" y="1586027"/>
            <a:ext cx="11094415" cy="2335378"/>
          </a:xfrm>
          <a:prstGeom prst="roundRect">
            <a:avLst>
              <a:gd name="adj" fmla="val 2349"/>
            </a:avLst>
          </a:prstGeom>
          <a:solidFill>
            <a:srgbClr val="F4F8FC"/>
          </a:solidFill>
          <a:ln w="12700">
            <a:solidFill>
              <a:srgbClr val="C8D8EC"/>
            </a:solidFill>
            <a:prstDash val="solid"/>
          </a:ln>
        </p:spPr>
        <p:txBody>
          <a:bodyPr/>
          <a:lstStyle/>
          <a:p>
            <a:endParaRPr lang="en-GB" noProof="0" dirty="0"/>
          </a:p>
        </p:txBody>
      </p:sp>
      <p:sp>
        <p:nvSpPr>
          <p:cNvPr id="6" name="Text 4"/>
          <p:cNvSpPr txBox="1"/>
          <p:nvPr/>
        </p:nvSpPr>
        <p:spPr>
          <a:xfrm>
            <a:off x="731520" y="1695755"/>
            <a:ext cx="10728655" cy="384048"/>
          </a:xfrm>
          <a:prstGeom prst="rect">
            <a:avLst/>
          </a:prstGeom>
          <a:noFill/>
          <a:ln/>
        </p:spPr>
        <p:txBody>
          <a:bodyPr wrap="square" lIns="0" tIns="0" rIns="0" bIns="0" rtlCol="0" anchor="t"/>
          <a:lstStyle/>
          <a:p>
            <a:pPr marL="0" indent="0">
              <a:buNone/>
            </a:pPr>
            <a:r>
              <a:rPr lang="en-GB" sz="1800" b="1" noProof="0" dirty="0">
                <a:solidFill>
                  <a:srgbClr val="12315B"/>
                </a:solidFill>
                <a:latin typeface="Calibri" pitchFamily="34" charset="0"/>
                <a:ea typeface="Calibri" pitchFamily="34" charset="-122"/>
                <a:cs typeface="Calibri" pitchFamily="34" charset="-120"/>
              </a:rPr>
              <a:t>Q11. Which finding needs urgent referral?</a:t>
            </a:r>
            <a:endParaRPr lang="en-GB" sz="1800" noProof="0" dirty="0"/>
          </a:p>
        </p:txBody>
      </p:sp>
      <p:sp>
        <p:nvSpPr>
          <p:cNvPr id="7" name="Text 5"/>
          <p:cNvSpPr txBox="1"/>
          <p:nvPr/>
        </p:nvSpPr>
        <p:spPr>
          <a:xfrm>
            <a:off x="731520" y="2116379"/>
            <a:ext cx="5250028" cy="813816"/>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A. </a:t>
            </a:r>
            <a:r>
              <a:rPr lang="en-GB" sz="1800" noProof="0" dirty="0">
                <a:solidFill>
                  <a:srgbClr val="1F3A63"/>
                </a:solidFill>
                <a:latin typeface="Calibri" pitchFamily="34" charset="0"/>
                <a:ea typeface="Calibri" pitchFamily="34" charset="-122"/>
                <a:cs typeface="Calibri" pitchFamily="34" charset="-120"/>
              </a:rPr>
              <a:t>Cyclical bilateral breast tenderness with a normal examination</a:t>
            </a:r>
            <a:endParaRPr lang="en-GB" sz="1800" noProof="0" dirty="0"/>
          </a:p>
        </p:txBody>
      </p:sp>
      <p:sp>
        <p:nvSpPr>
          <p:cNvPr id="8" name="Text 6"/>
          <p:cNvSpPr txBox="1"/>
          <p:nvPr/>
        </p:nvSpPr>
        <p:spPr>
          <a:xfrm>
            <a:off x="6210148" y="2116379"/>
            <a:ext cx="5250028" cy="813816"/>
          </a:xfrm>
          <a:prstGeom prst="rect">
            <a:avLst/>
          </a:prstGeom>
          <a:noFill/>
          <a:ln/>
        </p:spPr>
        <p:txBody>
          <a:bodyPr wrap="square" lIns="0" tIns="0" rIns="0" bIns="0" rtlCol="0" anchor="t"/>
          <a:lstStyle/>
          <a:p>
            <a:pPr marL="0" indent="0">
              <a:lnSpc>
                <a:spcPct val="90000"/>
              </a:lnSpc>
              <a:buNone/>
            </a:pPr>
            <a:r>
              <a:rPr lang="en-GB" sz="1800" b="1" noProof="0" dirty="0">
                <a:solidFill>
                  <a:srgbClr val="1B6E4A"/>
                </a:solidFill>
                <a:latin typeface="Calibri" pitchFamily="34" charset="0"/>
                <a:ea typeface="Calibri" pitchFamily="34" charset="-122"/>
                <a:cs typeface="Calibri" pitchFamily="34" charset="-120"/>
              </a:rPr>
              <a:t>B. A breast that became red, swollen and thickened over three weeks and has not settled with treatment</a:t>
            </a:r>
            <a:endParaRPr lang="en-GB" sz="1800" noProof="0" dirty="0"/>
          </a:p>
        </p:txBody>
      </p:sp>
      <p:sp>
        <p:nvSpPr>
          <p:cNvPr id="9" name="Text 7"/>
          <p:cNvSpPr txBox="1"/>
          <p:nvPr/>
        </p:nvSpPr>
        <p:spPr>
          <a:xfrm>
            <a:off x="731520" y="2985059"/>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C. </a:t>
            </a:r>
            <a:r>
              <a:rPr lang="en-GB" sz="1800" noProof="0" dirty="0">
                <a:solidFill>
                  <a:srgbClr val="1F3A63"/>
                </a:solidFill>
                <a:latin typeface="Calibri" pitchFamily="34" charset="0"/>
                <a:ea typeface="Calibri" pitchFamily="34" charset="-122"/>
                <a:cs typeface="Calibri" pitchFamily="34" charset="-120"/>
              </a:rPr>
              <a:t>Long-standing unchanged nodularity</a:t>
            </a:r>
            <a:endParaRPr lang="en-GB" sz="1800" noProof="0" dirty="0"/>
          </a:p>
        </p:txBody>
      </p:sp>
      <p:sp>
        <p:nvSpPr>
          <p:cNvPr id="10" name="Text 8"/>
          <p:cNvSpPr txBox="1"/>
          <p:nvPr/>
        </p:nvSpPr>
        <p:spPr>
          <a:xfrm>
            <a:off x="6210148" y="2985059"/>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D. </a:t>
            </a:r>
            <a:r>
              <a:rPr lang="en-GB" sz="1800" noProof="0" dirty="0">
                <a:solidFill>
                  <a:srgbClr val="1F3A63"/>
                </a:solidFill>
                <a:latin typeface="Calibri" pitchFamily="34" charset="0"/>
                <a:ea typeface="Calibri" pitchFamily="34" charset="-122"/>
                <a:cs typeface="Calibri" pitchFamily="34" charset="-120"/>
              </a:rPr>
              <a:t>A family history in a woman with no symptoms</a:t>
            </a:r>
            <a:endParaRPr lang="en-GB" sz="1800" noProof="0" dirty="0"/>
          </a:p>
        </p:txBody>
      </p:sp>
      <p:sp>
        <p:nvSpPr>
          <p:cNvPr id="11" name="Text 9"/>
          <p:cNvSpPr txBox="1"/>
          <p:nvPr/>
        </p:nvSpPr>
        <p:spPr>
          <a:xfrm>
            <a:off x="731520" y="3414827"/>
            <a:ext cx="10728655" cy="433426"/>
          </a:xfrm>
          <a:prstGeom prst="rect">
            <a:avLst/>
          </a:prstGeom>
          <a:noFill/>
          <a:ln/>
        </p:spPr>
        <p:txBody>
          <a:bodyPr wrap="square" lIns="0" tIns="0" rIns="0" bIns="0" rtlCol="0" anchor="t"/>
          <a:lstStyle/>
          <a:p>
            <a:pPr marL="0" indent="0">
              <a:lnSpc>
                <a:spcPct val="92000"/>
              </a:lnSpc>
              <a:buNone/>
            </a:pPr>
            <a:r>
              <a:rPr lang="en-GB" sz="1350" b="1" noProof="0" dirty="0">
                <a:solidFill>
                  <a:srgbClr val="1B6E4A"/>
                </a:solidFill>
                <a:latin typeface="Calibri" pitchFamily="34" charset="0"/>
                <a:ea typeface="Calibri" pitchFamily="34" charset="-122"/>
                <a:cs typeface="Calibri" pitchFamily="34" charset="-120"/>
              </a:rPr>
              <a:t>Correct: B. </a:t>
            </a:r>
            <a:r>
              <a:rPr lang="en-GB" sz="1350" noProof="0" dirty="0">
                <a:solidFill>
                  <a:srgbClr val="0B1F3F"/>
                </a:solidFill>
                <a:latin typeface="Calibri" pitchFamily="34" charset="0"/>
                <a:ea typeface="Calibri" pitchFamily="34" charset="-122"/>
                <a:cs typeface="Calibri" pitchFamily="34" charset="-120"/>
              </a:rPr>
              <a:t>This raises the possibility of inflammatory breast cancer, which needs urgent referral, within 24 hours. It often presents without a discrete lump.</a:t>
            </a:r>
            <a:endParaRPr lang="en-GB" sz="1350" noProof="0" dirty="0"/>
          </a:p>
        </p:txBody>
      </p:sp>
      <p:sp>
        <p:nvSpPr>
          <p:cNvPr id="12" name="Shape 10"/>
          <p:cNvSpPr/>
          <p:nvPr/>
        </p:nvSpPr>
        <p:spPr>
          <a:xfrm>
            <a:off x="548640" y="4122572"/>
            <a:ext cx="11094415" cy="1899209"/>
          </a:xfrm>
          <a:prstGeom prst="roundRect">
            <a:avLst>
              <a:gd name="adj" fmla="val 2889"/>
            </a:avLst>
          </a:prstGeom>
          <a:solidFill>
            <a:srgbClr val="F4F8FC"/>
          </a:solidFill>
          <a:ln w="12700">
            <a:solidFill>
              <a:srgbClr val="C8D8EC"/>
            </a:solidFill>
            <a:prstDash val="solid"/>
          </a:ln>
        </p:spPr>
        <p:txBody>
          <a:bodyPr/>
          <a:lstStyle/>
          <a:p>
            <a:endParaRPr lang="en-GB" noProof="0" dirty="0"/>
          </a:p>
        </p:txBody>
      </p:sp>
      <p:sp>
        <p:nvSpPr>
          <p:cNvPr id="13" name="Text 11"/>
          <p:cNvSpPr txBox="1"/>
          <p:nvPr/>
        </p:nvSpPr>
        <p:spPr>
          <a:xfrm>
            <a:off x="731520" y="4232300"/>
            <a:ext cx="10728655" cy="384048"/>
          </a:xfrm>
          <a:prstGeom prst="rect">
            <a:avLst/>
          </a:prstGeom>
          <a:noFill/>
          <a:ln/>
        </p:spPr>
        <p:txBody>
          <a:bodyPr wrap="square" lIns="0" tIns="0" rIns="0" bIns="0" rtlCol="0" anchor="t"/>
          <a:lstStyle/>
          <a:p>
            <a:pPr marL="0" indent="0">
              <a:buNone/>
            </a:pPr>
            <a:r>
              <a:rPr lang="en-GB" sz="1800" b="1" noProof="0" dirty="0">
                <a:solidFill>
                  <a:srgbClr val="12315B"/>
                </a:solidFill>
                <a:latin typeface="Calibri" pitchFamily="34" charset="0"/>
                <a:ea typeface="Calibri" pitchFamily="34" charset="-122"/>
                <a:cs typeface="Calibri" pitchFamily="34" charset="-120"/>
              </a:rPr>
              <a:t>Q12. Counselling before referral should:</a:t>
            </a:r>
            <a:endParaRPr lang="en-GB" sz="1800" noProof="0" dirty="0"/>
          </a:p>
        </p:txBody>
      </p:sp>
      <p:sp>
        <p:nvSpPr>
          <p:cNvPr id="14" name="Text 12"/>
          <p:cNvSpPr txBox="1"/>
          <p:nvPr/>
        </p:nvSpPr>
        <p:spPr>
          <a:xfrm>
            <a:off x="731520" y="4652924"/>
            <a:ext cx="5250028" cy="566928"/>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A. </a:t>
            </a:r>
            <a:r>
              <a:rPr lang="en-GB" sz="1800" noProof="0" dirty="0">
                <a:solidFill>
                  <a:srgbClr val="1F3A63"/>
                </a:solidFill>
                <a:latin typeface="Calibri" pitchFamily="34" charset="0"/>
                <a:ea typeface="Calibri" pitchFamily="34" charset="-122"/>
                <a:cs typeface="Calibri" pitchFamily="34" charset="-120"/>
              </a:rPr>
              <a:t>Promise that it is not cancer</a:t>
            </a:r>
            <a:endParaRPr lang="en-GB" sz="1800" noProof="0" dirty="0"/>
          </a:p>
        </p:txBody>
      </p:sp>
      <p:sp>
        <p:nvSpPr>
          <p:cNvPr id="15" name="Text 13"/>
          <p:cNvSpPr txBox="1"/>
          <p:nvPr/>
        </p:nvSpPr>
        <p:spPr>
          <a:xfrm>
            <a:off x="6210148" y="4652924"/>
            <a:ext cx="5250028" cy="566928"/>
          </a:xfrm>
          <a:prstGeom prst="rect">
            <a:avLst/>
          </a:prstGeom>
          <a:noFill/>
          <a:ln/>
        </p:spPr>
        <p:txBody>
          <a:bodyPr wrap="square" lIns="0" tIns="0" rIns="0" bIns="0" rtlCol="0" anchor="t"/>
          <a:lstStyle/>
          <a:p>
            <a:pPr marL="0" indent="0">
              <a:lnSpc>
                <a:spcPct val="90000"/>
              </a:lnSpc>
              <a:buNone/>
            </a:pPr>
            <a:r>
              <a:rPr lang="en-GB" sz="1800" b="1" noProof="0" dirty="0">
                <a:solidFill>
                  <a:srgbClr val="1B6E4A"/>
                </a:solidFill>
                <a:latin typeface="Calibri" pitchFamily="34" charset="0"/>
                <a:ea typeface="Calibri" pitchFamily="34" charset="-122"/>
                <a:cs typeface="Calibri" pitchFamily="34" charset="-120"/>
              </a:rPr>
              <a:t>B. Explain that assessment is needed, and answer questions honestly without creating fear</a:t>
            </a:r>
            <a:endParaRPr lang="en-GB" sz="1800" noProof="0" dirty="0"/>
          </a:p>
        </p:txBody>
      </p:sp>
      <p:sp>
        <p:nvSpPr>
          <p:cNvPr id="16" name="Text 14"/>
          <p:cNvSpPr txBox="1"/>
          <p:nvPr/>
        </p:nvSpPr>
        <p:spPr>
          <a:xfrm>
            <a:off x="731520" y="5274716"/>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C. </a:t>
            </a:r>
            <a:r>
              <a:rPr lang="en-GB" sz="1800" noProof="0" dirty="0">
                <a:solidFill>
                  <a:srgbClr val="1F3A63"/>
                </a:solidFill>
                <a:latin typeface="Calibri" pitchFamily="34" charset="0"/>
                <a:ea typeface="Calibri" pitchFamily="34" charset="-122"/>
                <a:cs typeface="Calibri" pitchFamily="34" charset="-120"/>
              </a:rPr>
              <a:t>Withhold the reason for referral</a:t>
            </a:r>
            <a:endParaRPr lang="en-GB" sz="1800" noProof="0" dirty="0"/>
          </a:p>
        </p:txBody>
      </p:sp>
      <p:sp>
        <p:nvSpPr>
          <p:cNvPr id="17" name="Text 15"/>
          <p:cNvSpPr txBox="1"/>
          <p:nvPr/>
        </p:nvSpPr>
        <p:spPr>
          <a:xfrm>
            <a:off x="6210148" y="5274716"/>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D. </a:t>
            </a:r>
            <a:r>
              <a:rPr lang="en-GB" sz="1800" noProof="0" dirty="0">
                <a:solidFill>
                  <a:srgbClr val="1F3A63"/>
                </a:solidFill>
                <a:latin typeface="Calibri" pitchFamily="34" charset="0"/>
                <a:ea typeface="Calibri" pitchFamily="34" charset="-122"/>
                <a:cs typeface="Calibri" pitchFamily="34" charset="-120"/>
              </a:rPr>
              <a:t>Leave the person to arrange the appointment</a:t>
            </a:r>
            <a:endParaRPr lang="en-GB" sz="1800" noProof="0" dirty="0"/>
          </a:p>
        </p:txBody>
      </p:sp>
      <p:sp>
        <p:nvSpPr>
          <p:cNvPr id="18" name="Text 16"/>
          <p:cNvSpPr txBox="1"/>
          <p:nvPr/>
        </p:nvSpPr>
        <p:spPr>
          <a:xfrm>
            <a:off x="731520" y="5704484"/>
            <a:ext cx="10728655" cy="244145"/>
          </a:xfrm>
          <a:prstGeom prst="rect">
            <a:avLst/>
          </a:prstGeom>
          <a:noFill/>
          <a:ln/>
        </p:spPr>
        <p:txBody>
          <a:bodyPr wrap="square" lIns="0" tIns="0" rIns="0" bIns="0" rtlCol="0" anchor="t"/>
          <a:lstStyle/>
          <a:p>
            <a:pPr marL="0" indent="0">
              <a:lnSpc>
                <a:spcPct val="92000"/>
              </a:lnSpc>
              <a:buNone/>
            </a:pPr>
            <a:r>
              <a:rPr lang="en-GB" sz="1350" b="1" noProof="0" dirty="0">
                <a:solidFill>
                  <a:srgbClr val="1B6E4A"/>
                </a:solidFill>
                <a:latin typeface="Calibri" pitchFamily="34" charset="0"/>
                <a:ea typeface="Calibri" pitchFamily="34" charset="-122"/>
                <a:cs typeface="Calibri" pitchFamily="34" charset="-120"/>
              </a:rPr>
              <a:t>Correct: B. </a:t>
            </a:r>
            <a:r>
              <a:rPr lang="en-GB" sz="1350" noProof="0" dirty="0">
                <a:solidFill>
                  <a:srgbClr val="0B1F3F"/>
                </a:solidFill>
                <a:latin typeface="Calibri" pitchFamily="34" charset="0"/>
                <a:ea typeface="Calibri" pitchFamily="34" charset="-122"/>
                <a:cs typeface="Calibri" pitchFamily="34" charset="-120"/>
              </a:rPr>
              <a:t>Explain the next step honestly, acknowledge uncertainty, correct myths, and arrange the referral yourself.</a:t>
            </a:r>
            <a:endParaRPr lang="en-GB" sz="1350" noProof="0" dirty="0"/>
          </a:p>
        </p:txBody>
      </p:sp>
    </p:spTree>
  </p:cSld>
  <p:clrMapOvr>
    <a:masterClrMapping/>
  </p:clrMapOvr>
</p:sld>
</file>

<file path=ppt/slides/slide156.xml><?xml version="1.0" encoding="utf-8"?>
<p:sld xmlns:a="http://schemas.openxmlformats.org/drawingml/2006/main" xmlns:r="http://schemas.openxmlformats.org/officeDocument/2006/relationships" xmlns:p="http://schemas.openxmlformats.org/presentationml/2006/main">
  <p:cSld name="Slide 12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en-GB" sz="1100" b="1" kern="0" spc="100" noProof="0" dirty="0">
                <a:solidFill>
                  <a:srgbClr val="5B7699"/>
                </a:solidFill>
                <a:latin typeface="Calibri" pitchFamily="34" charset="0"/>
                <a:ea typeface="Calibri" pitchFamily="34" charset="-122"/>
                <a:cs typeface="Calibri" pitchFamily="34" charset="-120"/>
              </a:rPr>
              <a:t>F I N A L   C H E C K</a:t>
            </a:r>
            <a:endParaRPr lang="en-GB"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en-GB" sz="1000" noProof="0" dirty="0">
                <a:solidFill>
                  <a:srgbClr val="5B7699"/>
                </a:solidFill>
                <a:latin typeface="Calibri" pitchFamily="34" charset="0"/>
                <a:ea typeface="Calibri" pitchFamily="34" charset="-122"/>
                <a:cs typeface="Calibri" pitchFamily="34" charset="-120"/>
              </a:rPr>
              <a:t>Breast Cancer  |  Frontline HCP  |  Rwanda Biomedical Centre</a:t>
            </a:r>
            <a:endParaRPr lang="en-GB"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en-GB" sz="3000" b="1" noProof="0" dirty="0">
                <a:solidFill>
                  <a:srgbClr val="12315B"/>
                </a:solidFill>
                <a:latin typeface="Calibri" pitchFamily="34" charset="0"/>
                <a:ea typeface="Calibri" pitchFamily="34" charset="-122"/>
                <a:cs typeface="Calibri" pitchFamily="34" charset="-120"/>
              </a:rPr>
              <a:t>Post-test (7 of 10)</a:t>
            </a:r>
            <a:endParaRPr lang="en-GB" sz="3000" noProof="0" dirty="0"/>
          </a:p>
        </p:txBody>
      </p:sp>
      <p:sp>
        <p:nvSpPr>
          <p:cNvPr id="5" name="Shape 3"/>
          <p:cNvSpPr/>
          <p:nvPr/>
        </p:nvSpPr>
        <p:spPr>
          <a:xfrm>
            <a:off x="548640" y="1586027"/>
            <a:ext cx="11094415" cy="2335378"/>
          </a:xfrm>
          <a:prstGeom prst="roundRect">
            <a:avLst>
              <a:gd name="adj" fmla="val 2349"/>
            </a:avLst>
          </a:prstGeom>
          <a:solidFill>
            <a:srgbClr val="F4F8FC"/>
          </a:solidFill>
          <a:ln w="12700">
            <a:solidFill>
              <a:srgbClr val="C8D8EC"/>
            </a:solidFill>
            <a:prstDash val="solid"/>
          </a:ln>
        </p:spPr>
        <p:txBody>
          <a:bodyPr/>
          <a:lstStyle/>
          <a:p>
            <a:endParaRPr lang="en-GB" noProof="0" dirty="0"/>
          </a:p>
        </p:txBody>
      </p:sp>
      <p:sp>
        <p:nvSpPr>
          <p:cNvPr id="6" name="Text 4"/>
          <p:cNvSpPr txBox="1"/>
          <p:nvPr/>
        </p:nvSpPr>
        <p:spPr>
          <a:xfrm>
            <a:off x="731520" y="1695755"/>
            <a:ext cx="10728655" cy="384048"/>
          </a:xfrm>
          <a:prstGeom prst="rect">
            <a:avLst/>
          </a:prstGeom>
          <a:noFill/>
          <a:ln/>
        </p:spPr>
        <p:txBody>
          <a:bodyPr wrap="square" lIns="0" tIns="0" rIns="0" bIns="0" rtlCol="0" anchor="t"/>
          <a:lstStyle/>
          <a:p>
            <a:pPr marL="0" indent="0">
              <a:buNone/>
            </a:pPr>
            <a:r>
              <a:rPr lang="en-GB" sz="1800" b="1" noProof="0" dirty="0">
                <a:solidFill>
                  <a:srgbClr val="12315B"/>
                </a:solidFill>
                <a:latin typeface="Calibri" pitchFamily="34" charset="0"/>
                <a:ea typeface="Calibri" pitchFamily="34" charset="-122"/>
                <a:cs typeface="Calibri" pitchFamily="34" charset="-120"/>
              </a:rPr>
              <a:t>Q13. What should be recorded at first contact for the cancer registry?</a:t>
            </a:r>
            <a:endParaRPr lang="en-GB" sz="1800" noProof="0" dirty="0"/>
          </a:p>
        </p:txBody>
      </p:sp>
      <p:sp>
        <p:nvSpPr>
          <p:cNvPr id="7" name="Text 5"/>
          <p:cNvSpPr txBox="1"/>
          <p:nvPr/>
        </p:nvSpPr>
        <p:spPr>
          <a:xfrm>
            <a:off x="731520" y="2116379"/>
            <a:ext cx="5250028" cy="813816"/>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A. </a:t>
            </a:r>
            <a:r>
              <a:rPr lang="en-GB" sz="1800" noProof="0" dirty="0">
                <a:solidFill>
                  <a:srgbClr val="1F3A63"/>
                </a:solidFill>
                <a:latin typeface="Calibri" pitchFamily="34" charset="0"/>
                <a:ea typeface="Calibri" pitchFamily="34" charset="-122"/>
                <a:cs typeface="Calibri" pitchFamily="34" charset="-120"/>
              </a:rPr>
              <a:t>Only confirmed diagnoses</a:t>
            </a:r>
            <a:endParaRPr lang="en-GB" sz="1800" noProof="0" dirty="0"/>
          </a:p>
        </p:txBody>
      </p:sp>
      <p:sp>
        <p:nvSpPr>
          <p:cNvPr id="8" name="Text 6"/>
          <p:cNvSpPr txBox="1"/>
          <p:nvPr/>
        </p:nvSpPr>
        <p:spPr>
          <a:xfrm>
            <a:off x="6210148" y="2116379"/>
            <a:ext cx="5250028" cy="813816"/>
          </a:xfrm>
          <a:prstGeom prst="rect">
            <a:avLst/>
          </a:prstGeom>
          <a:noFill/>
          <a:ln/>
        </p:spPr>
        <p:txBody>
          <a:bodyPr wrap="square" lIns="0" tIns="0" rIns="0" bIns="0" rtlCol="0" anchor="t"/>
          <a:lstStyle/>
          <a:p>
            <a:pPr marL="0" indent="0">
              <a:lnSpc>
                <a:spcPct val="90000"/>
              </a:lnSpc>
              <a:buNone/>
            </a:pPr>
            <a:r>
              <a:rPr lang="en-GB" sz="1800" b="1" noProof="0" dirty="0">
                <a:solidFill>
                  <a:srgbClr val="1B6E4A"/>
                </a:solidFill>
                <a:latin typeface="Calibri" pitchFamily="34" charset="0"/>
                <a:ea typeface="Calibri" pitchFamily="34" charset="-122"/>
                <a:cs typeface="Calibri" pitchFamily="34" charset="-120"/>
              </a:rPr>
              <a:t>B. The finding, the date it was first noticed, the date of this consultation, your examination findings and the referral destination</a:t>
            </a:r>
            <a:endParaRPr lang="en-GB" sz="1800" noProof="0" dirty="0"/>
          </a:p>
        </p:txBody>
      </p:sp>
      <p:sp>
        <p:nvSpPr>
          <p:cNvPr id="9" name="Text 7"/>
          <p:cNvSpPr txBox="1"/>
          <p:nvPr/>
        </p:nvSpPr>
        <p:spPr>
          <a:xfrm>
            <a:off x="731520" y="2985059"/>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C. </a:t>
            </a:r>
            <a:r>
              <a:rPr lang="en-GB" sz="1800" noProof="0" dirty="0">
                <a:solidFill>
                  <a:srgbClr val="1F3A63"/>
                </a:solidFill>
                <a:latin typeface="Calibri" pitchFamily="34" charset="0"/>
                <a:ea typeface="Calibri" pitchFamily="34" charset="-122"/>
                <a:cs typeface="Calibri" pitchFamily="34" charset="-120"/>
              </a:rPr>
              <a:t>Nothing until the biopsy result arrives</a:t>
            </a:r>
            <a:endParaRPr lang="en-GB" sz="1800" noProof="0" dirty="0"/>
          </a:p>
        </p:txBody>
      </p:sp>
      <p:sp>
        <p:nvSpPr>
          <p:cNvPr id="10" name="Text 8"/>
          <p:cNvSpPr txBox="1"/>
          <p:nvPr/>
        </p:nvSpPr>
        <p:spPr>
          <a:xfrm>
            <a:off x="6210148" y="2985059"/>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D. </a:t>
            </a:r>
            <a:r>
              <a:rPr lang="en-GB" sz="1800" noProof="0" dirty="0">
                <a:solidFill>
                  <a:srgbClr val="1F3A63"/>
                </a:solidFill>
                <a:latin typeface="Calibri" pitchFamily="34" charset="0"/>
                <a:ea typeface="Calibri" pitchFamily="34" charset="-122"/>
                <a:cs typeface="Calibri" pitchFamily="34" charset="-120"/>
              </a:rPr>
              <a:t>Only the person's name</a:t>
            </a:r>
            <a:endParaRPr lang="en-GB" sz="1800" noProof="0" dirty="0"/>
          </a:p>
        </p:txBody>
      </p:sp>
      <p:sp>
        <p:nvSpPr>
          <p:cNvPr id="11" name="Text 9"/>
          <p:cNvSpPr txBox="1"/>
          <p:nvPr/>
        </p:nvSpPr>
        <p:spPr>
          <a:xfrm>
            <a:off x="731520" y="3414827"/>
            <a:ext cx="10728655" cy="433426"/>
          </a:xfrm>
          <a:prstGeom prst="rect">
            <a:avLst/>
          </a:prstGeom>
          <a:noFill/>
          <a:ln/>
        </p:spPr>
        <p:txBody>
          <a:bodyPr wrap="square" lIns="0" tIns="0" rIns="0" bIns="0" rtlCol="0" anchor="t"/>
          <a:lstStyle/>
          <a:p>
            <a:pPr marL="0" indent="0">
              <a:lnSpc>
                <a:spcPct val="92000"/>
              </a:lnSpc>
              <a:buNone/>
            </a:pPr>
            <a:r>
              <a:rPr lang="en-GB" sz="1350" b="1" noProof="0" dirty="0">
                <a:solidFill>
                  <a:srgbClr val="1B6E4A"/>
                </a:solidFill>
                <a:latin typeface="Calibri" pitchFamily="34" charset="0"/>
                <a:ea typeface="Calibri" pitchFamily="34" charset="-122"/>
                <a:cs typeface="Calibri" pitchFamily="34" charset="-120"/>
              </a:rPr>
              <a:t>Correct: B. </a:t>
            </a:r>
            <a:r>
              <a:rPr lang="en-GB" sz="1350" noProof="0" dirty="0">
                <a:solidFill>
                  <a:srgbClr val="0B1F3F"/>
                </a:solidFill>
                <a:latin typeface="Calibri" pitchFamily="34" charset="0"/>
                <a:ea typeface="Calibri" pitchFamily="34" charset="-122"/>
                <a:cs typeface="Calibri" pitchFamily="34" charset="-120"/>
              </a:rPr>
              <a:t>A clinically suspected, unconfirmed case recorded well is valuable registry data. Submit at first suspicion and update the record later.</a:t>
            </a:r>
            <a:endParaRPr lang="en-GB" sz="1350" noProof="0" dirty="0"/>
          </a:p>
        </p:txBody>
      </p:sp>
      <p:sp>
        <p:nvSpPr>
          <p:cNvPr id="12" name="Shape 10"/>
          <p:cNvSpPr/>
          <p:nvPr/>
        </p:nvSpPr>
        <p:spPr>
          <a:xfrm>
            <a:off x="548640" y="4122572"/>
            <a:ext cx="11094415" cy="1899209"/>
          </a:xfrm>
          <a:prstGeom prst="roundRect">
            <a:avLst>
              <a:gd name="adj" fmla="val 2889"/>
            </a:avLst>
          </a:prstGeom>
          <a:solidFill>
            <a:srgbClr val="F4F8FC"/>
          </a:solidFill>
          <a:ln w="12700">
            <a:solidFill>
              <a:srgbClr val="C8D8EC"/>
            </a:solidFill>
            <a:prstDash val="solid"/>
          </a:ln>
        </p:spPr>
        <p:txBody>
          <a:bodyPr/>
          <a:lstStyle/>
          <a:p>
            <a:endParaRPr lang="en-GB" noProof="0" dirty="0"/>
          </a:p>
        </p:txBody>
      </p:sp>
      <p:sp>
        <p:nvSpPr>
          <p:cNvPr id="13" name="Text 11"/>
          <p:cNvSpPr txBox="1"/>
          <p:nvPr/>
        </p:nvSpPr>
        <p:spPr>
          <a:xfrm>
            <a:off x="731520" y="4232300"/>
            <a:ext cx="10728655" cy="384048"/>
          </a:xfrm>
          <a:prstGeom prst="rect">
            <a:avLst/>
          </a:prstGeom>
          <a:noFill/>
          <a:ln/>
        </p:spPr>
        <p:txBody>
          <a:bodyPr wrap="square" lIns="0" tIns="0" rIns="0" bIns="0" rtlCol="0" anchor="t"/>
          <a:lstStyle/>
          <a:p>
            <a:pPr marL="0" indent="0">
              <a:buNone/>
            </a:pPr>
            <a:r>
              <a:rPr lang="en-GB" sz="1800" b="1" noProof="0" dirty="0">
                <a:solidFill>
                  <a:srgbClr val="12315B"/>
                </a:solidFill>
                <a:latin typeface="Calibri" pitchFamily="34" charset="0"/>
                <a:ea typeface="Calibri" pitchFamily="34" charset="-122"/>
                <a:cs typeface="Calibri" pitchFamily="34" charset="-120"/>
              </a:rPr>
              <a:t>Q14. Histopathology is needed because it:</a:t>
            </a:r>
            <a:endParaRPr lang="en-GB" sz="1800" noProof="0" dirty="0"/>
          </a:p>
        </p:txBody>
      </p:sp>
      <p:sp>
        <p:nvSpPr>
          <p:cNvPr id="14" name="Text 12"/>
          <p:cNvSpPr txBox="1"/>
          <p:nvPr/>
        </p:nvSpPr>
        <p:spPr>
          <a:xfrm>
            <a:off x="731520" y="4652924"/>
            <a:ext cx="5250028" cy="566928"/>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A. </a:t>
            </a:r>
            <a:r>
              <a:rPr lang="en-GB" sz="1800" noProof="0" dirty="0">
                <a:solidFill>
                  <a:srgbClr val="1F3A63"/>
                </a:solidFill>
                <a:latin typeface="Calibri" pitchFamily="34" charset="0"/>
                <a:ea typeface="Calibri" pitchFamily="34" charset="-122"/>
                <a:cs typeface="Calibri" pitchFamily="34" charset="-120"/>
              </a:rPr>
              <a:t>Measures tumour size on imaging</a:t>
            </a:r>
            <a:endParaRPr lang="en-GB" sz="1800" noProof="0" dirty="0"/>
          </a:p>
        </p:txBody>
      </p:sp>
      <p:sp>
        <p:nvSpPr>
          <p:cNvPr id="15" name="Text 13"/>
          <p:cNvSpPr txBox="1"/>
          <p:nvPr/>
        </p:nvSpPr>
        <p:spPr>
          <a:xfrm>
            <a:off x="6210148" y="4652924"/>
            <a:ext cx="5250028" cy="566928"/>
          </a:xfrm>
          <a:prstGeom prst="rect">
            <a:avLst/>
          </a:prstGeom>
          <a:noFill/>
          <a:ln/>
        </p:spPr>
        <p:txBody>
          <a:bodyPr wrap="square" lIns="0" tIns="0" rIns="0" bIns="0" rtlCol="0" anchor="t"/>
          <a:lstStyle/>
          <a:p>
            <a:pPr marL="0" indent="0">
              <a:lnSpc>
                <a:spcPct val="90000"/>
              </a:lnSpc>
              <a:buNone/>
            </a:pPr>
            <a:r>
              <a:rPr lang="en-GB" sz="1800" b="1" noProof="0" dirty="0">
                <a:solidFill>
                  <a:srgbClr val="1B6E4A"/>
                </a:solidFill>
                <a:latin typeface="Calibri" pitchFamily="34" charset="0"/>
                <a:ea typeface="Calibri" pitchFamily="34" charset="-122"/>
                <a:cs typeface="Calibri" pitchFamily="34" charset="-120"/>
              </a:rPr>
              <a:t>B. Confirms cancer and describes type, grade and receptor status</a:t>
            </a:r>
            <a:endParaRPr lang="en-GB" sz="1800" noProof="0" dirty="0"/>
          </a:p>
        </p:txBody>
      </p:sp>
      <p:sp>
        <p:nvSpPr>
          <p:cNvPr id="16" name="Text 14"/>
          <p:cNvSpPr txBox="1"/>
          <p:nvPr/>
        </p:nvSpPr>
        <p:spPr>
          <a:xfrm>
            <a:off x="731520" y="5274716"/>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C. </a:t>
            </a:r>
            <a:r>
              <a:rPr lang="en-GB" sz="1800" noProof="0" dirty="0">
                <a:solidFill>
                  <a:srgbClr val="1F3A63"/>
                </a:solidFill>
                <a:latin typeface="Calibri" pitchFamily="34" charset="0"/>
                <a:ea typeface="Calibri" pitchFamily="34" charset="-122"/>
                <a:cs typeface="Calibri" pitchFamily="34" charset="-120"/>
              </a:rPr>
              <a:t>Replaces staging imaging</a:t>
            </a:r>
            <a:endParaRPr lang="en-GB" sz="1800" noProof="0" dirty="0"/>
          </a:p>
        </p:txBody>
      </p:sp>
      <p:sp>
        <p:nvSpPr>
          <p:cNvPr id="17" name="Text 15"/>
          <p:cNvSpPr txBox="1"/>
          <p:nvPr/>
        </p:nvSpPr>
        <p:spPr>
          <a:xfrm>
            <a:off x="6210148" y="5274716"/>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D. </a:t>
            </a:r>
            <a:r>
              <a:rPr lang="en-GB" sz="1800" noProof="0" dirty="0">
                <a:solidFill>
                  <a:srgbClr val="1F3A63"/>
                </a:solidFill>
                <a:latin typeface="Calibri" pitchFamily="34" charset="0"/>
                <a:ea typeface="Calibri" pitchFamily="34" charset="-122"/>
                <a:cs typeface="Calibri" pitchFamily="34" charset="-120"/>
              </a:rPr>
              <a:t>Detects family history</a:t>
            </a:r>
            <a:endParaRPr lang="en-GB" sz="1800" noProof="0" dirty="0"/>
          </a:p>
        </p:txBody>
      </p:sp>
      <p:sp>
        <p:nvSpPr>
          <p:cNvPr id="18" name="Text 16"/>
          <p:cNvSpPr txBox="1"/>
          <p:nvPr/>
        </p:nvSpPr>
        <p:spPr>
          <a:xfrm>
            <a:off x="731520" y="5704484"/>
            <a:ext cx="10728655" cy="244145"/>
          </a:xfrm>
          <a:prstGeom prst="rect">
            <a:avLst/>
          </a:prstGeom>
          <a:noFill/>
          <a:ln/>
        </p:spPr>
        <p:txBody>
          <a:bodyPr wrap="square" lIns="0" tIns="0" rIns="0" bIns="0" rtlCol="0" anchor="t"/>
          <a:lstStyle/>
          <a:p>
            <a:pPr marL="0" indent="0">
              <a:lnSpc>
                <a:spcPct val="92000"/>
              </a:lnSpc>
              <a:buNone/>
            </a:pPr>
            <a:r>
              <a:rPr lang="en-GB" sz="1350" b="1" noProof="0" dirty="0">
                <a:solidFill>
                  <a:srgbClr val="1B6E4A"/>
                </a:solidFill>
                <a:latin typeface="Calibri" pitchFamily="34" charset="0"/>
                <a:ea typeface="Calibri" pitchFamily="34" charset="-122"/>
                <a:cs typeface="Calibri" pitchFamily="34" charset="-120"/>
              </a:rPr>
              <a:t>Correct: B. </a:t>
            </a:r>
            <a:r>
              <a:rPr lang="en-GB" sz="1350" noProof="0" dirty="0">
                <a:solidFill>
                  <a:srgbClr val="0B1F3F"/>
                </a:solidFill>
                <a:latin typeface="Calibri" pitchFamily="34" charset="0"/>
                <a:ea typeface="Calibri" pitchFamily="34" charset="-122"/>
                <a:cs typeface="Calibri" pitchFamily="34" charset="-120"/>
              </a:rPr>
              <a:t>Tissue diagnosis confirms cancer, names the type and grade, and allows ER, PR and HER2 testing that guides treatment.</a:t>
            </a:r>
            <a:endParaRPr lang="en-GB" sz="1350" noProof="0" dirty="0"/>
          </a:p>
        </p:txBody>
      </p:sp>
    </p:spTree>
  </p:cSld>
  <p:clrMapOvr>
    <a:masterClrMapping/>
  </p:clrMapOvr>
</p:sld>
</file>

<file path=ppt/slides/slide157.xml><?xml version="1.0" encoding="utf-8"?>
<p:sld xmlns:a="http://schemas.openxmlformats.org/drawingml/2006/main" xmlns:r="http://schemas.openxmlformats.org/officeDocument/2006/relationships" xmlns:p="http://schemas.openxmlformats.org/presentationml/2006/main">
  <p:cSld name="Slide 12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en-GB" sz="1100" b="1" kern="0" spc="100" noProof="0" dirty="0">
                <a:solidFill>
                  <a:srgbClr val="5B7699"/>
                </a:solidFill>
                <a:latin typeface="Calibri" pitchFamily="34" charset="0"/>
                <a:ea typeface="Calibri" pitchFamily="34" charset="-122"/>
                <a:cs typeface="Calibri" pitchFamily="34" charset="-120"/>
              </a:rPr>
              <a:t>F I N A L   C H E C K</a:t>
            </a:r>
            <a:endParaRPr lang="en-GB"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en-GB" sz="1000" noProof="0" dirty="0">
                <a:solidFill>
                  <a:srgbClr val="5B7699"/>
                </a:solidFill>
                <a:latin typeface="Calibri" pitchFamily="34" charset="0"/>
                <a:ea typeface="Calibri" pitchFamily="34" charset="-122"/>
                <a:cs typeface="Calibri" pitchFamily="34" charset="-120"/>
              </a:rPr>
              <a:t>Breast Cancer  |  Frontline HCP  |  Rwanda Biomedical Centre</a:t>
            </a:r>
            <a:endParaRPr lang="en-GB"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en-GB" sz="3000" b="1" noProof="0" dirty="0">
                <a:solidFill>
                  <a:srgbClr val="12315B"/>
                </a:solidFill>
                <a:latin typeface="Calibri" pitchFamily="34" charset="0"/>
                <a:ea typeface="Calibri" pitchFamily="34" charset="-122"/>
                <a:cs typeface="Calibri" pitchFamily="34" charset="-120"/>
              </a:rPr>
              <a:t>Post-test (8 of 10)</a:t>
            </a:r>
            <a:endParaRPr lang="en-GB" sz="3000" noProof="0" dirty="0"/>
          </a:p>
        </p:txBody>
      </p:sp>
      <p:sp>
        <p:nvSpPr>
          <p:cNvPr id="5" name="Shape 3"/>
          <p:cNvSpPr/>
          <p:nvPr/>
        </p:nvSpPr>
        <p:spPr>
          <a:xfrm>
            <a:off x="548640" y="1614830"/>
            <a:ext cx="11094415" cy="2335378"/>
          </a:xfrm>
          <a:prstGeom prst="roundRect">
            <a:avLst>
              <a:gd name="adj" fmla="val 2349"/>
            </a:avLst>
          </a:prstGeom>
          <a:solidFill>
            <a:srgbClr val="F4F8FC"/>
          </a:solidFill>
          <a:ln w="12700">
            <a:solidFill>
              <a:srgbClr val="C8D8EC"/>
            </a:solidFill>
            <a:prstDash val="solid"/>
          </a:ln>
        </p:spPr>
        <p:txBody>
          <a:bodyPr/>
          <a:lstStyle/>
          <a:p>
            <a:endParaRPr lang="en-GB" noProof="0" dirty="0"/>
          </a:p>
        </p:txBody>
      </p:sp>
      <p:sp>
        <p:nvSpPr>
          <p:cNvPr id="6" name="Text 4"/>
          <p:cNvSpPr txBox="1"/>
          <p:nvPr/>
        </p:nvSpPr>
        <p:spPr>
          <a:xfrm>
            <a:off x="731520" y="1724558"/>
            <a:ext cx="10728655" cy="384048"/>
          </a:xfrm>
          <a:prstGeom prst="rect">
            <a:avLst/>
          </a:prstGeom>
          <a:noFill/>
          <a:ln/>
        </p:spPr>
        <p:txBody>
          <a:bodyPr wrap="square" lIns="0" tIns="0" rIns="0" bIns="0" rtlCol="0" anchor="t"/>
          <a:lstStyle/>
          <a:p>
            <a:pPr marL="0" indent="0">
              <a:buNone/>
            </a:pPr>
            <a:r>
              <a:rPr lang="en-GB" sz="1800" b="1" noProof="0" dirty="0">
                <a:solidFill>
                  <a:srgbClr val="12315B"/>
                </a:solidFill>
                <a:latin typeface="Calibri" pitchFamily="34" charset="0"/>
                <a:ea typeface="Calibri" pitchFamily="34" charset="-122"/>
                <a:cs typeface="Calibri" pitchFamily="34" charset="-120"/>
              </a:rPr>
              <a:t>Q15. A tumour reported as triple negative:</a:t>
            </a:r>
            <a:endParaRPr lang="en-GB" sz="1800" noProof="0" dirty="0"/>
          </a:p>
        </p:txBody>
      </p:sp>
      <p:sp>
        <p:nvSpPr>
          <p:cNvPr id="7" name="Text 5"/>
          <p:cNvSpPr txBox="1"/>
          <p:nvPr/>
        </p:nvSpPr>
        <p:spPr>
          <a:xfrm>
            <a:off x="731520" y="2145182"/>
            <a:ext cx="5250028" cy="813816"/>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A. </a:t>
            </a:r>
            <a:r>
              <a:rPr lang="en-GB" sz="1800" noProof="0" dirty="0">
                <a:solidFill>
                  <a:srgbClr val="1F3A63"/>
                </a:solidFill>
                <a:latin typeface="Calibri" pitchFamily="34" charset="0"/>
                <a:ea typeface="Calibri" pitchFamily="34" charset="-122"/>
                <a:cs typeface="Calibri" pitchFamily="34" charset="-120"/>
              </a:rPr>
              <a:t>Cannot be treated</a:t>
            </a:r>
            <a:endParaRPr lang="en-GB" sz="1800" noProof="0" dirty="0"/>
          </a:p>
        </p:txBody>
      </p:sp>
      <p:sp>
        <p:nvSpPr>
          <p:cNvPr id="8" name="Text 6"/>
          <p:cNvSpPr txBox="1"/>
          <p:nvPr/>
        </p:nvSpPr>
        <p:spPr>
          <a:xfrm>
            <a:off x="6210148" y="2145182"/>
            <a:ext cx="5250028" cy="813816"/>
          </a:xfrm>
          <a:prstGeom prst="rect">
            <a:avLst/>
          </a:prstGeom>
          <a:noFill/>
          <a:ln/>
        </p:spPr>
        <p:txBody>
          <a:bodyPr wrap="square" lIns="0" tIns="0" rIns="0" bIns="0" rtlCol="0" anchor="t"/>
          <a:lstStyle/>
          <a:p>
            <a:pPr marL="0" indent="0">
              <a:lnSpc>
                <a:spcPct val="90000"/>
              </a:lnSpc>
              <a:buNone/>
            </a:pPr>
            <a:r>
              <a:rPr lang="en-GB" sz="1800" b="1" noProof="0" dirty="0">
                <a:solidFill>
                  <a:srgbClr val="1B6E4A"/>
                </a:solidFill>
                <a:latin typeface="Calibri" pitchFamily="34" charset="0"/>
                <a:ea typeface="Calibri" pitchFamily="34" charset="-122"/>
                <a:cs typeface="Calibri" pitchFamily="34" charset="-120"/>
              </a:rPr>
              <a:t>B. Lacks ER, lacks PR and is not HER2 positive, so endocrine and HER2-directed therapy are not options</a:t>
            </a:r>
            <a:endParaRPr lang="en-GB" sz="1800" noProof="0" dirty="0"/>
          </a:p>
        </p:txBody>
      </p:sp>
      <p:sp>
        <p:nvSpPr>
          <p:cNvPr id="9" name="Text 7"/>
          <p:cNvSpPr txBox="1"/>
          <p:nvPr/>
        </p:nvSpPr>
        <p:spPr>
          <a:xfrm>
            <a:off x="731520" y="3013862"/>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C. </a:t>
            </a:r>
            <a:r>
              <a:rPr lang="en-GB" sz="1800" noProof="0" dirty="0">
                <a:solidFill>
                  <a:srgbClr val="1F3A63"/>
                </a:solidFill>
                <a:latin typeface="Calibri" pitchFamily="34" charset="0"/>
                <a:ea typeface="Calibri" pitchFamily="34" charset="-122"/>
                <a:cs typeface="Calibri" pitchFamily="34" charset="-120"/>
              </a:rPr>
              <a:t>Is always in situ</a:t>
            </a:r>
            <a:endParaRPr lang="en-GB" sz="1800" noProof="0" dirty="0"/>
          </a:p>
        </p:txBody>
      </p:sp>
      <p:sp>
        <p:nvSpPr>
          <p:cNvPr id="10" name="Text 8"/>
          <p:cNvSpPr txBox="1"/>
          <p:nvPr/>
        </p:nvSpPr>
        <p:spPr>
          <a:xfrm>
            <a:off x="6210148" y="3013862"/>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D. </a:t>
            </a:r>
            <a:r>
              <a:rPr lang="en-GB" sz="1800" noProof="0" dirty="0">
                <a:solidFill>
                  <a:srgbClr val="1F3A63"/>
                </a:solidFill>
                <a:latin typeface="Calibri" pitchFamily="34" charset="0"/>
                <a:ea typeface="Calibri" pitchFamily="34" charset="-122"/>
                <a:cs typeface="Calibri" pitchFamily="34" charset="-120"/>
              </a:rPr>
              <a:t>Has always spread to distant organs</a:t>
            </a:r>
            <a:endParaRPr lang="en-GB" sz="1800" noProof="0" dirty="0"/>
          </a:p>
        </p:txBody>
      </p:sp>
      <p:sp>
        <p:nvSpPr>
          <p:cNvPr id="11" name="Text 9"/>
          <p:cNvSpPr txBox="1"/>
          <p:nvPr/>
        </p:nvSpPr>
        <p:spPr>
          <a:xfrm>
            <a:off x="731520" y="3443630"/>
            <a:ext cx="10728655" cy="433426"/>
          </a:xfrm>
          <a:prstGeom prst="rect">
            <a:avLst/>
          </a:prstGeom>
          <a:noFill/>
          <a:ln/>
        </p:spPr>
        <p:txBody>
          <a:bodyPr wrap="square" lIns="0" tIns="0" rIns="0" bIns="0" rtlCol="0" anchor="t"/>
          <a:lstStyle/>
          <a:p>
            <a:pPr marL="0" indent="0">
              <a:lnSpc>
                <a:spcPct val="92000"/>
              </a:lnSpc>
              <a:buNone/>
            </a:pPr>
            <a:r>
              <a:rPr lang="en-GB" sz="1350" b="1" noProof="0" dirty="0">
                <a:solidFill>
                  <a:srgbClr val="1B6E4A"/>
                </a:solidFill>
                <a:latin typeface="Calibri" pitchFamily="34" charset="0"/>
                <a:ea typeface="Calibri" pitchFamily="34" charset="-122"/>
                <a:cs typeface="Calibri" pitchFamily="34" charset="-120"/>
              </a:rPr>
              <a:t>Correct: B. </a:t>
            </a:r>
            <a:r>
              <a:rPr lang="en-GB" sz="1350" noProof="0" dirty="0">
                <a:solidFill>
                  <a:srgbClr val="0B1F3F"/>
                </a:solidFill>
                <a:latin typeface="Calibri" pitchFamily="34" charset="0"/>
                <a:ea typeface="Calibri" pitchFamily="34" charset="-122"/>
                <a:cs typeface="Calibri" pitchFamily="34" charset="-120"/>
              </a:rPr>
              <a:t>Triple negative describes the absence of all three markers. Treatment relies on other systemic approaches, together with surgery and radiotherapy as indicated.</a:t>
            </a:r>
            <a:endParaRPr lang="en-GB" sz="1350" noProof="0" dirty="0"/>
          </a:p>
        </p:txBody>
      </p:sp>
      <p:sp>
        <p:nvSpPr>
          <p:cNvPr id="12" name="Shape 10"/>
          <p:cNvSpPr/>
          <p:nvPr/>
        </p:nvSpPr>
        <p:spPr>
          <a:xfrm>
            <a:off x="548640" y="4151376"/>
            <a:ext cx="11094415" cy="1841602"/>
          </a:xfrm>
          <a:prstGeom prst="roundRect">
            <a:avLst>
              <a:gd name="adj" fmla="val 2979"/>
            </a:avLst>
          </a:prstGeom>
          <a:solidFill>
            <a:srgbClr val="F4F8FC"/>
          </a:solidFill>
          <a:ln w="12700">
            <a:solidFill>
              <a:srgbClr val="C8D8EC"/>
            </a:solidFill>
            <a:prstDash val="solid"/>
          </a:ln>
        </p:spPr>
        <p:txBody>
          <a:bodyPr/>
          <a:lstStyle/>
          <a:p>
            <a:endParaRPr lang="en-GB" noProof="0" dirty="0"/>
          </a:p>
        </p:txBody>
      </p:sp>
      <p:sp>
        <p:nvSpPr>
          <p:cNvPr id="13" name="Text 11"/>
          <p:cNvSpPr txBox="1"/>
          <p:nvPr/>
        </p:nvSpPr>
        <p:spPr>
          <a:xfrm>
            <a:off x="731520" y="4261104"/>
            <a:ext cx="10728655" cy="384048"/>
          </a:xfrm>
          <a:prstGeom prst="rect">
            <a:avLst/>
          </a:prstGeom>
          <a:noFill/>
          <a:ln/>
        </p:spPr>
        <p:txBody>
          <a:bodyPr wrap="square" lIns="0" tIns="0" rIns="0" bIns="0" rtlCol="0" anchor="t"/>
          <a:lstStyle/>
          <a:p>
            <a:pPr marL="0" indent="0">
              <a:buNone/>
            </a:pPr>
            <a:r>
              <a:rPr lang="en-GB" sz="1800" b="1" noProof="0" dirty="0">
                <a:solidFill>
                  <a:srgbClr val="12315B"/>
                </a:solidFill>
                <a:latin typeface="Calibri" pitchFamily="34" charset="0"/>
                <a:ea typeface="Calibri" pitchFamily="34" charset="-122"/>
                <a:cs typeface="Calibri" pitchFamily="34" charset="-120"/>
              </a:rPr>
              <a:t>Q16. Chemotherapy differs from surgery because it:</a:t>
            </a:r>
            <a:endParaRPr lang="en-GB" sz="1800" noProof="0" dirty="0"/>
          </a:p>
        </p:txBody>
      </p:sp>
      <p:sp>
        <p:nvSpPr>
          <p:cNvPr id="14" name="Text 12"/>
          <p:cNvSpPr txBox="1"/>
          <p:nvPr/>
        </p:nvSpPr>
        <p:spPr>
          <a:xfrm>
            <a:off x="731520" y="4681728"/>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A. </a:t>
            </a:r>
            <a:r>
              <a:rPr lang="en-GB" sz="1800" noProof="0" dirty="0">
                <a:solidFill>
                  <a:srgbClr val="1F3A63"/>
                </a:solidFill>
                <a:latin typeface="Calibri" pitchFamily="34" charset="0"/>
                <a:ea typeface="Calibri" pitchFamily="34" charset="-122"/>
                <a:cs typeface="Calibri" pitchFamily="34" charset="-120"/>
              </a:rPr>
              <a:t>Acts only at the tumour site</a:t>
            </a:r>
            <a:endParaRPr lang="en-GB" sz="1800" noProof="0" dirty="0"/>
          </a:p>
        </p:txBody>
      </p:sp>
      <p:sp>
        <p:nvSpPr>
          <p:cNvPr id="15" name="Text 13"/>
          <p:cNvSpPr txBox="1"/>
          <p:nvPr/>
        </p:nvSpPr>
        <p:spPr>
          <a:xfrm>
            <a:off x="6210148" y="4681728"/>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1B6E4A"/>
                </a:solidFill>
                <a:latin typeface="Calibri" pitchFamily="34" charset="0"/>
                <a:ea typeface="Calibri" pitchFamily="34" charset="-122"/>
                <a:cs typeface="Calibri" pitchFamily="34" charset="-120"/>
              </a:rPr>
              <a:t>B. Acts throughout the body</a:t>
            </a:r>
            <a:endParaRPr lang="en-GB" sz="1800" noProof="0" dirty="0"/>
          </a:p>
        </p:txBody>
      </p:sp>
      <p:sp>
        <p:nvSpPr>
          <p:cNvPr id="16" name="Text 14"/>
          <p:cNvSpPr txBox="1"/>
          <p:nvPr/>
        </p:nvSpPr>
        <p:spPr>
          <a:xfrm>
            <a:off x="731520" y="5056632"/>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C. </a:t>
            </a:r>
            <a:r>
              <a:rPr lang="en-GB" sz="1800" noProof="0" dirty="0">
                <a:solidFill>
                  <a:srgbClr val="1F3A63"/>
                </a:solidFill>
                <a:latin typeface="Calibri" pitchFamily="34" charset="0"/>
                <a:ea typeface="Calibri" pitchFamily="34" charset="-122"/>
                <a:cs typeface="Calibri" pitchFamily="34" charset="-120"/>
              </a:rPr>
              <a:t>Uses radiation</a:t>
            </a:r>
            <a:endParaRPr lang="en-GB" sz="1800" noProof="0" dirty="0"/>
          </a:p>
        </p:txBody>
      </p:sp>
      <p:sp>
        <p:nvSpPr>
          <p:cNvPr id="17" name="Text 15"/>
          <p:cNvSpPr txBox="1"/>
          <p:nvPr/>
        </p:nvSpPr>
        <p:spPr>
          <a:xfrm>
            <a:off x="6210148" y="5056632"/>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D. </a:t>
            </a:r>
            <a:r>
              <a:rPr lang="en-GB" sz="1800" noProof="0" dirty="0">
                <a:solidFill>
                  <a:srgbClr val="1F3A63"/>
                </a:solidFill>
                <a:latin typeface="Calibri" pitchFamily="34" charset="0"/>
                <a:ea typeface="Calibri" pitchFamily="34" charset="-122"/>
                <a:cs typeface="Calibri" pitchFamily="34" charset="-120"/>
              </a:rPr>
              <a:t>Removes lymph nodes</a:t>
            </a:r>
            <a:endParaRPr lang="en-GB" sz="1800" noProof="0" dirty="0"/>
          </a:p>
        </p:txBody>
      </p:sp>
      <p:sp>
        <p:nvSpPr>
          <p:cNvPr id="18" name="Text 16"/>
          <p:cNvSpPr txBox="1"/>
          <p:nvPr/>
        </p:nvSpPr>
        <p:spPr>
          <a:xfrm>
            <a:off x="731520" y="5486400"/>
            <a:ext cx="10728655" cy="433426"/>
          </a:xfrm>
          <a:prstGeom prst="rect">
            <a:avLst/>
          </a:prstGeom>
          <a:noFill/>
          <a:ln/>
        </p:spPr>
        <p:txBody>
          <a:bodyPr wrap="square" lIns="0" tIns="0" rIns="0" bIns="0" rtlCol="0" anchor="t"/>
          <a:lstStyle/>
          <a:p>
            <a:pPr marL="0" indent="0">
              <a:lnSpc>
                <a:spcPct val="92000"/>
              </a:lnSpc>
              <a:buNone/>
            </a:pPr>
            <a:r>
              <a:rPr lang="en-GB" sz="1350" b="1" noProof="0" dirty="0">
                <a:solidFill>
                  <a:srgbClr val="1B6E4A"/>
                </a:solidFill>
                <a:latin typeface="Calibri" pitchFamily="34" charset="0"/>
                <a:ea typeface="Calibri" pitchFamily="34" charset="-122"/>
                <a:cs typeface="Calibri" pitchFamily="34" charset="-120"/>
              </a:rPr>
              <a:t>Correct: B. </a:t>
            </a:r>
            <a:r>
              <a:rPr lang="en-GB" sz="1350" noProof="0" dirty="0">
                <a:solidFill>
                  <a:srgbClr val="0B1F3F"/>
                </a:solidFill>
                <a:latin typeface="Calibri" pitchFamily="34" charset="0"/>
                <a:ea typeface="Calibri" pitchFamily="34" charset="-122"/>
                <a:cs typeface="Calibri" pitchFamily="34" charset="-120"/>
              </a:rPr>
              <a:t>Chemotherapy is systemic, which is why its effects are felt throughout the body. Surgery and radiotherapy act locally or locoregionally.</a:t>
            </a:r>
            <a:endParaRPr lang="en-GB" sz="1350" noProof="0" dirty="0"/>
          </a:p>
        </p:txBody>
      </p:sp>
    </p:spTree>
  </p:cSld>
  <p:clrMapOvr>
    <a:masterClrMapping/>
  </p:clrMapOvr>
</p:sld>
</file>

<file path=ppt/slides/slide158.xml><?xml version="1.0" encoding="utf-8"?>
<p:sld xmlns:a="http://schemas.openxmlformats.org/drawingml/2006/main" xmlns:r="http://schemas.openxmlformats.org/officeDocument/2006/relationships" xmlns:p="http://schemas.openxmlformats.org/presentationml/2006/main">
  <p:cSld name="Slide 12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en-GB" sz="1100" b="1" kern="0" spc="100" noProof="0" dirty="0">
                <a:solidFill>
                  <a:srgbClr val="5B7699"/>
                </a:solidFill>
                <a:latin typeface="Calibri" pitchFamily="34" charset="0"/>
                <a:ea typeface="Calibri" pitchFamily="34" charset="-122"/>
                <a:cs typeface="Calibri" pitchFamily="34" charset="-120"/>
              </a:rPr>
              <a:t>F I N A L   C H E C K</a:t>
            </a:r>
            <a:endParaRPr lang="en-GB"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en-GB" sz="1000" noProof="0" dirty="0">
                <a:solidFill>
                  <a:srgbClr val="5B7699"/>
                </a:solidFill>
                <a:latin typeface="Calibri" pitchFamily="34" charset="0"/>
                <a:ea typeface="Calibri" pitchFamily="34" charset="-122"/>
                <a:cs typeface="Calibri" pitchFamily="34" charset="-120"/>
              </a:rPr>
              <a:t>Breast Cancer  |  Frontline HCP  |  Rwanda Biomedical Centre</a:t>
            </a:r>
            <a:endParaRPr lang="en-GB"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en-GB" sz="3000" b="1" noProof="0" dirty="0">
                <a:solidFill>
                  <a:srgbClr val="12315B"/>
                </a:solidFill>
                <a:latin typeface="Calibri" pitchFamily="34" charset="0"/>
                <a:ea typeface="Calibri" pitchFamily="34" charset="-122"/>
                <a:cs typeface="Calibri" pitchFamily="34" charset="-120"/>
              </a:rPr>
              <a:t>Post-test (9 of 10)</a:t>
            </a:r>
            <a:endParaRPr lang="en-GB" sz="3000" noProof="0" dirty="0"/>
          </a:p>
        </p:txBody>
      </p:sp>
      <p:sp>
        <p:nvSpPr>
          <p:cNvPr id="5" name="Shape 3"/>
          <p:cNvSpPr/>
          <p:nvPr/>
        </p:nvSpPr>
        <p:spPr>
          <a:xfrm>
            <a:off x="548640" y="1367942"/>
            <a:ext cx="11094415" cy="2582266"/>
          </a:xfrm>
          <a:prstGeom prst="roundRect">
            <a:avLst>
              <a:gd name="adj" fmla="val 2125"/>
            </a:avLst>
          </a:prstGeom>
          <a:solidFill>
            <a:srgbClr val="F4F8FC"/>
          </a:solidFill>
          <a:ln w="12700">
            <a:solidFill>
              <a:srgbClr val="C8D8EC"/>
            </a:solidFill>
            <a:prstDash val="solid"/>
          </a:ln>
        </p:spPr>
        <p:txBody>
          <a:bodyPr/>
          <a:lstStyle/>
          <a:p>
            <a:endParaRPr lang="en-GB" noProof="0" dirty="0"/>
          </a:p>
        </p:txBody>
      </p:sp>
      <p:sp>
        <p:nvSpPr>
          <p:cNvPr id="6" name="Text 4"/>
          <p:cNvSpPr txBox="1"/>
          <p:nvPr/>
        </p:nvSpPr>
        <p:spPr>
          <a:xfrm>
            <a:off x="731520" y="1477670"/>
            <a:ext cx="10728655" cy="384048"/>
          </a:xfrm>
          <a:prstGeom prst="rect">
            <a:avLst/>
          </a:prstGeom>
          <a:noFill/>
          <a:ln/>
        </p:spPr>
        <p:txBody>
          <a:bodyPr wrap="square" lIns="0" tIns="0" rIns="0" bIns="0" rtlCol="0" anchor="t"/>
          <a:lstStyle/>
          <a:p>
            <a:pPr marL="0" indent="0">
              <a:buNone/>
            </a:pPr>
            <a:r>
              <a:rPr lang="en-GB" sz="1800" b="1" noProof="0" dirty="0">
                <a:solidFill>
                  <a:srgbClr val="12315B"/>
                </a:solidFill>
                <a:latin typeface="Calibri" pitchFamily="34" charset="0"/>
                <a:ea typeface="Calibri" pitchFamily="34" charset="-122"/>
                <a:cs typeface="Calibri" pitchFamily="34" charset="-120"/>
              </a:rPr>
              <a:t>Q17. Which statement about breast surgery is accurate?</a:t>
            </a:r>
            <a:endParaRPr lang="en-GB" sz="1800" noProof="0" dirty="0"/>
          </a:p>
        </p:txBody>
      </p:sp>
      <p:sp>
        <p:nvSpPr>
          <p:cNvPr id="7" name="Text 5"/>
          <p:cNvSpPr txBox="1"/>
          <p:nvPr/>
        </p:nvSpPr>
        <p:spPr>
          <a:xfrm>
            <a:off x="731520" y="1898294"/>
            <a:ext cx="5250028" cy="1060704"/>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A. </a:t>
            </a:r>
            <a:r>
              <a:rPr lang="en-GB" sz="1800" noProof="0" dirty="0">
                <a:solidFill>
                  <a:srgbClr val="1F3A63"/>
                </a:solidFill>
                <a:latin typeface="Calibri" pitchFamily="34" charset="0"/>
                <a:ea typeface="Calibri" pitchFamily="34" charset="-122"/>
                <a:cs typeface="Calibri" pitchFamily="34" charset="-120"/>
              </a:rPr>
              <a:t>Every patient needs a mastectomy</a:t>
            </a:r>
            <a:endParaRPr lang="en-GB" sz="1800" noProof="0" dirty="0"/>
          </a:p>
        </p:txBody>
      </p:sp>
      <p:sp>
        <p:nvSpPr>
          <p:cNvPr id="8" name="Text 6"/>
          <p:cNvSpPr txBox="1"/>
          <p:nvPr/>
        </p:nvSpPr>
        <p:spPr>
          <a:xfrm>
            <a:off x="6210148" y="1898294"/>
            <a:ext cx="5250028" cy="1060704"/>
          </a:xfrm>
          <a:prstGeom prst="rect">
            <a:avLst/>
          </a:prstGeom>
          <a:noFill/>
          <a:ln/>
        </p:spPr>
        <p:txBody>
          <a:bodyPr wrap="square" lIns="0" tIns="0" rIns="0" bIns="0" rtlCol="0" anchor="t"/>
          <a:lstStyle/>
          <a:p>
            <a:pPr marL="0" indent="0">
              <a:lnSpc>
                <a:spcPct val="90000"/>
              </a:lnSpc>
              <a:buNone/>
            </a:pPr>
            <a:r>
              <a:rPr lang="en-GB" sz="1800" b="1" noProof="0" dirty="0">
                <a:solidFill>
                  <a:srgbClr val="1B6E4A"/>
                </a:solidFill>
                <a:latin typeface="Calibri" pitchFamily="34" charset="0"/>
                <a:ea typeface="Calibri" pitchFamily="34" charset="-122"/>
                <a:cs typeface="Calibri" pitchFamily="34" charset="-120"/>
              </a:rPr>
              <a:t>B. Breast conserving surgery is possible for many patients, and the choice depends on the tumour, the breast, access to radiotherapy and the person's preference</a:t>
            </a:r>
            <a:endParaRPr lang="en-GB" sz="1800" noProof="0" dirty="0"/>
          </a:p>
        </p:txBody>
      </p:sp>
      <p:sp>
        <p:nvSpPr>
          <p:cNvPr id="9" name="Text 7"/>
          <p:cNvSpPr txBox="1"/>
          <p:nvPr/>
        </p:nvSpPr>
        <p:spPr>
          <a:xfrm>
            <a:off x="731520" y="3013862"/>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C. </a:t>
            </a:r>
            <a:r>
              <a:rPr lang="en-GB" sz="1800" noProof="0" dirty="0">
                <a:solidFill>
                  <a:srgbClr val="1F3A63"/>
                </a:solidFill>
                <a:latin typeface="Calibri" pitchFamily="34" charset="0"/>
                <a:ea typeface="Calibri" pitchFamily="34" charset="-122"/>
                <a:cs typeface="Calibri" pitchFamily="34" charset="-120"/>
              </a:rPr>
              <a:t>Mastectomy always means advanced disease</a:t>
            </a:r>
            <a:endParaRPr lang="en-GB" sz="1800" noProof="0" dirty="0"/>
          </a:p>
        </p:txBody>
      </p:sp>
      <p:sp>
        <p:nvSpPr>
          <p:cNvPr id="10" name="Text 8"/>
          <p:cNvSpPr txBox="1"/>
          <p:nvPr/>
        </p:nvSpPr>
        <p:spPr>
          <a:xfrm>
            <a:off x="6210148" y="3013862"/>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D. </a:t>
            </a:r>
            <a:r>
              <a:rPr lang="en-GB" sz="1800" noProof="0" dirty="0">
                <a:solidFill>
                  <a:srgbClr val="1F3A63"/>
                </a:solidFill>
                <a:latin typeface="Calibri" pitchFamily="34" charset="0"/>
                <a:ea typeface="Calibri" pitchFamily="34" charset="-122"/>
                <a:cs typeface="Calibri" pitchFamily="34" charset="-120"/>
              </a:rPr>
              <a:t>Lymph nodes are never assessed</a:t>
            </a:r>
            <a:endParaRPr lang="en-GB" sz="1800" noProof="0" dirty="0"/>
          </a:p>
        </p:txBody>
      </p:sp>
      <p:sp>
        <p:nvSpPr>
          <p:cNvPr id="11" name="Text 9"/>
          <p:cNvSpPr txBox="1"/>
          <p:nvPr/>
        </p:nvSpPr>
        <p:spPr>
          <a:xfrm>
            <a:off x="731520" y="3443630"/>
            <a:ext cx="10728655" cy="433426"/>
          </a:xfrm>
          <a:prstGeom prst="rect">
            <a:avLst/>
          </a:prstGeom>
          <a:noFill/>
          <a:ln/>
        </p:spPr>
        <p:txBody>
          <a:bodyPr wrap="square" lIns="0" tIns="0" rIns="0" bIns="0" rtlCol="0" anchor="t"/>
          <a:lstStyle/>
          <a:p>
            <a:pPr marL="0" indent="0">
              <a:lnSpc>
                <a:spcPct val="92000"/>
              </a:lnSpc>
              <a:buNone/>
            </a:pPr>
            <a:r>
              <a:rPr lang="en-GB" sz="1350" b="1" noProof="0" dirty="0">
                <a:solidFill>
                  <a:srgbClr val="1B6E4A"/>
                </a:solidFill>
                <a:latin typeface="Calibri" pitchFamily="34" charset="0"/>
                <a:ea typeface="Calibri" pitchFamily="34" charset="-122"/>
                <a:cs typeface="Calibri" pitchFamily="34" charset="-120"/>
              </a:rPr>
              <a:t>Correct: B. </a:t>
            </a:r>
            <a:r>
              <a:rPr lang="en-GB" sz="1350" noProof="0" dirty="0">
                <a:solidFill>
                  <a:srgbClr val="0B1F3F"/>
                </a:solidFill>
                <a:latin typeface="Calibri" pitchFamily="34" charset="0"/>
                <a:ea typeface="Calibri" pitchFamily="34" charset="-122"/>
                <a:cs typeface="Calibri" pitchFamily="34" charset="-120"/>
              </a:rPr>
              <a:t>Both operations have a place. Saying early that mastectomy is not inevitable removes one of the largest barriers to attending assessment.</a:t>
            </a:r>
            <a:endParaRPr lang="en-GB" sz="1350" noProof="0" dirty="0"/>
          </a:p>
        </p:txBody>
      </p:sp>
      <p:sp>
        <p:nvSpPr>
          <p:cNvPr id="12" name="Shape 10"/>
          <p:cNvSpPr/>
          <p:nvPr/>
        </p:nvSpPr>
        <p:spPr>
          <a:xfrm>
            <a:off x="548640" y="4151376"/>
            <a:ext cx="11094415" cy="2088490"/>
          </a:xfrm>
          <a:prstGeom prst="roundRect">
            <a:avLst>
              <a:gd name="adj" fmla="val 2627"/>
            </a:avLst>
          </a:prstGeom>
          <a:solidFill>
            <a:srgbClr val="F4F8FC"/>
          </a:solidFill>
          <a:ln w="12700">
            <a:solidFill>
              <a:srgbClr val="C8D8EC"/>
            </a:solidFill>
            <a:prstDash val="solid"/>
          </a:ln>
        </p:spPr>
        <p:txBody>
          <a:bodyPr/>
          <a:lstStyle/>
          <a:p>
            <a:endParaRPr lang="en-GB" noProof="0" dirty="0"/>
          </a:p>
        </p:txBody>
      </p:sp>
      <p:sp>
        <p:nvSpPr>
          <p:cNvPr id="13" name="Text 11"/>
          <p:cNvSpPr txBox="1"/>
          <p:nvPr/>
        </p:nvSpPr>
        <p:spPr>
          <a:xfrm>
            <a:off x="731520" y="4261104"/>
            <a:ext cx="10728655" cy="384048"/>
          </a:xfrm>
          <a:prstGeom prst="rect">
            <a:avLst/>
          </a:prstGeom>
          <a:noFill/>
          <a:ln/>
        </p:spPr>
        <p:txBody>
          <a:bodyPr wrap="square" lIns="0" tIns="0" rIns="0" bIns="0" rtlCol="0" anchor="t"/>
          <a:lstStyle/>
          <a:p>
            <a:pPr marL="0" indent="0">
              <a:buNone/>
            </a:pPr>
            <a:r>
              <a:rPr lang="en-GB" sz="1800" b="1" noProof="0" dirty="0">
                <a:solidFill>
                  <a:srgbClr val="12315B"/>
                </a:solidFill>
                <a:latin typeface="Calibri" pitchFamily="34" charset="0"/>
                <a:ea typeface="Calibri" pitchFamily="34" charset="-122"/>
                <a:cs typeface="Calibri" pitchFamily="34" charset="-120"/>
              </a:rPr>
              <a:t>Q18. New arm swelling two years after axillary surgery should be:</a:t>
            </a:r>
            <a:endParaRPr lang="en-GB" sz="1800" noProof="0" dirty="0"/>
          </a:p>
        </p:txBody>
      </p:sp>
      <p:sp>
        <p:nvSpPr>
          <p:cNvPr id="14" name="Text 12"/>
          <p:cNvSpPr txBox="1"/>
          <p:nvPr/>
        </p:nvSpPr>
        <p:spPr>
          <a:xfrm>
            <a:off x="731520" y="4681728"/>
            <a:ext cx="5250028" cy="566928"/>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A. </a:t>
            </a:r>
            <a:r>
              <a:rPr lang="en-GB" sz="1800" noProof="0" dirty="0">
                <a:solidFill>
                  <a:srgbClr val="1F3A63"/>
                </a:solidFill>
                <a:latin typeface="Calibri" pitchFamily="34" charset="0"/>
                <a:ea typeface="Calibri" pitchFamily="34" charset="-122"/>
                <a:cs typeface="Calibri" pitchFamily="34" charset="-120"/>
              </a:rPr>
              <a:t>Ignored as normal</a:t>
            </a:r>
            <a:endParaRPr lang="en-GB" sz="1800" noProof="0" dirty="0"/>
          </a:p>
        </p:txBody>
      </p:sp>
      <p:sp>
        <p:nvSpPr>
          <p:cNvPr id="15" name="Text 13"/>
          <p:cNvSpPr txBox="1"/>
          <p:nvPr/>
        </p:nvSpPr>
        <p:spPr>
          <a:xfrm>
            <a:off x="6210148" y="4681728"/>
            <a:ext cx="5250028" cy="566928"/>
          </a:xfrm>
          <a:prstGeom prst="rect">
            <a:avLst/>
          </a:prstGeom>
          <a:noFill/>
          <a:ln/>
        </p:spPr>
        <p:txBody>
          <a:bodyPr wrap="square" lIns="0" tIns="0" rIns="0" bIns="0" rtlCol="0" anchor="t"/>
          <a:lstStyle/>
          <a:p>
            <a:pPr marL="0" indent="0">
              <a:lnSpc>
                <a:spcPct val="90000"/>
              </a:lnSpc>
              <a:buNone/>
            </a:pPr>
            <a:r>
              <a:rPr lang="en-GB" sz="1800" b="1" noProof="0" dirty="0">
                <a:solidFill>
                  <a:srgbClr val="1B6E4A"/>
                </a:solidFill>
                <a:latin typeface="Calibri" pitchFamily="34" charset="0"/>
                <a:ea typeface="Calibri" pitchFamily="34" charset="-122"/>
                <a:cs typeface="Calibri" pitchFamily="34" charset="-120"/>
              </a:rPr>
              <a:t>B. Assessed, with infection excluded, and referred for lymphoedema management</a:t>
            </a:r>
            <a:endParaRPr lang="en-GB" sz="1800" noProof="0" dirty="0"/>
          </a:p>
        </p:txBody>
      </p:sp>
      <p:sp>
        <p:nvSpPr>
          <p:cNvPr id="16" name="Text 14"/>
          <p:cNvSpPr txBox="1"/>
          <p:nvPr/>
        </p:nvSpPr>
        <p:spPr>
          <a:xfrm>
            <a:off x="731520" y="5303520"/>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C. </a:t>
            </a:r>
            <a:r>
              <a:rPr lang="en-GB" sz="1800" noProof="0" dirty="0">
                <a:solidFill>
                  <a:srgbClr val="1F3A63"/>
                </a:solidFill>
                <a:latin typeface="Calibri" pitchFamily="34" charset="0"/>
                <a:ea typeface="Calibri" pitchFamily="34" charset="-122"/>
                <a:cs typeface="Calibri" pitchFamily="34" charset="-120"/>
              </a:rPr>
              <a:t>Treated by keeping the arm still</a:t>
            </a:r>
            <a:endParaRPr lang="en-GB" sz="1800" noProof="0" dirty="0"/>
          </a:p>
        </p:txBody>
      </p:sp>
      <p:sp>
        <p:nvSpPr>
          <p:cNvPr id="17" name="Text 15"/>
          <p:cNvSpPr txBox="1"/>
          <p:nvPr/>
        </p:nvSpPr>
        <p:spPr>
          <a:xfrm>
            <a:off x="6210148" y="5303520"/>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D. </a:t>
            </a:r>
            <a:r>
              <a:rPr lang="en-GB" sz="1800" noProof="0" dirty="0">
                <a:solidFill>
                  <a:srgbClr val="1F3A63"/>
                </a:solidFill>
                <a:latin typeface="Calibri" pitchFamily="34" charset="0"/>
                <a:ea typeface="Calibri" pitchFamily="34" charset="-122"/>
                <a:cs typeface="Calibri" pitchFamily="34" charset="-120"/>
              </a:rPr>
              <a:t>Assumed to mean recurrence</a:t>
            </a:r>
            <a:endParaRPr lang="en-GB" sz="1800" noProof="0" dirty="0"/>
          </a:p>
        </p:txBody>
      </p:sp>
      <p:sp>
        <p:nvSpPr>
          <p:cNvPr id="18" name="Text 16"/>
          <p:cNvSpPr txBox="1"/>
          <p:nvPr/>
        </p:nvSpPr>
        <p:spPr>
          <a:xfrm>
            <a:off x="731520" y="5733288"/>
            <a:ext cx="10728655" cy="433426"/>
          </a:xfrm>
          <a:prstGeom prst="rect">
            <a:avLst/>
          </a:prstGeom>
          <a:noFill/>
          <a:ln/>
        </p:spPr>
        <p:txBody>
          <a:bodyPr wrap="square" lIns="0" tIns="0" rIns="0" bIns="0" rtlCol="0" anchor="t"/>
          <a:lstStyle/>
          <a:p>
            <a:pPr marL="0" indent="0">
              <a:lnSpc>
                <a:spcPct val="92000"/>
              </a:lnSpc>
              <a:buNone/>
            </a:pPr>
            <a:r>
              <a:rPr lang="en-GB" sz="1350" b="1" noProof="0" dirty="0">
                <a:solidFill>
                  <a:srgbClr val="1B6E4A"/>
                </a:solidFill>
                <a:latin typeface="Calibri" pitchFamily="34" charset="0"/>
                <a:ea typeface="Calibri" pitchFamily="34" charset="-122"/>
                <a:cs typeface="Calibri" pitchFamily="34" charset="-120"/>
              </a:rPr>
              <a:t>Correct: B. </a:t>
            </a:r>
            <a:r>
              <a:rPr lang="en-GB" sz="1350" noProof="0" dirty="0">
                <a:solidFill>
                  <a:srgbClr val="0B1F3F"/>
                </a:solidFill>
                <a:latin typeface="Calibri" pitchFamily="34" charset="0"/>
                <a:ea typeface="Calibri" pitchFamily="34" charset="-122"/>
                <a:cs typeface="Calibri" pitchFamily="34" charset="-120"/>
              </a:rPr>
              <a:t>This describes lymphoedema. Exclude infection, then refer. Earlier assessment gives better control, and immobilising the arm does not help.</a:t>
            </a:r>
            <a:endParaRPr lang="en-GB" sz="1350" noProof="0" dirty="0"/>
          </a:p>
        </p:txBody>
      </p:sp>
    </p:spTree>
  </p:cSld>
  <p:clrMapOvr>
    <a:masterClrMapping/>
  </p:clrMapOvr>
</p:sld>
</file>

<file path=ppt/slides/slide159.xml><?xml version="1.0" encoding="utf-8"?>
<p:sld xmlns:a="http://schemas.openxmlformats.org/drawingml/2006/main" xmlns:r="http://schemas.openxmlformats.org/officeDocument/2006/relationships" xmlns:p="http://schemas.openxmlformats.org/presentationml/2006/main">
  <p:cSld name="Slide 12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en-GB" sz="1100" b="1" kern="0" spc="100" noProof="0" dirty="0">
                <a:solidFill>
                  <a:srgbClr val="5B7699"/>
                </a:solidFill>
                <a:latin typeface="Calibri" pitchFamily="34" charset="0"/>
                <a:ea typeface="Calibri" pitchFamily="34" charset="-122"/>
                <a:cs typeface="Calibri" pitchFamily="34" charset="-120"/>
              </a:rPr>
              <a:t>F I N A L   C H E C K</a:t>
            </a:r>
            <a:endParaRPr lang="en-GB"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en-GB" sz="1000" noProof="0" dirty="0">
                <a:solidFill>
                  <a:srgbClr val="5B7699"/>
                </a:solidFill>
                <a:latin typeface="Calibri" pitchFamily="34" charset="0"/>
                <a:ea typeface="Calibri" pitchFamily="34" charset="-122"/>
                <a:cs typeface="Calibri" pitchFamily="34" charset="-120"/>
              </a:rPr>
              <a:t>Breast Cancer  |  Frontline HCP  |  Rwanda Biomedical Centre</a:t>
            </a:r>
            <a:endParaRPr lang="en-GB"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en-GB" sz="3000" b="1" noProof="0" dirty="0">
                <a:solidFill>
                  <a:srgbClr val="12315B"/>
                </a:solidFill>
                <a:latin typeface="Calibri" pitchFamily="34" charset="0"/>
                <a:ea typeface="Calibri" pitchFamily="34" charset="-122"/>
                <a:cs typeface="Calibri" pitchFamily="34" charset="-120"/>
              </a:rPr>
              <a:t>Post-test (10 of 10)</a:t>
            </a:r>
            <a:endParaRPr lang="en-GB" sz="3000" noProof="0" dirty="0"/>
          </a:p>
        </p:txBody>
      </p:sp>
      <p:sp>
        <p:nvSpPr>
          <p:cNvPr id="5" name="Shape 3"/>
          <p:cNvSpPr/>
          <p:nvPr/>
        </p:nvSpPr>
        <p:spPr>
          <a:xfrm>
            <a:off x="548640" y="1367942"/>
            <a:ext cx="11094415" cy="2146097"/>
          </a:xfrm>
          <a:prstGeom prst="roundRect">
            <a:avLst>
              <a:gd name="adj" fmla="val 2556"/>
            </a:avLst>
          </a:prstGeom>
          <a:solidFill>
            <a:srgbClr val="F4F8FC"/>
          </a:solidFill>
          <a:ln w="12700">
            <a:solidFill>
              <a:srgbClr val="C8D8EC"/>
            </a:solidFill>
            <a:prstDash val="solid"/>
          </a:ln>
        </p:spPr>
        <p:txBody>
          <a:bodyPr/>
          <a:lstStyle/>
          <a:p>
            <a:endParaRPr lang="en-GB" noProof="0" dirty="0"/>
          </a:p>
        </p:txBody>
      </p:sp>
      <p:sp>
        <p:nvSpPr>
          <p:cNvPr id="6" name="Text 4"/>
          <p:cNvSpPr txBox="1"/>
          <p:nvPr/>
        </p:nvSpPr>
        <p:spPr>
          <a:xfrm>
            <a:off x="731520" y="1477670"/>
            <a:ext cx="10728655" cy="384048"/>
          </a:xfrm>
          <a:prstGeom prst="rect">
            <a:avLst/>
          </a:prstGeom>
          <a:noFill/>
          <a:ln/>
        </p:spPr>
        <p:txBody>
          <a:bodyPr wrap="square" lIns="0" tIns="0" rIns="0" bIns="0" rtlCol="0" anchor="t"/>
          <a:lstStyle/>
          <a:p>
            <a:pPr marL="0" indent="0">
              <a:buNone/>
            </a:pPr>
            <a:r>
              <a:rPr lang="en-GB" sz="1800" b="1" noProof="0" dirty="0">
                <a:solidFill>
                  <a:srgbClr val="12315B"/>
                </a:solidFill>
                <a:latin typeface="Calibri" pitchFamily="34" charset="0"/>
                <a:ea typeface="Calibri" pitchFamily="34" charset="-122"/>
                <a:cs typeface="Calibri" pitchFamily="34" charset="-120"/>
              </a:rPr>
              <a:t>Q19. Follow-up after breast cancer treatment aims to:</a:t>
            </a:r>
            <a:endParaRPr lang="en-GB" sz="1800" noProof="0" dirty="0"/>
          </a:p>
        </p:txBody>
      </p:sp>
      <p:sp>
        <p:nvSpPr>
          <p:cNvPr id="7" name="Text 5"/>
          <p:cNvSpPr txBox="1"/>
          <p:nvPr/>
        </p:nvSpPr>
        <p:spPr>
          <a:xfrm>
            <a:off x="731520" y="1898294"/>
            <a:ext cx="5250028" cy="813816"/>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A. </a:t>
            </a:r>
            <a:r>
              <a:rPr lang="en-GB" sz="1800" noProof="0" dirty="0">
                <a:solidFill>
                  <a:srgbClr val="1F3A63"/>
                </a:solidFill>
                <a:latin typeface="Calibri" pitchFamily="34" charset="0"/>
                <a:ea typeface="Calibri" pitchFamily="34" charset="-122"/>
                <a:cs typeface="Calibri" pitchFamily="34" charset="-120"/>
              </a:rPr>
              <a:t>Prove the cancer will never return</a:t>
            </a:r>
            <a:endParaRPr lang="en-GB" sz="1800" noProof="0" dirty="0"/>
          </a:p>
        </p:txBody>
      </p:sp>
      <p:sp>
        <p:nvSpPr>
          <p:cNvPr id="8" name="Text 6"/>
          <p:cNvSpPr txBox="1"/>
          <p:nvPr/>
        </p:nvSpPr>
        <p:spPr>
          <a:xfrm>
            <a:off x="6210148" y="1898294"/>
            <a:ext cx="5250028" cy="813816"/>
          </a:xfrm>
          <a:prstGeom prst="rect">
            <a:avLst/>
          </a:prstGeom>
          <a:noFill/>
          <a:ln/>
        </p:spPr>
        <p:txBody>
          <a:bodyPr wrap="square" lIns="0" tIns="0" rIns="0" bIns="0" rtlCol="0" anchor="t"/>
          <a:lstStyle/>
          <a:p>
            <a:pPr marL="0" indent="0">
              <a:lnSpc>
                <a:spcPct val="90000"/>
              </a:lnSpc>
              <a:buNone/>
            </a:pPr>
            <a:r>
              <a:rPr lang="en-GB" sz="1800" b="1" noProof="0" dirty="0">
                <a:solidFill>
                  <a:srgbClr val="1B6E4A"/>
                </a:solidFill>
                <a:latin typeface="Calibri" pitchFamily="34" charset="0"/>
                <a:ea typeface="Calibri" pitchFamily="34" charset="-122"/>
                <a:cs typeface="Calibri" pitchFamily="34" charset="-120"/>
              </a:rPr>
              <a:t>B. Monitor recovery, manage lasting effects, support ongoing endocrine therapy and assess new symptoms</a:t>
            </a:r>
            <a:endParaRPr lang="en-GB" sz="1800" noProof="0" dirty="0"/>
          </a:p>
        </p:txBody>
      </p:sp>
      <p:sp>
        <p:nvSpPr>
          <p:cNvPr id="9" name="Text 7"/>
          <p:cNvSpPr txBox="1"/>
          <p:nvPr/>
        </p:nvSpPr>
        <p:spPr>
          <a:xfrm>
            <a:off x="731520" y="2766974"/>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C. </a:t>
            </a:r>
            <a:r>
              <a:rPr lang="en-GB" sz="1800" noProof="0" dirty="0">
                <a:solidFill>
                  <a:srgbClr val="1F3A63"/>
                </a:solidFill>
                <a:latin typeface="Calibri" pitchFamily="34" charset="0"/>
                <a:ea typeface="Calibri" pitchFamily="34" charset="-122"/>
                <a:cs typeface="Calibri" pitchFamily="34" charset="-120"/>
              </a:rPr>
              <a:t>Replace palliative care</a:t>
            </a:r>
            <a:endParaRPr lang="en-GB" sz="1800" noProof="0" dirty="0"/>
          </a:p>
        </p:txBody>
      </p:sp>
      <p:sp>
        <p:nvSpPr>
          <p:cNvPr id="10" name="Text 8"/>
          <p:cNvSpPr txBox="1"/>
          <p:nvPr/>
        </p:nvSpPr>
        <p:spPr>
          <a:xfrm>
            <a:off x="6210148" y="2766974"/>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D. </a:t>
            </a:r>
            <a:r>
              <a:rPr lang="en-GB" sz="1800" noProof="0" dirty="0">
                <a:solidFill>
                  <a:srgbClr val="1F3A63"/>
                </a:solidFill>
                <a:latin typeface="Calibri" pitchFamily="34" charset="0"/>
                <a:ea typeface="Calibri" pitchFamily="34" charset="-122"/>
                <a:cs typeface="Calibri" pitchFamily="34" charset="-120"/>
              </a:rPr>
              <a:t>End all contact with services</a:t>
            </a:r>
            <a:endParaRPr lang="en-GB" sz="1800" noProof="0" dirty="0"/>
          </a:p>
        </p:txBody>
      </p:sp>
      <p:sp>
        <p:nvSpPr>
          <p:cNvPr id="11" name="Text 9"/>
          <p:cNvSpPr txBox="1"/>
          <p:nvPr/>
        </p:nvSpPr>
        <p:spPr>
          <a:xfrm>
            <a:off x="731520" y="3196742"/>
            <a:ext cx="10728655" cy="244145"/>
          </a:xfrm>
          <a:prstGeom prst="rect">
            <a:avLst/>
          </a:prstGeom>
          <a:noFill/>
          <a:ln/>
        </p:spPr>
        <p:txBody>
          <a:bodyPr wrap="square" lIns="0" tIns="0" rIns="0" bIns="0" rtlCol="0" anchor="t"/>
          <a:lstStyle/>
          <a:p>
            <a:pPr marL="0" indent="0">
              <a:lnSpc>
                <a:spcPct val="92000"/>
              </a:lnSpc>
              <a:buNone/>
            </a:pPr>
            <a:r>
              <a:rPr lang="en-GB" sz="1350" b="1" noProof="0" dirty="0">
                <a:solidFill>
                  <a:srgbClr val="1B6E4A"/>
                </a:solidFill>
                <a:latin typeface="Calibri" pitchFamily="34" charset="0"/>
                <a:ea typeface="Calibri" pitchFamily="34" charset="-122"/>
                <a:cs typeface="Calibri" pitchFamily="34" charset="-120"/>
              </a:rPr>
              <a:t>Correct: B. </a:t>
            </a:r>
            <a:r>
              <a:rPr lang="en-GB" sz="1350" noProof="0" dirty="0">
                <a:solidFill>
                  <a:srgbClr val="0B1F3F"/>
                </a:solidFill>
                <a:latin typeface="Calibri" pitchFamily="34" charset="0"/>
                <a:ea typeface="Calibri" pitchFamily="34" charset="-122"/>
                <a:cs typeface="Calibri" pitchFamily="34" charset="-120"/>
              </a:rPr>
              <a:t>Follow-up supports recovery, keeps long-term treatment on track, and assesses new symptoms that could indicate recurrence.</a:t>
            </a:r>
            <a:endParaRPr lang="en-GB" sz="1350" noProof="0" dirty="0"/>
          </a:p>
        </p:txBody>
      </p:sp>
      <p:sp>
        <p:nvSpPr>
          <p:cNvPr id="12" name="Shape 10"/>
          <p:cNvSpPr/>
          <p:nvPr/>
        </p:nvSpPr>
        <p:spPr>
          <a:xfrm>
            <a:off x="548640" y="3715207"/>
            <a:ext cx="11094415" cy="2524658"/>
          </a:xfrm>
          <a:prstGeom prst="roundRect">
            <a:avLst>
              <a:gd name="adj" fmla="val 2173"/>
            </a:avLst>
          </a:prstGeom>
          <a:solidFill>
            <a:srgbClr val="F4F8FC"/>
          </a:solidFill>
          <a:ln w="12700">
            <a:solidFill>
              <a:srgbClr val="C8D8EC"/>
            </a:solidFill>
            <a:prstDash val="solid"/>
          </a:ln>
        </p:spPr>
        <p:txBody>
          <a:bodyPr/>
          <a:lstStyle/>
          <a:p>
            <a:endParaRPr lang="en-GB" noProof="0" dirty="0"/>
          </a:p>
        </p:txBody>
      </p:sp>
      <p:sp>
        <p:nvSpPr>
          <p:cNvPr id="13" name="Text 11"/>
          <p:cNvSpPr txBox="1"/>
          <p:nvPr/>
        </p:nvSpPr>
        <p:spPr>
          <a:xfrm>
            <a:off x="731520" y="3824935"/>
            <a:ext cx="10728655" cy="384048"/>
          </a:xfrm>
          <a:prstGeom prst="rect">
            <a:avLst/>
          </a:prstGeom>
          <a:noFill/>
          <a:ln/>
        </p:spPr>
        <p:txBody>
          <a:bodyPr wrap="square" lIns="0" tIns="0" rIns="0" bIns="0" rtlCol="0" anchor="t"/>
          <a:lstStyle/>
          <a:p>
            <a:pPr marL="0" indent="0">
              <a:buNone/>
            </a:pPr>
            <a:r>
              <a:rPr lang="en-GB" sz="1800" b="1" noProof="0" dirty="0">
                <a:solidFill>
                  <a:srgbClr val="12315B"/>
                </a:solidFill>
                <a:latin typeface="Calibri" pitchFamily="34" charset="0"/>
                <a:ea typeface="Calibri" pitchFamily="34" charset="-122"/>
                <a:cs typeface="Calibri" pitchFamily="34" charset="-120"/>
              </a:rPr>
              <a:t>Q20. In Rwanda, breast cancer early detection currently relies mainly on:</a:t>
            </a:r>
            <a:endParaRPr lang="en-GB" sz="1800" noProof="0" dirty="0"/>
          </a:p>
        </p:txBody>
      </p:sp>
      <p:sp>
        <p:nvSpPr>
          <p:cNvPr id="14" name="Text 12"/>
          <p:cNvSpPr txBox="1"/>
          <p:nvPr/>
        </p:nvSpPr>
        <p:spPr>
          <a:xfrm>
            <a:off x="731520" y="4245559"/>
            <a:ext cx="5250028" cy="813816"/>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A. </a:t>
            </a:r>
            <a:r>
              <a:rPr lang="en-GB" sz="1800" noProof="0" dirty="0">
                <a:solidFill>
                  <a:srgbClr val="1F3A63"/>
                </a:solidFill>
                <a:latin typeface="Calibri" pitchFamily="34" charset="0"/>
                <a:ea typeface="Calibri" pitchFamily="34" charset="-122"/>
                <a:cs typeface="Calibri" pitchFamily="34" charset="-120"/>
              </a:rPr>
              <a:t>An organised national mammography screening programme</a:t>
            </a:r>
            <a:endParaRPr lang="en-GB" sz="1800" noProof="0" dirty="0"/>
          </a:p>
        </p:txBody>
      </p:sp>
      <p:sp>
        <p:nvSpPr>
          <p:cNvPr id="15" name="Text 13"/>
          <p:cNvSpPr txBox="1"/>
          <p:nvPr/>
        </p:nvSpPr>
        <p:spPr>
          <a:xfrm>
            <a:off x="6210148" y="4245559"/>
            <a:ext cx="5250028" cy="813816"/>
          </a:xfrm>
          <a:prstGeom prst="rect">
            <a:avLst/>
          </a:prstGeom>
          <a:noFill/>
          <a:ln/>
        </p:spPr>
        <p:txBody>
          <a:bodyPr wrap="square" lIns="0" tIns="0" rIns="0" bIns="0" rtlCol="0" anchor="t"/>
          <a:lstStyle/>
          <a:p>
            <a:pPr marL="0" indent="0">
              <a:lnSpc>
                <a:spcPct val="90000"/>
              </a:lnSpc>
              <a:buNone/>
            </a:pPr>
            <a:r>
              <a:rPr lang="en-GB" sz="1800" b="1" noProof="0" dirty="0">
                <a:solidFill>
                  <a:srgbClr val="1B6E4A"/>
                </a:solidFill>
                <a:latin typeface="Calibri" pitchFamily="34" charset="0"/>
                <a:ea typeface="Calibri" pitchFamily="34" charset="-122"/>
                <a:cs typeface="Calibri" pitchFamily="34" charset="-120"/>
              </a:rPr>
              <a:t>B. Annual clinical breast examination from age 30, with mammography from 40 where available, and recognition of breast changes at first contact</a:t>
            </a:r>
            <a:endParaRPr lang="en-GB" sz="1800" noProof="0" dirty="0"/>
          </a:p>
        </p:txBody>
      </p:sp>
      <p:sp>
        <p:nvSpPr>
          <p:cNvPr id="16" name="Text 14"/>
          <p:cNvSpPr txBox="1"/>
          <p:nvPr/>
        </p:nvSpPr>
        <p:spPr>
          <a:xfrm>
            <a:off x="731520" y="5114239"/>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C. </a:t>
            </a:r>
            <a:r>
              <a:rPr lang="en-GB" sz="1800" noProof="0" dirty="0">
                <a:solidFill>
                  <a:srgbClr val="1F3A63"/>
                </a:solidFill>
                <a:latin typeface="Calibri" pitchFamily="34" charset="0"/>
                <a:ea typeface="Calibri" pitchFamily="34" charset="-122"/>
                <a:cs typeface="Calibri" pitchFamily="34" charset="-120"/>
              </a:rPr>
              <a:t>Self-examination alone, with no clinical role</a:t>
            </a:r>
            <a:endParaRPr lang="en-GB" sz="1800" noProof="0" dirty="0"/>
          </a:p>
        </p:txBody>
      </p:sp>
      <p:sp>
        <p:nvSpPr>
          <p:cNvPr id="17" name="Text 15"/>
          <p:cNvSpPr txBox="1"/>
          <p:nvPr/>
        </p:nvSpPr>
        <p:spPr>
          <a:xfrm>
            <a:off x="6210148" y="5114239"/>
            <a:ext cx="5250028" cy="320040"/>
          </a:xfrm>
          <a:prstGeom prst="rect">
            <a:avLst/>
          </a:prstGeom>
          <a:noFill/>
          <a:ln/>
        </p:spPr>
        <p:txBody>
          <a:bodyPr wrap="square" lIns="0" tIns="0" rIns="0" bIns="0" rtlCol="0" anchor="t"/>
          <a:lstStyle/>
          <a:p>
            <a:pPr marL="0" indent="0">
              <a:lnSpc>
                <a:spcPct val="90000"/>
              </a:lnSpc>
              <a:buNone/>
            </a:pPr>
            <a:r>
              <a:rPr lang="en-GB" sz="1800" b="1" noProof="0" dirty="0">
                <a:solidFill>
                  <a:srgbClr val="5B7699"/>
                </a:solidFill>
                <a:latin typeface="Calibri" pitchFamily="34" charset="0"/>
                <a:ea typeface="Calibri" pitchFamily="34" charset="-122"/>
                <a:cs typeface="Calibri" pitchFamily="34" charset="-120"/>
              </a:rPr>
              <a:t>D. </a:t>
            </a:r>
            <a:r>
              <a:rPr lang="en-GB" sz="1800" noProof="0" dirty="0">
                <a:solidFill>
                  <a:srgbClr val="1F3A63"/>
                </a:solidFill>
                <a:latin typeface="Calibri" pitchFamily="34" charset="0"/>
                <a:ea typeface="Calibri" pitchFamily="34" charset="-122"/>
                <a:cs typeface="Calibri" pitchFamily="34" charset="-120"/>
              </a:rPr>
              <a:t>Assessment outside the country</a:t>
            </a:r>
            <a:endParaRPr lang="en-GB" sz="1800" noProof="0" dirty="0"/>
          </a:p>
        </p:txBody>
      </p:sp>
      <p:sp>
        <p:nvSpPr>
          <p:cNvPr id="18" name="Text 16"/>
          <p:cNvSpPr txBox="1"/>
          <p:nvPr/>
        </p:nvSpPr>
        <p:spPr>
          <a:xfrm>
            <a:off x="731520" y="5544007"/>
            <a:ext cx="10728655" cy="622706"/>
          </a:xfrm>
          <a:prstGeom prst="rect">
            <a:avLst/>
          </a:prstGeom>
          <a:noFill/>
          <a:ln/>
        </p:spPr>
        <p:txBody>
          <a:bodyPr wrap="square" lIns="0" tIns="0" rIns="0" bIns="0" rtlCol="0" anchor="t"/>
          <a:lstStyle/>
          <a:p>
            <a:pPr marL="0" indent="0">
              <a:lnSpc>
                <a:spcPct val="92000"/>
              </a:lnSpc>
              <a:buNone/>
            </a:pPr>
            <a:r>
              <a:rPr lang="en-GB" sz="1350" b="1" noProof="0" dirty="0">
                <a:solidFill>
                  <a:srgbClr val="1B6E4A"/>
                </a:solidFill>
                <a:latin typeface="Calibri" pitchFamily="34" charset="0"/>
                <a:ea typeface="Calibri" pitchFamily="34" charset="-122"/>
                <a:cs typeface="Calibri" pitchFamily="34" charset="-120"/>
              </a:rPr>
              <a:t>Correct: B. </a:t>
            </a:r>
            <a:r>
              <a:rPr lang="en-GB" sz="1350" noProof="0" dirty="0">
                <a:solidFill>
                  <a:srgbClr val="0B1F3F"/>
                </a:solidFill>
                <a:latin typeface="Calibri" pitchFamily="34" charset="0"/>
                <a:ea typeface="Calibri" pitchFamily="34" charset="-122"/>
                <a:cs typeface="Calibri" pitchFamily="34" charset="-120"/>
              </a:rPr>
              <a:t>There is no organised mammography programme. Rwanda offers annual clinical breast examination from age 30, adds mammography from 40 where available, and relies on recognising breast changes at first contact.</a:t>
            </a:r>
            <a:endParaRPr lang="en-GB" sz="1350" noProof="0" dirty="0"/>
          </a:p>
        </p:txBody>
      </p:sp>
    </p:spTree>
  </p:cSld>
  <p:clrMapOvr>
    <a:masterClrMapping/>
  </p:clrMapOvr>
</p:sld>
</file>

<file path=ppt/slides/slide160.xml><?xml version="1.0" encoding="utf-8"?>
<p:sld xmlns:a="http://schemas.openxmlformats.org/drawingml/2006/main" xmlns:r="http://schemas.openxmlformats.org/officeDocument/2006/relationships" xmlns:p="http://schemas.openxmlformats.org/presentationml/2006/main">
  <p:cSld name="Slide 12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en-GB" sz="1100" b="1" kern="0" spc="100" noProof="0" dirty="0">
                <a:solidFill>
                  <a:srgbClr val="5B7699"/>
                </a:solidFill>
                <a:latin typeface="Calibri" pitchFamily="34" charset="0"/>
                <a:ea typeface="Calibri" pitchFamily="34" charset="-122"/>
                <a:cs typeface="Calibri" pitchFamily="34" charset="-120"/>
              </a:rPr>
              <a:t>A T T R I B U T I O N   A N D   S O U R C E S</a:t>
            </a:r>
            <a:endParaRPr lang="en-GB"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en-GB" sz="1000" noProof="0" dirty="0">
                <a:solidFill>
                  <a:srgbClr val="5B7699"/>
                </a:solidFill>
                <a:latin typeface="Calibri" pitchFamily="34" charset="0"/>
                <a:ea typeface="Calibri" pitchFamily="34" charset="-122"/>
                <a:cs typeface="Calibri" pitchFamily="34" charset="-120"/>
              </a:rPr>
              <a:t>Breast Cancer  |  Frontline HCP  |  Rwanda Biomedical Centre</a:t>
            </a:r>
            <a:endParaRPr lang="en-GB"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en-GB" sz="3000" b="1" noProof="0" dirty="0">
                <a:solidFill>
                  <a:srgbClr val="12315B"/>
                </a:solidFill>
                <a:latin typeface="Calibri" pitchFamily="34" charset="0"/>
                <a:ea typeface="Calibri" pitchFamily="34" charset="-122"/>
                <a:cs typeface="Calibri" pitchFamily="34" charset="-120"/>
              </a:rPr>
              <a:t>References</a:t>
            </a:r>
            <a:endParaRPr lang="en-GB" sz="3000" noProof="0" dirty="0"/>
          </a:p>
        </p:txBody>
      </p:sp>
      <p:sp>
        <p:nvSpPr>
          <p:cNvPr id="5" name="Text 3"/>
          <p:cNvSpPr txBox="1"/>
          <p:nvPr/>
        </p:nvSpPr>
        <p:spPr>
          <a:xfrm>
            <a:off x="548640" y="1325880"/>
            <a:ext cx="5410048" cy="4754880"/>
          </a:xfrm>
          <a:prstGeom prst="rect">
            <a:avLst/>
          </a:prstGeom>
          <a:noFill/>
          <a:ln/>
        </p:spPr>
        <p:txBody>
          <a:bodyPr wrap="square" lIns="0" tIns="0" rIns="0" bIns="0" rtlCol="0" anchor="t"/>
          <a:lstStyle/>
          <a:p>
            <a:pPr marL="0" indent="0">
              <a:lnSpc>
                <a:spcPct val="95000"/>
              </a:lnSpc>
              <a:spcAft>
                <a:spcPts val="800"/>
              </a:spcAft>
              <a:buNone/>
            </a:pPr>
            <a:r>
              <a:rPr lang="en-GB" sz="1150" noProof="0" dirty="0">
                <a:solidFill>
                  <a:srgbClr val="0B1F3F"/>
                </a:solidFill>
                <a:latin typeface="Calibri" pitchFamily="34" charset="0"/>
                <a:ea typeface="Calibri" pitchFamily="34" charset="-122"/>
                <a:cs typeface="Calibri" pitchFamily="34" charset="-120"/>
              </a:rPr>
              <a:t>1. International Agency for Research on Cancer. Global Cancer Observatory: Cancer Today. Breast fact sheet, GLOBOCAN 2024 estimates (2,434,087 cases; 693,660 deaths). Lyon: IARC / WHO. https://</a:t>
            </a:r>
            <a:r>
              <a:rPr lang="en-GB" sz="1150" noProof="0" dirty="0" err="1">
                <a:solidFill>
                  <a:srgbClr val="0B1F3F"/>
                </a:solidFill>
                <a:latin typeface="Calibri" pitchFamily="34" charset="0"/>
                <a:ea typeface="Calibri" pitchFamily="34" charset="-122"/>
                <a:cs typeface="Calibri" pitchFamily="34" charset="-120"/>
              </a:rPr>
              <a:t>gco.iarc.who.int</a:t>
            </a:r>
            <a:r>
              <a:rPr lang="en-GB" sz="1150" noProof="0" dirty="0">
                <a:solidFill>
                  <a:srgbClr val="0B1F3F"/>
                </a:solidFill>
                <a:latin typeface="Calibri" pitchFamily="34" charset="0"/>
                <a:ea typeface="Calibri" pitchFamily="34" charset="-122"/>
                <a:cs typeface="Calibri" pitchFamily="34" charset="-120"/>
              </a:rPr>
              <a:t>/today</a:t>
            </a:r>
            <a:endParaRPr lang="en-GB" sz="1150" noProof="0" dirty="0"/>
          </a:p>
          <a:p>
            <a:pPr marL="0" indent="0">
              <a:lnSpc>
                <a:spcPct val="95000"/>
              </a:lnSpc>
              <a:spcAft>
                <a:spcPts val="800"/>
              </a:spcAft>
              <a:buNone/>
            </a:pPr>
            <a:r>
              <a:rPr lang="en-GB" sz="1150" noProof="0" dirty="0">
                <a:solidFill>
                  <a:srgbClr val="0B1F3F"/>
                </a:solidFill>
                <a:latin typeface="Calibri" pitchFamily="34" charset="0"/>
                <a:ea typeface="Calibri" pitchFamily="34" charset="-122"/>
                <a:cs typeface="Calibri" pitchFamily="34" charset="-120"/>
              </a:rPr>
              <a:t>2. International Agency for Research on Cancer. Global Cancer Observatory: Cancer Today. Rwanda fact sheet, GLOBOCAN 2024 estimates (breast: 1,684 cases; 813 deaths). Lyon: IARC / WHO. https://</a:t>
            </a:r>
            <a:r>
              <a:rPr lang="en-GB" sz="1150" noProof="0" dirty="0" err="1">
                <a:solidFill>
                  <a:srgbClr val="0B1F3F"/>
                </a:solidFill>
                <a:latin typeface="Calibri" pitchFamily="34" charset="0"/>
                <a:ea typeface="Calibri" pitchFamily="34" charset="-122"/>
                <a:cs typeface="Calibri" pitchFamily="34" charset="-120"/>
              </a:rPr>
              <a:t>gco.iarc.who.int</a:t>
            </a:r>
            <a:r>
              <a:rPr lang="en-GB" sz="1150" noProof="0" dirty="0">
                <a:solidFill>
                  <a:srgbClr val="0B1F3F"/>
                </a:solidFill>
                <a:latin typeface="Calibri" pitchFamily="34" charset="0"/>
                <a:ea typeface="Calibri" pitchFamily="34" charset="-122"/>
                <a:cs typeface="Calibri" pitchFamily="34" charset="-120"/>
              </a:rPr>
              <a:t>/today</a:t>
            </a:r>
            <a:endParaRPr lang="en-GB" sz="1150" noProof="0" dirty="0"/>
          </a:p>
          <a:p>
            <a:pPr marL="0" indent="0">
              <a:lnSpc>
                <a:spcPct val="95000"/>
              </a:lnSpc>
              <a:spcAft>
                <a:spcPts val="800"/>
              </a:spcAft>
              <a:buNone/>
            </a:pPr>
            <a:r>
              <a:rPr lang="en-GB" sz="1150" noProof="0" dirty="0">
                <a:solidFill>
                  <a:srgbClr val="0B1F3F"/>
                </a:solidFill>
                <a:latin typeface="Calibri" pitchFamily="34" charset="0"/>
                <a:ea typeface="Calibri" pitchFamily="34" charset="-122"/>
                <a:cs typeface="Calibri" pitchFamily="34" charset="-120"/>
              </a:rPr>
              <a:t>3. International Agency for Research on Cancer. Global Cancer Observatory: Cancer Today. Africa and Eastern Africa fact sheets, GLOBOCAN 2024 estimates. Lyon: IARC / WHO.</a:t>
            </a:r>
            <a:endParaRPr lang="en-GB" sz="1150" noProof="0" dirty="0"/>
          </a:p>
          <a:p>
            <a:pPr marL="0" indent="0">
              <a:lnSpc>
                <a:spcPct val="95000"/>
              </a:lnSpc>
              <a:spcAft>
                <a:spcPts val="800"/>
              </a:spcAft>
              <a:buNone/>
            </a:pPr>
            <a:r>
              <a:rPr lang="en-GB" sz="1150" noProof="0" dirty="0">
                <a:solidFill>
                  <a:srgbClr val="0B1F3F"/>
                </a:solidFill>
                <a:latin typeface="Calibri" pitchFamily="34" charset="0"/>
                <a:ea typeface="Calibri" pitchFamily="34" charset="-122"/>
                <a:cs typeface="Calibri" pitchFamily="34" charset="-120"/>
              </a:rPr>
              <a:t>4. Sung H, Filho AM, </a:t>
            </a:r>
            <a:r>
              <a:rPr lang="en-GB" sz="1150" noProof="0" dirty="0" err="1">
                <a:solidFill>
                  <a:srgbClr val="0B1F3F"/>
                </a:solidFill>
                <a:latin typeface="Calibri" pitchFamily="34" charset="0"/>
                <a:ea typeface="Calibri" pitchFamily="34" charset="-122"/>
                <a:cs typeface="Calibri" pitchFamily="34" charset="-120"/>
              </a:rPr>
              <a:t>Laversanne</a:t>
            </a:r>
            <a:r>
              <a:rPr lang="en-GB" sz="1150" noProof="0" dirty="0">
                <a:solidFill>
                  <a:srgbClr val="0B1F3F"/>
                </a:solidFill>
                <a:latin typeface="Calibri" pitchFamily="34" charset="0"/>
                <a:ea typeface="Calibri" pitchFamily="34" charset="-122"/>
                <a:cs typeface="Calibri" pitchFamily="34" charset="-120"/>
              </a:rPr>
              <a:t> M, et al. Global cancer statistics 2024: GLOBOCAN estimates of incidence and mortality worldwide for 34 cancers in 186 countries. CA Cancer J Clin. 2026. doi:10.3322/caac.70090</a:t>
            </a:r>
            <a:endParaRPr lang="en-GB" sz="1150" noProof="0" dirty="0"/>
          </a:p>
          <a:p>
            <a:pPr marL="0" indent="0">
              <a:lnSpc>
                <a:spcPct val="95000"/>
              </a:lnSpc>
              <a:spcAft>
                <a:spcPts val="800"/>
              </a:spcAft>
              <a:buNone/>
            </a:pPr>
            <a:r>
              <a:rPr lang="en-GB" sz="1150" noProof="0" dirty="0">
                <a:solidFill>
                  <a:srgbClr val="0B1F3F"/>
                </a:solidFill>
                <a:latin typeface="Calibri" pitchFamily="34" charset="0"/>
                <a:ea typeface="Calibri" pitchFamily="34" charset="-122"/>
                <a:cs typeface="Calibri" pitchFamily="34" charset="-120"/>
              </a:rPr>
              <a:t>5. International Agency for Research on Cancer. Global Cancer Observatory: Cancer Tomorrow. Projected cancer burden. Lyon: IARC / WHO. https://</a:t>
            </a:r>
            <a:r>
              <a:rPr lang="en-GB" sz="1150" noProof="0" dirty="0" err="1">
                <a:solidFill>
                  <a:srgbClr val="0B1F3F"/>
                </a:solidFill>
                <a:latin typeface="Calibri" pitchFamily="34" charset="0"/>
                <a:ea typeface="Calibri" pitchFamily="34" charset="-122"/>
                <a:cs typeface="Calibri" pitchFamily="34" charset="-120"/>
              </a:rPr>
              <a:t>gco.iarc.fr</a:t>
            </a:r>
            <a:r>
              <a:rPr lang="en-GB" sz="1150" noProof="0" dirty="0">
                <a:solidFill>
                  <a:srgbClr val="0B1F3F"/>
                </a:solidFill>
                <a:latin typeface="Calibri" pitchFamily="34" charset="0"/>
                <a:ea typeface="Calibri" pitchFamily="34" charset="-122"/>
                <a:cs typeface="Calibri" pitchFamily="34" charset="-120"/>
              </a:rPr>
              <a:t>/tomorrow</a:t>
            </a:r>
            <a:endParaRPr lang="en-GB" sz="1150" noProof="0" dirty="0"/>
          </a:p>
        </p:txBody>
      </p:sp>
      <p:sp>
        <p:nvSpPr>
          <p:cNvPr id="6" name="Text 4"/>
          <p:cNvSpPr txBox="1"/>
          <p:nvPr/>
        </p:nvSpPr>
        <p:spPr>
          <a:xfrm>
            <a:off x="6233008" y="1325880"/>
            <a:ext cx="5410048" cy="4754880"/>
          </a:xfrm>
          <a:prstGeom prst="rect">
            <a:avLst/>
          </a:prstGeom>
          <a:noFill/>
          <a:ln/>
        </p:spPr>
        <p:txBody>
          <a:bodyPr wrap="square" lIns="0" tIns="0" rIns="0" bIns="0" rtlCol="0" anchor="t"/>
          <a:lstStyle/>
          <a:p>
            <a:pPr marL="0" indent="0">
              <a:lnSpc>
                <a:spcPct val="95000"/>
              </a:lnSpc>
              <a:spcAft>
                <a:spcPts val="800"/>
              </a:spcAft>
              <a:buNone/>
            </a:pPr>
            <a:r>
              <a:rPr lang="en-GB" sz="1150" noProof="0" dirty="0">
                <a:solidFill>
                  <a:srgbClr val="0B1F3F"/>
                </a:solidFill>
                <a:latin typeface="Calibri" pitchFamily="34" charset="0"/>
                <a:ea typeface="Calibri" pitchFamily="34" charset="-122"/>
                <a:cs typeface="Calibri" pitchFamily="34" charset="-120"/>
              </a:rPr>
              <a:t>6. Republic of Rwanda, Ministry of Health. National Cancer Control Plan 2025 to 2029. Kigali: Ministry of Health / Rwanda Biomedical Centre.</a:t>
            </a:r>
            <a:endParaRPr lang="en-GB" sz="1150" noProof="0" dirty="0"/>
          </a:p>
          <a:p>
            <a:pPr marL="0" indent="0">
              <a:lnSpc>
                <a:spcPct val="95000"/>
              </a:lnSpc>
              <a:spcAft>
                <a:spcPts val="800"/>
              </a:spcAft>
              <a:buNone/>
            </a:pPr>
            <a:r>
              <a:rPr lang="en-GB" sz="1150" noProof="0" dirty="0">
                <a:solidFill>
                  <a:srgbClr val="0B1F3F"/>
                </a:solidFill>
                <a:latin typeface="Calibri" pitchFamily="34" charset="0"/>
                <a:ea typeface="Calibri" pitchFamily="34" charset="-122"/>
                <a:cs typeface="Calibri" pitchFamily="34" charset="-120"/>
              </a:rPr>
              <a:t>7. Frontiers in Public Health. Global burden and projections of breast cancer incidence and mortality to 2050: a comprehensive analysis of GLOBOCAN data. 2025. doi:10.3389/fpubh.2025.1622954</a:t>
            </a:r>
            <a:endParaRPr lang="en-GB" sz="1150" noProof="0" dirty="0"/>
          </a:p>
          <a:p>
            <a:pPr marL="0" indent="0">
              <a:lnSpc>
                <a:spcPct val="95000"/>
              </a:lnSpc>
              <a:spcAft>
                <a:spcPts val="800"/>
              </a:spcAft>
              <a:buNone/>
            </a:pPr>
            <a:r>
              <a:rPr lang="en-GB" sz="1150" noProof="0" dirty="0">
                <a:solidFill>
                  <a:srgbClr val="0B1F3F"/>
                </a:solidFill>
                <a:latin typeface="Calibri" pitchFamily="34" charset="0"/>
                <a:ea typeface="Calibri" pitchFamily="34" charset="-122"/>
                <a:cs typeface="Calibri" pitchFamily="34" charset="-120"/>
              </a:rPr>
              <a:t>8. World Health Organization. Guide to Cancer Early Diagnosis. Geneva: WHO, 2017.</a:t>
            </a:r>
            <a:endParaRPr lang="en-GB" sz="1150" noProof="0" dirty="0"/>
          </a:p>
          <a:p>
            <a:pPr marL="0" indent="0">
              <a:lnSpc>
                <a:spcPct val="95000"/>
              </a:lnSpc>
              <a:spcAft>
                <a:spcPts val="800"/>
              </a:spcAft>
              <a:buNone/>
            </a:pPr>
            <a:r>
              <a:rPr lang="en-GB" sz="1150" noProof="0" dirty="0">
                <a:solidFill>
                  <a:srgbClr val="0B1F3F"/>
                </a:solidFill>
                <a:latin typeface="Calibri" pitchFamily="34" charset="0"/>
                <a:ea typeface="Calibri" pitchFamily="34" charset="-122"/>
                <a:cs typeface="Calibri" pitchFamily="34" charset="-120"/>
              </a:rPr>
              <a:t>9. World Health Organization. Global Breast Cancer Initiative Implementation Framework: assessing, strengthening and scaling up services for the early detection and management of breast cancer. Geneva: WHO, 2023.</a:t>
            </a:r>
            <a:endParaRPr lang="en-GB" sz="1150" noProof="0" dirty="0"/>
          </a:p>
        </p:txBody>
      </p:sp>
    </p:spTree>
  </p:cSld>
  <p:clrMapOvr>
    <a:masterClrMapping/>
  </p:clrMapOvr>
</p:sld>
</file>

<file path=ppt/slides/slide161.xml><?xml version="1.0" encoding="utf-8"?>
<p:sld xmlns:a="http://schemas.openxmlformats.org/drawingml/2006/main" xmlns:r="http://schemas.openxmlformats.org/officeDocument/2006/relationships" xmlns:p="http://schemas.openxmlformats.org/presentationml/2006/main">
  <p:cSld name="Slide 12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274320"/>
            <a:ext cx="11094415" cy="256032"/>
          </a:xfrm>
          <a:prstGeom prst="rect">
            <a:avLst/>
          </a:prstGeom>
          <a:noFill/>
          <a:ln/>
        </p:spPr>
        <p:txBody>
          <a:bodyPr wrap="square" lIns="0" tIns="0" rIns="0" bIns="0" rtlCol="0" anchor="ctr"/>
          <a:lstStyle/>
          <a:p>
            <a:pPr marL="0" indent="0">
              <a:buNone/>
            </a:pPr>
            <a:r>
              <a:rPr lang="en-GB" sz="1100" b="1" kern="0" spc="100" noProof="0" dirty="0">
                <a:solidFill>
                  <a:srgbClr val="5B7699"/>
                </a:solidFill>
                <a:latin typeface="Calibri" pitchFamily="34" charset="0"/>
                <a:ea typeface="Calibri" pitchFamily="34" charset="-122"/>
                <a:cs typeface="Calibri" pitchFamily="34" charset="-120"/>
              </a:rPr>
              <a:t>A T T R I B U T I O N   A N D   S O U R C E S</a:t>
            </a:r>
            <a:endParaRPr lang="en-GB" sz="1100" noProof="0" dirty="0"/>
          </a:p>
        </p:txBody>
      </p:sp>
      <p:sp>
        <p:nvSpPr>
          <p:cNvPr id="3" name="Text 1"/>
          <p:cNvSpPr txBox="1"/>
          <p:nvPr/>
        </p:nvSpPr>
        <p:spPr>
          <a:xfrm>
            <a:off x="548640" y="6382512"/>
            <a:ext cx="11094415" cy="274320"/>
          </a:xfrm>
          <a:prstGeom prst="rect">
            <a:avLst/>
          </a:prstGeom>
          <a:noFill/>
          <a:ln/>
        </p:spPr>
        <p:txBody>
          <a:bodyPr wrap="square" lIns="0" tIns="0" rIns="0" bIns="0" rtlCol="0" anchor="ctr"/>
          <a:lstStyle/>
          <a:p>
            <a:pPr marL="0" indent="0">
              <a:buNone/>
            </a:pPr>
            <a:r>
              <a:rPr lang="en-GB" sz="1000" noProof="0" dirty="0">
                <a:solidFill>
                  <a:srgbClr val="5B7699"/>
                </a:solidFill>
                <a:latin typeface="Calibri" pitchFamily="34" charset="0"/>
                <a:ea typeface="Calibri" pitchFamily="34" charset="-122"/>
                <a:cs typeface="Calibri" pitchFamily="34" charset="-120"/>
              </a:rPr>
              <a:t>Breast Cancer  |  Frontline HCP  |  Rwanda Biomedical Centre</a:t>
            </a:r>
            <a:endParaRPr lang="en-GB" sz="1000" noProof="0" dirty="0"/>
          </a:p>
        </p:txBody>
      </p:sp>
      <p:sp>
        <p:nvSpPr>
          <p:cNvPr id="4" name="Text 2"/>
          <p:cNvSpPr txBox="1"/>
          <p:nvPr/>
        </p:nvSpPr>
        <p:spPr>
          <a:xfrm>
            <a:off x="548640" y="566928"/>
            <a:ext cx="11094415" cy="566928"/>
          </a:xfrm>
          <a:prstGeom prst="rect">
            <a:avLst/>
          </a:prstGeom>
          <a:noFill/>
          <a:ln/>
        </p:spPr>
        <p:txBody>
          <a:bodyPr wrap="square" lIns="0" tIns="0" rIns="0" bIns="0" rtlCol="0" anchor="t"/>
          <a:lstStyle/>
          <a:p>
            <a:pPr marL="0" indent="0">
              <a:buNone/>
            </a:pPr>
            <a:r>
              <a:rPr lang="en-GB" sz="3000" b="1" noProof="0" dirty="0">
                <a:solidFill>
                  <a:srgbClr val="12315B"/>
                </a:solidFill>
                <a:latin typeface="Calibri" pitchFamily="34" charset="0"/>
                <a:ea typeface="Calibri" pitchFamily="34" charset="-122"/>
                <a:cs typeface="Calibri" pitchFamily="34" charset="-120"/>
              </a:rPr>
              <a:t>References (continued)</a:t>
            </a:r>
            <a:endParaRPr lang="en-GB" sz="3000" noProof="0" dirty="0"/>
          </a:p>
        </p:txBody>
      </p:sp>
      <p:sp>
        <p:nvSpPr>
          <p:cNvPr id="5" name="Text 3"/>
          <p:cNvSpPr txBox="1"/>
          <p:nvPr/>
        </p:nvSpPr>
        <p:spPr>
          <a:xfrm>
            <a:off x="548640" y="1325880"/>
            <a:ext cx="5410048" cy="4754880"/>
          </a:xfrm>
          <a:prstGeom prst="rect">
            <a:avLst/>
          </a:prstGeom>
          <a:noFill/>
          <a:ln/>
        </p:spPr>
        <p:txBody>
          <a:bodyPr wrap="square" lIns="0" tIns="0" rIns="0" bIns="0" rtlCol="0" anchor="t"/>
          <a:lstStyle/>
          <a:p>
            <a:pPr marL="0" indent="0">
              <a:lnSpc>
                <a:spcPct val="95000"/>
              </a:lnSpc>
              <a:spcAft>
                <a:spcPts val="800"/>
              </a:spcAft>
              <a:buNone/>
            </a:pPr>
            <a:r>
              <a:rPr lang="en-GB" sz="1150" noProof="0" dirty="0">
                <a:solidFill>
                  <a:srgbClr val="0B1F3F"/>
                </a:solidFill>
                <a:latin typeface="Calibri" pitchFamily="34" charset="0"/>
                <a:ea typeface="Calibri" pitchFamily="34" charset="-122"/>
                <a:cs typeface="Calibri" pitchFamily="34" charset="-120"/>
              </a:rPr>
              <a:t>10. World Health Organization. WHO Position Paper on Mammography Screening. Geneva: WHO, 2014.</a:t>
            </a:r>
            <a:endParaRPr lang="en-GB" sz="1150" noProof="0" dirty="0"/>
          </a:p>
          <a:p>
            <a:pPr marL="0" indent="0">
              <a:lnSpc>
                <a:spcPct val="95000"/>
              </a:lnSpc>
              <a:spcAft>
                <a:spcPts val="800"/>
              </a:spcAft>
              <a:buNone/>
            </a:pPr>
            <a:r>
              <a:rPr lang="en-GB" sz="1150" noProof="0" dirty="0">
                <a:solidFill>
                  <a:srgbClr val="0B1F3F"/>
                </a:solidFill>
                <a:latin typeface="Calibri" pitchFamily="34" charset="0"/>
                <a:ea typeface="Calibri" pitchFamily="34" charset="-122"/>
                <a:cs typeface="Calibri" pitchFamily="34" charset="-120"/>
              </a:rPr>
              <a:t>11. International Agency for Research on Cancer. Breast Cancer Screening. IARC Handbooks of Cancer Prevention, Volume 15. Lyon: IARC, 2016.</a:t>
            </a:r>
            <a:endParaRPr lang="en-GB" sz="1150" noProof="0" dirty="0"/>
          </a:p>
          <a:p>
            <a:pPr marL="0" indent="0">
              <a:lnSpc>
                <a:spcPct val="95000"/>
              </a:lnSpc>
              <a:spcAft>
                <a:spcPts val="800"/>
              </a:spcAft>
              <a:buNone/>
            </a:pPr>
            <a:r>
              <a:rPr lang="en-GB" sz="1150" noProof="0" dirty="0">
                <a:solidFill>
                  <a:srgbClr val="0B1F3F"/>
                </a:solidFill>
                <a:latin typeface="Calibri" pitchFamily="34" charset="0"/>
                <a:ea typeface="Calibri" pitchFamily="34" charset="-122"/>
                <a:cs typeface="Calibri" pitchFamily="34" charset="-120"/>
              </a:rPr>
              <a:t>12. Loibl S, André F, Bachelot T, et al. Early breast cancer: ESMO Clinical Practice Guideline for diagnosis, treatment and follow-up. Ann Oncol. https://</a:t>
            </a:r>
            <a:r>
              <a:rPr lang="en-GB" sz="1150" noProof="0" dirty="0" err="1">
                <a:solidFill>
                  <a:srgbClr val="0B1F3F"/>
                </a:solidFill>
                <a:latin typeface="Calibri" pitchFamily="34" charset="0"/>
                <a:ea typeface="Calibri" pitchFamily="34" charset="-122"/>
                <a:cs typeface="Calibri" pitchFamily="34" charset="-120"/>
              </a:rPr>
              <a:t>www.esmo.org</a:t>
            </a:r>
            <a:r>
              <a:rPr lang="en-GB" sz="1150" noProof="0" dirty="0">
                <a:solidFill>
                  <a:srgbClr val="0B1F3F"/>
                </a:solidFill>
                <a:latin typeface="Calibri" pitchFamily="34" charset="0"/>
                <a:ea typeface="Calibri" pitchFamily="34" charset="-122"/>
                <a:cs typeface="Calibri" pitchFamily="34" charset="-120"/>
              </a:rPr>
              <a:t>/guidelines/breast-cancer</a:t>
            </a:r>
            <a:endParaRPr lang="en-GB" sz="1150" noProof="0" dirty="0"/>
          </a:p>
          <a:p>
            <a:pPr marL="0" indent="0">
              <a:lnSpc>
                <a:spcPct val="95000"/>
              </a:lnSpc>
              <a:spcAft>
                <a:spcPts val="800"/>
              </a:spcAft>
              <a:buNone/>
            </a:pPr>
            <a:r>
              <a:rPr lang="en-GB" sz="1150" noProof="0" dirty="0">
                <a:solidFill>
                  <a:srgbClr val="0B1F3F"/>
                </a:solidFill>
                <a:latin typeface="Calibri" pitchFamily="34" charset="0"/>
                <a:ea typeface="Calibri" pitchFamily="34" charset="-122"/>
                <a:cs typeface="Calibri" pitchFamily="34" charset="-120"/>
              </a:rPr>
              <a:t>13. European Society for Medical Oncology. ESMO Clinical Practice Guideline: metastatic breast cancer. https://</a:t>
            </a:r>
            <a:r>
              <a:rPr lang="en-GB" sz="1150" noProof="0" dirty="0" err="1">
                <a:solidFill>
                  <a:srgbClr val="0B1F3F"/>
                </a:solidFill>
                <a:latin typeface="Calibri" pitchFamily="34" charset="0"/>
                <a:ea typeface="Calibri" pitchFamily="34" charset="-122"/>
                <a:cs typeface="Calibri" pitchFamily="34" charset="-120"/>
              </a:rPr>
              <a:t>www.esmo.org</a:t>
            </a:r>
            <a:r>
              <a:rPr lang="en-GB" sz="1150" noProof="0" dirty="0">
                <a:solidFill>
                  <a:srgbClr val="0B1F3F"/>
                </a:solidFill>
                <a:latin typeface="Calibri" pitchFamily="34" charset="0"/>
                <a:ea typeface="Calibri" pitchFamily="34" charset="-122"/>
                <a:cs typeface="Calibri" pitchFamily="34" charset="-120"/>
              </a:rPr>
              <a:t>/guidelines/breast-cancer</a:t>
            </a:r>
            <a:endParaRPr lang="en-GB" sz="1150" noProof="0" dirty="0"/>
          </a:p>
          <a:p>
            <a:pPr marL="0" indent="0">
              <a:lnSpc>
                <a:spcPct val="95000"/>
              </a:lnSpc>
              <a:spcAft>
                <a:spcPts val="800"/>
              </a:spcAft>
              <a:buNone/>
            </a:pPr>
            <a:r>
              <a:rPr lang="en-GB" sz="1150" noProof="0" dirty="0">
                <a:solidFill>
                  <a:srgbClr val="0B1F3F"/>
                </a:solidFill>
                <a:latin typeface="Calibri" pitchFamily="34" charset="0"/>
                <a:ea typeface="Calibri" pitchFamily="34" charset="-122"/>
                <a:cs typeface="Calibri" pitchFamily="34" charset="-120"/>
              </a:rPr>
              <a:t>14. National Comprehensive Cancer Network. NCCN Clinical Practice Guidelines in Oncology: Breast Cancer; Breast Cancer Screening and Diagnosis; and Genetic / Familial High-Risk Assessment, Breast, Ovarian and Pancreatic. https://</a:t>
            </a:r>
            <a:r>
              <a:rPr lang="en-GB" sz="1150" noProof="0" dirty="0" err="1">
                <a:solidFill>
                  <a:srgbClr val="0B1F3F"/>
                </a:solidFill>
                <a:latin typeface="Calibri" pitchFamily="34" charset="0"/>
                <a:ea typeface="Calibri" pitchFamily="34" charset="-122"/>
                <a:cs typeface="Calibri" pitchFamily="34" charset="-120"/>
              </a:rPr>
              <a:t>www.nccn.org</a:t>
            </a:r>
            <a:endParaRPr lang="en-GB" sz="1150" noProof="0" dirty="0"/>
          </a:p>
          <a:p>
            <a:pPr marL="0" indent="0">
              <a:lnSpc>
                <a:spcPct val="95000"/>
              </a:lnSpc>
              <a:spcAft>
                <a:spcPts val="800"/>
              </a:spcAft>
              <a:buNone/>
            </a:pPr>
            <a:r>
              <a:rPr lang="en-GB" sz="1150" noProof="0" dirty="0">
                <a:solidFill>
                  <a:srgbClr val="0B1F3F"/>
                </a:solidFill>
                <a:latin typeface="Calibri" pitchFamily="34" charset="0"/>
                <a:ea typeface="Calibri" pitchFamily="34" charset="-122"/>
                <a:cs typeface="Calibri" pitchFamily="34" charset="-120"/>
              </a:rPr>
              <a:t>15. American Cancer Society. Breast cancer: risk factors, signs and symptoms, screening, diagnosis, staging and treatment; and Breast cancer in men. https://</a:t>
            </a:r>
            <a:r>
              <a:rPr lang="en-GB" sz="1150" noProof="0" dirty="0" err="1">
                <a:solidFill>
                  <a:srgbClr val="0B1F3F"/>
                </a:solidFill>
                <a:latin typeface="Calibri" pitchFamily="34" charset="0"/>
                <a:ea typeface="Calibri" pitchFamily="34" charset="-122"/>
                <a:cs typeface="Calibri" pitchFamily="34" charset="-120"/>
              </a:rPr>
              <a:t>www.cancer.org</a:t>
            </a:r>
            <a:endParaRPr lang="en-GB" sz="1150" noProof="0" dirty="0"/>
          </a:p>
        </p:txBody>
      </p:sp>
      <p:sp>
        <p:nvSpPr>
          <p:cNvPr id="6" name="Text 4"/>
          <p:cNvSpPr txBox="1"/>
          <p:nvPr/>
        </p:nvSpPr>
        <p:spPr>
          <a:xfrm>
            <a:off x="6233008" y="1325880"/>
            <a:ext cx="5410048" cy="4754880"/>
          </a:xfrm>
          <a:prstGeom prst="rect">
            <a:avLst/>
          </a:prstGeom>
          <a:noFill/>
          <a:ln/>
        </p:spPr>
        <p:txBody>
          <a:bodyPr wrap="square" lIns="0" tIns="0" rIns="0" bIns="0" rtlCol="0" anchor="t"/>
          <a:lstStyle/>
          <a:p>
            <a:pPr marL="0" indent="0">
              <a:lnSpc>
                <a:spcPct val="95000"/>
              </a:lnSpc>
              <a:spcAft>
                <a:spcPts val="800"/>
              </a:spcAft>
              <a:buNone/>
            </a:pPr>
            <a:r>
              <a:rPr lang="en-GB" sz="1150" noProof="0" dirty="0">
                <a:solidFill>
                  <a:srgbClr val="0B1F3F"/>
                </a:solidFill>
                <a:latin typeface="Calibri" pitchFamily="34" charset="0"/>
                <a:ea typeface="Calibri" pitchFamily="34" charset="-122"/>
                <a:cs typeface="Calibri" pitchFamily="34" charset="-120"/>
              </a:rPr>
              <a:t>16. WHO Classification of Tumours Editorial Board. Breast Tumours. WHO Classification of Tumours, 5th edition, Volume 2. Lyon: IARC, 2019.</a:t>
            </a:r>
            <a:endParaRPr lang="en-GB" sz="1150" noProof="0" dirty="0"/>
          </a:p>
          <a:p>
            <a:pPr marL="0" indent="0">
              <a:lnSpc>
                <a:spcPct val="95000"/>
              </a:lnSpc>
              <a:spcAft>
                <a:spcPts val="800"/>
              </a:spcAft>
              <a:buNone/>
            </a:pPr>
            <a:r>
              <a:rPr lang="en-GB" sz="1150" noProof="0" dirty="0">
                <a:solidFill>
                  <a:srgbClr val="0B1F3F"/>
                </a:solidFill>
                <a:latin typeface="Calibri" pitchFamily="34" charset="0"/>
                <a:ea typeface="Calibri" pitchFamily="34" charset="-122"/>
                <a:cs typeface="Calibri" pitchFamily="34" charset="-120"/>
              </a:rPr>
              <a:t>17. Amin MB, Edge SB, Greene FL, et al. AJCC Cancer Staging Manual, 8th edition. American College of Surgeons; and Union for International Cancer Control, TNM Classification of Malignant Tumours.</a:t>
            </a:r>
            <a:endParaRPr lang="en-GB" sz="1150" noProof="0" dirty="0"/>
          </a:p>
          <a:p>
            <a:pPr marL="0" indent="0">
              <a:lnSpc>
                <a:spcPct val="95000"/>
              </a:lnSpc>
              <a:spcAft>
                <a:spcPts val="800"/>
              </a:spcAft>
              <a:buNone/>
            </a:pPr>
            <a:r>
              <a:rPr lang="en-GB" sz="1150" noProof="0" dirty="0">
                <a:solidFill>
                  <a:srgbClr val="0B1F3F"/>
                </a:solidFill>
                <a:latin typeface="Calibri" pitchFamily="34" charset="0"/>
                <a:ea typeface="Calibri" pitchFamily="34" charset="-122"/>
                <a:cs typeface="Calibri" pitchFamily="34" charset="-120"/>
              </a:rPr>
              <a:t>18. Allison KH, Hammond MEH, Dowsett M, et al. </a:t>
            </a:r>
            <a:r>
              <a:rPr lang="en-GB" sz="1150" noProof="0" dirty="0" err="1">
                <a:solidFill>
                  <a:srgbClr val="0B1F3F"/>
                </a:solidFill>
                <a:latin typeface="Calibri" pitchFamily="34" charset="0"/>
                <a:ea typeface="Calibri" pitchFamily="34" charset="-122"/>
                <a:cs typeface="Calibri" pitchFamily="34" charset="-120"/>
              </a:rPr>
              <a:t>Estrogen</a:t>
            </a:r>
            <a:r>
              <a:rPr lang="en-GB" sz="1150" noProof="0" dirty="0">
                <a:solidFill>
                  <a:srgbClr val="0B1F3F"/>
                </a:solidFill>
                <a:latin typeface="Calibri" pitchFamily="34" charset="0"/>
                <a:ea typeface="Calibri" pitchFamily="34" charset="-122"/>
                <a:cs typeface="Calibri" pitchFamily="34" charset="-120"/>
              </a:rPr>
              <a:t> and progesterone receptor testing in breast cancer: ASCO / CAP guideline update. J Clin Oncol. 2020;38(12):1346 to 1366.</a:t>
            </a:r>
            <a:endParaRPr lang="en-GB" sz="1150" noProof="0" dirty="0"/>
          </a:p>
          <a:p>
            <a:pPr marL="0" indent="0">
              <a:lnSpc>
                <a:spcPct val="95000"/>
              </a:lnSpc>
              <a:spcAft>
                <a:spcPts val="800"/>
              </a:spcAft>
              <a:buNone/>
            </a:pPr>
            <a:r>
              <a:rPr lang="en-GB" sz="1150" noProof="0" dirty="0">
                <a:solidFill>
                  <a:srgbClr val="0B1F3F"/>
                </a:solidFill>
                <a:latin typeface="Calibri" pitchFamily="34" charset="0"/>
                <a:ea typeface="Calibri" pitchFamily="34" charset="-122"/>
                <a:cs typeface="Calibri" pitchFamily="34" charset="-120"/>
              </a:rPr>
              <a:t>19. Wolff AC, Somerfield MR, Dowsett M, et al. Human epidermal growth factor receptor 2 testing in breast cancer: ASCO / CAP guideline update. J Clin Oncol. 2023;41(22):3867 to 3872.</a:t>
            </a:r>
            <a:endParaRPr lang="en-GB" sz="1150" noProof="0" dirty="0"/>
          </a:p>
          <a:p>
            <a:pPr marL="0" indent="0">
              <a:lnSpc>
                <a:spcPct val="95000"/>
              </a:lnSpc>
              <a:spcAft>
                <a:spcPts val="800"/>
              </a:spcAft>
              <a:buNone/>
            </a:pPr>
            <a:r>
              <a:rPr lang="en-GB" sz="1150" noProof="0" dirty="0">
                <a:solidFill>
                  <a:srgbClr val="0B1F3F"/>
                </a:solidFill>
                <a:latin typeface="Calibri" pitchFamily="34" charset="0"/>
                <a:ea typeface="Calibri" pitchFamily="34" charset="-122"/>
                <a:cs typeface="Calibri" pitchFamily="34" charset="-120"/>
              </a:rPr>
              <a:t>20. International Agency for Research on Cancer. Planning and Developing Population-Based Cancer Registration in Low- and Middle-Income Settings. IARC Technical Publication No. 43, 2014; and Manual for Cancer Registry Personnel, Technical Report No. 10, 1995.</a:t>
            </a:r>
            <a:endParaRPr lang="en-GB" sz="1150" noProof="0" dirty="0"/>
          </a:p>
          <a:p>
            <a:pPr marL="0" indent="0">
              <a:lnSpc>
                <a:spcPct val="95000"/>
              </a:lnSpc>
              <a:spcAft>
                <a:spcPts val="800"/>
              </a:spcAft>
              <a:buNone/>
            </a:pPr>
            <a:r>
              <a:rPr lang="en-GB" sz="1150" noProof="0" dirty="0">
                <a:solidFill>
                  <a:srgbClr val="0B1F3F"/>
                </a:solidFill>
                <a:latin typeface="Calibri" pitchFamily="34" charset="0"/>
                <a:ea typeface="Calibri" pitchFamily="34" charset="-122"/>
                <a:cs typeface="Calibri" pitchFamily="34" charset="-120"/>
              </a:rPr>
              <a:t>21. Rwanda Biomedical Centre. Curriculum in Clinical Breast Exam for Health Center Nurses: breast cancer early detection training materials. Kigali: RBC.</a:t>
            </a:r>
            <a:endParaRPr lang="en-GB" sz="1150" noProof="0" dirty="0"/>
          </a:p>
          <a:p>
            <a:pPr marL="0" indent="0">
              <a:lnSpc>
                <a:spcPct val="95000"/>
              </a:lnSpc>
              <a:spcAft>
                <a:spcPts val="800"/>
              </a:spcAft>
              <a:buNone/>
            </a:pPr>
            <a:r>
              <a:rPr lang="en-GB" sz="1150" noProof="0" dirty="0">
                <a:solidFill>
                  <a:srgbClr val="0B1F3F"/>
                </a:solidFill>
                <a:latin typeface="Calibri" pitchFamily="34" charset="0"/>
                <a:ea typeface="Calibri" pitchFamily="34" charset="-122"/>
                <a:cs typeface="Calibri" pitchFamily="34" charset="-120"/>
              </a:rPr>
              <a:t>22. Rwanda Biomedical Centre. Monthly Breast Self-Examination leaflet (English and Kinyarwanda). Kigali: RBC.</a:t>
            </a:r>
            <a:endParaRPr lang="en-GB" sz="1150" noProof="0" dirty="0"/>
          </a:p>
          <a:p>
            <a:pPr marL="0" indent="0">
              <a:lnSpc>
                <a:spcPct val="95000"/>
              </a:lnSpc>
              <a:spcAft>
                <a:spcPts val="800"/>
              </a:spcAft>
              <a:buNone/>
            </a:pPr>
            <a:r>
              <a:rPr lang="en-GB" sz="1150" noProof="0" dirty="0">
                <a:solidFill>
                  <a:srgbClr val="0B1F3F"/>
                </a:solidFill>
                <a:latin typeface="Calibri" pitchFamily="34" charset="0"/>
                <a:ea typeface="Calibri" pitchFamily="34" charset="-122"/>
                <a:cs typeface="Calibri" pitchFamily="34" charset="-120"/>
              </a:rPr>
              <a:t>23. Rwanda Biomedical Centre. National breast cancer early-detection approach: clinical expert review of this module, September 2026.</a:t>
            </a:r>
            <a:endParaRPr lang="en-GB" sz="1150" noProof="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7D61ECC46547A045896A1B75675AB43C" ma:contentTypeVersion="12" ma:contentTypeDescription="Create a new document." ma:contentTypeScope="" ma:versionID="b64b65294843640458730aea8e953da7">
  <xsd:schema xmlns:xsd="http://www.w3.org/2001/XMLSchema" xmlns:xs="http://www.w3.org/2001/XMLSchema" xmlns:p="http://schemas.microsoft.com/office/2006/metadata/properties" xmlns:ns1="http://schemas.microsoft.com/sharepoint/v3" xmlns:ns2="17d9841e-3b3a-4c82-8e4d-4f809d4d0b5f" xmlns:ns3="55fd9118-62da-44f2-ad5d-6ee26453d194" targetNamespace="http://schemas.microsoft.com/office/2006/metadata/properties" ma:root="true" ma:fieldsID="0ebed194f83790a6b312e91a81a0e8d9" ns1:_="" ns2:_="" ns3:_="">
    <xsd:import namespace="http://schemas.microsoft.com/sharepoint/v3"/>
    <xsd:import namespace="17d9841e-3b3a-4c82-8e4d-4f809d4d0b5f"/>
    <xsd:import namespace="55fd9118-62da-44f2-ad5d-6ee26453d194"/>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1:_ip_UnifiedCompliancePolicyProperties" minOccurs="0"/>
                <xsd:element ref="ns1:_ip_UnifiedCompliancePolicyUIAction"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1" nillable="true" ma:displayName="Unified Compliance Policy Properties" ma:hidden="true" ma:internalName="_ip_UnifiedCompliancePolicyProperties">
      <xsd:simpleType>
        <xsd:restriction base="dms:Note"/>
      </xsd:simpleType>
    </xsd:element>
    <xsd:element name="_ip_UnifiedCompliancePolicyUIAction" ma:index="12"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7d9841e-3b3a-4c82-8e4d-4f809d4d0b5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lcf76f155ced4ddcb4097134ff3c332f" ma:index="18" nillable="true" ma:taxonomy="true" ma:internalName="lcf76f155ced4ddcb4097134ff3c332f" ma:taxonomyFieldName="MediaServiceImageTags" ma:displayName="Image Tags" ma:readOnly="false" ma:fieldId="{5cf76f15-5ced-4ddc-b409-7134ff3c332f}" ma:taxonomyMulti="true" ma:sspId="3f5e642b-91f5-4888-b018-43334a040d09" ma:termSetId="09814cd3-568e-fe90-9814-8d621ff8fb84" ma:anchorId="fba54fb3-c3e1-fe81-a776-ca4b69148c4d" ma:open="true" ma:isKeyword="false">
      <xsd:complexType>
        <xsd:sequence>
          <xsd:element ref="pc:Terms" minOccurs="0" maxOccurs="1"/>
        </xsd:sequence>
      </xsd:complexType>
    </xsd:element>
  </xsd:schema>
  <xsd:schema xmlns:xsd="http://www.w3.org/2001/XMLSchema" xmlns:xs="http://www.w3.org/2001/XMLSchema" xmlns:dms="http://schemas.microsoft.com/office/2006/documentManagement/types" xmlns:pc="http://schemas.microsoft.com/office/infopath/2007/PartnerControls" targetNamespace="55fd9118-62da-44f2-ad5d-6ee26453d194" elementFormDefault="qualified">
    <xsd:import namespace="http://schemas.microsoft.com/office/2006/documentManagement/types"/>
    <xsd:import namespace="http://schemas.microsoft.com/office/infopath/2007/PartnerControls"/>
    <xsd:element name="TaxCatchAll" ma:index="19" nillable="true" ma:displayName="Taxonomy Catch All Column" ma:hidden="true" ma:list="{2a656308-58b0-4c85-8062-04ccee44b053}" ma:internalName="TaxCatchAll" ma:showField="CatchAllData" ma:web="55fd9118-62da-44f2-ad5d-6ee26453d19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TaxCatchAll xmlns="55fd9118-62da-44f2-ad5d-6ee26453d194" xsi:nil="true"/>
    <_ip_UnifiedCompliancePolicyProperties xmlns="http://schemas.microsoft.com/sharepoint/v3" xsi:nil="true"/>
    <lcf76f155ced4ddcb4097134ff3c332f xmlns="17d9841e-3b3a-4c82-8e4d-4f809d4d0b5f">
      <Terms xmlns="http://schemas.microsoft.com/office/infopath/2007/PartnerControls"/>
    </lcf76f155ced4ddcb4097134ff3c332f>
  </documentManagement>
</p:properties>
</file>

<file path=customXml/itemProps1.xml><?xml version="1.0" encoding="utf-8"?>
<ds:datastoreItem xmlns:ds="http://schemas.openxmlformats.org/officeDocument/2006/customXml" ds:itemID="{8D734ABA-EDCC-4460-9FA8-4996565BDC2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17d9841e-3b3a-4c82-8e4d-4f809d4d0b5f"/>
    <ds:schemaRef ds:uri="55fd9118-62da-44f2-ad5d-6ee26453d19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2F7C2D4-9952-48AE-B3A0-8A6F7FF997BC}">
  <ds:schemaRefs>
    <ds:schemaRef ds:uri="http://schemas.microsoft.com/sharepoint/v3/contenttype/forms"/>
  </ds:schemaRefs>
</ds:datastoreItem>
</file>

<file path=customXml/itemProps3.xml><?xml version="1.0" encoding="utf-8"?>
<ds:datastoreItem xmlns:ds="http://schemas.openxmlformats.org/officeDocument/2006/customXml" ds:itemID="{03A20937-432F-4694-8353-F852B3FBDAFF}">
  <ds:schemaRefs>
    <ds:schemaRef ds:uri="http://schemas.microsoft.com/office/2006/metadata/properties"/>
    <ds:schemaRef ds:uri="http://schemas.microsoft.com/office/infopath/2007/PartnerControls"/>
    <ds:schemaRef ds:uri="http://schemas.microsoft.com/sharepoint/v3"/>
    <ds:schemaRef ds:uri="55fd9118-62da-44f2-ad5d-6ee26453d194"/>
    <ds:schemaRef ds:uri="17d9841e-3b3a-4c82-8e4d-4f809d4d0b5f"/>
  </ds:schemaRefs>
</ds:datastoreItem>
</file>

<file path=docProps/app.xml><?xml version="1.0" encoding="utf-8"?>
<Properties xmlns="http://schemas.openxmlformats.org/officeDocument/2006/extended-properties" xmlns:vt="http://schemas.openxmlformats.org/officeDocument/2006/docPropsVTypes">
  <TotalTime>0</TotalTime>
  <Words>19882</Words>
  <Application>Microsoft Office PowerPoint</Application>
  <PresentationFormat>Widescreen</PresentationFormat>
  <Paragraphs>1883</Paragraphs>
  <Slides>161</Slides>
  <Notes>143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161</vt:i4>
      </vt:variant>
    </vt:vector>
  </HeadingPairs>
  <TitlesOfParts>
    <vt:vector size="166" baseType="lpstr">
      <vt:lpstr>Aptos</vt: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Breast Cancer, Frontline HCP Module</dc:title>
  <dc:subject>Breast cancer e-learning module for frontline HCPs, Rwanda</dc:subject>
  <dc:creator>Rwanda Biomedical Centre</dc:creator>
  <cp:lastModifiedBy>Saraf, Jayant</cp:lastModifiedBy>
  <cp:revision>120</cp:revision>
  <dcterms:created xsi:type="dcterms:W3CDTF">2026-09-06T17:52:52Z</dcterms:created>
  <dcterms:modified xsi:type="dcterms:W3CDTF">2026-10-05T07:16:00Z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0x0101007D61ECC46547A045896A1B75675AB43C</vt:lpwstr>
  </property>
  <property fmtid="{D5CDD505-2E9C-101B-9397-08002B2CF9AE}" pid="3" name="MSIP_Label_2c56a699-e9bd-437a-8412-901342082749_Enabled">
    <vt:lpwstr>true</vt:lpwstr>
  </property>
  <property fmtid="{D5CDD505-2E9C-101B-9397-08002B2CF9AE}" pid="4" name="MSIP_Label_2c56a699-e9bd-437a-8412-901342082749_SetDate">
    <vt:lpwstr>2026-10-05T07:15:21Z</vt:lpwstr>
  </property>
  <property fmtid="{D5CDD505-2E9C-101B-9397-08002B2CF9AE}" pid="5" name="MSIP_Label_2c56a699-e9bd-437a-8412-901342082749_Method">
    <vt:lpwstr>Privileged</vt:lpwstr>
  </property>
  <property fmtid="{D5CDD505-2E9C-101B-9397-08002B2CF9AE}" pid="6" name="MSIP_Label_2c56a699-e9bd-437a-8412-901342082749_Name">
    <vt:lpwstr>2c56a699-e9bd-437a-8412-901342082749</vt:lpwstr>
  </property>
  <property fmtid="{D5CDD505-2E9C-101B-9397-08002B2CF9AE}" pid="7" name="MSIP_Label_2c56a699-e9bd-437a-8412-901342082749_SiteId">
    <vt:lpwstr>a00de4ec-48a8-43a6-be74-e31274e2060d</vt:lpwstr>
  </property>
  <property fmtid="{D5CDD505-2E9C-101B-9397-08002B2CF9AE}" pid="8" name="MSIP_Label_2c56a699-e9bd-437a-8412-901342082749_ActionId">
    <vt:lpwstr>fbdc33e5-3414-4f56-b577-0fbabddf17d7</vt:lpwstr>
  </property>
  <property fmtid="{D5CDD505-2E9C-101B-9397-08002B2CF9AE}" pid="9" name="MSIP_Label_2c56a699-e9bd-437a-8412-901342082749_ContentBits">
    <vt:lpwstr>1</vt:lpwstr>
  </property>
  <property fmtid="{D5CDD505-2E9C-101B-9397-08002B2CF9AE}" pid="10" name="MSIP_Label_2c56a699-e9bd-437a-8412-901342082749_Tag">
    <vt:lpwstr>10, 0, 1, 1</vt:lpwstr>
  </property>
  <property fmtid="{D5CDD505-2E9C-101B-9397-08002B2CF9AE}" pid="11" name="ClassificationContentMarkingHeaderLocations">
    <vt:lpwstr>Office Theme:3</vt:lpwstr>
  </property>
  <property fmtid="{D5CDD505-2E9C-101B-9397-08002B2CF9AE}" pid="12" name="ClassificationContentMarkingHeaderText">
    <vt:lpwstr>Confidential</vt:lpwstr>
  </property>
</Properties>
</file>