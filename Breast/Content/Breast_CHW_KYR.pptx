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404" r:id="rId30"/>
    <p:sldId id="284" r:id="rId31"/>
    <p:sldId id="417" r:id="rId32"/>
    <p:sldId id="286" r:id="rId33"/>
    <p:sldId id="287" r:id="rId34"/>
    <p:sldId id="418" r:id="rId35"/>
    <p:sldId id="289" r:id="rId36"/>
    <p:sldId id="290" r:id="rId37"/>
    <p:sldId id="291" r:id="rId38"/>
    <p:sldId id="292" r:id="rId39"/>
    <p:sldId id="293" r:id="rId40"/>
    <p:sldId id="419" r:id="rId41"/>
    <p:sldId id="420" r:id="rId42"/>
    <p:sldId id="421" r:id="rId43"/>
    <p:sldId id="422" r:id="rId44"/>
    <p:sldId id="298" r:id="rId45"/>
    <p:sldId id="299" r:id="rId46"/>
    <p:sldId id="300" r:id="rId47"/>
    <p:sldId id="301" r:id="rId48"/>
    <p:sldId id="302" r:id="rId49"/>
    <p:sldId id="423" r:id="rId50"/>
    <p:sldId id="304" r:id="rId51"/>
    <p:sldId id="408" r:id="rId52"/>
    <p:sldId id="409" r:id="rId53"/>
    <p:sldId id="410" r:id="rId54"/>
    <p:sldId id="411" r:id="rId55"/>
    <p:sldId id="412" r:id="rId56"/>
    <p:sldId id="413" r:id="rId57"/>
    <p:sldId id="428" r:id="rId58"/>
    <p:sldId id="305" r:id="rId59"/>
    <p:sldId id="424" r:id="rId60"/>
    <p:sldId id="307" r:id="rId61"/>
    <p:sldId id="405" r:id="rId62"/>
    <p:sldId id="308" r:id="rId63"/>
    <p:sldId id="309" r:id="rId64"/>
    <p:sldId id="310" r:id="rId65"/>
    <p:sldId id="425" r:id="rId66"/>
    <p:sldId id="312" r:id="rId67"/>
    <p:sldId id="313" r:id="rId68"/>
    <p:sldId id="406" r:id="rId69"/>
    <p:sldId id="426" r:id="rId70"/>
    <p:sldId id="315" r:id="rId71"/>
    <p:sldId id="427" r:id="rId72"/>
    <p:sldId id="429" r:id="rId73"/>
    <p:sldId id="430" r:id="rId74"/>
    <p:sldId id="431" r:id="rId75"/>
    <p:sldId id="432" r:id="rId76"/>
    <p:sldId id="433" r:id="rId77"/>
    <p:sldId id="322" r:id="rId78"/>
    <p:sldId id="323" r:id="rId79"/>
    <p:sldId id="324" r:id="rId80"/>
    <p:sldId id="325" r:id="rId81"/>
    <p:sldId id="326" r:id="rId82"/>
    <p:sldId id="415" r:id="rId83"/>
    <p:sldId id="416" r:id="rId84"/>
    <p:sldId id="327" r:id="rId85"/>
    <p:sldId id="328" r:id="rId86"/>
    <p:sldId id="329" r:id="rId87"/>
    <p:sldId id="330" r:id="rId88"/>
    <p:sldId id="435" r:id="rId89"/>
    <p:sldId id="436" r:id="rId90"/>
    <p:sldId id="437" r:id="rId91"/>
    <p:sldId id="334" r:id="rId92"/>
    <p:sldId id="335" r:id="rId93"/>
    <p:sldId id="336" r:id="rId94"/>
    <p:sldId id="337" r:id="rId95"/>
    <p:sldId id="338" r:id="rId96"/>
    <p:sldId id="438" r:id="rId97"/>
    <p:sldId id="439" r:id="rId98"/>
    <p:sldId id="440" r:id="rId99"/>
    <p:sldId id="441" r:id="rId100"/>
    <p:sldId id="442" r:id="rId101"/>
    <p:sldId id="344" r:id="rId102"/>
    <p:sldId id="345" r:id="rId103"/>
    <p:sldId id="346" r:id="rId104"/>
    <p:sldId id="347" r:id="rId105"/>
    <p:sldId id="348" r:id="rId106"/>
    <p:sldId id="349" r:id="rId107"/>
    <p:sldId id="350" r:id="rId108"/>
    <p:sldId id="351" r:id="rId109"/>
    <p:sldId id="352" r:id="rId110"/>
    <p:sldId id="407" r:id="rId111"/>
    <p:sldId id="353" r:id="rId112"/>
    <p:sldId id="354" r:id="rId113"/>
    <p:sldId id="355" r:id="rId114"/>
    <p:sldId id="443" r:id="rId115"/>
    <p:sldId id="444" r:id="rId116"/>
    <p:sldId id="445" r:id="rId117"/>
    <p:sldId id="446" r:id="rId118"/>
    <p:sldId id="360" r:id="rId119"/>
    <p:sldId id="361" r:id="rId120"/>
    <p:sldId id="362" r:id="rId121"/>
    <p:sldId id="363" r:id="rId122"/>
    <p:sldId id="364" r:id="rId123"/>
    <p:sldId id="365" r:id="rId124"/>
    <p:sldId id="447" r:id="rId125"/>
    <p:sldId id="367" r:id="rId126"/>
    <p:sldId id="368" r:id="rId127"/>
    <p:sldId id="448" r:id="rId128"/>
    <p:sldId id="370" r:id="rId129"/>
    <p:sldId id="371" r:id="rId130"/>
    <p:sldId id="372" r:id="rId131"/>
    <p:sldId id="373" r:id="rId132"/>
    <p:sldId id="374" r:id="rId133"/>
    <p:sldId id="375" r:id="rId134"/>
    <p:sldId id="449" r:id="rId135"/>
    <p:sldId id="450" r:id="rId136"/>
    <p:sldId id="451" r:id="rId137"/>
    <p:sldId id="452" r:id="rId138"/>
    <p:sldId id="380" r:id="rId139"/>
    <p:sldId id="381" r:id="rId140"/>
    <p:sldId id="382" r:id="rId141"/>
    <p:sldId id="383" r:id="rId142"/>
    <p:sldId id="384" r:id="rId143"/>
    <p:sldId id="385" r:id="rId144"/>
    <p:sldId id="386" r:id="rId145"/>
    <p:sldId id="387" r:id="rId146"/>
    <p:sldId id="388" r:id="rId147"/>
    <p:sldId id="389" r:id="rId148"/>
    <p:sldId id="390" r:id="rId149"/>
    <p:sldId id="391" r:id="rId150"/>
    <p:sldId id="392" r:id="rId151"/>
    <p:sldId id="393" r:id="rId152"/>
    <p:sldId id="394" r:id="rId153"/>
    <p:sldId id="395" r:id="rId154"/>
    <p:sldId id="396" r:id="rId155"/>
    <p:sldId id="397" r:id="rId156"/>
    <p:sldId id="398" r:id="rId157"/>
    <p:sldId id="399" r:id="rId158"/>
    <p:sldId id="400" r:id="rId159"/>
    <p:sldId id="401" r:id="rId160"/>
    <p:sldId id="402" r:id="rId161"/>
    <p:sldId id="403" r:id="rId16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432"/>
    <a:srgbClr val="8F512C"/>
    <a:srgbClr val="9900CC"/>
    <a:srgbClr val="F6C6C0"/>
    <a:srgbClr val="FC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41" autoAdjust="0"/>
    <p:restoredTop sz="94610"/>
  </p:normalViewPr>
  <p:slideViewPr>
    <p:cSldViewPr snapToGrid="0" snapToObjects="1">
      <p:cViewPr>
        <p:scale>
          <a:sx n="56" d="100"/>
          <a:sy n="56" d="100"/>
        </p:scale>
        <p:origin x="1728" y="1168"/>
      </p:cViewPr>
      <p:guideLst/>
    </p:cSldViewPr>
  </p:slideViewPr>
  <p:notesTextViewPr>
    <p:cViewPr>
      <p:scale>
        <a:sx n="1" d="1"/>
        <a:sy n="1" d="1"/>
      </p:scale>
      <p:origin x="0" y="0"/>
    </p:cViewPr>
  </p:notesTextViewPr>
  <p:sorterViewPr>
    <p:cViewPr>
      <p:scale>
        <a:sx n="100" d="100"/>
        <a:sy n="100" d="100"/>
      </p:scale>
      <p:origin x="0" y="-3370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customXml" Target="../customXml/item3.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presProps" Target="presProps.xml"/><Relationship Id="rId16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400" b="0" i="0" u="none" strike="noStrike">
                <a:solidFill>
                  <a:srgbClr val="1F3864"/>
                </a:solidFill>
                <a:latin typeface="Calibri"/>
              </a:defRPr>
            </a:pPr>
            <a:r>
              <a:rPr lang="rw-RW" sz="1400" b="0" i="0" u="none" strike="noStrike" dirty="0">
                <a:solidFill>
                  <a:srgbClr val="1F3864"/>
                </a:solidFill>
                <a:latin typeface="Calibri"/>
              </a:rPr>
              <a:t>Kanseri eshanu zikunze kwibasira abagore mu Rwanda, abarwayi bashya mu 2024</a:t>
            </a:r>
          </a:p>
        </c:rich>
      </c:tx>
      <c:overlay val="0"/>
    </c:title>
    <c:autoTitleDeleted val="0"/>
    <c:plotArea>
      <c:layout/>
      <c:barChart>
        <c:barDir val="bar"/>
        <c:grouping val="clustered"/>
        <c:varyColors val="0"/>
        <c:ser>
          <c:idx val="0"/>
          <c:order val="0"/>
          <c:tx>
            <c:strRef>
              <c:f>Sheet1!$B$1</c:f>
              <c:strCache>
                <c:ptCount val="1"/>
                <c:pt idx="0">
                  <c:v>Umubare w'abarwayi bashya</c:v>
                </c:pt>
              </c:strCache>
            </c:strRef>
          </c:tx>
          <c:spPr>
            <a:solidFill>
              <a:srgbClr val="2E5C8A"/>
            </a:solidFill>
            <a:effectLst/>
          </c:spPr>
          <c:invertIfNegative val="0"/>
          <c:dLbls>
            <c:numFmt formatCode="#,##0" sourceLinked="0"/>
            <c:spPr>
              <a:noFill/>
              <a:ln>
                <a:noFill/>
              </a:ln>
              <a:effectLst/>
            </c:spPr>
            <c:txPr>
              <a:bodyPr/>
              <a:lstStyle/>
              <a:p>
                <a:pPr>
                  <a:defRPr sz="1400" b="0" i="0" u="none" strike="noStrike">
                    <a:solidFill>
                      <a:srgbClr val="203864"/>
                    </a:solidFill>
                    <a:latin typeface="Calibri"/>
                  </a:defRPr>
                </a:pPr>
                <a:endParaRPr lang="pt-PT"/>
              </a:p>
            </c:txPr>
            <c:showLegendKey val="0"/>
            <c:showVal val="1"/>
            <c:showCatName val="0"/>
            <c:showSerName val="0"/>
            <c:showPercent val="0"/>
            <c:showBubbleSize val="0"/>
            <c:showLeaderLines val="0"/>
            <c:extLst xmlns:c15="http://schemas.microsoft.com/office/drawing/2012/chart" xmlns:c16="http://schemas.microsoft.com/office/drawing/2014/chart">
              <c:ext xmlns:c15="http://schemas.microsoft.com/office/drawing/2012/chart" uri="{CE6537A1-D6FC-4f65-9D91-7224C49458BB}">
                <c15:showLeaderLines val="0"/>
              </c:ext>
            </c:extLst>
          </c:dLbls>
          <c:cat>
            <c:strRef>
              <c:f>Sheet1!$A$2:$A$6</c:f>
              <c:strCache>
                <c:ptCount val="5"/>
                <c:pt idx="0">
                  <c:v>Umwijima</c:v>
                </c:pt>
                <c:pt idx="1">
                  <c:v>Igifu</c:v>
                </c:pt>
                <c:pt idx="2">
                  <c:v>Colon na rectum</c:v>
                </c:pt>
                <c:pt idx="3">
                  <c:v>Cervix</c:v>
                </c:pt>
                <c:pt idx="4">
                  <c:v>Ibere</c:v>
                </c:pt>
              </c:strCache>
            </c:strRef>
          </c:cat>
          <c:val>
            <c:numRef>
              <c:f>Sheet1!$B$2:$B$6</c:f>
              <c:numCache>
                <c:formatCode>General</c:formatCode>
                <c:ptCount val="5"/>
                <c:pt idx="0">
                  <c:v>362</c:v>
                </c:pt>
                <c:pt idx="1">
                  <c:v>502</c:v>
                </c:pt>
                <c:pt idx="2">
                  <c:v>503</c:v>
                </c:pt>
                <c:pt idx="3">
                  <c:v>1582</c:v>
                </c:pt>
                <c:pt idx="4">
                  <c:v>1684</c:v>
                </c:pt>
              </c:numCache>
            </c:numRef>
          </c:val>
          <c:extLst xmlns:c15="http://schemas.microsoft.com/office/drawing/2012/chart" xmlns:c16="http://schemas.microsoft.com/office/drawing/2014/chart">
            <c:ext xmlns:c16="http://schemas.microsoft.com/office/drawing/2014/chart" uri="{C3380CC4-5D6E-409C-BE32-E72D297353CC}">
              <c16:uniqueId val="{00000000-5DB4-4FFB-99DA-631F57127BD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203864"/>
                </a:solidFill>
                <a:latin typeface="Calibri"/>
              </a:defRPr>
            </a:pPr>
            <a:endParaRPr lang="en-US"/>
          </a:p>
        </c:txPr>
        <c:crossAx val="2094734552"/>
        <c:crosses val="autoZero"/>
        <c:auto val="1"/>
        <c:lblAlgn val="ctr"/>
        <c:lblOffset val="100"/>
        <c:noMultiLvlLbl val="1"/>
      </c:catAx>
      <c:valAx>
        <c:axId val="2094734552"/>
        <c:scaling>
          <c:orientation val="minMax"/>
          <c:max val="1900"/>
          <c:min val="0"/>
        </c:scaling>
        <c:delete val="0"/>
        <c:axPos val="b"/>
        <c:majorGridlines>
          <c:spPr>
            <a:ln w="12700" cap="flat">
              <a:solidFill>
                <a:srgbClr val="E6ECF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B8AA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3601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8659-FCBC-1F35-D13A-449AD037D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FD30C-DA41-C6BF-BB97-9F5FA8A0D42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591D3F-9AD7-0042-B18D-3751124E05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187994-8EB6-C810-8234-7D0BA19F627D}"/>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52244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3A8A9-51C6-0FAC-965A-CCEC35DA7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1C004-863D-347E-8D09-82625940FEF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F728B23-E6AF-BECD-36AE-85B9CB4AC9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DE2E27-7777-301B-63C5-22FD714E1DF2}"/>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4211267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E2C69-4075-2B2B-A451-C883729FA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44C91-2FFD-4203-DA5F-4D54022ED0E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E6C349D-CDD3-D666-2EF5-CE667CBF2A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C5688C-D98A-A043-A2D8-FC6EC59CE77E}"/>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4869800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9EBB3-2AD7-2CF7-2413-2596DDB4C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A4096-B63A-6A4B-B568-76EC316ECED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2BED216-C1DB-C9E4-F1AF-BBD2767691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63B6CC-AA7C-86A5-485F-7256AE9E1FAE}"/>
              </a:ext>
            </a:extLst>
          </p:cNvPr>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248627676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33.jpeg"/><Relationship Id="rId4" Type="http://schemas.openxmlformats.org/officeDocument/2006/relationships/image" Target="../media/image32.jpeg"/></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36.jpeg"/><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43.jpeg"/><Relationship Id="rId4" Type="http://schemas.openxmlformats.org/officeDocument/2006/relationships/image" Target="../media/image42.jpe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47.jpeg"/><Relationship Id="rId4" Type="http://schemas.openxmlformats.org/officeDocument/2006/relationships/image" Target="../media/image46.jpeg"/></Relationships>
</file>

<file path=ppt/slides/_rels/slide68.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55.jpeg"/><Relationship Id="rId4" Type="http://schemas.openxmlformats.org/officeDocument/2006/relationships/image" Target="../media/image54.jpe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96.xml"/><Relationship Id="rId1" Type="http://schemas.openxmlformats.org/officeDocument/2006/relationships/slideLayout" Target="../slideLayouts/slideLayout1.xml"/><Relationship Id="rId5" Type="http://schemas.openxmlformats.org/officeDocument/2006/relationships/image" Target="../media/image58.jpeg"/><Relationship Id="rId4" Type="http://schemas.openxmlformats.org/officeDocument/2006/relationships/image" Target="../media/image57.jpeg"/></Relationships>
</file>

<file path=ppt/slides/_rels/slide10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97.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00.xml"/><Relationship Id="rId1" Type="http://schemas.openxmlformats.org/officeDocument/2006/relationships/slideLayout" Target="../slideLayouts/slideLayout1.xml"/><Relationship Id="rId5" Type="http://schemas.openxmlformats.org/officeDocument/2006/relationships/image" Target="../media/image65.jpeg"/><Relationship Id="rId4" Type="http://schemas.openxmlformats.org/officeDocument/2006/relationships/image" Target="../media/image64.jpeg"/></Relationships>
</file>

<file path=ppt/slides/_rels/slide11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01.xml"/><Relationship Id="rId1" Type="http://schemas.openxmlformats.org/officeDocument/2006/relationships/slideLayout" Target="../slideLayouts/slideLayout1.xml"/><Relationship Id="rId5" Type="http://schemas.openxmlformats.org/officeDocument/2006/relationships/image" Target="../media/image68.jpeg"/><Relationship Id="rId4" Type="http://schemas.openxmlformats.org/officeDocument/2006/relationships/image" Target="../media/image67.jpe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03.xml"/><Relationship Id="rId1" Type="http://schemas.openxmlformats.org/officeDocument/2006/relationships/slideLayout" Target="../slideLayouts/slideLayout1.xml"/><Relationship Id="rId5" Type="http://schemas.openxmlformats.org/officeDocument/2006/relationships/image" Target="../media/image71.jpeg"/><Relationship Id="rId4" Type="http://schemas.openxmlformats.org/officeDocument/2006/relationships/image" Target="../media/image70.jpe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14.xml"/><Relationship Id="rId1" Type="http://schemas.openxmlformats.org/officeDocument/2006/relationships/slideLayout" Target="../slideLayouts/slideLayout1.xml"/><Relationship Id="rId5" Type="http://schemas.openxmlformats.org/officeDocument/2006/relationships/image" Target="../media/image74.jpeg"/><Relationship Id="rId4" Type="http://schemas.openxmlformats.org/officeDocument/2006/relationships/image" Target="../media/image73.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6.xml"/><Relationship Id="rId1" Type="http://schemas.openxmlformats.org/officeDocument/2006/relationships/slideLayout" Target="../slideLayouts/slideLayout1.xml"/><Relationship Id="rId5" Type="http://schemas.openxmlformats.org/officeDocument/2006/relationships/image" Target="../media/image77.jpeg"/><Relationship Id="rId4" Type="http://schemas.openxmlformats.org/officeDocument/2006/relationships/image" Target="../media/image76.png"/></Relationships>
</file>

<file path=ppt/slides/_rels/slide12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117.xml"/><Relationship Id="rId1" Type="http://schemas.openxmlformats.org/officeDocument/2006/relationships/slideLayout" Target="../slideLayouts/slideLayout1.xml"/><Relationship Id="rId5" Type="http://schemas.openxmlformats.org/officeDocument/2006/relationships/image" Target="../media/image80.jpeg"/><Relationship Id="rId4" Type="http://schemas.openxmlformats.org/officeDocument/2006/relationships/image" Target="../media/image79.jpe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122.xml"/><Relationship Id="rId1" Type="http://schemas.openxmlformats.org/officeDocument/2006/relationships/slideLayout" Target="../slideLayouts/slideLayout1.xml"/><Relationship Id="rId5" Type="http://schemas.openxmlformats.org/officeDocument/2006/relationships/image" Target="../media/image83.jpeg"/><Relationship Id="rId4" Type="http://schemas.openxmlformats.org/officeDocument/2006/relationships/image" Target="../media/image82.jpe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557"/>
        </a:solidFill>
        <a:effectLst/>
      </p:bgPr>
    </p:bg>
    <p:spTree>
      <p:nvGrpSpPr>
        <p:cNvPr id="1" name=""/>
        <p:cNvGrpSpPr/>
        <p:nvPr/>
      </p:nvGrpSpPr>
      <p:grpSpPr>
        <a:xfrm>
          <a:off x="0" y="0"/>
          <a:ext cx="0" cy="0"/>
          <a:chOff x="0" y="0"/>
          <a:chExt cx="0" cy="0"/>
        </a:xfrm>
      </p:grpSpPr>
      <p:sp>
        <p:nvSpPr>
          <p:cNvPr id="2" name="Text 0"/>
          <p:cNvSpPr txBox="1"/>
          <p:nvPr/>
        </p:nvSpPr>
        <p:spPr>
          <a:xfrm>
            <a:off x="914400" y="1874520"/>
            <a:ext cx="9144000" cy="320040"/>
          </a:xfrm>
          <a:prstGeom prst="rect">
            <a:avLst/>
          </a:prstGeom>
          <a:noFill/>
          <a:ln/>
        </p:spPr>
        <p:txBody>
          <a:bodyPr wrap="square" lIns="0" tIns="0" rIns="0" bIns="0" rtlCol="0" anchor="ctr"/>
          <a:lstStyle/>
          <a:p>
            <a:pPr marL="0" indent="0">
              <a:buNone/>
            </a:pPr>
            <a:r>
              <a:rPr lang="rw-RW" sz="1300" b="1" kern="0" spc="400" dirty="0">
                <a:solidFill>
                  <a:srgbClr val="9FBAD8"/>
                </a:solidFill>
                <a:latin typeface="Calibri" pitchFamily="34" charset="0"/>
                <a:ea typeface="Calibri" pitchFamily="34" charset="-122"/>
                <a:cs typeface="Calibri" pitchFamily="34" charset="-120"/>
              </a:rPr>
              <a:t>C H W M O D U L E</a:t>
            </a:r>
            <a:endParaRPr lang="rw-RW" sz="1300" dirty="0"/>
          </a:p>
        </p:txBody>
      </p:sp>
      <p:sp>
        <p:nvSpPr>
          <p:cNvPr id="3" name="Text 1"/>
          <p:cNvSpPr txBox="1"/>
          <p:nvPr/>
        </p:nvSpPr>
        <p:spPr>
          <a:xfrm>
            <a:off x="914400" y="2240280"/>
            <a:ext cx="10058400" cy="1005840"/>
          </a:xfrm>
          <a:prstGeom prst="rect">
            <a:avLst/>
          </a:prstGeom>
          <a:noFill/>
          <a:ln/>
        </p:spPr>
        <p:txBody>
          <a:bodyPr wrap="square" lIns="0" tIns="0" rIns="0" bIns="0" rtlCol="0" anchor="ctr"/>
          <a:lstStyle/>
          <a:p>
            <a:pPr marL="0" indent="0">
              <a:buNone/>
            </a:pPr>
            <a:r>
              <a:rPr lang="rw-RW" sz="5400" b="1" dirty="0">
                <a:solidFill>
                  <a:srgbClr val="FFFFFF"/>
                </a:solidFill>
                <a:latin typeface="Calibri" pitchFamily="34" charset="0"/>
                <a:ea typeface="Calibri" pitchFamily="34" charset="-122"/>
                <a:cs typeface="Calibri" pitchFamily="34" charset="-120"/>
              </a:rPr>
              <a:t>Kanseri y'ibere</a:t>
            </a:r>
            <a:endParaRPr lang="rw-RW" sz="5400" dirty="0"/>
          </a:p>
        </p:txBody>
      </p:sp>
      <p:sp>
        <p:nvSpPr>
          <p:cNvPr id="4" name="Text 2"/>
          <p:cNvSpPr txBox="1"/>
          <p:nvPr/>
        </p:nvSpPr>
        <p:spPr>
          <a:xfrm>
            <a:off x="914400" y="3429000"/>
            <a:ext cx="10058400" cy="457200"/>
          </a:xfrm>
          <a:prstGeom prst="rect">
            <a:avLst/>
          </a:prstGeom>
          <a:noFill/>
          <a:ln/>
        </p:spPr>
        <p:txBody>
          <a:bodyPr wrap="square" lIns="0" tIns="0" rIns="0" bIns="0" rtlCol="0" anchor="ctr"/>
          <a:lstStyle/>
          <a:p>
            <a:pPr marL="0" indent="0">
              <a:buNone/>
            </a:pPr>
            <a:r>
              <a:rPr lang="rw-RW" sz="2000" dirty="0">
                <a:solidFill>
                  <a:srgbClr val="DCE7F5"/>
                </a:solidFill>
                <a:latin typeface="Calibri" pitchFamily="34" charset="0"/>
                <a:ea typeface="Calibri" pitchFamily="34" charset="-122"/>
                <a:cs typeface="Calibri" pitchFamily="34" charset="-120"/>
              </a:rPr>
              <a:t>Menya. Shishikariza gusuzumwa. Ohereza. Shyigikira. Kurikirana.</a:t>
            </a:r>
            <a:endParaRPr lang="rw-RW" sz="2000" dirty="0"/>
          </a:p>
        </p:txBody>
      </p:sp>
      <p:sp>
        <p:nvSpPr>
          <p:cNvPr id="5" name="Shape 3"/>
          <p:cNvSpPr/>
          <p:nvPr/>
        </p:nvSpPr>
        <p:spPr>
          <a:xfrm>
            <a:off x="914400" y="4206240"/>
            <a:ext cx="1371600" cy="457200"/>
          </a:xfrm>
          <a:prstGeom prst="roundRect">
            <a:avLst>
              <a:gd name="adj" fmla="val 16000"/>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914400" y="4206240"/>
            <a:ext cx="1371600" cy="457200"/>
          </a:xfrm>
          <a:prstGeom prst="rect">
            <a:avLst/>
          </a:prstGeom>
          <a:noFill/>
          <a:ln/>
        </p:spPr>
        <p:txBody>
          <a:bodyPr wrap="square" lIns="0" tIns="0" rIns="0" bIns="0" rtlCol="0" anchor="ctr"/>
          <a:lstStyle/>
          <a:p>
            <a:pPr marL="0" indent="0" algn="ctr">
              <a:buNone/>
            </a:pPr>
            <a:r>
              <a:rPr lang="rw-RW" sz="1400" b="1" dirty="0">
                <a:solidFill>
                  <a:srgbClr val="FFFFFF"/>
                </a:solidFill>
                <a:latin typeface="Calibri" pitchFamily="34" charset="0"/>
                <a:ea typeface="Calibri" pitchFamily="34" charset="-122"/>
                <a:cs typeface="Calibri" pitchFamily="34" charset="-120"/>
              </a:rPr>
              <a:t>Ikinyarwanda</a:t>
            </a:r>
            <a:endParaRPr lang="rw-RW" sz="1400" dirty="0"/>
          </a:p>
        </p:txBody>
      </p:sp>
      <p:sp>
        <p:nvSpPr>
          <p:cNvPr id="7" name="Text 5"/>
          <p:cNvSpPr txBox="1"/>
          <p:nvPr/>
        </p:nvSpPr>
        <p:spPr>
          <a:xfrm>
            <a:off x="914400" y="4846320"/>
            <a:ext cx="7315200" cy="365760"/>
          </a:xfrm>
          <a:prstGeom prst="rect">
            <a:avLst/>
          </a:prstGeom>
          <a:noFill/>
          <a:ln/>
        </p:spPr>
        <p:txBody>
          <a:bodyPr wrap="square" lIns="0" tIns="0" rIns="0" bIns="0" rtlCol="0" anchor="ctr"/>
          <a:lstStyle/>
          <a:p>
            <a:pPr marL="0" indent="0">
              <a:buNone/>
            </a:pPr>
            <a:r>
              <a:rPr lang="rw-RW" sz="1500" dirty="0">
                <a:solidFill>
                  <a:srgbClr val="9FBAD8"/>
                </a:solidFill>
                <a:latin typeface="Calibri" pitchFamily="34" charset="0"/>
                <a:ea typeface="Calibri" pitchFamily="34" charset="-122"/>
                <a:cs typeface="Calibri" pitchFamily="34" charset="-120"/>
              </a:rPr>
              <a:t>Rwanda Biomedical Centre</a:t>
            </a:r>
            <a:endParaRPr lang="rw-RW"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INSHAMAKE Y'ISOMO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Ibyo iri somo rikubiyemo</a:t>
            </a:r>
            <a:endParaRPr lang="rw-RW" sz="3000" dirty="0"/>
          </a:p>
        </p:txBody>
      </p:sp>
      <p:sp>
        <p:nvSpPr>
          <p:cNvPr id="4" name="Text 2"/>
          <p:cNvSpPr txBox="1"/>
          <p:nvPr/>
        </p:nvSpPr>
        <p:spPr>
          <a:xfrm>
            <a:off x="548640" y="1371600"/>
            <a:ext cx="11091672" cy="411480"/>
          </a:xfrm>
          <a:prstGeom prst="rect">
            <a:avLst/>
          </a:prstGeom>
          <a:noFill/>
          <a:ln/>
        </p:spPr>
        <p:txBody>
          <a:bodyPr wrap="square" lIns="0" tIns="0" rIns="0" bIns="0" rtlCol="0" anchor="ctr">
            <a:normAutofit fontScale="85500" lnSpcReduction="17000"/>
          </a:bodyPr>
          <a:lstStyle/>
          <a:p>
            <a:pPr marL="0" indent="0">
              <a:buNone/>
            </a:pPr>
            <a:r>
              <a:rPr lang="rw-RW" sz="1800" dirty="0">
                <a:solidFill>
                  <a:srgbClr val="203864"/>
                </a:solidFill>
                <a:latin typeface="Calibri" pitchFamily="34" charset="0"/>
                <a:ea typeface="Calibri" pitchFamily="34" charset="-122"/>
                <a:cs typeface="Calibri" pitchFamily="34" charset="-120"/>
              </a:rPr>
              <a:t>Kanseri y'ibere ikunze kugaragara mu Rwanda. Iri somo rikurikira urugendo rwo kubona impinduka kugeza ku gufasha umuntu binyuze mu kwitabwaho.</a:t>
            </a:r>
            <a:endParaRPr lang="rw-RW" sz="1800" dirty="0"/>
          </a:p>
        </p:txBody>
      </p:sp>
      <p:sp>
        <p:nvSpPr>
          <p:cNvPr id="5" name="Shape 3"/>
          <p:cNvSpPr/>
          <p:nvPr/>
        </p:nvSpPr>
        <p:spPr>
          <a:xfrm>
            <a:off x="548640" y="2286000"/>
            <a:ext cx="1954987" cy="2743200"/>
          </a:xfrm>
          <a:prstGeom prst="roundRect">
            <a:avLst>
              <a:gd name="adj" fmla="val 3742"/>
            </a:avLst>
          </a:prstGeom>
          <a:solidFill>
            <a:srgbClr val="F3F7FC"/>
          </a:solidFill>
          <a:ln w="12700">
            <a:solidFill>
              <a:srgbClr val="D3E1F2"/>
            </a:solidFill>
            <a:prstDash val="solid"/>
          </a:ln>
        </p:spPr>
        <p:txBody>
          <a:bodyPr/>
          <a:lstStyle/>
          <a:p>
            <a:endParaRPr lang="rw-RW" dirty="0"/>
          </a:p>
        </p:txBody>
      </p:sp>
      <p:sp>
        <p:nvSpPr>
          <p:cNvPr id="6" name="Shape 4"/>
          <p:cNvSpPr/>
          <p:nvPr/>
        </p:nvSpPr>
        <p:spPr>
          <a:xfrm>
            <a:off x="749808" y="24688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749808" y="24688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8" name="Text 6"/>
          <p:cNvSpPr txBox="1"/>
          <p:nvPr/>
        </p:nvSpPr>
        <p:spPr>
          <a:xfrm>
            <a:off x="749808" y="2971800"/>
            <a:ext cx="1552651" cy="1874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Menya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Menya impinduka z'amabere zikwiye kwitabwaho.</a:t>
            </a:r>
            <a:endParaRPr lang="rw-RW" sz="1800" dirty="0"/>
          </a:p>
        </p:txBody>
      </p:sp>
      <p:sp>
        <p:nvSpPr>
          <p:cNvPr id="9" name="Text 7"/>
          <p:cNvSpPr txBox="1"/>
          <p:nvPr/>
        </p:nvSpPr>
        <p:spPr>
          <a:xfrm>
            <a:off x="2503627" y="342900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0" name="Shape 8"/>
          <p:cNvSpPr/>
          <p:nvPr/>
        </p:nvSpPr>
        <p:spPr>
          <a:xfrm>
            <a:off x="2832811" y="2286000"/>
            <a:ext cx="1954987" cy="2743200"/>
          </a:xfrm>
          <a:prstGeom prst="roundRect">
            <a:avLst>
              <a:gd name="adj" fmla="val 3742"/>
            </a:avLst>
          </a:prstGeom>
          <a:solidFill>
            <a:srgbClr val="F3F7FC"/>
          </a:solidFill>
          <a:ln w="12700">
            <a:solidFill>
              <a:srgbClr val="D3E1F2"/>
            </a:solidFill>
            <a:prstDash val="solid"/>
          </a:ln>
        </p:spPr>
        <p:txBody>
          <a:bodyPr/>
          <a:lstStyle/>
          <a:p>
            <a:endParaRPr lang="rw-RW" dirty="0"/>
          </a:p>
        </p:txBody>
      </p:sp>
      <p:sp>
        <p:nvSpPr>
          <p:cNvPr id="11" name="Shape 9"/>
          <p:cNvSpPr/>
          <p:nvPr/>
        </p:nvSpPr>
        <p:spPr>
          <a:xfrm>
            <a:off x="3033979" y="24688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3033979" y="24688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3" name="Text 11"/>
          <p:cNvSpPr txBox="1"/>
          <p:nvPr/>
        </p:nvSpPr>
        <p:spPr>
          <a:xfrm>
            <a:off x="3033979" y="2971800"/>
            <a:ext cx="1552651" cy="1874520"/>
          </a:xfrm>
          <a:prstGeom prst="rect">
            <a:avLst/>
          </a:prstGeom>
          <a:noFill/>
          <a:ln/>
        </p:spPr>
        <p:txBody>
          <a:bodyPr wrap="square" lIns="0" tIns="0" rIns="0" bIns="0" rtlCol="0" anchor="t">
            <a:normAutofit fontScale="93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Shishikariza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Shishikariza uwo muntu gufata icyemezo cyo gusuzumwa.</a:t>
            </a:r>
            <a:endParaRPr lang="rw-RW" sz="1800" dirty="0"/>
          </a:p>
        </p:txBody>
      </p:sp>
      <p:sp>
        <p:nvSpPr>
          <p:cNvPr id="14" name="Text 12"/>
          <p:cNvSpPr txBox="1"/>
          <p:nvPr/>
        </p:nvSpPr>
        <p:spPr>
          <a:xfrm>
            <a:off x="4787798" y="342900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5" name="Shape 13"/>
          <p:cNvSpPr/>
          <p:nvPr/>
        </p:nvSpPr>
        <p:spPr>
          <a:xfrm>
            <a:off x="5116982" y="2286000"/>
            <a:ext cx="1954987" cy="2743200"/>
          </a:xfrm>
          <a:prstGeom prst="roundRect">
            <a:avLst>
              <a:gd name="adj" fmla="val 3742"/>
            </a:avLst>
          </a:prstGeom>
          <a:solidFill>
            <a:srgbClr val="F3F7FC"/>
          </a:solidFill>
          <a:ln w="12700">
            <a:solidFill>
              <a:srgbClr val="D3E1F2"/>
            </a:solidFill>
            <a:prstDash val="solid"/>
          </a:ln>
        </p:spPr>
        <p:txBody>
          <a:bodyPr/>
          <a:lstStyle/>
          <a:p>
            <a:endParaRPr lang="rw-RW" dirty="0"/>
          </a:p>
        </p:txBody>
      </p:sp>
      <p:sp>
        <p:nvSpPr>
          <p:cNvPr id="16" name="Shape 14"/>
          <p:cNvSpPr/>
          <p:nvPr/>
        </p:nvSpPr>
        <p:spPr>
          <a:xfrm>
            <a:off x="5318150" y="24688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7" name="Text 15"/>
          <p:cNvSpPr txBox="1"/>
          <p:nvPr/>
        </p:nvSpPr>
        <p:spPr>
          <a:xfrm>
            <a:off x="5318150" y="24688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8" name="Text 16"/>
          <p:cNvSpPr txBox="1"/>
          <p:nvPr/>
        </p:nvSpPr>
        <p:spPr>
          <a:xfrm>
            <a:off x="5318150" y="2971800"/>
            <a:ext cx="1552651" cy="1874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Ohereza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Mwohereze ahantu hakwiye, mu gihe gikwiye.</a:t>
            </a:r>
            <a:endParaRPr lang="rw-RW" sz="1800" dirty="0"/>
          </a:p>
        </p:txBody>
      </p:sp>
      <p:sp>
        <p:nvSpPr>
          <p:cNvPr id="19" name="Text 17"/>
          <p:cNvSpPr txBox="1"/>
          <p:nvPr/>
        </p:nvSpPr>
        <p:spPr>
          <a:xfrm>
            <a:off x="7071970" y="342900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20" name="Shape 18"/>
          <p:cNvSpPr/>
          <p:nvPr/>
        </p:nvSpPr>
        <p:spPr>
          <a:xfrm>
            <a:off x="7401154" y="2286000"/>
            <a:ext cx="1954987" cy="2743200"/>
          </a:xfrm>
          <a:prstGeom prst="roundRect">
            <a:avLst>
              <a:gd name="adj" fmla="val 3742"/>
            </a:avLst>
          </a:prstGeom>
          <a:solidFill>
            <a:srgbClr val="F3F7FC"/>
          </a:solidFill>
          <a:ln w="12700">
            <a:solidFill>
              <a:srgbClr val="D3E1F2"/>
            </a:solidFill>
            <a:prstDash val="solid"/>
          </a:ln>
        </p:spPr>
        <p:txBody>
          <a:bodyPr/>
          <a:lstStyle/>
          <a:p>
            <a:endParaRPr lang="rw-RW" dirty="0"/>
          </a:p>
        </p:txBody>
      </p:sp>
      <p:sp>
        <p:nvSpPr>
          <p:cNvPr id="21" name="Shape 19"/>
          <p:cNvSpPr/>
          <p:nvPr/>
        </p:nvSpPr>
        <p:spPr>
          <a:xfrm>
            <a:off x="7602322" y="24688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22" name="Text 20"/>
          <p:cNvSpPr txBox="1"/>
          <p:nvPr/>
        </p:nvSpPr>
        <p:spPr>
          <a:xfrm>
            <a:off x="7602322" y="24688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23" name="Text 21"/>
          <p:cNvSpPr txBox="1"/>
          <p:nvPr/>
        </p:nvSpPr>
        <p:spPr>
          <a:xfrm>
            <a:off x="7602322" y="2971800"/>
            <a:ext cx="1552651" cy="1874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Shyigikira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Gumana na we mu gihe cy'ibizamini no kuvurwa.</a:t>
            </a:r>
            <a:endParaRPr lang="rw-RW" sz="1800" dirty="0"/>
          </a:p>
        </p:txBody>
      </p:sp>
      <p:sp>
        <p:nvSpPr>
          <p:cNvPr id="24" name="Text 22"/>
          <p:cNvSpPr txBox="1"/>
          <p:nvPr/>
        </p:nvSpPr>
        <p:spPr>
          <a:xfrm>
            <a:off x="9356141" y="342900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25" name="Shape 23"/>
          <p:cNvSpPr/>
          <p:nvPr/>
        </p:nvSpPr>
        <p:spPr>
          <a:xfrm>
            <a:off x="9685325" y="2286000"/>
            <a:ext cx="1954987" cy="2743200"/>
          </a:xfrm>
          <a:prstGeom prst="roundRect">
            <a:avLst>
              <a:gd name="adj" fmla="val 3742"/>
            </a:avLst>
          </a:prstGeom>
          <a:solidFill>
            <a:srgbClr val="F3F7FC"/>
          </a:solidFill>
          <a:ln w="12700">
            <a:solidFill>
              <a:srgbClr val="D3E1F2"/>
            </a:solidFill>
            <a:prstDash val="solid"/>
          </a:ln>
        </p:spPr>
        <p:txBody>
          <a:bodyPr/>
          <a:lstStyle/>
          <a:p>
            <a:endParaRPr lang="rw-RW" dirty="0"/>
          </a:p>
        </p:txBody>
      </p:sp>
      <p:sp>
        <p:nvSpPr>
          <p:cNvPr id="26" name="Shape 24"/>
          <p:cNvSpPr/>
          <p:nvPr/>
        </p:nvSpPr>
        <p:spPr>
          <a:xfrm>
            <a:off x="9886493" y="24688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27" name="Text 25"/>
          <p:cNvSpPr txBox="1"/>
          <p:nvPr/>
        </p:nvSpPr>
        <p:spPr>
          <a:xfrm>
            <a:off x="9886493" y="24688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28" name="Text 26"/>
          <p:cNvSpPr txBox="1"/>
          <p:nvPr/>
        </p:nvSpPr>
        <p:spPr>
          <a:xfrm>
            <a:off x="9886493" y="2971800"/>
            <a:ext cx="1552651" cy="1874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Kurikirana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Genzura neza ko gusurwa bibaho.</a:t>
            </a:r>
            <a:endParaRPr lang="rw-RW" sz="1800" dirty="0"/>
          </a:p>
        </p:txBody>
      </p:sp>
      <p:sp>
        <p:nvSpPr>
          <p:cNvPr id="29" name="Shape 27"/>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30" name="Text 28"/>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Icyitonderwa: </a:t>
            </a:r>
            <a:r>
              <a:rPr lang="rw-RW" sz="1800" dirty="0">
                <a:solidFill>
                  <a:srgbClr val="203864"/>
                </a:solidFill>
                <a:latin typeface="Calibri" pitchFamily="34" charset="0"/>
                <a:ea typeface="Calibri" pitchFamily="34" charset="-122"/>
                <a:cs typeface="Calibri" pitchFamily="34" charset="-120"/>
              </a:rPr>
              <a:t>Kanseri y'ibere yagaragaye hakiri kare ishobora kuvurwa, kandi bigatanga umusaruro mwiza. Icy'ingenzi ni uko impinduka zisuzumwa vuba.</a:t>
            </a:r>
            <a:endParaRPr lang="rw-RW" sz="1800" dirty="0"/>
          </a:p>
        </p:txBody>
      </p:sp>
      <p:sp>
        <p:nvSpPr>
          <p:cNvPr id="31" name="Text 29"/>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32" name="Text 30"/>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a:t>
            </a:r>
            <a:endParaRPr lang="rw-RW"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IGISHUSHANYO CY'ISOMO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Uko isomo riteguye</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63093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Igeragezwa rya mbere. </a:t>
            </a:r>
            <a:r>
              <a:rPr lang="rw-RW" sz="1800" dirty="0">
                <a:solidFill>
                  <a:srgbClr val="203864"/>
                </a:solidFill>
                <a:latin typeface="Calibri" pitchFamily="34" charset="0"/>
                <a:ea typeface="Calibri" pitchFamily="34" charset="-122"/>
                <a:cs typeface="Calibri" pitchFamily="34" charset="-120"/>
              </a:rPr>
              <a:t>Ibibazo makumyabiri byo kureba ibyo basanzwe bazi.</a:t>
            </a:r>
            <a:endParaRPr lang="rw-RW" sz="1800" dirty="0"/>
          </a:p>
        </p:txBody>
      </p:sp>
      <p:sp>
        <p:nvSpPr>
          <p:cNvPr id="6" name="Shape 4"/>
          <p:cNvSpPr/>
          <p:nvPr/>
        </p:nvSpPr>
        <p:spPr>
          <a:xfrm>
            <a:off x="630936" y="21854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011680"/>
            <a:ext cx="10524744" cy="630936"/>
          </a:xfrm>
          <a:prstGeom prst="rect">
            <a:avLst/>
          </a:prstGeom>
          <a:noFill/>
          <a:ln/>
        </p:spPr>
        <p:txBody>
          <a:bodyPr wrap="square" lIns="0" tIns="0" rIns="0" bIns="0" rtlCol="0" anchor="t"/>
          <a:lstStyle/>
          <a:p>
            <a:pPr marL="0" indent="0">
              <a:lnSpc>
                <a:spcPct val="105000"/>
              </a:lnSpc>
              <a:buNone/>
            </a:pPr>
            <a:r>
              <a:rPr lang="rw-RW" sz="1800" b="1" dirty="0">
                <a:solidFill>
                  <a:srgbClr val="203864"/>
                </a:solidFill>
                <a:latin typeface="Calibri" pitchFamily="34" charset="0"/>
                <a:ea typeface="Calibri" pitchFamily="34" charset="-122"/>
                <a:cs typeface="Calibri" pitchFamily="34" charset="-120"/>
              </a:rPr>
              <a:t>Igice cya 1: </a:t>
            </a:r>
            <a:r>
              <a:rPr lang="rw-RW" sz="1800" dirty="0">
                <a:solidFill>
                  <a:srgbClr val="203864"/>
                </a:solidFill>
                <a:latin typeface="Calibri" pitchFamily="34" charset="0"/>
                <a:ea typeface="Calibri" pitchFamily="34" charset="-122"/>
                <a:cs typeface="Calibri" pitchFamily="34" charset="-120"/>
              </a:rPr>
              <a:t>Kanseri y'ibere ni iki, ibere riteye gute, n'uko ikunze kugaragara mu Rwanda.</a:t>
            </a:r>
            <a:endParaRPr lang="rw-RW" sz="1800" dirty="0"/>
          </a:p>
        </p:txBody>
      </p:sp>
      <p:sp>
        <p:nvSpPr>
          <p:cNvPr id="8" name="Shape 6"/>
          <p:cNvSpPr/>
          <p:nvPr/>
        </p:nvSpPr>
        <p:spPr>
          <a:xfrm>
            <a:off x="630936" y="28712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697480"/>
            <a:ext cx="10524744" cy="630936"/>
          </a:xfrm>
          <a:prstGeom prst="rect">
            <a:avLst/>
          </a:prstGeom>
          <a:noFill/>
          <a:ln/>
        </p:spPr>
        <p:txBody>
          <a:bodyPr wrap="square" lIns="0" tIns="0" rIns="0" bIns="0" rtlCol="0" anchor="t"/>
          <a:lstStyle/>
          <a:p>
            <a:pPr marL="0" indent="0">
              <a:lnSpc>
                <a:spcPct val="105000"/>
              </a:lnSpc>
              <a:buNone/>
            </a:pPr>
            <a:r>
              <a:rPr lang="rw-RW" sz="1800" b="1" dirty="0">
                <a:solidFill>
                  <a:srgbClr val="203864"/>
                </a:solidFill>
                <a:latin typeface="Calibri" pitchFamily="34" charset="0"/>
                <a:ea typeface="Calibri" pitchFamily="34" charset="-122"/>
                <a:cs typeface="Calibri" pitchFamily="34" charset="-120"/>
              </a:rPr>
              <a:t>Igice cya 2: </a:t>
            </a:r>
            <a:r>
              <a:rPr lang="rw-RW" sz="1800" dirty="0">
                <a:solidFill>
                  <a:srgbClr val="203864"/>
                </a:solidFill>
                <a:latin typeface="Calibri" pitchFamily="34" charset="0"/>
                <a:ea typeface="Calibri" pitchFamily="34" charset="-122"/>
                <a:cs typeface="Calibri" pitchFamily="34" charset="-120"/>
              </a:rPr>
              <a:t>Ni iki cyongera ibyago, ibyo kureba cyangwa gusuzuma, n'impinduka zikeneye kwitabwaho byihuse.</a:t>
            </a:r>
            <a:endParaRPr lang="rw-RW" sz="1800" dirty="0"/>
          </a:p>
        </p:txBody>
      </p:sp>
      <p:sp>
        <p:nvSpPr>
          <p:cNvPr id="10" name="Shape 8"/>
          <p:cNvSpPr/>
          <p:nvPr/>
        </p:nvSpPr>
        <p:spPr>
          <a:xfrm>
            <a:off x="630936" y="35570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383280"/>
            <a:ext cx="10524744" cy="63093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Igice cya 3: </a:t>
            </a:r>
            <a:r>
              <a:rPr lang="rw-RW" sz="1800" dirty="0">
                <a:solidFill>
                  <a:srgbClr val="203864"/>
                </a:solidFill>
                <a:latin typeface="Calibri" pitchFamily="34" charset="0"/>
                <a:ea typeface="Calibri" pitchFamily="34" charset="-122"/>
                <a:cs typeface="Calibri" pitchFamily="34" charset="-120"/>
              </a:rPr>
              <a:t>Aho wohereza umuntu, uburyo bwo kuganira ku ngingo iteye ubwoba, n'uburyo bwo gusura.</a:t>
            </a:r>
            <a:endParaRPr lang="rw-RW" sz="1800" dirty="0"/>
          </a:p>
        </p:txBody>
      </p:sp>
      <p:sp>
        <p:nvSpPr>
          <p:cNvPr id="12" name="Shape 10"/>
          <p:cNvSpPr/>
          <p:nvPr/>
        </p:nvSpPr>
        <p:spPr>
          <a:xfrm>
            <a:off x="630936" y="42428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3" name="Text 11"/>
          <p:cNvSpPr txBox="1"/>
          <p:nvPr/>
        </p:nvSpPr>
        <p:spPr>
          <a:xfrm>
            <a:off x="1115568" y="4069080"/>
            <a:ext cx="10524744" cy="630936"/>
          </a:xfrm>
          <a:prstGeom prst="rect">
            <a:avLst/>
          </a:prstGeom>
          <a:noFill/>
          <a:ln/>
        </p:spPr>
        <p:txBody>
          <a:bodyPr wrap="square" lIns="0" tIns="0" rIns="0" bIns="0" rtlCol="0" anchor="t"/>
          <a:lstStyle/>
          <a:p>
            <a:pPr marL="0" indent="0">
              <a:lnSpc>
                <a:spcPct val="105000"/>
              </a:lnSpc>
              <a:buNone/>
            </a:pPr>
            <a:r>
              <a:rPr lang="rw-RW" sz="1800" b="1" dirty="0">
                <a:solidFill>
                  <a:srgbClr val="203864"/>
                </a:solidFill>
                <a:latin typeface="Calibri" pitchFamily="34" charset="0"/>
                <a:ea typeface="Calibri" pitchFamily="34" charset="-122"/>
                <a:cs typeface="Calibri" pitchFamily="34" charset="-120"/>
              </a:rPr>
              <a:t>Igice cya 4: </a:t>
            </a:r>
            <a:r>
              <a:rPr lang="rw-RW" sz="1800" dirty="0">
                <a:solidFill>
                  <a:srgbClr val="203864"/>
                </a:solidFill>
                <a:latin typeface="Calibri" pitchFamily="34" charset="0"/>
                <a:ea typeface="Calibri" pitchFamily="34" charset="-122"/>
                <a:cs typeface="Calibri" pitchFamily="34" charset="-120"/>
              </a:rPr>
              <a:t>Uko kanseri y'ibere yemezwa n'uko ivurwa.</a:t>
            </a:r>
            <a:endParaRPr lang="rw-RW" sz="1800" dirty="0"/>
          </a:p>
        </p:txBody>
      </p:sp>
      <p:sp>
        <p:nvSpPr>
          <p:cNvPr id="14" name="Shape 12"/>
          <p:cNvSpPr/>
          <p:nvPr/>
        </p:nvSpPr>
        <p:spPr>
          <a:xfrm>
            <a:off x="630936" y="4928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1115568" y="4754880"/>
            <a:ext cx="10524744" cy="63093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Igice cya 5: </a:t>
            </a:r>
            <a:r>
              <a:rPr lang="rw-RW" sz="1800" dirty="0">
                <a:solidFill>
                  <a:srgbClr val="203864"/>
                </a:solidFill>
                <a:latin typeface="Calibri" pitchFamily="34" charset="0"/>
                <a:ea typeface="Calibri" pitchFamily="34" charset="-122"/>
                <a:cs typeface="Calibri" pitchFamily="34" charset="-120"/>
              </a:rPr>
              <a:t>Ingaruka mbi, kubyimba kw'ukuboko, imiti y'igihe kirekire, ihumure n'ubufasha bw'abaturage.</a:t>
            </a:r>
            <a:endParaRPr lang="rw-RW" sz="1800" dirty="0"/>
          </a:p>
        </p:txBody>
      </p:sp>
      <p:sp>
        <p:nvSpPr>
          <p:cNvPr id="16" name="Shape 14"/>
          <p:cNvSpPr/>
          <p:nvPr/>
        </p:nvSpPr>
        <p:spPr>
          <a:xfrm>
            <a:off x="630936" y="56144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7" name="Text 15"/>
          <p:cNvSpPr txBox="1"/>
          <p:nvPr/>
        </p:nvSpPr>
        <p:spPr>
          <a:xfrm>
            <a:off x="1115568" y="5440680"/>
            <a:ext cx="10524744" cy="63093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Igeragezwa rya nyuma. </a:t>
            </a:r>
            <a:r>
              <a:rPr lang="rw-RW" sz="1800" dirty="0">
                <a:solidFill>
                  <a:srgbClr val="203864"/>
                </a:solidFill>
                <a:latin typeface="Calibri" pitchFamily="34" charset="0"/>
                <a:ea typeface="Calibri" pitchFamily="34" charset="-122"/>
                <a:cs typeface="Calibri" pitchFamily="34" charset="-120"/>
              </a:rPr>
              <a:t>Ibibazo makumyabiri bihuza isomo ryose, hamwe n'ibisubizo bisobanuwe.</a:t>
            </a:r>
            <a:endParaRPr lang="rw-RW" sz="1800" dirty="0"/>
          </a:p>
        </p:txBody>
      </p:sp>
      <p:sp>
        <p:nvSpPr>
          <p:cNvPr id="18" name="Text 16"/>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9" name="Text 17"/>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a:t>
            </a:r>
            <a:endParaRPr lang="rw-RW"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INTUMBERO Y'IGICE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Intego z'igice</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Nyuma y’iri somo, uzaba ushobora:</a:t>
            </a:r>
            <a:endParaRPr lang="rw-RW" sz="1800" dirty="0"/>
          </a:p>
        </p:txBody>
      </p:sp>
      <p:sp>
        <p:nvSpPr>
          <p:cNvPr id="5" name="Shape 3"/>
          <p:cNvSpPr/>
          <p:nvPr/>
        </p:nvSpPr>
        <p:spPr>
          <a:xfrm>
            <a:off x="548640" y="19110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110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874520"/>
            <a:ext cx="10524744" cy="653796"/>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mu magambo yoroheje kanseri y'ibere icyo ari cyo n'aho itangirira.</a:t>
            </a:r>
            <a:endParaRPr lang="rw-RW" sz="1800" dirty="0"/>
          </a:p>
        </p:txBody>
      </p:sp>
      <p:sp>
        <p:nvSpPr>
          <p:cNvPr id="8" name="Shape 6"/>
          <p:cNvSpPr/>
          <p:nvPr/>
        </p:nvSpPr>
        <p:spPr>
          <a:xfrm>
            <a:off x="548640" y="261975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548640" y="261975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0" name="Text 8"/>
          <p:cNvSpPr txBox="1"/>
          <p:nvPr/>
        </p:nvSpPr>
        <p:spPr>
          <a:xfrm>
            <a:off x="1115568" y="2583180"/>
            <a:ext cx="10524744" cy="653796"/>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ko ibibyimba byinshi by'amabere atari kanseri, kandi ko buri kibyimba gishya kigomba gusuzumwa.</a:t>
            </a:r>
            <a:endParaRPr lang="rw-RW" sz="1800" dirty="0"/>
          </a:p>
        </p:txBody>
      </p:sp>
      <p:sp>
        <p:nvSpPr>
          <p:cNvPr id="11" name="Shape 9"/>
          <p:cNvSpPr/>
          <p:nvPr/>
        </p:nvSpPr>
        <p:spPr>
          <a:xfrm>
            <a:off x="548640" y="332841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548640" y="332841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3" name="Text 11"/>
          <p:cNvSpPr txBox="1"/>
          <p:nvPr/>
        </p:nvSpPr>
        <p:spPr>
          <a:xfrm>
            <a:off x="1115568" y="3291840"/>
            <a:ext cx="10524744" cy="653796"/>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Kumenya impinduka z'amabere zikeneye gusuzumwa, n’izikeneye kwitabwaho byihuse.</a:t>
            </a:r>
            <a:endParaRPr lang="rw-RW" sz="1800" dirty="0"/>
          </a:p>
        </p:txBody>
      </p:sp>
      <p:sp>
        <p:nvSpPr>
          <p:cNvPr id="14" name="Shape 12"/>
          <p:cNvSpPr/>
          <p:nvPr/>
        </p:nvSpPr>
        <p:spPr>
          <a:xfrm>
            <a:off x="548640" y="403707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548640" y="403707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6" name="Text 14"/>
          <p:cNvSpPr txBox="1"/>
          <p:nvPr/>
        </p:nvSpPr>
        <p:spPr>
          <a:xfrm>
            <a:off x="1115568" y="4000500"/>
            <a:ext cx="10524744" cy="653796"/>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Gushishikariza umuntu kwisuzumisha no kumuyobora ahantu hakwiye.</a:t>
            </a:r>
            <a:endParaRPr lang="rw-RW" sz="1800" dirty="0"/>
          </a:p>
        </p:txBody>
      </p:sp>
      <p:sp>
        <p:nvSpPr>
          <p:cNvPr id="17" name="Shape 15"/>
          <p:cNvSpPr/>
          <p:nvPr/>
        </p:nvSpPr>
        <p:spPr>
          <a:xfrm>
            <a:off x="548640" y="474573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8" name="Text 16"/>
          <p:cNvSpPr txBox="1"/>
          <p:nvPr/>
        </p:nvSpPr>
        <p:spPr>
          <a:xfrm>
            <a:off x="548640" y="474573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9" name="Text 17"/>
          <p:cNvSpPr txBox="1"/>
          <p:nvPr/>
        </p:nvSpPr>
        <p:spPr>
          <a:xfrm>
            <a:off x="1115568" y="4709160"/>
            <a:ext cx="10524744" cy="653796"/>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Gusubiza impungenge zijyanye n'ubwoba, isoni n'imyizerere rusange kuri kanseri y'ibere nta muntu n'umwe uhutaje.</a:t>
            </a:r>
            <a:endParaRPr lang="rw-RW" sz="1800" dirty="0"/>
          </a:p>
        </p:txBody>
      </p:sp>
      <p:sp>
        <p:nvSpPr>
          <p:cNvPr id="20" name="Shape 18"/>
          <p:cNvSpPr/>
          <p:nvPr/>
        </p:nvSpPr>
        <p:spPr>
          <a:xfrm>
            <a:off x="548640" y="54543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21" name="Text 19"/>
          <p:cNvSpPr txBox="1"/>
          <p:nvPr/>
        </p:nvSpPr>
        <p:spPr>
          <a:xfrm>
            <a:off x="548640" y="54543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6</a:t>
            </a:r>
            <a:endParaRPr lang="rw-RW" sz="1500" dirty="0"/>
          </a:p>
        </p:txBody>
      </p:sp>
      <p:sp>
        <p:nvSpPr>
          <p:cNvPr id="22" name="Text 20"/>
          <p:cNvSpPr txBox="1"/>
          <p:nvPr/>
        </p:nvSpPr>
        <p:spPr>
          <a:xfrm>
            <a:off x="1115568" y="5417820"/>
            <a:ext cx="10524744" cy="653796"/>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Gushyigikira umuntu n'umuryango we mu kwivuza, gukurikiranwa no mu buzima bwe bwa buri munsi.</a:t>
            </a:r>
            <a:endParaRPr lang="rw-RW" sz="1800" dirty="0"/>
          </a:p>
        </p:txBody>
      </p:sp>
      <p:sp>
        <p:nvSpPr>
          <p:cNvPr id="23" name="Text 2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4" name="Text 2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a:t>
            </a:r>
            <a:endParaRPr lang="rw-RW"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Mbere y'igeragezwa</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normAutofit fontScale="85500" lnSpcReduction="17000"/>
          </a:bodyPr>
          <a:lstStyle/>
          <a:p>
            <a:pPr marL="0" indent="0">
              <a:buNone/>
            </a:pPr>
            <a:r>
              <a:rPr lang="rw-RW" sz="1800" dirty="0">
                <a:solidFill>
                  <a:srgbClr val="203864"/>
                </a:solidFill>
                <a:latin typeface="Calibri" pitchFamily="34" charset="0"/>
                <a:ea typeface="Calibri" pitchFamily="34" charset="-122"/>
                <a:cs typeface="Calibri" pitchFamily="34" charset="-120"/>
              </a:rPr>
              <a:t>Ibibazo makumyabiri byo kugenzura ibyo usanzwe uzi. Ibisubizo byawe ntibihabwa amanota, kandi uzahura n'ibitekerezo bisa n'ibyo ku mpera y'iri somo.</a:t>
            </a:r>
            <a:endParaRPr lang="rw-RW" sz="1800" dirty="0"/>
          </a:p>
        </p:txBody>
      </p:sp>
      <p:sp>
        <p:nvSpPr>
          <p:cNvPr id="5" name="Shape 3"/>
          <p:cNvSpPr/>
          <p:nvPr/>
        </p:nvSpPr>
        <p:spPr>
          <a:xfrm>
            <a:off x="548640" y="2743200"/>
            <a:ext cx="3514344" cy="2377440"/>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907792"/>
            <a:ext cx="3075432" cy="208483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Ibibazo makumyabiri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Ikibazo kimwe kuri buri kiganiro, cyakuwe mu matsinda yose uko ari atanu.</a:t>
            </a:r>
            <a:endParaRPr lang="rw-RW" sz="1800" dirty="0"/>
          </a:p>
        </p:txBody>
      </p:sp>
      <p:sp>
        <p:nvSpPr>
          <p:cNvPr id="7" name="Shape 5"/>
          <p:cNvSpPr/>
          <p:nvPr/>
        </p:nvSpPr>
        <p:spPr>
          <a:xfrm>
            <a:off x="4337304" y="2743200"/>
            <a:ext cx="3514344" cy="2377440"/>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4556760" y="2907792"/>
            <a:ext cx="3075432" cy="208483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Ntabwo bihabwa amanota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 ni intangiriro, ntabwo ari igenzura. Subiza nk'uko wabigenza muri sosiyete.</a:t>
            </a:r>
            <a:endParaRPr lang="rw-RW" sz="1800" dirty="0"/>
          </a:p>
        </p:txBody>
      </p:sp>
      <p:sp>
        <p:nvSpPr>
          <p:cNvPr id="9" name="Shape 7"/>
          <p:cNvSpPr/>
          <p:nvPr/>
        </p:nvSpPr>
        <p:spPr>
          <a:xfrm>
            <a:off x="8125968" y="2743200"/>
            <a:ext cx="3514344" cy="2377440"/>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8345424" y="2907792"/>
            <a:ext cx="3075432" cy="208483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Ibintu by'ukuri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Ibibazo bikubaza icyo wakora, ntabwo bikubaza ibyo ushobora gusubiza.</a:t>
            </a:r>
            <a:endParaRPr lang="rw-RW" sz="1800" dirty="0"/>
          </a:p>
        </p:txBody>
      </p:sp>
      <p:sp>
        <p:nvSpPr>
          <p:cNvPr id="11" name="Text 9"/>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2" name="Text 10"/>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a:t>
            </a:r>
            <a:endParaRPr lang="rw-RW"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Kanseri y'ibere itangira mu gihe:</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Uturemangingo tw’ibere dutangira gukura mu buryo budasanzwe</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Umuntu akubiswe ku gituza</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Umuntu yambaye imyenda idakwiriye</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Amaraso yanduye</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a:t>
            </a:r>
            <a:endParaRPr lang="rw-RW"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2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Akabyimba gashya mu ibere katababaza kagombye:</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Kwirengagizwa kuko kanseri y'ibere irababaza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Kukirebera mu rugo kugeza gishize</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Gusuzumwa ku ivuriro</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Kuvurwa nka kanseri byihuse</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a:t>
            </a:r>
            <a:endParaRPr lang="rw-RW"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3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Ku tubyimba twinshi tuboneka mu ibere, ni iki cy'ukuri?</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Kanseri</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Akenshi ntituba kanseri, ariko tugomba gusuzumwa</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Duterwa no gutwara imizigo iremereye</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Ntidushobora gusuzumwa.</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a:t>
            </a:r>
            <a:endParaRPr lang="rw-RW"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4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Ku bijyanye na kanseri y'ibere ku bagabo, ni iki cy'ukuri?</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Ntibishoboka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Igaragara cyane mu bagabo kuruta mu bagore</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Ntikunze kugaragara ku bagabo ariko irashoboka, kandi ikibyimba gishya gikeneye gusuzumwa</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Ntivurwa</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a:t>
            </a:r>
            <a:endParaRPr lang="rw-RW"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5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Muri kanseri zibasira abagore mu Rwanda, kanseri y'ibere ni:</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Ntikunze kugaragara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Ni yo yibasira cyane abagore</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Igaragara gusa mu bagore bageze mu zabukuru</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Igaragara gusa mu mijyi</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a:t>
            </a:r>
            <a:endParaRPr lang="rw-RW"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6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ikihe muri ibi cyagombye gusuzumwa ku ivuriro?</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Uruhu rw'ibere rwatebeye rugana imbere mu ibere, rusa n’igishishwa k’ironji</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Inkovu ntoya ku ruhu itarigeze ihinduka</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Iminwa yumye mu gihe cy’ubukonje</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Umunaniro ukabije nyuma y’akazi</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a:t>
            </a:r>
            <a:endParaRPr lang="rw-RW"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7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avuga ko nta muntu n'umwe wo mu muryango we wigeze arwara kanseri y'ibere, bityo ko adashobora kuyirwara. Ni iki cy'ukuri?</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Ibyo avuga ni ukuri kandi nta n'ubwo akeneye gusuzumwa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Ararinzwe ubuzima bwose</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Bashiki be gusa nibo bafite ibyago</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Ashobora kurwara kanseri y’ibere, bityo impinduka zose zikeneye gusuzumwa</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a:t>
            </a:r>
            <a:endParaRPr lang="rw-RW"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8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Amaraso cyangwa amazi adasanzwe ava mu moko y’ibere ubwayo agomba:</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Kwirengagizwa mu gihe nta bubabare</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Gusuzumwa ku ivuriro, byihuse</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Kubanza kuvurwa n’imiti y’ibyatsi</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Gufatwa nk’ikimenyetso cya kanseri</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a:t>
            </a:r>
            <a:endParaRPr lang="rw-RW"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9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ikihe kibazo gikeneye ubuvuzi bwihuse?</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Ibere ryatukuye, ryabyimbye, rishyushye kandi ribabara mu minsi mike ishize</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Umugore uri bugufi kwitabira gahunda y’ukwezi yo gusurwa</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Inkovu yakize iturutse ku gisebe kimaze igihe</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Umugore wasibye inama yo mu gace atuyemo</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a:t>
            </a:r>
            <a:endParaRPr lang="rw-RW"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10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Gusuzuma bigenewe:</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Abantu bamaze kugira utubyimba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Abantu bumva bameze neza badafite ibimenyetso bya kanseri y’ibere</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Abantu bari ku buvuzi bwa kanseri</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Abana</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15</a:t>
            </a:r>
            <a:endParaRPr lang="rw-RW"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11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ufite ikibyimba gishya cy’ibere arabaza niba agomba gutegereza umunsi ukurikira wo gusuzuma. Ni iki wamubwira?</a:t>
            </a:r>
            <a:endParaRPr lang="rw-RW" sz="2000" dirty="0"/>
          </a:p>
        </p:txBody>
      </p:sp>
      <p:sp>
        <p:nvSpPr>
          <p:cNvPr id="5" name="Shape 3"/>
          <p:cNvSpPr/>
          <p:nvPr/>
        </p:nvSpPr>
        <p:spPr>
          <a:xfrm>
            <a:off x="548640" y="219456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Yego, agomba gutegereza uwo munsi</a:t>
            </a:r>
            <a:endParaRPr lang="rw-RW" sz="1800" dirty="0"/>
          </a:p>
        </p:txBody>
      </p:sp>
      <p:sp>
        <p:nvSpPr>
          <p:cNvPr id="7" name="Shape 5"/>
          <p:cNvSpPr/>
          <p:nvPr/>
        </p:nvSpPr>
        <p:spPr>
          <a:xfrm>
            <a:off x="548640" y="293522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93522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Oya, Akabyimba kagomba gusuzumwa aka kanya ntagomba gutegereza undi munsi</a:t>
            </a:r>
            <a:endParaRPr lang="rw-RW" sz="1800" dirty="0"/>
          </a:p>
        </p:txBody>
      </p:sp>
      <p:sp>
        <p:nvSpPr>
          <p:cNvPr id="9" name="Shape 7"/>
          <p:cNvSpPr/>
          <p:nvPr/>
        </p:nvSpPr>
        <p:spPr>
          <a:xfrm>
            <a:off x="548640" y="367588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67588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Agomba gutegereza amezi atandatu akareba</a:t>
            </a:r>
            <a:endParaRPr lang="rw-RW" sz="1800" dirty="0"/>
          </a:p>
        </p:txBody>
      </p:sp>
      <p:sp>
        <p:nvSpPr>
          <p:cNvPr id="11" name="Shape 9"/>
          <p:cNvSpPr/>
          <p:nvPr/>
        </p:nvSpPr>
        <p:spPr>
          <a:xfrm>
            <a:off x="548640" y="441655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41655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Agomba kubanza gukoresha imiti ya gakondo</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16</a:t>
            </a:r>
            <a:endParaRPr lang="rw-RW"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12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gute kanseri y'ibere yemezwa?</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Kureba ibere uturutse inyuma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Kwipimisha amaraso mu kigo nderabuzima</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Gupima akanyama gato kakuwe mu ibere bikorewe muri laboratwari.</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N’umuryango wemera ko ari kanseri.</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17</a:t>
            </a:r>
            <a:endParaRPr lang="rw-RW"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13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Umuryango umwe uvuga ko gufata agace k'uturemangingo kugira ngo ujye gupima bizatuma kanseri ikwirakwira. Ni iki cy'ukuri?</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Ni ukuri kandi bagomba guhakana isuzuma.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Gufata agace gato k'uturemangingo nibwo buryo bwo kubona igisubizo, kandi ntibituma indwara ikwirakwira.</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Kubagwa nibyo byonyine bikwirakwiza uburwayi</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Nta muntu n'umwe wabivugaho</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18</a:t>
            </a:r>
            <a:endParaRPr lang="rw-RW"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14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Kuvura kanseri y’ibere ni:</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Kimwe Ku bantu bose.</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Biratandukanye umuntu ku muntu biterwa n’uburemere bw’uburwayi</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Burigihe bisaba gukuraho ibere ryose.</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Ntibikwiye no gutangizwa</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19</a:t>
            </a:r>
            <a:endParaRPr lang="rw-RW"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15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Icyo umuntu abwiye umujyanama w’ubuzima ku buzima bwe kigomba:</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Gusangizwa abaturanyi kugira ngo bamufashe</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Kuguma ari ibanga, kigatangazwa gusa iyo bisabwa n'inshingano zo gutanga raporo</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Gutangazwa mu nteko y’abaturage</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Kubwirwa uwo ari we wese ubisabye.</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20</a:t>
            </a:r>
            <a:endParaRPr lang="rw-RW"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16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yanze kujya kwisuzumisha kubera gutinya ko amabere ye ashobora gukurwaho. Igisubizo cyiza ni ikihe?:</a:t>
            </a:r>
            <a:endParaRPr lang="rw-RW" sz="2000" dirty="0"/>
          </a:p>
        </p:txBody>
      </p:sp>
      <p:sp>
        <p:nvSpPr>
          <p:cNvPr id="5" name="Shape 3"/>
          <p:cNvSpPr/>
          <p:nvPr/>
        </p:nvSpPr>
        <p:spPr>
          <a:xfrm>
            <a:off x="548640" y="219456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Emera ko ibere rye rizakurwaho</a:t>
            </a:r>
            <a:endParaRPr lang="rw-RW" sz="1800" dirty="0"/>
          </a:p>
        </p:txBody>
      </p:sp>
      <p:sp>
        <p:nvSpPr>
          <p:cNvPr id="7" name="Shape 5"/>
          <p:cNvSpPr/>
          <p:nvPr/>
        </p:nvSpPr>
        <p:spPr>
          <a:xfrm>
            <a:off x="548640" y="293522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93522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Sobanura ko ubuvuzi butandukana ku muntu, kandi ko gukuraho ibere bidakorerwa abantu bose, umufashe kugera aho akwiye gusuzumirwa.</a:t>
            </a:r>
            <a:endParaRPr lang="rw-RW" sz="1800" dirty="0"/>
          </a:p>
        </p:txBody>
      </p:sp>
      <p:sp>
        <p:nvSpPr>
          <p:cNvPr id="9" name="Shape 7"/>
          <p:cNvSpPr/>
          <p:nvPr/>
        </p:nvSpPr>
        <p:spPr>
          <a:xfrm>
            <a:off x="548640" y="367588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67588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Mubwire ntajyeyo</a:t>
            </a:r>
            <a:endParaRPr lang="rw-RW" sz="1800" dirty="0"/>
          </a:p>
        </p:txBody>
      </p:sp>
      <p:sp>
        <p:nvSpPr>
          <p:cNvPr id="11" name="Shape 9"/>
          <p:cNvSpPr/>
          <p:nvPr/>
        </p:nvSpPr>
        <p:spPr>
          <a:xfrm>
            <a:off x="548640" y="441655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41655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Saba umugabo kumufatira umwanzuro</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21</a:t>
            </a:r>
            <a:endParaRPr lang="rw-RW"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17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Nyuma yo kubagwa kanseri y'ibere, umuntu akubwira ko ukuboko kwe kwabyimbye, kuremereye kandi gukomeye. Ni iki wakora?</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Mubwire ko nta kintu na kimwe wakora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Hambira umwenda ku kuboko</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Bivuge kugira ngo asuzumwe n’abaganga</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Mubwire areke gukoresha ukuboko</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22</a:t>
            </a:r>
            <a:endParaRPr lang="rw-RW"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18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amaze imyaka ibiri afata ikinini buri munsi nyuma yo kuvurwa kandi ubu yumva ameze neza. Agomba:</a:t>
            </a:r>
            <a:endParaRPr lang="rw-RW" sz="2000" dirty="0"/>
          </a:p>
        </p:txBody>
      </p:sp>
      <p:sp>
        <p:nvSpPr>
          <p:cNvPr id="5" name="Shape 3"/>
          <p:cNvSpPr/>
          <p:nvPr/>
        </p:nvSpPr>
        <p:spPr>
          <a:xfrm>
            <a:off x="548640" y="219456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Guhagarika imiti kuko yumva ameze neza</a:t>
            </a:r>
            <a:endParaRPr lang="rw-RW" sz="1800" dirty="0"/>
          </a:p>
        </p:txBody>
      </p:sp>
      <p:sp>
        <p:nvSpPr>
          <p:cNvPr id="7" name="Shape 5"/>
          <p:cNvSpPr/>
          <p:nvPr/>
        </p:nvSpPr>
        <p:spPr>
          <a:xfrm>
            <a:off x="548640" y="293522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93522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Kuyifata gusa mu gihe yumva atameze neza</a:t>
            </a:r>
            <a:endParaRPr lang="rw-RW" sz="1800" dirty="0"/>
          </a:p>
        </p:txBody>
      </p:sp>
      <p:sp>
        <p:nvSpPr>
          <p:cNvPr id="9" name="Shape 7"/>
          <p:cNvSpPr/>
          <p:nvPr/>
        </p:nvSpPr>
        <p:spPr>
          <a:xfrm>
            <a:off x="548640" y="367588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67588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Akomeze gufata imiti nk'uko yagenwe, kandi amenyeshe ikibazo ku kigo nderabuzima</a:t>
            </a:r>
            <a:endParaRPr lang="rw-RW" sz="1800" dirty="0"/>
          </a:p>
        </p:txBody>
      </p:sp>
      <p:sp>
        <p:nvSpPr>
          <p:cNvPr id="11" name="Shape 9"/>
          <p:cNvSpPr/>
          <p:nvPr/>
        </p:nvSpPr>
        <p:spPr>
          <a:xfrm>
            <a:off x="548640" y="441655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41655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Kubisangira n’uwo mu muryango bahuje uburwayi</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23</a:t>
            </a:r>
            <a:endParaRPr lang="rw-RW"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19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iyihe nshingano muri izi itari iy'umujyanama w'ubuzima?</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Gushishikariza umuntu ufite impinduka ku ibere kwisuzumisha</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Kubwira umuntu ko afite cyangwa adafite kanseri</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Kumenya ibimenyetso mpuruza no kohereza kwa muganga</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Gufasha umuntu kubahiriza gahunda ahabwa</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24</a:t>
            </a:r>
            <a:endParaRPr lang="rw-RW"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RYIBANZE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cy'ibanze: ikibazo cya 20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Impamvu nyamukuru ushishikariza kwisuzumisha mu gihe hari impinduka ku ibere ni uko:</a:t>
            </a:r>
            <a:endParaRPr lang="rw-RW" sz="2000" dirty="0"/>
          </a:p>
        </p:txBody>
      </p:sp>
      <p:sp>
        <p:nvSpPr>
          <p:cNvPr id="5" name="Shape 3"/>
          <p:cNvSpPr/>
          <p:nvPr/>
        </p:nvSpPr>
        <p:spPr>
          <a:xfrm>
            <a:off x="548640" y="1874520"/>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Ari itegeko</a:t>
            </a:r>
            <a:endParaRPr lang="rw-RW" sz="1800" dirty="0"/>
          </a:p>
        </p:txBody>
      </p:sp>
      <p:sp>
        <p:nvSpPr>
          <p:cNvPr id="7" name="Shape 5"/>
          <p:cNvSpPr/>
          <p:nvPr/>
        </p:nvSpPr>
        <p:spPr>
          <a:xfrm>
            <a:off x="548640" y="2615184"/>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615184"/>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Bituma umuntu adakoresha amafaranga menshi</a:t>
            </a:r>
            <a:endParaRPr lang="rw-RW" sz="1800" dirty="0"/>
          </a:p>
        </p:txBody>
      </p:sp>
      <p:sp>
        <p:nvSpPr>
          <p:cNvPr id="9" name="Shape 7"/>
          <p:cNvSpPr/>
          <p:nvPr/>
        </p:nvSpPr>
        <p:spPr>
          <a:xfrm>
            <a:off x="548640" y="3355848"/>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355848"/>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Birinda ibiganiro bikakaye mu muryango</a:t>
            </a:r>
            <a:endParaRPr lang="rw-RW" sz="1800" dirty="0"/>
          </a:p>
        </p:txBody>
      </p:sp>
      <p:sp>
        <p:nvSpPr>
          <p:cNvPr id="11" name="Shape 9"/>
          <p:cNvSpPr/>
          <p:nvPr/>
        </p:nvSpPr>
        <p:spPr>
          <a:xfrm>
            <a:off x="548640" y="4096512"/>
            <a:ext cx="11091672" cy="658368"/>
          </a:xfrm>
          <a:prstGeom prst="roundRect">
            <a:avLst>
              <a:gd name="adj" fmla="val 8333"/>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96512"/>
            <a:ext cx="10652760" cy="658368"/>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Kanseri y’ibere yagaragaye kare iravurwa kandi ibisubizo bikaba byiza</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25</a:t>
            </a:r>
            <a:endParaRPr lang="rw-RW"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C3557"/>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463040"/>
          </a:xfrm>
          <a:prstGeom prst="rect">
            <a:avLst/>
          </a:prstGeom>
          <a:noFill/>
          <a:ln/>
        </p:spPr>
        <p:txBody>
          <a:bodyPr wrap="square" lIns="0" tIns="0" rIns="0" bIns="0" rtlCol="0" anchor="ctr"/>
          <a:lstStyle/>
          <a:p>
            <a:pPr marL="0" indent="0">
              <a:buNone/>
            </a:pPr>
            <a:r>
              <a:rPr lang="rw-RW" sz="9000" b="1" dirty="0">
                <a:solidFill>
                  <a:srgbClr val="3F6795"/>
                </a:solidFill>
                <a:latin typeface="Calibri" pitchFamily="34" charset="0"/>
                <a:ea typeface="Calibri" pitchFamily="34" charset="-122"/>
                <a:cs typeface="Calibri" pitchFamily="34" charset="-120"/>
              </a:rPr>
              <a:t>1</a:t>
            </a:r>
            <a:endParaRPr lang="rw-RW" sz="9000" dirty="0"/>
          </a:p>
        </p:txBody>
      </p:sp>
      <p:sp>
        <p:nvSpPr>
          <p:cNvPr id="3" name="Text 1"/>
          <p:cNvSpPr txBox="1"/>
          <p:nvPr/>
        </p:nvSpPr>
        <p:spPr>
          <a:xfrm>
            <a:off x="548640" y="2834640"/>
            <a:ext cx="11091672" cy="320040"/>
          </a:xfrm>
          <a:prstGeom prst="rect">
            <a:avLst/>
          </a:prstGeom>
          <a:noFill/>
          <a:ln/>
        </p:spPr>
        <p:txBody>
          <a:bodyPr wrap="square" lIns="0" tIns="0" rIns="0" bIns="0" rtlCol="0" anchor="ctr"/>
          <a:lstStyle/>
          <a:p>
            <a:pPr marL="0" indent="0">
              <a:buNone/>
            </a:pPr>
            <a:r>
              <a:rPr lang="rw-RW" sz="1300" b="1" kern="0" spc="400" dirty="0">
                <a:solidFill>
                  <a:srgbClr val="9FBAD8"/>
                </a:solidFill>
                <a:latin typeface="Calibri" pitchFamily="34" charset="0"/>
                <a:ea typeface="Calibri" pitchFamily="34" charset="-122"/>
                <a:cs typeface="Calibri" pitchFamily="34" charset="-120"/>
              </a:rPr>
              <a:t>I G I C E C Y A 1</a:t>
            </a:r>
            <a:endParaRPr lang="rw-RW" sz="1300" dirty="0"/>
          </a:p>
        </p:txBody>
      </p:sp>
      <p:sp>
        <p:nvSpPr>
          <p:cNvPr id="4" name="Text 2"/>
          <p:cNvSpPr txBox="1"/>
          <p:nvPr/>
        </p:nvSpPr>
        <p:spPr>
          <a:xfrm>
            <a:off x="548640" y="3200400"/>
            <a:ext cx="10424160" cy="1005840"/>
          </a:xfrm>
          <a:prstGeom prst="rect">
            <a:avLst/>
          </a:prstGeom>
          <a:noFill/>
          <a:ln/>
        </p:spPr>
        <p:txBody>
          <a:bodyPr wrap="square" lIns="0" tIns="0" rIns="0" bIns="0" rtlCol="0" anchor="ctr"/>
          <a:lstStyle/>
          <a:p>
            <a:pPr marL="0" indent="0">
              <a:buNone/>
            </a:pPr>
            <a:r>
              <a:rPr lang="rw-RW" sz="4000" b="1" dirty="0">
                <a:solidFill>
                  <a:srgbClr val="FFFFFF"/>
                </a:solidFill>
                <a:latin typeface="Calibri" pitchFamily="34" charset="0"/>
                <a:ea typeface="Calibri" pitchFamily="34" charset="-122"/>
                <a:cs typeface="Calibri" pitchFamily="34" charset="-120"/>
              </a:rPr>
              <a:t>Kanseri y'ibere ni iki?</a:t>
            </a:r>
            <a:endParaRPr lang="rw-RW" sz="4000" dirty="0"/>
          </a:p>
        </p:txBody>
      </p:sp>
      <p:sp>
        <p:nvSpPr>
          <p:cNvPr id="5" name="Text 3"/>
          <p:cNvSpPr txBox="1"/>
          <p:nvPr/>
        </p:nvSpPr>
        <p:spPr>
          <a:xfrm>
            <a:off x="548640" y="4343400"/>
            <a:ext cx="9601200" cy="731520"/>
          </a:xfrm>
          <a:prstGeom prst="rect">
            <a:avLst/>
          </a:prstGeom>
          <a:noFill/>
          <a:ln/>
        </p:spPr>
        <p:txBody>
          <a:bodyPr wrap="square" lIns="0" tIns="0" rIns="0" bIns="0" rtlCol="0" anchor="ctr"/>
          <a:lstStyle/>
          <a:p>
            <a:pPr marL="0" indent="0">
              <a:buNone/>
            </a:pPr>
            <a:r>
              <a:rPr lang="rw-RW" sz="1900" dirty="0">
                <a:solidFill>
                  <a:srgbClr val="DCE7F5"/>
                </a:solidFill>
                <a:latin typeface="Calibri" pitchFamily="34" charset="0"/>
                <a:ea typeface="Calibri" pitchFamily="34" charset="-122"/>
                <a:cs typeface="Calibri" pitchFamily="34" charset="-120"/>
              </a:rPr>
              <a:t>Aho itangirira, ibere rigizwe n'iki, kuki ikibyimba cyose atari kanseri y'ibere, n'uburyo kanseri y'ibere yiganje mu Rwanda.</a:t>
            </a:r>
            <a:endParaRPr lang="rw-RW" sz="1900" dirty="0"/>
          </a:p>
        </p:txBody>
      </p:sp>
      <p:sp>
        <p:nvSpPr>
          <p:cNvPr id="6" name="Text 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E9AC0"/>
                </a:solidFill>
                <a:latin typeface="Calibri" pitchFamily="34" charset="0"/>
                <a:ea typeface="Calibri" pitchFamily="34" charset="-122"/>
                <a:cs typeface="Calibri" pitchFamily="34" charset="-120"/>
              </a:rPr>
              <a:t>Igishushanyo cya 26</a:t>
            </a:r>
            <a:endParaRPr lang="rw-RW"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Intego zo kwiga</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Nyuma y’iri somo, uzaba ushobora:</a:t>
            </a:r>
            <a:endParaRPr lang="rw-RW" sz="1800" dirty="0"/>
          </a:p>
        </p:txBody>
      </p:sp>
      <p:sp>
        <p:nvSpPr>
          <p:cNvPr id="5" name="Shape 3"/>
          <p:cNvSpPr/>
          <p:nvPr/>
        </p:nvSpPr>
        <p:spPr>
          <a:xfrm>
            <a:off x="548640" y="19110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110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87452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mu magambo yoroheje kanseri y'ibere icyo ari cyo n'aho itangirira.</a:t>
            </a:r>
            <a:endParaRPr lang="rw-RW" sz="1800" dirty="0"/>
          </a:p>
        </p:txBody>
      </p:sp>
      <p:sp>
        <p:nvSpPr>
          <p:cNvPr id="8" name="Shape 6"/>
          <p:cNvSpPr/>
          <p:nvPr/>
        </p:nvSpPr>
        <p:spPr>
          <a:xfrm>
            <a:off x="548640" y="26974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0" name="Text 8"/>
          <p:cNvSpPr txBox="1"/>
          <p:nvPr/>
        </p:nvSpPr>
        <p:spPr>
          <a:xfrm>
            <a:off x="1115568" y="266090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Kuvuga ibice by'ingenzi by'amabere maze uvuge aho utuzu duto tw'ingirabuzimafatizo (lymph nodes) duherereye.</a:t>
            </a:r>
            <a:endParaRPr lang="rw-RW" sz="1800" dirty="0"/>
          </a:p>
        </p:txBody>
      </p:sp>
      <p:sp>
        <p:nvSpPr>
          <p:cNvPr id="11" name="Shape 9"/>
          <p:cNvSpPr/>
          <p:nvPr/>
        </p:nvSpPr>
        <p:spPr>
          <a:xfrm>
            <a:off x="548640" y="348386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548640" y="348386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3" name="Text 11"/>
          <p:cNvSpPr txBox="1"/>
          <p:nvPr/>
        </p:nvSpPr>
        <p:spPr>
          <a:xfrm>
            <a:off x="1115568" y="344728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neza ko ikibyimba mu ibere buri gihe bidasobanuye kanseri.</a:t>
            </a:r>
            <a:endParaRPr lang="rw-RW" sz="1800" dirty="0"/>
          </a:p>
        </p:txBody>
      </p:sp>
      <p:sp>
        <p:nvSpPr>
          <p:cNvPr id="14" name="Shape 12"/>
          <p:cNvSpPr/>
          <p:nvPr/>
        </p:nvSpPr>
        <p:spPr>
          <a:xfrm>
            <a:off x="548640" y="427024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548640" y="427024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6" name="Text 14"/>
          <p:cNvSpPr txBox="1"/>
          <p:nvPr/>
        </p:nvSpPr>
        <p:spPr>
          <a:xfrm>
            <a:off x="1115568" y="423367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ko kanseri y’ibere igaragara no mu bagabo, nubwo itiganje cyane.</a:t>
            </a:r>
            <a:endParaRPr lang="rw-RW" sz="1800" dirty="0"/>
          </a:p>
        </p:txBody>
      </p:sp>
      <p:sp>
        <p:nvSpPr>
          <p:cNvPr id="17" name="Shape 15"/>
          <p:cNvSpPr/>
          <p:nvPr/>
        </p:nvSpPr>
        <p:spPr>
          <a:xfrm>
            <a:off x="548640" y="505663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8" name="Text 16"/>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9" name="Text 17"/>
          <p:cNvSpPr txBox="1"/>
          <p:nvPr/>
        </p:nvSpPr>
        <p:spPr>
          <a:xfrm>
            <a:off x="1115568" y="5020056"/>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ubwiganze bwa kanseri y’ibere mu bagore mu Rwanda n'impamvu ibyo bifite akamaro.</a:t>
            </a:r>
            <a:endParaRPr lang="rw-RW" sz="1800" dirty="0"/>
          </a:p>
        </p:txBody>
      </p:sp>
      <p:sp>
        <p:nvSpPr>
          <p:cNvPr id="20" name="Text 1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1" name="Text 1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27</a:t>
            </a:r>
            <a:endParaRPr lang="rw-RW"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ICYO ARI CYO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Kanseri y'ibere mu magambo yoroheje (1/2)</a:t>
            </a:r>
            <a:endParaRPr lang="rw-RW" sz="3000" dirty="0"/>
          </a:p>
        </p:txBody>
      </p:sp>
      <p:sp>
        <p:nvSpPr>
          <p:cNvPr id="18" name="Text 16"/>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9" name="Text 17"/>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28</a:t>
            </a:r>
            <a:endParaRPr lang="rw-RW" sz="900" dirty="0"/>
          </a:p>
        </p:txBody>
      </p:sp>
      <p:grpSp>
        <p:nvGrpSpPr>
          <p:cNvPr id="11" name="Grupo 10">
            <a:extLst>
              <a:ext uri="{FF2B5EF4-FFF2-40B4-BE49-F238E27FC236}">
                <a16:creationId xmlns:a16="http://schemas.microsoft.com/office/drawing/2014/main" id="{4DA34BB0-6985-667D-75C6-B6CBC2927382}"/>
              </a:ext>
            </a:extLst>
          </p:cNvPr>
          <p:cNvGrpSpPr/>
          <p:nvPr/>
        </p:nvGrpSpPr>
        <p:grpSpPr>
          <a:xfrm>
            <a:off x="4337304" y="1325879"/>
            <a:ext cx="3514344" cy="3935053"/>
            <a:chOff x="4337304" y="1325879"/>
            <a:chExt cx="3514344" cy="3935053"/>
          </a:xfrm>
        </p:grpSpPr>
        <p:sp>
          <p:nvSpPr>
            <p:cNvPr id="6" name="Shape 4"/>
            <p:cNvSpPr/>
            <p:nvPr/>
          </p:nvSpPr>
          <p:spPr>
            <a:xfrm>
              <a:off x="4337304" y="1325879"/>
              <a:ext cx="3514344" cy="3935053"/>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597068"/>
              <a:ext cx="3075432" cy="1613916"/>
            </a:xfrm>
            <a:prstGeom prst="rect">
              <a:avLst/>
            </a:prstGeom>
            <a:noFill/>
            <a:ln/>
          </p:spPr>
          <p:txBody>
            <a:bodyPr wrap="square" lIns="0" tIns="0" rIns="0" bIns="0" rtlCol="0" anchor="t">
              <a:normAutofit fontScale="89000" lnSpcReduction="10000"/>
            </a:bodyPr>
            <a:lstStyle/>
            <a:p>
              <a:pPr marL="0" indent="0">
                <a:lnSpc>
                  <a:spcPct val="105000"/>
                </a:lnSpc>
                <a:buNone/>
              </a:pPr>
              <a:r>
                <a:rPr lang="rw-RW" sz="2000" b="1" dirty="0">
                  <a:solidFill>
                    <a:srgbClr val="1F3864"/>
                  </a:solidFill>
                  <a:latin typeface="Calibri" pitchFamily="34" charset="0"/>
                  <a:ea typeface="Calibri" pitchFamily="34" charset="-122"/>
                  <a:cs typeface="Calibri" pitchFamily="34" charset="-120"/>
                </a:rPr>
                <a:t>Ishobora gukura</a:t>
              </a:r>
              <a:endParaRPr lang="rw-RW" sz="2000" dirty="0"/>
            </a:p>
            <a:p>
              <a:pPr marL="0" indent="0">
                <a:lnSpc>
                  <a:spcPct val="105000"/>
                </a:lnSpc>
                <a:buNone/>
              </a:pPr>
              <a:r>
                <a:rPr lang="rw-RW" sz="2000" dirty="0">
                  <a:solidFill>
                    <a:srgbClr val="203864"/>
                  </a:solidFill>
                  <a:latin typeface="Calibri" pitchFamily="34" charset="0"/>
                  <a:ea typeface="Calibri" pitchFamily="34" charset="-122"/>
                  <a:cs typeface="Calibri" pitchFamily="34" charset="-120"/>
                </a:rPr>
                <a:t>Nyuma y'igihe, uturemangingo tw'umubiri dushobora gukora ikibyimba kandi dushobora guhindura uruhu cyangwa imoko.</a:t>
              </a:r>
              <a:endParaRPr lang="rw-RW" sz="2000" dirty="0"/>
            </a:p>
          </p:txBody>
        </p:sp>
        <p:pic>
          <p:nvPicPr>
            <p:cNvPr id="21" name="Picture 20">
              <a:extLst>
                <a:ext uri="{FF2B5EF4-FFF2-40B4-BE49-F238E27FC236}">
                  <a16:creationId xmlns:a16="http://schemas.microsoft.com/office/drawing/2014/main" id="{19978CF2-CD8C-C09E-BC70-1A95F8A353D0}"/>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4426528" y="3092354"/>
              <a:ext cx="3335896" cy="1819579"/>
            </a:xfrm>
            <a:prstGeom prst="rect">
              <a:avLst/>
            </a:prstGeom>
          </p:spPr>
        </p:pic>
      </p:grpSp>
      <p:grpSp>
        <p:nvGrpSpPr>
          <p:cNvPr id="10" name="Grupo 9">
            <a:extLst>
              <a:ext uri="{FF2B5EF4-FFF2-40B4-BE49-F238E27FC236}">
                <a16:creationId xmlns:a16="http://schemas.microsoft.com/office/drawing/2014/main" id="{3BB38C16-3558-04A2-8F64-BD0F49A18F6C}"/>
              </a:ext>
            </a:extLst>
          </p:cNvPr>
          <p:cNvGrpSpPr/>
          <p:nvPr/>
        </p:nvGrpSpPr>
        <p:grpSpPr>
          <a:xfrm>
            <a:off x="548640" y="1325880"/>
            <a:ext cx="3514344" cy="3935054"/>
            <a:chOff x="548640" y="1325880"/>
            <a:chExt cx="3514344" cy="3935054"/>
          </a:xfrm>
        </p:grpSpPr>
        <p:sp>
          <p:nvSpPr>
            <p:cNvPr id="4" name="Shape 2"/>
            <p:cNvSpPr/>
            <p:nvPr/>
          </p:nvSpPr>
          <p:spPr>
            <a:xfrm>
              <a:off x="548640" y="1325880"/>
              <a:ext cx="3514344" cy="3935054"/>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6" y="1688506"/>
              <a:ext cx="3294888" cy="1613916"/>
            </a:xfrm>
            <a:prstGeom prst="rect">
              <a:avLst/>
            </a:prstGeom>
            <a:noFill/>
            <a:ln/>
          </p:spPr>
          <p:txBody>
            <a:bodyPr wrap="square" lIns="0" tIns="0" rIns="0" bIns="0" rtlCol="0" anchor="t">
              <a:normAutofit/>
            </a:bodyPr>
            <a:lstStyle/>
            <a:p>
              <a:pPr marL="0" indent="0">
                <a:lnSpc>
                  <a:spcPct val="105000"/>
                </a:lnSpc>
                <a:buNone/>
              </a:pPr>
              <a:r>
                <a:rPr lang="rw-RW" sz="2000" b="1" dirty="0">
                  <a:solidFill>
                    <a:srgbClr val="1F3864"/>
                  </a:solidFill>
                  <a:latin typeface="Calibri" pitchFamily="34" charset="0"/>
                  <a:ea typeface="Calibri" pitchFamily="34" charset="-122"/>
                  <a:cs typeface="Calibri" pitchFamily="34" charset="-120"/>
                </a:rPr>
                <a:t>Aho itangirira</a:t>
              </a:r>
              <a:endParaRPr lang="rw-RW" sz="2000" dirty="0"/>
            </a:p>
            <a:p>
              <a:pPr marL="0" indent="0">
                <a:lnSpc>
                  <a:spcPct val="105000"/>
                </a:lnSpc>
                <a:buNone/>
              </a:pPr>
              <a:r>
                <a:rPr lang="rw-RW" sz="2000" dirty="0">
                  <a:solidFill>
                    <a:srgbClr val="203864"/>
                  </a:solidFill>
                  <a:latin typeface="Calibri" pitchFamily="34" charset="0"/>
                  <a:ea typeface="Calibri" pitchFamily="34" charset="-122"/>
                  <a:cs typeface="Calibri" pitchFamily="34" charset="-120"/>
                </a:rPr>
                <a:t>Kanseri y’ibere itangirira mu ibere, aho uturemangingo tumwe na tumwe dutangira gukura mu buryo budasanzwe.</a:t>
              </a:r>
              <a:endParaRPr lang="rw-RW" sz="2000" dirty="0"/>
            </a:p>
          </p:txBody>
        </p:sp>
        <p:pic>
          <p:nvPicPr>
            <p:cNvPr id="22" name="Content Placeholder 4">
              <a:extLst>
                <a:ext uri="{FF2B5EF4-FFF2-40B4-BE49-F238E27FC236}">
                  <a16:creationId xmlns:a16="http://schemas.microsoft.com/office/drawing/2014/main" id="{2AE67CDD-65F5-BC1C-E9CA-5B875EA44A8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679286" y="2928885"/>
              <a:ext cx="3074288" cy="1676885"/>
            </a:xfrm>
            <a:prstGeom prst="rect">
              <a:avLst/>
            </a:prstGeom>
          </p:spPr>
        </p:pic>
      </p:grpSp>
      <p:grpSp>
        <p:nvGrpSpPr>
          <p:cNvPr id="12" name="Grupo 11">
            <a:extLst>
              <a:ext uri="{FF2B5EF4-FFF2-40B4-BE49-F238E27FC236}">
                <a16:creationId xmlns:a16="http://schemas.microsoft.com/office/drawing/2014/main" id="{884C4B41-4B05-DD20-BBCB-C7ED6785CE9D}"/>
              </a:ext>
            </a:extLst>
          </p:cNvPr>
          <p:cNvGrpSpPr/>
          <p:nvPr/>
        </p:nvGrpSpPr>
        <p:grpSpPr>
          <a:xfrm>
            <a:off x="8125968" y="1325880"/>
            <a:ext cx="3514344" cy="3935052"/>
            <a:chOff x="8125968" y="1325880"/>
            <a:chExt cx="3514344" cy="3935052"/>
          </a:xfrm>
        </p:grpSpPr>
        <p:sp>
          <p:nvSpPr>
            <p:cNvPr id="8" name="Shape 6"/>
            <p:cNvSpPr/>
            <p:nvPr/>
          </p:nvSpPr>
          <p:spPr>
            <a:xfrm>
              <a:off x="8125968" y="1325880"/>
              <a:ext cx="3514344" cy="3935052"/>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490472"/>
              <a:ext cx="3075432" cy="1613916"/>
            </a:xfrm>
            <a:prstGeom prst="rect">
              <a:avLst/>
            </a:prstGeom>
            <a:noFill/>
            <a:ln/>
          </p:spPr>
          <p:txBody>
            <a:bodyPr wrap="square" lIns="0" tIns="0" rIns="0" bIns="0" rtlCol="0" anchor="t"/>
            <a:lstStyle/>
            <a:p>
              <a:pPr marL="0" indent="0">
                <a:lnSpc>
                  <a:spcPct val="105000"/>
                </a:lnSpc>
                <a:buNone/>
              </a:pPr>
              <a:r>
                <a:rPr lang="rw-RW" sz="2000" b="1" dirty="0">
                  <a:solidFill>
                    <a:srgbClr val="1F3864"/>
                  </a:solidFill>
                  <a:latin typeface="Calibri" pitchFamily="34" charset="0"/>
                  <a:ea typeface="Calibri" pitchFamily="34" charset="-122"/>
                  <a:cs typeface="Calibri" pitchFamily="34" charset="-120"/>
                </a:rPr>
                <a:t>Ishobora gutembera</a:t>
              </a:r>
              <a:endParaRPr lang="rw-RW" sz="2000" dirty="0"/>
            </a:p>
            <a:p>
              <a:pPr marL="0" indent="0">
                <a:lnSpc>
                  <a:spcPct val="105000"/>
                </a:lnSpc>
                <a:buNone/>
              </a:pPr>
              <a:r>
                <a:rPr lang="rw-RW" sz="2000" dirty="0">
                  <a:solidFill>
                    <a:srgbClr val="203864"/>
                  </a:solidFill>
                  <a:latin typeface="Calibri" pitchFamily="34" charset="0"/>
                  <a:ea typeface="Calibri" pitchFamily="34" charset="-122"/>
                  <a:cs typeface="Calibri" pitchFamily="34" charset="-120"/>
                </a:rPr>
                <a:t>Iyo itavuwe, ishobora kugera mu tubuto two mu kwaha no mu bindi bice by'umubiri.</a:t>
              </a:r>
              <a:endParaRPr lang="rw-RW" sz="2000" dirty="0"/>
            </a:p>
          </p:txBody>
        </p:sp>
        <p:pic>
          <p:nvPicPr>
            <p:cNvPr id="23" name="Picture 22">
              <a:extLst>
                <a:ext uri="{FF2B5EF4-FFF2-40B4-BE49-F238E27FC236}">
                  <a16:creationId xmlns:a16="http://schemas.microsoft.com/office/drawing/2014/main" id="{3CF64F6F-2589-2B76-E5B0-75A4C62FC49A}"/>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345424" y="3104388"/>
              <a:ext cx="3206078" cy="1900517"/>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CEFD7-7A8C-CF2A-ED40-2948446E72B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874433-F688-2EA5-67B1-6AC333B55600}"/>
              </a:ext>
            </a:extLst>
          </p:cNvPr>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ICYO ARI CYO</a:t>
            </a:r>
            <a:endParaRPr lang="rw-RW" sz="1000" dirty="0"/>
          </a:p>
        </p:txBody>
      </p:sp>
      <p:sp>
        <p:nvSpPr>
          <p:cNvPr id="3" name="Text 1">
            <a:extLst>
              <a:ext uri="{FF2B5EF4-FFF2-40B4-BE49-F238E27FC236}">
                <a16:creationId xmlns:a16="http://schemas.microsoft.com/office/drawing/2014/main" id="{1A7C6800-45A7-AAB8-9A1D-74998E04787B}"/>
              </a:ext>
            </a:extLst>
          </p:cNvPr>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Kanseri y'ibere mu magambo yoroheje (2/2)</a:t>
            </a:r>
            <a:endParaRPr lang="rw-RW" sz="3000" dirty="0"/>
          </a:p>
        </p:txBody>
      </p:sp>
      <p:sp>
        <p:nvSpPr>
          <p:cNvPr id="16" name="Shape 14">
            <a:extLst>
              <a:ext uri="{FF2B5EF4-FFF2-40B4-BE49-F238E27FC236}">
                <a16:creationId xmlns:a16="http://schemas.microsoft.com/office/drawing/2014/main" id="{B7AC81AD-9164-D9F6-8ED5-1DF846AD9C91}"/>
              </a:ext>
            </a:extLst>
          </p:cNvPr>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7" name="Text 15">
            <a:extLst>
              <a:ext uri="{FF2B5EF4-FFF2-40B4-BE49-F238E27FC236}">
                <a16:creationId xmlns:a16="http://schemas.microsoft.com/office/drawing/2014/main" id="{E6908145-E26F-443F-2F45-96FDFFBEACCB}"/>
              </a:ext>
            </a:extLst>
          </p:cNvPr>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Wibuke ko kanseri y'ibere yibasira ibere. Ni indwara itandukanye na kanseri y'inkondo y'umura n'izindi kanseri, kandi iboneka mu bundi buryo.</a:t>
            </a:r>
            <a:endParaRPr lang="rw-RW" sz="1800" dirty="0"/>
          </a:p>
        </p:txBody>
      </p:sp>
      <p:sp>
        <p:nvSpPr>
          <p:cNvPr id="18" name="Text 16">
            <a:extLst>
              <a:ext uri="{FF2B5EF4-FFF2-40B4-BE49-F238E27FC236}">
                <a16:creationId xmlns:a16="http://schemas.microsoft.com/office/drawing/2014/main" id="{78FE9173-1017-A161-0BB5-BA484C91A61B}"/>
              </a:ext>
            </a:extLst>
          </p:cNvPr>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9" name="Text 17">
            <a:extLst>
              <a:ext uri="{FF2B5EF4-FFF2-40B4-BE49-F238E27FC236}">
                <a16:creationId xmlns:a16="http://schemas.microsoft.com/office/drawing/2014/main" id="{125535D1-4ADC-66A5-8730-24E4DE970429}"/>
              </a:ext>
            </a:extLst>
          </p:cNvPr>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28</a:t>
            </a:r>
            <a:endParaRPr lang="rw-RW" sz="900" dirty="0"/>
          </a:p>
        </p:txBody>
      </p:sp>
      <p:grpSp>
        <p:nvGrpSpPr>
          <p:cNvPr id="4" name="Grupo 3">
            <a:extLst>
              <a:ext uri="{FF2B5EF4-FFF2-40B4-BE49-F238E27FC236}">
                <a16:creationId xmlns:a16="http://schemas.microsoft.com/office/drawing/2014/main" id="{FF9AECE2-ABA4-5F9A-24F0-E11914E4B01C}"/>
              </a:ext>
            </a:extLst>
          </p:cNvPr>
          <p:cNvGrpSpPr/>
          <p:nvPr/>
        </p:nvGrpSpPr>
        <p:grpSpPr>
          <a:xfrm>
            <a:off x="548640" y="1522054"/>
            <a:ext cx="3514344" cy="3705218"/>
            <a:chOff x="548640" y="1522054"/>
            <a:chExt cx="3514344" cy="3705218"/>
          </a:xfrm>
        </p:grpSpPr>
        <p:sp>
          <p:nvSpPr>
            <p:cNvPr id="10" name="Shape 8">
              <a:extLst>
                <a:ext uri="{FF2B5EF4-FFF2-40B4-BE49-F238E27FC236}">
                  <a16:creationId xmlns:a16="http://schemas.microsoft.com/office/drawing/2014/main" id="{957ACE91-1F8B-1038-342A-433085CF9858}"/>
                </a:ext>
              </a:extLst>
            </p:cNvPr>
            <p:cNvSpPr/>
            <p:nvPr/>
          </p:nvSpPr>
          <p:spPr>
            <a:xfrm>
              <a:off x="548640" y="1522054"/>
              <a:ext cx="3514344" cy="3705218"/>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11" name="Text 9">
              <a:extLst>
                <a:ext uri="{FF2B5EF4-FFF2-40B4-BE49-F238E27FC236}">
                  <a16:creationId xmlns:a16="http://schemas.microsoft.com/office/drawing/2014/main" id="{CF569692-3431-C121-B90C-426AD08E7C6B}"/>
                </a:ext>
              </a:extLst>
            </p:cNvPr>
            <p:cNvSpPr txBox="1"/>
            <p:nvPr/>
          </p:nvSpPr>
          <p:spPr>
            <a:xfrm>
              <a:off x="768096" y="1706832"/>
              <a:ext cx="3075432" cy="1613916"/>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Ntabwo biterwa n'amakosa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Ntabwo iterwa no kwikanga, impinduka nto zo mu mubiri, imyambaro, ubupfumu cyangwa ikindi umuntu yakoze.</a:t>
              </a:r>
              <a:endParaRPr lang="rw-RW" sz="1800" dirty="0"/>
            </a:p>
          </p:txBody>
        </p:sp>
        <p:pic>
          <p:nvPicPr>
            <p:cNvPr id="24" name="Picture 23">
              <a:extLst>
                <a:ext uri="{FF2B5EF4-FFF2-40B4-BE49-F238E27FC236}">
                  <a16:creationId xmlns:a16="http://schemas.microsoft.com/office/drawing/2014/main" id="{F86A7139-2355-709E-D39D-E388767D336D}"/>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548384" y="3100401"/>
              <a:ext cx="1932432" cy="1834456"/>
            </a:xfrm>
            <a:prstGeom prst="rect">
              <a:avLst/>
            </a:prstGeom>
          </p:spPr>
        </p:pic>
      </p:grpSp>
      <p:grpSp>
        <p:nvGrpSpPr>
          <p:cNvPr id="5" name="Grupo 4">
            <a:extLst>
              <a:ext uri="{FF2B5EF4-FFF2-40B4-BE49-F238E27FC236}">
                <a16:creationId xmlns:a16="http://schemas.microsoft.com/office/drawing/2014/main" id="{EFDB2C45-6729-B8E1-3D62-23F3A39A813F}"/>
              </a:ext>
            </a:extLst>
          </p:cNvPr>
          <p:cNvGrpSpPr/>
          <p:nvPr/>
        </p:nvGrpSpPr>
        <p:grpSpPr>
          <a:xfrm>
            <a:off x="4337304" y="1522054"/>
            <a:ext cx="3514344" cy="3705218"/>
            <a:chOff x="4337304" y="1522054"/>
            <a:chExt cx="3514344" cy="3705218"/>
          </a:xfrm>
        </p:grpSpPr>
        <p:sp>
          <p:nvSpPr>
            <p:cNvPr id="12" name="Shape 10">
              <a:extLst>
                <a:ext uri="{FF2B5EF4-FFF2-40B4-BE49-F238E27FC236}">
                  <a16:creationId xmlns:a16="http://schemas.microsoft.com/office/drawing/2014/main" id="{3EDD7B09-E13F-5DE0-B000-6286544D51AC}"/>
                </a:ext>
              </a:extLst>
            </p:cNvPr>
            <p:cNvSpPr/>
            <p:nvPr/>
          </p:nvSpPr>
          <p:spPr>
            <a:xfrm>
              <a:off x="4337304" y="1522054"/>
              <a:ext cx="3514344" cy="3705218"/>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13" name="Text 11">
              <a:extLst>
                <a:ext uri="{FF2B5EF4-FFF2-40B4-BE49-F238E27FC236}">
                  <a16:creationId xmlns:a16="http://schemas.microsoft.com/office/drawing/2014/main" id="{1F118284-01EE-937C-AF52-C5D6D6B7DF6E}"/>
                </a:ext>
              </a:extLst>
            </p:cNvPr>
            <p:cNvSpPr txBox="1"/>
            <p:nvPr/>
          </p:nvSpPr>
          <p:spPr>
            <a:xfrm>
              <a:off x="4556760" y="1760747"/>
              <a:ext cx="3075432" cy="1613916"/>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Ishobora kuvurwa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Kanseri y'ibere irashobora kuvurwa, kandi ibisubizo biba byiza iyo yagaragaye hakiri kare.</a:t>
              </a:r>
              <a:endParaRPr lang="rw-RW" sz="1800" dirty="0"/>
            </a:p>
          </p:txBody>
        </p:sp>
        <p:pic>
          <p:nvPicPr>
            <p:cNvPr id="25" name="Picture 24">
              <a:extLst>
                <a:ext uri="{FF2B5EF4-FFF2-40B4-BE49-F238E27FC236}">
                  <a16:creationId xmlns:a16="http://schemas.microsoft.com/office/drawing/2014/main" id="{E73702B3-6C5B-7E85-DD6D-F818B6CAF374}"/>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764990" y="3211233"/>
              <a:ext cx="2736597" cy="1723624"/>
            </a:xfrm>
            <a:prstGeom prst="rect">
              <a:avLst/>
            </a:prstGeom>
          </p:spPr>
        </p:pic>
      </p:grpSp>
      <p:grpSp>
        <p:nvGrpSpPr>
          <p:cNvPr id="6" name="Grupo 5">
            <a:extLst>
              <a:ext uri="{FF2B5EF4-FFF2-40B4-BE49-F238E27FC236}">
                <a16:creationId xmlns:a16="http://schemas.microsoft.com/office/drawing/2014/main" id="{A035D9BC-6496-8162-F364-EF09BF952E82}"/>
              </a:ext>
            </a:extLst>
          </p:cNvPr>
          <p:cNvGrpSpPr/>
          <p:nvPr/>
        </p:nvGrpSpPr>
        <p:grpSpPr>
          <a:xfrm>
            <a:off x="8125968" y="1522054"/>
            <a:ext cx="3514344" cy="3705218"/>
            <a:chOff x="8125968" y="1522054"/>
            <a:chExt cx="3514344" cy="3705218"/>
          </a:xfrm>
        </p:grpSpPr>
        <p:sp>
          <p:nvSpPr>
            <p:cNvPr id="14" name="Shape 12">
              <a:extLst>
                <a:ext uri="{FF2B5EF4-FFF2-40B4-BE49-F238E27FC236}">
                  <a16:creationId xmlns:a16="http://schemas.microsoft.com/office/drawing/2014/main" id="{090555B9-C6DB-E8CF-8291-4CF15B93351D}"/>
                </a:ext>
              </a:extLst>
            </p:cNvPr>
            <p:cNvSpPr/>
            <p:nvPr/>
          </p:nvSpPr>
          <p:spPr>
            <a:xfrm>
              <a:off x="8125968" y="1522054"/>
              <a:ext cx="3514344" cy="3705218"/>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15" name="Text 13">
              <a:extLst>
                <a:ext uri="{FF2B5EF4-FFF2-40B4-BE49-F238E27FC236}">
                  <a16:creationId xmlns:a16="http://schemas.microsoft.com/office/drawing/2014/main" id="{3B57C655-C26B-D198-57DF-11DC41004D2F}"/>
                </a:ext>
              </a:extLst>
            </p:cNvPr>
            <p:cNvSpPr txBox="1"/>
            <p:nvPr/>
          </p:nvSpPr>
          <p:spPr>
            <a:xfrm>
              <a:off x="8363712" y="1765928"/>
              <a:ext cx="3075432" cy="1613916"/>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Buri wese ashobora kubibona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Akenshi impinduka ya mbere ibonwa n'umuntu ubwe cyangwa n'umwegereye.</a:t>
              </a:r>
              <a:endParaRPr lang="rw-RW" sz="1800" dirty="0"/>
            </a:p>
          </p:txBody>
        </p:sp>
        <p:pic>
          <p:nvPicPr>
            <p:cNvPr id="26" name="Picture 25">
              <a:extLst>
                <a:ext uri="{FF2B5EF4-FFF2-40B4-BE49-F238E27FC236}">
                  <a16:creationId xmlns:a16="http://schemas.microsoft.com/office/drawing/2014/main" id="{4FE4D2E6-89F7-60EB-8418-12E20769128E}"/>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501778" y="3300317"/>
              <a:ext cx="2514154" cy="1571645"/>
            </a:xfrm>
            <a:prstGeom prst="rect">
              <a:avLst/>
            </a:prstGeom>
          </p:spPr>
        </p:pic>
      </p:grpSp>
    </p:spTree>
    <p:extLst>
      <p:ext uri="{BB962C8B-B14F-4D97-AF65-F5344CB8AC3E}">
        <p14:creationId xmlns:p14="http://schemas.microsoft.com/office/powerpoint/2010/main" val="202761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IMITERERE Y'UMUBIRI (ANATOMIE)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Imbere mu Ibere</a:t>
            </a:r>
            <a:endParaRPr lang="rw-RW" sz="3000" dirty="0"/>
          </a:p>
        </p:txBody>
      </p:sp>
      <p:sp>
        <p:nvSpPr>
          <p:cNvPr id="4" name="Text 2"/>
          <p:cNvSpPr txBox="1"/>
          <p:nvPr/>
        </p:nvSpPr>
        <p:spPr>
          <a:xfrm>
            <a:off x="548640" y="1371600"/>
            <a:ext cx="11091672" cy="411480"/>
          </a:xfrm>
          <a:prstGeom prst="rect">
            <a:avLst/>
          </a:prstGeom>
          <a:noFill/>
          <a:ln/>
        </p:spPr>
        <p:txBody>
          <a:bodyPr wrap="square" lIns="0" tIns="0" rIns="0" bIns="0" rtlCol="0" anchor="ctr">
            <a:normAutofit fontScale="85500" lnSpcReduction="10000"/>
          </a:bodyPr>
          <a:lstStyle/>
          <a:p>
            <a:pPr marL="0" indent="0">
              <a:buNone/>
            </a:pPr>
            <a:r>
              <a:rPr lang="rw-RW" sz="1800" dirty="0">
                <a:solidFill>
                  <a:srgbClr val="203864"/>
                </a:solidFill>
                <a:latin typeface="Calibri" pitchFamily="34" charset="0"/>
                <a:ea typeface="Calibri" pitchFamily="34" charset="-122"/>
                <a:cs typeface="Calibri" pitchFamily="34" charset="-120"/>
              </a:rPr>
              <a:t>Si ngombwa ko umenya ibere mu buryo burambuye. Ukeneye gusobanukirwa aho ikibyimba gishobora guturuka, n’Impamvu mu kwaha ari ingenzi kuhasuzuma.</a:t>
            </a:r>
            <a:endParaRPr lang="rw-RW" sz="1800" dirty="0"/>
          </a:p>
        </p:txBody>
      </p:sp>
      <p:sp>
        <p:nvSpPr>
          <p:cNvPr id="8" name="Shape 6"/>
          <p:cNvSpPr/>
          <p:nvPr/>
        </p:nvSpPr>
        <p:spPr>
          <a:xfrm>
            <a:off x="6766560" y="1874520"/>
            <a:ext cx="4873752" cy="1234440"/>
          </a:xfrm>
          <a:prstGeom prst="roundRect">
            <a:avLst>
              <a:gd name="adj" fmla="val 5926"/>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6986016" y="2020824"/>
            <a:ext cx="4434840" cy="960120"/>
          </a:xfrm>
          <a:prstGeom prst="rect">
            <a:avLst/>
          </a:prstGeom>
          <a:noFill/>
          <a:ln/>
        </p:spPr>
        <p:txBody>
          <a:bodyPr wrap="square" lIns="0" tIns="0" rIns="0" bIns="0" rtlCol="0" anchor="t">
            <a:normAutofit fontScale="84000" lnSpcReduction="1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Utubuto tubyara amata n'imiyoboro (Glands na ducts)</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Utubuto (glands) dukora amata n'imiyoboro (ducts) iyajyana mu mwenge. Kanseri y'ibere ikunze gutangirira hano.</a:t>
            </a:r>
            <a:endParaRPr lang="rw-RW" sz="1800" dirty="0"/>
          </a:p>
        </p:txBody>
      </p:sp>
      <p:sp>
        <p:nvSpPr>
          <p:cNvPr id="10" name="Shape 8"/>
          <p:cNvSpPr/>
          <p:nvPr/>
        </p:nvSpPr>
        <p:spPr>
          <a:xfrm>
            <a:off x="6766560" y="3337560"/>
            <a:ext cx="4873752" cy="1386780"/>
          </a:xfrm>
          <a:prstGeom prst="roundRect">
            <a:avLst>
              <a:gd name="adj" fmla="val 5926"/>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6986016" y="3483864"/>
            <a:ext cx="4434840" cy="960120"/>
          </a:xfrm>
          <a:prstGeom prst="rect">
            <a:avLst/>
          </a:prstGeom>
          <a:noFill/>
          <a:ln/>
        </p:spPr>
        <p:txBody>
          <a:bodyPr wrap="square" lIns="0" tIns="0" rIns="0" bIns="0" rtlCol="0" anchor="t">
            <a:normAutofit fontScale="93500" lnSpcReduction="14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Ibinure n'uruhu</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Amabere asigaye ahanini ni amavuta, atwikiriwe n'uruhu. Ni yo mpamvu amabere yumva atandukanye bitewe n'umuntu.</a:t>
            </a:r>
            <a:endParaRPr lang="rw-RW" sz="1800" dirty="0"/>
          </a:p>
        </p:txBody>
      </p:sp>
      <p:sp>
        <p:nvSpPr>
          <p:cNvPr id="12" name="Shape 10"/>
          <p:cNvSpPr/>
          <p:nvPr/>
        </p:nvSpPr>
        <p:spPr>
          <a:xfrm>
            <a:off x="6766560" y="4852356"/>
            <a:ext cx="4873752" cy="1234440"/>
          </a:xfrm>
          <a:prstGeom prst="roundRect">
            <a:avLst>
              <a:gd name="adj" fmla="val 5926"/>
            </a:avLst>
          </a:prstGeom>
          <a:solidFill>
            <a:srgbClr val="F3F7FC"/>
          </a:solidFill>
          <a:ln w="12700">
            <a:solidFill>
              <a:srgbClr val="D3E1F2"/>
            </a:solidFill>
            <a:prstDash val="solid"/>
          </a:ln>
        </p:spPr>
        <p:txBody>
          <a:bodyPr/>
          <a:lstStyle/>
          <a:p>
            <a:endParaRPr lang="rw-RW" dirty="0"/>
          </a:p>
        </p:txBody>
      </p:sp>
      <p:sp>
        <p:nvSpPr>
          <p:cNvPr id="13" name="Text 11"/>
          <p:cNvSpPr txBox="1"/>
          <p:nvPr/>
        </p:nvSpPr>
        <p:spPr>
          <a:xfrm>
            <a:off x="6986016" y="4998660"/>
            <a:ext cx="4434840" cy="960120"/>
          </a:xfrm>
          <a:prstGeom prst="rect">
            <a:avLst/>
          </a:prstGeom>
          <a:noFill/>
          <a:ln/>
        </p:spPr>
        <p:txBody>
          <a:bodyPr wrap="square" lIns="0" tIns="0" rIns="0" bIns="0" rtlCol="0" anchor="t">
            <a:normAutofit fontScale="86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Utubuto twa lymph two mu kwaha (Lymph nodes)</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Zisohora amazi mu ibere, bityo ikibyimba mu kwaha ncyo kiba kigomba gusuzumwa</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29</a:t>
            </a:r>
            <a:endParaRPr lang="rw-RW" sz="900" dirty="0"/>
          </a:p>
        </p:txBody>
      </p:sp>
      <p:grpSp>
        <p:nvGrpSpPr>
          <p:cNvPr id="22" name="Grupo 21">
            <a:extLst>
              <a:ext uri="{FF2B5EF4-FFF2-40B4-BE49-F238E27FC236}">
                <a16:creationId xmlns:a16="http://schemas.microsoft.com/office/drawing/2014/main" id="{9EDDF8AB-C234-032F-2EE2-556B0CED238D}"/>
              </a:ext>
            </a:extLst>
          </p:cNvPr>
          <p:cNvGrpSpPr/>
          <p:nvPr/>
        </p:nvGrpSpPr>
        <p:grpSpPr>
          <a:xfrm>
            <a:off x="408793" y="2236889"/>
            <a:ext cx="6467495" cy="3527725"/>
            <a:chOff x="408793" y="2236889"/>
            <a:chExt cx="6467495" cy="3527725"/>
          </a:xfrm>
        </p:grpSpPr>
        <p:grpSp>
          <p:nvGrpSpPr>
            <p:cNvPr id="19" name="Grupo 18">
              <a:extLst>
                <a:ext uri="{FF2B5EF4-FFF2-40B4-BE49-F238E27FC236}">
                  <a16:creationId xmlns:a16="http://schemas.microsoft.com/office/drawing/2014/main" id="{2A4E95B0-F99F-EAC5-AD26-059A384C0183}"/>
                </a:ext>
              </a:extLst>
            </p:cNvPr>
            <p:cNvGrpSpPr/>
            <p:nvPr/>
          </p:nvGrpSpPr>
          <p:grpSpPr>
            <a:xfrm>
              <a:off x="408793" y="2236889"/>
              <a:ext cx="6467495" cy="3527725"/>
              <a:chOff x="408793" y="2236889"/>
              <a:chExt cx="6467495" cy="3527725"/>
            </a:xfrm>
          </p:grpSpPr>
          <p:pic>
            <p:nvPicPr>
              <p:cNvPr id="17" name="Picture 16">
                <a:extLst>
                  <a:ext uri="{FF2B5EF4-FFF2-40B4-BE49-F238E27FC236}">
                    <a16:creationId xmlns:a16="http://schemas.microsoft.com/office/drawing/2014/main" id="{40AFB240-39FC-C370-2A69-6B503168BF54}"/>
                  </a:ext>
                </a:extLst>
              </p:cNvPr>
              <p:cNvPicPr>
                <a:picLocks noChangeAspect="1"/>
              </p:cNvPicPr>
              <p:nvPr/>
            </p:nvPicPr>
            <p:blipFill>
              <a:blip r:embed="rId3"/>
              <a:srcRect/>
              <a:stretch>
                <a:fillRect/>
              </a:stretch>
            </p:blipFill>
            <p:spPr>
              <a:xfrm>
                <a:off x="408793" y="2236889"/>
                <a:ext cx="6467495" cy="3527725"/>
              </a:xfrm>
              <a:prstGeom prst="rect">
                <a:avLst/>
              </a:prstGeom>
            </p:spPr>
          </p:pic>
          <p:pic>
            <p:nvPicPr>
              <p:cNvPr id="5" name="Imagen 4">
                <a:extLst>
                  <a:ext uri="{FF2B5EF4-FFF2-40B4-BE49-F238E27FC236}">
                    <a16:creationId xmlns:a16="http://schemas.microsoft.com/office/drawing/2014/main" id="{40429DA5-01CF-394B-4785-C7946558CF87}"/>
                  </a:ext>
                </a:extLst>
              </p:cNvPr>
              <p:cNvPicPr>
                <a:picLocks noChangeAspect="1"/>
              </p:cNvPicPr>
              <p:nvPr/>
            </p:nvPicPr>
            <p:blipFill>
              <a:blip r:embed="rId4"/>
              <a:stretch>
                <a:fillRect/>
              </a:stretch>
            </p:blipFill>
            <p:spPr>
              <a:xfrm rot="10800000">
                <a:off x="2521117" y="4344742"/>
                <a:ext cx="122778" cy="55808"/>
              </a:xfrm>
              <a:prstGeom prst="rect">
                <a:avLst/>
              </a:prstGeom>
            </p:spPr>
          </p:pic>
          <p:pic>
            <p:nvPicPr>
              <p:cNvPr id="7" name="Imagen 6">
                <a:extLst>
                  <a:ext uri="{FF2B5EF4-FFF2-40B4-BE49-F238E27FC236}">
                    <a16:creationId xmlns:a16="http://schemas.microsoft.com/office/drawing/2014/main" id="{9904D330-8233-78D6-AD62-E842E1FFC2DE}"/>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2110843" y="4321263"/>
                <a:ext cx="381532" cy="122721"/>
              </a:xfrm>
              <a:prstGeom prst="rect">
                <a:avLst/>
              </a:prstGeom>
            </p:spPr>
          </p:pic>
          <p:pic>
            <p:nvPicPr>
              <p:cNvPr id="16" name="Imagen 15">
                <a:extLst>
                  <a:ext uri="{FF2B5EF4-FFF2-40B4-BE49-F238E27FC236}">
                    <a16:creationId xmlns:a16="http://schemas.microsoft.com/office/drawing/2014/main" id="{C7C72FA4-CC9F-27F0-413D-8027CD4F0D12}"/>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1694828" y="4298803"/>
                <a:ext cx="174214" cy="167640"/>
              </a:xfrm>
              <a:prstGeom prst="rect">
                <a:avLst/>
              </a:prstGeom>
            </p:spPr>
          </p:pic>
          <p:pic>
            <p:nvPicPr>
              <p:cNvPr id="18" name="Imagen 17">
                <a:extLst>
                  <a:ext uri="{FF2B5EF4-FFF2-40B4-BE49-F238E27FC236}">
                    <a16:creationId xmlns:a16="http://schemas.microsoft.com/office/drawing/2014/main" id="{12280D36-CD93-4BDD-9986-C9323430C569}"/>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1888630" y="4341020"/>
                <a:ext cx="193472" cy="83206"/>
              </a:xfrm>
              <a:prstGeom prst="rect">
                <a:avLst/>
              </a:prstGeom>
            </p:spPr>
          </p:pic>
        </p:grpSp>
        <p:cxnSp>
          <p:nvCxnSpPr>
            <p:cNvPr id="21" name="Conector recto 20">
              <a:extLst>
                <a:ext uri="{FF2B5EF4-FFF2-40B4-BE49-F238E27FC236}">
                  <a16:creationId xmlns:a16="http://schemas.microsoft.com/office/drawing/2014/main" id="{11A67F83-324C-1560-E7D4-8F1A0F436140}"/>
                </a:ext>
              </a:extLst>
            </p:cNvPr>
            <p:cNvCxnSpPr>
              <a:stCxn id="16" idx="1"/>
            </p:cNvCxnSpPr>
            <p:nvPr/>
          </p:nvCxnSpPr>
          <p:spPr>
            <a:xfrm flipV="1">
              <a:off x="1694828" y="3978876"/>
              <a:ext cx="1509691" cy="403747"/>
            </a:xfrm>
            <a:prstGeom prst="line">
              <a:avLst/>
            </a:prstGeom>
            <a:ln w="95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GIKORANA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Itangirira he?</a:t>
            </a:r>
            <a:endParaRPr lang="rw-RW" sz="3000" dirty="0"/>
          </a:p>
        </p:txBody>
      </p:sp>
      <p:sp>
        <p:nvSpPr>
          <p:cNvPr id="4" name="Text 2"/>
          <p:cNvSpPr txBox="1"/>
          <p:nvPr/>
        </p:nvSpPr>
        <p:spPr>
          <a:xfrm>
            <a:off x="548640" y="1325880"/>
            <a:ext cx="11091672" cy="320040"/>
          </a:xfrm>
          <a:prstGeom prst="rect">
            <a:avLst/>
          </a:prstGeom>
          <a:noFill/>
          <a:ln/>
        </p:spPr>
        <p:txBody>
          <a:bodyPr wrap="square" lIns="0" tIns="0" rIns="0" bIns="0" rtlCol="0" anchor="ctr"/>
          <a:lstStyle/>
          <a:p>
            <a:pPr marL="0" indent="0">
              <a:buNone/>
            </a:pPr>
            <a:r>
              <a:rPr lang="rw-RW" sz="1600" i="1" dirty="0">
                <a:solidFill>
                  <a:srgbClr val="B06A08"/>
                </a:solidFill>
                <a:latin typeface="Calibri" pitchFamily="34" charset="0"/>
                <a:ea typeface="Calibri" pitchFamily="34" charset="-122"/>
                <a:cs typeface="Calibri" pitchFamily="34" charset="-120"/>
              </a:rPr>
              <a:t>Hitamo igisubizo watanga mu materaniro.</a:t>
            </a:r>
            <a:endParaRPr lang="rw-RW" sz="1600" dirty="0"/>
          </a:p>
        </p:txBody>
      </p:sp>
      <p:sp>
        <p:nvSpPr>
          <p:cNvPr id="5" name="Text 3"/>
          <p:cNvSpPr txBox="1"/>
          <p:nvPr/>
        </p:nvSpPr>
        <p:spPr>
          <a:xfrm>
            <a:off x="548640" y="1709928"/>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akubajije Igice cy’umubiri kanseri y’ibere yibasira. Ni iki wamubwira?</a:t>
            </a:r>
            <a:endParaRPr lang="rw-RW" sz="2000" dirty="0"/>
          </a:p>
        </p:txBody>
      </p:sp>
      <p:sp>
        <p:nvSpPr>
          <p:cNvPr id="6" name="Shape 4"/>
          <p:cNvSpPr/>
          <p:nvPr/>
        </p:nvSpPr>
        <p:spPr>
          <a:xfrm>
            <a:off x="548640" y="225856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7" name="Text 5"/>
          <p:cNvSpPr txBox="1"/>
          <p:nvPr/>
        </p:nvSpPr>
        <p:spPr>
          <a:xfrm>
            <a:off x="768096" y="225856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Ibere, aho uturemangingo tumwe dutangira gukura mu buryo budasanzwe</a:t>
            </a:r>
            <a:endParaRPr lang="rw-RW" sz="1800" dirty="0"/>
          </a:p>
        </p:txBody>
      </p:sp>
      <p:sp>
        <p:nvSpPr>
          <p:cNvPr id="8" name="Shape 6"/>
          <p:cNvSpPr/>
          <p:nvPr/>
        </p:nvSpPr>
        <p:spPr>
          <a:xfrm>
            <a:off x="548640" y="2889504"/>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768096" y="2889504"/>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Amaraso</a:t>
            </a:r>
            <a:endParaRPr lang="rw-RW" sz="1800" dirty="0"/>
          </a:p>
        </p:txBody>
      </p:sp>
      <p:sp>
        <p:nvSpPr>
          <p:cNvPr id="10" name="Shape 8"/>
          <p:cNvSpPr/>
          <p:nvPr/>
        </p:nvSpPr>
        <p:spPr>
          <a:xfrm>
            <a:off x="548640" y="352044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768096" y="352044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Igituza cyose icyarimwe</a:t>
            </a:r>
            <a:endParaRPr lang="rw-RW" sz="1800" dirty="0"/>
          </a:p>
        </p:txBody>
      </p:sp>
      <p:sp>
        <p:nvSpPr>
          <p:cNvPr id="12" name="Shape 10"/>
          <p:cNvSpPr/>
          <p:nvPr/>
        </p:nvSpPr>
        <p:spPr>
          <a:xfrm>
            <a:off x="548640" y="415137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3" name="Text 11"/>
          <p:cNvSpPr txBox="1"/>
          <p:nvPr/>
        </p:nvSpPr>
        <p:spPr>
          <a:xfrm>
            <a:off x="768096" y="415137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Igifu</a:t>
            </a:r>
            <a:endParaRPr lang="rw-RW" sz="1800" dirty="0"/>
          </a:p>
        </p:txBody>
      </p:sp>
      <p:sp>
        <p:nvSpPr>
          <p:cNvPr id="14" name="Text 12"/>
          <p:cNvSpPr txBox="1"/>
          <p:nvPr/>
        </p:nvSpPr>
        <p:spPr>
          <a:xfrm>
            <a:off x="548640" y="4946904"/>
            <a:ext cx="11091672" cy="1316736"/>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Kanseri y'ibere itangirira mu ibere, akenshi iba mu miyoboro mito itwara amata. Kuvuga ibi bifasha abantu gusobanukirwa impamvu ibere n'ukwaha bisuzumwa hamwe, n'impamvu atari indwara imwe n'izindi kanseri.</a:t>
            </a:r>
            <a:endParaRPr lang="rw-RW" sz="1700" dirty="0"/>
          </a:p>
        </p:txBody>
      </p:sp>
      <p:sp>
        <p:nvSpPr>
          <p:cNvPr id="15" name="Text 13"/>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6" name="Text 1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30</a:t>
            </a:r>
            <a:endParaRPr lang="rw-RW" sz="900" dirty="0"/>
          </a:p>
        </p:txBody>
      </p:sp>
    </p:spTree>
    <p:extLst>
      <p:ext uri="{BB962C8B-B14F-4D97-AF65-F5344CB8AC3E}">
        <p14:creationId xmlns:p14="http://schemas.microsoft.com/office/powerpoint/2010/main" val="1360636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UKO IGENDA IKURA</a:t>
            </a:r>
            <a:endParaRPr lang="rw-RW" sz="1000" dirty="0"/>
          </a:p>
        </p:txBody>
      </p:sp>
      <p:sp>
        <p:nvSpPr>
          <p:cNvPr id="3" name="Text 1"/>
          <p:cNvSpPr txBox="1"/>
          <p:nvPr/>
        </p:nvSpPr>
        <p:spPr>
          <a:xfrm>
            <a:off x="548640" y="658368"/>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Byagenda bite mu gihe itavuwe</a:t>
            </a:r>
            <a:endParaRPr lang="rw-RW" sz="3000" dirty="0"/>
          </a:p>
        </p:txBody>
      </p:sp>
      <p:sp>
        <p:nvSpPr>
          <p:cNvPr id="8" name="Text 6"/>
          <p:cNvSpPr txBox="1"/>
          <p:nvPr/>
        </p:nvSpPr>
        <p:spPr>
          <a:xfrm>
            <a:off x="3074670" y="336042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3" name="Text 11"/>
          <p:cNvSpPr txBox="1"/>
          <p:nvPr/>
        </p:nvSpPr>
        <p:spPr>
          <a:xfrm>
            <a:off x="5929884" y="336042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8" name="Text 16"/>
          <p:cNvSpPr txBox="1"/>
          <p:nvPr/>
        </p:nvSpPr>
        <p:spPr>
          <a:xfrm>
            <a:off x="8785098" y="336042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23" name="Shape 21"/>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24" name="Text 22"/>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Impamvu gusuzumwa hakiri kare bifite agaciro: </a:t>
            </a:r>
            <a:r>
              <a:rPr lang="rw-RW" sz="1800" dirty="0">
                <a:solidFill>
                  <a:srgbClr val="203864"/>
                </a:solidFill>
                <a:latin typeface="Calibri" pitchFamily="34" charset="0"/>
                <a:ea typeface="Calibri" pitchFamily="34" charset="-122"/>
                <a:cs typeface="Calibri" pitchFamily="34" charset="-120"/>
              </a:rPr>
              <a:t>Buri ntambwe ifata igihe; impinduka zisuzumwe hakiri kare zishobora kuvurwa hakiri kare.</a:t>
            </a:r>
            <a:endParaRPr lang="rw-RW" sz="1800" dirty="0"/>
          </a:p>
        </p:txBody>
      </p:sp>
      <p:sp>
        <p:nvSpPr>
          <p:cNvPr id="25" name="Text 23"/>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6" name="Text 2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31</a:t>
            </a:r>
            <a:endParaRPr lang="rw-RW" sz="900" dirty="0"/>
          </a:p>
        </p:txBody>
      </p:sp>
      <p:grpSp>
        <p:nvGrpSpPr>
          <p:cNvPr id="27" name="Grupo 26">
            <a:extLst>
              <a:ext uri="{FF2B5EF4-FFF2-40B4-BE49-F238E27FC236}">
                <a16:creationId xmlns:a16="http://schemas.microsoft.com/office/drawing/2014/main" id="{EDF80DAA-3D12-9986-ED94-B2BEBE6658BD}"/>
              </a:ext>
            </a:extLst>
          </p:cNvPr>
          <p:cNvGrpSpPr/>
          <p:nvPr/>
        </p:nvGrpSpPr>
        <p:grpSpPr>
          <a:xfrm>
            <a:off x="548640" y="1423794"/>
            <a:ext cx="2535216" cy="3736768"/>
            <a:chOff x="548640" y="1423794"/>
            <a:chExt cx="2535216" cy="3736768"/>
          </a:xfrm>
        </p:grpSpPr>
        <p:sp>
          <p:nvSpPr>
            <p:cNvPr id="4" name="Shape 2"/>
            <p:cNvSpPr/>
            <p:nvPr/>
          </p:nvSpPr>
          <p:spPr>
            <a:xfrm>
              <a:off x="548640" y="1423794"/>
              <a:ext cx="2526030" cy="3736768"/>
            </a:xfrm>
            <a:prstGeom prst="roundRect">
              <a:avLst>
                <a:gd name="adj" fmla="val 2896"/>
              </a:avLst>
            </a:prstGeom>
            <a:solidFill>
              <a:srgbClr val="F3F7FC"/>
            </a:solidFill>
            <a:ln w="12700">
              <a:solidFill>
                <a:srgbClr val="D3E1F2"/>
              </a:solidFill>
              <a:prstDash val="solid"/>
            </a:ln>
          </p:spPr>
          <p:txBody>
            <a:bodyPr/>
            <a:lstStyle/>
            <a:p>
              <a:endParaRPr lang="rw-RW" dirty="0"/>
            </a:p>
          </p:txBody>
        </p:sp>
        <p:sp>
          <p:nvSpPr>
            <p:cNvPr id="5" name="Shape 3"/>
            <p:cNvSpPr/>
            <p:nvPr/>
          </p:nvSpPr>
          <p:spPr>
            <a:xfrm>
              <a:off x="722376" y="159685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749808" y="160667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722376" y="2338194"/>
              <a:ext cx="2151126" cy="1237803"/>
            </a:xfrm>
            <a:prstGeom prst="rect">
              <a:avLst/>
            </a:prstGeom>
            <a:noFill/>
            <a:ln/>
          </p:spPr>
          <p:txBody>
            <a:bodyPr wrap="square" lIns="0" tIns="0" rIns="0" bIns="0" rtlCol="0" anchor="t">
              <a:normAutofit fontScale="85000" lnSpcReduction="20000"/>
            </a:bodyPr>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Uturemangingo tumwe na tumwe tw'ibere dutangira gukura mu buryo budasanzwe. Kugeza aha nta kintu na kimwe kiba cyumvikana.</a:t>
              </a:r>
              <a:endParaRPr lang="rw-RW" sz="1800" dirty="0"/>
            </a:p>
          </p:txBody>
        </p:sp>
        <p:pic>
          <p:nvPicPr>
            <p:cNvPr id="28" name="Picture 27">
              <a:extLst>
                <a:ext uri="{FF2B5EF4-FFF2-40B4-BE49-F238E27FC236}">
                  <a16:creationId xmlns:a16="http://schemas.microsoft.com/office/drawing/2014/main" id="{8DA2FD4B-77B8-8858-AD06-6DCF77219840}"/>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29322" y="3575997"/>
              <a:ext cx="1964666" cy="1494565"/>
            </a:xfrm>
            <a:prstGeom prst="rect">
              <a:avLst/>
            </a:prstGeom>
          </p:spPr>
        </p:pic>
        <p:sp>
          <p:nvSpPr>
            <p:cNvPr id="36" name="TextBox 35">
              <a:extLst>
                <a:ext uri="{FF2B5EF4-FFF2-40B4-BE49-F238E27FC236}">
                  <a16:creationId xmlns:a16="http://schemas.microsoft.com/office/drawing/2014/main" id="{9E1F538B-1A69-451E-3C63-CF4B5A430676}"/>
                </a:ext>
              </a:extLst>
            </p:cNvPr>
            <p:cNvSpPr txBox="1"/>
            <p:nvPr/>
          </p:nvSpPr>
          <p:spPr>
            <a:xfrm>
              <a:off x="1133856" y="1654655"/>
              <a:ext cx="1950000" cy="420000"/>
            </a:xfrm>
            <a:prstGeom prst="rect">
              <a:avLst/>
            </a:prstGeom>
            <a:noFill/>
          </p:spPr>
          <p:txBody>
            <a:bodyPr wrap="square">
              <a:sp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Iratangira</a:t>
              </a:r>
              <a:endParaRPr lang="rw-RW" sz="1800" dirty="0"/>
            </a:p>
          </p:txBody>
        </p:sp>
      </p:grpSp>
      <p:grpSp>
        <p:nvGrpSpPr>
          <p:cNvPr id="29" name="Grupo 28">
            <a:extLst>
              <a:ext uri="{FF2B5EF4-FFF2-40B4-BE49-F238E27FC236}">
                <a16:creationId xmlns:a16="http://schemas.microsoft.com/office/drawing/2014/main" id="{C02C194E-011D-E1DE-5E56-3E9ED17E598E}"/>
              </a:ext>
            </a:extLst>
          </p:cNvPr>
          <p:cNvGrpSpPr/>
          <p:nvPr/>
        </p:nvGrpSpPr>
        <p:grpSpPr>
          <a:xfrm>
            <a:off x="3403854" y="1423794"/>
            <a:ext cx="2547056" cy="3736768"/>
            <a:chOff x="3403854" y="1423794"/>
            <a:chExt cx="2547056" cy="3736768"/>
          </a:xfrm>
        </p:grpSpPr>
        <p:sp>
          <p:nvSpPr>
            <p:cNvPr id="9" name="Shape 7"/>
            <p:cNvSpPr/>
            <p:nvPr/>
          </p:nvSpPr>
          <p:spPr>
            <a:xfrm>
              <a:off x="3403854" y="1423794"/>
              <a:ext cx="2526030" cy="3736768"/>
            </a:xfrm>
            <a:prstGeom prst="roundRect">
              <a:avLst>
                <a:gd name="adj" fmla="val 2896"/>
              </a:avLst>
            </a:prstGeom>
            <a:solidFill>
              <a:srgbClr val="F3F7FC"/>
            </a:solidFill>
            <a:ln w="12700">
              <a:solidFill>
                <a:srgbClr val="D3E1F2"/>
              </a:solidFill>
              <a:prstDash val="solid"/>
            </a:ln>
          </p:spPr>
          <p:txBody>
            <a:bodyPr/>
            <a:lstStyle/>
            <a:p>
              <a:endParaRPr lang="rw-RW" dirty="0"/>
            </a:p>
          </p:txBody>
        </p:sp>
        <p:sp>
          <p:nvSpPr>
            <p:cNvPr id="10" name="Shape 8"/>
            <p:cNvSpPr/>
            <p:nvPr/>
          </p:nvSpPr>
          <p:spPr>
            <a:xfrm>
              <a:off x="3610942" y="1578675"/>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3605022" y="160667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2" name="Text 10"/>
            <p:cNvSpPr txBox="1"/>
            <p:nvPr/>
          </p:nvSpPr>
          <p:spPr>
            <a:xfrm>
              <a:off x="3553206" y="2338194"/>
              <a:ext cx="2175510" cy="1214250"/>
            </a:xfrm>
            <a:prstGeom prst="rect">
              <a:avLst/>
            </a:prstGeom>
            <a:noFill/>
            <a:ln/>
          </p:spPr>
          <p:txBody>
            <a:bodyPr wrap="square" lIns="0" tIns="0" rIns="0" bIns="0" rtlCol="0" anchor="t">
              <a:normAutofit/>
            </a:bodyPr>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kirakura. Kandi uruhu n’imoko bishobora guhinduka.</a:t>
              </a:r>
              <a:endParaRPr lang="rw-RW" sz="1800" dirty="0"/>
            </a:p>
          </p:txBody>
        </p:sp>
        <p:pic>
          <p:nvPicPr>
            <p:cNvPr id="30" name="Picture 29">
              <a:extLst>
                <a:ext uri="{FF2B5EF4-FFF2-40B4-BE49-F238E27FC236}">
                  <a16:creationId xmlns:a16="http://schemas.microsoft.com/office/drawing/2014/main" id="{2EEB3D07-CA8C-A6B7-2E83-DC8B58C29223}"/>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3945710" y="3562624"/>
              <a:ext cx="1442318" cy="1507938"/>
            </a:xfrm>
            <a:prstGeom prst="rect">
              <a:avLst/>
            </a:prstGeom>
          </p:spPr>
        </p:pic>
        <p:sp>
          <p:nvSpPr>
            <p:cNvPr id="38" name="TextBox 37">
              <a:extLst>
                <a:ext uri="{FF2B5EF4-FFF2-40B4-BE49-F238E27FC236}">
                  <a16:creationId xmlns:a16="http://schemas.microsoft.com/office/drawing/2014/main" id="{40F52009-BFDE-21C6-ECAC-69C996EF5353}"/>
                </a:ext>
              </a:extLst>
            </p:cNvPr>
            <p:cNvSpPr txBox="1"/>
            <p:nvPr/>
          </p:nvSpPr>
          <p:spPr>
            <a:xfrm>
              <a:off x="4000910" y="1591339"/>
              <a:ext cx="1950000" cy="420000"/>
            </a:xfrm>
            <a:prstGeom prst="rect">
              <a:avLst/>
            </a:prstGeom>
            <a:noFill/>
          </p:spPr>
          <p:txBody>
            <a:bodyPr wrap="square">
              <a:sp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Irakura</a:t>
              </a:r>
              <a:endParaRPr lang="rw-RW" sz="1800" dirty="0"/>
            </a:p>
          </p:txBody>
        </p:sp>
      </p:grpSp>
      <p:grpSp>
        <p:nvGrpSpPr>
          <p:cNvPr id="31" name="Grupo 30">
            <a:extLst>
              <a:ext uri="{FF2B5EF4-FFF2-40B4-BE49-F238E27FC236}">
                <a16:creationId xmlns:a16="http://schemas.microsoft.com/office/drawing/2014/main" id="{8E8F57E0-9205-B8D6-B494-69FCF6C66CE1}"/>
              </a:ext>
            </a:extLst>
          </p:cNvPr>
          <p:cNvGrpSpPr/>
          <p:nvPr/>
        </p:nvGrpSpPr>
        <p:grpSpPr>
          <a:xfrm>
            <a:off x="6259068" y="1423794"/>
            <a:ext cx="2545567" cy="3745018"/>
            <a:chOff x="6259068" y="1423794"/>
            <a:chExt cx="2545567" cy="3745018"/>
          </a:xfrm>
        </p:grpSpPr>
        <p:sp>
          <p:nvSpPr>
            <p:cNvPr id="14" name="Shape 12"/>
            <p:cNvSpPr/>
            <p:nvPr/>
          </p:nvSpPr>
          <p:spPr>
            <a:xfrm>
              <a:off x="6259068" y="1423794"/>
              <a:ext cx="2526030" cy="3745018"/>
            </a:xfrm>
            <a:prstGeom prst="roundRect">
              <a:avLst>
                <a:gd name="adj" fmla="val 2896"/>
              </a:avLst>
            </a:prstGeom>
            <a:solidFill>
              <a:srgbClr val="F3F7FC"/>
            </a:solidFill>
            <a:ln w="12700">
              <a:solidFill>
                <a:srgbClr val="D3E1F2"/>
              </a:solidFill>
              <a:prstDash val="solid"/>
            </a:ln>
          </p:spPr>
          <p:txBody>
            <a:bodyPr/>
            <a:lstStyle/>
            <a:p>
              <a:endParaRPr lang="rw-RW" dirty="0"/>
            </a:p>
          </p:txBody>
        </p:sp>
        <p:sp>
          <p:nvSpPr>
            <p:cNvPr id="15" name="Shape 13"/>
            <p:cNvSpPr/>
            <p:nvPr/>
          </p:nvSpPr>
          <p:spPr>
            <a:xfrm>
              <a:off x="6460236" y="157048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6" name="Text 14"/>
            <p:cNvSpPr txBox="1"/>
            <p:nvPr/>
          </p:nvSpPr>
          <p:spPr>
            <a:xfrm>
              <a:off x="6460236" y="1555845"/>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7" name="Text 15"/>
            <p:cNvSpPr txBox="1"/>
            <p:nvPr/>
          </p:nvSpPr>
          <p:spPr>
            <a:xfrm>
              <a:off x="6414196" y="2338194"/>
              <a:ext cx="2175510" cy="807977"/>
            </a:xfrm>
            <a:prstGeom prst="rect">
              <a:avLst/>
            </a:prstGeom>
            <a:noFill/>
            <a:ln/>
          </p:spPr>
          <p:txBody>
            <a:bodyPr wrap="square" lIns="0" tIns="0" rIns="0" bIns="0" rtlCol="0" anchor="t">
              <a:normAutofit fontScale="85000" lnSpcReduction="10000"/>
            </a:bodyPr>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Gishobora gukwirakwira mu tubuto turi mukwaha hakanabyimba.</a:t>
              </a:r>
              <a:endParaRPr lang="rw-RW" sz="1800" dirty="0"/>
            </a:p>
          </p:txBody>
        </p:sp>
        <p:pic>
          <p:nvPicPr>
            <p:cNvPr id="32" name="Picture 31">
              <a:extLst>
                <a:ext uri="{FF2B5EF4-FFF2-40B4-BE49-F238E27FC236}">
                  <a16:creationId xmlns:a16="http://schemas.microsoft.com/office/drawing/2014/main" id="{CA3B5EA2-05B9-5E84-E5CB-AE7B9C16B689}"/>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6567226" y="3477237"/>
              <a:ext cx="1888143" cy="1601575"/>
            </a:xfrm>
            <a:prstGeom prst="rect">
              <a:avLst/>
            </a:prstGeom>
          </p:spPr>
        </p:pic>
        <p:sp>
          <p:nvSpPr>
            <p:cNvPr id="40" name="TextBox 39">
              <a:extLst>
                <a:ext uri="{FF2B5EF4-FFF2-40B4-BE49-F238E27FC236}">
                  <a16:creationId xmlns:a16="http://schemas.microsoft.com/office/drawing/2014/main" id="{16BEF34C-FC3E-40D2-AD55-646C7305FFA3}"/>
                </a:ext>
              </a:extLst>
            </p:cNvPr>
            <p:cNvSpPr txBox="1"/>
            <p:nvPr/>
          </p:nvSpPr>
          <p:spPr>
            <a:xfrm>
              <a:off x="6854635" y="1587128"/>
              <a:ext cx="1950000" cy="420000"/>
            </a:xfrm>
            <a:prstGeom prst="rect">
              <a:avLst/>
            </a:prstGeom>
            <a:noFill/>
          </p:spPr>
          <p:txBody>
            <a:bodyPr wrap="square">
              <a:sp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Kigera mu kwaha</a:t>
              </a:r>
              <a:endParaRPr lang="rw-RW" sz="1800" dirty="0"/>
            </a:p>
          </p:txBody>
        </p:sp>
      </p:grpSp>
      <p:grpSp>
        <p:nvGrpSpPr>
          <p:cNvPr id="33" name="Grupo 32">
            <a:extLst>
              <a:ext uri="{FF2B5EF4-FFF2-40B4-BE49-F238E27FC236}">
                <a16:creationId xmlns:a16="http://schemas.microsoft.com/office/drawing/2014/main" id="{97948877-2C98-B286-1930-1F20F4D7AAC9}"/>
              </a:ext>
            </a:extLst>
          </p:cNvPr>
          <p:cNvGrpSpPr/>
          <p:nvPr/>
        </p:nvGrpSpPr>
        <p:grpSpPr>
          <a:xfrm>
            <a:off x="9114282" y="1423794"/>
            <a:ext cx="2635326" cy="3726948"/>
            <a:chOff x="9114282" y="1423794"/>
            <a:chExt cx="2635326" cy="3726948"/>
          </a:xfrm>
        </p:grpSpPr>
        <p:sp>
          <p:nvSpPr>
            <p:cNvPr id="19" name="Shape 17"/>
            <p:cNvSpPr/>
            <p:nvPr/>
          </p:nvSpPr>
          <p:spPr>
            <a:xfrm>
              <a:off x="9114282" y="1423794"/>
              <a:ext cx="2526030" cy="3726948"/>
            </a:xfrm>
            <a:prstGeom prst="roundRect">
              <a:avLst>
                <a:gd name="adj" fmla="val 2896"/>
              </a:avLst>
            </a:prstGeom>
            <a:solidFill>
              <a:srgbClr val="F3F7FC"/>
            </a:solidFill>
            <a:ln w="12700">
              <a:solidFill>
                <a:srgbClr val="D3E1F2"/>
              </a:solidFill>
              <a:prstDash val="solid"/>
            </a:ln>
          </p:spPr>
          <p:txBody>
            <a:bodyPr/>
            <a:lstStyle/>
            <a:p>
              <a:endParaRPr lang="rw-RW" dirty="0"/>
            </a:p>
          </p:txBody>
        </p:sp>
        <p:sp>
          <p:nvSpPr>
            <p:cNvPr id="20" name="Shape 18"/>
            <p:cNvSpPr/>
            <p:nvPr/>
          </p:nvSpPr>
          <p:spPr>
            <a:xfrm>
              <a:off x="9315450" y="158860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21" name="Text 19"/>
            <p:cNvSpPr txBox="1"/>
            <p:nvPr/>
          </p:nvSpPr>
          <p:spPr>
            <a:xfrm>
              <a:off x="9315450" y="160667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22" name="Text 20"/>
            <p:cNvSpPr txBox="1"/>
            <p:nvPr/>
          </p:nvSpPr>
          <p:spPr>
            <a:xfrm>
              <a:off x="9309674" y="2338194"/>
              <a:ext cx="2129470" cy="1250826"/>
            </a:xfrm>
            <a:prstGeom prst="rect">
              <a:avLst/>
            </a:prstGeom>
            <a:noFill/>
            <a:ln/>
          </p:spPr>
          <p:txBody>
            <a:bodyPr wrap="square" lIns="0" tIns="0" rIns="0" bIns="0" rtlCol="0" anchor="t">
              <a:normAutofit fontScale="93000" lnSpcReduction="10000"/>
            </a:bodyPr>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Iyi ndwara ishobora kugera mu bindi bice by'umubiri, bigatuma kuyivura birushaho kugorana.</a:t>
              </a:r>
              <a:endParaRPr lang="rw-RW" sz="1800" dirty="0"/>
            </a:p>
          </p:txBody>
        </p:sp>
        <p:pic>
          <p:nvPicPr>
            <p:cNvPr id="34" name="Picture 33">
              <a:extLst>
                <a:ext uri="{FF2B5EF4-FFF2-40B4-BE49-F238E27FC236}">
                  <a16:creationId xmlns:a16="http://schemas.microsoft.com/office/drawing/2014/main" id="{C0EBF04A-7AF1-A898-60B4-C3C50E4B6EAA}"/>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9616550" y="3609372"/>
              <a:ext cx="1521494" cy="1451370"/>
            </a:xfrm>
            <a:prstGeom prst="rect">
              <a:avLst/>
            </a:prstGeom>
          </p:spPr>
        </p:pic>
        <p:sp>
          <p:nvSpPr>
            <p:cNvPr id="42" name="TextBox 41">
              <a:extLst>
                <a:ext uri="{FF2B5EF4-FFF2-40B4-BE49-F238E27FC236}">
                  <a16:creationId xmlns:a16="http://schemas.microsoft.com/office/drawing/2014/main" id="{9C46BABE-C97D-9A1E-0BB8-63AF3228E442}"/>
                </a:ext>
              </a:extLst>
            </p:cNvPr>
            <p:cNvSpPr txBox="1"/>
            <p:nvPr/>
          </p:nvSpPr>
          <p:spPr>
            <a:xfrm>
              <a:off x="9799608" y="1614778"/>
              <a:ext cx="1950000" cy="420000"/>
            </a:xfrm>
            <a:prstGeom prst="rect">
              <a:avLst/>
            </a:prstGeom>
            <a:noFill/>
          </p:spPr>
          <p:txBody>
            <a:bodyPr wrap="square">
              <a:sp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Birakwirakwira kurushaho</a:t>
              </a:r>
              <a:endParaRPr lang="rw-RW" sz="1800" dirty="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SI BURI KIBYIMBA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normAutofit fontScale="93500"/>
          </a:bodyPr>
          <a:lstStyle/>
          <a:p>
            <a:pPr marL="0" indent="0">
              <a:buNone/>
            </a:pPr>
            <a:r>
              <a:rPr lang="rw-RW" sz="3000" b="1" dirty="0">
                <a:solidFill>
                  <a:srgbClr val="1F3864"/>
                </a:solidFill>
                <a:latin typeface="Calibri" pitchFamily="34" charset="0"/>
                <a:ea typeface="Calibri" pitchFamily="34" charset="-122"/>
                <a:cs typeface="Calibri" pitchFamily="34" charset="-120"/>
              </a:rPr>
              <a:t>Ikibyimba mu ibere ntigihora gisobanura ko ari kanseri</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normAutofit fontScale="93000"/>
          </a:bodyPr>
          <a:lstStyle/>
          <a:p>
            <a:pPr marL="0" indent="0">
              <a:buNone/>
            </a:pPr>
            <a:r>
              <a:rPr lang="rw-RW" sz="1800" dirty="0">
                <a:solidFill>
                  <a:srgbClr val="203864"/>
                </a:solidFill>
                <a:latin typeface="Calibri" pitchFamily="34" charset="0"/>
                <a:ea typeface="Calibri" pitchFamily="34" charset="-122"/>
                <a:cs typeface="Calibri" pitchFamily="34" charset="-120"/>
              </a:rPr>
              <a:t>Ibibyimba byinshi biboneka mu ibere ntabwo ari kanseri. Dore ingero eshatu z'impinduka zishobora kutaba kanseri.</a:t>
            </a:r>
            <a:endParaRPr lang="rw-RW" sz="1800" dirty="0"/>
          </a:p>
        </p:txBody>
      </p:sp>
      <p:sp>
        <p:nvSpPr>
          <p:cNvPr id="11" name="Shape 9"/>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2" name="Text 10"/>
          <p:cNvSpPr txBox="1"/>
          <p:nvPr/>
        </p:nvSpPr>
        <p:spPr>
          <a:xfrm>
            <a:off x="749808" y="5678424"/>
            <a:ext cx="10689336" cy="54864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Vuga muri ubu buryo: </a:t>
            </a:r>
            <a:r>
              <a:rPr lang="rw-RW" sz="1800" dirty="0">
                <a:solidFill>
                  <a:srgbClr val="203864"/>
                </a:solidFill>
                <a:latin typeface="Calibri" pitchFamily="34" charset="0"/>
                <a:ea typeface="Calibri" pitchFamily="34" charset="-122"/>
                <a:cs typeface="Calibri" pitchFamily="34" charset="-120"/>
              </a:rPr>
              <a:t>Ibibyimba byinshi ntabwo ari kanseri. Nta muntu n'umwe ushobora kumenya icyo ari cyo mu gihe cyo kurikoraho, bityo buri kibyimba gishya kigomba gusuzumwa, kandi akenshi iryo suzuma rirahumuriza.</a:t>
            </a:r>
            <a:endParaRPr lang="rw-RW" sz="18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32</a:t>
            </a:r>
            <a:endParaRPr lang="rw-RW" sz="900" dirty="0"/>
          </a:p>
        </p:txBody>
      </p:sp>
      <p:grpSp>
        <p:nvGrpSpPr>
          <p:cNvPr id="15" name="Grupo 14">
            <a:extLst>
              <a:ext uri="{FF2B5EF4-FFF2-40B4-BE49-F238E27FC236}">
                <a16:creationId xmlns:a16="http://schemas.microsoft.com/office/drawing/2014/main" id="{F03BE971-FA72-7870-E628-48405D577C05}"/>
              </a:ext>
            </a:extLst>
          </p:cNvPr>
          <p:cNvGrpSpPr/>
          <p:nvPr/>
        </p:nvGrpSpPr>
        <p:grpSpPr>
          <a:xfrm>
            <a:off x="548640" y="1742190"/>
            <a:ext cx="3514344" cy="3612257"/>
            <a:chOff x="548640" y="1742190"/>
            <a:chExt cx="3514344" cy="3612257"/>
          </a:xfrm>
        </p:grpSpPr>
        <p:sp>
          <p:nvSpPr>
            <p:cNvPr id="5" name="Shape 3"/>
            <p:cNvSpPr/>
            <p:nvPr/>
          </p:nvSpPr>
          <p:spPr>
            <a:xfrm>
              <a:off x="548640" y="1742190"/>
              <a:ext cx="3514344" cy="3612257"/>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906783"/>
              <a:ext cx="3075432" cy="2084832"/>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Ikibyimba cyoroshye, gihamye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Ni ikibyimba gisanzwe kigenda munsi y'intoki mu buryo bworoshye iyo ugikozeho. Ntabwo ari kanseri. Gikunze kugaragara cyane ku bagore bakiri bato.</a:t>
              </a:r>
              <a:endParaRPr lang="rw-RW" sz="1800" dirty="0"/>
            </a:p>
          </p:txBody>
        </p:sp>
        <p:pic>
          <p:nvPicPr>
            <p:cNvPr id="16" name="Picture 15">
              <a:extLst>
                <a:ext uri="{FF2B5EF4-FFF2-40B4-BE49-F238E27FC236}">
                  <a16:creationId xmlns:a16="http://schemas.microsoft.com/office/drawing/2014/main" id="{E0087CDF-00F5-0734-2C81-6F4BBA2C580E}"/>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361682" y="3314674"/>
              <a:ext cx="1867132" cy="1965495"/>
            </a:xfrm>
            <a:prstGeom prst="rect">
              <a:avLst/>
            </a:prstGeom>
          </p:spPr>
        </p:pic>
      </p:grpSp>
      <p:grpSp>
        <p:nvGrpSpPr>
          <p:cNvPr id="17" name="Grupo 16">
            <a:extLst>
              <a:ext uri="{FF2B5EF4-FFF2-40B4-BE49-F238E27FC236}">
                <a16:creationId xmlns:a16="http://schemas.microsoft.com/office/drawing/2014/main" id="{331C0259-1822-9128-19F0-B84A085C8EB3}"/>
              </a:ext>
            </a:extLst>
          </p:cNvPr>
          <p:cNvGrpSpPr/>
          <p:nvPr/>
        </p:nvGrpSpPr>
        <p:grpSpPr>
          <a:xfrm>
            <a:off x="4337304" y="1742191"/>
            <a:ext cx="3294888" cy="3612256"/>
            <a:chOff x="4337304" y="1742191"/>
            <a:chExt cx="3294888" cy="3612256"/>
          </a:xfrm>
        </p:grpSpPr>
        <p:sp>
          <p:nvSpPr>
            <p:cNvPr id="7" name="Shape 5"/>
            <p:cNvSpPr/>
            <p:nvPr/>
          </p:nvSpPr>
          <p:spPr>
            <a:xfrm>
              <a:off x="4337304" y="1742191"/>
              <a:ext cx="3239838" cy="361225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4556760" y="1906783"/>
              <a:ext cx="3075432" cy="1238753"/>
            </a:xfrm>
            <a:prstGeom prst="rect">
              <a:avLst/>
            </a:prstGeom>
            <a:noFill/>
            <a:ln/>
          </p:spPr>
          <p:txBody>
            <a:bodyPr wrap="square" lIns="0" tIns="0" rIns="0" bIns="0" rtlCol="0" anchor="t">
              <a:normAutofit fontScale="955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Akabyimba gato karimo amazi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Akabyimba gato kuzuye amazi gashobora guhinduka bitewe n’ukwezi kw’umugore.</a:t>
              </a:r>
              <a:endParaRPr lang="rw-RW" sz="1800" dirty="0"/>
            </a:p>
          </p:txBody>
        </p:sp>
        <p:pic>
          <p:nvPicPr>
            <p:cNvPr id="18" name="Picture 17">
              <a:extLst>
                <a:ext uri="{FF2B5EF4-FFF2-40B4-BE49-F238E27FC236}">
                  <a16:creationId xmlns:a16="http://schemas.microsoft.com/office/drawing/2014/main" id="{69E5C979-703B-3128-58EB-E1FBF1FF008B}"/>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751632" y="3068949"/>
              <a:ext cx="2614060" cy="2204875"/>
            </a:xfrm>
            <a:prstGeom prst="rect">
              <a:avLst/>
            </a:prstGeom>
          </p:spPr>
        </p:pic>
      </p:grpSp>
      <p:grpSp>
        <p:nvGrpSpPr>
          <p:cNvPr id="19" name="Grupo 18">
            <a:extLst>
              <a:ext uri="{FF2B5EF4-FFF2-40B4-BE49-F238E27FC236}">
                <a16:creationId xmlns:a16="http://schemas.microsoft.com/office/drawing/2014/main" id="{93AAA297-F225-597D-A6EB-D13B2219F518}"/>
              </a:ext>
            </a:extLst>
          </p:cNvPr>
          <p:cNvGrpSpPr/>
          <p:nvPr/>
        </p:nvGrpSpPr>
        <p:grpSpPr>
          <a:xfrm>
            <a:off x="7772014" y="1742190"/>
            <a:ext cx="3868298" cy="3612257"/>
            <a:chOff x="7772014" y="1742190"/>
            <a:chExt cx="3868298" cy="3612257"/>
          </a:xfrm>
        </p:grpSpPr>
        <p:sp>
          <p:nvSpPr>
            <p:cNvPr id="9" name="Shape 7"/>
            <p:cNvSpPr/>
            <p:nvPr/>
          </p:nvSpPr>
          <p:spPr>
            <a:xfrm>
              <a:off x="7772014" y="1742190"/>
              <a:ext cx="3868298" cy="3612257"/>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863840" y="1906783"/>
              <a:ext cx="3776472" cy="2084832"/>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Indwara y’ibere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Ibere rigira ububabare, rigatukura, rigashyuha kandi rikabyimba, rimwe na rimwe mu gihe cyo konsa. Ivurwa hakoreshejwe imiti, kandi igomba gusuzumwa.</a:t>
              </a:r>
              <a:endParaRPr lang="rw-RW" sz="1800" dirty="0"/>
            </a:p>
          </p:txBody>
        </p:sp>
        <p:pic>
          <p:nvPicPr>
            <p:cNvPr id="20" name="Picture 19">
              <a:extLst>
                <a:ext uri="{FF2B5EF4-FFF2-40B4-BE49-F238E27FC236}">
                  <a16:creationId xmlns:a16="http://schemas.microsoft.com/office/drawing/2014/main" id="{877C33FA-C98D-F5FC-A96C-177139C3CC88}"/>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577943" y="3297454"/>
              <a:ext cx="2074631" cy="1976369"/>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RIKORANWA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normAutofit fontScale="93500"/>
          </a:bodyPr>
          <a:lstStyle/>
          <a:p>
            <a:pPr marL="0" indent="0">
              <a:buNone/>
            </a:pPr>
            <a:r>
              <a:rPr lang="rw-RW" sz="3000" b="1" dirty="0">
                <a:solidFill>
                  <a:srgbClr val="1F3864"/>
                </a:solidFill>
                <a:latin typeface="Calibri" pitchFamily="34" charset="0"/>
                <a:ea typeface="Calibri" pitchFamily="34" charset="-122"/>
                <a:cs typeface="Calibri" pitchFamily="34" charset="-120"/>
              </a:rPr>
              <a:t>Niba ibibyimba byinshi atari kanseri, kuki wajya kwisuzumisha?</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yabonye ikibyimba. Avuga ko kubera ko ibibyimba byinshi atari kanseri, adakeneye kugira aho ajya herekeranye no kwisuzumisha. Ni ikihe gisubizo cyiza kurusha ibindi?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Wamubwira ko ari kanseri y'ibere ku buryo yihutira kugenda vuba</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Ni ukuri kandi ashobora gutegereza kugeza igihe azababara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Agomba kugikanda buri munsi akareba ko kigenda.</a:t>
            </a:r>
            <a:endParaRPr lang="rw-RW" sz="1800" dirty="0"/>
          </a:p>
        </p:txBody>
      </p:sp>
      <p:sp>
        <p:nvSpPr>
          <p:cNvPr id="11" name="Shape 9"/>
          <p:cNvSpPr/>
          <p:nvPr/>
        </p:nvSpPr>
        <p:spPr>
          <a:xfrm>
            <a:off x="548640" y="408736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Ibibyimba byinshi ntabwo ari kanseri, niyo mpamvu igenzura rikwiriye gukorwa, kuko akenshi ritanga amakuru meza kandi ribona bike bifite akamaro</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impande zombi zifite uburemere. Kumubwira gutegereza bituma kanseri ikura, kandi kumutera ubwoba akenshi bituma ahisha ikibazo. Ubutumwa bw'ukuri nabwo ni bwo butera inkunga, kuko abantu benshi bajyayo barahumurizwa.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33</a:t>
            </a:r>
            <a:endParaRPr lang="rw-RW" sz="900" dirty="0"/>
          </a:p>
        </p:txBody>
      </p:sp>
    </p:spTree>
    <p:extLst>
      <p:ext uri="{BB962C8B-B14F-4D97-AF65-F5344CB8AC3E}">
        <p14:creationId xmlns:p14="http://schemas.microsoft.com/office/powerpoint/2010/main" val="2666493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ABAGABO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Kanseri y'ibere ishobora no gufata abagabo.</a:t>
            </a:r>
            <a:endParaRPr lang="rw-RW" sz="3000" dirty="0"/>
          </a:p>
        </p:txBody>
      </p:sp>
      <p:sp>
        <p:nvSpPr>
          <p:cNvPr id="10" name="Shape 8"/>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1" name="Text 9"/>
          <p:cNvSpPr txBox="1"/>
          <p:nvPr/>
        </p:nvSpPr>
        <p:spPr>
          <a:xfrm>
            <a:off x="749808" y="5678424"/>
            <a:ext cx="10689336" cy="54864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Impamvu ibi ari ngombwa: </a:t>
            </a:r>
            <a:r>
              <a:rPr lang="rw-RW" sz="1800" dirty="0">
                <a:solidFill>
                  <a:srgbClr val="203864"/>
                </a:solidFill>
                <a:latin typeface="Calibri" pitchFamily="34" charset="0"/>
                <a:ea typeface="Calibri" pitchFamily="34" charset="-122"/>
                <a:cs typeface="Calibri" pitchFamily="34" charset="-120"/>
              </a:rPr>
              <a:t>Abagabo bakunze gutegereza igihe kirekire kubera ko batiteze iyi ndwara. Kuvuga ku mugaragaro ko bishobora kugira ingaruka ku bagabo bituma abagabo barushaho kubivuga mu buryo bworoshye.</a:t>
            </a:r>
            <a:endParaRPr lang="rw-RW" sz="18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34</a:t>
            </a:r>
            <a:endParaRPr lang="rw-RW" sz="900" dirty="0"/>
          </a:p>
        </p:txBody>
      </p:sp>
      <p:grpSp>
        <p:nvGrpSpPr>
          <p:cNvPr id="14" name="Grupo 13">
            <a:extLst>
              <a:ext uri="{FF2B5EF4-FFF2-40B4-BE49-F238E27FC236}">
                <a16:creationId xmlns:a16="http://schemas.microsoft.com/office/drawing/2014/main" id="{E86BC308-8C94-F839-7974-536CC7095CF8}"/>
              </a:ext>
            </a:extLst>
          </p:cNvPr>
          <p:cNvGrpSpPr/>
          <p:nvPr/>
        </p:nvGrpSpPr>
        <p:grpSpPr>
          <a:xfrm>
            <a:off x="548640" y="1292326"/>
            <a:ext cx="3514344" cy="3746017"/>
            <a:chOff x="548640" y="1292326"/>
            <a:chExt cx="3514344" cy="3746017"/>
          </a:xfrm>
        </p:grpSpPr>
        <p:sp>
          <p:nvSpPr>
            <p:cNvPr id="4" name="Shape 2"/>
            <p:cNvSpPr/>
            <p:nvPr/>
          </p:nvSpPr>
          <p:spPr>
            <a:xfrm>
              <a:off x="548640" y="1292326"/>
              <a:ext cx="3514344" cy="3746017"/>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6" y="1456919"/>
              <a:ext cx="3075432" cy="1426283"/>
            </a:xfrm>
            <a:prstGeom prst="rect">
              <a:avLst/>
            </a:prstGeom>
            <a:noFill/>
            <a:ln/>
          </p:spPr>
          <p:txBody>
            <a:bodyPr wrap="square" lIns="0" tIns="0" rIns="0" bIns="0" rtlCol="0" anchor="t">
              <a:normAutofit fontScale="92500" lnSpcReduction="2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Abagabo bafite uturemangingo tw’ibere.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Abagabo baba bafite uturemangingo duke tw'amabere inyuma y’imoko bityo kanseri ishobora guhera aho.</a:t>
              </a:r>
              <a:endParaRPr lang="rw-RW" sz="1800" dirty="0"/>
            </a:p>
          </p:txBody>
        </p:sp>
        <p:pic>
          <p:nvPicPr>
            <p:cNvPr id="15" name="Picture 14">
              <a:extLst>
                <a:ext uri="{FF2B5EF4-FFF2-40B4-BE49-F238E27FC236}">
                  <a16:creationId xmlns:a16="http://schemas.microsoft.com/office/drawing/2014/main" id="{0838C208-4F35-CA76-ADD7-13C445DCB77D}"/>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946630" y="2883202"/>
              <a:ext cx="2718363" cy="2065141"/>
            </a:xfrm>
            <a:prstGeom prst="rect">
              <a:avLst/>
            </a:prstGeom>
          </p:spPr>
        </p:pic>
      </p:grpSp>
      <p:grpSp>
        <p:nvGrpSpPr>
          <p:cNvPr id="16" name="Grupo 15">
            <a:extLst>
              <a:ext uri="{FF2B5EF4-FFF2-40B4-BE49-F238E27FC236}">
                <a16:creationId xmlns:a16="http://schemas.microsoft.com/office/drawing/2014/main" id="{EF8A3E26-58BF-4825-2713-7CBE8435FB29}"/>
              </a:ext>
            </a:extLst>
          </p:cNvPr>
          <p:cNvGrpSpPr/>
          <p:nvPr/>
        </p:nvGrpSpPr>
        <p:grpSpPr>
          <a:xfrm>
            <a:off x="4337304" y="1292327"/>
            <a:ext cx="3514344" cy="3746016"/>
            <a:chOff x="4337304" y="1292327"/>
            <a:chExt cx="3514344" cy="3746016"/>
          </a:xfrm>
        </p:grpSpPr>
        <p:sp>
          <p:nvSpPr>
            <p:cNvPr id="6" name="Shape 4"/>
            <p:cNvSpPr/>
            <p:nvPr/>
          </p:nvSpPr>
          <p:spPr>
            <a:xfrm>
              <a:off x="4337304" y="1292327"/>
              <a:ext cx="3514344" cy="374601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456919"/>
              <a:ext cx="3075432" cy="1555899"/>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Ni ibintu bidasanzwe cyane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Kanseri y'ibere yibasira cyane abagore. Ku bagabo ntikunze kugaragara, ariko irashoboka.</a:t>
              </a:r>
              <a:endParaRPr lang="rw-RW" sz="1800" dirty="0"/>
            </a:p>
          </p:txBody>
        </p:sp>
        <p:pic>
          <p:nvPicPr>
            <p:cNvPr id="17" name="Picture 16">
              <a:extLst>
                <a:ext uri="{FF2B5EF4-FFF2-40B4-BE49-F238E27FC236}">
                  <a16:creationId xmlns:a16="http://schemas.microsoft.com/office/drawing/2014/main" id="{D1635FD3-7265-71E5-9517-2ABB7C8DF562}"/>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557822" y="3012818"/>
              <a:ext cx="3073307" cy="1935525"/>
            </a:xfrm>
            <a:prstGeom prst="rect">
              <a:avLst/>
            </a:prstGeom>
          </p:spPr>
        </p:pic>
      </p:grpSp>
      <p:grpSp>
        <p:nvGrpSpPr>
          <p:cNvPr id="18" name="Grupo 17">
            <a:extLst>
              <a:ext uri="{FF2B5EF4-FFF2-40B4-BE49-F238E27FC236}">
                <a16:creationId xmlns:a16="http://schemas.microsoft.com/office/drawing/2014/main" id="{F25ADAD6-1ABC-7152-E875-F4B12AF25E89}"/>
              </a:ext>
            </a:extLst>
          </p:cNvPr>
          <p:cNvGrpSpPr/>
          <p:nvPr/>
        </p:nvGrpSpPr>
        <p:grpSpPr>
          <a:xfrm>
            <a:off x="8125968" y="1292327"/>
            <a:ext cx="3514344" cy="3746016"/>
            <a:chOff x="8125968" y="1292327"/>
            <a:chExt cx="3514344" cy="3746016"/>
          </a:xfrm>
        </p:grpSpPr>
        <p:sp>
          <p:nvSpPr>
            <p:cNvPr id="8" name="Shape 6"/>
            <p:cNvSpPr/>
            <p:nvPr/>
          </p:nvSpPr>
          <p:spPr>
            <a:xfrm>
              <a:off x="8125968" y="1292327"/>
              <a:ext cx="3514344" cy="374601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456919"/>
              <a:ext cx="3075432" cy="1555899"/>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Ibikorwa ni kimwe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gishya kiri inyuma y’imoko, cyangwa guhinduka kw’imoko bisuzumwa kimwe nko ku bagore.</a:t>
              </a:r>
              <a:endParaRPr lang="rw-RW" sz="1800" dirty="0"/>
            </a:p>
          </p:txBody>
        </p:sp>
        <p:pic>
          <p:nvPicPr>
            <p:cNvPr id="19" name="Picture 18">
              <a:extLst>
                <a:ext uri="{FF2B5EF4-FFF2-40B4-BE49-F238E27FC236}">
                  <a16:creationId xmlns:a16="http://schemas.microsoft.com/office/drawing/2014/main" id="{E395AD4B-8FCA-9B7E-8C3B-4CF43B88074F}"/>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363794" y="3012818"/>
              <a:ext cx="3038691" cy="1935525"/>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RWANDA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Kanseri y'ibere mu Rwanda</a:t>
            </a:r>
            <a:endParaRPr lang="rw-RW" sz="3000" dirty="0"/>
          </a:p>
        </p:txBody>
      </p:sp>
      <p:sp>
        <p:nvSpPr>
          <p:cNvPr id="4" name="Text 2"/>
          <p:cNvSpPr txBox="1"/>
          <p:nvPr/>
        </p:nvSpPr>
        <p:spPr>
          <a:xfrm>
            <a:off x="548640" y="137160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Iri ni igereranya ry’imibare yo mu Rwanda</a:t>
            </a:r>
            <a:endParaRPr lang="rw-RW" sz="1800" dirty="0"/>
          </a:p>
        </p:txBody>
      </p:sp>
      <p:sp>
        <p:nvSpPr>
          <p:cNvPr id="5" name="Shape 3"/>
          <p:cNvSpPr/>
          <p:nvPr/>
        </p:nvSpPr>
        <p:spPr>
          <a:xfrm>
            <a:off x="548640" y="1828800"/>
            <a:ext cx="3483864" cy="1965960"/>
          </a:xfrm>
          <a:prstGeom prst="roundRect">
            <a:avLst>
              <a:gd name="adj" fmla="val 3721"/>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31520" y="2029968"/>
            <a:ext cx="3118104" cy="822960"/>
          </a:xfrm>
          <a:prstGeom prst="rect">
            <a:avLst/>
          </a:prstGeom>
          <a:noFill/>
          <a:ln/>
        </p:spPr>
        <p:txBody>
          <a:bodyPr wrap="square" lIns="0" tIns="0" rIns="0" bIns="0" rtlCol="0" anchor="ctr"/>
          <a:lstStyle/>
          <a:p>
            <a:pPr marL="0" indent="0" algn="ctr">
              <a:buNone/>
            </a:pPr>
            <a:r>
              <a:rPr lang="rw-RW" sz="4800" b="1" dirty="0">
                <a:solidFill>
                  <a:srgbClr val="2E5C8A"/>
                </a:solidFill>
                <a:latin typeface="Calibri" pitchFamily="34" charset="0"/>
                <a:ea typeface="Calibri" pitchFamily="34" charset="-122"/>
                <a:cs typeface="Calibri" pitchFamily="34" charset="-120"/>
              </a:rPr>
              <a:t>1,684</a:t>
            </a:r>
            <a:endParaRPr lang="rw-RW" sz="4800" dirty="0"/>
          </a:p>
        </p:txBody>
      </p:sp>
      <p:sp>
        <p:nvSpPr>
          <p:cNvPr id="7" name="Text 5"/>
          <p:cNvSpPr txBox="1"/>
          <p:nvPr/>
        </p:nvSpPr>
        <p:spPr>
          <a:xfrm>
            <a:off x="768096" y="2889504"/>
            <a:ext cx="3044952" cy="777240"/>
          </a:xfrm>
          <a:prstGeom prst="rect">
            <a:avLst/>
          </a:prstGeom>
          <a:noFill/>
          <a:ln/>
        </p:spPr>
        <p:txBody>
          <a:bodyPr wrap="square" lIns="0" tIns="0" rIns="0" bIns="0" rtlCol="0" anchor="t">
            <a:normAutofit fontScale="93000"/>
          </a:bodyPr>
          <a:lstStyle/>
          <a:p>
            <a:pPr marL="0" indent="0" algn="ctr">
              <a:buNone/>
            </a:pPr>
            <a:r>
              <a:rPr lang="rw-RW" sz="1800" dirty="0">
                <a:solidFill>
                  <a:srgbClr val="203864"/>
                </a:solidFill>
                <a:latin typeface="Calibri" pitchFamily="34" charset="0"/>
                <a:ea typeface="Calibri" pitchFamily="34" charset="-122"/>
                <a:cs typeface="Calibri" pitchFamily="34" charset="-120"/>
              </a:rPr>
              <a:t>Abarwayi bashya ba kanseri y’ibere mu Rwanda</a:t>
            </a:r>
            <a:endParaRPr lang="rw-RW" sz="1800" dirty="0"/>
          </a:p>
        </p:txBody>
      </p:sp>
      <p:sp>
        <p:nvSpPr>
          <p:cNvPr id="8" name="Shape 6"/>
          <p:cNvSpPr/>
          <p:nvPr/>
        </p:nvSpPr>
        <p:spPr>
          <a:xfrm>
            <a:off x="4352544" y="1828800"/>
            <a:ext cx="3483864" cy="1965960"/>
          </a:xfrm>
          <a:prstGeom prst="roundRect">
            <a:avLst>
              <a:gd name="adj" fmla="val 3721"/>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4535424" y="2029968"/>
            <a:ext cx="3118104" cy="822960"/>
          </a:xfrm>
          <a:prstGeom prst="rect">
            <a:avLst/>
          </a:prstGeom>
          <a:noFill/>
          <a:ln/>
        </p:spPr>
        <p:txBody>
          <a:bodyPr wrap="square" lIns="0" tIns="0" rIns="0" bIns="0" rtlCol="0" anchor="ctr"/>
          <a:lstStyle/>
          <a:p>
            <a:pPr marL="0" indent="0" algn="ctr">
              <a:buNone/>
            </a:pPr>
            <a:r>
              <a:rPr lang="rw-RW" sz="4800" b="1" dirty="0">
                <a:solidFill>
                  <a:srgbClr val="2E5C8A"/>
                </a:solidFill>
                <a:latin typeface="Calibri" pitchFamily="34" charset="0"/>
                <a:ea typeface="Calibri" pitchFamily="34" charset="-122"/>
                <a:cs typeface="Calibri" pitchFamily="34" charset="-120"/>
              </a:rPr>
              <a:t>813</a:t>
            </a:r>
            <a:endParaRPr lang="rw-RW" sz="4800" dirty="0"/>
          </a:p>
        </p:txBody>
      </p:sp>
      <p:sp>
        <p:nvSpPr>
          <p:cNvPr id="10" name="Text 8"/>
          <p:cNvSpPr txBox="1"/>
          <p:nvPr/>
        </p:nvSpPr>
        <p:spPr>
          <a:xfrm>
            <a:off x="4572000" y="2889504"/>
            <a:ext cx="3044952" cy="777240"/>
          </a:xfrm>
          <a:prstGeom prst="rect">
            <a:avLst/>
          </a:prstGeom>
          <a:noFill/>
          <a:ln/>
        </p:spPr>
        <p:txBody>
          <a:bodyPr wrap="square" lIns="0" tIns="0" rIns="0" bIns="0" rtlCol="0" anchor="t">
            <a:normAutofit fontScale="93000"/>
          </a:bodyPr>
          <a:lstStyle/>
          <a:p>
            <a:pPr marL="0" indent="0" algn="ctr">
              <a:buNone/>
            </a:pPr>
            <a:r>
              <a:rPr lang="rw-RW" sz="1800" dirty="0">
                <a:solidFill>
                  <a:srgbClr val="203864"/>
                </a:solidFill>
                <a:latin typeface="Calibri" pitchFamily="34" charset="0"/>
                <a:ea typeface="Calibri" pitchFamily="34" charset="-122"/>
                <a:cs typeface="Calibri" pitchFamily="34" charset="-120"/>
              </a:rPr>
              <a:t>Umubare w’abahitanwa nayo ku mwaka mu Rwanda.</a:t>
            </a:r>
            <a:endParaRPr lang="rw-RW" sz="1800" dirty="0"/>
          </a:p>
        </p:txBody>
      </p:sp>
      <p:sp>
        <p:nvSpPr>
          <p:cNvPr id="11" name="Shape 9"/>
          <p:cNvSpPr/>
          <p:nvPr/>
        </p:nvSpPr>
        <p:spPr>
          <a:xfrm>
            <a:off x="8156448" y="1828800"/>
            <a:ext cx="3483864" cy="1965960"/>
          </a:xfrm>
          <a:prstGeom prst="roundRect">
            <a:avLst>
              <a:gd name="adj" fmla="val 3721"/>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8339328" y="2029968"/>
            <a:ext cx="3118104" cy="822960"/>
          </a:xfrm>
          <a:prstGeom prst="rect">
            <a:avLst/>
          </a:prstGeom>
          <a:noFill/>
          <a:ln/>
        </p:spPr>
        <p:txBody>
          <a:bodyPr wrap="square" lIns="0" tIns="0" rIns="0" bIns="0" rtlCol="0" anchor="ctr"/>
          <a:lstStyle/>
          <a:p>
            <a:pPr marL="0" indent="0" algn="ctr">
              <a:buNone/>
            </a:pPr>
            <a:r>
              <a:rPr lang="rw-RW" sz="4800" b="1" dirty="0">
                <a:solidFill>
                  <a:srgbClr val="2E5C8A"/>
                </a:solidFill>
                <a:latin typeface="Calibri" pitchFamily="34" charset="0"/>
                <a:ea typeface="Calibri" pitchFamily="34" charset="-122"/>
                <a:cs typeface="Calibri" pitchFamily="34" charset="-120"/>
              </a:rPr>
              <a:t>1</a:t>
            </a:r>
            <a:endParaRPr lang="rw-RW" sz="4800" dirty="0"/>
          </a:p>
        </p:txBody>
      </p:sp>
      <p:sp>
        <p:nvSpPr>
          <p:cNvPr id="13" name="Text 11"/>
          <p:cNvSpPr txBox="1"/>
          <p:nvPr/>
        </p:nvSpPr>
        <p:spPr>
          <a:xfrm>
            <a:off x="8375904" y="2889504"/>
            <a:ext cx="3044952" cy="777240"/>
          </a:xfrm>
          <a:prstGeom prst="rect">
            <a:avLst/>
          </a:prstGeom>
          <a:noFill/>
          <a:ln/>
        </p:spPr>
        <p:txBody>
          <a:bodyPr wrap="square" lIns="0" tIns="0" rIns="0" bIns="0" rtlCol="0" anchor="t"/>
          <a:lstStyle/>
          <a:p>
            <a:pPr marL="0" indent="0" algn="ctr">
              <a:buNone/>
            </a:pPr>
            <a:r>
              <a:rPr lang="rw-RW" sz="1800" dirty="0">
                <a:solidFill>
                  <a:srgbClr val="203864"/>
                </a:solidFill>
                <a:latin typeface="Calibri" pitchFamily="34" charset="0"/>
                <a:ea typeface="Calibri" pitchFamily="34" charset="-122"/>
                <a:cs typeface="Calibri" pitchFamily="34" charset="-120"/>
              </a:rPr>
              <a:t>Niyo kanseri yiganje mu bagore mu Rwanda.</a:t>
            </a:r>
            <a:endParaRPr lang="rw-RW" sz="1800" dirty="0"/>
          </a:p>
        </p:txBody>
      </p:sp>
      <p:sp>
        <p:nvSpPr>
          <p:cNvPr id="14" name="Text 12"/>
          <p:cNvSpPr txBox="1"/>
          <p:nvPr/>
        </p:nvSpPr>
        <p:spPr>
          <a:xfrm>
            <a:off x="548640" y="3959352"/>
            <a:ext cx="11091672" cy="411480"/>
          </a:xfrm>
          <a:prstGeom prst="rect">
            <a:avLst/>
          </a:prstGeom>
          <a:noFill/>
          <a:ln/>
        </p:spPr>
        <p:txBody>
          <a:bodyPr wrap="square" lIns="0" tIns="0" rIns="0" bIns="0" rtlCol="0" anchor="ctr"/>
          <a:lstStyle/>
          <a:p>
            <a:pPr marL="0" indent="0">
              <a:buNone/>
            </a:pPr>
            <a:r>
              <a:rPr lang="rw-RW" sz="1200" dirty="0">
                <a:solidFill>
                  <a:srgbClr val="7B8AA0"/>
                </a:solidFill>
                <a:latin typeface="Calibri" pitchFamily="34" charset="0"/>
                <a:ea typeface="Calibri" pitchFamily="34" charset="-122"/>
                <a:cs typeface="Calibri" pitchFamily="34" charset="-120"/>
              </a:rPr>
              <a:t>Abaturage: Rwanda, imyaka yose. Umwaka: imibare y'ikigereranyo ya 2024. Icyo bapima: abarwayi bashya n'abapfuye bagereranyijwe mu gihe cy'umwaka umwe. Aho byavuye: IARC Global Cancer Observatory, GLOBOCAN 2024. Iyi ni imibare y'ikigereranyo, si inyandiko zabaruwe.</a:t>
            </a:r>
            <a:endParaRPr lang="rw-RW" sz="1200" dirty="0"/>
          </a:p>
        </p:txBody>
      </p:sp>
      <p:sp>
        <p:nvSpPr>
          <p:cNvPr id="15" name="Shape 13"/>
          <p:cNvSpPr/>
          <p:nvPr/>
        </p:nvSpPr>
        <p:spPr>
          <a:xfrm>
            <a:off x="548640" y="4462272"/>
            <a:ext cx="11091672" cy="777240"/>
          </a:xfrm>
          <a:prstGeom prst="roundRect">
            <a:avLst>
              <a:gd name="adj" fmla="val 9412"/>
            </a:avLst>
          </a:prstGeom>
          <a:solidFill>
            <a:srgbClr val="FDF6E3"/>
          </a:solidFill>
          <a:ln w="12700">
            <a:solidFill>
              <a:srgbClr val="E6D4A3"/>
            </a:solidFill>
            <a:prstDash val="solid"/>
          </a:ln>
        </p:spPr>
        <p:txBody>
          <a:bodyPr/>
          <a:lstStyle/>
          <a:p>
            <a:endParaRPr lang="rw-RW" dirty="0"/>
          </a:p>
        </p:txBody>
      </p:sp>
      <p:sp>
        <p:nvSpPr>
          <p:cNvPr id="16" name="Text 14"/>
          <p:cNvSpPr txBox="1"/>
          <p:nvPr/>
        </p:nvSpPr>
        <p:spPr>
          <a:xfrm>
            <a:off x="749808" y="4517136"/>
            <a:ext cx="10689336" cy="667512"/>
          </a:xfrm>
          <a:prstGeom prst="rect">
            <a:avLst/>
          </a:prstGeom>
          <a:noFill/>
          <a:ln/>
        </p:spPr>
        <p:txBody>
          <a:bodyPr wrap="square" lIns="0" tIns="0" rIns="0" bIns="0" rtlCol="0" anchor="ctr">
            <a:normAutofit fontScale="95500"/>
          </a:bodyPr>
          <a:lstStyle/>
          <a:p>
            <a:pPr marL="0" indent="0">
              <a:buNone/>
            </a:pPr>
            <a:r>
              <a:rPr lang="rw-RW" sz="1800" b="1" dirty="0">
                <a:solidFill>
                  <a:srgbClr val="B06A08"/>
                </a:solidFill>
                <a:latin typeface="Calibri" pitchFamily="34" charset="0"/>
                <a:ea typeface="Calibri" pitchFamily="34" charset="-122"/>
                <a:cs typeface="Calibri" pitchFamily="34" charset="-120"/>
              </a:rPr>
              <a:t>Iki gitekerezo: </a:t>
            </a:r>
            <a:r>
              <a:rPr lang="rw-RW" sz="1800" dirty="0">
                <a:solidFill>
                  <a:srgbClr val="203864"/>
                </a:solidFill>
                <a:latin typeface="Calibri" pitchFamily="34" charset="0"/>
                <a:ea typeface="Calibri" pitchFamily="34" charset="-122"/>
                <a:cs typeface="Calibri" pitchFamily="34" charset="-120"/>
              </a:rPr>
              <a:t>Kanseri y'ibere ni kanseri ikunze kwibasira abagore mu Rwanda, kandi abagore benshi bahitanwa nayo Abenshi muri bo bamenyekanye nyuma y'uko iyi ndwara yamaze kwiyongera.</a:t>
            </a:r>
            <a:endParaRPr lang="rw-RW" sz="1800"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35</a:t>
            </a:r>
            <a:endParaRPr lang="rw-RW"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RWANDA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Kanseri zikunze kwibasira abagore</a:t>
            </a:r>
            <a:endParaRPr lang="rw-RW" sz="3000" dirty="0"/>
          </a:p>
        </p:txBody>
      </p:sp>
      <p:graphicFrame>
        <p:nvGraphicFramePr>
          <p:cNvPr id="4" name="Chart 0" descr="Chart"/>
          <p:cNvGraphicFramePr/>
          <p:nvPr>
            <p:extLst>
              <p:ext uri="{D42A27DB-BD31-4B8C-83A1-F6EECF244321}">
                <p14:modId xmlns:p14="http://schemas.microsoft.com/office/powerpoint/2010/main" val="1554161202"/>
              </p:ext>
            </p:extLst>
          </p:nvPr>
        </p:nvGraphicFramePr>
        <p:xfrm>
          <a:off x="548640" y="1325880"/>
          <a:ext cx="75895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03920" y="1325880"/>
            <a:ext cx="3136392" cy="2286000"/>
          </a:xfrm>
          <a:prstGeom prst="roundRect">
            <a:avLst>
              <a:gd name="adj" fmla="val 3200"/>
            </a:avLst>
          </a:prstGeom>
          <a:solidFill>
            <a:srgbClr val="F3F7FC"/>
          </a:solidFill>
          <a:ln w="12700">
            <a:solidFill>
              <a:srgbClr val="D3E1F2"/>
            </a:solidFill>
            <a:prstDash val="solid"/>
          </a:ln>
        </p:spPr>
        <p:txBody>
          <a:bodyPr/>
          <a:lstStyle/>
          <a:p>
            <a:endParaRPr lang="rw-RW" dirty="0"/>
          </a:p>
        </p:txBody>
      </p:sp>
      <p:sp>
        <p:nvSpPr>
          <p:cNvPr id="6" name="Text 3"/>
          <p:cNvSpPr txBox="1"/>
          <p:nvPr/>
        </p:nvSpPr>
        <p:spPr>
          <a:xfrm>
            <a:off x="8705088" y="1481328"/>
            <a:ext cx="2734056" cy="2011680"/>
          </a:xfrm>
          <a:prstGeom prst="rect">
            <a:avLst/>
          </a:prstGeom>
          <a:noFill/>
          <a:ln/>
        </p:spPr>
        <p:txBody>
          <a:bodyPr wrap="square" lIns="0" tIns="0" rIns="0" bIns="0" rtlCol="0" anchor="t">
            <a:normAutofit fontScale="99500"/>
          </a:bodyPr>
          <a:lstStyle/>
          <a:p>
            <a:pPr marL="0" indent="0">
              <a:lnSpc>
                <a:spcPct val="102000"/>
              </a:lnSpc>
              <a:buNone/>
            </a:pPr>
            <a:r>
              <a:rPr lang="rw-RW" sz="1800" b="1" dirty="0">
                <a:solidFill>
                  <a:srgbClr val="1F3864"/>
                </a:solidFill>
                <a:latin typeface="Calibri" pitchFamily="34" charset="0"/>
                <a:ea typeface="Calibri" pitchFamily="34" charset="-122"/>
                <a:cs typeface="Calibri" pitchFamily="34" charset="-120"/>
              </a:rPr>
              <a:t>Ibyo byerekana</a:t>
            </a:r>
            <a:endParaRPr lang="rw-RW" sz="1800" dirty="0"/>
          </a:p>
          <a:p>
            <a:pPr marL="0" indent="0">
              <a:lnSpc>
                <a:spcPct val="102000"/>
              </a:lnSpc>
              <a:buNone/>
            </a:pPr>
            <a:r>
              <a:rPr lang="rw-RW" sz="1800" dirty="0">
                <a:solidFill>
                  <a:srgbClr val="203864"/>
                </a:solidFill>
                <a:latin typeface="Calibri" pitchFamily="34" charset="0"/>
                <a:ea typeface="Calibri" pitchFamily="34" charset="-122"/>
                <a:cs typeface="Calibri" pitchFamily="34" charset="-120"/>
              </a:rPr>
              <a:t>Kanseri y'ibere ni kanseri ikunze kwibasira abagore mu Rwanda, imbere gato ya kanseri y'inkondo y'umura. Izi kanseri zombi zikunze kwibasira abagore benshi.</a:t>
            </a:r>
            <a:endParaRPr lang="rw-RW" sz="1800" dirty="0"/>
          </a:p>
        </p:txBody>
      </p:sp>
      <p:sp>
        <p:nvSpPr>
          <p:cNvPr id="7" name="Shape 4"/>
          <p:cNvSpPr/>
          <p:nvPr/>
        </p:nvSpPr>
        <p:spPr>
          <a:xfrm>
            <a:off x="8503920" y="3767328"/>
            <a:ext cx="3136392" cy="2194560"/>
          </a:xfrm>
          <a:prstGeom prst="roundRect">
            <a:avLst>
              <a:gd name="adj" fmla="val 3333"/>
            </a:avLst>
          </a:prstGeom>
          <a:solidFill>
            <a:srgbClr val="FDF6E3"/>
          </a:solidFill>
          <a:ln w="12700">
            <a:solidFill>
              <a:srgbClr val="E6D4A3"/>
            </a:solidFill>
            <a:prstDash val="solid"/>
          </a:ln>
        </p:spPr>
        <p:txBody>
          <a:bodyPr>
            <a:normAutofit/>
          </a:bodyPr>
          <a:lstStyle/>
          <a:p>
            <a:endParaRPr lang="rw-RW" dirty="0"/>
          </a:p>
        </p:txBody>
      </p:sp>
      <p:sp>
        <p:nvSpPr>
          <p:cNvPr id="8" name="Text 5"/>
          <p:cNvSpPr txBox="1"/>
          <p:nvPr/>
        </p:nvSpPr>
        <p:spPr>
          <a:xfrm>
            <a:off x="8705088" y="3913632"/>
            <a:ext cx="2734056" cy="1920240"/>
          </a:xfrm>
          <a:prstGeom prst="rect">
            <a:avLst/>
          </a:prstGeom>
          <a:noFill/>
          <a:ln/>
        </p:spPr>
        <p:txBody>
          <a:bodyPr wrap="square" lIns="0" tIns="0" rIns="0" bIns="0" rtlCol="0" anchor="t">
            <a:normAutofit lnSpcReduction="10000"/>
          </a:bodyPr>
          <a:lstStyle/>
          <a:p>
            <a:pPr marL="0" indent="0">
              <a:lnSpc>
                <a:spcPct val="102000"/>
              </a:lnSpc>
              <a:buNone/>
            </a:pPr>
            <a:r>
              <a:rPr lang="rw-RW" sz="1600" b="1" dirty="0">
                <a:solidFill>
                  <a:srgbClr val="B06A08"/>
                </a:solidFill>
                <a:latin typeface="Calibri" pitchFamily="34" charset="0"/>
                <a:ea typeface="Calibri" pitchFamily="34" charset="-122"/>
                <a:cs typeface="Calibri" pitchFamily="34" charset="-120"/>
              </a:rPr>
              <a:t>Ibirebana n'iyi mibare</a:t>
            </a:r>
            <a:endParaRPr lang="rw-RW" sz="1600" dirty="0"/>
          </a:p>
          <a:p>
            <a:pPr marL="0" indent="0">
              <a:lnSpc>
                <a:spcPct val="102000"/>
              </a:lnSpc>
              <a:buNone/>
            </a:pPr>
            <a:r>
              <a:rPr lang="rw-RW" sz="1300" dirty="0">
                <a:solidFill>
                  <a:srgbClr val="203864"/>
                </a:solidFill>
                <a:latin typeface="Calibri" pitchFamily="34" charset="0"/>
                <a:ea typeface="Calibri" pitchFamily="34" charset="-122"/>
                <a:cs typeface="Calibri" pitchFamily="34" charset="-120"/>
              </a:rPr>
              <a:t>Abaturage: abagore mu Rwanda, imyaka yose. Umwaka 2024: mu 2024. Igipimo: umubare ugereranyijwe w'abarwaye bashya mu mwaka umwe. Inkomoko: IARC Global Cancer Observatory, GLOBOCAN 2024. Iyi ni imibare y'agereranyo yakozwe hakoreshejwe icyitegererezo, si umubare wuzuye w'abarwaye banditswe.</a:t>
            </a:r>
            <a:endParaRPr lang="rw-RW" sz="1600" dirty="0"/>
          </a:p>
        </p:txBody>
      </p:sp>
      <p:sp>
        <p:nvSpPr>
          <p:cNvPr id="9" name="Text 6"/>
          <p:cNvSpPr txBox="1"/>
          <p:nvPr/>
        </p:nvSpPr>
        <p:spPr>
          <a:xfrm>
            <a:off x="548640" y="5669280"/>
            <a:ext cx="11091672" cy="365760"/>
          </a:xfrm>
          <a:prstGeom prst="rect">
            <a:avLst/>
          </a:prstGeom>
          <a:noFill/>
          <a:ln/>
        </p:spPr>
        <p:txBody>
          <a:bodyPr wrap="square" lIns="0" tIns="0" rIns="0" bIns="0" rtlCol="0" anchor="ctr"/>
          <a:lstStyle/>
          <a:p>
            <a:pPr marL="0" indent="0">
              <a:buNone/>
            </a:pPr>
            <a:r>
              <a:rPr lang="rw-RW" sz="1200" dirty="0">
                <a:solidFill>
                  <a:srgbClr val="7B8AA0"/>
                </a:solidFill>
                <a:latin typeface="Calibri" pitchFamily="34" charset="0"/>
                <a:ea typeface="Calibri" pitchFamily="34" charset="-122"/>
                <a:cs typeface="Calibri" pitchFamily="34" charset="-120"/>
              </a:rPr>
              <a:t>Inkomoko: IARC Global Cancer Observatory, GLOBOCAN 2024, imibare y'agereranyo y'u Rwanda, abagore, imyaka yose.</a:t>
            </a:r>
            <a:endParaRPr lang="rw-RW" sz="1200" dirty="0"/>
          </a:p>
        </p:txBody>
      </p:sp>
      <p:sp>
        <p:nvSpPr>
          <p:cNvPr id="10" name="Text 7"/>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1" name="Text 8"/>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36</a:t>
            </a:r>
            <a:endParaRPr lang="rw-RW"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U RWANDA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Byabonetse bitinze</a:t>
            </a:r>
            <a:endParaRPr lang="rw-RW" sz="3000" dirty="0"/>
          </a:p>
        </p:txBody>
      </p:sp>
      <p:sp>
        <p:nvSpPr>
          <p:cNvPr id="4" name="Text 2"/>
          <p:cNvSpPr txBox="1"/>
          <p:nvPr/>
        </p:nvSpPr>
        <p:spPr>
          <a:xfrm>
            <a:off x="548640" y="1371600"/>
            <a:ext cx="11091672" cy="411480"/>
          </a:xfrm>
          <a:prstGeom prst="rect">
            <a:avLst/>
          </a:prstGeom>
          <a:noFill/>
          <a:ln/>
        </p:spPr>
        <p:txBody>
          <a:bodyPr wrap="square" lIns="0" tIns="0" rIns="0" bIns="0" rtlCol="0" anchor="ctr">
            <a:normAutofit fontScale="93000"/>
          </a:bodyPr>
          <a:lstStyle/>
          <a:p>
            <a:pPr marL="0" indent="0">
              <a:buNone/>
            </a:pPr>
            <a:r>
              <a:rPr lang="rw-RW" sz="1800" dirty="0">
                <a:solidFill>
                  <a:srgbClr val="203864"/>
                </a:solidFill>
                <a:latin typeface="Calibri" pitchFamily="34" charset="0"/>
                <a:ea typeface="Calibri" pitchFamily="34" charset="-122"/>
                <a:cs typeface="Calibri" pitchFamily="34" charset="-120"/>
              </a:rPr>
              <a:t>Ikibazo mu Rwanda si umubare w'abantu barwaye kanseri y'ibere gusa. Ikibazo ni uburyo ikunze kugaragara itinze.</a:t>
            </a:r>
            <a:endParaRPr lang="rw-RW" sz="1800" dirty="0"/>
          </a:p>
        </p:txBody>
      </p:sp>
      <p:sp>
        <p:nvSpPr>
          <p:cNvPr id="5" name="Shape 3"/>
          <p:cNvSpPr/>
          <p:nvPr/>
        </p:nvSpPr>
        <p:spPr>
          <a:xfrm>
            <a:off x="548640" y="1828800"/>
            <a:ext cx="3483864" cy="1965960"/>
          </a:xfrm>
          <a:prstGeom prst="roundRect">
            <a:avLst>
              <a:gd name="adj" fmla="val 3721"/>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31520" y="2029968"/>
            <a:ext cx="3118104" cy="822960"/>
          </a:xfrm>
          <a:prstGeom prst="rect">
            <a:avLst/>
          </a:prstGeom>
          <a:noFill/>
          <a:ln/>
        </p:spPr>
        <p:txBody>
          <a:bodyPr wrap="square" lIns="0" tIns="0" rIns="0" bIns="0" rtlCol="0" anchor="ctr"/>
          <a:lstStyle/>
          <a:p>
            <a:pPr marL="0" indent="0" algn="ctr">
              <a:buNone/>
            </a:pPr>
            <a:r>
              <a:rPr lang="rw-RW" sz="4800" b="1" dirty="0">
                <a:solidFill>
                  <a:srgbClr val="2E5C8A"/>
                </a:solidFill>
                <a:latin typeface="Calibri" pitchFamily="34" charset="0"/>
                <a:ea typeface="Calibri" pitchFamily="34" charset="-122"/>
                <a:cs typeface="Calibri" pitchFamily="34" charset="-120"/>
              </a:rPr>
              <a:t>73%</a:t>
            </a:r>
            <a:endParaRPr lang="rw-RW" sz="4800" dirty="0"/>
          </a:p>
        </p:txBody>
      </p:sp>
      <p:sp>
        <p:nvSpPr>
          <p:cNvPr id="7" name="Text 5"/>
          <p:cNvSpPr txBox="1"/>
          <p:nvPr/>
        </p:nvSpPr>
        <p:spPr>
          <a:xfrm>
            <a:off x="768096" y="2889504"/>
            <a:ext cx="3044952" cy="777240"/>
          </a:xfrm>
          <a:prstGeom prst="rect">
            <a:avLst/>
          </a:prstGeom>
          <a:noFill/>
          <a:ln/>
        </p:spPr>
        <p:txBody>
          <a:bodyPr wrap="square" lIns="0" tIns="0" rIns="0" bIns="0" rtlCol="0" anchor="t">
            <a:normAutofit fontScale="93000"/>
          </a:bodyPr>
          <a:lstStyle/>
          <a:p>
            <a:pPr marL="0" indent="0" algn="ctr">
              <a:buNone/>
            </a:pPr>
            <a:r>
              <a:rPr lang="rw-RW" sz="1800" dirty="0">
                <a:solidFill>
                  <a:srgbClr val="203864"/>
                </a:solidFill>
                <a:latin typeface="Calibri" pitchFamily="34" charset="0"/>
                <a:ea typeface="Calibri" pitchFamily="34" charset="-122"/>
                <a:cs typeface="Calibri" pitchFamily="34" charset="-120"/>
              </a:rPr>
              <a:t>Kanseri z'ibere zifite ibyiciro byanditswe mu 2023 zari zaramaze kwiyongera</a:t>
            </a:r>
            <a:endParaRPr lang="rw-RW" sz="1800" dirty="0"/>
          </a:p>
        </p:txBody>
      </p:sp>
      <p:sp>
        <p:nvSpPr>
          <p:cNvPr id="8" name="Shape 6"/>
          <p:cNvSpPr/>
          <p:nvPr/>
        </p:nvSpPr>
        <p:spPr>
          <a:xfrm>
            <a:off x="4352544" y="1828800"/>
            <a:ext cx="3483864" cy="1965960"/>
          </a:xfrm>
          <a:prstGeom prst="roundRect">
            <a:avLst>
              <a:gd name="adj" fmla="val 3721"/>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4535424" y="2029968"/>
            <a:ext cx="3118104" cy="822960"/>
          </a:xfrm>
          <a:prstGeom prst="rect">
            <a:avLst/>
          </a:prstGeom>
          <a:noFill/>
          <a:ln/>
        </p:spPr>
        <p:txBody>
          <a:bodyPr wrap="square" lIns="0" tIns="0" rIns="0" bIns="0" rtlCol="0" anchor="ctr">
            <a:normAutofit fontScale="85000" lnSpcReduction="10000"/>
          </a:bodyPr>
          <a:lstStyle/>
          <a:p>
            <a:pPr marL="0" indent="0" algn="ctr">
              <a:buNone/>
            </a:pPr>
            <a:r>
              <a:rPr lang="rw-RW" sz="4800" b="1" dirty="0">
                <a:solidFill>
                  <a:srgbClr val="2E5C8A"/>
                </a:solidFill>
                <a:latin typeface="Calibri" pitchFamily="34" charset="0"/>
                <a:ea typeface="Calibri" pitchFamily="34" charset="-122"/>
                <a:cs typeface="Calibri" pitchFamily="34" charset="-120"/>
              </a:rPr>
              <a:t>Munsi ya 50%</a:t>
            </a:r>
            <a:endParaRPr lang="rw-RW" sz="4800" dirty="0"/>
          </a:p>
        </p:txBody>
      </p:sp>
      <p:sp>
        <p:nvSpPr>
          <p:cNvPr id="10" name="Text 8"/>
          <p:cNvSpPr txBox="1"/>
          <p:nvPr/>
        </p:nvSpPr>
        <p:spPr>
          <a:xfrm>
            <a:off x="4572000" y="2889504"/>
            <a:ext cx="3044952" cy="777240"/>
          </a:xfrm>
          <a:prstGeom prst="rect">
            <a:avLst/>
          </a:prstGeom>
          <a:noFill/>
          <a:ln/>
        </p:spPr>
        <p:txBody>
          <a:bodyPr wrap="square" lIns="0" tIns="0" rIns="0" bIns="0" rtlCol="0" anchor="t"/>
          <a:lstStyle/>
          <a:p>
            <a:pPr marL="0" indent="0" algn="ctr">
              <a:buNone/>
            </a:pPr>
            <a:r>
              <a:rPr lang="rw-RW" sz="1800" dirty="0">
                <a:solidFill>
                  <a:srgbClr val="203864"/>
                </a:solidFill>
                <a:latin typeface="Calibri" pitchFamily="34" charset="0"/>
                <a:ea typeface="Calibri" pitchFamily="34" charset="-122"/>
                <a:cs typeface="Calibri" pitchFamily="34" charset="-120"/>
              </a:rPr>
              <a:t>Intego y’igihugu mu kuvumbura indwara itarakwirakwira 2029</a:t>
            </a:r>
            <a:endParaRPr lang="rw-RW" sz="1800" dirty="0"/>
          </a:p>
        </p:txBody>
      </p:sp>
      <p:sp>
        <p:nvSpPr>
          <p:cNvPr id="11" name="Shape 9"/>
          <p:cNvSpPr/>
          <p:nvPr/>
        </p:nvSpPr>
        <p:spPr>
          <a:xfrm>
            <a:off x="8156448" y="1828800"/>
            <a:ext cx="3483864" cy="1965960"/>
          </a:xfrm>
          <a:prstGeom prst="roundRect">
            <a:avLst>
              <a:gd name="adj" fmla="val 3721"/>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8339328" y="2029968"/>
            <a:ext cx="3118104" cy="822960"/>
          </a:xfrm>
          <a:prstGeom prst="rect">
            <a:avLst/>
          </a:prstGeom>
          <a:noFill/>
          <a:ln/>
        </p:spPr>
        <p:txBody>
          <a:bodyPr wrap="square" lIns="0" tIns="0" rIns="0" bIns="0" rtlCol="0" anchor="ctr"/>
          <a:lstStyle/>
          <a:p>
            <a:pPr marL="0" indent="0" algn="ctr">
              <a:buNone/>
            </a:pPr>
            <a:r>
              <a:rPr lang="rw-RW" sz="4800" b="1" dirty="0">
                <a:solidFill>
                  <a:srgbClr val="2E5C8A"/>
                </a:solidFill>
                <a:latin typeface="Calibri" pitchFamily="34" charset="0"/>
                <a:ea typeface="Calibri" pitchFamily="34" charset="-122"/>
                <a:cs typeface="Calibri" pitchFamily="34" charset="-120"/>
              </a:rPr>
              <a:t>521,143</a:t>
            </a:r>
            <a:endParaRPr lang="rw-RW" sz="4800" dirty="0"/>
          </a:p>
        </p:txBody>
      </p:sp>
      <p:sp>
        <p:nvSpPr>
          <p:cNvPr id="13" name="Text 11"/>
          <p:cNvSpPr txBox="1"/>
          <p:nvPr/>
        </p:nvSpPr>
        <p:spPr>
          <a:xfrm>
            <a:off x="8375904" y="2889504"/>
            <a:ext cx="3044952" cy="777240"/>
          </a:xfrm>
          <a:prstGeom prst="rect">
            <a:avLst/>
          </a:prstGeom>
          <a:noFill/>
          <a:ln/>
        </p:spPr>
        <p:txBody>
          <a:bodyPr wrap="square" lIns="0" tIns="0" rIns="0" bIns="0" rtlCol="0" anchor="t"/>
          <a:lstStyle/>
          <a:p>
            <a:pPr marL="0" indent="0" algn="ctr">
              <a:buNone/>
            </a:pPr>
            <a:r>
              <a:rPr lang="rw-RW" sz="1800" dirty="0">
                <a:solidFill>
                  <a:srgbClr val="203864"/>
                </a:solidFill>
                <a:latin typeface="Calibri" pitchFamily="34" charset="0"/>
                <a:ea typeface="Calibri" pitchFamily="34" charset="-122"/>
                <a:cs typeface="Calibri" pitchFamily="34" charset="-120"/>
              </a:rPr>
              <a:t>Ibizamini by'amabere byakorewe mu Rwanda hagati ya 2019 na 2024</a:t>
            </a:r>
            <a:endParaRPr lang="rw-RW" sz="1800" dirty="0"/>
          </a:p>
        </p:txBody>
      </p:sp>
      <p:sp>
        <p:nvSpPr>
          <p:cNvPr id="14" name="Text 12"/>
          <p:cNvSpPr txBox="1"/>
          <p:nvPr/>
        </p:nvSpPr>
        <p:spPr>
          <a:xfrm>
            <a:off x="548640" y="3959352"/>
            <a:ext cx="11091672" cy="411480"/>
          </a:xfrm>
          <a:prstGeom prst="rect">
            <a:avLst/>
          </a:prstGeom>
          <a:noFill/>
          <a:ln/>
        </p:spPr>
        <p:txBody>
          <a:bodyPr wrap="square" lIns="0" tIns="0" rIns="0" bIns="0" rtlCol="0" anchor="ctr"/>
          <a:lstStyle/>
          <a:p>
            <a:pPr marL="0" indent="0">
              <a:buNone/>
            </a:pPr>
            <a:r>
              <a:rPr lang="rw-RW" sz="1200" dirty="0">
                <a:solidFill>
                  <a:srgbClr val="7B8AA0"/>
                </a:solidFill>
                <a:latin typeface="Calibri" pitchFamily="34" charset="0"/>
                <a:ea typeface="Calibri" pitchFamily="34" charset="-122"/>
                <a:cs typeface="Calibri" pitchFamily="34" charset="-120"/>
              </a:rPr>
              <a:t>Inkomoko: Repubulika y'u Rwanda, Minisiteri y'ubuzima. Gahunda y'igihugu yo kurwanya Kanseri ya 2025-2029.</a:t>
            </a:r>
            <a:endParaRPr lang="rw-RW" sz="1200" dirty="0"/>
          </a:p>
        </p:txBody>
      </p:sp>
      <p:sp>
        <p:nvSpPr>
          <p:cNvPr id="15" name="Shape 13"/>
          <p:cNvSpPr/>
          <p:nvPr/>
        </p:nvSpPr>
        <p:spPr>
          <a:xfrm>
            <a:off x="548640" y="4462272"/>
            <a:ext cx="11091672" cy="777240"/>
          </a:xfrm>
          <a:prstGeom prst="roundRect">
            <a:avLst>
              <a:gd name="adj" fmla="val 9412"/>
            </a:avLst>
          </a:prstGeom>
          <a:solidFill>
            <a:srgbClr val="FDF6E3"/>
          </a:solidFill>
          <a:ln w="12700">
            <a:solidFill>
              <a:srgbClr val="E6D4A3"/>
            </a:solidFill>
            <a:prstDash val="solid"/>
          </a:ln>
        </p:spPr>
        <p:txBody>
          <a:bodyPr/>
          <a:lstStyle/>
          <a:p>
            <a:endParaRPr lang="rw-RW" dirty="0"/>
          </a:p>
        </p:txBody>
      </p:sp>
      <p:sp>
        <p:nvSpPr>
          <p:cNvPr id="16" name="Text 14"/>
          <p:cNvSpPr txBox="1"/>
          <p:nvPr/>
        </p:nvSpPr>
        <p:spPr>
          <a:xfrm>
            <a:off x="749808" y="4517136"/>
            <a:ext cx="10689336" cy="667512"/>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Icyo ibi bisobanuye kuri wowe: </a:t>
            </a:r>
            <a:r>
              <a:rPr lang="rw-RW" sz="1800" dirty="0">
                <a:solidFill>
                  <a:srgbClr val="203864"/>
                </a:solidFill>
                <a:latin typeface="Calibri" pitchFamily="34" charset="0"/>
                <a:ea typeface="Calibri" pitchFamily="34" charset="-122"/>
                <a:cs typeface="Calibri" pitchFamily="34" charset="-120"/>
              </a:rPr>
              <a:t>Abantu benshi bahagera indwara yaramaze gukura. Mu muryango cyangwa mu baturage niho uku gutinda gutangirira, n'aho bishobora guhindurirwa.</a:t>
            </a:r>
            <a:endParaRPr lang="rw-RW" sz="1800"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37</a:t>
            </a:r>
            <a:endParaRPr lang="rw-RW"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RWANDA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Icyo iyi mibare isobanuye ku wowe</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Ni ibintu bisanzwe. </a:t>
            </a:r>
            <a:r>
              <a:rPr lang="rw-RW" sz="1800" dirty="0">
                <a:solidFill>
                  <a:srgbClr val="203864"/>
                </a:solidFill>
                <a:latin typeface="Calibri" pitchFamily="34" charset="0"/>
                <a:ea typeface="Calibri" pitchFamily="34" charset="-122"/>
                <a:cs typeface="Calibri" pitchFamily="34" charset="-120"/>
              </a:rPr>
              <a:t>Kanseri y'ibere yibasira abagore benshi mu Rwanda buri mwaka, haba mu bice by’icyaro no mu mijyi.</a:t>
            </a:r>
            <a:endParaRPr lang="rw-RW" sz="1800" dirty="0"/>
          </a:p>
        </p:txBody>
      </p:sp>
      <p:sp>
        <p:nvSpPr>
          <p:cNvPr id="6" name="Shape 4"/>
          <p:cNvSpPr/>
          <p:nvPr/>
        </p:nvSpPr>
        <p:spPr>
          <a:xfrm>
            <a:off x="630936" y="2286000"/>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Ni ibintu bikomeye. </a:t>
            </a:r>
            <a:r>
              <a:rPr lang="rw-RW" sz="1800" dirty="0">
                <a:solidFill>
                  <a:srgbClr val="203864"/>
                </a:solidFill>
                <a:latin typeface="Calibri" pitchFamily="34" charset="0"/>
                <a:ea typeface="Calibri" pitchFamily="34" charset="-122"/>
                <a:cs typeface="Calibri" pitchFamily="34" charset="-120"/>
              </a:rPr>
              <a:t>Abagore benshi bapfa bazize iyi ndwara, akenshi bitewe n'uko yabonetse imaze gukura.</a:t>
            </a:r>
            <a:endParaRPr lang="rw-RW" sz="1800" dirty="0"/>
          </a:p>
        </p:txBody>
      </p:sp>
      <p:sp>
        <p:nvSpPr>
          <p:cNvPr id="8" name="Shape 6"/>
          <p:cNvSpPr/>
          <p:nvPr/>
        </p:nvSpPr>
        <p:spPr>
          <a:xfrm>
            <a:off x="630936" y="3072384"/>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Akenshi umuntu ni we ubimenya. </a:t>
            </a:r>
            <a:r>
              <a:rPr lang="rw-RW" sz="1800" dirty="0">
                <a:solidFill>
                  <a:srgbClr val="203864"/>
                </a:solidFill>
                <a:latin typeface="Calibri" pitchFamily="34" charset="0"/>
                <a:ea typeface="Calibri" pitchFamily="34" charset="-122"/>
                <a:cs typeface="Calibri" pitchFamily="34" charset="-120"/>
              </a:rPr>
              <a:t>Kanseri nyinshi z'ibere ziboneka bitewe n'uko umuntu yabonye impinduka, atari uko yakorewe ibizamini.</a:t>
            </a:r>
            <a:endParaRPr lang="rw-RW" sz="1800" dirty="0"/>
          </a:p>
        </p:txBody>
      </p:sp>
      <p:sp>
        <p:nvSpPr>
          <p:cNvPr id="10" name="Shape 8"/>
          <p:cNvSpPr/>
          <p:nvPr/>
        </p:nvSpPr>
        <p:spPr>
          <a:xfrm>
            <a:off x="630936" y="3858768"/>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Gutera intambwe hakiri kare bihindura ibisubizo. </a:t>
            </a:r>
            <a:r>
              <a:rPr lang="rw-RW" sz="1800" dirty="0">
                <a:solidFill>
                  <a:srgbClr val="203864"/>
                </a:solidFill>
                <a:latin typeface="Calibri" pitchFamily="34" charset="0"/>
                <a:ea typeface="Calibri" pitchFamily="34" charset="-122"/>
                <a:cs typeface="Calibri" pitchFamily="34" charset="-120"/>
              </a:rPr>
              <a:t>Umuntu wese usuzumwa mu minsi mike aho kuba amezi aba afite amahirwe menshi yo kuvurwa neza.</a:t>
            </a:r>
            <a:endParaRPr lang="rw-RW" sz="1800" dirty="0"/>
          </a:p>
        </p:txBody>
      </p:sp>
      <p:sp>
        <p:nvSpPr>
          <p:cNvPr id="12" name="Shape 10"/>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3" name="Text 11"/>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Uruhare rwawe: </a:t>
            </a:r>
            <a:r>
              <a:rPr lang="rw-RW" sz="1800" dirty="0">
                <a:solidFill>
                  <a:srgbClr val="203864"/>
                </a:solidFill>
                <a:latin typeface="Calibri" pitchFamily="34" charset="0"/>
                <a:ea typeface="Calibri" pitchFamily="34" charset="-122"/>
                <a:cs typeface="Calibri" pitchFamily="34" charset="-120"/>
              </a:rPr>
              <a:t>ntiwemeza ko umuntu arwaye cyangwa atarwaye. Ahubwo urabona, urasobanura, ugashishikariza, ubundi ukagenzura ko gahunda yubahirizwa</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38</a:t>
            </a:r>
            <a:endParaRPr lang="rw-RW"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1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Kanseri y'ibere itangirira mu kihe gice cy'umubiri?</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Amagufwa</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Mu ibere, akenshi mu miyoboro mito itwara amata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Umugongo wo hasi</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Igifu</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Kanseri y'ibere itangirira mu ibere ubwaryo. Kumenya ibi bigufasha gusobanura impamvu ibere n'ukwaha bisuzumwa, n'impamvu ikibyimba mukwaha ari igice kimwe cy'igenzura.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39</a:t>
            </a:r>
            <a:endParaRPr lang="rw-RW" sz="900" dirty="0"/>
          </a:p>
        </p:txBody>
      </p:sp>
    </p:spTree>
    <p:extLst>
      <p:ext uri="{BB962C8B-B14F-4D97-AF65-F5344CB8AC3E}">
        <p14:creationId xmlns:p14="http://schemas.microsoft.com/office/powerpoint/2010/main" val="11612058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2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yabonye ikibyimba mu ibere. Ni iki cy'ukuri?</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Nta kibazo kuko ikibyimba kitababaza</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Ibibyimba byinshi ntabwo ari kanseri, kandi buri kibyimba gishya gikeneye gusuzumwa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Agomba gutegereza amezi atatu kugira ngo arebe niba gikura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Nta gushidikanya ko ari kanseri</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Ibibyimba byinshi by'amabere ntabwo ari kanseri, bityo ntibikwiye ko ugira ubwoba. Nta muntu n'umwe ushobora kumenya ko ari kanseri akoresheje gukoraho, bityo igenzura ni ryo rikemura, kandi gutegereza bitwara igihe gusa ntacyo bikemura.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40</a:t>
            </a:r>
            <a:endParaRPr lang="rw-RW" sz="900" dirty="0"/>
          </a:p>
        </p:txBody>
      </p:sp>
    </p:spTree>
    <p:extLst>
      <p:ext uri="{BB962C8B-B14F-4D97-AF65-F5344CB8AC3E}">
        <p14:creationId xmlns:p14="http://schemas.microsoft.com/office/powerpoint/2010/main" val="18596952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3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Umugabo akubwira ko afite ikibyimba gito inyuma y'amabere ye. Ni iki umubwira?</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Agomba gutegereza kugeza igihe azumva ari kubabara</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Umugabo ntashobora kurwara kanseri y'ibere, niyo mpamvu akwiye kukirengagiza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Agomba kubyihererana</a:t>
            </a:r>
            <a:endParaRPr lang="rw-RW" sz="1800" dirty="0"/>
          </a:p>
        </p:txBody>
      </p:sp>
      <p:sp>
        <p:nvSpPr>
          <p:cNvPr id="11" name="Shape 9"/>
          <p:cNvSpPr/>
          <p:nvPr/>
        </p:nvSpPr>
        <p:spPr>
          <a:xfrm>
            <a:off x="548640" y="376732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Kanseri y'ibere ntikunze kugaragara ku bagabo ariko irashoboka; ni yo mpamvu akabyimba kagomba gusuzumirwa ku ivuriro</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Abagabo bagira ibice bike by'amabere kandi bashobora kurwara kanseri y'ibere. Kubera ko bibaho gake, abagabo bakunze gutegereza igihe kirekire, kandi gutinda ni byo bituma ingaruka zirushaho kuba mbi.</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41</a:t>
            </a:r>
            <a:endParaRPr lang="rw-RW" sz="900" dirty="0"/>
          </a:p>
        </p:txBody>
      </p:sp>
    </p:spTree>
    <p:extLst>
      <p:ext uri="{BB962C8B-B14F-4D97-AF65-F5344CB8AC3E}">
        <p14:creationId xmlns:p14="http://schemas.microsoft.com/office/powerpoint/2010/main" val="25201755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4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Kanseri y'ibere ihangayikishije ku ruhe rwego mu bagore bo mu Rwanda?</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Yibasira abagore n’abagabo ku kigero kingana</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Ntikunze kubaho</a:t>
            </a:r>
            <a:endParaRPr lang="rw-RW" sz="1800" dirty="0"/>
          </a:p>
        </p:txBody>
      </p:sp>
      <p:sp>
        <p:nvSpPr>
          <p:cNvPr id="9" name="Shape 7"/>
          <p:cNvSpPr/>
          <p:nvPr/>
        </p:nvSpPr>
        <p:spPr>
          <a:xfrm>
            <a:off x="548640" y="313639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Niyo kanseri ikunze kwibasira abagore mu Rwanda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Yibasira gusa abagore barengeje imyaka 70 y’ubukure</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Mu mibare ya 2024, kanseri y'ibere ni yo kanseri ikunze kugaragara cyane ku bagore mu Rwanda, imbere gato ya kanseri y'inkondo y'umura. Umubare munini w'abarwayi baracyaboneka batinze, ari nacyo abajyanama b’ubuzima bashobora guhindura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42</a:t>
            </a:r>
            <a:endParaRPr lang="rw-RW" sz="900" dirty="0"/>
          </a:p>
        </p:txBody>
      </p:sp>
    </p:spTree>
    <p:extLst>
      <p:ext uri="{BB962C8B-B14F-4D97-AF65-F5344CB8AC3E}">
        <p14:creationId xmlns:p14="http://schemas.microsoft.com/office/powerpoint/2010/main" val="284105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Ibintu by'ingenzi</a:t>
            </a:r>
            <a:endParaRPr lang="rw-RW" sz="3000" dirty="0"/>
          </a:p>
        </p:txBody>
      </p:sp>
      <p:sp>
        <p:nvSpPr>
          <p:cNvPr id="4" name="Shape 2"/>
          <p:cNvSpPr/>
          <p:nvPr/>
        </p:nvSpPr>
        <p:spPr>
          <a:xfrm>
            <a:off x="548640" y="1463040"/>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822960" y="1463040"/>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Kanseri y'ibere itangirira mu ibere, aho uturemangingo tumwe na tumwe dutangira gukura mu buryo budasanzwe.</a:t>
            </a:r>
            <a:endParaRPr lang="rw-RW" sz="1800" dirty="0"/>
          </a:p>
        </p:txBody>
      </p:sp>
      <p:sp>
        <p:nvSpPr>
          <p:cNvPr id="6" name="Shape 4"/>
          <p:cNvSpPr/>
          <p:nvPr/>
        </p:nvSpPr>
        <p:spPr>
          <a:xfrm>
            <a:off x="548640" y="2322576"/>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822960" y="2322576"/>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Ishobora gukura, mu tubuto two mu kwaha, ndetse no mu bindi bice by'umubiri.</a:t>
            </a:r>
            <a:endParaRPr lang="rw-RW" sz="1800" dirty="0"/>
          </a:p>
        </p:txBody>
      </p:sp>
      <p:sp>
        <p:nvSpPr>
          <p:cNvPr id="8" name="Shape 6"/>
          <p:cNvSpPr/>
          <p:nvPr/>
        </p:nvSpPr>
        <p:spPr>
          <a:xfrm>
            <a:off x="548640" y="3182112"/>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22960" y="3182112"/>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Ibibyimba byinshi by'amabere ntabwo ari kanseri, kandi buri kibyimba gishya kigomba gusuzumwa.</a:t>
            </a:r>
            <a:endParaRPr lang="rw-RW" sz="1800" dirty="0"/>
          </a:p>
        </p:txBody>
      </p:sp>
      <p:sp>
        <p:nvSpPr>
          <p:cNvPr id="10" name="Shape 8"/>
          <p:cNvSpPr/>
          <p:nvPr/>
        </p:nvSpPr>
        <p:spPr>
          <a:xfrm>
            <a:off x="548640" y="4041648"/>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822960" y="4041648"/>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Kanseri y'ibere ishobora no kwibasira abagabo, ariko ntikunze kugaragara cyane.</a:t>
            </a:r>
            <a:endParaRPr lang="rw-RW" sz="1800" dirty="0"/>
          </a:p>
        </p:txBody>
      </p:sp>
      <p:sp>
        <p:nvSpPr>
          <p:cNvPr id="12" name="Shape 10"/>
          <p:cNvSpPr/>
          <p:nvPr/>
        </p:nvSpPr>
        <p:spPr>
          <a:xfrm>
            <a:off x="548640" y="4901184"/>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3" name="Text 11"/>
          <p:cNvSpPr txBox="1"/>
          <p:nvPr/>
        </p:nvSpPr>
        <p:spPr>
          <a:xfrm>
            <a:off x="822960" y="4901184"/>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Iyi kanseri ni yo ikunze kugaragara cyane ku bagore mu Rwanda, kandi abarwayi benshi bayimenya itinze.</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43</a:t>
            </a:r>
            <a:endParaRPr lang="rw-RW"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1 | KWIYUMVIRA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Kwisuzuma ku isomo ryatanzwe</a:t>
            </a:r>
            <a:endParaRPr lang="rw-RW" sz="3000" dirty="0"/>
          </a:p>
        </p:txBody>
      </p:sp>
      <p:sp>
        <p:nvSpPr>
          <p:cNvPr id="4" name="Text 2"/>
          <p:cNvSpPr txBox="1"/>
          <p:nvPr/>
        </p:nvSpPr>
        <p:spPr>
          <a:xfrm>
            <a:off x="548640" y="1371600"/>
            <a:ext cx="11091672" cy="36576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Amabwiriza ku wiga: </a:t>
            </a:r>
            <a:r>
              <a:rPr lang="rw-RW" sz="1800" dirty="0">
                <a:solidFill>
                  <a:srgbClr val="203864"/>
                </a:solidFill>
                <a:latin typeface="Calibri" pitchFamily="34" charset="0"/>
                <a:ea typeface="Calibri" pitchFamily="34" charset="-122"/>
                <a:cs typeface="Calibri" pitchFamily="34" charset="-120"/>
              </a:rPr>
              <a:t>Andika igisubizo cyawe mu kazu k'inyandiko. Ibi bisubizo ntibihabwa amanota.</a:t>
            </a:r>
            <a:endParaRPr lang="rw-RW" sz="1800" dirty="0"/>
          </a:p>
        </p:txBody>
      </p:sp>
      <p:sp>
        <p:nvSpPr>
          <p:cNvPr id="5" name="Shape 3"/>
          <p:cNvSpPr/>
          <p:nvPr/>
        </p:nvSpPr>
        <p:spPr>
          <a:xfrm>
            <a:off x="548640" y="1965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65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947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gute wasobanurira umuntu utarigeze amenya kanseri y'ibere?</a:t>
            </a:r>
            <a:endParaRPr lang="rw-RW" sz="1800" dirty="0"/>
          </a:p>
        </p:txBody>
      </p:sp>
      <p:sp>
        <p:nvSpPr>
          <p:cNvPr id="8" name="Shape 6"/>
          <p:cNvSpPr/>
          <p:nvPr/>
        </p:nvSpPr>
        <p:spPr>
          <a:xfrm>
            <a:off x="1115568" y="2441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9" name="Shape 7"/>
          <p:cNvSpPr/>
          <p:nvPr/>
        </p:nvSpPr>
        <p:spPr>
          <a:xfrm>
            <a:off x="548640" y="3108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0" name="Text 8"/>
          <p:cNvSpPr txBox="1"/>
          <p:nvPr/>
        </p:nvSpPr>
        <p:spPr>
          <a:xfrm>
            <a:off x="548640" y="3108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1" name="Text 9"/>
          <p:cNvSpPr txBox="1"/>
          <p:nvPr/>
        </p:nvSpPr>
        <p:spPr>
          <a:xfrm>
            <a:off x="1115568" y="3090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iki abantu bo mu gace kawe bemera ku byerekeye ibibyimba byo mu ibere?</a:t>
            </a:r>
            <a:endParaRPr lang="rw-RW" sz="1800" dirty="0"/>
          </a:p>
        </p:txBody>
      </p:sp>
      <p:sp>
        <p:nvSpPr>
          <p:cNvPr id="12" name="Shape 10"/>
          <p:cNvSpPr/>
          <p:nvPr/>
        </p:nvSpPr>
        <p:spPr>
          <a:xfrm>
            <a:off x="1115568" y="3584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3" name="Shape 11"/>
          <p:cNvSpPr/>
          <p:nvPr/>
        </p:nvSpPr>
        <p:spPr>
          <a:xfrm>
            <a:off x="548640" y="4251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4" name="Text 12"/>
          <p:cNvSpPr txBox="1"/>
          <p:nvPr/>
        </p:nvSpPr>
        <p:spPr>
          <a:xfrm>
            <a:off x="548640" y="4251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5" name="Text 13"/>
          <p:cNvSpPr txBox="1"/>
          <p:nvPr/>
        </p:nvSpPr>
        <p:spPr>
          <a:xfrm>
            <a:off x="1115568" y="4233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iki wabwira umugabo ufite ipfunwe ryo kuvuga ku mpinduka mu gituza cye?</a:t>
            </a:r>
            <a:endParaRPr lang="rw-RW" sz="1800" dirty="0"/>
          </a:p>
        </p:txBody>
      </p:sp>
      <p:sp>
        <p:nvSpPr>
          <p:cNvPr id="16" name="Shape 14"/>
          <p:cNvSpPr/>
          <p:nvPr/>
        </p:nvSpPr>
        <p:spPr>
          <a:xfrm>
            <a:off x="1115568" y="4727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44</a:t>
            </a:r>
            <a:endParaRPr lang="rw-RW"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1C3557"/>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463040"/>
          </a:xfrm>
          <a:prstGeom prst="rect">
            <a:avLst/>
          </a:prstGeom>
          <a:noFill/>
          <a:ln/>
        </p:spPr>
        <p:txBody>
          <a:bodyPr wrap="square" lIns="0" tIns="0" rIns="0" bIns="0" rtlCol="0" anchor="ctr"/>
          <a:lstStyle/>
          <a:p>
            <a:pPr marL="0" indent="0">
              <a:buNone/>
            </a:pPr>
            <a:r>
              <a:rPr lang="rw-RW" sz="9000" b="1" dirty="0">
                <a:solidFill>
                  <a:srgbClr val="3F6795"/>
                </a:solidFill>
                <a:latin typeface="Calibri" pitchFamily="34" charset="0"/>
                <a:ea typeface="Calibri" pitchFamily="34" charset="-122"/>
                <a:cs typeface="Calibri" pitchFamily="34" charset="-120"/>
              </a:rPr>
              <a:t>2</a:t>
            </a:r>
            <a:endParaRPr lang="rw-RW" sz="9000" dirty="0"/>
          </a:p>
        </p:txBody>
      </p:sp>
      <p:sp>
        <p:nvSpPr>
          <p:cNvPr id="3" name="Text 1"/>
          <p:cNvSpPr txBox="1"/>
          <p:nvPr/>
        </p:nvSpPr>
        <p:spPr>
          <a:xfrm>
            <a:off x="548640" y="2834640"/>
            <a:ext cx="11091672" cy="320040"/>
          </a:xfrm>
          <a:prstGeom prst="rect">
            <a:avLst/>
          </a:prstGeom>
          <a:noFill/>
          <a:ln/>
        </p:spPr>
        <p:txBody>
          <a:bodyPr wrap="square" lIns="0" tIns="0" rIns="0" bIns="0" rtlCol="0" anchor="ctr"/>
          <a:lstStyle/>
          <a:p>
            <a:pPr marL="0" indent="0">
              <a:buNone/>
            </a:pPr>
            <a:r>
              <a:rPr lang="rw-RW" sz="1300" b="1" kern="0" spc="400" dirty="0">
                <a:solidFill>
                  <a:srgbClr val="9FBAD8"/>
                </a:solidFill>
                <a:latin typeface="Calibri" pitchFamily="34" charset="0"/>
                <a:ea typeface="Calibri" pitchFamily="34" charset="-122"/>
                <a:cs typeface="Calibri" pitchFamily="34" charset="-120"/>
              </a:rPr>
              <a:t>I G I C E C Y A 2</a:t>
            </a:r>
            <a:endParaRPr lang="rw-RW" sz="1300" dirty="0"/>
          </a:p>
        </p:txBody>
      </p:sp>
      <p:sp>
        <p:nvSpPr>
          <p:cNvPr id="4" name="Text 2"/>
          <p:cNvSpPr txBox="1"/>
          <p:nvPr/>
        </p:nvSpPr>
        <p:spPr>
          <a:xfrm>
            <a:off x="548640" y="3200400"/>
            <a:ext cx="10424160" cy="1005840"/>
          </a:xfrm>
          <a:prstGeom prst="rect">
            <a:avLst/>
          </a:prstGeom>
          <a:noFill/>
          <a:ln/>
        </p:spPr>
        <p:txBody>
          <a:bodyPr wrap="square" lIns="0" tIns="0" rIns="0" bIns="0" rtlCol="0" anchor="ctr"/>
          <a:lstStyle/>
          <a:p>
            <a:pPr marL="0" indent="0">
              <a:buNone/>
            </a:pPr>
            <a:r>
              <a:rPr lang="rw-RW" sz="4000" b="1" dirty="0">
                <a:solidFill>
                  <a:srgbClr val="FFFFFF"/>
                </a:solidFill>
                <a:latin typeface="Calibri" pitchFamily="34" charset="0"/>
                <a:ea typeface="Calibri" pitchFamily="34" charset="-122"/>
                <a:cs typeface="Calibri" pitchFamily="34" charset="-120"/>
              </a:rPr>
              <a:t>Ibyo kwitega muri iri somo.</a:t>
            </a:r>
            <a:endParaRPr lang="rw-RW" sz="4000" dirty="0"/>
          </a:p>
        </p:txBody>
      </p:sp>
      <p:sp>
        <p:nvSpPr>
          <p:cNvPr id="5" name="Text 3"/>
          <p:cNvSpPr txBox="1"/>
          <p:nvPr/>
        </p:nvSpPr>
        <p:spPr>
          <a:xfrm>
            <a:off x="548640" y="4343400"/>
            <a:ext cx="9601200" cy="731520"/>
          </a:xfrm>
          <a:prstGeom prst="rect">
            <a:avLst/>
          </a:prstGeom>
          <a:noFill/>
          <a:ln/>
        </p:spPr>
        <p:txBody>
          <a:bodyPr wrap="square" lIns="0" tIns="0" rIns="0" bIns="0" rtlCol="0" anchor="ctr"/>
          <a:lstStyle/>
          <a:p>
            <a:pPr marL="0" indent="0">
              <a:buNone/>
            </a:pPr>
            <a:r>
              <a:rPr lang="rw-RW" sz="1900" dirty="0">
                <a:solidFill>
                  <a:srgbClr val="DCE7F5"/>
                </a:solidFill>
                <a:latin typeface="Calibri" pitchFamily="34" charset="0"/>
                <a:ea typeface="Calibri" pitchFamily="34" charset="-122"/>
                <a:cs typeface="Calibri" pitchFamily="34" charset="-120"/>
              </a:rPr>
              <a:t>Ni iki cyongera ibyago, impinduka z'amabere zikeneye gusuzumwa, n'impinduka zikeneye kwitabwaho byihuse.</a:t>
            </a:r>
            <a:endParaRPr lang="rw-RW" sz="1900" dirty="0"/>
          </a:p>
        </p:txBody>
      </p:sp>
      <p:sp>
        <p:nvSpPr>
          <p:cNvPr id="6" name="Text 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E9AC0"/>
                </a:solidFill>
                <a:latin typeface="Calibri" pitchFamily="34" charset="0"/>
                <a:ea typeface="Calibri" pitchFamily="34" charset="-122"/>
                <a:cs typeface="Calibri" pitchFamily="34" charset="-120"/>
              </a:rPr>
              <a:t>Igishushanyo cya 45</a:t>
            </a:r>
            <a:endParaRPr lang="rw-RW"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Intego zo kwiga</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Nyuma y’iri somo, uzaba ushobora:</a:t>
            </a:r>
            <a:endParaRPr lang="rw-RW" sz="1800" dirty="0"/>
          </a:p>
        </p:txBody>
      </p:sp>
      <p:sp>
        <p:nvSpPr>
          <p:cNvPr id="5" name="Shape 3"/>
          <p:cNvSpPr/>
          <p:nvPr/>
        </p:nvSpPr>
        <p:spPr>
          <a:xfrm>
            <a:off x="548640" y="19110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110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87452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amakuru ajyanye na kanseri y’ibere mu magambo umuturanyi yakumva, no kwigisha abagore kwisuzuma amabere.</a:t>
            </a:r>
            <a:endParaRPr lang="rw-RW" sz="1800" dirty="0"/>
          </a:p>
        </p:txBody>
      </p:sp>
      <p:sp>
        <p:nvSpPr>
          <p:cNvPr id="8" name="Shape 6"/>
          <p:cNvSpPr/>
          <p:nvPr/>
        </p:nvSpPr>
        <p:spPr>
          <a:xfrm>
            <a:off x="548640" y="26974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0" name="Text 8"/>
          <p:cNvSpPr txBox="1"/>
          <p:nvPr/>
        </p:nvSpPr>
        <p:spPr>
          <a:xfrm>
            <a:off x="1115568" y="266090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ibyongera ibyago byo kurwara kanseri y’ibere ntawe ushinje</a:t>
            </a:r>
            <a:endParaRPr lang="rw-RW" sz="1800" dirty="0"/>
          </a:p>
        </p:txBody>
      </p:sp>
      <p:sp>
        <p:nvSpPr>
          <p:cNvPr id="11" name="Shape 9"/>
          <p:cNvSpPr/>
          <p:nvPr/>
        </p:nvSpPr>
        <p:spPr>
          <a:xfrm>
            <a:off x="548640" y="348386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548640" y="348386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3" name="Text 11"/>
          <p:cNvSpPr txBox="1"/>
          <p:nvPr/>
        </p:nvSpPr>
        <p:spPr>
          <a:xfrm>
            <a:off x="1115568" y="344728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Kumenya impinduka z’ibere zikeneye gusuzumwa ku kigo nderabuzima.</a:t>
            </a:r>
            <a:endParaRPr lang="rw-RW" sz="1800" dirty="0"/>
          </a:p>
        </p:txBody>
      </p:sp>
      <p:sp>
        <p:nvSpPr>
          <p:cNvPr id="14" name="Shape 12"/>
          <p:cNvSpPr/>
          <p:nvPr/>
        </p:nvSpPr>
        <p:spPr>
          <a:xfrm>
            <a:off x="548640" y="427024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548640" y="427024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6" name="Text 14"/>
          <p:cNvSpPr txBox="1"/>
          <p:nvPr/>
        </p:nvSpPr>
        <p:spPr>
          <a:xfrm>
            <a:off x="1115568" y="423367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impamvu ikibyimba kitababaza gikeneye gusuzumwa.</a:t>
            </a:r>
            <a:endParaRPr lang="rw-RW" sz="1800" dirty="0"/>
          </a:p>
        </p:txBody>
      </p:sp>
      <p:sp>
        <p:nvSpPr>
          <p:cNvPr id="17" name="Shape 15"/>
          <p:cNvSpPr/>
          <p:nvPr/>
        </p:nvSpPr>
        <p:spPr>
          <a:xfrm>
            <a:off x="548640" y="505663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8" name="Text 16"/>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9" name="Text 17"/>
          <p:cNvSpPr txBox="1"/>
          <p:nvPr/>
        </p:nvSpPr>
        <p:spPr>
          <a:xfrm>
            <a:off x="1115568" y="5020056"/>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Kumenya impinduka zikeneye kwitabwaho byihuse.</a:t>
            </a:r>
            <a:endParaRPr lang="rw-RW" sz="1800" dirty="0"/>
          </a:p>
        </p:txBody>
      </p:sp>
      <p:sp>
        <p:nvSpPr>
          <p:cNvPr id="20" name="Text 1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1" name="Text 1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46</a:t>
            </a:r>
            <a:endParaRPr lang="rw-RW"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IKIBAZO CY'UMURYANGO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Ikibazo cy'umuryango: Uwimana Vestine</a:t>
            </a:r>
            <a:endParaRPr lang="rw-RW" sz="3000" dirty="0"/>
          </a:p>
        </p:txBody>
      </p:sp>
      <p:sp>
        <p:nvSpPr>
          <p:cNvPr id="8" name="Text 6"/>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9" name="Text 7"/>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47</a:t>
            </a:r>
            <a:endParaRPr lang="rw-RW"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INKURU YO MU MURYANGO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Ni iki wabwira Vestine?</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Vestine yemera ko ikibyimba kitababaza kidashobora kuba gikomeye. Igisubizo cyiza ni ikihe?</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Mubwire kukigenzura mu mezi atatu akurikiyeho.</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Mubwire ko ishobora kuba ari kanseri kugirango ahite ajya ku ivuriro.</a:t>
            </a:r>
            <a:endParaRPr lang="rw-RW" sz="1800" dirty="0"/>
          </a:p>
        </p:txBody>
      </p:sp>
      <p:sp>
        <p:nvSpPr>
          <p:cNvPr id="9" name="Shape 7"/>
          <p:cNvSpPr/>
          <p:nvPr/>
        </p:nvSpPr>
        <p:spPr>
          <a:xfrm>
            <a:off x="548640" y="313639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normAutofit fontScale="93000"/>
          </a:bodyP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Musobanurire ko kanseri z'ibere nyinshi zitababaza mu ntangiriro, ko ibibyimba byinshi atari kanseri, kandi ko uburyo bwonyine bwiza ari ukwisuzumisha, hanyuma umufashe gutegura urugendo rwo kwisuzumisha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Emeranya nawe, kuko ububabare nibwo bwerekana ko hari ikitagenda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Ububabare ntabwo ari ikimenyetso cyizewe. Kanseri nyinshi z'ibere ntizitera ububabare na gato mu ntangiriro, niyo mpamvu akenshi ikibyimba kitagira ububabare kirengagizwa. Kwemeranya na we bimutwara amezi menshi, kandi kumutera ubwoba akenshi bituma umuntu ahisha ikibazo.</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48</a:t>
            </a:r>
            <a:endParaRPr lang="rw-RW" sz="900" dirty="0"/>
          </a:p>
        </p:txBody>
      </p:sp>
    </p:spTree>
    <p:extLst>
      <p:ext uri="{BB962C8B-B14F-4D97-AF65-F5344CB8AC3E}">
        <p14:creationId xmlns:p14="http://schemas.microsoft.com/office/powerpoint/2010/main" val="34838154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KUMENYA AMABERE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Kumenya amabere mu nteruro enye</a:t>
            </a:r>
            <a:endParaRPr lang="rw-RW" sz="3000" dirty="0"/>
          </a:p>
        </p:txBody>
      </p:sp>
      <p:sp>
        <p:nvSpPr>
          <p:cNvPr id="12" name="Shape 10"/>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3" name="Text 11"/>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Vuga muri ubu buryo: </a:t>
            </a:r>
            <a:r>
              <a:rPr lang="rw-RW" sz="1800" dirty="0">
                <a:solidFill>
                  <a:srgbClr val="203864"/>
                </a:solidFill>
                <a:latin typeface="Calibri" pitchFamily="34" charset="0"/>
                <a:ea typeface="Calibri" pitchFamily="34" charset="-122"/>
                <a:cs typeface="Calibri" pitchFamily="34" charset="-120"/>
              </a:rPr>
              <a:t>Menya amabere yawe. Isuzume amabere rimwe mu kwezi, byiza nyuma y'imihango. Ubonye impinduka, genda wisuzumishe ku ivuriro cyangwa ku kigo nderabuzima mu masaha 48.</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49</a:t>
            </a:r>
            <a:endParaRPr lang="rw-RW" sz="900" dirty="0"/>
          </a:p>
        </p:txBody>
      </p:sp>
      <p:grpSp>
        <p:nvGrpSpPr>
          <p:cNvPr id="19" name="Grupo 18">
            <a:extLst>
              <a:ext uri="{FF2B5EF4-FFF2-40B4-BE49-F238E27FC236}">
                <a16:creationId xmlns:a16="http://schemas.microsoft.com/office/drawing/2014/main" id="{D1E3AEE1-34CA-D26E-663B-81EEF64E786D}"/>
              </a:ext>
            </a:extLst>
          </p:cNvPr>
          <p:cNvGrpSpPr/>
          <p:nvPr/>
        </p:nvGrpSpPr>
        <p:grpSpPr>
          <a:xfrm>
            <a:off x="548640" y="1325880"/>
            <a:ext cx="5408676" cy="1906524"/>
            <a:chOff x="548640" y="1325880"/>
            <a:chExt cx="5408676" cy="1906524"/>
          </a:xfrm>
        </p:grpSpPr>
        <p:sp>
          <p:nvSpPr>
            <p:cNvPr id="4" name="Shape 2"/>
            <p:cNvSpPr/>
            <p:nvPr/>
          </p:nvSpPr>
          <p:spPr>
            <a:xfrm>
              <a:off x="548640" y="1325880"/>
              <a:ext cx="5408676" cy="1906524"/>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5" y="1490472"/>
              <a:ext cx="2745423" cy="1613916"/>
            </a:xfrm>
            <a:prstGeom prst="rect">
              <a:avLst/>
            </a:prstGeom>
            <a:noFill/>
            <a:ln/>
          </p:spPr>
          <p:txBody>
            <a:bodyPr wrap="square" lIns="0" tIns="0" rIns="0" bIns="0" rtlCol="0" anchor="t">
              <a:normAutofit fontScale="96000" lnSpcReduction="1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Menya ibisanzwe kuri wowe</a:t>
              </a:r>
              <a:endParaRPr lang="rw-RW" sz="1800" dirty="0"/>
            </a:p>
            <a:p>
              <a:pPr marL="0" indent="0">
                <a:lnSpc>
                  <a:spcPct val="105000"/>
                </a:lnSpc>
                <a:buNone/>
              </a:pPr>
              <a:endParaRPr lang="rw-RW" sz="1800" dirty="0">
                <a:solidFill>
                  <a:srgbClr val="203864"/>
                </a:solidFill>
                <a:latin typeface="Calibri" pitchFamily="34" charset="0"/>
                <a:ea typeface="Calibri" pitchFamily="34" charset="-122"/>
                <a:cs typeface="Calibri" pitchFamily="34" charset="-120"/>
              </a:endParaRP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Amabere ahinduka bitewe n'umuntu ku wundi, kandi ahinduka uko imyaka igenda ishira n'uko ukwezi kugenda.</a:t>
              </a:r>
              <a:endParaRPr lang="rw-RW" sz="1800" dirty="0"/>
            </a:p>
          </p:txBody>
        </p:sp>
        <p:pic>
          <p:nvPicPr>
            <p:cNvPr id="17" name="Picture 16">
              <a:extLst>
                <a:ext uri="{FF2B5EF4-FFF2-40B4-BE49-F238E27FC236}">
                  <a16:creationId xmlns:a16="http://schemas.microsoft.com/office/drawing/2014/main" id="{869F83F3-A154-BAC7-8D77-79DC6AFFA3D8}"/>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3643069" y="1664084"/>
              <a:ext cx="2094790" cy="1396527"/>
            </a:xfrm>
            <a:prstGeom prst="rect">
              <a:avLst/>
            </a:prstGeom>
          </p:spPr>
        </p:pic>
      </p:grpSp>
      <p:grpSp>
        <p:nvGrpSpPr>
          <p:cNvPr id="21" name="Grupo 20">
            <a:extLst>
              <a:ext uri="{FF2B5EF4-FFF2-40B4-BE49-F238E27FC236}">
                <a16:creationId xmlns:a16="http://schemas.microsoft.com/office/drawing/2014/main" id="{C7BD7940-7EF0-880C-AB41-60322586E33D}"/>
              </a:ext>
            </a:extLst>
          </p:cNvPr>
          <p:cNvGrpSpPr/>
          <p:nvPr/>
        </p:nvGrpSpPr>
        <p:grpSpPr>
          <a:xfrm>
            <a:off x="6231636" y="1325880"/>
            <a:ext cx="5408676" cy="1915668"/>
            <a:chOff x="6231636" y="1325880"/>
            <a:chExt cx="5408676" cy="1915668"/>
          </a:xfrm>
        </p:grpSpPr>
        <p:sp>
          <p:nvSpPr>
            <p:cNvPr id="6" name="Shape 4"/>
            <p:cNvSpPr/>
            <p:nvPr/>
          </p:nvSpPr>
          <p:spPr>
            <a:xfrm>
              <a:off x="6231636" y="1325880"/>
              <a:ext cx="5408676" cy="1906524"/>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6451092" y="1490472"/>
              <a:ext cx="2598017" cy="161391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Menya impinduka</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gishya, cyangwa guhinduka kw’uruhu, imoko cyangwa ishusho.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t>
              </a:r>
              <a:endParaRPr lang="rw-RW" sz="1800" dirty="0"/>
            </a:p>
          </p:txBody>
        </p:sp>
        <p:pic>
          <p:nvPicPr>
            <p:cNvPr id="16" name="Imagen 15">
              <a:extLst>
                <a:ext uri="{FF2B5EF4-FFF2-40B4-BE49-F238E27FC236}">
                  <a16:creationId xmlns:a16="http://schemas.microsoft.com/office/drawing/2014/main" id="{9F434B5D-5964-F15A-3661-74E1617D6B24}"/>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9386876" y="1325880"/>
              <a:ext cx="1915668" cy="1915668"/>
            </a:xfrm>
            <a:prstGeom prst="rect">
              <a:avLst/>
            </a:prstGeom>
          </p:spPr>
        </p:pic>
      </p:grpSp>
      <p:grpSp>
        <p:nvGrpSpPr>
          <p:cNvPr id="23" name="Grupo 22">
            <a:extLst>
              <a:ext uri="{FF2B5EF4-FFF2-40B4-BE49-F238E27FC236}">
                <a16:creationId xmlns:a16="http://schemas.microsoft.com/office/drawing/2014/main" id="{DE34125F-BF17-55FA-8F56-FFFC1FFCADCC}"/>
              </a:ext>
            </a:extLst>
          </p:cNvPr>
          <p:cNvGrpSpPr/>
          <p:nvPr/>
        </p:nvGrpSpPr>
        <p:grpSpPr>
          <a:xfrm>
            <a:off x="548640" y="3506724"/>
            <a:ext cx="5408676" cy="1906524"/>
            <a:chOff x="548640" y="3506724"/>
            <a:chExt cx="5408676" cy="1906524"/>
          </a:xfrm>
        </p:grpSpPr>
        <p:sp>
          <p:nvSpPr>
            <p:cNvPr id="8" name="Shape 6"/>
            <p:cNvSpPr/>
            <p:nvPr/>
          </p:nvSpPr>
          <p:spPr>
            <a:xfrm>
              <a:off x="548640" y="3506724"/>
              <a:ext cx="5408676" cy="1906524"/>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768095" y="3671316"/>
              <a:ext cx="2699723" cy="161391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Ntugategereze ububabare</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Impinduka zitababaza nazo zikeneye gusuzumwa.</a:t>
              </a:r>
              <a:endParaRPr lang="rw-RW" sz="1800" dirty="0"/>
            </a:p>
          </p:txBody>
        </p:sp>
        <p:pic>
          <p:nvPicPr>
            <p:cNvPr id="18" name="Imagen 17">
              <a:extLst>
                <a:ext uri="{FF2B5EF4-FFF2-40B4-BE49-F238E27FC236}">
                  <a16:creationId xmlns:a16="http://schemas.microsoft.com/office/drawing/2014/main" id="{F230EDDB-ABEA-2161-8058-055F3A4F976C}"/>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742138" y="3672686"/>
              <a:ext cx="1603402" cy="1603402"/>
            </a:xfrm>
            <a:prstGeom prst="rect">
              <a:avLst/>
            </a:prstGeom>
          </p:spPr>
        </p:pic>
      </p:grpSp>
      <p:grpSp>
        <p:nvGrpSpPr>
          <p:cNvPr id="22" name="Grupo 21">
            <a:extLst>
              <a:ext uri="{FF2B5EF4-FFF2-40B4-BE49-F238E27FC236}">
                <a16:creationId xmlns:a16="http://schemas.microsoft.com/office/drawing/2014/main" id="{99B95FB5-3C80-356C-B7F2-85BF94602FC6}"/>
              </a:ext>
            </a:extLst>
          </p:cNvPr>
          <p:cNvGrpSpPr/>
          <p:nvPr/>
        </p:nvGrpSpPr>
        <p:grpSpPr>
          <a:xfrm>
            <a:off x="6231636" y="3506724"/>
            <a:ext cx="5408676" cy="1906524"/>
            <a:chOff x="6231636" y="3506724"/>
            <a:chExt cx="5408676" cy="1906524"/>
          </a:xfrm>
        </p:grpSpPr>
        <p:sp>
          <p:nvSpPr>
            <p:cNvPr id="10" name="Shape 8"/>
            <p:cNvSpPr/>
            <p:nvPr/>
          </p:nvSpPr>
          <p:spPr>
            <a:xfrm>
              <a:off x="6231636" y="3506724"/>
              <a:ext cx="5408676" cy="1906524"/>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6451092" y="3671316"/>
              <a:ext cx="2794434" cy="161391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Genda usuzumwe.</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Ubonye impinduka nshya cyangwa idasanzwe ku ibere, jya ku ivuriro cyangwa ku kigo nderabuzima aho kuyirebera mu rugo.</a:t>
              </a:r>
              <a:endParaRPr lang="rw-RW" sz="1800" dirty="0"/>
            </a:p>
          </p:txBody>
        </p:sp>
        <p:pic>
          <p:nvPicPr>
            <p:cNvPr id="20" name="Imagen 19">
              <a:extLst>
                <a:ext uri="{FF2B5EF4-FFF2-40B4-BE49-F238E27FC236}">
                  <a16:creationId xmlns:a16="http://schemas.microsoft.com/office/drawing/2014/main" id="{54FE3EDD-51FD-14E1-FC05-A0E569B5C829}"/>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9519846" y="3671316"/>
              <a:ext cx="1613916" cy="1613916"/>
            </a:xfrm>
            <a:prstGeom prst="rect">
              <a:avLst/>
            </a:prstGeom>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 313"/>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2 | KUMENYA AMABERE</a:t>
            </a:r>
            <a:endParaRPr lang="rw-RW" sz="1000" dirty="0"/>
          </a:p>
        </p:txBody>
      </p:sp>
      <p:sp>
        <p:nvSpPr>
          <p:cNvPr id="314" name="Text 314"/>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Uruhare rwawe: kwigisha, kuyobora, kohereza</a:t>
            </a:r>
            <a:endParaRPr lang="rw-RW" sz="3000" dirty="0"/>
          </a:p>
        </p:txBody>
      </p:sp>
      <p:sp>
        <p:nvSpPr>
          <p:cNvPr id="315" name="Text 315"/>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316" name="Text 316"/>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49A</a:t>
            </a:r>
            <a:endParaRPr lang="rw-RW" sz="900" dirty="0"/>
          </a:p>
        </p:txBody>
      </p:sp>
      <p:sp>
        <p:nvSpPr>
          <p:cNvPr id="301" name="Text 301"/>
          <p:cNvSpPr txBox="1"/>
          <p:nvPr/>
        </p:nvSpPr>
        <p:spPr>
          <a:xfrm>
            <a:off x="548640" y="1180000"/>
            <a:ext cx="11094415" cy="420000"/>
          </a:xfrm>
          <a:prstGeom prst="rect">
            <a:avLst/>
          </a:prstGeom>
          <a:noFill/>
          <a:ln/>
        </p:spPr>
        <p:txBody>
          <a:bodyPr wrap="square" lIns="0" tIns="0" rIns="0" bIns="0" rtlCol="0" anchor="t"/>
          <a:lstStyle/>
          <a:p>
            <a:pPr marL="0" indent="0" algn="l">
              <a:lnSpc>
                <a:spcPct val="95000"/>
              </a:lnSpc>
              <a:buNone/>
            </a:pPr>
            <a:r>
              <a:rPr lang="rw-RW" sz="1800" dirty="0">
                <a:solidFill>
                  <a:srgbClr val="203864"/>
                </a:solidFill>
                <a:latin typeface="Calibri" pitchFamily="34" charset="0"/>
                <a:ea typeface="Calibri" pitchFamily="34" charset="-122"/>
                <a:cs typeface="Calibri" pitchFamily="34" charset="-120"/>
              </a:rPr>
              <a:t>Umujyanama w'ubuzima ntasuzuma amabere y'abantu. Dore icyo ukora:</a:t>
            </a:r>
            <a:endParaRPr lang="rw-RW" sz="1800" dirty="0"/>
          </a:p>
        </p:txBody>
      </p:sp>
      <p:sp>
        <p:nvSpPr>
          <p:cNvPr id="302" name="Shape 302"/>
          <p:cNvSpPr/>
          <p:nvPr/>
        </p:nvSpPr>
        <p:spPr>
          <a:xfrm>
            <a:off x="548640" y="1680000"/>
            <a:ext cx="3425000" cy="172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03" name="Text 303"/>
          <p:cNvSpPr txBox="1"/>
          <p:nvPr/>
        </p:nvSpPr>
        <p:spPr>
          <a:xfrm>
            <a:off x="713232" y="1790000"/>
            <a:ext cx="3095816" cy="152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1F3864"/>
                </a:solidFill>
                <a:latin typeface="Calibri" pitchFamily="34" charset="0"/>
                <a:ea typeface="Calibri" pitchFamily="34" charset="-122"/>
                <a:cs typeface="Calibri" pitchFamily="34" charset="-120"/>
              </a:rPr>
              <a:t>1. Kwigisha</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Wigisha abagore ku buzima bw'amabere n'uburyo bwo kwisuzuma amabere buri kwezi.</a:t>
            </a:r>
            <a:endParaRPr lang="rw-RW" sz="1800" dirty="0"/>
          </a:p>
        </p:txBody>
      </p:sp>
      <p:sp>
        <p:nvSpPr>
          <p:cNvPr id="304" name="Shape 304"/>
          <p:cNvSpPr/>
          <p:nvPr/>
        </p:nvSpPr>
        <p:spPr>
          <a:xfrm>
            <a:off x="4123640" y="1680000"/>
            <a:ext cx="3425000" cy="172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05" name="Text 305"/>
          <p:cNvSpPr txBox="1"/>
          <p:nvPr/>
        </p:nvSpPr>
        <p:spPr>
          <a:xfrm>
            <a:off x="4288232" y="1790000"/>
            <a:ext cx="3095816" cy="152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1F3864"/>
                </a:solidFill>
                <a:latin typeface="Calibri" pitchFamily="34" charset="0"/>
                <a:ea typeface="Calibri" pitchFamily="34" charset="-122"/>
                <a:cs typeface="Calibri" pitchFamily="34" charset="-120"/>
              </a:rPr>
              <a:t>2. Kuyobora</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Ubabwira aho basuzumirwa amabere: ku ivuriro (poste de santé) cyangwa ku kigo nderabuzima.</a:t>
            </a:r>
            <a:endParaRPr lang="rw-RW" sz="1800" dirty="0"/>
          </a:p>
        </p:txBody>
      </p:sp>
      <p:sp>
        <p:nvSpPr>
          <p:cNvPr id="306" name="Shape 306"/>
          <p:cNvSpPr/>
          <p:nvPr/>
        </p:nvSpPr>
        <p:spPr>
          <a:xfrm>
            <a:off x="548640" y="3500000"/>
            <a:ext cx="3425000" cy="172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07" name="Text 307"/>
          <p:cNvSpPr txBox="1"/>
          <p:nvPr/>
        </p:nvSpPr>
        <p:spPr>
          <a:xfrm>
            <a:off x="713232" y="3610000"/>
            <a:ext cx="3095816" cy="152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1F3864"/>
                </a:solidFill>
                <a:latin typeface="Calibri" pitchFamily="34" charset="0"/>
                <a:ea typeface="Calibri" pitchFamily="34" charset="-122"/>
                <a:cs typeface="Calibri" pitchFamily="34" charset="-120"/>
              </a:rPr>
              <a:t>3. Kohereza</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Umugore ufite impinduka mu ibere umwohereza ku ivuriro cyangwa ku kigo nderabuzima kiri hafi mu masaha 48.</a:t>
            </a:r>
            <a:endParaRPr lang="rw-RW" sz="1800" dirty="0"/>
          </a:p>
        </p:txBody>
      </p:sp>
      <p:sp>
        <p:nvSpPr>
          <p:cNvPr id="308" name="Shape 308"/>
          <p:cNvSpPr/>
          <p:nvPr/>
        </p:nvSpPr>
        <p:spPr>
          <a:xfrm>
            <a:off x="4123640" y="3500000"/>
            <a:ext cx="3425000" cy="172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09" name="Text 309"/>
          <p:cNvSpPr txBox="1"/>
          <p:nvPr/>
        </p:nvSpPr>
        <p:spPr>
          <a:xfrm>
            <a:off x="4288232" y="3610000"/>
            <a:ext cx="3095816" cy="152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1F3864"/>
                </a:solidFill>
                <a:latin typeface="Calibri" pitchFamily="34" charset="0"/>
                <a:ea typeface="Calibri" pitchFamily="34" charset="-122"/>
                <a:cs typeface="Calibri" pitchFamily="34" charset="-120"/>
              </a:rPr>
              <a:t>4. Gukurikirana</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Umufasha kugerayo, hanyuma ukamubaza uko byagenze.</a:t>
            </a:r>
            <a:endParaRPr lang="rw-RW" sz="1800" dirty="0"/>
          </a:p>
        </p:txBody>
      </p:sp>
      <p:sp>
        <p:nvSpPr>
          <p:cNvPr id="310" name="Shape 310"/>
          <p:cNvSpPr/>
          <p:nvPr/>
        </p:nvSpPr>
        <p:spPr>
          <a:xfrm>
            <a:off x="548640" y="5380000"/>
            <a:ext cx="11094415" cy="850000"/>
          </a:xfrm>
          <a:prstGeom prst="roundRect">
            <a:avLst>
              <a:gd name="adj" fmla="val 6000"/>
            </a:avLst>
          </a:prstGeom>
          <a:solidFill>
            <a:srgbClr val="FDF6E3"/>
          </a:solidFill>
          <a:ln w="12700">
            <a:solidFill>
              <a:srgbClr val="E6D4A3"/>
            </a:solidFill>
            <a:prstDash val="solid"/>
          </a:ln>
        </p:spPr>
        <p:txBody>
          <a:bodyPr wrap="square" lIns="91440" tIns="45720" rIns="91440" bIns="45720" rtlCol="0" anchor="ctr"/>
          <a:lstStyle/>
          <a:p>
            <a:endParaRPr lang="rw-RW" dirty="0"/>
          </a:p>
        </p:txBody>
      </p:sp>
      <p:sp>
        <p:nvSpPr>
          <p:cNvPr id="311" name="Text 311"/>
          <p:cNvSpPr txBox="1"/>
          <p:nvPr/>
        </p:nvSpPr>
        <p:spPr>
          <a:xfrm>
            <a:off x="713232" y="5420000"/>
            <a:ext cx="10765231" cy="770000"/>
          </a:xfrm>
          <a:prstGeom prst="rect">
            <a:avLst/>
          </a:prstGeom>
          <a:noFill/>
          <a:ln/>
        </p:spPr>
        <p:txBody>
          <a:bodyPr wrap="square" lIns="0" tIns="0" rIns="0" bIns="0" rtlCol="0" anchor="ctr"/>
          <a:lstStyle/>
          <a:p>
            <a:pPr marL="0" indent="0" algn="l">
              <a:lnSpc>
                <a:spcPct val="95000"/>
              </a:lnSpc>
              <a:buNone/>
            </a:pPr>
            <a:r>
              <a:rPr lang="rw-RW" sz="1800" b="1" dirty="0">
                <a:solidFill>
                  <a:srgbClr val="B06A08"/>
                </a:solidFill>
                <a:latin typeface="Calibri" pitchFamily="34" charset="0"/>
                <a:ea typeface="Calibri" pitchFamily="34" charset="-122"/>
                <a:cs typeface="Calibri" pitchFamily="34" charset="-120"/>
              </a:rPr>
              <a:t>💡 Wibuke: </a:t>
            </a:r>
            <a:r>
              <a:rPr lang="rw-RW" sz="1800" dirty="0">
                <a:solidFill>
                  <a:srgbClr val="203864"/>
                </a:solidFill>
                <a:latin typeface="Calibri" pitchFamily="34" charset="0"/>
                <a:ea typeface="Calibri" pitchFamily="34" charset="-122"/>
                <a:cs typeface="Calibri" pitchFamily="34" charset="-120"/>
              </a:rPr>
              <a:t>isuzuma ry'amabere rikorwa n'umuforomo wabihuguriwe, ku ivuriro cyangwa ku kigo nderabuzima. Si wowe urikora.</a:t>
            </a:r>
            <a:endParaRPr lang="rw-RW" sz="1800" dirty="0"/>
          </a:p>
        </p:txBody>
      </p:sp>
      <p:pic>
        <p:nvPicPr>
          <p:cNvPr id="2" name="Imagen 1">
            <a:extLst>
              <a:ext uri="{FF2B5EF4-FFF2-40B4-BE49-F238E27FC236}">
                <a16:creationId xmlns:a16="http://schemas.microsoft.com/office/drawing/2014/main" id="{E0DA4BB4-AA16-43AE-392D-0B52AD7F1CC8}"/>
              </a:ext>
            </a:extLst>
          </p:cNvPr>
          <p:cNvPicPr>
            <a:picLocks noChangeAspect="1"/>
          </p:cNvPicPr>
          <p:nvPr/>
        </p:nvPicPr>
        <p:blipFill>
          <a:blip r:embed="rId2"/>
          <a:stretch>
            <a:fillRect/>
          </a:stretch>
        </p:blipFill>
        <p:spPr>
          <a:xfrm>
            <a:off x="7747000" y="1686088"/>
            <a:ext cx="3613912" cy="361391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Text 333"/>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2 | KUMENYA AMABERE</a:t>
            </a:r>
            <a:endParaRPr lang="rw-RW" sz="1000" dirty="0"/>
          </a:p>
        </p:txBody>
      </p:sp>
      <p:sp>
        <p:nvSpPr>
          <p:cNvPr id="334" name="Text 334"/>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Ni ryari umugore yisuzuma cyangwa asuzumwa amabere?</a:t>
            </a:r>
            <a:endParaRPr lang="rw-RW" sz="3000" dirty="0"/>
          </a:p>
        </p:txBody>
      </p:sp>
      <p:sp>
        <p:nvSpPr>
          <p:cNvPr id="335" name="Text 335"/>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336" name="Text 336"/>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49B</a:t>
            </a:r>
            <a:endParaRPr lang="rw-RW" sz="900" dirty="0"/>
          </a:p>
        </p:txBody>
      </p:sp>
      <p:sp>
        <p:nvSpPr>
          <p:cNvPr id="317" name="Shape 317"/>
          <p:cNvSpPr/>
          <p:nvPr/>
        </p:nvSpPr>
        <p:spPr>
          <a:xfrm>
            <a:off x="548640" y="1250000"/>
            <a:ext cx="3598138" cy="315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18" name="Text 318"/>
          <p:cNvSpPr txBox="1"/>
          <p:nvPr/>
        </p:nvSpPr>
        <p:spPr>
          <a:xfrm>
            <a:off x="698640" y="1370000"/>
            <a:ext cx="3298138" cy="420000"/>
          </a:xfrm>
          <a:prstGeom prst="rect">
            <a:avLst/>
          </a:prstGeom>
          <a:noFill/>
          <a:ln/>
        </p:spPr>
        <p:txBody>
          <a:bodyPr wrap="square" lIns="0" tIns="0" rIns="0" bIns="0" rtlCol="0" anchor="t"/>
          <a:lstStyle/>
          <a:p>
            <a:pPr marL="0" indent="0" algn="ctr">
              <a:lnSpc>
                <a:spcPct val="95000"/>
              </a:lnSpc>
              <a:buNone/>
            </a:pPr>
            <a:r>
              <a:rPr lang="rw-RW" sz="1800" b="1" dirty="0">
                <a:solidFill>
                  <a:srgbClr val="1F3864"/>
                </a:solidFill>
                <a:latin typeface="Calibri" pitchFamily="34" charset="0"/>
                <a:ea typeface="Calibri" pitchFamily="34" charset="-122"/>
                <a:cs typeface="Calibri" pitchFamily="34" charset="-120"/>
              </a:rPr>
              <a:t>Kwisuzuma amabere</a:t>
            </a:r>
            <a:endParaRPr lang="rw-RW" sz="1800" dirty="0"/>
          </a:p>
        </p:txBody>
      </p:sp>
      <p:sp>
        <p:nvSpPr>
          <p:cNvPr id="319" name="Text 319"/>
          <p:cNvSpPr txBox="1"/>
          <p:nvPr/>
        </p:nvSpPr>
        <p:spPr>
          <a:xfrm>
            <a:off x="698640" y="1830000"/>
            <a:ext cx="3298138" cy="560000"/>
          </a:xfrm>
          <a:prstGeom prst="rect">
            <a:avLst/>
          </a:prstGeom>
          <a:noFill/>
          <a:ln/>
        </p:spPr>
        <p:txBody>
          <a:bodyPr wrap="square" lIns="0" tIns="0" rIns="0" bIns="0" rtlCol="0" anchor="t"/>
          <a:lstStyle/>
          <a:p>
            <a:pPr marL="0" indent="0" algn="ctr">
              <a:lnSpc>
                <a:spcPct val="95000"/>
              </a:lnSpc>
              <a:buNone/>
            </a:pPr>
            <a:r>
              <a:rPr lang="rw-RW" sz="3000" b="1" dirty="0">
                <a:solidFill>
                  <a:srgbClr val="1F3864"/>
                </a:solidFill>
                <a:latin typeface="Calibri" pitchFamily="34" charset="0"/>
                <a:ea typeface="Calibri" pitchFamily="34" charset="-122"/>
                <a:cs typeface="Calibri" pitchFamily="34" charset="-120"/>
              </a:rPr>
              <a:t>Buri kwezi</a:t>
            </a:r>
            <a:endParaRPr lang="rw-RW" sz="3000" dirty="0"/>
          </a:p>
        </p:txBody>
      </p:sp>
      <p:sp>
        <p:nvSpPr>
          <p:cNvPr id="320" name="Text 320"/>
          <p:cNvSpPr txBox="1"/>
          <p:nvPr/>
        </p:nvSpPr>
        <p:spPr>
          <a:xfrm>
            <a:off x="698640" y="2480000"/>
            <a:ext cx="3298138" cy="1850000"/>
          </a:xfrm>
          <a:prstGeom prst="rect">
            <a:avLst/>
          </a:prstGeom>
          <a:noFill/>
          <a:ln/>
        </p:spPr>
        <p:txBody>
          <a:bodyPr wrap="square" lIns="0" tIns="0" rIns="0" bIns="0" rtlCol="0" anchor="t"/>
          <a:lstStyle/>
          <a:p>
            <a:pPr marL="0" indent="0" algn="ctr">
              <a:lnSpc>
                <a:spcPct val="95000"/>
              </a:lnSpc>
              <a:buNone/>
            </a:pPr>
            <a:r>
              <a:rPr lang="rw-RW" sz="1800" dirty="0">
                <a:solidFill>
                  <a:srgbClr val="203864"/>
                </a:solidFill>
                <a:latin typeface="Calibri" pitchFamily="34" charset="0"/>
                <a:ea typeface="Calibri" pitchFamily="34" charset="-122"/>
                <a:cs typeface="Calibri" pitchFamily="34" charset="-120"/>
              </a:rPr>
              <a:t>Ku myaka yose. Byiza nyuma y'imihango. Umugore abikora ubwe, iwe mu rugo.</a:t>
            </a:r>
            <a:endParaRPr lang="rw-RW" sz="1800" dirty="0"/>
          </a:p>
        </p:txBody>
      </p:sp>
      <p:sp>
        <p:nvSpPr>
          <p:cNvPr id="321" name="Shape 321"/>
          <p:cNvSpPr/>
          <p:nvPr/>
        </p:nvSpPr>
        <p:spPr>
          <a:xfrm>
            <a:off x="4296778" y="1250000"/>
            <a:ext cx="3598138" cy="315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rw-RW" dirty="0"/>
          </a:p>
        </p:txBody>
      </p:sp>
      <p:sp>
        <p:nvSpPr>
          <p:cNvPr id="322" name="Text 322"/>
          <p:cNvSpPr txBox="1"/>
          <p:nvPr/>
        </p:nvSpPr>
        <p:spPr>
          <a:xfrm>
            <a:off x="4446778" y="1370000"/>
            <a:ext cx="3298138" cy="420000"/>
          </a:xfrm>
          <a:prstGeom prst="rect">
            <a:avLst/>
          </a:prstGeom>
          <a:noFill/>
          <a:ln/>
        </p:spPr>
        <p:txBody>
          <a:bodyPr wrap="square" lIns="0" tIns="0" rIns="0" bIns="0" rtlCol="0" anchor="t"/>
          <a:lstStyle/>
          <a:p>
            <a:pPr marL="0" indent="0" algn="ctr">
              <a:lnSpc>
                <a:spcPct val="95000"/>
              </a:lnSpc>
              <a:buNone/>
            </a:pPr>
            <a:r>
              <a:rPr lang="rw-RW" sz="1800" b="1" dirty="0">
                <a:solidFill>
                  <a:srgbClr val="1B6E4A"/>
                </a:solidFill>
                <a:latin typeface="Calibri" pitchFamily="34" charset="0"/>
                <a:ea typeface="Calibri" pitchFamily="34" charset="-122"/>
                <a:cs typeface="Calibri" pitchFamily="34" charset="-120"/>
              </a:rPr>
              <a:t>Isuzuma ku ivuriro</a:t>
            </a:r>
            <a:endParaRPr lang="rw-RW" sz="1800" dirty="0"/>
          </a:p>
        </p:txBody>
      </p:sp>
      <p:sp>
        <p:nvSpPr>
          <p:cNvPr id="323" name="Text 323"/>
          <p:cNvSpPr txBox="1"/>
          <p:nvPr/>
        </p:nvSpPr>
        <p:spPr>
          <a:xfrm>
            <a:off x="4446778" y="1830000"/>
            <a:ext cx="3298138" cy="560000"/>
          </a:xfrm>
          <a:prstGeom prst="rect">
            <a:avLst/>
          </a:prstGeom>
          <a:noFill/>
          <a:ln/>
        </p:spPr>
        <p:txBody>
          <a:bodyPr wrap="square" lIns="0" tIns="0" rIns="0" bIns="0" rtlCol="0" anchor="t"/>
          <a:lstStyle/>
          <a:p>
            <a:pPr marL="0" indent="0" algn="ctr">
              <a:lnSpc>
                <a:spcPct val="95000"/>
              </a:lnSpc>
              <a:buNone/>
            </a:pPr>
            <a:r>
              <a:rPr lang="rw-RW" sz="3000" b="1" dirty="0">
                <a:solidFill>
                  <a:srgbClr val="1B6E4A"/>
                </a:solidFill>
                <a:latin typeface="Calibri" pitchFamily="34" charset="0"/>
                <a:ea typeface="Calibri" pitchFamily="34" charset="-122"/>
                <a:cs typeface="Calibri" pitchFamily="34" charset="-120"/>
              </a:rPr>
              <a:t>Buri mwaka</a:t>
            </a:r>
            <a:endParaRPr lang="rw-RW" sz="3000" dirty="0"/>
          </a:p>
        </p:txBody>
      </p:sp>
      <p:sp>
        <p:nvSpPr>
          <p:cNvPr id="324" name="Text 324"/>
          <p:cNvSpPr txBox="1"/>
          <p:nvPr/>
        </p:nvSpPr>
        <p:spPr>
          <a:xfrm>
            <a:off x="4446778" y="2480000"/>
            <a:ext cx="3298138" cy="1850000"/>
          </a:xfrm>
          <a:prstGeom prst="rect">
            <a:avLst/>
          </a:prstGeom>
          <a:noFill/>
          <a:ln/>
        </p:spPr>
        <p:txBody>
          <a:bodyPr wrap="square" lIns="0" tIns="0" rIns="0" bIns="0" rtlCol="0" anchor="t"/>
          <a:lstStyle/>
          <a:p>
            <a:pPr marL="0" indent="0" algn="ctr">
              <a:lnSpc>
                <a:spcPct val="95000"/>
              </a:lnSpc>
              <a:buNone/>
            </a:pPr>
            <a:r>
              <a:rPr lang="rw-RW" sz="1800" dirty="0">
                <a:solidFill>
                  <a:srgbClr val="203864"/>
                </a:solidFill>
                <a:latin typeface="Calibri" pitchFamily="34" charset="0"/>
                <a:ea typeface="Calibri" pitchFamily="34" charset="-122"/>
                <a:cs typeface="Calibri" pitchFamily="34" charset="-120"/>
              </a:rPr>
              <a:t>Abagore bafite imyaka 30 n’abayirengeje. Rikorwa n'umuforomo ku ivuriro cyangwa ku kigo nderabuzima.</a:t>
            </a:r>
            <a:endParaRPr lang="rw-RW" sz="1800" dirty="0"/>
          </a:p>
        </p:txBody>
      </p:sp>
      <p:sp>
        <p:nvSpPr>
          <p:cNvPr id="325" name="Shape 325"/>
          <p:cNvSpPr/>
          <p:nvPr/>
        </p:nvSpPr>
        <p:spPr>
          <a:xfrm>
            <a:off x="8044916" y="1250000"/>
            <a:ext cx="3598138" cy="3150000"/>
          </a:xfrm>
          <a:prstGeom prst="roundRect">
            <a:avLst>
              <a:gd name="adj" fmla="val 3500"/>
            </a:avLst>
          </a:prstGeom>
          <a:solidFill>
            <a:srgbClr val="FDF6E3"/>
          </a:solidFill>
          <a:ln w="12700">
            <a:solidFill>
              <a:srgbClr val="E6D4A3"/>
            </a:solidFill>
            <a:prstDash val="solid"/>
          </a:ln>
        </p:spPr>
        <p:txBody>
          <a:bodyPr wrap="square" lIns="91440" tIns="45720" rIns="91440" bIns="45720" rtlCol="0" anchor="ctr"/>
          <a:lstStyle/>
          <a:p>
            <a:endParaRPr lang="rw-RW" dirty="0"/>
          </a:p>
        </p:txBody>
      </p:sp>
      <p:sp>
        <p:nvSpPr>
          <p:cNvPr id="326" name="Text 326"/>
          <p:cNvSpPr txBox="1"/>
          <p:nvPr/>
        </p:nvSpPr>
        <p:spPr>
          <a:xfrm>
            <a:off x="8194916" y="1370000"/>
            <a:ext cx="3298138" cy="420000"/>
          </a:xfrm>
          <a:prstGeom prst="rect">
            <a:avLst/>
          </a:prstGeom>
          <a:noFill/>
          <a:ln/>
        </p:spPr>
        <p:txBody>
          <a:bodyPr wrap="square" lIns="0" tIns="0" rIns="0" bIns="0" rtlCol="0" anchor="t"/>
          <a:lstStyle/>
          <a:p>
            <a:pPr marL="0" indent="0" algn="ctr">
              <a:lnSpc>
                <a:spcPct val="95000"/>
              </a:lnSpc>
              <a:buNone/>
            </a:pPr>
            <a:r>
              <a:rPr lang="rw-RW" sz="1800" b="1" dirty="0">
                <a:solidFill>
                  <a:srgbClr val="B06A08"/>
                </a:solidFill>
                <a:latin typeface="Calibri" pitchFamily="34" charset="0"/>
                <a:ea typeface="Calibri" pitchFamily="34" charset="-122"/>
                <a:cs typeface="Calibri" pitchFamily="34" charset="-120"/>
              </a:rPr>
              <a:t>Hari impinduka</a:t>
            </a:r>
            <a:endParaRPr lang="rw-RW" sz="1800" dirty="0"/>
          </a:p>
        </p:txBody>
      </p:sp>
      <p:sp>
        <p:nvSpPr>
          <p:cNvPr id="327" name="Text 327"/>
          <p:cNvSpPr txBox="1"/>
          <p:nvPr/>
        </p:nvSpPr>
        <p:spPr>
          <a:xfrm>
            <a:off x="8194916" y="1830000"/>
            <a:ext cx="3298138" cy="560000"/>
          </a:xfrm>
          <a:prstGeom prst="rect">
            <a:avLst/>
          </a:prstGeom>
          <a:noFill/>
          <a:ln/>
        </p:spPr>
        <p:txBody>
          <a:bodyPr wrap="square" lIns="0" tIns="0" rIns="0" bIns="0" rtlCol="0" anchor="t"/>
          <a:lstStyle/>
          <a:p>
            <a:pPr marL="0" indent="0" algn="ctr">
              <a:lnSpc>
                <a:spcPct val="95000"/>
              </a:lnSpc>
              <a:buNone/>
            </a:pPr>
            <a:r>
              <a:rPr lang="rw-RW" sz="3000" b="1" dirty="0">
                <a:solidFill>
                  <a:srgbClr val="B06A08"/>
                </a:solidFill>
                <a:latin typeface="Calibri" pitchFamily="34" charset="0"/>
                <a:ea typeface="Calibri" pitchFamily="34" charset="-122"/>
                <a:cs typeface="Calibri" pitchFamily="34" charset="-120"/>
              </a:rPr>
              <a:t>Mu masaha 48</a:t>
            </a:r>
            <a:endParaRPr lang="rw-RW" sz="3000" dirty="0"/>
          </a:p>
        </p:txBody>
      </p:sp>
      <p:sp>
        <p:nvSpPr>
          <p:cNvPr id="328" name="Text 328"/>
          <p:cNvSpPr txBox="1"/>
          <p:nvPr/>
        </p:nvSpPr>
        <p:spPr>
          <a:xfrm>
            <a:off x="8194916" y="2480000"/>
            <a:ext cx="3298138" cy="1850000"/>
          </a:xfrm>
          <a:prstGeom prst="rect">
            <a:avLst/>
          </a:prstGeom>
          <a:noFill/>
          <a:ln/>
        </p:spPr>
        <p:txBody>
          <a:bodyPr wrap="square" lIns="0" tIns="0" rIns="0" bIns="0" rtlCol="0" anchor="t"/>
          <a:lstStyle/>
          <a:p>
            <a:pPr marL="0" indent="0" algn="ctr">
              <a:lnSpc>
                <a:spcPct val="95000"/>
              </a:lnSpc>
              <a:buNone/>
            </a:pPr>
            <a:r>
              <a:rPr lang="rw-RW" sz="1800" dirty="0">
                <a:solidFill>
                  <a:srgbClr val="203864"/>
                </a:solidFill>
                <a:latin typeface="Calibri" pitchFamily="34" charset="0"/>
                <a:ea typeface="Calibri" pitchFamily="34" charset="-122"/>
                <a:cs typeface="Calibri" pitchFamily="34" charset="-120"/>
              </a:rPr>
              <a:t>Ku myaka yose. Jya ku ivuriro cyangwa ku kigo nderabuzima. Ntutegereze isuzuma rya buri mwaka.</a:t>
            </a:r>
            <a:endParaRPr lang="rw-RW" sz="1800" dirty="0"/>
          </a:p>
        </p:txBody>
      </p:sp>
      <p:sp>
        <p:nvSpPr>
          <p:cNvPr id="329" name="Shape 329"/>
          <p:cNvSpPr/>
          <p:nvPr/>
        </p:nvSpPr>
        <p:spPr>
          <a:xfrm>
            <a:off x="548640" y="4520000"/>
            <a:ext cx="11094415" cy="760000"/>
          </a:xfrm>
          <a:prstGeom prst="roundRect">
            <a:avLst>
              <a:gd name="adj" fmla="val 6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30" name="Text 330"/>
          <p:cNvSpPr txBox="1"/>
          <p:nvPr/>
        </p:nvSpPr>
        <p:spPr>
          <a:xfrm>
            <a:off x="713232" y="4560000"/>
            <a:ext cx="10765231" cy="68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 Kwisuzuma amabere ntibisimbura isuzuma rikorwa n'umuforomo. Byombi birakenewe.</a:t>
            </a:r>
            <a:endParaRPr lang="rw-RW"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ext 350"/>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2 | KUMENYA AMABERE</a:t>
            </a:r>
            <a:endParaRPr lang="rw-RW" sz="1000" dirty="0"/>
          </a:p>
        </p:txBody>
      </p:sp>
      <p:sp>
        <p:nvSpPr>
          <p:cNvPr id="351" name="Text 351"/>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Kwisuzuma amabere (1/2): kureba</a:t>
            </a:r>
            <a:endParaRPr lang="rw-RW" sz="3000" dirty="0"/>
          </a:p>
        </p:txBody>
      </p:sp>
      <p:sp>
        <p:nvSpPr>
          <p:cNvPr id="352" name="Text 352"/>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353" name="Text 353"/>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49C</a:t>
            </a:r>
            <a:endParaRPr lang="rw-RW" sz="900" dirty="0"/>
          </a:p>
        </p:txBody>
      </p:sp>
      <p:sp>
        <p:nvSpPr>
          <p:cNvPr id="337" name="Text 337"/>
          <p:cNvSpPr txBox="1"/>
          <p:nvPr/>
        </p:nvSpPr>
        <p:spPr>
          <a:xfrm>
            <a:off x="548640" y="1180000"/>
            <a:ext cx="11094415" cy="420000"/>
          </a:xfrm>
          <a:prstGeom prst="rect">
            <a:avLst/>
          </a:prstGeom>
          <a:noFill/>
          <a:ln/>
        </p:spPr>
        <p:txBody>
          <a:bodyPr wrap="square" lIns="0" tIns="0" rIns="0" bIns="0" rtlCol="0" anchor="t"/>
          <a:lstStyle/>
          <a:p>
            <a:pPr marL="0" indent="0" algn="l">
              <a:lnSpc>
                <a:spcPct val="95000"/>
              </a:lnSpc>
              <a:buNone/>
            </a:pPr>
            <a:r>
              <a:rPr lang="rw-RW" sz="1800" dirty="0">
                <a:solidFill>
                  <a:srgbClr val="203864"/>
                </a:solidFill>
                <a:latin typeface="Calibri" pitchFamily="34" charset="0"/>
                <a:ea typeface="Calibri" pitchFamily="34" charset="-122"/>
                <a:cs typeface="Calibri" pitchFamily="34" charset="-120"/>
              </a:rPr>
              <a:t>Rimwe mu kwezi, nyuma y’imihango. Hagarara imbere y’indorerwamo, wambuye imyenda yo hejuru.</a:t>
            </a:r>
            <a:endParaRPr lang="rw-RW" sz="1800" dirty="0"/>
          </a:p>
        </p:txBody>
      </p:sp>
      <p:sp>
        <p:nvSpPr>
          <p:cNvPr id="338" name="Shape 338"/>
          <p:cNvSpPr/>
          <p:nvPr/>
        </p:nvSpPr>
        <p:spPr>
          <a:xfrm>
            <a:off x="548640" y="1680000"/>
            <a:ext cx="7000000" cy="108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39" name="Shape 339"/>
          <p:cNvSpPr/>
          <p:nvPr/>
        </p:nvSpPr>
        <p:spPr>
          <a:xfrm>
            <a:off x="668640" y="2000000"/>
            <a:ext cx="440000" cy="440000"/>
          </a:xfrm>
          <a:prstGeom prst="ellipse">
            <a:avLst/>
          </a:prstGeom>
          <a:solidFill>
            <a:srgbClr val="1F3864"/>
          </a:solidFill>
          <a:ln>
            <a:noFill/>
          </a:ln>
        </p:spPr>
        <p:txBody>
          <a:bodyPr wrap="square" lIns="0" tIns="0" rIns="0" bIns="0" rtlCol="0" anchor="ctr"/>
          <a:lstStyle/>
          <a:p>
            <a:pPr marL="0" indent="0" algn="ctr">
              <a:lnSpc>
                <a:spcPct val="95000"/>
              </a:lnSpc>
              <a:buNone/>
            </a:pPr>
            <a:r>
              <a:rPr lang="rw-RW" sz="1800" b="1" dirty="0">
                <a:solidFill>
                  <a:srgbClr val="FFFFFF"/>
                </a:solidFill>
                <a:latin typeface="Calibri" pitchFamily="34" charset="0"/>
                <a:ea typeface="Calibri" pitchFamily="34" charset="-122"/>
                <a:cs typeface="Calibri" pitchFamily="34" charset="-120"/>
              </a:rPr>
              <a:t>1</a:t>
            </a:r>
            <a:endParaRPr lang="rw-RW" sz="1800" dirty="0"/>
          </a:p>
        </p:txBody>
      </p:sp>
      <p:sp>
        <p:nvSpPr>
          <p:cNvPr id="340" name="Text 340"/>
          <p:cNvSpPr txBox="1"/>
          <p:nvPr/>
        </p:nvSpPr>
        <p:spPr>
          <a:xfrm>
            <a:off x="1228640" y="1740000"/>
            <a:ext cx="6200000" cy="96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Amaboko amanutse: </a:t>
            </a:r>
            <a:r>
              <a:rPr lang="rw-RW" sz="1800" dirty="0">
                <a:solidFill>
                  <a:srgbClr val="203864"/>
                </a:solidFill>
                <a:latin typeface="Calibri" pitchFamily="34" charset="0"/>
                <a:ea typeface="Calibri" pitchFamily="34" charset="-122"/>
                <a:cs typeface="Calibri" pitchFamily="34" charset="-120"/>
              </a:rPr>
              <a:t>Itegereze amabere yombi: ubunini, imiterere, uruhu n'imoko. Reba niba hari icyahindutse.</a:t>
            </a:r>
            <a:endParaRPr lang="rw-RW" sz="1800" dirty="0"/>
          </a:p>
        </p:txBody>
      </p:sp>
      <p:sp>
        <p:nvSpPr>
          <p:cNvPr id="341" name="Shape 341"/>
          <p:cNvSpPr/>
          <p:nvPr/>
        </p:nvSpPr>
        <p:spPr>
          <a:xfrm>
            <a:off x="548640" y="2860000"/>
            <a:ext cx="7000000" cy="108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42" name="Shape 342"/>
          <p:cNvSpPr/>
          <p:nvPr/>
        </p:nvSpPr>
        <p:spPr>
          <a:xfrm>
            <a:off x="668640" y="3180000"/>
            <a:ext cx="440000" cy="440000"/>
          </a:xfrm>
          <a:prstGeom prst="ellipse">
            <a:avLst/>
          </a:prstGeom>
          <a:solidFill>
            <a:srgbClr val="1F3864"/>
          </a:solidFill>
          <a:ln>
            <a:noFill/>
          </a:ln>
        </p:spPr>
        <p:txBody>
          <a:bodyPr wrap="square" lIns="0" tIns="0" rIns="0" bIns="0" rtlCol="0" anchor="ctr"/>
          <a:lstStyle/>
          <a:p>
            <a:pPr marL="0" indent="0" algn="ctr">
              <a:lnSpc>
                <a:spcPct val="95000"/>
              </a:lnSpc>
              <a:buNone/>
            </a:pPr>
            <a:r>
              <a:rPr lang="rw-RW" sz="1800" b="1" dirty="0">
                <a:solidFill>
                  <a:srgbClr val="FFFFFF"/>
                </a:solidFill>
                <a:latin typeface="Calibri" pitchFamily="34" charset="0"/>
                <a:ea typeface="Calibri" pitchFamily="34" charset="-122"/>
                <a:cs typeface="Calibri" pitchFamily="34" charset="-120"/>
              </a:rPr>
              <a:t>2</a:t>
            </a:r>
            <a:endParaRPr lang="rw-RW" sz="1800" dirty="0"/>
          </a:p>
        </p:txBody>
      </p:sp>
      <p:sp>
        <p:nvSpPr>
          <p:cNvPr id="343" name="Text 343"/>
          <p:cNvSpPr txBox="1"/>
          <p:nvPr/>
        </p:nvSpPr>
        <p:spPr>
          <a:xfrm>
            <a:off x="1228640" y="2920000"/>
            <a:ext cx="6200000" cy="96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Ibiganza inyuma y’umutwe: </a:t>
            </a:r>
            <a:r>
              <a:rPr lang="rw-RW" sz="1800" dirty="0">
                <a:solidFill>
                  <a:srgbClr val="203864"/>
                </a:solidFill>
                <a:latin typeface="Calibri" pitchFamily="34" charset="0"/>
                <a:ea typeface="Calibri" pitchFamily="34" charset="-122"/>
                <a:cs typeface="Calibri" pitchFamily="34" charset="-120"/>
              </a:rPr>
              <a:t>Shyira ibiganza byombi inyuma y'umutwe, ubisunike imbere. Itegereze nanone amabere yombi.</a:t>
            </a:r>
            <a:endParaRPr lang="rw-RW" sz="1800" dirty="0"/>
          </a:p>
        </p:txBody>
      </p:sp>
      <p:sp>
        <p:nvSpPr>
          <p:cNvPr id="344" name="Shape 344"/>
          <p:cNvSpPr/>
          <p:nvPr/>
        </p:nvSpPr>
        <p:spPr>
          <a:xfrm>
            <a:off x="548640" y="4040000"/>
            <a:ext cx="7000000" cy="108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45" name="Shape 345"/>
          <p:cNvSpPr/>
          <p:nvPr/>
        </p:nvSpPr>
        <p:spPr>
          <a:xfrm>
            <a:off x="668640" y="4360000"/>
            <a:ext cx="440000" cy="440000"/>
          </a:xfrm>
          <a:prstGeom prst="ellipse">
            <a:avLst/>
          </a:prstGeom>
          <a:solidFill>
            <a:srgbClr val="1F3864"/>
          </a:solidFill>
          <a:ln>
            <a:noFill/>
          </a:ln>
        </p:spPr>
        <p:txBody>
          <a:bodyPr wrap="square" lIns="0" tIns="0" rIns="0" bIns="0" rtlCol="0" anchor="ctr"/>
          <a:lstStyle/>
          <a:p>
            <a:pPr marL="0" indent="0" algn="ctr">
              <a:lnSpc>
                <a:spcPct val="95000"/>
              </a:lnSpc>
              <a:buNone/>
            </a:pPr>
            <a:r>
              <a:rPr lang="rw-RW" sz="1800" b="1" dirty="0">
                <a:solidFill>
                  <a:srgbClr val="FFFFFF"/>
                </a:solidFill>
                <a:latin typeface="Calibri" pitchFamily="34" charset="0"/>
                <a:ea typeface="Calibri" pitchFamily="34" charset="-122"/>
                <a:cs typeface="Calibri" pitchFamily="34" charset="-120"/>
              </a:rPr>
              <a:t>3</a:t>
            </a:r>
            <a:endParaRPr lang="rw-RW" sz="1800" dirty="0"/>
          </a:p>
        </p:txBody>
      </p:sp>
      <p:sp>
        <p:nvSpPr>
          <p:cNvPr id="346" name="Text 346"/>
          <p:cNvSpPr txBox="1"/>
          <p:nvPr/>
        </p:nvSpPr>
        <p:spPr>
          <a:xfrm>
            <a:off x="1228640" y="4100000"/>
            <a:ext cx="6200000" cy="96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Ibiganza ku mayunguyungu: </a:t>
            </a:r>
            <a:r>
              <a:rPr lang="rw-RW" sz="1800" dirty="0">
                <a:solidFill>
                  <a:srgbClr val="203864"/>
                </a:solidFill>
                <a:latin typeface="Calibri" pitchFamily="34" charset="0"/>
                <a:ea typeface="Calibri" pitchFamily="34" charset="-122"/>
                <a:cs typeface="Calibri" pitchFamily="34" charset="-120"/>
              </a:rPr>
              <a:t>Shyira ibiganza ku mayunguyungu, ukandeho gato, wihese gato, inkokora zerekeza imbere. Itegereze nanone.</a:t>
            </a:r>
            <a:endParaRPr lang="rw-RW" sz="1800" dirty="0"/>
          </a:p>
        </p:txBody>
      </p:sp>
      <p:sp>
        <p:nvSpPr>
          <p:cNvPr id="347" name="Shape 347"/>
          <p:cNvSpPr/>
          <p:nvPr/>
        </p:nvSpPr>
        <p:spPr>
          <a:xfrm>
            <a:off x="548640" y="5250000"/>
            <a:ext cx="11094415" cy="950000"/>
          </a:xfrm>
          <a:prstGeom prst="roundRect">
            <a:avLst>
              <a:gd name="adj" fmla="val 6000"/>
            </a:avLst>
          </a:prstGeom>
          <a:solidFill>
            <a:srgbClr val="FDF6E3"/>
          </a:solidFill>
          <a:ln w="12700">
            <a:solidFill>
              <a:srgbClr val="E6D4A3"/>
            </a:solidFill>
            <a:prstDash val="solid"/>
          </a:ln>
        </p:spPr>
        <p:txBody>
          <a:bodyPr wrap="square" lIns="91440" tIns="45720" rIns="91440" bIns="45720" rtlCol="0" anchor="ctr"/>
          <a:lstStyle/>
          <a:p>
            <a:endParaRPr lang="rw-RW" dirty="0"/>
          </a:p>
        </p:txBody>
      </p:sp>
      <p:sp>
        <p:nvSpPr>
          <p:cNvPr id="348" name="Text 348"/>
          <p:cNvSpPr txBox="1"/>
          <p:nvPr/>
        </p:nvSpPr>
        <p:spPr>
          <a:xfrm>
            <a:off x="713232" y="5290000"/>
            <a:ext cx="10765231" cy="870000"/>
          </a:xfrm>
          <a:prstGeom prst="rect">
            <a:avLst/>
          </a:prstGeom>
          <a:noFill/>
          <a:ln/>
        </p:spPr>
        <p:txBody>
          <a:bodyPr wrap="square" lIns="0" tIns="0" rIns="0" bIns="0" rtlCol="0" anchor="ctr"/>
          <a:lstStyle/>
          <a:p>
            <a:pPr marL="0" indent="0" algn="l">
              <a:lnSpc>
                <a:spcPct val="95000"/>
              </a:lnSpc>
              <a:buNone/>
            </a:pPr>
            <a:r>
              <a:rPr lang="rw-RW" sz="1800" b="1" dirty="0">
                <a:solidFill>
                  <a:srgbClr val="B06A08"/>
                </a:solidFill>
                <a:latin typeface="Calibri" pitchFamily="34" charset="0"/>
                <a:ea typeface="Calibri" pitchFamily="34" charset="-122"/>
                <a:cs typeface="Calibri" pitchFamily="34" charset="-120"/>
              </a:rPr>
              <a:t>🔎 Reba: </a:t>
            </a:r>
            <a:r>
              <a:rPr lang="rw-RW" dirty="0">
                <a:solidFill>
                  <a:srgbClr val="203864"/>
                </a:solidFill>
                <a:latin typeface="Calibri" pitchFamily="34" charset="0"/>
                <a:ea typeface="Calibri" pitchFamily="34" charset="-122"/>
                <a:cs typeface="Calibri" pitchFamily="34" charset="-120"/>
              </a:rPr>
              <a:t>U</a:t>
            </a:r>
            <a:r>
              <a:rPr lang="rw-RW" sz="1800" dirty="0">
                <a:solidFill>
                  <a:srgbClr val="203864"/>
                </a:solidFill>
                <a:latin typeface="Calibri" pitchFamily="34" charset="0"/>
                <a:ea typeface="Calibri" pitchFamily="34" charset="-122"/>
                <a:cs typeface="Calibri" pitchFamily="34" charset="-120"/>
              </a:rPr>
              <a:t>ruhu rukururira imbere, uruhu rusa n'igishishwa cy'icunga, imoko yinjira imbere, cyangwa ibisohoka mu moko.</a:t>
            </a:r>
            <a:endParaRPr lang="rw-RW" sz="1800" dirty="0"/>
          </a:p>
        </p:txBody>
      </p:sp>
      <p:pic>
        <p:nvPicPr>
          <p:cNvPr id="3" name="Imagen 2">
            <a:extLst>
              <a:ext uri="{FF2B5EF4-FFF2-40B4-BE49-F238E27FC236}">
                <a16:creationId xmlns:a16="http://schemas.microsoft.com/office/drawing/2014/main" id="{2C8F9B9D-F537-DD3F-4828-FE14DC891080}"/>
              </a:ext>
            </a:extLst>
          </p:cNvPr>
          <p:cNvPicPr>
            <a:picLocks noChangeAspect="1"/>
          </p:cNvPicPr>
          <p:nvPr/>
        </p:nvPicPr>
        <p:blipFill>
          <a:blip r:embed="rId2"/>
          <a:stretch>
            <a:fillRect/>
          </a:stretch>
        </p:blipFill>
        <p:spPr>
          <a:xfrm>
            <a:off x="7749540" y="1637668"/>
            <a:ext cx="3776472" cy="363233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Text 366"/>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2 | KUMENYA AMABERE</a:t>
            </a:r>
            <a:endParaRPr lang="rw-RW" sz="1000" dirty="0"/>
          </a:p>
        </p:txBody>
      </p:sp>
      <p:sp>
        <p:nvSpPr>
          <p:cNvPr id="367" name="Text 367"/>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Kwisuzuma amabere (2/2): gukorakora</a:t>
            </a:r>
            <a:endParaRPr lang="rw-RW" sz="3000" dirty="0"/>
          </a:p>
        </p:txBody>
      </p:sp>
      <p:sp>
        <p:nvSpPr>
          <p:cNvPr id="368" name="Text 368"/>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369" name="Text 369"/>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49D</a:t>
            </a:r>
            <a:endParaRPr lang="rw-RW" sz="900" dirty="0"/>
          </a:p>
        </p:txBody>
      </p:sp>
      <p:sp>
        <p:nvSpPr>
          <p:cNvPr id="354" name="Shape 354"/>
          <p:cNvSpPr/>
          <p:nvPr/>
        </p:nvSpPr>
        <p:spPr>
          <a:xfrm>
            <a:off x="548640" y="1180000"/>
            <a:ext cx="7000000" cy="130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55" name="Shape 355"/>
          <p:cNvSpPr/>
          <p:nvPr/>
        </p:nvSpPr>
        <p:spPr>
          <a:xfrm>
            <a:off x="668640" y="1610000"/>
            <a:ext cx="440000" cy="440000"/>
          </a:xfrm>
          <a:prstGeom prst="ellipse">
            <a:avLst/>
          </a:prstGeom>
          <a:solidFill>
            <a:srgbClr val="1F3864"/>
          </a:solidFill>
          <a:ln>
            <a:noFill/>
          </a:ln>
        </p:spPr>
        <p:txBody>
          <a:bodyPr wrap="square" lIns="0" tIns="0" rIns="0" bIns="0" rtlCol="0" anchor="ctr"/>
          <a:lstStyle/>
          <a:p>
            <a:pPr marL="0" indent="0" algn="ctr">
              <a:lnSpc>
                <a:spcPct val="95000"/>
              </a:lnSpc>
              <a:buNone/>
            </a:pPr>
            <a:r>
              <a:rPr lang="rw-RW" sz="1800" b="1" dirty="0">
                <a:solidFill>
                  <a:srgbClr val="FFFFFF"/>
                </a:solidFill>
                <a:latin typeface="Calibri" pitchFamily="34" charset="0"/>
                <a:ea typeface="Calibri" pitchFamily="34" charset="-122"/>
                <a:cs typeface="Calibri" pitchFamily="34" charset="-120"/>
              </a:rPr>
              <a:t>4</a:t>
            </a:r>
            <a:endParaRPr lang="rw-RW" sz="1800" dirty="0"/>
          </a:p>
        </p:txBody>
      </p:sp>
      <p:sp>
        <p:nvSpPr>
          <p:cNvPr id="356" name="Text 356"/>
          <p:cNvSpPr txBox="1"/>
          <p:nvPr/>
        </p:nvSpPr>
        <p:spPr>
          <a:xfrm>
            <a:off x="1228640" y="1240000"/>
            <a:ext cx="6200000" cy="118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Korakora ibere: </a:t>
            </a:r>
            <a:r>
              <a:rPr lang="rw-RW" sz="1800" dirty="0">
                <a:solidFill>
                  <a:srgbClr val="203864"/>
                </a:solidFill>
                <a:latin typeface="Calibri" pitchFamily="34" charset="0"/>
                <a:ea typeface="Calibri" pitchFamily="34" charset="-122"/>
                <a:cs typeface="Calibri" pitchFamily="34" charset="-120"/>
              </a:rPr>
              <a:t>Zamura ukuboko kw'ibumoso. Ukoresheje intoki 3 cyangwa 4 z'ikiganza cy'iburyo, korakora ibere ry'ibumoso gahoro, uzenguruka, kuva ku mpera ugana ku moko. Suzuma no mu kwaha. Hanyuma ukore kimwe ku ibere ry'iburyo.</a:t>
            </a:r>
            <a:endParaRPr lang="rw-RW" sz="1800" dirty="0"/>
          </a:p>
        </p:txBody>
      </p:sp>
      <p:sp>
        <p:nvSpPr>
          <p:cNvPr id="357" name="Shape 357"/>
          <p:cNvSpPr/>
          <p:nvPr/>
        </p:nvSpPr>
        <p:spPr>
          <a:xfrm>
            <a:off x="548640" y="2580000"/>
            <a:ext cx="7000000" cy="130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58" name="Shape 358"/>
          <p:cNvSpPr/>
          <p:nvPr/>
        </p:nvSpPr>
        <p:spPr>
          <a:xfrm>
            <a:off x="668640" y="3010000"/>
            <a:ext cx="440000" cy="440000"/>
          </a:xfrm>
          <a:prstGeom prst="ellipse">
            <a:avLst/>
          </a:prstGeom>
          <a:solidFill>
            <a:srgbClr val="1F3864"/>
          </a:solidFill>
          <a:ln>
            <a:noFill/>
          </a:ln>
        </p:spPr>
        <p:txBody>
          <a:bodyPr wrap="square" lIns="0" tIns="0" rIns="0" bIns="0" rtlCol="0" anchor="ctr"/>
          <a:lstStyle/>
          <a:p>
            <a:pPr marL="0" indent="0" algn="ctr">
              <a:lnSpc>
                <a:spcPct val="95000"/>
              </a:lnSpc>
              <a:buNone/>
            </a:pPr>
            <a:r>
              <a:rPr lang="rw-RW" sz="1800" b="1" dirty="0">
                <a:solidFill>
                  <a:srgbClr val="FFFFFF"/>
                </a:solidFill>
                <a:latin typeface="Calibri" pitchFamily="34" charset="0"/>
                <a:ea typeface="Calibri" pitchFamily="34" charset="-122"/>
                <a:cs typeface="Calibri" pitchFamily="34" charset="-120"/>
              </a:rPr>
              <a:t>5</a:t>
            </a:r>
            <a:endParaRPr lang="rw-RW" sz="1800" dirty="0"/>
          </a:p>
        </p:txBody>
      </p:sp>
      <p:sp>
        <p:nvSpPr>
          <p:cNvPr id="359" name="Text 359"/>
          <p:cNvSpPr txBox="1"/>
          <p:nvPr/>
        </p:nvSpPr>
        <p:spPr>
          <a:xfrm>
            <a:off x="1228640" y="2640000"/>
            <a:ext cx="6200000" cy="118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Imoko: </a:t>
            </a:r>
            <a:r>
              <a:rPr lang="rw-RW" sz="1800" dirty="0">
                <a:solidFill>
                  <a:srgbClr val="203864"/>
                </a:solidFill>
                <a:latin typeface="Calibri" pitchFamily="34" charset="0"/>
                <a:ea typeface="Calibri" pitchFamily="34" charset="-122"/>
                <a:cs typeface="Calibri" pitchFamily="34" charset="-120"/>
              </a:rPr>
              <a:t>Kanda gahoro ku moko, urebe niba hari ibisohokamo.</a:t>
            </a:r>
            <a:endParaRPr lang="rw-RW" sz="1800" dirty="0"/>
          </a:p>
        </p:txBody>
      </p:sp>
      <p:sp>
        <p:nvSpPr>
          <p:cNvPr id="360" name="Shape 360"/>
          <p:cNvSpPr/>
          <p:nvPr/>
        </p:nvSpPr>
        <p:spPr>
          <a:xfrm>
            <a:off x="548640" y="3980000"/>
            <a:ext cx="7000000" cy="130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61" name="Shape 361"/>
          <p:cNvSpPr/>
          <p:nvPr/>
        </p:nvSpPr>
        <p:spPr>
          <a:xfrm>
            <a:off x="668640" y="4410000"/>
            <a:ext cx="440000" cy="440000"/>
          </a:xfrm>
          <a:prstGeom prst="ellipse">
            <a:avLst/>
          </a:prstGeom>
          <a:solidFill>
            <a:srgbClr val="1F3864"/>
          </a:solidFill>
          <a:ln>
            <a:noFill/>
          </a:ln>
        </p:spPr>
        <p:txBody>
          <a:bodyPr wrap="square" lIns="0" tIns="0" rIns="0" bIns="0" rtlCol="0" anchor="ctr"/>
          <a:lstStyle/>
          <a:p>
            <a:pPr marL="0" indent="0" algn="ctr">
              <a:lnSpc>
                <a:spcPct val="95000"/>
              </a:lnSpc>
              <a:buNone/>
            </a:pPr>
            <a:r>
              <a:rPr lang="rw-RW" sz="1800" b="1" dirty="0">
                <a:solidFill>
                  <a:srgbClr val="FFFFFF"/>
                </a:solidFill>
                <a:latin typeface="Calibri" pitchFamily="34" charset="0"/>
                <a:ea typeface="Calibri" pitchFamily="34" charset="-122"/>
                <a:cs typeface="Calibri" pitchFamily="34" charset="-120"/>
              </a:rPr>
              <a:t>6</a:t>
            </a:r>
            <a:endParaRPr lang="rw-RW" sz="1800" dirty="0"/>
          </a:p>
        </p:txBody>
      </p:sp>
      <p:sp>
        <p:nvSpPr>
          <p:cNvPr id="362" name="Text 362"/>
          <p:cNvSpPr txBox="1"/>
          <p:nvPr/>
        </p:nvSpPr>
        <p:spPr>
          <a:xfrm>
            <a:off x="1228640" y="4040000"/>
            <a:ext cx="6200000" cy="118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Ryama ku mugongo: </a:t>
            </a:r>
            <a:r>
              <a:rPr lang="rw-RW" sz="1800" dirty="0">
                <a:solidFill>
                  <a:srgbClr val="203864"/>
                </a:solidFill>
                <a:latin typeface="Calibri" pitchFamily="34" charset="0"/>
                <a:ea typeface="Calibri" pitchFamily="34" charset="-122"/>
                <a:cs typeface="Calibri" pitchFamily="34" charset="-120"/>
              </a:rPr>
              <a:t>Shyira umusego muto munsi y’urutugu. Subiramo intambwe ya 4 n'iya 5 ku mabere yombi.</a:t>
            </a:r>
            <a:endParaRPr lang="rw-RW" sz="1800" dirty="0"/>
          </a:p>
        </p:txBody>
      </p:sp>
      <p:sp>
        <p:nvSpPr>
          <p:cNvPr id="363" name="Shape 363"/>
          <p:cNvSpPr/>
          <p:nvPr/>
        </p:nvSpPr>
        <p:spPr>
          <a:xfrm>
            <a:off x="548640" y="5618000"/>
            <a:ext cx="11094415" cy="582000"/>
          </a:xfrm>
          <a:prstGeom prst="roundRect">
            <a:avLst>
              <a:gd name="adj" fmla="val 6000"/>
            </a:avLst>
          </a:prstGeom>
          <a:solidFill>
            <a:srgbClr val="EAF5EF"/>
          </a:solidFill>
          <a:ln w="12700">
            <a:solidFill>
              <a:srgbClr val="8FC4A9"/>
            </a:solidFill>
            <a:prstDash val="solid"/>
          </a:ln>
        </p:spPr>
        <p:txBody>
          <a:bodyPr wrap="square" lIns="91440" tIns="45720" rIns="91440" bIns="45720" rtlCol="0" anchor="ctr"/>
          <a:lstStyle/>
          <a:p>
            <a:endParaRPr lang="rw-RW" dirty="0"/>
          </a:p>
        </p:txBody>
      </p:sp>
      <p:sp>
        <p:nvSpPr>
          <p:cNvPr id="364" name="Text 364"/>
          <p:cNvSpPr txBox="1"/>
          <p:nvPr/>
        </p:nvSpPr>
        <p:spPr>
          <a:xfrm>
            <a:off x="713232" y="5627010"/>
            <a:ext cx="10765231" cy="532989"/>
          </a:xfrm>
          <a:prstGeom prst="rect">
            <a:avLst/>
          </a:prstGeom>
          <a:noFill/>
          <a:ln/>
        </p:spPr>
        <p:txBody>
          <a:bodyPr wrap="square" lIns="0" tIns="0" rIns="0" bIns="0" rtlCol="0" anchor="ctr"/>
          <a:lstStyle/>
          <a:p>
            <a:pPr marL="0" indent="0" algn="l">
              <a:lnSpc>
                <a:spcPct val="95000"/>
              </a:lnSpc>
              <a:buNone/>
            </a:pPr>
            <a:r>
              <a:rPr lang="rw-RW" sz="1800" b="1" dirty="0">
                <a:solidFill>
                  <a:srgbClr val="1B6E4A"/>
                </a:solidFill>
                <a:latin typeface="Calibri" pitchFamily="34" charset="0"/>
                <a:ea typeface="Calibri" pitchFamily="34" charset="-122"/>
                <a:cs typeface="Calibri" pitchFamily="34" charset="-120"/>
              </a:rPr>
              <a:t>✅ Hari impinduka? Jya ku ivuriro cyangwa ku kigo nderabuzima kiri hafi mu masaha 48. Ntutegereze ububabare.</a:t>
            </a:r>
            <a:endParaRPr lang="rw-RW" sz="1800" dirty="0"/>
          </a:p>
        </p:txBody>
      </p:sp>
      <p:pic>
        <p:nvPicPr>
          <p:cNvPr id="2" name="Imagen 1">
            <a:extLst>
              <a:ext uri="{FF2B5EF4-FFF2-40B4-BE49-F238E27FC236}">
                <a16:creationId xmlns:a16="http://schemas.microsoft.com/office/drawing/2014/main" id="{F73FD228-97B2-D050-73C3-C5F92F365AB8}"/>
              </a:ext>
            </a:extLst>
          </p:cNvPr>
          <p:cNvPicPr>
            <a:picLocks noChangeAspect="1"/>
          </p:cNvPicPr>
          <p:nvPr/>
        </p:nvPicPr>
        <p:blipFill>
          <a:blip r:embed="rId2"/>
          <a:stretch>
            <a:fillRect/>
          </a:stretch>
        </p:blipFill>
        <p:spPr>
          <a:xfrm>
            <a:off x="7637395" y="1312252"/>
            <a:ext cx="4002917" cy="383549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Text 374"/>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2 | KUMENYA AMABERE</a:t>
            </a:r>
            <a:endParaRPr lang="rw-RW" sz="1000" dirty="0"/>
          </a:p>
        </p:txBody>
      </p:sp>
      <p:sp>
        <p:nvSpPr>
          <p:cNvPr id="375" name="Text 375"/>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Urupapuro rwa RBC: kwisuzuma amabere</a:t>
            </a:r>
            <a:endParaRPr lang="rw-RW" sz="3000" dirty="0"/>
          </a:p>
        </p:txBody>
      </p:sp>
      <p:sp>
        <p:nvSpPr>
          <p:cNvPr id="376" name="Text 376"/>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377" name="Text 377"/>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49E</a:t>
            </a:r>
            <a:endParaRPr lang="rw-RW" sz="900" dirty="0"/>
          </a:p>
        </p:txBody>
      </p:sp>
      <p:sp>
        <p:nvSpPr>
          <p:cNvPr id="370" name="Shape 370"/>
          <p:cNvSpPr/>
          <p:nvPr/>
        </p:nvSpPr>
        <p:spPr>
          <a:xfrm>
            <a:off x="4048640" y="1300000"/>
            <a:ext cx="7594415" cy="240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71" name="Text 371"/>
          <p:cNvSpPr txBox="1"/>
          <p:nvPr/>
        </p:nvSpPr>
        <p:spPr>
          <a:xfrm>
            <a:off x="4213232" y="1410000"/>
            <a:ext cx="7265231" cy="220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1F3864"/>
                </a:solidFill>
                <a:latin typeface="Calibri" pitchFamily="34" charset="0"/>
                <a:ea typeface="Calibri" pitchFamily="34" charset="-122"/>
                <a:cs typeface="Calibri" pitchFamily="34" charset="-120"/>
              </a:rPr>
              <a:t>Koresha uru rupapuro</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Igihe wigisha abagore mu rugo cyangwa mu nama z'umudugudu.</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Rugaragaza intambwe 6 zo kwisuzuma amabere, rimwe mu kwezi.</a:t>
            </a:r>
            <a:endParaRPr lang="rw-RW" sz="1800" dirty="0"/>
          </a:p>
        </p:txBody>
      </p:sp>
      <p:sp>
        <p:nvSpPr>
          <p:cNvPr id="372" name="Shape 372"/>
          <p:cNvSpPr/>
          <p:nvPr/>
        </p:nvSpPr>
        <p:spPr>
          <a:xfrm>
            <a:off x="4048640" y="3850000"/>
            <a:ext cx="7594415" cy="230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rw-RW" dirty="0"/>
          </a:p>
        </p:txBody>
      </p:sp>
      <p:sp>
        <p:nvSpPr>
          <p:cNvPr id="373" name="Text 373"/>
          <p:cNvSpPr txBox="1"/>
          <p:nvPr/>
        </p:nvSpPr>
        <p:spPr>
          <a:xfrm>
            <a:off x="4213232" y="3960000"/>
            <a:ext cx="7265231" cy="210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1B6E4A"/>
                </a:solidFill>
                <a:latin typeface="Calibri" pitchFamily="34" charset="0"/>
                <a:ea typeface="Calibri" pitchFamily="34" charset="-122"/>
                <a:cs typeface="Calibri" pitchFamily="34" charset="-120"/>
              </a:rPr>
              <a:t>Icyo rwibutsa</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Umugore ubonye impinduka agomba kujya ku ivuriro rimwegereye vuba.</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Kanseri y'ibere ivurwa neza iyo imenyekanye hakiri kare.</a:t>
            </a:r>
            <a:endParaRPr lang="rw-RW" sz="1800" dirty="0"/>
          </a:p>
        </p:txBody>
      </p:sp>
      <p:pic>
        <p:nvPicPr>
          <p:cNvPr id="378" name="Picture 377" descr="leaf_kin.png"/>
          <p:cNvPicPr>
            <a:picLocks noChangeAspect="1"/>
          </p:cNvPicPr>
          <p:nvPr/>
        </p:nvPicPr>
        <p:blipFill>
          <a:blip r:embed="rId2" cstate="hqprint">
            <a:extLst>
              <a:ext uri="{28A0092B-C50C-407E-A947-70E740481C1C}">
                <a14:useLocalDpi xmlns:a14="http://schemas.microsoft.com/office/drawing/2010/main"/>
              </a:ext>
            </a:extLst>
          </a:blip>
          <a:srcRect b="6055"/>
          <a:stretch>
            <a:fillRect/>
          </a:stretch>
        </p:blipFill>
        <p:spPr>
          <a:xfrm>
            <a:off x="1078029" y="1300000"/>
            <a:ext cx="2359346" cy="465028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Text 396"/>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2 | KUMENYA AMABERE</a:t>
            </a:r>
            <a:endParaRPr lang="rw-RW" sz="1000" dirty="0"/>
          </a:p>
        </p:txBody>
      </p:sp>
      <p:sp>
        <p:nvSpPr>
          <p:cNvPr id="397" name="Text 397"/>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Uko wigisha umugore kwisuzuma amabere</a:t>
            </a:r>
            <a:endParaRPr lang="rw-RW" sz="3000" dirty="0"/>
          </a:p>
        </p:txBody>
      </p:sp>
      <p:sp>
        <p:nvSpPr>
          <p:cNvPr id="398" name="Text 398"/>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399" name="Text 399"/>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49F</a:t>
            </a:r>
            <a:endParaRPr lang="rw-RW" sz="900" dirty="0"/>
          </a:p>
        </p:txBody>
      </p:sp>
      <p:sp>
        <p:nvSpPr>
          <p:cNvPr id="378" name="Shape 378"/>
          <p:cNvSpPr/>
          <p:nvPr/>
        </p:nvSpPr>
        <p:spPr>
          <a:xfrm>
            <a:off x="548640" y="1180000"/>
            <a:ext cx="11094415" cy="76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79" name="Shape 379"/>
          <p:cNvSpPr/>
          <p:nvPr/>
        </p:nvSpPr>
        <p:spPr>
          <a:xfrm>
            <a:off x="658640" y="1270000"/>
            <a:ext cx="1150000" cy="580000"/>
          </a:xfrm>
          <a:prstGeom prst="roundRect">
            <a:avLst>
              <a:gd name="adj" fmla="val 12000"/>
            </a:avLst>
          </a:prstGeom>
          <a:solidFill>
            <a:srgbClr val="1F3864"/>
          </a:solidFill>
          <a:ln>
            <a:noFill/>
          </a:ln>
        </p:spPr>
        <p:txBody>
          <a:bodyPr wrap="square" lIns="36000" tIns="18000" rIns="36000" bIns="18000" rtlCol="0" anchor="ctr"/>
          <a:lstStyle/>
          <a:p>
            <a:pPr marL="0" indent="0" algn="ctr">
              <a:lnSpc>
                <a:spcPct val="95000"/>
              </a:lnSpc>
              <a:buNone/>
            </a:pPr>
            <a:r>
              <a:rPr lang="rw-RW" sz="1400" b="1" dirty="0">
                <a:solidFill>
                  <a:srgbClr val="FFFFFF"/>
                </a:solidFill>
                <a:latin typeface="Calibri" pitchFamily="34" charset="0"/>
                <a:ea typeface="Calibri" pitchFamily="34" charset="-122"/>
                <a:cs typeface="Calibri" pitchFamily="34" charset="-120"/>
              </a:rPr>
              <a:t>Tegura</a:t>
            </a:r>
            <a:endParaRPr lang="rw-RW" sz="1400" dirty="0"/>
          </a:p>
        </p:txBody>
      </p:sp>
      <p:sp>
        <p:nvSpPr>
          <p:cNvPr id="380" name="Text 380"/>
          <p:cNvSpPr txBox="1"/>
          <p:nvPr/>
        </p:nvSpPr>
        <p:spPr>
          <a:xfrm>
            <a:off x="1928640" y="1240000"/>
            <a:ext cx="9594415" cy="64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 </a:t>
            </a:r>
            <a:r>
              <a:rPr lang="rw-RW" sz="1800" dirty="0">
                <a:solidFill>
                  <a:srgbClr val="203864"/>
                </a:solidFill>
                <a:latin typeface="Calibri" pitchFamily="34" charset="0"/>
                <a:ea typeface="Calibri" pitchFamily="34" charset="-122"/>
                <a:cs typeface="Calibri" pitchFamily="34" charset="-120"/>
              </a:rPr>
              <a:t>Hitamo ahantu hiherereye. Saba uruhushya, kandi umuhe umwanya wo kubaza.</a:t>
            </a:r>
            <a:endParaRPr lang="rw-RW" sz="1800" dirty="0"/>
          </a:p>
        </p:txBody>
      </p:sp>
      <p:sp>
        <p:nvSpPr>
          <p:cNvPr id="381" name="Shape 381"/>
          <p:cNvSpPr/>
          <p:nvPr/>
        </p:nvSpPr>
        <p:spPr>
          <a:xfrm>
            <a:off x="548640" y="2020000"/>
            <a:ext cx="11094415" cy="76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82" name="Shape 382"/>
          <p:cNvSpPr/>
          <p:nvPr/>
        </p:nvSpPr>
        <p:spPr>
          <a:xfrm>
            <a:off x="658640" y="2110000"/>
            <a:ext cx="1150000" cy="580000"/>
          </a:xfrm>
          <a:prstGeom prst="roundRect">
            <a:avLst>
              <a:gd name="adj" fmla="val 12000"/>
            </a:avLst>
          </a:prstGeom>
          <a:solidFill>
            <a:srgbClr val="1F3864"/>
          </a:solidFill>
          <a:ln>
            <a:noFill/>
          </a:ln>
        </p:spPr>
        <p:txBody>
          <a:bodyPr wrap="square" lIns="36000" tIns="18000" rIns="36000" bIns="18000" rtlCol="0" anchor="ctr"/>
          <a:lstStyle/>
          <a:p>
            <a:pPr marL="0" indent="0" algn="ctr">
              <a:lnSpc>
                <a:spcPct val="95000"/>
              </a:lnSpc>
              <a:buNone/>
            </a:pPr>
            <a:r>
              <a:rPr lang="rw-RW" sz="1400" b="1" dirty="0">
                <a:solidFill>
                  <a:srgbClr val="FFFFFF"/>
                </a:solidFill>
                <a:latin typeface="Calibri" pitchFamily="34" charset="0"/>
                <a:ea typeface="Calibri" pitchFamily="34" charset="-122"/>
                <a:cs typeface="Calibri" pitchFamily="34" charset="-120"/>
              </a:rPr>
              <a:t>Sobanura</a:t>
            </a:r>
            <a:endParaRPr lang="rw-RW" sz="1400" dirty="0"/>
          </a:p>
        </p:txBody>
      </p:sp>
      <p:sp>
        <p:nvSpPr>
          <p:cNvPr id="383" name="Text 383"/>
          <p:cNvSpPr txBox="1"/>
          <p:nvPr/>
        </p:nvSpPr>
        <p:spPr>
          <a:xfrm>
            <a:off x="1928640" y="2080000"/>
            <a:ext cx="9594415" cy="64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 </a:t>
            </a:r>
            <a:r>
              <a:rPr lang="rw-RW" sz="1800" dirty="0">
                <a:solidFill>
                  <a:srgbClr val="203864"/>
                </a:solidFill>
                <a:latin typeface="Calibri" pitchFamily="34" charset="0"/>
                <a:ea typeface="Calibri" pitchFamily="34" charset="-122"/>
                <a:cs typeface="Calibri" pitchFamily="34" charset="-120"/>
              </a:rPr>
              <a:t>Kumenya uko amabere ye asanzwe ameze bimufasha kubona impinduka hakiri kare.</a:t>
            </a:r>
            <a:endParaRPr lang="rw-RW" sz="1800" dirty="0"/>
          </a:p>
        </p:txBody>
      </p:sp>
      <p:sp>
        <p:nvSpPr>
          <p:cNvPr id="384" name="Shape 384"/>
          <p:cNvSpPr/>
          <p:nvPr/>
        </p:nvSpPr>
        <p:spPr>
          <a:xfrm>
            <a:off x="548640" y="2860000"/>
            <a:ext cx="11094415" cy="76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85" name="Shape 385"/>
          <p:cNvSpPr/>
          <p:nvPr/>
        </p:nvSpPr>
        <p:spPr>
          <a:xfrm>
            <a:off x="658640" y="2950000"/>
            <a:ext cx="1150000" cy="580000"/>
          </a:xfrm>
          <a:prstGeom prst="roundRect">
            <a:avLst>
              <a:gd name="adj" fmla="val 12000"/>
            </a:avLst>
          </a:prstGeom>
          <a:solidFill>
            <a:srgbClr val="1F3864"/>
          </a:solidFill>
          <a:ln>
            <a:noFill/>
          </a:ln>
        </p:spPr>
        <p:txBody>
          <a:bodyPr wrap="square" lIns="36000" tIns="18000" rIns="36000" bIns="18000" rtlCol="0" anchor="ctr"/>
          <a:lstStyle/>
          <a:p>
            <a:pPr marL="0" indent="0" algn="ctr">
              <a:lnSpc>
                <a:spcPct val="95000"/>
              </a:lnSpc>
              <a:buNone/>
            </a:pPr>
            <a:r>
              <a:rPr lang="rw-RW" sz="1400" b="1" dirty="0">
                <a:solidFill>
                  <a:srgbClr val="FFFFFF"/>
                </a:solidFill>
                <a:latin typeface="Calibri" pitchFamily="34" charset="0"/>
                <a:ea typeface="Calibri" pitchFamily="34" charset="-122"/>
                <a:cs typeface="Calibri" pitchFamily="34" charset="-120"/>
              </a:rPr>
              <a:t>Erekana</a:t>
            </a:r>
            <a:endParaRPr lang="rw-RW" sz="1400" dirty="0"/>
          </a:p>
        </p:txBody>
      </p:sp>
      <p:sp>
        <p:nvSpPr>
          <p:cNvPr id="386" name="Text 386"/>
          <p:cNvSpPr txBox="1"/>
          <p:nvPr/>
        </p:nvSpPr>
        <p:spPr>
          <a:xfrm>
            <a:off x="1928640" y="2920000"/>
            <a:ext cx="9594415" cy="64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 </a:t>
            </a:r>
            <a:r>
              <a:rPr lang="rw-RW" sz="1800" dirty="0">
                <a:solidFill>
                  <a:srgbClr val="203864"/>
                </a:solidFill>
                <a:latin typeface="Calibri" pitchFamily="34" charset="0"/>
                <a:ea typeface="Calibri" pitchFamily="34" charset="-122"/>
                <a:cs typeface="Calibri" pitchFamily="34" charset="-120"/>
              </a:rPr>
              <a:t>Koresha urupapuro rwa RBC cyangwa amashusho. Ntusuzume ibere rye wowe ubwawe.</a:t>
            </a:r>
            <a:endParaRPr lang="rw-RW" sz="1800" dirty="0"/>
          </a:p>
        </p:txBody>
      </p:sp>
      <p:sp>
        <p:nvSpPr>
          <p:cNvPr id="387" name="Shape 387"/>
          <p:cNvSpPr/>
          <p:nvPr/>
        </p:nvSpPr>
        <p:spPr>
          <a:xfrm>
            <a:off x="548640" y="3700000"/>
            <a:ext cx="11094415" cy="76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88" name="Shape 388"/>
          <p:cNvSpPr/>
          <p:nvPr/>
        </p:nvSpPr>
        <p:spPr>
          <a:xfrm>
            <a:off x="658640" y="3790000"/>
            <a:ext cx="1150000" cy="580000"/>
          </a:xfrm>
          <a:prstGeom prst="roundRect">
            <a:avLst>
              <a:gd name="adj" fmla="val 12000"/>
            </a:avLst>
          </a:prstGeom>
          <a:solidFill>
            <a:srgbClr val="1F3864"/>
          </a:solidFill>
          <a:ln>
            <a:noFill/>
          </a:ln>
        </p:spPr>
        <p:txBody>
          <a:bodyPr wrap="square" lIns="36000" tIns="18000" rIns="36000" bIns="18000" rtlCol="0" anchor="ctr"/>
          <a:lstStyle/>
          <a:p>
            <a:pPr marL="0" indent="0" algn="ctr">
              <a:lnSpc>
                <a:spcPct val="95000"/>
              </a:lnSpc>
              <a:buNone/>
            </a:pPr>
            <a:r>
              <a:rPr lang="rw-RW" sz="1400" b="1" dirty="0">
                <a:solidFill>
                  <a:srgbClr val="FFFFFF"/>
                </a:solidFill>
                <a:latin typeface="Calibri" pitchFamily="34" charset="0"/>
                <a:ea typeface="Calibri" pitchFamily="34" charset="-122"/>
                <a:cs typeface="Calibri" pitchFamily="34" charset="-120"/>
              </a:rPr>
              <a:t>Igihe</a:t>
            </a:r>
            <a:endParaRPr lang="rw-RW" sz="1400" dirty="0"/>
          </a:p>
        </p:txBody>
      </p:sp>
      <p:sp>
        <p:nvSpPr>
          <p:cNvPr id="389" name="Text 389"/>
          <p:cNvSpPr txBox="1"/>
          <p:nvPr/>
        </p:nvSpPr>
        <p:spPr>
          <a:xfrm>
            <a:off x="1928640" y="3760000"/>
            <a:ext cx="9594415" cy="64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 </a:t>
            </a:r>
            <a:r>
              <a:rPr lang="rw-RW" sz="1800" dirty="0">
                <a:solidFill>
                  <a:srgbClr val="203864"/>
                </a:solidFill>
                <a:latin typeface="Calibri" pitchFamily="34" charset="0"/>
                <a:ea typeface="Calibri" pitchFamily="34" charset="-122"/>
                <a:cs typeface="Calibri" pitchFamily="34" charset="-120"/>
              </a:rPr>
              <a:t>Rimwe mu kwezi, nyuma y'imihango. Utakibona imihango ahitamo itariki imwe buri kwezi.</a:t>
            </a:r>
            <a:endParaRPr lang="rw-RW" sz="1800" dirty="0"/>
          </a:p>
        </p:txBody>
      </p:sp>
      <p:sp>
        <p:nvSpPr>
          <p:cNvPr id="390" name="Shape 390"/>
          <p:cNvSpPr/>
          <p:nvPr/>
        </p:nvSpPr>
        <p:spPr>
          <a:xfrm>
            <a:off x="548640" y="4540000"/>
            <a:ext cx="11094415" cy="76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91" name="Shape 391"/>
          <p:cNvSpPr/>
          <p:nvPr/>
        </p:nvSpPr>
        <p:spPr>
          <a:xfrm>
            <a:off x="658640" y="4630000"/>
            <a:ext cx="1150000" cy="580000"/>
          </a:xfrm>
          <a:prstGeom prst="roundRect">
            <a:avLst>
              <a:gd name="adj" fmla="val 12000"/>
            </a:avLst>
          </a:prstGeom>
          <a:solidFill>
            <a:srgbClr val="1F3864"/>
          </a:solidFill>
          <a:ln>
            <a:noFill/>
          </a:ln>
        </p:spPr>
        <p:txBody>
          <a:bodyPr wrap="square" lIns="36000" tIns="18000" rIns="36000" bIns="18000" rtlCol="0" anchor="ctr"/>
          <a:lstStyle/>
          <a:p>
            <a:pPr marL="0" indent="0" algn="ctr">
              <a:lnSpc>
                <a:spcPct val="95000"/>
              </a:lnSpc>
              <a:buNone/>
            </a:pPr>
            <a:r>
              <a:rPr lang="rw-RW" sz="1400" b="1" dirty="0">
                <a:solidFill>
                  <a:srgbClr val="FFFFFF"/>
                </a:solidFill>
                <a:latin typeface="Calibri" pitchFamily="34" charset="0"/>
                <a:ea typeface="Calibri" pitchFamily="34" charset="-122"/>
                <a:cs typeface="Calibri" pitchFamily="34" charset="-120"/>
              </a:rPr>
              <a:t>Mwemeranye</a:t>
            </a:r>
            <a:endParaRPr lang="rw-RW" sz="1400" dirty="0"/>
          </a:p>
        </p:txBody>
      </p:sp>
      <p:sp>
        <p:nvSpPr>
          <p:cNvPr id="392" name="Text 392"/>
          <p:cNvSpPr txBox="1"/>
          <p:nvPr/>
        </p:nvSpPr>
        <p:spPr>
          <a:xfrm>
            <a:off x="1928640" y="4600000"/>
            <a:ext cx="9594415" cy="64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 </a:t>
            </a:r>
            <a:r>
              <a:rPr lang="rw-RW" sz="1800" dirty="0">
                <a:solidFill>
                  <a:srgbClr val="203864"/>
                </a:solidFill>
                <a:latin typeface="Calibri" pitchFamily="34" charset="0"/>
                <a:ea typeface="Calibri" pitchFamily="34" charset="-122"/>
                <a:cs typeface="Calibri" pitchFamily="34" charset="-120"/>
              </a:rPr>
              <a:t>Icyo gukora: abonye impinduka, ajya ku ivuriro cyangwa ku kigo nderabuzima mu masaha 48.</a:t>
            </a:r>
            <a:endParaRPr lang="rw-RW" sz="1800" dirty="0"/>
          </a:p>
        </p:txBody>
      </p:sp>
      <p:sp>
        <p:nvSpPr>
          <p:cNvPr id="393" name="Shape 393"/>
          <p:cNvSpPr/>
          <p:nvPr/>
        </p:nvSpPr>
        <p:spPr>
          <a:xfrm>
            <a:off x="548640" y="5380000"/>
            <a:ext cx="11094415" cy="760000"/>
          </a:xfrm>
          <a:prstGeom prst="roundRect">
            <a:avLst>
              <a:gd name="adj" fmla="val 5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394" name="Shape 394"/>
          <p:cNvSpPr/>
          <p:nvPr/>
        </p:nvSpPr>
        <p:spPr>
          <a:xfrm>
            <a:off x="658640" y="5470000"/>
            <a:ext cx="1150000" cy="580000"/>
          </a:xfrm>
          <a:prstGeom prst="roundRect">
            <a:avLst>
              <a:gd name="adj" fmla="val 12000"/>
            </a:avLst>
          </a:prstGeom>
          <a:solidFill>
            <a:srgbClr val="1F3864"/>
          </a:solidFill>
          <a:ln>
            <a:noFill/>
          </a:ln>
        </p:spPr>
        <p:txBody>
          <a:bodyPr wrap="square" lIns="36000" tIns="18000" rIns="36000" bIns="18000" rtlCol="0" anchor="ctr"/>
          <a:lstStyle/>
          <a:p>
            <a:pPr marL="0" indent="0" algn="ctr">
              <a:lnSpc>
                <a:spcPct val="95000"/>
              </a:lnSpc>
              <a:buNone/>
            </a:pPr>
            <a:r>
              <a:rPr lang="rw-RW" sz="1400" b="1" dirty="0">
                <a:solidFill>
                  <a:srgbClr val="FFFFFF"/>
                </a:solidFill>
                <a:latin typeface="Calibri" pitchFamily="34" charset="0"/>
                <a:ea typeface="Calibri" pitchFamily="34" charset="-122"/>
                <a:cs typeface="Calibri" pitchFamily="34" charset="-120"/>
              </a:rPr>
              <a:t>Humuriza</a:t>
            </a:r>
            <a:endParaRPr lang="rw-RW" sz="1400" dirty="0"/>
          </a:p>
        </p:txBody>
      </p:sp>
      <p:sp>
        <p:nvSpPr>
          <p:cNvPr id="395" name="Text 395"/>
          <p:cNvSpPr txBox="1"/>
          <p:nvPr/>
        </p:nvSpPr>
        <p:spPr>
          <a:xfrm>
            <a:off x="1928640" y="5440000"/>
            <a:ext cx="9594415" cy="64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 </a:t>
            </a:r>
            <a:r>
              <a:rPr lang="rw-RW" sz="1800" dirty="0">
                <a:solidFill>
                  <a:srgbClr val="203864"/>
                </a:solidFill>
                <a:latin typeface="Calibri" pitchFamily="34" charset="0"/>
                <a:ea typeface="Calibri" pitchFamily="34" charset="-122"/>
                <a:cs typeface="Calibri" pitchFamily="34" charset="-120"/>
              </a:rPr>
              <a:t>Impinduka nyinshi si kanseri. Kwisuzumisha ni ibisanzwe kandi ni ibanga.</a:t>
            </a:r>
            <a:endParaRPr lang="rw-RW"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Text 411"/>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2 | IKIBAZO</a:t>
            </a:r>
            <a:endParaRPr lang="rw-RW" sz="1000" dirty="0"/>
          </a:p>
        </p:txBody>
      </p:sp>
      <p:sp>
        <p:nvSpPr>
          <p:cNvPr id="412" name="Text 412"/>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Ni iki wakora?</a:t>
            </a:r>
            <a:endParaRPr lang="rw-RW" sz="3000" dirty="0"/>
          </a:p>
        </p:txBody>
      </p:sp>
      <p:sp>
        <p:nvSpPr>
          <p:cNvPr id="413" name="Text 413"/>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414" name="Text 414"/>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49G</a:t>
            </a:r>
            <a:endParaRPr lang="rw-RW" sz="900" dirty="0"/>
          </a:p>
        </p:txBody>
      </p:sp>
      <p:sp>
        <p:nvSpPr>
          <p:cNvPr id="400" name="Shape 400"/>
          <p:cNvSpPr/>
          <p:nvPr/>
        </p:nvSpPr>
        <p:spPr>
          <a:xfrm>
            <a:off x="548640" y="1150000"/>
            <a:ext cx="11094415" cy="950000"/>
          </a:xfrm>
          <a:prstGeom prst="roundRect">
            <a:avLst>
              <a:gd name="adj" fmla="val 3500"/>
            </a:avLst>
          </a:prstGeom>
          <a:solidFill>
            <a:srgbClr val="FDF6E3"/>
          </a:solidFill>
          <a:ln w="12700">
            <a:solidFill>
              <a:srgbClr val="E6D4A3"/>
            </a:solidFill>
            <a:prstDash val="solid"/>
          </a:ln>
        </p:spPr>
        <p:txBody>
          <a:bodyPr wrap="square" lIns="91440" tIns="45720" rIns="91440" bIns="45720" rtlCol="0" anchor="ctr"/>
          <a:lstStyle/>
          <a:p>
            <a:endParaRPr lang="rw-RW" dirty="0"/>
          </a:p>
        </p:txBody>
      </p:sp>
      <p:sp>
        <p:nvSpPr>
          <p:cNvPr id="401" name="Text 401"/>
          <p:cNvSpPr txBox="1"/>
          <p:nvPr/>
        </p:nvSpPr>
        <p:spPr>
          <a:xfrm>
            <a:off x="713232" y="1260000"/>
            <a:ext cx="10765231" cy="750000"/>
          </a:xfrm>
          <a:prstGeom prst="rect">
            <a:avLst/>
          </a:prstGeom>
          <a:noFill/>
          <a:ln/>
        </p:spPr>
        <p:txBody>
          <a:bodyPr wrap="square" lIns="0" tIns="0" rIns="0" bIns="0" rtlCol="0" anchor="t"/>
          <a:lstStyle/>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 Mukamana Josiane, w'imyaka 35: Mu gihe umusura, akubwira ko yumvise ikibyimba mu ibere ry'iburyo. Agusaba ko wamusuzuma.</a:t>
            </a:r>
            <a:endParaRPr lang="rw-RW" sz="1800" dirty="0"/>
          </a:p>
        </p:txBody>
      </p:sp>
      <p:sp>
        <p:nvSpPr>
          <p:cNvPr id="402" name="Shape 402"/>
          <p:cNvSpPr/>
          <p:nvPr/>
        </p:nvSpPr>
        <p:spPr>
          <a:xfrm>
            <a:off x="548640" y="2200000"/>
            <a:ext cx="11094415" cy="470000"/>
          </a:xfrm>
          <a:prstGeom prst="roundRect">
            <a:avLst>
              <a:gd name="adj" fmla="val 12000"/>
            </a:avLst>
          </a:prstGeom>
          <a:solidFill>
            <a:srgbClr val="EAF5EF"/>
          </a:solidFill>
          <a:ln w="12700">
            <a:solidFill>
              <a:srgbClr val="8FC4A9"/>
            </a:solidFill>
            <a:prstDash val="solid"/>
          </a:ln>
        </p:spPr>
        <p:txBody>
          <a:bodyPr wrap="square" lIns="91440" tIns="45720" rIns="91440" bIns="45720" rtlCol="0" anchor="ctr"/>
          <a:lstStyle/>
          <a:p>
            <a:endParaRPr lang="rw-RW" dirty="0"/>
          </a:p>
        </p:txBody>
      </p:sp>
      <p:sp>
        <p:nvSpPr>
          <p:cNvPr id="403" name="Text 403"/>
          <p:cNvSpPr txBox="1"/>
          <p:nvPr/>
        </p:nvSpPr>
        <p:spPr>
          <a:xfrm>
            <a:off x="713232" y="2230000"/>
            <a:ext cx="10765231" cy="410000"/>
          </a:xfrm>
          <a:prstGeom prst="rect">
            <a:avLst/>
          </a:prstGeom>
          <a:noFill/>
          <a:ln/>
        </p:spPr>
        <p:txBody>
          <a:bodyPr wrap="square" lIns="0" tIns="0" rIns="0" bIns="0" rtlCol="0" anchor="ctr"/>
          <a:lstStyle/>
          <a:p>
            <a:pPr marL="0" indent="0" algn="l">
              <a:lnSpc>
                <a:spcPct val="95000"/>
              </a:lnSpc>
              <a:buNone/>
            </a:pPr>
            <a:r>
              <a:rPr lang="rw-RW" sz="1800" b="1" dirty="0">
                <a:solidFill>
                  <a:srgbClr val="2E6B45"/>
                </a:solidFill>
                <a:latin typeface="Calibri" pitchFamily="34" charset="0"/>
                <a:ea typeface="Calibri" pitchFamily="34" charset="-122"/>
                <a:cs typeface="Calibri" pitchFamily="34" charset="-120"/>
              </a:rPr>
              <a:t>A   Kumusobanurira ko isuzuma rikorwa n'umuforomo, no kumwohereza ku ivuriro cyangwa ku kigo nderabuzima mu masaha 48 ✓</a:t>
            </a:r>
            <a:endParaRPr lang="rw-RW" sz="1800" dirty="0"/>
          </a:p>
        </p:txBody>
      </p:sp>
      <p:sp>
        <p:nvSpPr>
          <p:cNvPr id="404" name="Shape 404"/>
          <p:cNvSpPr/>
          <p:nvPr/>
        </p:nvSpPr>
        <p:spPr>
          <a:xfrm>
            <a:off x="548640" y="2740000"/>
            <a:ext cx="11094415" cy="470000"/>
          </a:xfrm>
          <a:prstGeom prst="roundRect">
            <a:avLst>
              <a:gd name="adj" fmla="val 12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05" name="Text 405"/>
          <p:cNvSpPr txBox="1"/>
          <p:nvPr/>
        </p:nvSpPr>
        <p:spPr>
          <a:xfrm>
            <a:off x="713232" y="2770000"/>
            <a:ext cx="10765231" cy="410000"/>
          </a:xfrm>
          <a:prstGeom prst="rect">
            <a:avLst/>
          </a:prstGeom>
          <a:noFill/>
          <a:ln/>
        </p:spPr>
        <p:txBody>
          <a:bodyPr wrap="square" lIns="0" tIns="0" rIns="0" bIns="0" rtlCol="0" anchor="ctr"/>
          <a:lstStyle/>
          <a:p>
            <a:pPr marL="0" indent="0" algn="l">
              <a:lnSpc>
                <a:spcPct val="95000"/>
              </a:lnSpc>
              <a:buNone/>
            </a:pPr>
            <a:r>
              <a:rPr lang="rw-RW" sz="1800" dirty="0">
                <a:solidFill>
                  <a:srgbClr val="203864"/>
                </a:solidFill>
                <a:latin typeface="Calibri" pitchFamily="34" charset="0"/>
                <a:ea typeface="Calibri" pitchFamily="34" charset="-122"/>
                <a:cs typeface="Calibri" pitchFamily="34" charset="-120"/>
              </a:rPr>
              <a:t>B   Kumubwira ko ibibyimba byose ari ibisanzwe</a:t>
            </a:r>
            <a:endParaRPr lang="rw-RW" sz="1800" dirty="0"/>
          </a:p>
        </p:txBody>
      </p:sp>
      <p:sp>
        <p:nvSpPr>
          <p:cNvPr id="406" name="Shape 406"/>
          <p:cNvSpPr/>
          <p:nvPr/>
        </p:nvSpPr>
        <p:spPr>
          <a:xfrm>
            <a:off x="548640" y="3280000"/>
            <a:ext cx="11094415" cy="470000"/>
          </a:xfrm>
          <a:prstGeom prst="roundRect">
            <a:avLst>
              <a:gd name="adj" fmla="val 12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07" name="Text 407"/>
          <p:cNvSpPr txBox="1"/>
          <p:nvPr/>
        </p:nvSpPr>
        <p:spPr>
          <a:xfrm>
            <a:off x="713232" y="3310000"/>
            <a:ext cx="10765231" cy="410000"/>
          </a:xfrm>
          <a:prstGeom prst="rect">
            <a:avLst/>
          </a:prstGeom>
          <a:noFill/>
          <a:ln/>
        </p:spPr>
        <p:txBody>
          <a:bodyPr wrap="square" lIns="0" tIns="0" rIns="0" bIns="0" rtlCol="0" anchor="ctr"/>
          <a:lstStyle/>
          <a:p>
            <a:pPr marL="0" indent="0" algn="l">
              <a:lnSpc>
                <a:spcPct val="95000"/>
              </a:lnSpc>
              <a:buNone/>
            </a:pPr>
            <a:r>
              <a:rPr lang="rw-RW" sz="1800" dirty="0">
                <a:solidFill>
                  <a:srgbClr val="203864"/>
                </a:solidFill>
                <a:latin typeface="Calibri" pitchFamily="34" charset="0"/>
                <a:ea typeface="Calibri" pitchFamily="34" charset="-122"/>
                <a:cs typeface="Calibri" pitchFamily="34" charset="-120"/>
              </a:rPr>
              <a:t>C   Kumubwira ategereze isuzuma rya buri mwaka</a:t>
            </a:r>
            <a:endParaRPr lang="rw-RW" sz="1800" dirty="0"/>
          </a:p>
        </p:txBody>
      </p:sp>
      <p:sp>
        <p:nvSpPr>
          <p:cNvPr id="408" name="Shape 408"/>
          <p:cNvSpPr/>
          <p:nvPr/>
        </p:nvSpPr>
        <p:spPr>
          <a:xfrm>
            <a:off x="548640" y="3820000"/>
            <a:ext cx="11094415" cy="470000"/>
          </a:xfrm>
          <a:prstGeom prst="roundRect">
            <a:avLst>
              <a:gd name="adj" fmla="val 12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09" name="Text 409"/>
          <p:cNvSpPr txBox="1"/>
          <p:nvPr/>
        </p:nvSpPr>
        <p:spPr>
          <a:xfrm>
            <a:off x="713232" y="3850000"/>
            <a:ext cx="10765231" cy="410000"/>
          </a:xfrm>
          <a:prstGeom prst="rect">
            <a:avLst/>
          </a:prstGeom>
          <a:noFill/>
          <a:ln/>
        </p:spPr>
        <p:txBody>
          <a:bodyPr wrap="square" lIns="0" tIns="0" rIns="0" bIns="0" rtlCol="0" anchor="ctr"/>
          <a:lstStyle/>
          <a:p>
            <a:pPr marL="0" indent="0" algn="l">
              <a:lnSpc>
                <a:spcPct val="95000"/>
              </a:lnSpc>
              <a:buNone/>
            </a:pPr>
            <a:r>
              <a:rPr lang="rw-RW" sz="1800" dirty="0">
                <a:solidFill>
                  <a:srgbClr val="203864"/>
                </a:solidFill>
                <a:latin typeface="Calibri" pitchFamily="34" charset="0"/>
                <a:ea typeface="Calibri" pitchFamily="34" charset="-122"/>
                <a:cs typeface="Calibri" pitchFamily="34" charset="-120"/>
              </a:rPr>
              <a:t>D   Kumusuzuma ibere wowe ubwawe</a:t>
            </a:r>
            <a:endParaRPr lang="rw-RW" sz="1800" dirty="0"/>
          </a:p>
        </p:txBody>
      </p:sp>
      <p:sp>
        <p:nvSpPr>
          <p:cNvPr id="410" name="Text 410"/>
          <p:cNvSpPr txBox="1"/>
          <p:nvPr/>
        </p:nvSpPr>
        <p:spPr>
          <a:xfrm>
            <a:off x="548640" y="4420000"/>
            <a:ext cx="11094415" cy="180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2E6B45"/>
                </a:solidFill>
                <a:latin typeface="Calibri" pitchFamily="34" charset="0"/>
                <a:ea typeface="Calibri" pitchFamily="34" charset="-122"/>
                <a:cs typeface="Calibri" pitchFamily="34" charset="-120"/>
              </a:rPr>
              <a:t>Igisubizo cyiza: A</a:t>
            </a:r>
            <a:endParaRPr lang="rw-RW" sz="1800" dirty="0"/>
          </a:p>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Igisubizo: </a:t>
            </a:r>
            <a:r>
              <a:rPr lang="rw-RW" sz="1800" dirty="0">
                <a:solidFill>
                  <a:srgbClr val="203864"/>
                </a:solidFill>
                <a:latin typeface="Calibri" pitchFamily="34" charset="0"/>
                <a:ea typeface="Calibri" pitchFamily="34" charset="-122"/>
                <a:cs typeface="Calibri" pitchFamily="34" charset="-120"/>
              </a:rPr>
              <a:t>Umujyanama w'ubuzima ntasuzuma amabere. Ikibyimba gishya kigomba gusuzumwa n'umuforomo mu masaha 48. Mufashe gutegura urugendo, kandi uzamubaze uko byagenze.</a:t>
            </a:r>
            <a:endParaRPr lang="rw-RW" sz="1800" dirty="0"/>
          </a:p>
        </p:txBody>
      </p:sp>
    </p:spTree>
    <p:extLst>
      <p:ext uri="{BB962C8B-B14F-4D97-AF65-F5344CB8AC3E}">
        <p14:creationId xmlns:p14="http://schemas.microsoft.com/office/powerpoint/2010/main" val="8008297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6" name="Shape 2">
            <a:extLst>
              <a:ext uri="{FF2B5EF4-FFF2-40B4-BE49-F238E27FC236}">
                <a16:creationId xmlns:a16="http://schemas.microsoft.com/office/drawing/2014/main" id="{B0B1BB5B-F683-2815-644C-D0461A964E11}"/>
              </a:ext>
            </a:extLst>
          </p:cNvPr>
          <p:cNvSpPr/>
          <p:nvPr/>
        </p:nvSpPr>
        <p:spPr>
          <a:xfrm>
            <a:off x="548640" y="3798054"/>
            <a:ext cx="5765896" cy="722376"/>
          </a:xfrm>
          <a:prstGeom prst="roundRect">
            <a:avLst>
              <a:gd name="adj" fmla="val 3837"/>
            </a:avLst>
          </a:prstGeom>
          <a:solidFill>
            <a:srgbClr val="F3F7FC"/>
          </a:solidFill>
          <a:ln w="12700">
            <a:solidFill>
              <a:srgbClr val="D3E1F2"/>
            </a:solidFill>
            <a:prstDash val="solid"/>
          </a:ln>
        </p:spPr>
        <p:txBody>
          <a:bodyPr>
            <a:normAutofit/>
          </a:bodyPr>
          <a:lstStyle/>
          <a:p>
            <a:endParaRPr lang="rw-RW" dirty="0"/>
          </a:p>
        </p:txBody>
      </p:sp>
      <p:sp>
        <p:nvSpPr>
          <p:cNvPr id="24" name="Shape 2">
            <a:extLst>
              <a:ext uri="{FF2B5EF4-FFF2-40B4-BE49-F238E27FC236}">
                <a16:creationId xmlns:a16="http://schemas.microsoft.com/office/drawing/2014/main" id="{58E138F2-856B-60DF-9DB3-5C5F52DC57CF}"/>
              </a:ext>
            </a:extLst>
          </p:cNvPr>
          <p:cNvSpPr/>
          <p:nvPr/>
        </p:nvSpPr>
        <p:spPr>
          <a:xfrm>
            <a:off x="548640" y="2989768"/>
            <a:ext cx="5765896" cy="722376"/>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22" name="Shape 2">
            <a:extLst>
              <a:ext uri="{FF2B5EF4-FFF2-40B4-BE49-F238E27FC236}">
                <a16:creationId xmlns:a16="http://schemas.microsoft.com/office/drawing/2014/main" id="{08B1BDD2-8268-2D55-F08A-552A2E84C14F}"/>
              </a:ext>
            </a:extLst>
          </p:cNvPr>
          <p:cNvSpPr/>
          <p:nvPr/>
        </p:nvSpPr>
        <p:spPr>
          <a:xfrm>
            <a:off x="548640" y="2191028"/>
            <a:ext cx="5765896" cy="722376"/>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20" name="Shape 2">
            <a:extLst>
              <a:ext uri="{FF2B5EF4-FFF2-40B4-BE49-F238E27FC236}">
                <a16:creationId xmlns:a16="http://schemas.microsoft.com/office/drawing/2014/main" id="{D6525A14-9180-2099-0598-9754AB2F6AA9}"/>
              </a:ext>
            </a:extLst>
          </p:cNvPr>
          <p:cNvSpPr/>
          <p:nvPr/>
        </p:nvSpPr>
        <p:spPr>
          <a:xfrm>
            <a:off x="548640" y="1390792"/>
            <a:ext cx="5765896" cy="722376"/>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IBYAGO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normAutofit/>
          </a:bodyPr>
          <a:lstStyle/>
          <a:p>
            <a:pPr marL="0" indent="0">
              <a:buNone/>
            </a:pPr>
            <a:r>
              <a:rPr lang="rw-RW" sz="3000" b="1" dirty="0">
                <a:solidFill>
                  <a:srgbClr val="1F3864"/>
                </a:solidFill>
                <a:latin typeface="Calibri" pitchFamily="34" charset="0"/>
                <a:ea typeface="Calibri" pitchFamily="34" charset="-122"/>
                <a:cs typeface="Calibri" pitchFamily="34" charset="-120"/>
              </a:rPr>
              <a:t>Ni iki cyongera ibyago?</a:t>
            </a:r>
            <a:endParaRPr lang="rw-RW" sz="3000" dirty="0"/>
          </a:p>
        </p:txBody>
      </p:sp>
      <p:sp>
        <p:nvSpPr>
          <p:cNvPr id="4" name="Text 2"/>
          <p:cNvSpPr txBox="1"/>
          <p:nvPr/>
        </p:nvSpPr>
        <p:spPr>
          <a:xfrm>
            <a:off x="548640" y="1011090"/>
            <a:ext cx="11091672" cy="411480"/>
          </a:xfrm>
          <a:prstGeom prst="rect">
            <a:avLst/>
          </a:prstGeom>
          <a:noFill/>
          <a:ln/>
        </p:spPr>
        <p:txBody>
          <a:bodyPr wrap="square" lIns="0" tIns="0" rIns="0" bIns="0" rtlCol="0" anchor="ctr">
            <a:normAutofit fontScale="93000"/>
          </a:bodyPr>
          <a:lstStyle/>
          <a:p>
            <a:pPr marL="0" indent="0">
              <a:buNone/>
            </a:pPr>
            <a:r>
              <a:rPr lang="rw-RW" sz="1800" dirty="0">
                <a:solidFill>
                  <a:srgbClr val="203864"/>
                </a:solidFill>
                <a:latin typeface="Calibri" pitchFamily="34" charset="0"/>
                <a:ea typeface="Calibri" pitchFamily="34" charset="-122"/>
                <a:cs typeface="Calibri" pitchFamily="34" charset="-120"/>
              </a:rPr>
              <a:t>Hari ibintu bimwe na bimwe byongera ibyago. Nta na kimwe muri byo gisobanura ko kuba umuntu agifite azagira kanseri.</a:t>
            </a:r>
            <a:endParaRPr lang="rw-RW" sz="1800" dirty="0"/>
          </a:p>
        </p:txBody>
      </p:sp>
      <p:sp>
        <p:nvSpPr>
          <p:cNvPr id="6" name="Text 4"/>
          <p:cNvSpPr txBox="1"/>
          <p:nvPr/>
        </p:nvSpPr>
        <p:spPr>
          <a:xfrm>
            <a:off x="630936" y="1445656"/>
            <a:ext cx="5039820" cy="731520"/>
          </a:xfrm>
          <a:prstGeom prst="rect">
            <a:avLst/>
          </a:prstGeom>
          <a:noFill/>
          <a:ln/>
        </p:spPr>
        <p:txBody>
          <a:bodyPr wrap="square" lIns="0" tIns="0" rIns="0" bIns="0" rtlCol="0" anchor="t">
            <a:normAutofit fontScale="91500" lnSpcReduction="5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Gusaza. </a:t>
            </a:r>
            <a:r>
              <a:rPr lang="rw-RW" sz="1800" dirty="0">
                <a:solidFill>
                  <a:srgbClr val="203864"/>
                </a:solidFill>
                <a:latin typeface="Calibri" pitchFamily="34" charset="0"/>
                <a:ea typeface="Calibri" pitchFamily="34" charset="-122"/>
                <a:cs typeface="Calibri" pitchFamily="34" charset="-120"/>
              </a:rPr>
              <a:t>Kanseri y'ibere igenda yiyongera uko imyaka igenda yiyongera, nubwo abagore bakiri bato na bo bayirwara.</a:t>
            </a:r>
            <a:endParaRPr lang="rw-RW" sz="1800" dirty="0"/>
          </a:p>
        </p:txBody>
      </p:sp>
      <p:sp>
        <p:nvSpPr>
          <p:cNvPr id="8" name="Text 6"/>
          <p:cNvSpPr txBox="1"/>
          <p:nvPr/>
        </p:nvSpPr>
        <p:spPr>
          <a:xfrm>
            <a:off x="647374" y="2255036"/>
            <a:ext cx="5198968" cy="731520"/>
          </a:xfrm>
          <a:prstGeom prst="rect">
            <a:avLst/>
          </a:prstGeom>
          <a:noFill/>
          <a:ln/>
        </p:spPr>
        <p:txBody>
          <a:bodyPr wrap="square" lIns="0" tIns="0" rIns="0" bIns="0" rtlCol="0" anchor="t">
            <a:normAutofit fontScale="855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Kuba umugore. </a:t>
            </a:r>
            <a:r>
              <a:rPr lang="rw-RW" sz="1800" dirty="0">
                <a:solidFill>
                  <a:srgbClr val="203864"/>
                </a:solidFill>
                <a:latin typeface="Calibri" pitchFamily="34" charset="0"/>
                <a:ea typeface="Calibri" pitchFamily="34" charset="-122"/>
                <a:cs typeface="Calibri" pitchFamily="34" charset="-120"/>
              </a:rPr>
              <a:t>Kanseri y'ibere yibasira cyane abagore. Ishobora kugaragara ku bagabo, ariko ibi ntibikunze kugaragara cyane.</a:t>
            </a:r>
            <a:endParaRPr lang="rw-RW" sz="1800" dirty="0"/>
          </a:p>
        </p:txBody>
      </p:sp>
      <p:sp>
        <p:nvSpPr>
          <p:cNvPr id="10" name="Text 8"/>
          <p:cNvSpPr txBox="1"/>
          <p:nvPr/>
        </p:nvSpPr>
        <p:spPr>
          <a:xfrm>
            <a:off x="684640" y="3018186"/>
            <a:ext cx="5500500" cy="731520"/>
          </a:xfrm>
          <a:prstGeom prst="rect">
            <a:avLst/>
          </a:prstGeom>
          <a:noFill/>
          <a:ln/>
        </p:spPr>
        <p:txBody>
          <a:bodyPr wrap="square" lIns="0" tIns="0" rIns="0" bIns="0" rtlCol="0" anchor="t">
            <a:normAutofit fontScale="855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Kanseri y'ibere ku muvandimwe wa hafi. </a:t>
            </a:r>
            <a:r>
              <a:rPr lang="rw-RW" sz="1800" dirty="0">
                <a:solidFill>
                  <a:srgbClr val="203864"/>
                </a:solidFill>
                <a:latin typeface="Calibri" pitchFamily="34" charset="0"/>
                <a:ea typeface="Calibri" pitchFamily="34" charset="-122"/>
                <a:cs typeface="Calibri" pitchFamily="34" charset="-120"/>
              </a:rPr>
              <a:t>Umubyeyi, umuvandimwe cyangwa umukobwa warwaye kanseri y'ibere byongera ibyago byo kuyirwara.</a:t>
            </a:r>
            <a:endParaRPr lang="rw-RW" sz="1800" dirty="0"/>
          </a:p>
        </p:txBody>
      </p:sp>
      <p:sp>
        <p:nvSpPr>
          <p:cNvPr id="12" name="Text 10"/>
          <p:cNvSpPr txBox="1"/>
          <p:nvPr/>
        </p:nvSpPr>
        <p:spPr>
          <a:xfrm>
            <a:off x="657208" y="3861162"/>
            <a:ext cx="5297702" cy="648324"/>
          </a:xfrm>
          <a:prstGeom prst="rect">
            <a:avLst/>
          </a:prstGeom>
          <a:noFill/>
          <a:ln/>
        </p:spPr>
        <p:txBody>
          <a:bodyPr wrap="square" lIns="0" tIns="0" rIns="0" bIns="0" rtlCol="0" anchor="t">
            <a:normAutofit fontScale="88000" lnSpcReduction="2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Waba warigeze kurwara kanseri y'ibere. </a:t>
            </a:r>
            <a:r>
              <a:rPr lang="rw-RW" sz="1800" dirty="0">
                <a:solidFill>
                  <a:srgbClr val="203864"/>
                </a:solidFill>
                <a:latin typeface="Calibri" pitchFamily="34" charset="0"/>
                <a:ea typeface="Calibri" pitchFamily="34" charset="-122"/>
                <a:cs typeface="Calibri" pitchFamily="34" charset="-120"/>
              </a:rPr>
              <a:t>Umuntu wavuwe mu bihe byashize agomba gukomeza kubahiriza gahunda zo kwa muganga.</a:t>
            </a:r>
            <a:endParaRPr lang="rw-RW" sz="1800" dirty="0"/>
          </a:p>
        </p:txBody>
      </p:sp>
      <p:sp>
        <p:nvSpPr>
          <p:cNvPr id="13" name="Shape 11"/>
          <p:cNvSpPr/>
          <p:nvPr/>
        </p:nvSpPr>
        <p:spPr>
          <a:xfrm>
            <a:off x="548640" y="5790092"/>
            <a:ext cx="11091672" cy="581475"/>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4" name="Text 12"/>
          <p:cNvSpPr txBox="1"/>
          <p:nvPr/>
        </p:nvSpPr>
        <p:spPr>
          <a:xfrm>
            <a:off x="749808" y="5813334"/>
            <a:ext cx="10689336" cy="493194"/>
          </a:xfrm>
          <a:prstGeom prst="rect">
            <a:avLst/>
          </a:prstGeom>
          <a:noFill/>
          <a:ln/>
        </p:spPr>
        <p:txBody>
          <a:bodyPr wrap="square" lIns="0" tIns="0" rIns="0" bIns="0" rtlCol="0" anchor="ctr">
            <a:normAutofit fontScale="77500" lnSpcReduction="20000"/>
          </a:bodyPr>
          <a:lstStyle/>
          <a:p>
            <a:r>
              <a:rPr lang="rw-RW" sz="1600" b="1" dirty="0">
                <a:solidFill>
                  <a:srgbClr val="B06A08"/>
                </a:solidFill>
                <a:latin typeface="Calibri" pitchFamily="34" charset="0"/>
                <a:ea typeface="Calibri" pitchFamily="34" charset="-122"/>
                <a:cs typeface="Calibri" pitchFamily="34" charset="-120"/>
              </a:rPr>
              <a:t>Interuro y’ingenzi: </a:t>
            </a:r>
            <a:r>
              <a:rPr lang="rw-RW" sz="1600" dirty="0">
                <a:solidFill>
                  <a:srgbClr val="203864"/>
                </a:solidFill>
                <a:latin typeface="Calibri" pitchFamily="34" charset="0"/>
                <a:ea typeface="Calibri" pitchFamily="34" charset="-122"/>
                <a:cs typeface="Calibri" pitchFamily="34" charset="-120"/>
              </a:rPr>
              <a:t>Abantu benshi barwara kanseri y'ibere nta kindi kintu cyihariye kibongerera ibyago baba bafite, uretse kuba abagore no gusaza. Umuntu udafite ibyago byo kurwara kanseri y'ibere ashobora kuyirwara. Ntukishinje, nta muntu n'umwe uzana iyi ndwara ku giti cye, kandi kubivuga mu ijwi riranguruye birafasha.</a:t>
            </a:r>
          </a:p>
        </p:txBody>
      </p:sp>
      <p:sp>
        <p:nvSpPr>
          <p:cNvPr id="15" name="Text 13"/>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6" name="Text 1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50</a:t>
            </a:r>
            <a:endParaRPr lang="rw-RW" sz="900" dirty="0"/>
          </a:p>
        </p:txBody>
      </p:sp>
      <p:sp>
        <p:nvSpPr>
          <p:cNvPr id="5" name="Shape 2">
            <a:extLst>
              <a:ext uri="{FF2B5EF4-FFF2-40B4-BE49-F238E27FC236}">
                <a16:creationId xmlns:a16="http://schemas.microsoft.com/office/drawing/2014/main" id="{1146F442-F5A2-59C7-3DBE-1FDA9EFE3041}"/>
              </a:ext>
            </a:extLst>
          </p:cNvPr>
          <p:cNvSpPr/>
          <p:nvPr/>
        </p:nvSpPr>
        <p:spPr>
          <a:xfrm>
            <a:off x="544672" y="4621013"/>
            <a:ext cx="5765896" cy="722376"/>
          </a:xfrm>
          <a:prstGeom prst="roundRect">
            <a:avLst>
              <a:gd name="adj" fmla="val 3837"/>
            </a:avLst>
          </a:prstGeom>
          <a:solidFill>
            <a:srgbClr val="F3F7FC"/>
          </a:solidFill>
          <a:ln w="12700">
            <a:solidFill>
              <a:srgbClr val="D3E1F2"/>
            </a:solidFill>
            <a:prstDash val="solid"/>
          </a:ln>
        </p:spPr>
        <p:txBody>
          <a:bodyPr/>
          <a:lstStyle/>
          <a:p>
            <a:endParaRPr lang="rw-RW" dirty="0"/>
          </a:p>
        </p:txBody>
      </p:sp>
      <p:sp>
        <p:nvSpPr>
          <p:cNvPr id="7" name="Text 10">
            <a:extLst>
              <a:ext uri="{FF2B5EF4-FFF2-40B4-BE49-F238E27FC236}">
                <a16:creationId xmlns:a16="http://schemas.microsoft.com/office/drawing/2014/main" id="{AC670044-F68F-6AAB-C1ED-B372937DC074}"/>
              </a:ext>
            </a:extLst>
          </p:cNvPr>
          <p:cNvSpPr txBox="1"/>
          <p:nvPr/>
        </p:nvSpPr>
        <p:spPr>
          <a:xfrm>
            <a:off x="653240" y="4684121"/>
            <a:ext cx="5297702" cy="648324"/>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Abandi. </a:t>
            </a:r>
            <a:r>
              <a:rPr lang="rw-RW" sz="1800" dirty="0">
                <a:solidFill>
                  <a:srgbClr val="203864"/>
                </a:solidFill>
                <a:latin typeface="Calibri" pitchFamily="34" charset="0"/>
                <a:ea typeface="Calibri" pitchFamily="34" charset="-122"/>
                <a:cs typeface="Calibri" pitchFamily="34" charset="-120"/>
              </a:rPr>
              <a:t>Harimo kunywa itabi n'inzoga n'umubyibuho ukabije.</a:t>
            </a:r>
            <a:endParaRPr lang="rw-RW" sz="1800" dirty="0"/>
          </a:p>
        </p:txBody>
      </p:sp>
      <p:pic>
        <p:nvPicPr>
          <p:cNvPr id="9" name="Imagen 8">
            <a:extLst>
              <a:ext uri="{FF2B5EF4-FFF2-40B4-BE49-F238E27FC236}">
                <a16:creationId xmlns:a16="http://schemas.microsoft.com/office/drawing/2014/main" id="{6024E6C1-A40B-534B-BCC1-D819C4BA3EC6}"/>
              </a:ext>
            </a:extLst>
          </p:cNvPr>
          <p:cNvPicPr>
            <a:picLocks noChangeAspect="1"/>
          </p:cNvPicPr>
          <p:nvPr/>
        </p:nvPicPr>
        <p:blipFill>
          <a:blip r:embed="rId3"/>
          <a:stretch>
            <a:fillRect/>
          </a:stretch>
        </p:blipFill>
        <p:spPr>
          <a:xfrm>
            <a:off x="6392864" y="1534251"/>
            <a:ext cx="5367897" cy="357859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GISHINGIYE KU BUFATANYE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Nta muntu n'umwe wo muri uwo muryango wayirwaye</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ufite ikibyimba gishya avuga ko nta muntu n'umwe wo mu muryango we wigeze arwara kanseri y'ibere, bityo ko adashobora kuyirwara. Ni iki cy'ukuri?</a:t>
            </a:r>
            <a:endParaRPr lang="rw-RW" sz="2000" dirty="0"/>
          </a:p>
        </p:txBody>
      </p:sp>
      <p:sp>
        <p:nvSpPr>
          <p:cNvPr id="5" name="Shape 3"/>
          <p:cNvSpPr/>
          <p:nvPr/>
        </p:nvSpPr>
        <p:spPr>
          <a:xfrm>
            <a:off x="548640" y="219456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Abantu benshi barwara kanseri y’ibere nta muntu bahuje isano wa hafi uba waragize ubwo burwayi, bityo ikibyimba gikeneye gusuzumwa.</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Agomba kubaza abo mu muryango akabona gufata umwanzuro</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Umugore umwe wenyine afite amateka ya kanseri mu muryango niwe ugira kanseri</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Afite ukuri ntakeneye kwisuzumisha</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Iyi myizerere ni imwe mu mpamvu zikunze gutuma umuntu atinda kwisuzumisha. Amateka y'umuryango ni ingenzi ku bantu bamwe, ariko inyinshi muri kanseri z'ibere ziba ku bantu badafite amateka y'umuryango.</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51</a:t>
            </a:r>
            <a:endParaRPr lang="rw-RW" sz="900" dirty="0"/>
          </a:p>
        </p:txBody>
      </p:sp>
    </p:spTree>
    <p:extLst>
      <p:ext uri="{BB962C8B-B14F-4D97-AF65-F5344CB8AC3E}">
        <p14:creationId xmlns:p14="http://schemas.microsoft.com/office/powerpoint/2010/main" val="35970930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IBIMENYETSO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Impinduka zo kwitegereza: Ibere (1/2)</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Nta na kimwe muri ibi cyemeza ko ari kanseri. Gusa byose bigomba gusuzumwa ku kigo nderabuzima.</a:t>
            </a:r>
            <a:endParaRPr lang="rw-RW" sz="1800" dirty="0"/>
          </a:p>
        </p:txBody>
      </p:sp>
      <p:sp>
        <p:nvSpPr>
          <p:cNvPr id="17" name="Shape 15"/>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8" name="Text 16"/>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Ibuka: </a:t>
            </a:r>
            <a:r>
              <a:rPr lang="rw-RW" sz="1800" dirty="0">
                <a:solidFill>
                  <a:srgbClr val="203864"/>
                </a:solidFill>
                <a:latin typeface="Calibri" pitchFamily="34" charset="0"/>
                <a:ea typeface="Calibri" pitchFamily="34" charset="-122"/>
                <a:cs typeface="Calibri" pitchFamily="34" charset="-120"/>
              </a:rPr>
              <a:t>Si wowe ugomba kwemeza icyo impinduka ari cyo. Uruhare rwawe ni ugushishikariza umuntu kujya gusuzumwa n'umukozi w'ubuzima wabihuguriwe.</a:t>
            </a:r>
            <a:endParaRPr lang="rw-RW" sz="1800" dirty="0"/>
          </a:p>
        </p:txBody>
      </p:sp>
      <p:sp>
        <p:nvSpPr>
          <p:cNvPr id="19" name="Text 17"/>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0" name="Text 18"/>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52</a:t>
            </a:r>
            <a:endParaRPr lang="rw-RW" sz="900" dirty="0"/>
          </a:p>
        </p:txBody>
      </p:sp>
      <p:grpSp>
        <p:nvGrpSpPr>
          <p:cNvPr id="15" name="Grupo 14">
            <a:extLst>
              <a:ext uri="{FF2B5EF4-FFF2-40B4-BE49-F238E27FC236}">
                <a16:creationId xmlns:a16="http://schemas.microsoft.com/office/drawing/2014/main" id="{D3D54283-B215-66FF-4424-F1036EB119A5}"/>
              </a:ext>
            </a:extLst>
          </p:cNvPr>
          <p:cNvGrpSpPr/>
          <p:nvPr/>
        </p:nvGrpSpPr>
        <p:grpSpPr>
          <a:xfrm>
            <a:off x="8125968" y="1828800"/>
            <a:ext cx="3514344" cy="3694176"/>
            <a:chOff x="8125968" y="1828800"/>
            <a:chExt cx="3514344" cy="3694176"/>
          </a:xfrm>
        </p:grpSpPr>
        <p:sp>
          <p:nvSpPr>
            <p:cNvPr id="9" name="Shape 7"/>
            <p:cNvSpPr/>
            <p:nvPr/>
          </p:nvSpPr>
          <p:spPr>
            <a:xfrm>
              <a:off x="8125968" y="1828800"/>
              <a:ext cx="3514344" cy="3694176"/>
            </a:xfrm>
            <a:prstGeom prst="roundRect">
              <a:avLst>
                <a:gd name="adj" fmla="val 442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8345424" y="1993392"/>
              <a:ext cx="3075432" cy="136245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Uruhu rwinjira imbere cyangwa rukagira udutobore, cyane cyane iyo umuntu azamuye ukuboko.</a:t>
              </a:r>
              <a:endParaRPr lang="rw-RW" sz="1800" dirty="0"/>
            </a:p>
          </p:txBody>
        </p:sp>
        <p:pic>
          <p:nvPicPr>
            <p:cNvPr id="26" name="Picture 25">
              <a:extLst>
                <a:ext uri="{FF2B5EF4-FFF2-40B4-BE49-F238E27FC236}">
                  <a16:creationId xmlns:a16="http://schemas.microsoft.com/office/drawing/2014/main" id="{C912CD6F-43A0-EBB7-3388-93A4800EB586}"/>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393050" y="3502153"/>
              <a:ext cx="3027806" cy="1651531"/>
            </a:xfrm>
            <a:prstGeom prst="rect">
              <a:avLst/>
            </a:prstGeom>
          </p:spPr>
        </p:pic>
      </p:grpSp>
      <p:grpSp>
        <p:nvGrpSpPr>
          <p:cNvPr id="12" name="Grupo 11">
            <a:extLst>
              <a:ext uri="{FF2B5EF4-FFF2-40B4-BE49-F238E27FC236}">
                <a16:creationId xmlns:a16="http://schemas.microsoft.com/office/drawing/2014/main" id="{73888973-8310-0444-63A3-406AE3262D3C}"/>
              </a:ext>
            </a:extLst>
          </p:cNvPr>
          <p:cNvGrpSpPr/>
          <p:nvPr/>
        </p:nvGrpSpPr>
        <p:grpSpPr>
          <a:xfrm>
            <a:off x="548640" y="1828799"/>
            <a:ext cx="3514344" cy="3694177"/>
            <a:chOff x="548640" y="1828799"/>
            <a:chExt cx="3514344" cy="3694177"/>
          </a:xfrm>
        </p:grpSpPr>
        <p:sp>
          <p:nvSpPr>
            <p:cNvPr id="5" name="Shape 3"/>
            <p:cNvSpPr/>
            <p:nvPr/>
          </p:nvSpPr>
          <p:spPr>
            <a:xfrm>
              <a:off x="548640" y="1828799"/>
              <a:ext cx="3514344" cy="3694177"/>
            </a:xfrm>
            <a:prstGeom prst="roundRect">
              <a:avLst>
                <a:gd name="adj" fmla="val 442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993392"/>
              <a:ext cx="3075432" cy="1362456"/>
            </a:xfrm>
            <a:prstGeom prst="rect">
              <a:avLst/>
            </a:prstGeom>
            <a:noFill/>
            <a:ln/>
          </p:spPr>
          <p:txBody>
            <a:bodyPr wrap="square" lIns="0" tIns="0" rIns="0" bIns="0" rtlCol="0" anchor="t">
              <a:normAutofit lnSpcReduction="15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Ikibyimba gishya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cyangwa agace gakomeye mu ibere kitigeze kibaho mbere, cyaba kibabaza cyangwa kitababaza.</a:t>
              </a:r>
              <a:endParaRPr lang="rw-RW" sz="1800" dirty="0"/>
            </a:p>
          </p:txBody>
        </p:sp>
        <p:pic>
          <p:nvPicPr>
            <p:cNvPr id="11" name="Imagen 10">
              <a:extLst>
                <a:ext uri="{FF2B5EF4-FFF2-40B4-BE49-F238E27FC236}">
                  <a16:creationId xmlns:a16="http://schemas.microsoft.com/office/drawing/2014/main" id="{78B40C98-E512-1A86-9814-31C457AE8243}"/>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238249" y="3261776"/>
              <a:ext cx="2120900" cy="2120900"/>
            </a:xfrm>
            <a:prstGeom prst="rect">
              <a:avLst/>
            </a:prstGeom>
          </p:spPr>
        </p:pic>
      </p:grpSp>
      <p:grpSp>
        <p:nvGrpSpPr>
          <p:cNvPr id="14" name="Grupo 13">
            <a:extLst>
              <a:ext uri="{FF2B5EF4-FFF2-40B4-BE49-F238E27FC236}">
                <a16:creationId xmlns:a16="http://schemas.microsoft.com/office/drawing/2014/main" id="{1FC46F91-9319-5167-1971-04A3E5653057}"/>
              </a:ext>
            </a:extLst>
          </p:cNvPr>
          <p:cNvGrpSpPr/>
          <p:nvPr/>
        </p:nvGrpSpPr>
        <p:grpSpPr>
          <a:xfrm>
            <a:off x="4337304" y="1828800"/>
            <a:ext cx="3514344" cy="3694176"/>
            <a:chOff x="4337304" y="1828800"/>
            <a:chExt cx="3514344" cy="3694176"/>
          </a:xfrm>
        </p:grpSpPr>
        <p:sp>
          <p:nvSpPr>
            <p:cNvPr id="7" name="Shape 5"/>
            <p:cNvSpPr/>
            <p:nvPr/>
          </p:nvSpPr>
          <p:spPr>
            <a:xfrm>
              <a:off x="4337304" y="1828800"/>
              <a:ext cx="3514344" cy="3694176"/>
            </a:xfrm>
            <a:prstGeom prst="roundRect">
              <a:avLst>
                <a:gd name="adj" fmla="val 442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4556760" y="1993392"/>
              <a:ext cx="3075432" cy="1362456"/>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Impinduka mu bunini cyangwa imiterere y’ibere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Ibere rimwe riba rinini, rito cyangwa ritandukanye n'irindi.</a:t>
              </a:r>
              <a:endParaRPr lang="rw-RW" sz="1800" dirty="0"/>
            </a:p>
          </p:txBody>
        </p:sp>
        <p:pic>
          <p:nvPicPr>
            <p:cNvPr id="13" name="Imagen 12">
              <a:extLst>
                <a:ext uri="{FF2B5EF4-FFF2-40B4-BE49-F238E27FC236}">
                  <a16:creationId xmlns:a16="http://schemas.microsoft.com/office/drawing/2014/main" id="{405C1B02-F764-DB39-3D76-A7ED79DE7423}"/>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5017262" y="3225200"/>
              <a:ext cx="2157476" cy="2157476"/>
            </a:xfrm>
            <a:prstGeom prst="rect">
              <a:avLst/>
            </a:prstGeom>
          </p:spPr>
        </p:pic>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9E942-7210-3BF9-58A5-E5FD1AA0839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6B5FA0-AB4E-0744-2A42-AD1205DCAE6F}"/>
              </a:ext>
            </a:extLst>
          </p:cNvPr>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IBIMENYETSO</a:t>
            </a:r>
            <a:endParaRPr lang="rw-RW" sz="1000" dirty="0"/>
          </a:p>
        </p:txBody>
      </p:sp>
      <p:sp>
        <p:nvSpPr>
          <p:cNvPr id="3" name="Text 1">
            <a:extLst>
              <a:ext uri="{FF2B5EF4-FFF2-40B4-BE49-F238E27FC236}">
                <a16:creationId xmlns:a16="http://schemas.microsoft.com/office/drawing/2014/main" id="{4D0576EB-EA68-32DD-7142-375D85B38DA2}"/>
              </a:ext>
            </a:extLst>
          </p:cNvPr>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Impinduka zo kwitegereza: Ibere (2/2)</a:t>
            </a:r>
            <a:endParaRPr lang="rw-RW" sz="3000" dirty="0"/>
          </a:p>
        </p:txBody>
      </p:sp>
      <p:sp>
        <p:nvSpPr>
          <p:cNvPr id="4" name="Text 2">
            <a:extLst>
              <a:ext uri="{FF2B5EF4-FFF2-40B4-BE49-F238E27FC236}">
                <a16:creationId xmlns:a16="http://schemas.microsoft.com/office/drawing/2014/main" id="{FB1B140D-B8B7-E95E-0F64-2B78662EC242}"/>
              </a:ext>
            </a:extLst>
          </p:cNvPr>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Nta na kimwe muri ibi kigaragaza kanseri. Byose bigomba gusuzumwa ku kigo nderabuzima.</a:t>
            </a:r>
            <a:endParaRPr lang="rw-RW" sz="1800" dirty="0"/>
          </a:p>
        </p:txBody>
      </p:sp>
      <p:sp>
        <p:nvSpPr>
          <p:cNvPr id="17" name="Shape 15">
            <a:extLst>
              <a:ext uri="{FF2B5EF4-FFF2-40B4-BE49-F238E27FC236}">
                <a16:creationId xmlns:a16="http://schemas.microsoft.com/office/drawing/2014/main" id="{41687957-F0DA-11E1-2B6A-88DB622280B7}"/>
              </a:ext>
            </a:extLst>
          </p:cNvPr>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8" name="Text 16">
            <a:extLst>
              <a:ext uri="{FF2B5EF4-FFF2-40B4-BE49-F238E27FC236}">
                <a16:creationId xmlns:a16="http://schemas.microsoft.com/office/drawing/2014/main" id="{33FC410D-1D76-EFFF-4050-3760EDEB4636}"/>
              </a:ext>
            </a:extLst>
          </p:cNvPr>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203864"/>
                </a:solidFill>
                <a:latin typeface="Calibri" pitchFamily="34" charset="0"/>
                <a:ea typeface="Calibri" pitchFamily="34" charset="-122"/>
                <a:cs typeface="Calibri" pitchFamily="34" charset="-120"/>
              </a:rPr>
              <a:t>Ibuka: </a:t>
            </a:r>
            <a:r>
              <a:rPr lang="rw-RW" sz="1800" dirty="0">
                <a:solidFill>
                  <a:srgbClr val="203864"/>
                </a:solidFill>
                <a:latin typeface="Calibri" pitchFamily="34" charset="0"/>
                <a:ea typeface="Calibri" pitchFamily="34" charset="-122"/>
                <a:cs typeface="Calibri" pitchFamily="34" charset="-120"/>
              </a:rPr>
              <a:t>Si wowe ugomba kwemeza icyo impinduka ari cyo. Ugomba kohereza umuntu kugira ngo asuzumwe n'umukozi w'ubuzima wabihuguriwe.</a:t>
            </a:r>
            <a:endParaRPr lang="rw-RW" sz="1800" dirty="0"/>
          </a:p>
        </p:txBody>
      </p:sp>
      <p:sp>
        <p:nvSpPr>
          <p:cNvPr id="19" name="Text 17">
            <a:extLst>
              <a:ext uri="{FF2B5EF4-FFF2-40B4-BE49-F238E27FC236}">
                <a16:creationId xmlns:a16="http://schemas.microsoft.com/office/drawing/2014/main" id="{59CBF269-0B86-18EC-3667-3D3E501FD4DC}"/>
              </a:ext>
            </a:extLst>
          </p:cNvPr>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0" name="Text 18">
            <a:extLst>
              <a:ext uri="{FF2B5EF4-FFF2-40B4-BE49-F238E27FC236}">
                <a16:creationId xmlns:a16="http://schemas.microsoft.com/office/drawing/2014/main" id="{D3735253-DA54-FA32-17EB-78F2805E5ABD}"/>
              </a:ext>
            </a:extLst>
          </p:cNvPr>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52</a:t>
            </a:r>
            <a:endParaRPr lang="rw-RW" sz="900" dirty="0"/>
          </a:p>
        </p:txBody>
      </p:sp>
      <p:grpSp>
        <p:nvGrpSpPr>
          <p:cNvPr id="5" name="Grupo 4">
            <a:extLst>
              <a:ext uri="{FF2B5EF4-FFF2-40B4-BE49-F238E27FC236}">
                <a16:creationId xmlns:a16="http://schemas.microsoft.com/office/drawing/2014/main" id="{F68E816F-8F34-0CBA-07E6-35A31E5CE5D5}"/>
              </a:ext>
            </a:extLst>
          </p:cNvPr>
          <p:cNvGrpSpPr/>
          <p:nvPr/>
        </p:nvGrpSpPr>
        <p:grpSpPr>
          <a:xfrm>
            <a:off x="548640" y="2007027"/>
            <a:ext cx="3514344" cy="3315471"/>
            <a:chOff x="548640" y="2007027"/>
            <a:chExt cx="3514344" cy="3315471"/>
          </a:xfrm>
        </p:grpSpPr>
        <p:sp>
          <p:nvSpPr>
            <p:cNvPr id="11" name="Shape 9">
              <a:extLst>
                <a:ext uri="{FF2B5EF4-FFF2-40B4-BE49-F238E27FC236}">
                  <a16:creationId xmlns:a16="http://schemas.microsoft.com/office/drawing/2014/main" id="{3CEF44E3-B3F0-F2F0-8BA0-C9EC54D9742A}"/>
                </a:ext>
              </a:extLst>
            </p:cNvPr>
            <p:cNvSpPr/>
            <p:nvPr/>
          </p:nvSpPr>
          <p:spPr>
            <a:xfrm>
              <a:off x="548640" y="2007027"/>
              <a:ext cx="3514344" cy="3315471"/>
            </a:xfrm>
            <a:prstGeom prst="roundRect">
              <a:avLst>
                <a:gd name="adj" fmla="val 4420"/>
              </a:avLst>
            </a:prstGeom>
            <a:solidFill>
              <a:srgbClr val="F3F7FC"/>
            </a:solidFill>
            <a:ln w="12700">
              <a:solidFill>
                <a:srgbClr val="D3E1F2"/>
              </a:solidFill>
              <a:prstDash val="solid"/>
            </a:ln>
          </p:spPr>
          <p:txBody>
            <a:bodyPr/>
            <a:lstStyle/>
            <a:p>
              <a:endParaRPr lang="rw-RW" dirty="0"/>
            </a:p>
          </p:txBody>
        </p:sp>
        <p:sp>
          <p:nvSpPr>
            <p:cNvPr id="12" name="Text 10">
              <a:extLst>
                <a:ext uri="{FF2B5EF4-FFF2-40B4-BE49-F238E27FC236}">
                  <a16:creationId xmlns:a16="http://schemas.microsoft.com/office/drawing/2014/main" id="{CEF90DD3-F9F2-6A28-7D83-6BF34378B3EE}"/>
                </a:ext>
              </a:extLst>
            </p:cNvPr>
            <p:cNvSpPr txBox="1"/>
            <p:nvPr/>
          </p:nvSpPr>
          <p:spPr>
            <a:xfrm>
              <a:off x="768096" y="2171620"/>
              <a:ext cx="3075432" cy="1362456"/>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Uruhu rusa n'uruhu rw’ironji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Uruhu rukakaye, rufite uduce duto muri rwo, nk'uruhu rw’ironji.</a:t>
              </a:r>
              <a:endParaRPr lang="rw-RW" sz="1800" dirty="0"/>
            </a:p>
          </p:txBody>
        </p:sp>
        <p:pic>
          <p:nvPicPr>
            <p:cNvPr id="28" name="Picture 27">
              <a:extLst>
                <a:ext uri="{FF2B5EF4-FFF2-40B4-BE49-F238E27FC236}">
                  <a16:creationId xmlns:a16="http://schemas.microsoft.com/office/drawing/2014/main" id="{A41511C5-6D5B-44FB-72AB-0103744BA1E5}"/>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365672" y="3225300"/>
              <a:ext cx="1881430" cy="1980422"/>
            </a:xfrm>
            <a:prstGeom prst="rect">
              <a:avLst/>
            </a:prstGeom>
          </p:spPr>
        </p:pic>
      </p:grpSp>
      <p:grpSp>
        <p:nvGrpSpPr>
          <p:cNvPr id="9" name="Grupo 8">
            <a:extLst>
              <a:ext uri="{FF2B5EF4-FFF2-40B4-BE49-F238E27FC236}">
                <a16:creationId xmlns:a16="http://schemas.microsoft.com/office/drawing/2014/main" id="{91436F87-58B5-9B35-08D3-BF4BED2B87CF}"/>
              </a:ext>
            </a:extLst>
          </p:cNvPr>
          <p:cNvGrpSpPr/>
          <p:nvPr/>
        </p:nvGrpSpPr>
        <p:grpSpPr>
          <a:xfrm>
            <a:off x="4337304" y="2007028"/>
            <a:ext cx="3514344" cy="3315470"/>
            <a:chOff x="4337304" y="2007028"/>
            <a:chExt cx="3514344" cy="3315470"/>
          </a:xfrm>
        </p:grpSpPr>
        <p:sp>
          <p:nvSpPr>
            <p:cNvPr id="13" name="Shape 11">
              <a:extLst>
                <a:ext uri="{FF2B5EF4-FFF2-40B4-BE49-F238E27FC236}">
                  <a16:creationId xmlns:a16="http://schemas.microsoft.com/office/drawing/2014/main" id="{1899B387-E348-037D-798F-352A94A34461}"/>
                </a:ext>
              </a:extLst>
            </p:cNvPr>
            <p:cNvSpPr/>
            <p:nvPr/>
          </p:nvSpPr>
          <p:spPr>
            <a:xfrm>
              <a:off x="4337304" y="2007028"/>
              <a:ext cx="3514344" cy="3315470"/>
            </a:xfrm>
            <a:prstGeom prst="roundRect">
              <a:avLst>
                <a:gd name="adj" fmla="val 4420"/>
              </a:avLst>
            </a:prstGeom>
            <a:solidFill>
              <a:srgbClr val="F3F7FC"/>
            </a:solidFill>
            <a:ln w="12700">
              <a:solidFill>
                <a:srgbClr val="D3E1F2"/>
              </a:solidFill>
              <a:prstDash val="solid"/>
            </a:ln>
          </p:spPr>
          <p:txBody>
            <a:bodyPr/>
            <a:lstStyle/>
            <a:p>
              <a:endParaRPr lang="rw-RW" dirty="0"/>
            </a:p>
          </p:txBody>
        </p:sp>
        <p:sp>
          <p:nvSpPr>
            <p:cNvPr id="14" name="Text 12">
              <a:extLst>
                <a:ext uri="{FF2B5EF4-FFF2-40B4-BE49-F238E27FC236}">
                  <a16:creationId xmlns:a16="http://schemas.microsoft.com/office/drawing/2014/main" id="{03855E27-87B9-6441-07E1-2091CEF1CEF4}"/>
                </a:ext>
              </a:extLst>
            </p:cNvPr>
            <p:cNvSpPr txBox="1"/>
            <p:nvPr/>
          </p:nvSpPr>
          <p:spPr>
            <a:xfrm>
              <a:off x="4556760" y="2171620"/>
              <a:ext cx="3075432" cy="1362456"/>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Igikomere kidakira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Igikomere cyangwa agasebe ku ibere cyangwa ku moko kirenza ibyumweru bibiri.</a:t>
              </a:r>
              <a:endParaRPr lang="rw-RW" sz="1800" dirty="0"/>
            </a:p>
          </p:txBody>
        </p:sp>
        <p:pic>
          <p:nvPicPr>
            <p:cNvPr id="8" name="Imagen 7">
              <a:extLst>
                <a:ext uri="{FF2B5EF4-FFF2-40B4-BE49-F238E27FC236}">
                  <a16:creationId xmlns:a16="http://schemas.microsoft.com/office/drawing/2014/main" id="{77C2CCC2-A7CF-81B1-EDDA-9843FFF38EFB}"/>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752173" y="3370674"/>
              <a:ext cx="2687653" cy="1835048"/>
            </a:xfrm>
            <a:prstGeom prst="rect">
              <a:avLst/>
            </a:prstGeom>
          </p:spPr>
        </p:pic>
      </p:grpSp>
      <p:grpSp>
        <p:nvGrpSpPr>
          <p:cNvPr id="21" name="Grupo 20">
            <a:extLst>
              <a:ext uri="{FF2B5EF4-FFF2-40B4-BE49-F238E27FC236}">
                <a16:creationId xmlns:a16="http://schemas.microsoft.com/office/drawing/2014/main" id="{BE575CC2-5283-9781-2543-FE8C91FB5D75}"/>
              </a:ext>
            </a:extLst>
          </p:cNvPr>
          <p:cNvGrpSpPr/>
          <p:nvPr/>
        </p:nvGrpSpPr>
        <p:grpSpPr>
          <a:xfrm>
            <a:off x="8125968" y="2007028"/>
            <a:ext cx="3514344" cy="3315470"/>
            <a:chOff x="8125968" y="2007028"/>
            <a:chExt cx="3514344" cy="3315470"/>
          </a:xfrm>
        </p:grpSpPr>
        <p:sp>
          <p:nvSpPr>
            <p:cNvPr id="15" name="Shape 13">
              <a:extLst>
                <a:ext uri="{FF2B5EF4-FFF2-40B4-BE49-F238E27FC236}">
                  <a16:creationId xmlns:a16="http://schemas.microsoft.com/office/drawing/2014/main" id="{E5A327DB-2027-F06A-3460-383D97B0B41D}"/>
                </a:ext>
              </a:extLst>
            </p:cNvPr>
            <p:cNvSpPr/>
            <p:nvPr/>
          </p:nvSpPr>
          <p:spPr>
            <a:xfrm>
              <a:off x="8125968" y="2007028"/>
              <a:ext cx="3514344" cy="3315470"/>
            </a:xfrm>
            <a:prstGeom prst="roundRect">
              <a:avLst>
                <a:gd name="adj" fmla="val 4420"/>
              </a:avLst>
            </a:prstGeom>
            <a:solidFill>
              <a:srgbClr val="F3F7FC"/>
            </a:solidFill>
            <a:ln w="12700">
              <a:solidFill>
                <a:srgbClr val="D3E1F2"/>
              </a:solidFill>
              <a:prstDash val="solid"/>
            </a:ln>
          </p:spPr>
          <p:txBody>
            <a:bodyPr/>
            <a:lstStyle/>
            <a:p>
              <a:endParaRPr lang="rw-RW" dirty="0"/>
            </a:p>
          </p:txBody>
        </p:sp>
        <p:sp>
          <p:nvSpPr>
            <p:cNvPr id="16" name="Text 14">
              <a:extLst>
                <a:ext uri="{FF2B5EF4-FFF2-40B4-BE49-F238E27FC236}">
                  <a16:creationId xmlns:a16="http://schemas.microsoft.com/office/drawing/2014/main" id="{E249197A-1A24-3CC4-8667-86BB3CBED6B7}"/>
                </a:ext>
              </a:extLst>
            </p:cNvPr>
            <p:cNvSpPr txBox="1"/>
            <p:nvPr/>
          </p:nvSpPr>
          <p:spPr>
            <a:xfrm>
              <a:off x="8345424" y="2171620"/>
              <a:ext cx="3075432" cy="1362456"/>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Impinduka zidasubirayo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Impinduka zose z'amabere ziba zihari nyuma y'ibyumweru bike, kabone nubwo zaba ntoya.</a:t>
              </a:r>
              <a:endParaRPr lang="rw-RW" sz="1800" dirty="0"/>
            </a:p>
          </p:txBody>
        </p:sp>
        <p:pic>
          <p:nvPicPr>
            <p:cNvPr id="10" name="Imagen 9">
              <a:extLst>
                <a:ext uri="{FF2B5EF4-FFF2-40B4-BE49-F238E27FC236}">
                  <a16:creationId xmlns:a16="http://schemas.microsoft.com/office/drawing/2014/main" id="{D616DA8A-9C25-BEA3-3427-989AD70D4768}"/>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613261" y="3505485"/>
              <a:ext cx="2539843" cy="1700237"/>
            </a:xfrm>
            <a:prstGeom prst="rect">
              <a:avLst/>
            </a:prstGeom>
          </p:spPr>
        </p:pic>
      </p:grpSp>
    </p:spTree>
    <p:extLst>
      <p:ext uri="{BB962C8B-B14F-4D97-AF65-F5344CB8AC3E}">
        <p14:creationId xmlns:p14="http://schemas.microsoft.com/office/powerpoint/2010/main" val="6641293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IBIMENYETSO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Impinduka ukwiye kwitaho: imoko n ‘ ukwaha</a:t>
            </a:r>
            <a:endParaRPr lang="rw-RW" sz="3000" dirty="0"/>
          </a:p>
        </p:txBody>
      </p:sp>
      <p:sp>
        <p:nvSpPr>
          <p:cNvPr id="10" name="Shape 8"/>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1" name="Text 9"/>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Vuga muri ubu buryo: </a:t>
            </a:r>
            <a:r>
              <a:rPr lang="rw-RW" sz="1800" dirty="0">
                <a:solidFill>
                  <a:srgbClr val="203864"/>
                </a:solidFill>
                <a:latin typeface="Calibri" pitchFamily="34" charset="0"/>
                <a:ea typeface="Calibri" pitchFamily="34" charset="-122"/>
                <a:cs typeface="Calibri" pitchFamily="34" charset="-120"/>
              </a:rPr>
              <a:t>Reba amabere yombi no mu kwaha hose. Icy'ingenzi cyane ni impinduka ku ruhande rumwe itari ihari mbere.</a:t>
            </a:r>
            <a:endParaRPr lang="rw-RW" sz="18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53</a:t>
            </a:r>
            <a:endParaRPr lang="rw-RW" sz="900" dirty="0"/>
          </a:p>
        </p:txBody>
      </p:sp>
      <p:grpSp>
        <p:nvGrpSpPr>
          <p:cNvPr id="14" name="Grupo 13">
            <a:extLst>
              <a:ext uri="{FF2B5EF4-FFF2-40B4-BE49-F238E27FC236}">
                <a16:creationId xmlns:a16="http://schemas.microsoft.com/office/drawing/2014/main" id="{58E381B7-B130-5638-6E15-73FE6B4D8DEE}"/>
              </a:ext>
            </a:extLst>
          </p:cNvPr>
          <p:cNvGrpSpPr/>
          <p:nvPr/>
        </p:nvGrpSpPr>
        <p:grpSpPr>
          <a:xfrm>
            <a:off x="8156466" y="1378590"/>
            <a:ext cx="3514344" cy="3892148"/>
            <a:chOff x="8156466" y="1378590"/>
            <a:chExt cx="3514344" cy="3892148"/>
          </a:xfrm>
        </p:grpSpPr>
        <p:sp>
          <p:nvSpPr>
            <p:cNvPr id="8" name="Shape 6"/>
            <p:cNvSpPr/>
            <p:nvPr/>
          </p:nvSpPr>
          <p:spPr>
            <a:xfrm>
              <a:off x="8156466" y="1378590"/>
              <a:ext cx="3514344" cy="3892148"/>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508678"/>
              <a:ext cx="3075432" cy="1484688"/>
            </a:xfrm>
            <a:prstGeom prst="rect">
              <a:avLst/>
            </a:prstGeom>
            <a:noFill/>
            <a:ln/>
          </p:spPr>
          <p:txBody>
            <a:bodyPr wrap="square" lIns="0" tIns="0" rIns="0" bIns="0" rtlCol="0" anchor="t">
              <a:normAutofit fontScale="945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Akabyimba cyangwa kubyimba mu kwaha.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mu kwaha, cyangwa kubyimba bidakira nabyo bigomba gusuzumirwa hamwe n'ibere.</a:t>
              </a:r>
              <a:endParaRPr lang="rw-RW" sz="1800" dirty="0"/>
            </a:p>
          </p:txBody>
        </p:sp>
        <p:pic>
          <p:nvPicPr>
            <p:cNvPr id="15" name="Picture 14">
              <a:extLst>
                <a:ext uri="{FF2B5EF4-FFF2-40B4-BE49-F238E27FC236}">
                  <a16:creationId xmlns:a16="http://schemas.microsoft.com/office/drawing/2014/main" id="{E6E07C60-53CB-3986-DDF9-70DADF08F6D7}"/>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481093" y="2978064"/>
              <a:ext cx="2659367" cy="2128957"/>
            </a:xfrm>
            <a:prstGeom prst="rect">
              <a:avLst/>
            </a:prstGeom>
          </p:spPr>
        </p:pic>
      </p:grpSp>
      <p:grpSp>
        <p:nvGrpSpPr>
          <p:cNvPr id="16" name="Grupo 15">
            <a:extLst>
              <a:ext uri="{FF2B5EF4-FFF2-40B4-BE49-F238E27FC236}">
                <a16:creationId xmlns:a16="http://schemas.microsoft.com/office/drawing/2014/main" id="{A76EAE7F-A44F-30FA-5F76-ECE287350A1B}"/>
              </a:ext>
            </a:extLst>
          </p:cNvPr>
          <p:cNvGrpSpPr/>
          <p:nvPr/>
        </p:nvGrpSpPr>
        <p:grpSpPr>
          <a:xfrm>
            <a:off x="4337304" y="1378590"/>
            <a:ext cx="3514344" cy="3857644"/>
            <a:chOff x="4337304" y="1378590"/>
            <a:chExt cx="3514344" cy="3857644"/>
          </a:xfrm>
        </p:grpSpPr>
        <p:sp>
          <p:nvSpPr>
            <p:cNvPr id="6" name="Shape 4"/>
            <p:cNvSpPr/>
            <p:nvPr/>
          </p:nvSpPr>
          <p:spPr>
            <a:xfrm>
              <a:off x="4337304" y="1378590"/>
              <a:ext cx="3514344" cy="3857644"/>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543182"/>
              <a:ext cx="3075432" cy="1312161"/>
            </a:xfrm>
            <a:prstGeom prst="rect">
              <a:avLst/>
            </a:prstGeom>
            <a:noFill/>
            <a:ln/>
          </p:spPr>
          <p:txBody>
            <a:bodyPr wrap="square" lIns="0" tIns="0" rIns="0" bIns="0" rtlCol="0" anchor="t">
              <a:normAutofit fontScale="95500" lnSpcReduction="1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Amaraso cyangwa amazi adasanzwe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Amazi ava mu moko ubwayo, udakanze ibere, cyane cyane iyo arimo amaraso.</a:t>
              </a:r>
              <a:endParaRPr lang="rw-RW" sz="1800" dirty="0"/>
            </a:p>
          </p:txBody>
        </p:sp>
        <p:pic>
          <p:nvPicPr>
            <p:cNvPr id="17" name="Picture 16">
              <a:extLst>
                <a:ext uri="{FF2B5EF4-FFF2-40B4-BE49-F238E27FC236}">
                  <a16:creationId xmlns:a16="http://schemas.microsoft.com/office/drawing/2014/main" id="{0011F08D-B409-7393-C64C-BC619ADBC244}"/>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861578" y="2758492"/>
              <a:ext cx="2468844" cy="2296574"/>
            </a:xfrm>
            <a:prstGeom prst="rect">
              <a:avLst/>
            </a:prstGeom>
          </p:spPr>
        </p:pic>
      </p:grpSp>
      <p:grpSp>
        <p:nvGrpSpPr>
          <p:cNvPr id="19" name="Grupo 18">
            <a:extLst>
              <a:ext uri="{FF2B5EF4-FFF2-40B4-BE49-F238E27FC236}">
                <a16:creationId xmlns:a16="http://schemas.microsoft.com/office/drawing/2014/main" id="{597527DB-A8E7-18AB-5A9E-ABB6516D5C2E}"/>
              </a:ext>
            </a:extLst>
          </p:cNvPr>
          <p:cNvGrpSpPr/>
          <p:nvPr/>
        </p:nvGrpSpPr>
        <p:grpSpPr>
          <a:xfrm>
            <a:off x="548640" y="1404470"/>
            <a:ext cx="3514344" cy="3831763"/>
            <a:chOff x="548640" y="1404470"/>
            <a:chExt cx="3514344" cy="3831763"/>
          </a:xfrm>
        </p:grpSpPr>
        <p:sp>
          <p:nvSpPr>
            <p:cNvPr id="4" name="Shape 2"/>
            <p:cNvSpPr/>
            <p:nvPr/>
          </p:nvSpPr>
          <p:spPr>
            <a:xfrm>
              <a:off x="548640" y="1404470"/>
              <a:ext cx="3514344" cy="3831763"/>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6" y="1569063"/>
              <a:ext cx="3075432" cy="2084832"/>
            </a:xfrm>
            <a:prstGeom prst="rect">
              <a:avLst/>
            </a:prstGeom>
            <a:noFill/>
            <a:ln/>
          </p:spPr>
          <p:txBody>
            <a:bodyPr wrap="square" lIns="0" tIns="0" rIns="0" bIns="0" rtlCol="0" anchor="t">
              <a:normAutofit fontScale="95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Imoko itebera mo imbere.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Imoko itangiye gutebera ijya imbere bitari bisanzwe. Gusa hari bamwe baba babisanganwe; bitandukanye n’ibi.</a:t>
              </a:r>
              <a:endParaRPr lang="rw-RW" sz="1800" dirty="0"/>
            </a:p>
          </p:txBody>
        </p:sp>
        <p:pic>
          <p:nvPicPr>
            <p:cNvPr id="18" name="Imagen 17">
              <a:extLst>
                <a:ext uri="{FF2B5EF4-FFF2-40B4-BE49-F238E27FC236}">
                  <a16:creationId xmlns:a16="http://schemas.microsoft.com/office/drawing/2014/main" id="{779E0648-D41E-E673-6688-3C8D722B4408}"/>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749808" y="3653895"/>
              <a:ext cx="2922402" cy="1004989"/>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IBIMENYETSO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Kureba impinduka</a:t>
            </a:r>
            <a:endParaRPr lang="rw-RW" sz="3000" dirty="0"/>
          </a:p>
        </p:txBody>
      </p:sp>
      <p:sp>
        <p:nvSpPr>
          <p:cNvPr id="4" name="Text 2"/>
          <p:cNvSpPr txBox="1"/>
          <p:nvPr/>
        </p:nvSpPr>
        <p:spPr>
          <a:xfrm>
            <a:off x="548640" y="137160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Ishusho yigisha impinduka neza kurusha amagambo, cyane cyane aho gusoma ari imbogamizi cyangwa bigoranye.</a:t>
            </a:r>
            <a:endParaRPr lang="rw-RW" sz="1800" dirty="0"/>
          </a:p>
        </p:txBody>
      </p:sp>
      <p:sp>
        <p:nvSpPr>
          <p:cNvPr id="8" name="Shape 6"/>
          <p:cNvSpPr/>
          <p:nvPr/>
        </p:nvSpPr>
        <p:spPr>
          <a:xfrm>
            <a:off x="6766560" y="1874520"/>
            <a:ext cx="4873752" cy="1392504"/>
          </a:xfrm>
          <a:prstGeom prst="roundRect">
            <a:avLst>
              <a:gd name="adj" fmla="val 5926"/>
            </a:avLst>
          </a:prstGeom>
          <a:solidFill>
            <a:srgbClr val="F3F7FC"/>
          </a:solidFill>
          <a:ln w="12700">
            <a:solidFill>
              <a:srgbClr val="D3E1F2"/>
            </a:solidFill>
            <a:prstDash val="solid"/>
          </a:ln>
        </p:spPr>
        <p:txBody>
          <a:bodyPr/>
          <a:lstStyle/>
          <a:p>
            <a:endParaRPr lang="rw-RW" sz="1600" dirty="0"/>
          </a:p>
        </p:txBody>
      </p:sp>
      <p:sp>
        <p:nvSpPr>
          <p:cNvPr id="9" name="Text 7"/>
          <p:cNvSpPr txBox="1"/>
          <p:nvPr/>
        </p:nvSpPr>
        <p:spPr>
          <a:xfrm>
            <a:off x="6986016" y="2020824"/>
            <a:ext cx="4434840" cy="960120"/>
          </a:xfrm>
          <a:prstGeom prst="rect">
            <a:avLst/>
          </a:prstGeom>
          <a:noFill/>
          <a:ln/>
        </p:spPr>
        <p:txBody>
          <a:bodyPr wrap="square" lIns="0" tIns="0" rIns="0" bIns="0" rtlCol="0" anchor="t">
            <a:noAutofit/>
          </a:bodyPr>
          <a:lstStyle/>
          <a:p>
            <a:pPr marL="0" indent="0">
              <a:lnSpc>
                <a:spcPct val="105000"/>
              </a:lnSpc>
              <a:buNone/>
            </a:pPr>
            <a:r>
              <a:rPr lang="rw-RW" sz="1600" b="1" dirty="0">
                <a:solidFill>
                  <a:srgbClr val="1F3864"/>
                </a:solidFill>
                <a:latin typeface="Calibri" pitchFamily="34" charset="0"/>
                <a:ea typeface="Calibri" pitchFamily="34" charset="-122"/>
                <a:cs typeface="Calibri" pitchFamily="34" charset="-120"/>
              </a:rPr>
              <a:t>Gereranya impande zombi</a:t>
            </a:r>
            <a:endParaRPr lang="rw-RW" sz="1600" dirty="0"/>
          </a:p>
          <a:p>
            <a:pPr marL="0" indent="0">
              <a:lnSpc>
                <a:spcPct val="105000"/>
              </a:lnSpc>
              <a:buNone/>
            </a:pPr>
            <a:r>
              <a:rPr lang="rw-RW" sz="1600" dirty="0">
                <a:solidFill>
                  <a:srgbClr val="203864"/>
                </a:solidFill>
                <a:latin typeface="Calibri" pitchFamily="34" charset="0"/>
                <a:ea typeface="Calibri" pitchFamily="34" charset="-122"/>
                <a:cs typeface="Calibri" pitchFamily="34" charset="-120"/>
              </a:rPr>
              <a:t>Impinduka nyinshi ziba ku ruhande rumwe gusa. Kugereranya ibumoso n'iburyo ni bwo buryo bworoshye bwo kubibona.</a:t>
            </a:r>
            <a:endParaRPr lang="rw-RW" sz="1600" dirty="0"/>
          </a:p>
        </p:txBody>
      </p:sp>
      <p:sp>
        <p:nvSpPr>
          <p:cNvPr id="10" name="Shape 8"/>
          <p:cNvSpPr/>
          <p:nvPr/>
        </p:nvSpPr>
        <p:spPr>
          <a:xfrm>
            <a:off x="6766560" y="3402876"/>
            <a:ext cx="4873752" cy="1234440"/>
          </a:xfrm>
          <a:prstGeom prst="roundRect">
            <a:avLst>
              <a:gd name="adj" fmla="val 5926"/>
            </a:avLst>
          </a:prstGeom>
          <a:solidFill>
            <a:srgbClr val="F3F7FC"/>
          </a:solidFill>
          <a:ln w="12700">
            <a:solidFill>
              <a:srgbClr val="D3E1F2"/>
            </a:solidFill>
            <a:prstDash val="solid"/>
          </a:ln>
        </p:spPr>
        <p:txBody>
          <a:bodyPr/>
          <a:lstStyle/>
          <a:p>
            <a:endParaRPr lang="rw-RW" sz="1600" dirty="0"/>
          </a:p>
        </p:txBody>
      </p:sp>
      <p:sp>
        <p:nvSpPr>
          <p:cNvPr id="11" name="Text 9"/>
          <p:cNvSpPr txBox="1"/>
          <p:nvPr/>
        </p:nvSpPr>
        <p:spPr>
          <a:xfrm>
            <a:off x="6986016" y="3549180"/>
            <a:ext cx="4434840" cy="960120"/>
          </a:xfrm>
          <a:prstGeom prst="rect">
            <a:avLst/>
          </a:prstGeom>
          <a:noFill/>
          <a:ln/>
        </p:spPr>
        <p:txBody>
          <a:bodyPr wrap="square" lIns="0" tIns="0" rIns="0" bIns="0" rtlCol="0" anchor="t">
            <a:noAutofit/>
          </a:bodyPr>
          <a:lstStyle/>
          <a:p>
            <a:pPr marL="0" indent="0">
              <a:lnSpc>
                <a:spcPct val="105000"/>
              </a:lnSpc>
              <a:buNone/>
            </a:pPr>
            <a:r>
              <a:rPr lang="rw-RW" sz="1600" b="1" dirty="0">
                <a:solidFill>
                  <a:srgbClr val="1F3864"/>
                </a:solidFill>
                <a:latin typeface="Calibri" pitchFamily="34" charset="0"/>
                <a:ea typeface="Calibri" pitchFamily="34" charset="-122"/>
                <a:cs typeface="Calibri" pitchFamily="34" charset="-120"/>
              </a:rPr>
              <a:t>Impinduka zishobora kuba ntoya</a:t>
            </a:r>
            <a:endParaRPr lang="rw-RW" sz="1600" dirty="0"/>
          </a:p>
          <a:p>
            <a:pPr marL="0" indent="0">
              <a:lnSpc>
                <a:spcPct val="105000"/>
              </a:lnSpc>
              <a:buNone/>
            </a:pPr>
            <a:r>
              <a:rPr lang="rw-RW" sz="1600" dirty="0">
                <a:solidFill>
                  <a:srgbClr val="203864"/>
                </a:solidFill>
                <a:latin typeface="Calibri" pitchFamily="34" charset="0"/>
                <a:ea typeface="Calibri" pitchFamily="34" charset="-122"/>
                <a:cs typeface="Calibri" pitchFamily="34" charset="-120"/>
              </a:rPr>
              <a:t>Udutobore ku ruhu, cyangwa imoko yatangiye kwinjira imbere, biroroshye kutabibona ariko ni ingenzi.</a:t>
            </a:r>
            <a:endParaRPr lang="rw-RW" sz="1600" dirty="0"/>
          </a:p>
        </p:txBody>
      </p:sp>
      <p:sp>
        <p:nvSpPr>
          <p:cNvPr id="12" name="Shape 10"/>
          <p:cNvSpPr/>
          <p:nvPr/>
        </p:nvSpPr>
        <p:spPr>
          <a:xfrm>
            <a:off x="6766560" y="4865916"/>
            <a:ext cx="4873752" cy="1234440"/>
          </a:xfrm>
          <a:prstGeom prst="roundRect">
            <a:avLst>
              <a:gd name="adj" fmla="val 5926"/>
            </a:avLst>
          </a:prstGeom>
          <a:solidFill>
            <a:srgbClr val="F3F7FC"/>
          </a:solidFill>
          <a:ln w="12700">
            <a:solidFill>
              <a:srgbClr val="D3E1F2"/>
            </a:solidFill>
            <a:prstDash val="solid"/>
          </a:ln>
        </p:spPr>
        <p:txBody>
          <a:bodyPr/>
          <a:lstStyle/>
          <a:p>
            <a:endParaRPr lang="rw-RW" sz="1600" dirty="0"/>
          </a:p>
        </p:txBody>
      </p:sp>
      <p:sp>
        <p:nvSpPr>
          <p:cNvPr id="13" name="Text 11"/>
          <p:cNvSpPr txBox="1"/>
          <p:nvPr/>
        </p:nvSpPr>
        <p:spPr>
          <a:xfrm>
            <a:off x="6986016" y="5012220"/>
            <a:ext cx="4434840" cy="960120"/>
          </a:xfrm>
          <a:prstGeom prst="rect">
            <a:avLst/>
          </a:prstGeom>
          <a:noFill/>
          <a:ln/>
        </p:spPr>
        <p:txBody>
          <a:bodyPr wrap="square" lIns="0" tIns="0" rIns="0" bIns="0" rtlCol="0" anchor="t"/>
          <a:lstStyle/>
          <a:p>
            <a:pPr marL="0" indent="0">
              <a:lnSpc>
                <a:spcPct val="105000"/>
              </a:lnSpc>
              <a:buNone/>
            </a:pPr>
            <a:r>
              <a:rPr lang="rw-RW" sz="1600" b="1" dirty="0">
                <a:solidFill>
                  <a:srgbClr val="1F3864"/>
                </a:solidFill>
                <a:latin typeface="Calibri" pitchFamily="34" charset="0"/>
                <a:ea typeface="Calibri" pitchFamily="34" charset="-122"/>
                <a:cs typeface="Calibri" pitchFamily="34" charset="-120"/>
              </a:rPr>
              <a:t>Vuga ibyo wabonye.</a:t>
            </a:r>
            <a:endParaRPr lang="rw-RW" sz="1600" dirty="0"/>
          </a:p>
          <a:p>
            <a:pPr marL="0" indent="0">
              <a:lnSpc>
                <a:spcPct val="105000"/>
              </a:lnSpc>
              <a:buNone/>
            </a:pPr>
            <a:r>
              <a:rPr lang="rw-RW" sz="1600" dirty="0">
                <a:solidFill>
                  <a:srgbClr val="203864"/>
                </a:solidFill>
                <a:latin typeface="Calibri" pitchFamily="34" charset="0"/>
                <a:ea typeface="Calibri" pitchFamily="34" charset="-122"/>
                <a:cs typeface="Calibri" pitchFamily="34" charset="-120"/>
              </a:rPr>
              <a:t>Mu gihe wohereje umuntu kwa muganga vuga byose wabonye cyangwa yakubwiye n’igihe yabiboneye.</a:t>
            </a:r>
            <a:endParaRPr lang="rw-RW" sz="16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54</a:t>
            </a:r>
            <a:endParaRPr lang="rw-RW" sz="900" dirty="0"/>
          </a:p>
        </p:txBody>
      </p:sp>
      <p:pic>
        <p:nvPicPr>
          <p:cNvPr id="5" name="Imagen 4">
            <a:extLst>
              <a:ext uri="{FF2B5EF4-FFF2-40B4-BE49-F238E27FC236}">
                <a16:creationId xmlns:a16="http://schemas.microsoft.com/office/drawing/2014/main" id="{57E5B0B5-A732-DE2E-285D-DDAE8909C5C7}"/>
              </a:ext>
            </a:extLst>
          </p:cNvPr>
          <p:cNvPicPr>
            <a:picLocks noChangeAspect="1"/>
          </p:cNvPicPr>
          <p:nvPr/>
        </p:nvPicPr>
        <p:blipFill>
          <a:blip r:embed="rId3"/>
          <a:stretch>
            <a:fillRect/>
          </a:stretch>
        </p:blipFill>
        <p:spPr>
          <a:xfrm>
            <a:off x="629027" y="2534141"/>
            <a:ext cx="5998464" cy="321743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UBUTUMWA NGENDERWAHO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normAutofit fontScale="93500"/>
          </a:bodyPr>
          <a:lstStyle/>
          <a:p>
            <a:pPr marL="0" indent="0">
              <a:buNone/>
            </a:pPr>
            <a:r>
              <a:rPr lang="rw-RW" sz="3000" b="1" dirty="0">
                <a:solidFill>
                  <a:srgbClr val="1F3864"/>
                </a:solidFill>
                <a:latin typeface="Calibri" pitchFamily="34" charset="0"/>
                <a:ea typeface="Calibri" pitchFamily="34" charset="-122"/>
                <a:cs typeface="Calibri" pitchFamily="34" charset="-120"/>
              </a:rPr>
              <a:t>Ikibyimba kitababaza gikeneye gusuzumwa.</a:t>
            </a:r>
            <a:endParaRPr lang="rw-RW" sz="3000" dirty="0"/>
          </a:p>
        </p:txBody>
      </p:sp>
      <p:sp>
        <p:nvSpPr>
          <p:cNvPr id="10" name="Shape 8"/>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1" name="Text 9"/>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Iyi ni interuro yo gusubiramo: </a:t>
            </a:r>
            <a:r>
              <a:rPr lang="rw-RW" sz="1800" dirty="0">
                <a:solidFill>
                  <a:srgbClr val="203864"/>
                </a:solidFill>
                <a:latin typeface="Calibri" pitchFamily="34" charset="0"/>
                <a:ea typeface="Calibri" pitchFamily="34" charset="-122"/>
                <a:cs typeface="Calibri" pitchFamily="34" charset="-120"/>
              </a:rPr>
              <a:t>Ikibyimba kitababaza si ikibyimba kidahangayikishije. Ahubwo Ni ikibyimba kitarasuzumwa.</a:t>
            </a:r>
            <a:endParaRPr lang="rw-RW" sz="18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55</a:t>
            </a:r>
            <a:endParaRPr lang="rw-RW" sz="900" dirty="0"/>
          </a:p>
        </p:txBody>
      </p:sp>
      <p:grpSp>
        <p:nvGrpSpPr>
          <p:cNvPr id="17" name="Grupo 16">
            <a:extLst>
              <a:ext uri="{FF2B5EF4-FFF2-40B4-BE49-F238E27FC236}">
                <a16:creationId xmlns:a16="http://schemas.microsoft.com/office/drawing/2014/main" id="{0A339B33-4F28-D1C9-933B-15BA0853C068}"/>
              </a:ext>
            </a:extLst>
          </p:cNvPr>
          <p:cNvGrpSpPr/>
          <p:nvPr/>
        </p:nvGrpSpPr>
        <p:grpSpPr>
          <a:xfrm>
            <a:off x="548640" y="1240567"/>
            <a:ext cx="3514344" cy="3892047"/>
            <a:chOff x="548640" y="1240567"/>
            <a:chExt cx="3514344" cy="3892047"/>
          </a:xfrm>
        </p:grpSpPr>
        <p:sp>
          <p:nvSpPr>
            <p:cNvPr id="4" name="Shape 2"/>
            <p:cNvSpPr/>
            <p:nvPr/>
          </p:nvSpPr>
          <p:spPr>
            <a:xfrm>
              <a:off x="548640" y="1240567"/>
              <a:ext cx="3514344" cy="3892047"/>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6" y="1405160"/>
              <a:ext cx="3075432" cy="1665844"/>
            </a:xfrm>
            <a:prstGeom prst="rect">
              <a:avLst/>
            </a:prstGeom>
            <a:noFill/>
            <a:ln/>
          </p:spPr>
          <p:txBody>
            <a:bodyPr wrap="square" lIns="0" tIns="0" rIns="0" bIns="0" rtlCol="0" anchor="t">
              <a:normAutofit fontScale="96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Ububabare ntabwo ari umuburo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Kanseri nyinshi z'ibere ntizitera ububabare na gato iyo zitangiye. Gutegereza ububabare bisobanura gutegereza kugeza waratinze.</a:t>
              </a:r>
              <a:endParaRPr lang="rw-RW" sz="1800" dirty="0"/>
            </a:p>
          </p:txBody>
        </p:sp>
        <p:pic>
          <p:nvPicPr>
            <p:cNvPr id="14" name="Content Placeholder 4">
              <a:extLst>
                <a:ext uri="{FF2B5EF4-FFF2-40B4-BE49-F238E27FC236}">
                  <a16:creationId xmlns:a16="http://schemas.microsoft.com/office/drawing/2014/main" id="{BDDC600C-7112-2AA3-215D-E914450AD966}"/>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356258" y="3071003"/>
              <a:ext cx="1932632" cy="1893759"/>
            </a:xfrm>
            <a:prstGeom prst="rect">
              <a:avLst/>
            </a:prstGeom>
          </p:spPr>
        </p:pic>
      </p:grpSp>
      <p:grpSp>
        <p:nvGrpSpPr>
          <p:cNvPr id="19" name="Grupo 18">
            <a:extLst>
              <a:ext uri="{FF2B5EF4-FFF2-40B4-BE49-F238E27FC236}">
                <a16:creationId xmlns:a16="http://schemas.microsoft.com/office/drawing/2014/main" id="{72056E2F-B041-3D91-D699-C1523C7AC687}"/>
              </a:ext>
            </a:extLst>
          </p:cNvPr>
          <p:cNvGrpSpPr/>
          <p:nvPr/>
        </p:nvGrpSpPr>
        <p:grpSpPr>
          <a:xfrm>
            <a:off x="8125968" y="1240568"/>
            <a:ext cx="3514344" cy="3892046"/>
            <a:chOff x="8125968" y="1240568"/>
            <a:chExt cx="3514344" cy="3892046"/>
          </a:xfrm>
        </p:grpSpPr>
        <p:sp>
          <p:nvSpPr>
            <p:cNvPr id="8" name="Shape 6"/>
            <p:cNvSpPr/>
            <p:nvPr/>
          </p:nvSpPr>
          <p:spPr>
            <a:xfrm>
              <a:off x="8125968" y="1240568"/>
              <a:ext cx="3514344" cy="389204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405160"/>
              <a:ext cx="3075432" cy="1564474"/>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Impinduka ni zo zifata ibyemezo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gishya cyangwa impinduka ku ruhu cyangwa ku moko bigomba gusuzumwa, byaba bibabaza cyangwa bitababaza.</a:t>
              </a:r>
              <a:endParaRPr lang="rw-RW" sz="1800" dirty="0"/>
            </a:p>
          </p:txBody>
        </p:sp>
        <p:pic>
          <p:nvPicPr>
            <p:cNvPr id="15" name="Content Placeholder 4">
              <a:extLst>
                <a:ext uri="{FF2B5EF4-FFF2-40B4-BE49-F238E27FC236}">
                  <a16:creationId xmlns:a16="http://schemas.microsoft.com/office/drawing/2014/main" id="{6DC666BD-8E20-09B0-85F5-BDFD1290EC74}"/>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9045642" y="3095244"/>
              <a:ext cx="1674996" cy="1911760"/>
            </a:xfrm>
            <a:prstGeom prst="rect">
              <a:avLst/>
            </a:prstGeom>
          </p:spPr>
        </p:pic>
      </p:grpSp>
      <p:grpSp>
        <p:nvGrpSpPr>
          <p:cNvPr id="18" name="Grupo 17">
            <a:extLst>
              <a:ext uri="{FF2B5EF4-FFF2-40B4-BE49-F238E27FC236}">
                <a16:creationId xmlns:a16="http://schemas.microsoft.com/office/drawing/2014/main" id="{D70062BF-CD9A-AA6A-3540-6C82D142748A}"/>
              </a:ext>
            </a:extLst>
          </p:cNvPr>
          <p:cNvGrpSpPr/>
          <p:nvPr/>
        </p:nvGrpSpPr>
        <p:grpSpPr>
          <a:xfrm>
            <a:off x="4337304" y="1240568"/>
            <a:ext cx="3514344" cy="3892046"/>
            <a:chOff x="4337304" y="1240568"/>
            <a:chExt cx="3514344" cy="3892046"/>
          </a:xfrm>
        </p:grpSpPr>
        <p:sp>
          <p:nvSpPr>
            <p:cNvPr id="6" name="Shape 4"/>
            <p:cNvSpPr/>
            <p:nvPr/>
          </p:nvSpPr>
          <p:spPr>
            <a:xfrm>
              <a:off x="4337304" y="1240568"/>
              <a:ext cx="3514344" cy="389204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405160"/>
              <a:ext cx="3075432" cy="1815694"/>
            </a:xfrm>
            <a:prstGeom prst="rect">
              <a:avLst/>
            </a:prstGeom>
            <a:noFill/>
            <a:ln/>
          </p:spPr>
          <p:txBody>
            <a:bodyPr wrap="square" lIns="0" tIns="0" rIns="0" bIns="0" rtlCol="0" anchor="t">
              <a:normAutofit fontScale="93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Kubabara nabyo ntibivuga kanseri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Ububabare bw'amabere ni ibintu bisanzwe kandi akenshi biterwa n'izindi mpamvu. Ni ikibyimba cyangwa impinduka zigena icyo gikorwa.</a:t>
              </a:r>
              <a:endParaRPr lang="rw-RW" sz="1800" dirty="0"/>
            </a:p>
          </p:txBody>
        </p:sp>
        <p:pic>
          <p:nvPicPr>
            <p:cNvPr id="16" name="Content Placeholder 4">
              <a:extLst>
                <a:ext uri="{FF2B5EF4-FFF2-40B4-BE49-F238E27FC236}">
                  <a16:creationId xmlns:a16="http://schemas.microsoft.com/office/drawing/2014/main" id="{169E4D82-7ABA-C361-F76D-C25854ADE3DD}"/>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5210898" y="3053002"/>
              <a:ext cx="1767155" cy="1911760"/>
            </a:xfrm>
            <a:prstGeom prst="rect">
              <a:avLst/>
            </a:prstGeom>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RY'IMIKORANIRE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Ni uwuhe muri aba wo gufashwa?</a:t>
            </a:r>
            <a:endParaRPr lang="rw-RW" sz="3000" dirty="0"/>
          </a:p>
        </p:txBody>
      </p:sp>
      <p:sp>
        <p:nvSpPr>
          <p:cNvPr id="4" name="Text 2"/>
          <p:cNvSpPr txBox="1"/>
          <p:nvPr/>
        </p:nvSpPr>
        <p:spPr>
          <a:xfrm>
            <a:off x="548640" y="1325880"/>
            <a:ext cx="11091672" cy="320040"/>
          </a:xfrm>
          <a:prstGeom prst="rect">
            <a:avLst/>
          </a:prstGeom>
          <a:noFill/>
          <a:ln/>
        </p:spPr>
        <p:txBody>
          <a:bodyPr wrap="square" lIns="0" tIns="0" rIns="0" bIns="0" rtlCol="0" anchor="ctr"/>
          <a:lstStyle/>
          <a:p>
            <a:pPr marL="0" indent="0">
              <a:buNone/>
            </a:pPr>
            <a:r>
              <a:rPr lang="rw-RW" sz="1600" i="1" dirty="0">
                <a:solidFill>
                  <a:srgbClr val="B06A08"/>
                </a:solidFill>
                <a:latin typeface="Calibri" pitchFamily="34" charset="0"/>
                <a:ea typeface="Calibri" pitchFamily="34" charset="-122"/>
                <a:cs typeface="Calibri" pitchFamily="34" charset="-120"/>
              </a:rPr>
              <a:t>Hitamo umuntu ukeneye gusuzumwa.</a:t>
            </a:r>
            <a:endParaRPr lang="rw-RW" sz="1600" dirty="0"/>
          </a:p>
        </p:txBody>
      </p:sp>
      <p:sp>
        <p:nvSpPr>
          <p:cNvPr id="5" name="Text 3"/>
          <p:cNvSpPr txBox="1"/>
          <p:nvPr/>
        </p:nvSpPr>
        <p:spPr>
          <a:xfrm>
            <a:off x="548640" y="1709928"/>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Abantu bane baganira nawe nyuma y'inama y'abaturage. Ni nde ukeneye gusuzumwa mu kigo nderabuzima?</a:t>
            </a:r>
            <a:endParaRPr lang="rw-RW" sz="2000" dirty="0"/>
          </a:p>
        </p:txBody>
      </p:sp>
      <p:sp>
        <p:nvSpPr>
          <p:cNvPr id="6" name="Shape 4"/>
          <p:cNvSpPr/>
          <p:nvPr/>
        </p:nvSpPr>
        <p:spPr>
          <a:xfrm>
            <a:off x="548640" y="257860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768096" y="257860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Umugore ufite inkovu yarasanganwe kuva akiri umwana muto</a:t>
            </a:r>
            <a:endParaRPr lang="rw-RW" sz="1800" dirty="0"/>
          </a:p>
        </p:txBody>
      </p:sp>
      <p:sp>
        <p:nvSpPr>
          <p:cNvPr id="8" name="Shape 6"/>
          <p:cNvSpPr/>
          <p:nvPr/>
        </p:nvSpPr>
        <p:spPr>
          <a:xfrm>
            <a:off x="548640" y="3209544"/>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768096" y="3209544"/>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Umugore unaniwe cyane nyuma y’umunsi muremure w’akazi</a:t>
            </a:r>
            <a:endParaRPr lang="rw-RW" sz="1800" dirty="0"/>
          </a:p>
        </p:txBody>
      </p:sp>
      <p:sp>
        <p:nvSpPr>
          <p:cNvPr id="10" name="Shape 8"/>
          <p:cNvSpPr/>
          <p:nvPr/>
        </p:nvSpPr>
        <p:spPr>
          <a:xfrm>
            <a:off x="548640" y="384048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768096" y="384048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Umugore wumva impinduka zoroheje mbere gato y’ukwezi kw’imihango.</a:t>
            </a:r>
            <a:endParaRPr lang="rw-RW" sz="1800" dirty="0"/>
          </a:p>
        </p:txBody>
      </p:sp>
      <p:sp>
        <p:nvSpPr>
          <p:cNvPr id="12" name="Shape 10"/>
          <p:cNvSpPr/>
          <p:nvPr/>
        </p:nvSpPr>
        <p:spPr>
          <a:xfrm>
            <a:off x="548640" y="447141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3" name="Text 11"/>
          <p:cNvSpPr txBox="1"/>
          <p:nvPr/>
        </p:nvSpPr>
        <p:spPr>
          <a:xfrm>
            <a:off x="768096" y="447141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Umugore w'imyaka 52 ufite ikibyimba mu ibere yumvise mbere mu mezi abiri ashize, kitababaza</a:t>
            </a:r>
            <a:endParaRPr lang="rw-RW" sz="1800" dirty="0"/>
          </a:p>
        </p:txBody>
      </p:sp>
      <p:sp>
        <p:nvSpPr>
          <p:cNvPr id="14" name="Text 12"/>
          <p:cNvSpPr txBox="1"/>
          <p:nvPr/>
        </p:nvSpPr>
        <p:spPr>
          <a:xfrm>
            <a:off x="548640" y="5266944"/>
            <a:ext cx="11091672" cy="996696"/>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Ikibyimba gishya, gikomeye kandi kitababaza kimaze amezi abiri ni impinduka idakwiye kwirengagizwa. Kugira impinduka nto mbere y'imihango ni ibisanzwe kandi ntabwo ari ikibyimba, kandi inkovu ya kera idahinduka ntabwo ari impinduka nshya.</a:t>
            </a:r>
            <a:endParaRPr lang="rw-RW" sz="1700" dirty="0"/>
          </a:p>
        </p:txBody>
      </p:sp>
      <p:sp>
        <p:nvSpPr>
          <p:cNvPr id="15" name="Text 13"/>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6" name="Text 1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56</a:t>
            </a:r>
            <a:endParaRPr lang="rw-RW" sz="900" dirty="0"/>
          </a:p>
        </p:txBody>
      </p:sp>
    </p:spTree>
    <p:extLst>
      <p:ext uri="{BB962C8B-B14F-4D97-AF65-F5344CB8AC3E}">
        <p14:creationId xmlns:p14="http://schemas.microsoft.com/office/powerpoint/2010/main" val="17432792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GUSUZUMA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Kugenzura no gusuzuma ntabwo ari kimwe</a:t>
            </a:r>
            <a:endParaRPr lang="rw-RW" sz="3000" dirty="0"/>
          </a:p>
        </p:txBody>
      </p:sp>
      <p:sp>
        <p:nvSpPr>
          <p:cNvPr id="4" name="Shape 2"/>
          <p:cNvSpPr/>
          <p:nvPr/>
        </p:nvSpPr>
        <p:spPr>
          <a:xfrm>
            <a:off x="548640" y="1547751"/>
            <a:ext cx="3514344" cy="2187831"/>
          </a:xfrm>
          <a:prstGeom prst="roundRect">
            <a:avLst>
              <a:gd name="adj" fmla="val 3077"/>
            </a:avLst>
          </a:prstGeom>
          <a:solidFill>
            <a:schemeClr val="accent4">
              <a:lumMod val="20000"/>
              <a:lumOff val="80000"/>
            </a:schemeClr>
          </a:solidFill>
          <a:ln w="12700">
            <a:solidFill>
              <a:srgbClr val="D3E1F2"/>
            </a:solidFill>
            <a:prstDash val="solid"/>
          </a:ln>
        </p:spPr>
        <p:txBody>
          <a:bodyPr/>
          <a:lstStyle/>
          <a:p>
            <a:endParaRPr lang="rw-RW" dirty="0"/>
          </a:p>
        </p:txBody>
      </p:sp>
      <p:sp>
        <p:nvSpPr>
          <p:cNvPr id="5" name="Text 3"/>
          <p:cNvSpPr txBox="1"/>
          <p:nvPr/>
        </p:nvSpPr>
        <p:spPr>
          <a:xfrm>
            <a:off x="768096" y="1712343"/>
            <a:ext cx="3075432" cy="1626081"/>
          </a:xfrm>
          <a:prstGeom prst="rect">
            <a:avLst/>
          </a:prstGeom>
          <a:noFill/>
          <a:ln/>
        </p:spPr>
        <p:txBody>
          <a:bodyPr wrap="square" lIns="0" tIns="0" rIns="0" bIns="0" rtlCol="0" anchor="t">
            <a:normAutofit fontScale="81000" lnSpcReduction="2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Isuzuma risanzwe ku bantu badafite ibimenyetso</a:t>
            </a:r>
          </a:p>
          <a:p>
            <a:pPr marL="0" indent="0">
              <a:lnSpc>
                <a:spcPct val="105000"/>
              </a:lnSpc>
              <a:buNone/>
            </a:pP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Isuzuma ry'amabere ku bantu bumva bameze neza kandi nta kintu na kimwe babonye. Rishakisha impinduka mbere y’uko umuntu azibona cyangwa azumva.</a:t>
            </a:r>
            <a:endParaRPr lang="rw-RW" sz="1800" dirty="0"/>
          </a:p>
        </p:txBody>
      </p:sp>
      <p:sp>
        <p:nvSpPr>
          <p:cNvPr id="6" name="Shape 4"/>
          <p:cNvSpPr/>
          <p:nvPr/>
        </p:nvSpPr>
        <p:spPr>
          <a:xfrm>
            <a:off x="4325112" y="1547751"/>
            <a:ext cx="3514344" cy="2187831"/>
          </a:xfrm>
          <a:prstGeom prst="roundRect">
            <a:avLst>
              <a:gd name="adj" fmla="val 3077"/>
            </a:avLst>
          </a:prstGeom>
          <a:solidFill>
            <a:srgbClr val="9900CC">
              <a:alpha val="5098"/>
            </a:srgbClr>
          </a:solidFill>
          <a:ln w="12700">
            <a:solidFill>
              <a:srgbClr val="D3E1F2"/>
            </a:solidFill>
            <a:prstDash val="solid"/>
          </a:ln>
        </p:spPr>
        <p:txBody>
          <a:bodyPr/>
          <a:lstStyle/>
          <a:p>
            <a:endParaRPr lang="rw-RW" dirty="0"/>
          </a:p>
        </p:txBody>
      </p:sp>
      <p:sp>
        <p:nvSpPr>
          <p:cNvPr id="7" name="Text 5"/>
          <p:cNvSpPr txBox="1"/>
          <p:nvPr/>
        </p:nvSpPr>
        <p:spPr>
          <a:xfrm>
            <a:off x="4544568" y="1712344"/>
            <a:ext cx="3075432" cy="1626080"/>
          </a:xfrm>
          <a:prstGeom prst="rect">
            <a:avLst/>
          </a:prstGeom>
          <a:noFill/>
          <a:ln/>
        </p:spPr>
        <p:txBody>
          <a:bodyPr wrap="square" lIns="0" tIns="0" rIns="0" bIns="0" rtlCol="0" anchor="t">
            <a:normAutofit fontScale="96000" lnSpcReduction="16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Igenzura</a:t>
            </a:r>
          </a:p>
          <a:p>
            <a:pPr marL="0" indent="0">
              <a:lnSpc>
                <a:spcPct val="105000"/>
              </a:lnSpc>
              <a:buNone/>
            </a:pP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Igenzura ry’umuntu wabonye impinduka runaka. Rireba iyo mpinduka yihariye hanyuma rigafata umwanzuro ku ntambwe ikurikiraho.</a:t>
            </a:r>
            <a:endParaRPr lang="rw-RW" sz="1800" dirty="0"/>
          </a:p>
        </p:txBody>
      </p:sp>
      <p:sp>
        <p:nvSpPr>
          <p:cNvPr id="8" name="Shape 6"/>
          <p:cNvSpPr/>
          <p:nvPr/>
        </p:nvSpPr>
        <p:spPr>
          <a:xfrm>
            <a:off x="548640" y="4089783"/>
            <a:ext cx="7290816" cy="1088136"/>
          </a:xfrm>
          <a:prstGeom prst="roundRect">
            <a:avLst>
              <a:gd name="adj" fmla="val 3077"/>
            </a:avLst>
          </a:prstGeom>
          <a:solidFill>
            <a:schemeClr val="accent5">
              <a:lumMod val="20000"/>
              <a:lumOff val="80000"/>
            </a:schemeClr>
          </a:solidFill>
          <a:ln w="12700">
            <a:solidFill>
              <a:srgbClr val="D3E1F2"/>
            </a:solidFill>
            <a:prstDash val="solid"/>
          </a:ln>
        </p:spPr>
        <p:txBody>
          <a:bodyPr/>
          <a:lstStyle/>
          <a:p>
            <a:endParaRPr lang="rw-RW" dirty="0"/>
          </a:p>
        </p:txBody>
      </p:sp>
      <p:sp>
        <p:nvSpPr>
          <p:cNvPr id="9" name="Text 7"/>
          <p:cNvSpPr txBox="1"/>
          <p:nvPr/>
        </p:nvSpPr>
        <p:spPr>
          <a:xfrm>
            <a:off x="722088" y="4206441"/>
            <a:ext cx="6897912" cy="108813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Icy’ingenzi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Iyo habaye ikibyimba cyangwa ikindi gihinduka, uwo muntu akeneye gusuzumwa ubu. Ntabwo ategereza umunsi wo kwisuzuma.</a:t>
            </a:r>
            <a:endParaRPr lang="rw-RW" sz="1800" dirty="0"/>
          </a:p>
        </p:txBody>
      </p:sp>
      <p:sp>
        <p:nvSpPr>
          <p:cNvPr id="10" name="Shape 8"/>
          <p:cNvSpPr/>
          <p:nvPr/>
        </p:nvSpPr>
        <p:spPr>
          <a:xfrm>
            <a:off x="548640" y="5532120"/>
            <a:ext cx="11091672" cy="713232"/>
          </a:xfrm>
          <a:prstGeom prst="roundRect">
            <a:avLst>
              <a:gd name="adj" fmla="val 10256"/>
            </a:avLst>
          </a:prstGeom>
          <a:solidFill>
            <a:srgbClr val="EAF5EF"/>
          </a:solidFill>
          <a:ln w="12700">
            <a:solidFill>
              <a:srgbClr val="8FC4A9"/>
            </a:solidFill>
            <a:prstDash val="solid"/>
          </a:ln>
        </p:spPr>
        <p:txBody>
          <a:bodyPr/>
          <a:lstStyle/>
          <a:p>
            <a:endParaRPr lang="rw-RW" dirty="0"/>
          </a:p>
        </p:txBody>
      </p:sp>
      <p:sp>
        <p:nvSpPr>
          <p:cNvPr id="11" name="Text 9"/>
          <p:cNvSpPr txBox="1"/>
          <p:nvPr/>
        </p:nvSpPr>
        <p:spPr>
          <a:xfrm>
            <a:off x="749808" y="5577840"/>
            <a:ext cx="10689336" cy="621792"/>
          </a:xfrm>
          <a:prstGeom prst="rect">
            <a:avLst/>
          </a:prstGeom>
          <a:noFill/>
          <a:ln/>
        </p:spPr>
        <p:txBody>
          <a:bodyPr wrap="square" lIns="0" tIns="0" rIns="0" bIns="0" rtlCol="0" anchor="ctr"/>
          <a:lstStyle/>
          <a:p>
            <a:pPr marL="0" indent="0">
              <a:buNone/>
            </a:pPr>
            <a:r>
              <a:rPr lang="rw-RW" sz="1400" b="1" dirty="0">
                <a:solidFill>
                  <a:srgbClr val="1B6E4A"/>
                </a:solidFill>
                <a:latin typeface="Calibri" pitchFamily="34" charset="0"/>
                <a:ea typeface="Calibri" pitchFamily="34" charset="-122"/>
                <a:cs typeface="Calibri" pitchFamily="34" charset="-120"/>
              </a:rPr>
              <a:t>Gahunda mu Rwanda: </a:t>
            </a:r>
            <a:r>
              <a:rPr lang="rw-RW" sz="1400" dirty="0">
                <a:solidFill>
                  <a:srgbClr val="203864"/>
                </a:solidFill>
                <a:latin typeface="Calibri" pitchFamily="34" charset="0"/>
                <a:ea typeface="Calibri" pitchFamily="34" charset="-122"/>
                <a:cs typeface="Calibri" pitchFamily="34" charset="-120"/>
              </a:rPr>
              <a:t>Kwisuzuma amabere: ku myaka yose, rimwe mu kwezi, byiza nyuma y'imihango. Isuzuma ku ivuriro cyangwa ku kigo nderabuzima: rimwe mu mwaka ku bagore bafite imyaka 30 n’abayirengeje. Umujyanama w'ubuzima yigisha, ayobora kandi yohereza; ntasuzuma amabere.</a:t>
            </a:r>
            <a:endParaRPr lang="rw-RW" sz="14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57</a:t>
            </a:r>
            <a:endParaRPr lang="rw-RW" sz="900" dirty="0"/>
          </a:p>
        </p:txBody>
      </p:sp>
      <p:pic>
        <p:nvPicPr>
          <p:cNvPr id="15" name="Picture 14">
            <a:extLst>
              <a:ext uri="{FF2B5EF4-FFF2-40B4-BE49-F238E27FC236}">
                <a16:creationId xmlns:a16="http://schemas.microsoft.com/office/drawing/2014/main" id="{D3FD6B64-4F77-C3AD-6513-C2327DD25417}"/>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101584" y="2266287"/>
            <a:ext cx="3693831" cy="2325426"/>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IBIMENYETSO BY'UMUBURO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Impinduka zikeneye kwitabwaho vuba (1/2)</a:t>
            </a:r>
            <a:endParaRPr lang="rw-RW" sz="3000" dirty="0"/>
          </a:p>
        </p:txBody>
      </p:sp>
      <p:sp>
        <p:nvSpPr>
          <p:cNvPr id="4" name="Text 2"/>
          <p:cNvSpPr txBox="1"/>
          <p:nvPr/>
        </p:nvSpPr>
        <p:spPr>
          <a:xfrm>
            <a:off x="550164" y="1146454"/>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Izi mpinduka ntizigomba gutegereza gahunda y’ubutaha y’umujyanama.</a:t>
            </a:r>
            <a:endParaRPr lang="rw-RW" sz="1800" dirty="0"/>
          </a:p>
        </p:txBody>
      </p:sp>
      <p:sp>
        <p:nvSpPr>
          <p:cNvPr id="17" name="Shape 15"/>
          <p:cNvSpPr/>
          <p:nvPr/>
        </p:nvSpPr>
        <p:spPr>
          <a:xfrm>
            <a:off x="548640" y="5532120"/>
            <a:ext cx="11091672" cy="713232"/>
          </a:xfrm>
          <a:prstGeom prst="roundRect">
            <a:avLst>
              <a:gd name="adj" fmla="val 10256"/>
            </a:avLst>
          </a:prstGeom>
          <a:solidFill>
            <a:srgbClr val="EAF5EF"/>
          </a:solidFill>
          <a:ln w="12700">
            <a:solidFill>
              <a:srgbClr val="8FC4A9"/>
            </a:solidFill>
            <a:prstDash val="solid"/>
          </a:ln>
        </p:spPr>
        <p:txBody>
          <a:bodyPr/>
          <a:lstStyle/>
          <a:p>
            <a:endParaRPr lang="rw-RW" dirty="0"/>
          </a:p>
        </p:txBody>
      </p:sp>
      <p:sp>
        <p:nvSpPr>
          <p:cNvPr id="18" name="Text 16"/>
          <p:cNvSpPr txBox="1"/>
          <p:nvPr/>
        </p:nvSpPr>
        <p:spPr>
          <a:xfrm>
            <a:off x="749808" y="5577840"/>
            <a:ext cx="10689336" cy="621792"/>
          </a:xfrm>
          <a:prstGeom prst="rect">
            <a:avLst/>
          </a:prstGeom>
          <a:noFill/>
          <a:ln/>
        </p:spPr>
        <p:txBody>
          <a:bodyPr wrap="square" lIns="0" tIns="0" rIns="0" bIns="0" rtlCol="0" anchor="ctr"/>
          <a:lstStyle/>
          <a:p>
            <a:pPr marL="0" indent="0">
              <a:buNone/>
            </a:pPr>
            <a:r>
              <a:rPr lang="rw-RW" sz="1400" b="1" dirty="0">
                <a:solidFill>
                  <a:srgbClr val="1B6E4A"/>
                </a:solidFill>
                <a:latin typeface="Calibri" pitchFamily="34" charset="0"/>
                <a:ea typeface="Calibri" pitchFamily="34" charset="-122"/>
                <a:cs typeface="Calibri" pitchFamily="34" charset="-120"/>
              </a:rPr>
              <a:t>Icyo ukora: </a:t>
            </a:r>
            <a:r>
              <a:rPr lang="rw-RW" sz="1400" dirty="0">
                <a:solidFill>
                  <a:srgbClr val="203864"/>
                </a:solidFill>
                <a:latin typeface="Calibri" pitchFamily="34" charset="0"/>
                <a:ea typeface="Calibri" pitchFamily="34" charset="-122"/>
                <a:cs typeface="Calibri" pitchFamily="34" charset="-120"/>
              </a:rPr>
              <a:t>Ohereza umuntu ufite ibi bimenyetso ku ivuriro (poste de santé) cyangwa ku kigo nderabuzima kiri hafi mu masaha 48. Umuntu urembye cyane akeneye kwitabwaho uwo munsi.</a:t>
            </a:r>
            <a:endParaRPr lang="rw-RW" sz="1400" dirty="0"/>
          </a:p>
        </p:txBody>
      </p:sp>
      <p:sp>
        <p:nvSpPr>
          <p:cNvPr id="19" name="Text 17"/>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0" name="Text 18"/>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58</a:t>
            </a:r>
            <a:endParaRPr lang="rw-RW" sz="900" dirty="0"/>
          </a:p>
        </p:txBody>
      </p:sp>
      <p:grpSp>
        <p:nvGrpSpPr>
          <p:cNvPr id="16" name="Grupo 15">
            <a:extLst>
              <a:ext uri="{FF2B5EF4-FFF2-40B4-BE49-F238E27FC236}">
                <a16:creationId xmlns:a16="http://schemas.microsoft.com/office/drawing/2014/main" id="{87E56B07-0462-8F17-36A3-E6355147C58E}"/>
              </a:ext>
            </a:extLst>
          </p:cNvPr>
          <p:cNvGrpSpPr/>
          <p:nvPr/>
        </p:nvGrpSpPr>
        <p:grpSpPr>
          <a:xfrm>
            <a:off x="548640" y="1639878"/>
            <a:ext cx="3514344" cy="3755082"/>
            <a:chOff x="548640" y="1639878"/>
            <a:chExt cx="3514344" cy="3755082"/>
          </a:xfrm>
        </p:grpSpPr>
        <p:sp>
          <p:nvSpPr>
            <p:cNvPr id="5" name="Shape 3"/>
            <p:cNvSpPr/>
            <p:nvPr/>
          </p:nvSpPr>
          <p:spPr>
            <a:xfrm>
              <a:off x="548640" y="1639878"/>
              <a:ext cx="3514344" cy="3755082"/>
            </a:xfrm>
            <a:prstGeom prst="roundRect">
              <a:avLst>
                <a:gd name="adj" fmla="val 4444"/>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04470"/>
              <a:ext cx="3294888" cy="1353312"/>
            </a:xfrm>
            <a:prstGeom prst="rect">
              <a:avLst/>
            </a:prstGeom>
            <a:noFill/>
            <a:ln/>
          </p:spPr>
          <p:txBody>
            <a:bodyPr wrap="square" lIns="0" tIns="0" rIns="0" bIns="0" rtlCol="0" anchor="t">
              <a:normAutofit fontScale="89500" lnSpcReduction="2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1- Ibere ritukuye kandi ribyimbye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Gutukura, kubyimba, gushyuha n’uruhu rukomeye cyangwa rubyimbye bimaze iminsi. Hari impamvu zitandukanye zabitera kandi bigomba guhita bisuzumwa.</a:t>
              </a:r>
              <a:endParaRPr lang="rw-RW" sz="1800" dirty="0"/>
            </a:p>
          </p:txBody>
        </p:sp>
        <p:pic>
          <p:nvPicPr>
            <p:cNvPr id="13" name="Imagen 12">
              <a:extLst>
                <a:ext uri="{FF2B5EF4-FFF2-40B4-BE49-F238E27FC236}">
                  <a16:creationId xmlns:a16="http://schemas.microsoft.com/office/drawing/2014/main" id="{BC0D83CC-592F-9761-4456-9BA0B4E0D16E}"/>
                </a:ext>
              </a:extLst>
            </p:cNvPr>
            <p:cNvPicPr>
              <a:picLocks noChangeAspect="1"/>
            </p:cNvPicPr>
            <p:nvPr/>
          </p:nvPicPr>
          <p:blipFill>
            <a:blip r:embed="rId3" cstate="hqprint">
              <a:extLst>
                <a:ext uri="{28A0092B-C50C-407E-A947-70E740481C1C}">
                  <a14:useLocalDpi xmlns:a14="http://schemas.microsoft.com/office/drawing/2010/main"/>
                </a:ext>
              </a:extLst>
            </a:blip>
            <a:srcRect t="-1"/>
            <a:stretch>
              <a:fillRect/>
            </a:stretch>
          </p:blipFill>
          <p:spPr>
            <a:xfrm>
              <a:off x="969818" y="3239726"/>
              <a:ext cx="2669309" cy="1606594"/>
            </a:xfrm>
            <a:prstGeom prst="rect">
              <a:avLst/>
            </a:prstGeom>
          </p:spPr>
        </p:pic>
      </p:grpSp>
      <p:grpSp>
        <p:nvGrpSpPr>
          <p:cNvPr id="23" name="Grupo 22">
            <a:extLst>
              <a:ext uri="{FF2B5EF4-FFF2-40B4-BE49-F238E27FC236}">
                <a16:creationId xmlns:a16="http://schemas.microsoft.com/office/drawing/2014/main" id="{8F537784-E7B7-42C2-F333-2B07C175083E}"/>
              </a:ext>
            </a:extLst>
          </p:cNvPr>
          <p:cNvGrpSpPr/>
          <p:nvPr/>
        </p:nvGrpSpPr>
        <p:grpSpPr>
          <a:xfrm>
            <a:off x="8125968" y="1639877"/>
            <a:ext cx="3514344" cy="3755080"/>
            <a:chOff x="8125968" y="1639877"/>
            <a:chExt cx="3514344" cy="3755080"/>
          </a:xfrm>
        </p:grpSpPr>
        <p:sp>
          <p:nvSpPr>
            <p:cNvPr id="9" name="Shape 7"/>
            <p:cNvSpPr/>
            <p:nvPr/>
          </p:nvSpPr>
          <p:spPr>
            <a:xfrm>
              <a:off x="8125968" y="1639877"/>
              <a:ext cx="3514344" cy="3755080"/>
            </a:xfrm>
            <a:prstGeom prst="roundRect">
              <a:avLst>
                <a:gd name="adj" fmla="val 4444"/>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8345424" y="1804470"/>
              <a:ext cx="3075432" cy="135331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3- Igisebe kitakira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Igisebe gifunguye, igisebe cyangwa imoko ifite igisebe cyangwa yasadutse kandi ntikire.</a:t>
              </a:r>
              <a:endParaRPr lang="rw-RW" sz="1800" dirty="0"/>
            </a:p>
          </p:txBody>
        </p:sp>
        <p:pic>
          <p:nvPicPr>
            <p:cNvPr id="14" name="Imagen 13">
              <a:extLst>
                <a:ext uri="{FF2B5EF4-FFF2-40B4-BE49-F238E27FC236}">
                  <a16:creationId xmlns:a16="http://schemas.microsoft.com/office/drawing/2014/main" id="{2D06A52A-A100-B9BE-4FC9-8CB964392AF7}"/>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8762777" y="3235394"/>
              <a:ext cx="2240726" cy="1610926"/>
            </a:xfrm>
            <a:prstGeom prst="rect">
              <a:avLst/>
            </a:prstGeom>
          </p:spPr>
        </p:pic>
      </p:grpSp>
      <p:grpSp>
        <p:nvGrpSpPr>
          <p:cNvPr id="22" name="Grupo 21">
            <a:extLst>
              <a:ext uri="{FF2B5EF4-FFF2-40B4-BE49-F238E27FC236}">
                <a16:creationId xmlns:a16="http://schemas.microsoft.com/office/drawing/2014/main" id="{FC5FFD4B-6E6D-5F9D-B053-98027EA5DECF}"/>
              </a:ext>
            </a:extLst>
          </p:cNvPr>
          <p:cNvGrpSpPr/>
          <p:nvPr/>
        </p:nvGrpSpPr>
        <p:grpSpPr>
          <a:xfrm>
            <a:off x="4337304" y="1639878"/>
            <a:ext cx="3514344" cy="3755082"/>
            <a:chOff x="4337304" y="1639878"/>
            <a:chExt cx="3514344" cy="3755082"/>
          </a:xfrm>
        </p:grpSpPr>
        <p:sp>
          <p:nvSpPr>
            <p:cNvPr id="7" name="Shape 5"/>
            <p:cNvSpPr/>
            <p:nvPr/>
          </p:nvSpPr>
          <p:spPr>
            <a:xfrm>
              <a:off x="4337304" y="1639878"/>
              <a:ext cx="3514344" cy="3755082"/>
            </a:xfrm>
            <a:prstGeom prst="roundRect">
              <a:avLst>
                <a:gd name="adj" fmla="val 4444"/>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4556760" y="1804470"/>
              <a:ext cx="3294888" cy="1353312"/>
            </a:xfrm>
            <a:prstGeom prst="rect">
              <a:avLst/>
            </a:prstGeom>
            <a:noFill/>
            <a:ln/>
          </p:spPr>
          <p:txBody>
            <a:bodyPr wrap="square" lIns="0" tIns="0" rIns="0" bIns="0" rtlCol="0" anchor="t">
              <a:normAutofit fontScale="965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2- Ikibyimba kirimo gukura</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kiruta uko cyanganaga mu byumweru bibiri bishize cyangwa ikibyimba gifashe hamwe kitimuka.</a:t>
              </a:r>
              <a:endParaRPr lang="rw-RW" sz="1800" dirty="0"/>
            </a:p>
          </p:txBody>
        </p:sp>
        <p:pic>
          <p:nvPicPr>
            <p:cNvPr id="15" name="Imagen 14">
              <a:extLst>
                <a:ext uri="{FF2B5EF4-FFF2-40B4-BE49-F238E27FC236}">
                  <a16:creationId xmlns:a16="http://schemas.microsoft.com/office/drawing/2014/main" id="{0BDC00A9-BA4F-FF3C-14F6-8BE7A50491D1}"/>
                </a:ext>
              </a:extLst>
            </p:cNvPr>
            <p:cNvPicPr>
              <a:picLocks noChangeAspect="1"/>
            </p:cNvPicPr>
            <p:nvPr/>
          </p:nvPicPr>
          <p:blipFill>
            <a:blip r:embed="rId5" cstate="hqprint">
              <a:extLst>
                <a:ext uri="{28A0092B-C50C-407E-A947-70E740481C1C}">
                  <a14:useLocalDpi xmlns:a14="http://schemas.microsoft.com/office/drawing/2010/main"/>
                </a:ext>
              </a:extLst>
            </a:blip>
            <a:srcRect t="-1"/>
            <a:stretch>
              <a:fillRect/>
            </a:stretch>
          </p:blipFill>
          <p:spPr>
            <a:xfrm>
              <a:off x="4812632" y="3239725"/>
              <a:ext cx="2477168" cy="1606595"/>
            </a:xfrm>
            <a:prstGeom prst="rect">
              <a:avLst/>
            </a:prstGeom>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70973-2D6B-5910-1CC5-00255CA4DF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FF85A3-C165-84E1-CF4F-1C62F58AB6C8}"/>
              </a:ext>
            </a:extLst>
          </p:cNvPr>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IBIMENYETSO BY'UMUBURO</a:t>
            </a:r>
            <a:endParaRPr lang="rw-RW" sz="1000" dirty="0"/>
          </a:p>
        </p:txBody>
      </p:sp>
      <p:sp>
        <p:nvSpPr>
          <p:cNvPr id="3" name="Text 1">
            <a:extLst>
              <a:ext uri="{FF2B5EF4-FFF2-40B4-BE49-F238E27FC236}">
                <a16:creationId xmlns:a16="http://schemas.microsoft.com/office/drawing/2014/main" id="{C113C8B2-2566-6E87-232E-283854152D7E}"/>
              </a:ext>
            </a:extLst>
          </p:cNvPr>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Impinduka zikeneye kwitabwaho vuba (2/2)</a:t>
            </a:r>
            <a:endParaRPr lang="rw-RW" sz="3000" dirty="0"/>
          </a:p>
        </p:txBody>
      </p:sp>
      <p:sp>
        <p:nvSpPr>
          <p:cNvPr id="4" name="Text 2">
            <a:extLst>
              <a:ext uri="{FF2B5EF4-FFF2-40B4-BE49-F238E27FC236}">
                <a16:creationId xmlns:a16="http://schemas.microsoft.com/office/drawing/2014/main" id="{0F7800D1-CBC0-59AC-BC9D-83163504F8F0}"/>
              </a:ext>
            </a:extLst>
          </p:cNvPr>
          <p:cNvSpPr txBox="1"/>
          <p:nvPr/>
        </p:nvSpPr>
        <p:spPr>
          <a:xfrm>
            <a:off x="548640" y="1139117"/>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Izi mpinduka ntizigomba gutegereza gahunda y’ubutaha y’umujyanama.</a:t>
            </a:r>
            <a:endParaRPr lang="rw-RW" sz="1800" dirty="0"/>
          </a:p>
        </p:txBody>
      </p:sp>
      <p:sp>
        <p:nvSpPr>
          <p:cNvPr id="17" name="Shape 15">
            <a:extLst>
              <a:ext uri="{FF2B5EF4-FFF2-40B4-BE49-F238E27FC236}">
                <a16:creationId xmlns:a16="http://schemas.microsoft.com/office/drawing/2014/main" id="{6C9F1EB7-420F-E04B-A6AF-3617532F6109}"/>
              </a:ext>
            </a:extLst>
          </p:cNvPr>
          <p:cNvSpPr/>
          <p:nvPr/>
        </p:nvSpPr>
        <p:spPr>
          <a:xfrm>
            <a:off x="548640" y="5532120"/>
            <a:ext cx="11091672" cy="713232"/>
          </a:xfrm>
          <a:prstGeom prst="roundRect">
            <a:avLst>
              <a:gd name="adj" fmla="val 10256"/>
            </a:avLst>
          </a:prstGeom>
          <a:solidFill>
            <a:srgbClr val="EAF5EF"/>
          </a:solidFill>
          <a:ln w="12700">
            <a:solidFill>
              <a:srgbClr val="8FC4A9"/>
            </a:solidFill>
            <a:prstDash val="solid"/>
          </a:ln>
        </p:spPr>
        <p:txBody>
          <a:bodyPr/>
          <a:lstStyle/>
          <a:p>
            <a:endParaRPr lang="rw-RW" dirty="0"/>
          </a:p>
        </p:txBody>
      </p:sp>
      <p:sp>
        <p:nvSpPr>
          <p:cNvPr id="18" name="Text 16">
            <a:extLst>
              <a:ext uri="{FF2B5EF4-FFF2-40B4-BE49-F238E27FC236}">
                <a16:creationId xmlns:a16="http://schemas.microsoft.com/office/drawing/2014/main" id="{C61310BC-FDAB-D491-8243-CE076772CD13}"/>
              </a:ext>
            </a:extLst>
          </p:cNvPr>
          <p:cNvSpPr txBox="1"/>
          <p:nvPr/>
        </p:nvSpPr>
        <p:spPr>
          <a:xfrm>
            <a:off x="749808" y="5577840"/>
            <a:ext cx="10689336" cy="621792"/>
          </a:xfrm>
          <a:prstGeom prst="rect">
            <a:avLst/>
          </a:prstGeom>
          <a:noFill/>
          <a:ln/>
        </p:spPr>
        <p:txBody>
          <a:bodyPr wrap="square" lIns="0" tIns="0" rIns="0" bIns="0" rtlCol="0" anchor="ctr"/>
          <a:lstStyle/>
          <a:p>
            <a:pPr marL="0" indent="0">
              <a:buNone/>
            </a:pPr>
            <a:r>
              <a:rPr lang="rw-RW" sz="1400" b="1" dirty="0">
                <a:solidFill>
                  <a:srgbClr val="1B6E4A"/>
                </a:solidFill>
                <a:latin typeface="Calibri" pitchFamily="34" charset="0"/>
                <a:ea typeface="Calibri" pitchFamily="34" charset="-122"/>
                <a:cs typeface="Calibri" pitchFamily="34" charset="-120"/>
              </a:rPr>
              <a:t>Icyo ukora: </a:t>
            </a:r>
            <a:r>
              <a:rPr lang="rw-RW" sz="1400" dirty="0">
                <a:solidFill>
                  <a:srgbClr val="203864"/>
                </a:solidFill>
                <a:latin typeface="Calibri" pitchFamily="34" charset="0"/>
                <a:ea typeface="Calibri" pitchFamily="34" charset="-122"/>
                <a:cs typeface="Calibri" pitchFamily="34" charset="-120"/>
              </a:rPr>
              <a:t>Ohereza umuntu ufite ibi bimenyetso ku ivuriro (poste de santé) cyangwa ku kigo nderabuzima kiri hafi mu masaha 48. Umuntu urembye cyane akeneye kwitabwaho uwo munsi.</a:t>
            </a:r>
            <a:endParaRPr lang="rw-RW" sz="1400" dirty="0"/>
          </a:p>
        </p:txBody>
      </p:sp>
      <p:sp>
        <p:nvSpPr>
          <p:cNvPr id="19" name="Text 17">
            <a:extLst>
              <a:ext uri="{FF2B5EF4-FFF2-40B4-BE49-F238E27FC236}">
                <a16:creationId xmlns:a16="http://schemas.microsoft.com/office/drawing/2014/main" id="{4DAC6564-2560-D0A3-1C11-8FAC6053DB3E}"/>
              </a:ext>
            </a:extLst>
          </p:cNvPr>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0" name="Text 18">
            <a:extLst>
              <a:ext uri="{FF2B5EF4-FFF2-40B4-BE49-F238E27FC236}">
                <a16:creationId xmlns:a16="http://schemas.microsoft.com/office/drawing/2014/main" id="{81A97FC0-DDFE-4CCC-A202-CD1CE0CD709A}"/>
              </a:ext>
            </a:extLst>
          </p:cNvPr>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58</a:t>
            </a:r>
            <a:endParaRPr lang="rw-RW" sz="900" dirty="0"/>
          </a:p>
        </p:txBody>
      </p:sp>
      <p:grpSp>
        <p:nvGrpSpPr>
          <p:cNvPr id="23" name="Grupo 22">
            <a:extLst>
              <a:ext uri="{FF2B5EF4-FFF2-40B4-BE49-F238E27FC236}">
                <a16:creationId xmlns:a16="http://schemas.microsoft.com/office/drawing/2014/main" id="{A45B2ECC-B233-05EE-FBA4-7226A23B3EAE}"/>
              </a:ext>
            </a:extLst>
          </p:cNvPr>
          <p:cNvGrpSpPr/>
          <p:nvPr/>
        </p:nvGrpSpPr>
        <p:grpSpPr>
          <a:xfrm>
            <a:off x="548640" y="1567542"/>
            <a:ext cx="3514344" cy="3735977"/>
            <a:chOff x="548640" y="1567542"/>
            <a:chExt cx="3514344" cy="3735977"/>
          </a:xfrm>
        </p:grpSpPr>
        <p:sp>
          <p:nvSpPr>
            <p:cNvPr id="11" name="Shape 9">
              <a:extLst>
                <a:ext uri="{FF2B5EF4-FFF2-40B4-BE49-F238E27FC236}">
                  <a16:creationId xmlns:a16="http://schemas.microsoft.com/office/drawing/2014/main" id="{05F18491-866B-3BCC-4812-999128003F20}"/>
                </a:ext>
              </a:extLst>
            </p:cNvPr>
            <p:cNvSpPr/>
            <p:nvPr/>
          </p:nvSpPr>
          <p:spPr>
            <a:xfrm>
              <a:off x="548640" y="1567542"/>
              <a:ext cx="3514344" cy="3735977"/>
            </a:xfrm>
            <a:prstGeom prst="roundRect">
              <a:avLst>
                <a:gd name="adj" fmla="val 4444"/>
              </a:avLst>
            </a:prstGeom>
            <a:solidFill>
              <a:srgbClr val="F3F7FC"/>
            </a:solidFill>
            <a:ln w="12700">
              <a:solidFill>
                <a:srgbClr val="D3E1F2"/>
              </a:solidFill>
              <a:prstDash val="solid"/>
            </a:ln>
          </p:spPr>
          <p:txBody>
            <a:bodyPr/>
            <a:lstStyle/>
            <a:p>
              <a:endParaRPr lang="rw-RW" dirty="0"/>
            </a:p>
          </p:txBody>
        </p:sp>
        <p:sp>
          <p:nvSpPr>
            <p:cNvPr id="12" name="Text 10">
              <a:extLst>
                <a:ext uri="{FF2B5EF4-FFF2-40B4-BE49-F238E27FC236}">
                  <a16:creationId xmlns:a16="http://schemas.microsoft.com/office/drawing/2014/main" id="{F901CCAF-1260-90A5-9B25-FB9CC936F3A8}"/>
                </a:ext>
              </a:extLst>
            </p:cNvPr>
            <p:cNvSpPr txBox="1"/>
            <p:nvPr/>
          </p:nvSpPr>
          <p:spPr>
            <a:xfrm>
              <a:off x="768095" y="1732135"/>
              <a:ext cx="3191429" cy="135331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4- Amaraso ava mu moko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Amatembabuzi avanze n’amaraso ava mu moko atayakanze.</a:t>
              </a:r>
              <a:endParaRPr lang="rw-RW" sz="1800" dirty="0"/>
            </a:p>
          </p:txBody>
        </p:sp>
        <p:pic>
          <p:nvPicPr>
            <p:cNvPr id="10" name="Imagen 9">
              <a:extLst>
                <a:ext uri="{FF2B5EF4-FFF2-40B4-BE49-F238E27FC236}">
                  <a16:creationId xmlns:a16="http://schemas.microsoft.com/office/drawing/2014/main" id="{0A03543E-CABF-ED31-32EA-58E3764686B1}"/>
                </a:ext>
              </a:extLst>
            </p:cNvPr>
            <p:cNvPicPr>
              <a:picLocks noChangeAspect="1"/>
            </p:cNvPicPr>
            <p:nvPr/>
          </p:nvPicPr>
          <p:blipFill>
            <a:blip r:embed="rId3"/>
            <a:srcRect l="1" r="65019" b="2028"/>
            <a:stretch>
              <a:fillRect/>
            </a:stretch>
          </p:blipFill>
          <p:spPr>
            <a:xfrm>
              <a:off x="946413" y="3453198"/>
              <a:ext cx="2718798" cy="1680469"/>
            </a:xfrm>
            <a:prstGeom prst="rect">
              <a:avLst/>
            </a:prstGeom>
          </p:spPr>
        </p:pic>
      </p:grpSp>
      <p:grpSp>
        <p:nvGrpSpPr>
          <p:cNvPr id="25" name="Grupo 24">
            <a:extLst>
              <a:ext uri="{FF2B5EF4-FFF2-40B4-BE49-F238E27FC236}">
                <a16:creationId xmlns:a16="http://schemas.microsoft.com/office/drawing/2014/main" id="{3C1A186B-78ED-67D7-B534-3D2C7C5E1146}"/>
              </a:ext>
            </a:extLst>
          </p:cNvPr>
          <p:cNvGrpSpPr/>
          <p:nvPr/>
        </p:nvGrpSpPr>
        <p:grpSpPr>
          <a:xfrm>
            <a:off x="4337304" y="1567542"/>
            <a:ext cx="3514344" cy="3735977"/>
            <a:chOff x="4337304" y="1567542"/>
            <a:chExt cx="3514344" cy="3735977"/>
          </a:xfrm>
        </p:grpSpPr>
        <p:sp>
          <p:nvSpPr>
            <p:cNvPr id="13" name="Shape 11">
              <a:extLst>
                <a:ext uri="{FF2B5EF4-FFF2-40B4-BE49-F238E27FC236}">
                  <a16:creationId xmlns:a16="http://schemas.microsoft.com/office/drawing/2014/main" id="{3EBA2FE4-6D56-B66C-B4CD-80E82B6EFD1E}"/>
                </a:ext>
              </a:extLst>
            </p:cNvPr>
            <p:cNvSpPr/>
            <p:nvPr/>
          </p:nvSpPr>
          <p:spPr>
            <a:xfrm>
              <a:off x="4337304" y="1567542"/>
              <a:ext cx="3514344" cy="3735977"/>
            </a:xfrm>
            <a:prstGeom prst="roundRect">
              <a:avLst>
                <a:gd name="adj" fmla="val 4444"/>
              </a:avLst>
            </a:prstGeom>
            <a:solidFill>
              <a:srgbClr val="F3F7FC"/>
            </a:solidFill>
            <a:ln w="12700">
              <a:solidFill>
                <a:srgbClr val="D3E1F2"/>
              </a:solidFill>
              <a:prstDash val="solid"/>
            </a:ln>
          </p:spPr>
          <p:txBody>
            <a:bodyPr/>
            <a:lstStyle/>
            <a:p>
              <a:endParaRPr lang="rw-RW" dirty="0"/>
            </a:p>
          </p:txBody>
        </p:sp>
        <p:sp>
          <p:nvSpPr>
            <p:cNvPr id="14" name="Text 12">
              <a:extLst>
                <a:ext uri="{FF2B5EF4-FFF2-40B4-BE49-F238E27FC236}">
                  <a16:creationId xmlns:a16="http://schemas.microsoft.com/office/drawing/2014/main" id="{C888D84E-B2AA-7CC3-762E-5B8E4C3CBC98}"/>
                </a:ext>
              </a:extLst>
            </p:cNvPr>
            <p:cNvSpPr txBox="1"/>
            <p:nvPr/>
          </p:nvSpPr>
          <p:spPr>
            <a:xfrm>
              <a:off x="4556760" y="1732135"/>
              <a:ext cx="3075432" cy="135331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5- Ikibyimba gikura mu kwaha</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mu kwaha cyangwa hejuru y’igufwa ryo ku rutugu kigenda cyiyongera kigomba gusuzumwa.</a:t>
              </a:r>
              <a:endParaRPr lang="rw-RW" sz="1800" dirty="0"/>
            </a:p>
          </p:txBody>
        </p:sp>
        <p:pic>
          <p:nvPicPr>
            <p:cNvPr id="22" name="Imagen 21">
              <a:extLst>
                <a:ext uri="{FF2B5EF4-FFF2-40B4-BE49-F238E27FC236}">
                  <a16:creationId xmlns:a16="http://schemas.microsoft.com/office/drawing/2014/main" id="{F501F226-E8D6-DAD2-394A-D2D2147B7061}"/>
                </a:ext>
              </a:extLst>
            </p:cNvPr>
            <p:cNvPicPr>
              <a:picLocks noChangeAspect="1"/>
            </p:cNvPicPr>
            <p:nvPr/>
          </p:nvPicPr>
          <p:blipFill>
            <a:blip r:embed="rId3"/>
            <a:srcRect l="37176" r="30298" b="1369"/>
            <a:stretch>
              <a:fillRect/>
            </a:stretch>
          </p:blipFill>
          <p:spPr>
            <a:xfrm>
              <a:off x="4894728" y="3441890"/>
              <a:ext cx="2528047" cy="1691778"/>
            </a:xfrm>
            <a:prstGeom prst="rect">
              <a:avLst/>
            </a:prstGeom>
          </p:spPr>
        </p:pic>
      </p:grpSp>
      <p:grpSp>
        <p:nvGrpSpPr>
          <p:cNvPr id="26" name="Grupo 25">
            <a:extLst>
              <a:ext uri="{FF2B5EF4-FFF2-40B4-BE49-F238E27FC236}">
                <a16:creationId xmlns:a16="http://schemas.microsoft.com/office/drawing/2014/main" id="{89DA99ED-A33E-47C5-1DD9-70B74020E06E}"/>
              </a:ext>
            </a:extLst>
          </p:cNvPr>
          <p:cNvGrpSpPr/>
          <p:nvPr/>
        </p:nvGrpSpPr>
        <p:grpSpPr>
          <a:xfrm>
            <a:off x="8125968" y="1567542"/>
            <a:ext cx="3514344" cy="3735977"/>
            <a:chOff x="8125968" y="1567542"/>
            <a:chExt cx="3514344" cy="3735977"/>
          </a:xfrm>
        </p:grpSpPr>
        <p:sp>
          <p:nvSpPr>
            <p:cNvPr id="15" name="Shape 13">
              <a:extLst>
                <a:ext uri="{FF2B5EF4-FFF2-40B4-BE49-F238E27FC236}">
                  <a16:creationId xmlns:a16="http://schemas.microsoft.com/office/drawing/2014/main" id="{E7BBB0B6-8308-4274-0AFC-DA01F8D8A004}"/>
                </a:ext>
              </a:extLst>
            </p:cNvPr>
            <p:cNvSpPr/>
            <p:nvPr/>
          </p:nvSpPr>
          <p:spPr>
            <a:xfrm>
              <a:off x="8125968" y="1567542"/>
              <a:ext cx="3514344" cy="3735977"/>
            </a:xfrm>
            <a:prstGeom prst="roundRect">
              <a:avLst>
                <a:gd name="adj" fmla="val 4444"/>
              </a:avLst>
            </a:prstGeom>
            <a:solidFill>
              <a:srgbClr val="F3F7FC"/>
            </a:solidFill>
            <a:ln w="12700">
              <a:solidFill>
                <a:srgbClr val="D3E1F2"/>
              </a:solidFill>
              <a:prstDash val="solid"/>
            </a:ln>
          </p:spPr>
          <p:txBody>
            <a:bodyPr/>
            <a:lstStyle/>
            <a:p>
              <a:endParaRPr lang="rw-RW" dirty="0"/>
            </a:p>
          </p:txBody>
        </p:sp>
        <p:sp>
          <p:nvSpPr>
            <p:cNvPr id="16" name="Text 14">
              <a:extLst>
                <a:ext uri="{FF2B5EF4-FFF2-40B4-BE49-F238E27FC236}">
                  <a16:creationId xmlns:a16="http://schemas.microsoft.com/office/drawing/2014/main" id="{E29ED70E-C55B-D649-BA5A-D6F6431B6977}"/>
                </a:ext>
              </a:extLst>
            </p:cNvPr>
            <p:cNvSpPr txBox="1"/>
            <p:nvPr/>
          </p:nvSpPr>
          <p:spPr>
            <a:xfrm>
              <a:off x="8345424" y="1732135"/>
              <a:ext cx="3075432" cy="1353312"/>
            </a:xfrm>
            <a:prstGeom prst="rect">
              <a:avLst/>
            </a:prstGeom>
            <a:noFill/>
            <a:ln/>
          </p:spPr>
          <p:txBody>
            <a:bodyPr wrap="square" lIns="0" tIns="0" rIns="0" bIns="0" rtlCol="0" anchor="t">
              <a:normAutofit fontScale="89500" lnSpcReduction="2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6- Umuntu ugaragara ko arembye cyane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Ububabare bukabije, umuriro mwinshi, guhumeka nabi cyangwa intege nke zikomeye bigomba kwitabwaho uwo munsi.</a:t>
              </a:r>
              <a:endParaRPr lang="rw-RW" sz="1800" dirty="0"/>
            </a:p>
          </p:txBody>
        </p:sp>
        <p:pic>
          <p:nvPicPr>
            <p:cNvPr id="24" name="Imagen 23">
              <a:extLst>
                <a:ext uri="{FF2B5EF4-FFF2-40B4-BE49-F238E27FC236}">
                  <a16:creationId xmlns:a16="http://schemas.microsoft.com/office/drawing/2014/main" id="{03D293D7-AF79-E9EF-A765-D5E93B33277B}"/>
                </a:ext>
              </a:extLst>
            </p:cNvPr>
            <p:cNvPicPr>
              <a:picLocks noChangeAspect="1"/>
            </p:cNvPicPr>
            <p:nvPr/>
          </p:nvPicPr>
          <p:blipFill>
            <a:blip r:embed="rId3"/>
            <a:srcRect l="70321" r="235" b="1369"/>
            <a:stretch>
              <a:fillRect/>
            </a:stretch>
          </p:blipFill>
          <p:spPr>
            <a:xfrm>
              <a:off x="8738904" y="3441890"/>
              <a:ext cx="2288471" cy="1691778"/>
            </a:xfrm>
            <a:prstGeom prst="rect">
              <a:avLst/>
            </a:prstGeom>
          </p:spPr>
        </p:pic>
      </p:grpSp>
    </p:spTree>
    <p:extLst>
      <p:ext uri="{BB962C8B-B14F-4D97-AF65-F5344CB8AC3E}">
        <p14:creationId xmlns:p14="http://schemas.microsoft.com/office/powerpoint/2010/main" val="30144581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KIGENDANWA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Uyu munsi cyangwa mu minsi iri imbere?</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akubwira ko ibere rye ry'iburyo ryahindutse umutuku, rirabyimba, rirashyushye kandi ribabaza mu minsi ine ishize kandi ubu afite umuriro mwinshi. Ese wakora iki?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Mubwire ko ari kanseri igaragara nta cyakorwa</a:t>
            </a:r>
            <a:endParaRPr lang="rw-RW" sz="1800" dirty="0"/>
          </a:p>
        </p:txBody>
      </p:sp>
      <p:sp>
        <p:nvSpPr>
          <p:cNvPr id="7" name="Shape 5"/>
          <p:cNvSpPr/>
          <p:nvPr/>
        </p:nvSpPr>
        <p:spPr>
          <a:xfrm>
            <a:off x="548640" y="282549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Mufashe kugera ku kigo nderabuzima byihuse, kuko akeneye kwisuzumisha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Mugire inama yo kwambara imyambaro ishyushye ubundi ategereze gahunda y’ukwezi gutaha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Mubwire gutegereza kugeza gutukura bishize.</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Ibere riba ritukura kandi ribyimba vuba rigira impamvu nyinshi, harimo indwara n'ubwoko buke bwa kanseri y'ibere. Si umujyanama usobanura uburwayi ubwo ari bwo. Bisaba kwisuzumisha vuba, kandi gutegereza ni byo byangiza.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59</a:t>
            </a:r>
            <a:endParaRPr lang="rw-RW" sz="900" dirty="0"/>
          </a:p>
        </p:txBody>
      </p:sp>
    </p:spTree>
    <p:extLst>
      <p:ext uri="{BB962C8B-B14F-4D97-AF65-F5344CB8AC3E}">
        <p14:creationId xmlns:p14="http://schemas.microsoft.com/office/powerpoint/2010/main" val="17125935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INKURU YO MU MURYANGO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Uko inkuru igenda: Uwimana Vestine</a:t>
            </a:r>
            <a:endParaRPr lang="rw-RW" sz="3000" dirty="0"/>
          </a:p>
        </p:txBody>
      </p:sp>
      <p:sp>
        <p:nvSpPr>
          <p:cNvPr id="8" name="Text 6"/>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9" name="Text 7"/>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60</a:t>
            </a:r>
            <a:endParaRPr lang="rw-RW"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IKIBAZO CY'UMURYANGO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Ubu se urimo gukora iki kuri Vestine?</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Vestine afite ubwoba ko gufata igipimo bishobora gukwirakwiza indwara, kandi ahangayikishijwe n'urugendo. Ni ikihe gikorwa cyiza gikurikiraho?</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Mubwire ko ari kanseri kugirango abihe agaciro.</a:t>
            </a:r>
            <a:endParaRPr lang="rw-RW" sz="1800" dirty="0"/>
          </a:p>
        </p:txBody>
      </p:sp>
      <p:sp>
        <p:nvSpPr>
          <p:cNvPr id="7" name="Shape 5"/>
          <p:cNvSpPr/>
          <p:nvPr/>
        </p:nvSpPr>
        <p:spPr>
          <a:xfrm>
            <a:off x="548640" y="282549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normAutofit fontScale="93000"/>
          </a:bodyP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Musobanurire ko gufata akanyama gato ari bwo buryo bwo kubona igisubizo kandi bidakwirakwiza indwara, umufashe gutegura urugendo n'umunsi, kandi umurekere umwanzuro wo kuzabwira umugabo we</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Mubwire ko icyo kizamini kidakenewe</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Bwira umuryango we byose kugirango batume agenda</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Hari ibintu bibiri bikenewe icyarimwe, igisubizo nyacyo ku bijyanye n’ubwoba na gahunda ituma gusurwa bishoboka. Kubwira umuryango we atabikwemereye bisenya ubuzima bwite bwe, no kumutera ubwoba bishobora kumubuza kugaruka kuri wowe.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61</a:t>
            </a:r>
            <a:endParaRPr lang="rw-RW" sz="900" dirty="0"/>
          </a:p>
        </p:txBody>
      </p:sp>
    </p:spTree>
    <p:extLst>
      <p:ext uri="{BB962C8B-B14F-4D97-AF65-F5344CB8AC3E}">
        <p14:creationId xmlns:p14="http://schemas.microsoft.com/office/powerpoint/2010/main" val="35537152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1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Kumenya amabere yawe bisobanura iki?</a:t>
            </a:r>
            <a:endParaRPr lang="rw-RW" sz="2000" dirty="0"/>
          </a:p>
        </p:txBody>
      </p:sp>
      <p:sp>
        <p:nvSpPr>
          <p:cNvPr id="5" name="Shape 3"/>
          <p:cNvSpPr/>
          <p:nvPr/>
        </p:nvSpPr>
        <p:spPr>
          <a:xfrm>
            <a:off x="548640" y="187452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Kumenya uko amabere yawe asanzwe ameze, kubona impinduka zidasanzwe no kujya kwisuzumisha</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Kureba ku mabere gusa iyo ubabara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Kwisuzuma amabere bisimbura isuzuma rikorwa n'umuforomo</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Kujya ku kigo nderabuzima buri cyumweru</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Kumenya amabere ni ukumenya uko amabere yawe asanzwe ameze, ukabona impinduka, ukajya kwisuzumisha. Mu Rwanda, abagore bashishikarizwa kwisuzuma amabere rimwe mu kwezi, nyuma y'imihango. Ibi ntibisimbura isuzuma rikorwa n'umuforomo buri mwaka ku bagore bafite imyaka 30 n’abayirengeje.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62</a:t>
            </a:r>
            <a:endParaRPr lang="rw-RW" sz="900" dirty="0"/>
          </a:p>
        </p:txBody>
      </p:sp>
    </p:spTree>
    <p:extLst>
      <p:ext uri="{BB962C8B-B14F-4D97-AF65-F5344CB8AC3E}">
        <p14:creationId xmlns:p14="http://schemas.microsoft.com/office/powerpoint/2010/main" val="3666244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2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ikihe muri ibi cyagombye gusuzumirwa ku kigo nderabuzima?</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Akamenyetso kaje nyuma yo kubyara kamaze igihe katajya gahinduka</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chemeClr val="accent1">
                    <a:lumMod val="60000"/>
                    <a:lumOff val="40000"/>
                  </a:schemeClr>
                </a:solidFill>
                <a:latin typeface="Calibri" pitchFamily="34" charset="0"/>
                <a:ea typeface="Calibri" pitchFamily="34" charset="-122"/>
                <a:cs typeface="Calibri" pitchFamily="34" charset="-120"/>
              </a:rPr>
              <a:t>B</a:t>
            </a:r>
            <a:r>
              <a:rPr lang="rw-RW" sz="1800" dirty="0">
                <a:solidFill>
                  <a:srgbClr val="203864"/>
                </a:solidFill>
                <a:latin typeface="Calibri" pitchFamily="34" charset="0"/>
                <a:ea typeface="Calibri" pitchFamily="34" charset="-122"/>
                <a:cs typeface="Calibri" pitchFamily="34" charset="-120"/>
              </a:rPr>
              <a:t>   </a:t>
            </a:r>
            <a:r>
              <a:rPr lang="rw-RW" sz="1800" dirty="0">
                <a:solidFill>
                  <a:srgbClr val="002060"/>
                </a:solidFill>
                <a:latin typeface="Calibri" pitchFamily="34" charset="0"/>
                <a:ea typeface="Calibri" pitchFamily="34" charset="-122"/>
                <a:cs typeface="Calibri" pitchFamily="34" charset="-120"/>
              </a:rPr>
              <a:t>Amabere ababara gake mbere gato y'imihango adafite ikindi kimenyetso</a:t>
            </a:r>
            <a:endParaRPr lang="rw-RW" sz="1800" dirty="0">
              <a:solidFill>
                <a:srgbClr val="002060"/>
              </a:solidFill>
            </a:endParaRPr>
          </a:p>
        </p:txBody>
      </p:sp>
      <p:sp>
        <p:nvSpPr>
          <p:cNvPr id="9" name="Shape 7"/>
          <p:cNvSpPr/>
          <p:nvPr/>
        </p:nvSpPr>
        <p:spPr>
          <a:xfrm>
            <a:off x="548640" y="313639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Imoko yatangiye gutebera imbere mu ibere ku ruhande rumwe.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Agasebe gato ko ku kuboko kakize</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imoko itangiye gutebera ijyamo imbere kandi ku ruhande rumwe bitari bisanzwe ni impinduka nshya kandi igomba gusuzumwa. Kubabara gake mbere y’imihango cyangwa inkovu imaze igihe yaje nyuma yo kubyara ibyo ni ibintu bisanzwe.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63</a:t>
            </a:r>
            <a:endParaRPr lang="rw-RW" sz="900" dirty="0"/>
          </a:p>
        </p:txBody>
      </p:sp>
    </p:spTree>
    <p:extLst>
      <p:ext uri="{BB962C8B-B14F-4D97-AF65-F5344CB8AC3E}">
        <p14:creationId xmlns:p14="http://schemas.microsoft.com/office/powerpoint/2010/main" val="16312122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3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ufite ikibyimba gishya cy'amabere abaza niba agomba gutegereza umunsi ukurikira wo gusuzumwa amabere mu gace ke. Ni iki umubwira?</a:t>
            </a:r>
            <a:endParaRPr lang="rw-RW" sz="2000" dirty="0"/>
          </a:p>
        </p:txBody>
      </p:sp>
      <p:sp>
        <p:nvSpPr>
          <p:cNvPr id="5" name="Shape 3"/>
          <p:cNvSpPr/>
          <p:nvPr/>
        </p:nvSpPr>
        <p:spPr>
          <a:xfrm>
            <a:off x="548640" y="219456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Oya, ikibyimba gikeneye gusuzumwa nonaha.</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Agomba gutegereza kugeza igihe aboneye umwanya nyuma yo gusarura.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Agomba gutegereza kugeza ikibyimba gitangiye kumubabaza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Yego, niwo munsi we.</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Isuzuma ry'abantu bumva bameze neza si uburyo bukwiye ku muntu wamaze kubona impinduka. Kumwohereza ngo ategereze bituma isuzuma akeneye by'ukuri ritinda.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64</a:t>
            </a:r>
            <a:endParaRPr lang="rw-RW" sz="900" dirty="0"/>
          </a:p>
        </p:txBody>
      </p:sp>
    </p:spTree>
    <p:extLst>
      <p:ext uri="{BB962C8B-B14F-4D97-AF65-F5344CB8AC3E}">
        <p14:creationId xmlns:p14="http://schemas.microsoft.com/office/powerpoint/2010/main" val="3123405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4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iyihe nteruro ijyanye n'ububabare bw'ibere ivuga ukuri</a:t>
            </a:r>
            <a:endParaRPr lang="rw-RW" sz="2000" dirty="0"/>
          </a:p>
        </p:txBody>
      </p:sp>
      <p:sp>
        <p:nvSpPr>
          <p:cNvPr id="5" name="Shape 3"/>
          <p:cNvSpPr/>
          <p:nvPr/>
        </p:nvSpPr>
        <p:spPr>
          <a:xfrm>
            <a:off x="548640" y="187452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Ububabare ubwabwo ntibwemeza cyangwa ngo buhakane ko ari kanseri, impinduka nizo zigena ikigomba gukorwa</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Amabere ababara gusa niyo agomba gusuzumwa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Ikibyimba kitababaza gishobora kwirengagizwa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Ikibyimba kibabaza buri gihe kiba ari kanseri</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Ububabare bwakuyobora nabi mu mpande zombi. Kanseri nyinshi z'ibere hakiri kare ntizibabaza, kandi ububabare bwinshi bw'ibere buterwa n'izindi mpamvu. Icy'ingenzi ni ukumenya niba hari impinduka nshya kandi iri kuhaguma.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65</a:t>
            </a:r>
            <a:endParaRPr lang="rw-RW" sz="900" dirty="0"/>
          </a:p>
        </p:txBody>
      </p:sp>
    </p:spTree>
    <p:extLst>
      <p:ext uri="{BB962C8B-B14F-4D97-AF65-F5344CB8AC3E}">
        <p14:creationId xmlns:p14="http://schemas.microsoft.com/office/powerpoint/2010/main" val="8089977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5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w'imyaka 30 udafite mwene wabo urwaye kanseri y'ibere abaza niba akeneye guhangayikishwa n'ikibyimba gishya. Ni iki cy'ukuri?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Agomba gutegereza kugeza ageze mu zabukuru.</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Nta kaga afite kandi yareka guhangayika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Abagore bafite imyaka irenga mirongo itanu ni bo bonyine bakeneye gusuzumisha ikibyimba</a:t>
            </a:r>
            <a:endParaRPr lang="rw-RW" sz="1800" dirty="0"/>
          </a:p>
        </p:txBody>
      </p:sp>
      <p:sp>
        <p:nvSpPr>
          <p:cNvPr id="11" name="Shape 9"/>
          <p:cNvSpPr/>
          <p:nvPr/>
        </p:nvSpPr>
        <p:spPr>
          <a:xfrm>
            <a:off x="548640" y="408736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Abantu benshi bagira kanseri y’ibere nta mateka yo mu muryango baba bafite, bityo rero ikibyimba cye gikeneye gusuzumwa</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Amateka y'umuryango yongerera ibyago ku bantu bamwe, ariko kubura kwayo ntikurinda umuntu uwo ari we wese. Imyaka nayo ifite agaciro, ariko abagore bakiri bato nabo barwara kanseri y'ibere, kandi ikibyimba gishya ku myaka iyo ari yo yose kirasuzumwa.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66</a:t>
            </a:r>
            <a:endParaRPr lang="rw-RW" sz="900" dirty="0"/>
          </a:p>
        </p:txBody>
      </p:sp>
    </p:spTree>
    <p:extLst>
      <p:ext uri="{BB962C8B-B14F-4D97-AF65-F5344CB8AC3E}">
        <p14:creationId xmlns:p14="http://schemas.microsoft.com/office/powerpoint/2010/main" val="33171624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Ibintu by'ingenzi</a:t>
            </a:r>
            <a:endParaRPr lang="rw-RW" sz="3000" dirty="0"/>
          </a:p>
        </p:txBody>
      </p:sp>
      <p:sp>
        <p:nvSpPr>
          <p:cNvPr id="4" name="Shape 2"/>
          <p:cNvSpPr/>
          <p:nvPr/>
        </p:nvSpPr>
        <p:spPr>
          <a:xfrm>
            <a:off x="548640" y="1463040"/>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822960" y="1463040"/>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Kumenya amabere bisobanura: kumenya amabere yawe, gushobora kubona impinduka, no kuzisuzumisha.</a:t>
            </a:r>
            <a:endParaRPr lang="rw-RW" sz="1800" dirty="0"/>
          </a:p>
        </p:txBody>
      </p:sp>
      <p:sp>
        <p:nvSpPr>
          <p:cNvPr id="6" name="Shape 4"/>
          <p:cNvSpPr/>
          <p:nvPr/>
        </p:nvSpPr>
        <p:spPr>
          <a:xfrm>
            <a:off x="548640" y="2322576"/>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822960" y="2322576"/>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Abenshi mu barwayi ba kanseri y'ibere nta mateka y'umuryango baba bafite kandi nta n'impamvu igaragara baba bafite yo kurwara kanseri y'ibere.</a:t>
            </a:r>
            <a:endParaRPr lang="rw-RW" sz="1800" dirty="0"/>
          </a:p>
        </p:txBody>
      </p:sp>
      <p:sp>
        <p:nvSpPr>
          <p:cNvPr id="8" name="Shape 6"/>
          <p:cNvSpPr/>
          <p:nvPr/>
        </p:nvSpPr>
        <p:spPr>
          <a:xfrm>
            <a:off x="548640" y="3182112"/>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22960" y="3182112"/>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Kugira ikibyimba gishya, guhinduka kw’uruhu, guhinduka kw’imoko cyangwa kubyimba mu kwaha bikeneye gusuzumwa.</a:t>
            </a:r>
            <a:endParaRPr lang="rw-RW" sz="1800" dirty="0"/>
          </a:p>
        </p:txBody>
      </p:sp>
      <p:sp>
        <p:nvSpPr>
          <p:cNvPr id="10" name="Shape 8"/>
          <p:cNvSpPr/>
          <p:nvPr/>
        </p:nvSpPr>
        <p:spPr>
          <a:xfrm>
            <a:off x="548640" y="4041648"/>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822960" y="4041648"/>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Kuba ikibyimba kitababaza ntibivuze ko utekanye. Ububabare si ikimenyetso cyizewe cyo kwemeza cyangwa guhakana kanseri.</a:t>
            </a:r>
            <a:endParaRPr lang="rw-RW" sz="1800" dirty="0"/>
          </a:p>
        </p:txBody>
      </p:sp>
      <p:sp>
        <p:nvSpPr>
          <p:cNvPr id="12" name="Shape 10"/>
          <p:cNvSpPr/>
          <p:nvPr/>
        </p:nvSpPr>
        <p:spPr>
          <a:xfrm>
            <a:off x="548640" y="4901184"/>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3" name="Text 11"/>
          <p:cNvSpPr txBox="1"/>
          <p:nvPr/>
        </p:nvSpPr>
        <p:spPr>
          <a:xfrm>
            <a:off x="822960" y="4901184"/>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Ibere ryatukuye kandi ryabyimbye vuba, cyangwa umuntu bigaragara ko atameze neza, akeneye kwitabwaho vuba.</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67</a:t>
            </a:r>
            <a:endParaRPr lang="rw-RW"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2 | KWIYUMVIRA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Kwiyumvira</a:t>
            </a:r>
            <a:endParaRPr lang="rw-RW" sz="3000" dirty="0"/>
          </a:p>
        </p:txBody>
      </p:sp>
      <p:sp>
        <p:nvSpPr>
          <p:cNvPr id="4" name="Text 2"/>
          <p:cNvSpPr txBox="1"/>
          <p:nvPr/>
        </p:nvSpPr>
        <p:spPr>
          <a:xfrm>
            <a:off x="548640" y="1371600"/>
            <a:ext cx="11091672" cy="36576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Amabwiriza ku wiga: </a:t>
            </a:r>
            <a:r>
              <a:rPr lang="rw-RW" sz="1800" dirty="0">
                <a:solidFill>
                  <a:srgbClr val="203864"/>
                </a:solidFill>
                <a:latin typeface="Calibri" pitchFamily="34" charset="0"/>
                <a:ea typeface="Calibri" pitchFamily="34" charset="-122"/>
                <a:cs typeface="Calibri" pitchFamily="34" charset="-120"/>
              </a:rPr>
              <a:t>Andika igisubizo cyawe mu kazu k'inyandiko. Ibi bisubizo ntibihabwa amanota.</a:t>
            </a:r>
            <a:endParaRPr lang="rw-RW" sz="1800" dirty="0"/>
          </a:p>
        </p:txBody>
      </p:sp>
      <p:sp>
        <p:nvSpPr>
          <p:cNvPr id="5" name="Shape 3"/>
          <p:cNvSpPr/>
          <p:nvPr/>
        </p:nvSpPr>
        <p:spPr>
          <a:xfrm>
            <a:off x="548640" y="1965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65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947672"/>
            <a:ext cx="10524744" cy="457200"/>
          </a:xfrm>
          <a:prstGeom prst="rect">
            <a:avLst/>
          </a:prstGeom>
          <a:noFill/>
          <a:ln/>
        </p:spPr>
        <p:txBody>
          <a:bodyPr wrap="square" lIns="0" tIns="0" rIns="0" bIns="0" rtlCol="0" anchor="t">
            <a:normAutofit fontScale="93000"/>
          </a:bodyPr>
          <a:lstStyle/>
          <a:p>
            <a:pPr marL="0" indent="0">
              <a:buNone/>
            </a:pPr>
            <a:r>
              <a:rPr lang="rw-RW" sz="1800" dirty="0">
                <a:solidFill>
                  <a:srgbClr val="203864"/>
                </a:solidFill>
                <a:latin typeface="Calibri" pitchFamily="34" charset="0"/>
                <a:ea typeface="Calibri" pitchFamily="34" charset="-122"/>
                <a:cs typeface="Calibri" pitchFamily="34" charset="-120"/>
              </a:rPr>
              <a:t>Ni iyihe mpinduka y'ibere washishikariza umuntu wo mu gace kawe kutirengagiza, kandi wayisobanura ute?</a:t>
            </a:r>
            <a:endParaRPr lang="rw-RW" sz="1800" dirty="0"/>
          </a:p>
        </p:txBody>
      </p:sp>
      <p:sp>
        <p:nvSpPr>
          <p:cNvPr id="8" name="Shape 6"/>
          <p:cNvSpPr/>
          <p:nvPr/>
        </p:nvSpPr>
        <p:spPr>
          <a:xfrm>
            <a:off x="1115568" y="2441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9" name="Shape 7"/>
          <p:cNvSpPr/>
          <p:nvPr/>
        </p:nvSpPr>
        <p:spPr>
          <a:xfrm>
            <a:off x="548640" y="3108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0" name="Text 8"/>
          <p:cNvSpPr txBox="1"/>
          <p:nvPr/>
        </p:nvSpPr>
        <p:spPr>
          <a:xfrm>
            <a:off x="548640" y="3108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1" name="Text 9"/>
          <p:cNvSpPr txBox="1"/>
          <p:nvPr/>
        </p:nvSpPr>
        <p:spPr>
          <a:xfrm>
            <a:off x="1115568" y="3090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iki wabwira umuntu utekereza ko ikibyimba kitababaza kitazahinduka ikintu kidasanzwe?</a:t>
            </a:r>
            <a:endParaRPr lang="rw-RW" sz="1800" dirty="0"/>
          </a:p>
        </p:txBody>
      </p:sp>
      <p:sp>
        <p:nvSpPr>
          <p:cNvPr id="12" name="Shape 10"/>
          <p:cNvSpPr/>
          <p:nvPr/>
        </p:nvSpPr>
        <p:spPr>
          <a:xfrm>
            <a:off x="1115568" y="3584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3" name="Shape 11"/>
          <p:cNvSpPr/>
          <p:nvPr/>
        </p:nvSpPr>
        <p:spPr>
          <a:xfrm>
            <a:off x="548640" y="4251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4" name="Text 12"/>
          <p:cNvSpPr txBox="1"/>
          <p:nvPr/>
        </p:nvSpPr>
        <p:spPr>
          <a:xfrm>
            <a:off x="548640" y="4251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5" name="Text 13"/>
          <p:cNvSpPr txBox="1"/>
          <p:nvPr/>
        </p:nvSpPr>
        <p:spPr>
          <a:xfrm>
            <a:off x="1115568" y="4233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iki gikunze gutuma abantu bo mu gace utuyemo batinda kuvuga impinduka cyangwa kujya kwisuzumisha?</a:t>
            </a:r>
            <a:endParaRPr lang="rw-RW" sz="1800" dirty="0"/>
          </a:p>
        </p:txBody>
      </p:sp>
      <p:sp>
        <p:nvSpPr>
          <p:cNvPr id="16" name="Shape 14"/>
          <p:cNvSpPr/>
          <p:nvPr/>
        </p:nvSpPr>
        <p:spPr>
          <a:xfrm>
            <a:off x="1115568" y="4727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68</a:t>
            </a:r>
            <a:endParaRPr lang="rw-RW"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9">
    <p:bg>
      <p:bgPr>
        <a:solidFill>
          <a:srgbClr val="1C3557"/>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463040"/>
          </a:xfrm>
          <a:prstGeom prst="rect">
            <a:avLst/>
          </a:prstGeom>
          <a:noFill/>
          <a:ln/>
        </p:spPr>
        <p:txBody>
          <a:bodyPr wrap="square" lIns="0" tIns="0" rIns="0" bIns="0" rtlCol="0" anchor="ctr"/>
          <a:lstStyle/>
          <a:p>
            <a:pPr marL="0" indent="0">
              <a:buNone/>
            </a:pPr>
            <a:r>
              <a:rPr lang="rw-RW" sz="9000" b="1" dirty="0">
                <a:solidFill>
                  <a:srgbClr val="3F6795"/>
                </a:solidFill>
                <a:latin typeface="Calibri" pitchFamily="34" charset="0"/>
                <a:ea typeface="Calibri" pitchFamily="34" charset="-122"/>
                <a:cs typeface="Calibri" pitchFamily="34" charset="-120"/>
              </a:rPr>
              <a:t>3</a:t>
            </a:r>
            <a:endParaRPr lang="rw-RW" sz="9000" dirty="0"/>
          </a:p>
        </p:txBody>
      </p:sp>
      <p:sp>
        <p:nvSpPr>
          <p:cNvPr id="3" name="Text 1"/>
          <p:cNvSpPr txBox="1"/>
          <p:nvPr/>
        </p:nvSpPr>
        <p:spPr>
          <a:xfrm>
            <a:off x="548640" y="2834640"/>
            <a:ext cx="11091672" cy="320040"/>
          </a:xfrm>
          <a:prstGeom prst="rect">
            <a:avLst/>
          </a:prstGeom>
          <a:noFill/>
          <a:ln/>
        </p:spPr>
        <p:txBody>
          <a:bodyPr wrap="square" lIns="0" tIns="0" rIns="0" bIns="0" rtlCol="0" anchor="ctr"/>
          <a:lstStyle/>
          <a:p>
            <a:pPr marL="0" indent="0">
              <a:buNone/>
            </a:pPr>
            <a:r>
              <a:rPr lang="rw-RW" sz="1300" b="1" kern="0" spc="400" dirty="0">
                <a:solidFill>
                  <a:srgbClr val="9FBAD8"/>
                </a:solidFill>
                <a:latin typeface="Calibri" pitchFamily="34" charset="0"/>
                <a:ea typeface="Calibri" pitchFamily="34" charset="-122"/>
                <a:cs typeface="Calibri" pitchFamily="34" charset="-120"/>
              </a:rPr>
              <a:t>I G I C E C Y A 3</a:t>
            </a:r>
            <a:endParaRPr lang="rw-RW" sz="1300" dirty="0"/>
          </a:p>
        </p:txBody>
      </p:sp>
      <p:sp>
        <p:nvSpPr>
          <p:cNvPr id="4" name="Text 2"/>
          <p:cNvSpPr txBox="1"/>
          <p:nvPr/>
        </p:nvSpPr>
        <p:spPr>
          <a:xfrm>
            <a:off x="548640" y="3200400"/>
            <a:ext cx="10424160" cy="1005840"/>
          </a:xfrm>
          <a:prstGeom prst="rect">
            <a:avLst/>
          </a:prstGeom>
          <a:noFill/>
          <a:ln/>
        </p:spPr>
        <p:txBody>
          <a:bodyPr wrap="square" lIns="0" tIns="0" rIns="0" bIns="0" rtlCol="0" anchor="ctr"/>
          <a:lstStyle/>
          <a:p>
            <a:pPr marL="0" indent="0">
              <a:buNone/>
            </a:pPr>
            <a:r>
              <a:rPr lang="rw-RW" sz="4000" b="1" dirty="0">
                <a:solidFill>
                  <a:srgbClr val="FFFFFF"/>
                </a:solidFill>
                <a:latin typeface="Calibri" pitchFamily="34" charset="0"/>
                <a:ea typeface="Calibri" pitchFamily="34" charset="-122"/>
                <a:cs typeface="Calibri" pitchFamily="34" charset="-120"/>
              </a:rPr>
              <a:t>Icyo wakora gukurikiraho</a:t>
            </a:r>
            <a:endParaRPr lang="rw-RW" sz="4000" dirty="0"/>
          </a:p>
        </p:txBody>
      </p:sp>
      <p:sp>
        <p:nvSpPr>
          <p:cNvPr id="5" name="Text 3"/>
          <p:cNvSpPr txBox="1"/>
          <p:nvPr/>
        </p:nvSpPr>
        <p:spPr>
          <a:xfrm>
            <a:off x="548640" y="4343400"/>
            <a:ext cx="9601200" cy="731520"/>
          </a:xfrm>
          <a:prstGeom prst="rect">
            <a:avLst/>
          </a:prstGeom>
          <a:noFill/>
          <a:ln/>
        </p:spPr>
        <p:txBody>
          <a:bodyPr wrap="square" lIns="0" tIns="0" rIns="0" bIns="0" rtlCol="0" anchor="ctr"/>
          <a:lstStyle/>
          <a:p>
            <a:pPr marL="0" indent="0">
              <a:buNone/>
            </a:pPr>
            <a:r>
              <a:rPr lang="rw-RW" sz="1900" dirty="0">
                <a:solidFill>
                  <a:srgbClr val="DCE7F5"/>
                </a:solidFill>
                <a:latin typeface="Calibri" pitchFamily="34" charset="0"/>
                <a:ea typeface="Calibri" pitchFamily="34" charset="-122"/>
                <a:cs typeface="Calibri" pitchFamily="34" charset="-120"/>
              </a:rPr>
              <a:t>Aho wohereza umuntu, uko umuntu akeneye kubonwa byihutirwa, uburyo bwo kuganira ku kintu giteye ubwoba, ni gute wizera ko gusurwa bibaho koko.</a:t>
            </a:r>
            <a:endParaRPr lang="rw-RW" sz="1900" dirty="0"/>
          </a:p>
        </p:txBody>
      </p:sp>
      <p:sp>
        <p:nvSpPr>
          <p:cNvPr id="6" name="Text 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E9AC0"/>
                </a:solidFill>
                <a:latin typeface="Calibri" pitchFamily="34" charset="0"/>
                <a:ea typeface="Calibri" pitchFamily="34" charset="-122"/>
                <a:cs typeface="Calibri" pitchFamily="34" charset="-120"/>
              </a:rPr>
              <a:t>Igishushanyo cya 69</a:t>
            </a:r>
            <a:endParaRPr lang="rw-RW"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Intego zo kwiga</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Nyuma y’iri somo, uzaba ushoboye:</a:t>
            </a:r>
            <a:endParaRPr lang="rw-RW" sz="1800" dirty="0"/>
          </a:p>
        </p:txBody>
      </p:sp>
      <p:sp>
        <p:nvSpPr>
          <p:cNvPr id="5" name="Shape 3"/>
          <p:cNvSpPr/>
          <p:nvPr/>
        </p:nvSpPr>
        <p:spPr>
          <a:xfrm>
            <a:off x="548640" y="19110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110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87452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Vuga aho ubuvuzi bwa kanseri y'ibere bukorerwa mu Rwanda n'aho wohereza umurwayi.</a:t>
            </a:r>
            <a:endParaRPr lang="rw-RW" sz="1800" dirty="0"/>
          </a:p>
        </p:txBody>
      </p:sp>
      <p:sp>
        <p:nvSpPr>
          <p:cNvPr id="8" name="Shape 6"/>
          <p:cNvSpPr/>
          <p:nvPr/>
        </p:nvSpPr>
        <p:spPr>
          <a:xfrm>
            <a:off x="548640" y="26974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0" name="Text 8"/>
          <p:cNvSpPr txBox="1"/>
          <p:nvPr/>
        </p:nvSpPr>
        <p:spPr>
          <a:xfrm>
            <a:off x="1115568" y="266090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Kugena uburyo umuntu akeneye kubonwa byihutirwa.</a:t>
            </a:r>
            <a:endParaRPr lang="rw-RW" sz="1800" dirty="0"/>
          </a:p>
        </p:txBody>
      </p:sp>
      <p:sp>
        <p:nvSpPr>
          <p:cNvPr id="11" name="Shape 9"/>
          <p:cNvSpPr/>
          <p:nvPr/>
        </p:nvSpPr>
        <p:spPr>
          <a:xfrm>
            <a:off x="548640" y="348386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548640" y="348386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3" name="Text 11"/>
          <p:cNvSpPr txBox="1"/>
          <p:nvPr/>
        </p:nvSpPr>
        <p:spPr>
          <a:xfrm>
            <a:off x="1115568" y="344728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Gusubiza impungenge ku bijyanye n’ibizamini, kubagwa n’ibisubizo ariko udatanze amakuru atariyo.</a:t>
            </a:r>
            <a:endParaRPr lang="rw-RW" sz="1800" dirty="0"/>
          </a:p>
        </p:txBody>
      </p:sp>
      <p:sp>
        <p:nvSpPr>
          <p:cNvPr id="14" name="Shape 12"/>
          <p:cNvSpPr/>
          <p:nvPr/>
        </p:nvSpPr>
        <p:spPr>
          <a:xfrm>
            <a:off x="548640" y="427024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548640" y="427024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6" name="Text 14"/>
          <p:cNvSpPr txBox="1"/>
          <p:nvPr/>
        </p:nvSpPr>
        <p:spPr>
          <a:xfrm>
            <a:off x="1115568" y="423367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Gukosora imyumvire itariyo ijyanye na kanseri y’ibere.</a:t>
            </a:r>
            <a:endParaRPr lang="rw-RW" sz="1800" dirty="0"/>
          </a:p>
        </p:txBody>
      </p:sp>
      <p:sp>
        <p:nvSpPr>
          <p:cNvPr id="17" name="Shape 15"/>
          <p:cNvSpPr/>
          <p:nvPr/>
        </p:nvSpPr>
        <p:spPr>
          <a:xfrm>
            <a:off x="548640" y="505663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8" name="Text 16"/>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9" name="Text 17"/>
          <p:cNvSpPr txBox="1"/>
          <p:nvPr/>
        </p:nvSpPr>
        <p:spPr>
          <a:xfrm>
            <a:off x="1115568" y="5020056"/>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Gufasha umuntu kubaha gahunda yo koherezwa na gahunda zo gusurwa zikurikira.</a:t>
            </a:r>
            <a:endParaRPr lang="rw-RW" sz="1800" dirty="0"/>
          </a:p>
        </p:txBody>
      </p:sp>
      <p:sp>
        <p:nvSpPr>
          <p:cNvPr id="20" name="Text 1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1" name="Text 1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70</a:t>
            </a:r>
            <a:endParaRPr lang="rw-RW"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KOHEREZWA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Aho kanseri y'ibere iherereye</a:t>
            </a:r>
            <a:endParaRPr lang="rw-RW" sz="3000" dirty="0"/>
          </a:p>
        </p:txBody>
      </p:sp>
      <p:sp>
        <p:nvSpPr>
          <p:cNvPr id="8" name="Text 6"/>
          <p:cNvSpPr txBox="1"/>
          <p:nvPr/>
        </p:nvSpPr>
        <p:spPr>
          <a:xfrm>
            <a:off x="3074670" y="3154680"/>
            <a:ext cx="329184" cy="457200"/>
          </a:xfrm>
          <a:prstGeom prst="rect">
            <a:avLst/>
          </a:prstGeom>
          <a:noFill/>
          <a:ln/>
        </p:spPr>
        <p:txBody>
          <a:bodyPr wrap="square" lIns="0" tIns="0" rIns="0" bIns="0" rtlCol="0" anchor="ctr">
            <a:normAutofit/>
          </a:bodyP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3" name="Text 11"/>
          <p:cNvSpPr txBox="1"/>
          <p:nvPr/>
        </p:nvSpPr>
        <p:spPr>
          <a:xfrm>
            <a:off x="5929884" y="315468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8" name="Text 16"/>
          <p:cNvSpPr txBox="1"/>
          <p:nvPr/>
        </p:nvSpPr>
        <p:spPr>
          <a:xfrm>
            <a:off x="8785098" y="3154680"/>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25" name="Text 23"/>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6" name="Text 2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71</a:t>
            </a:r>
            <a:endParaRPr lang="rw-RW" sz="900" dirty="0"/>
          </a:p>
        </p:txBody>
      </p:sp>
      <p:grpSp>
        <p:nvGrpSpPr>
          <p:cNvPr id="23" name="Grupo 22">
            <a:extLst>
              <a:ext uri="{FF2B5EF4-FFF2-40B4-BE49-F238E27FC236}">
                <a16:creationId xmlns:a16="http://schemas.microsoft.com/office/drawing/2014/main" id="{44747AB1-9596-70AE-0D40-28384D30DBA7}"/>
              </a:ext>
            </a:extLst>
          </p:cNvPr>
          <p:cNvGrpSpPr/>
          <p:nvPr/>
        </p:nvGrpSpPr>
        <p:grpSpPr>
          <a:xfrm>
            <a:off x="548640" y="1218051"/>
            <a:ext cx="2624257" cy="4018183"/>
            <a:chOff x="548640" y="1218051"/>
            <a:chExt cx="2624257" cy="4018183"/>
          </a:xfrm>
        </p:grpSpPr>
        <p:sp>
          <p:nvSpPr>
            <p:cNvPr id="4" name="Shape 2"/>
            <p:cNvSpPr/>
            <p:nvPr/>
          </p:nvSpPr>
          <p:spPr>
            <a:xfrm>
              <a:off x="548640" y="1218051"/>
              <a:ext cx="2526030" cy="4018183"/>
            </a:xfrm>
            <a:prstGeom prst="roundRect">
              <a:avLst>
                <a:gd name="adj" fmla="val 2896"/>
              </a:avLst>
            </a:prstGeom>
            <a:solidFill>
              <a:srgbClr val="F3F7FC"/>
            </a:solidFill>
            <a:ln w="12700">
              <a:solidFill>
                <a:srgbClr val="D3E1F2"/>
              </a:solidFill>
              <a:prstDash val="solid"/>
            </a:ln>
          </p:spPr>
          <p:txBody>
            <a:bodyPr/>
            <a:lstStyle/>
            <a:p>
              <a:endParaRPr lang="rw-RW" dirty="0"/>
            </a:p>
          </p:txBody>
        </p:sp>
        <p:sp>
          <p:nvSpPr>
            <p:cNvPr id="5" name="Shape 3"/>
            <p:cNvSpPr/>
            <p:nvPr/>
          </p:nvSpPr>
          <p:spPr>
            <a:xfrm>
              <a:off x="749808" y="1411627"/>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749808" y="140093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749157" y="2150000"/>
              <a:ext cx="2123694" cy="1498750"/>
            </a:xfrm>
            <a:prstGeom prst="rect">
              <a:avLst/>
            </a:prstGeom>
            <a:noFill/>
            <a:ln/>
          </p:spPr>
          <p:txBody>
            <a:bodyPr wrap="square" lIns="0" tIns="0" rIns="0" bIns="0" rtlCol="0" anchor="t">
              <a:normAutofit/>
            </a:bodyPr>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Ubonye impinduka, sobanura icyo ivuze, shishikariza gusuzumwa unategure gahunda yo kohereza.</a:t>
              </a:r>
              <a:endParaRPr lang="rw-RW" sz="1800" dirty="0"/>
            </a:p>
          </p:txBody>
        </p:sp>
        <p:pic>
          <p:nvPicPr>
            <p:cNvPr id="28" name="Picture 27">
              <a:extLst>
                <a:ext uri="{FF2B5EF4-FFF2-40B4-BE49-F238E27FC236}">
                  <a16:creationId xmlns:a16="http://schemas.microsoft.com/office/drawing/2014/main" id="{DBE25B88-D41F-2E2A-9B16-5B55A2C03DC9}"/>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658641" y="3648750"/>
              <a:ext cx="2306028" cy="1153009"/>
            </a:xfrm>
            <a:prstGeom prst="rect">
              <a:avLst/>
            </a:prstGeom>
          </p:spPr>
        </p:pic>
        <p:sp>
          <p:nvSpPr>
            <p:cNvPr id="36" name="Text 5">
              <a:extLst>
                <a:ext uri="{FF2B5EF4-FFF2-40B4-BE49-F238E27FC236}">
                  <a16:creationId xmlns:a16="http://schemas.microsoft.com/office/drawing/2014/main" id="{B22A4FDF-8940-003E-B0E2-16718FE0DCD9}"/>
                </a:ext>
              </a:extLst>
            </p:cNvPr>
            <p:cNvSpPr txBox="1"/>
            <p:nvPr/>
          </p:nvSpPr>
          <p:spPr>
            <a:xfrm>
              <a:off x="1272897" y="1478225"/>
              <a:ext cx="1900000" cy="64000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Umuryango aho utuye</a:t>
              </a:r>
              <a:endParaRPr lang="rw-RW" sz="1800" dirty="0"/>
            </a:p>
          </p:txBody>
        </p:sp>
      </p:grpSp>
      <p:grpSp>
        <p:nvGrpSpPr>
          <p:cNvPr id="24" name="Grupo 23">
            <a:extLst>
              <a:ext uri="{FF2B5EF4-FFF2-40B4-BE49-F238E27FC236}">
                <a16:creationId xmlns:a16="http://schemas.microsoft.com/office/drawing/2014/main" id="{AC24E755-4169-71A4-BE3E-A746A4543969}"/>
              </a:ext>
            </a:extLst>
          </p:cNvPr>
          <p:cNvGrpSpPr/>
          <p:nvPr/>
        </p:nvGrpSpPr>
        <p:grpSpPr>
          <a:xfrm>
            <a:off x="3375689" y="1254496"/>
            <a:ext cx="2675237" cy="3981738"/>
            <a:chOff x="3375689" y="1254496"/>
            <a:chExt cx="2675237" cy="3981738"/>
          </a:xfrm>
        </p:grpSpPr>
        <p:sp>
          <p:nvSpPr>
            <p:cNvPr id="9" name="Shape 7"/>
            <p:cNvSpPr/>
            <p:nvPr/>
          </p:nvSpPr>
          <p:spPr>
            <a:xfrm>
              <a:off x="3375689" y="1254496"/>
              <a:ext cx="2526030" cy="3981738"/>
            </a:xfrm>
            <a:prstGeom prst="roundRect">
              <a:avLst>
                <a:gd name="adj" fmla="val 2896"/>
              </a:avLst>
            </a:prstGeom>
            <a:solidFill>
              <a:srgbClr val="F3F7FC"/>
            </a:solidFill>
            <a:ln w="12700">
              <a:solidFill>
                <a:srgbClr val="D3E1F2"/>
              </a:solidFill>
              <a:prstDash val="solid"/>
            </a:ln>
          </p:spPr>
          <p:txBody>
            <a:bodyPr/>
            <a:lstStyle/>
            <a:p>
              <a:endParaRPr lang="rw-RW" dirty="0"/>
            </a:p>
          </p:txBody>
        </p:sp>
        <p:sp>
          <p:nvSpPr>
            <p:cNvPr id="10" name="Shape 8"/>
            <p:cNvSpPr/>
            <p:nvPr/>
          </p:nvSpPr>
          <p:spPr>
            <a:xfrm>
              <a:off x="3605022" y="1435441"/>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3605022" y="1435441"/>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2" name="Text 10"/>
            <p:cNvSpPr txBox="1"/>
            <p:nvPr/>
          </p:nvSpPr>
          <p:spPr>
            <a:xfrm>
              <a:off x="3556142" y="2150000"/>
              <a:ext cx="2270648" cy="1224430"/>
            </a:xfrm>
            <a:prstGeom prst="rect">
              <a:avLst/>
            </a:prstGeom>
            <a:noFill/>
            <a:ln/>
          </p:spPr>
          <p:txBody>
            <a:bodyPr wrap="square" lIns="0" tIns="0" rIns="0" bIns="0" rtlCol="0" anchor="t">
              <a:normAutofit/>
            </a:bodyPr>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Ibere n’ukwaha birasuzumwa impinduka ziranditswe, intambwe ikurikiyeho iremejwe</a:t>
              </a:r>
              <a:endParaRPr lang="rw-RW" sz="1800" dirty="0"/>
            </a:p>
          </p:txBody>
        </p:sp>
        <p:pic>
          <p:nvPicPr>
            <p:cNvPr id="30" name="Picture 29">
              <a:extLst>
                <a:ext uri="{FF2B5EF4-FFF2-40B4-BE49-F238E27FC236}">
                  <a16:creationId xmlns:a16="http://schemas.microsoft.com/office/drawing/2014/main" id="{B3FEC261-76DA-E94B-8B40-04F54788A317}"/>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3485689" y="3374430"/>
              <a:ext cx="2306029" cy="1123627"/>
            </a:xfrm>
            <a:prstGeom prst="rect">
              <a:avLst/>
            </a:prstGeom>
          </p:spPr>
        </p:pic>
        <p:sp>
          <p:nvSpPr>
            <p:cNvPr id="38" name="Text 5">
              <a:extLst>
                <a:ext uri="{FF2B5EF4-FFF2-40B4-BE49-F238E27FC236}">
                  <a16:creationId xmlns:a16="http://schemas.microsoft.com/office/drawing/2014/main" id="{D09045F2-204C-F6D5-A1B4-240A4748EF19}"/>
                </a:ext>
              </a:extLst>
            </p:cNvPr>
            <p:cNvSpPr txBox="1"/>
            <p:nvPr/>
          </p:nvSpPr>
          <p:spPr>
            <a:xfrm>
              <a:off x="4150926" y="1455369"/>
              <a:ext cx="1900000" cy="64000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Ivuriro cyangwa ikigo nderabuzima</a:t>
              </a:r>
              <a:endParaRPr lang="rw-RW" sz="1800" dirty="0"/>
            </a:p>
          </p:txBody>
        </p:sp>
      </p:grpSp>
      <p:grpSp>
        <p:nvGrpSpPr>
          <p:cNvPr id="27" name="Grupo 26">
            <a:extLst>
              <a:ext uri="{FF2B5EF4-FFF2-40B4-BE49-F238E27FC236}">
                <a16:creationId xmlns:a16="http://schemas.microsoft.com/office/drawing/2014/main" id="{C8DF6E83-834D-D943-8A7C-052813C3A5CC}"/>
              </a:ext>
            </a:extLst>
          </p:cNvPr>
          <p:cNvGrpSpPr/>
          <p:nvPr/>
        </p:nvGrpSpPr>
        <p:grpSpPr>
          <a:xfrm>
            <a:off x="6259068" y="1252560"/>
            <a:ext cx="2632826" cy="3983673"/>
            <a:chOff x="6259068" y="1252560"/>
            <a:chExt cx="2632826" cy="3983673"/>
          </a:xfrm>
        </p:grpSpPr>
        <p:sp>
          <p:nvSpPr>
            <p:cNvPr id="14" name="Shape 12"/>
            <p:cNvSpPr/>
            <p:nvPr/>
          </p:nvSpPr>
          <p:spPr>
            <a:xfrm>
              <a:off x="6259068" y="1252560"/>
              <a:ext cx="2526030" cy="3983673"/>
            </a:xfrm>
            <a:prstGeom prst="roundRect">
              <a:avLst>
                <a:gd name="adj" fmla="val 2896"/>
              </a:avLst>
            </a:prstGeom>
            <a:solidFill>
              <a:srgbClr val="F3F7FC"/>
            </a:solidFill>
            <a:ln w="12700">
              <a:solidFill>
                <a:srgbClr val="D3E1F2"/>
              </a:solidFill>
              <a:prstDash val="solid"/>
            </a:ln>
          </p:spPr>
          <p:txBody>
            <a:bodyPr/>
            <a:lstStyle/>
            <a:p>
              <a:endParaRPr lang="rw-RW" dirty="0"/>
            </a:p>
          </p:txBody>
        </p:sp>
        <p:sp>
          <p:nvSpPr>
            <p:cNvPr id="15" name="Shape 13"/>
            <p:cNvSpPr/>
            <p:nvPr/>
          </p:nvSpPr>
          <p:spPr>
            <a:xfrm>
              <a:off x="6460236" y="142629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6" name="Text 14"/>
            <p:cNvSpPr txBox="1"/>
            <p:nvPr/>
          </p:nvSpPr>
          <p:spPr>
            <a:xfrm>
              <a:off x="6460236" y="1435441"/>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7" name="Text 15"/>
            <p:cNvSpPr txBox="1"/>
            <p:nvPr/>
          </p:nvSpPr>
          <p:spPr>
            <a:xfrm>
              <a:off x="6421574" y="2150000"/>
              <a:ext cx="2162356" cy="1773070"/>
            </a:xfrm>
            <a:prstGeom prst="rect">
              <a:avLst/>
            </a:prstGeom>
            <a:noFill/>
            <a:ln/>
          </p:spPr>
          <p:txBody>
            <a:bodyPr wrap="square" lIns="0" tIns="0" rIns="0" bIns="0" rtlCol="0" anchor="t">
              <a:normAutofit/>
            </a:bodyPr>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Ibindi bipimo, amafoto y'ibere aho biboneka, hamwe n'icyitegererezo gito cy'uturemangingo cyangwa koherezwa.</a:t>
              </a:r>
              <a:endParaRPr lang="rw-RW" sz="1800" dirty="0"/>
            </a:p>
          </p:txBody>
        </p:sp>
        <p:pic>
          <p:nvPicPr>
            <p:cNvPr id="32" name="Picture 31">
              <a:extLst>
                <a:ext uri="{FF2B5EF4-FFF2-40B4-BE49-F238E27FC236}">
                  <a16:creationId xmlns:a16="http://schemas.microsoft.com/office/drawing/2014/main" id="{0D17A4B4-9CA4-4FAA-412D-DFA45D9D1D41}"/>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6369068" y="3923070"/>
              <a:ext cx="2306029" cy="1182388"/>
            </a:xfrm>
            <a:prstGeom prst="rect">
              <a:avLst/>
            </a:prstGeom>
          </p:spPr>
        </p:pic>
        <p:sp>
          <p:nvSpPr>
            <p:cNvPr id="40" name="Text 5">
              <a:extLst>
                <a:ext uri="{FF2B5EF4-FFF2-40B4-BE49-F238E27FC236}">
                  <a16:creationId xmlns:a16="http://schemas.microsoft.com/office/drawing/2014/main" id="{314205DB-664F-74CA-F432-C46BDCFF0DF9}"/>
                </a:ext>
              </a:extLst>
            </p:cNvPr>
            <p:cNvSpPr txBox="1"/>
            <p:nvPr/>
          </p:nvSpPr>
          <p:spPr>
            <a:xfrm>
              <a:off x="6991894" y="1465632"/>
              <a:ext cx="1900000" cy="64000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Ibitaro by'akarere</a:t>
              </a:r>
              <a:endParaRPr lang="rw-RW" sz="1800" dirty="0"/>
            </a:p>
          </p:txBody>
        </p:sp>
      </p:grpSp>
      <p:grpSp>
        <p:nvGrpSpPr>
          <p:cNvPr id="29" name="Grupo 28">
            <a:extLst>
              <a:ext uri="{FF2B5EF4-FFF2-40B4-BE49-F238E27FC236}">
                <a16:creationId xmlns:a16="http://schemas.microsoft.com/office/drawing/2014/main" id="{1A01FDF9-9CC6-2D9A-6090-B2E77B9435F2}"/>
              </a:ext>
            </a:extLst>
          </p:cNvPr>
          <p:cNvGrpSpPr/>
          <p:nvPr/>
        </p:nvGrpSpPr>
        <p:grpSpPr>
          <a:xfrm>
            <a:off x="9114282" y="1252561"/>
            <a:ext cx="2570372" cy="3983672"/>
            <a:chOff x="9114282" y="1252561"/>
            <a:chExt cx="2570372" cy="3983672"/>
          </a:xfrm>
        </p:grpSpPr>
        <p:sp>
          <p:nvSpPr>
            <p:cNvPr id="19" name="Shape 17"/>
            <p:cNvSpPr/>
            <p:nvPr/>
          </p:nvSpPr>
          <p:spPr>
            <a:xfrm>
              <a:off x="9114282" y="1252561"/>
              <a:ext cx="2526030" cy="3983672"/>
            </a:xfrm>
            <a:prstGeom prst="roundRect">
              <a:avLst>
                <a:gd name="adj" fmla="val 2896"/>
              </a:avLst>
            </a:prstGeom>
            <a:solidFill>
              <a:srgbClr val="F3F7FC"/>
            </a:solidFill>
            <a:ln w="12700">
              <a:solidFill>
                <a:srgbClr val="D3E1F2"/>
              </a:solidFill>
              <a:prstDash val="solid"/>
            </a:ln>
          </p:spPr>
          <p:txBody>
            <a:bodyPr/>
            <a:lstStyle/>
            <a:p>
              <a:endParaRPr lang="rw-RW" dirty="0"/>
            </a:p>
          </p:txBody>
        </p:sp>
        <p:sp>
          <p:nvSpPr>
            <p:cNvPr id="20" name="Shape 18"/>
            <p:cNvSpPr/>
            <p:nvPr/>
          </p:nvSpPr>
          <p:spPr>
            <a:xfrm>
              <a:off x="9322610" y="1410213"/>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21" name="Text 19"/>
            <p:cNvSpPr txBox="1"/>
            <p:nvPr/>
          </p:nvSpPr>
          <p:spPr>
            <a:xfrm>
              <a:off x="9315450" y="1435441"/>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22" name="Text 20"/>
            <p:cNvSpPr txBox="1"/>
            <p:nvPr/>
          </p:nvSpPr>
          <p:spPr>
            <a:xfrm>
              <a:off x="9297162" y="2150000"/>
              <a:ext cx="2253608" cy="1490639"/>
            </a:xfrm>
            <a:prstGeom prst="rect">
              <a:avLst/>
            </a:prstGeom>
            <a:noFill/>
            <a:ln/>
          </p:spPr>
          <p:txBody>
            <a:bodyPr wrap="square" lIns="0" tIns="0" rIns="0" bIns="0" rtlCol="0" anchor="t">
              <a:normAutofit fontScale="94500"/>
            </a:bodyPr>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Ibipimo bya laboratwari, kubagwa, imiti ya kanseri no kuvurwa hifashishijwe imirasire biboneka mu bigo bivura kanseri</a:t>
              </a:r>
              <a:endParaRPr lang="rw-RW" sz="1800" dirty="0"/>
            </a:p>
          </p:txBody>
        </p:sp>
        <p:pic>
          <p:nvPicPr>
            <p:cNvPr id="34" name="Picture 33">
              <a:extLst>
                <a:ext uri="{FF2B5EF4-FFF2-40B4-BE49-F238E27FC236}">
                  <a16:creationId xmlns:a16="http://schemas.microsoft.com/office/drawing/2014/main" id="{2634726D-93FF-8C10-6115-0C34F9CA8986}"/>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9224283" y="3673861"/>
              <a:ext cx="2306028" cy="1338601"/>
            </a:xfrm>
            <a:prstGeom prst="rect">
              <a:avLst/>
            </a:prstGeom>
          </p:spPr>
        </p:pic>
        <p:sp>
          <p:nvSpPr>
            <p:cNvPr id="42" name="Text 5">
              <a:extLst>
                <a:ext uri="{FF2B5EF4-FFF2-40B4-BE49-F238E27FC236}">
                  <a16:creationId xmlns:a16="http://schemas.microsoft.com/office/drawing/2014/main" id="{A034B174-BD4B-3B51-EE44-271A631C39FF}"/>
                </a:ext>
              </a:extLst>
            </p:cNvPr>
            <p:cNvSpPr txBox="1"/>
            <p:nvPr/>
          </p:nvSpPr>
          <p:spPr>
            <a:xfrm>
              <a:off x="9784654" y="1454636"/>
              <a:ext cx="1900000" cy="64000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Ibitaro bikuru</a:t>
              </a:r>
              <a:endParaRPr lang="rw-RW" sz="1800" dirty="0"/>
            </a:p>
          </p:txBody>
        </p:sp>
      </p:gr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Text 439"/>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3 | KOHEREZWA</a:t>
            </a:r>
            <a:endParaRPr lang="rw-RW" sz="1000" dirty="0"/>
          </a:p>
        </p:txBody>
      </p:sp>
      <p:sp>
        <p:nvSpPr>
          <p:cNvPr id="440" name="Text 440"/>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Inzira: kuva mu rugo kugera ku buvuzi</a:t>
            </a:r>
            <a:endParaRPr lang="rw-RW" sz="3000" dirty="0"/>
          </a:p>
        </p:txBody>
      </p:sp>
      <p:sp>
        <p:nvSpPr>
          <p:cNvPr id="441" name="Text 441"/>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442" name="Text 442"/>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71A</a:t>
            </a:r>
            <a:endParaRPr lang="rw-RW" sz="900" dirty="0"/>
          </a:p>
        </p:txBody>
      </p:sp>
      <p:sp>
        <p:nvSpPr>
          <p:cNvPr id="415" name="Shape 415"/>
          <p:cNvSpPr/>
          <p:nvPr/>
        </p:nvSpPr>
        <p:spPr>
          <a:xfrm>
            <a:off x="548640" y="1200000"/>
            <a:ext cx="2683603" cy="200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rw-RW" dirty="0"/>
          </a:p>
        </p:txBody>
      </p:sp>
      <p:sp>
        <p:nvSpPr>
          <p:cNvPr id="416" name="Text 416"/>
          <p:cNvSpPr txBox="1"/>
          <p:nvPr/>
        </p:nvSpPr>
        <p:spPr>
          <a:xfrm>
            <a:off x="713232" y="1310000"/>
            <a:ext cx="2354419" cy="1800000"/>
          </a:xfrm>
          <a:prstGeom prst="rect">
            <a:avLst/>
          </a:prstGeom>
          <a:noFill/>
          <a:ln/>
        </p:spPr>
        <p:txBody>
          <a:bodyPr wrap="square" lIns="0" tIns="0" rIns="0" bIns="0" rtlCol="0" anchor="t"/>
          <a:lstStyle/>
          <a:p>
            <a:pPr marL="0" indent="0" algn="l">
              <a:lnSpc>
                <a:spcPct val="95000"/>
              </a:lnSpc>
              <a:spcAft>
                <a:spcPts val="300"/>
              </a:spcAft>
              <a:buNone/>
            </a:pPr>
            <a:r>
              <a:rPr lang="rw-RW" sz="1600" b="1" dirty="0">
                <a:solidFill>
                  <a:srgbClr val="1B6E4A"/>
                </a:solidFill>
                <a:latin typeface="Calibri" pitchFamily="34" charset="0"/>
                <a:ea typeface="Calibri" pitchFamily="34" charset="-122"/>
                <a:cs typeface="Calibri" pitchFamily="34" charset="-120"/>
              </a:rPr>
              <a:t>1. Mu rugo</a:t>
            </a:r>
            <a:endParaRPr lang="rw-RW" sz="1600" dirty="0"/>
          </a:p>
          <a:p>
            <a:pPr marL="0" indent="0" algn="l">
              <a:lnSpc>
                <a:spcPct val="95000"/>
              </a:lnSpc>
              <a:spcAft>
                <a:spcPts val="200"/>
              </a:spcAft>
              <a:buNone/>
            </a:pPr>
            <a:r>
              <a:rPr lang="rw-RW" sz="1600" dirty="0">
                <a:solidFill>
                  <a:srgbClr val="203864"/>
                </a:solidFill>
                <a:latin typeface="Calibri" pitchFamily="34" charset="0"/>
                <a:ea typeface="Calibri" pitchFamily="34" charset="-122"/>
                <a:cs typeface="Calibri" pitchFamily="34" charset="-120"/>
              </a:rPr>
              <a:t>Umujyanama w'ubuzima asura ingo, yigisha ku buzima bw’amabere no kwisuzuma amabere.</a:t>
            </a:r>
            <a:endParaRPr lang="rw-RW" sz="1600" dirty="0"/>
          </a:p>
        </p:txBody>
      </p:sp>
      <p:cxnSp>
        <p:nvCxnSpPr>
          <p:cNvPr id="417" name="Arrow 417"/>
          <p:cNvCxnSpPr/>
          <p:nvPr/>
        </p:nvCxnSpPr>
        <p:spPr>
          <a:xfrm>
            <a:off x="3237243" y="2200000"/>
            <a:ext cx="110000" cy="0"/>
          </a:xfrm>
          <a:prstGeom prst="straightConnector1">
            <a:avLst/>
          </a:prstGeom>
          <a:ln w="19050">
            <a:solidFill>
              <a:srgbClr val="1F3864"/>
            </a:solidFill>
            <a:tailEnd type="triangle" w="med" len="med"/>
          </a:ln>
        </p:spPr>
      </p:cxnSp>
      <p:sp>
        <p:nvSpPr>
          <p:cNvPr id="418" name="Shape 418"/>
          <p:cNvSpPr/>
          <p:nvPr/>
        </p:nvSpPr>
        <p:spPr>
          <a:xfrm>
            <a:off x="3352243" y="1200000"/>
            <a:ext cx="2683603" cy="200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rw-RW" dirty="0"/>
          </a:p>
        </p:txBody>
      </p:sp>
      <p:sp>
        <p:nvSpPr>
          <p:cNvPr id="419" name="Text 419"/>
          <p:cNvSpPr txBox="1"/>
          <p:nvPr/>
        </p:nvSpPr>
        <p:spPr>
          <a:xfrm>
            <a:off x="3516835" y="1310000"/>
            <a:ext cx="2354419" cy="1800000"/>
          </a:xfrm>
          <a:prstGeom prst="rect">
            <a:avLst/>
          </a:prstGeom>
          <a:noFill/>
          <a:ln/>
        </p:spPr>
        <p:txBody>
          <a:bodyPr wrap="square" lIns="0" tIns="0" rIns="0" bIns="0" rtlCol="0" anchor="t"/>
          <a:lstStyle/>
          <a:p>
            <a:pPr marL="0" indent="0" algn="l">
              <a:lnSpc>
                <a:spcPct val="95000"/>
              </a:lnSpc>
              <a:spcAft>
                <a:spcPts val="300"/>
              </a:spcAft>
              <a:buNone/>
            </a:pPr>
            <a:r>
              <a:rPr lang="rw-RW" sz="1600" b="1" dirty="0">
                <a:solidFill>
                  <a:srgbClr val="1B6E4A"/>
                </a:solidFill>
                <a:latin typeface="Calibri" pitchFamily="34" charset="0"/>
                <a:ea typeface="Calibri" pitchFamily="34" charset="-122"/>
                <a:cs typeface="Calibri" pitchFamily="34" charset="-120"/>
              </a:rPr>
              <a:t>2. Kubaza no kohereza</a:t>
            </a:r>
            <a:endParaRPr lang="rw-RW" sz="1600" dirty="0"/>
          </a:p>
          <a:p>
            <a:pPr marL="0" indent="0" algn="l">
              <a:lnSpc>
                <a:spcPct val="95000"/>
              </a:lnSpc>
              <a:spcAft>
                <a:spcPts val="200"/>
              </a:spcAft>
              <a:buNone/>
            </a:pPr>
            <a:r>
              <a:rPr lang="rw-RW" sz="1600" dirty="0">
                <a:solidFill>
                  <a:srgbClr val="203864"/>
                </a:solidFill>
                <a:latin typeface="Calibri" pitchFamily="34" charset="0"/>
                <a:ea typeface="Calibri" pitchFamily="34" charset="-122"/>
                <a:cs typeface="Calibri" pitchFamily="34" charset="-120"/>
              </a:rPr>
              <a:t>Abaza niba hari ikimenyetso, maze yohereza ku ivuriro cyangwa ku kigo nderabuzima.</a:t>
            </a:r>
            <a:endParaRPr lang="rw-RW" sz="1600" dirty="0"/>
          </a:p>
        </p:txBody>
      </p:sp>
      <p:cxnSp>
        <p:nvCxnSpPr>
          <p:cNvPr id="420" name="Arrow 420"/>
          <p:cNvCxnSpPr/>
          <p:nvPr/>
        </p:nvCxnSpPr>
        <p:spPr>
          <a:xfrm>
            <a:off x="6040846" y="2200000"/>
            <a:ext cx="110000" cy="0"/>
          </a:xfrm>
          <a:prstGeom prst="straightConnector1">
            <a:avLst/>
          </a:prstGeom>
          <a:ln w="19050">
            <a:solidFill>
              <a:srgbClr val="1F3864"/>
            </a:solidFill>
            <a:tailEnd type="triangle" w="med" len="med"/>
          </a:ln>
        </p:spPr>
      </p:cxnSp>
      <p:sp>
        <p:nvSpPr>
          <p:cNvPr id="421" name="Shape 421"/>
          <p:cNvSpPr/>
          <p:nvPr/>
        </p:nvSpPr>
        <p:spPr>
          <a:xfrm>
            <a:off x="6155846" y="1200000"/>
            <a:ext cx="2683603" cy="200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22" name="Text 422"/>
          <p:cNvSpPr txBox="1"/>
          <p:nvPr/>
        </p:nvSpPr>
        <p:spPr>
          <a:xfrm>
            <a:off x="6320438" y="1310000"/>
            <a:ext cx="2354419" cy="1800000"/>
          </a:xfrm>
          <a:prstGeom prst="rect">
            <a:avLst/>
          </a:prstGeom>
          <a:noFill/>
          <a:ln/>
        </p:spPr>
        <p:txBody>
          <a:bodyPr wrap="square" lIns="0" tIns="0" rIns="0" bIns="0" rtlCol="0" anchor="t"/>
          <a:lstStyle/>
          <a:p>
            <a:pPr marL="0" indent="0" algn="l">
              <a:lnSpc>
                <a:spcPct val="95000"/>
              </a:lnSpc>
              <a:spcAft>
                <a:spcPts val="300"/>
              </a:spcAft>
              <a:buNone/>
            </a:pPr>
            <a:r>
              <a:rPr lang="rw-RW" sz="1600" b="1" dirty="0">
                <a:solidFill>
                  <a:srgbClr val="1F3864"/>
                </a:solidFill>
                <a:latin typeface="Calibri" pitchFamily="34" charset="0"/>
                <a:ea typeface="Calibri" pitchFamily="34" charset="-122"/>
                <a:cs typeface="Calibri" pitchFamily="34" charset="-120"/>
              </a:rPr>
              <a:t>3. Ivuriro</a:t>
            </a:r>
            <a:endParaRPr lang="rw-RW" sz="1600" dirty="0"/>
          </a:p>
          <a:p>
            <a:pPr marL="0" indent="0" algn="l">
              <a:lnSpc>
                <a:spcPct val="95000"/>
              </a:lnSpc>
              <a:spcAft>
                <a:spcPts val="200"/>
              </a:spcAft>
              <a:buNone/>
            </a:pPr>
            <a:r>
              <a:rPr lang="rw-RW" sz="1600" dirty="0">
                <a:solidFill>
                  <a:srgbClr val="203864"/>
                </a:solidFill>
                <a:latin typeface="Calibri" pitchFamily="34" charset="0"/>
                <a:ea typeface="Calibri" pitchFamily="34" charset="-122"/>
                <a:cs typeface="Calibri" pitchFamily="34" charset="-120"/>
              </a:rPr>
              <a:t>Umuforomo asuzuma amabere. Nta kibazo kibonetse: akomeza guhabwa ubujyanama. Hari ikibazo: yoherezwa ku bitaro.</a:t>
            </a:r>
            <a:endParaRPr lang="rw-RW" sz="1600" dirty="0"/>
          </a:p>
        </p:txBody>
      </p:sp>
      <p:cxnSp>
        <p:nvCxnSpPr>
          <p:cNvPr id="423" name="Arrow 423"/>
          <p:cNvCxnSpPr/>
          <p:nvPr/>
        </p:nvCxnSpPr>
        <p:spPr>
          <a:xfrm>
            <a:off x="8844449" y="2200000"/>
            <a:ext cx="110000" cy="0"/>
          </a:xfrm>
          <a:prstGeom prst="straightConnector1">
            <a:avLst/>
          </a:prstGeom>
          <a:ln w="19050">
            <a:solidFill>
              <a:srgbClr val="1F3864"/>
            </a:solidFill>
            <a:tailEnd type="triangle" w="med" len="med"/>
          </a:ln>
        </p:spPr>
      </p:cxnSp>
      <p:sp>
        <p:nvSpPr>
          <p:cNvPr id="424" name="Shape 424"/>
          <p:cNvSpPr/>
          <p:nvPr/>
        </p:nvSpPr>
        <p:spPr>
          <a:xfrm>
            <a:off x="8959449" y="1200000"/>
            <a:ext cx="2683603" cy="200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25" name="Text 425"/>
          <p:cNvSpPr txBox="1"/>
          <p:nvPr/>
        </p:nvSpPr>
        <p:spPr>
          <a:xfrm>
            <a:off x="9124041" y="1310000"/>
            <a:ext cx="2354419" cy="1800000"/>
          </a:xfrm>
          <a:prstGeom prst="rect">
            <a:avLst/>
          </a:prstGeom>
          <a:noFill/>
          <a:ln/>
        </p:spPr>
        <p:txBody>
          <a:bodyPr wrap="square" lIns="0" tIns="0" rIns="0" bIns="0" rtlCol="0" anchor="t"/>
          <a:lstStyle/>
          <a:p>
            <a:pPr marL="0" indent="0" algn="l">
              <a:lnSpc>
                <a:spcPct val="95000"/>
              </a:lnSpc>
              <a:spcAft>
                <a:spcPts val="300"/>
              </a:spcAft>
              <a:buNone/>
            </a:pPr>
            <a:r>
              <a:rPr lang="rw-RW" sz="1600" b="1" dirty="0">
                <a:solidFill>
                  <a:srgbClr val="1F3864"/>
                </a:solidFill>
                <a:latin typeface="Calibri" pitchFamily="34" charset="0"/>
                <a:ea typeface="Calibri" pitchFamily="34" charset="-122"/>
                <a:cs typeface="Calibri" pitchFamily="34" charset="-120"/>
              </a:rPr>
              <a:t>4. Ibitaro</a:t>
            </a:r>
            <a:endParaRPr lang="rw-RW" sz="1600" dirty="0"/>
          </a:p>
          <a:p>
            <a:pPr marL="0" indent="0" algn="l">
              <a:lnSpc>
                <a:spcPct val="95000"/>
              </a:lnSpc>
              <a:spcAft>
                <a:spcPts val="200"/>
              </a:spcAft>
              <a:buNone/>
            </a:pPr>
            <a:r>
              <a:rPr lang="rw-RW" sz="1600" dirty="0">
                <a:solidFill>
                  <a:srgbClr val="203864"/>
                </a:solidFill>
                <a:latin typeface="Calibri" pitchFamily="34" charset="0"/>
                <a:ea typeface="Calibri" pitchFamily="34" charset="-122"/>
                <a:cs typeface="Calibri" pitchFamily="34" charset="-120"/>
              </a:rPr>
              <a:t>Muganga arasuzuma, akemeza ibizamini bikenewe.</a:t>
            </a:r>
            <a:endParaRPr lang="rw-RW" sz="1600" dirty="0"/>
          </a:p>
        </p:txBody>
      </p:sp>
      <p:sp>
        <p:nvSpPr>
          <p:cNvPr id="426" name="Shape 426"/>
          <p:cNvSpPr/>
          <p:nvPr/>
        </p:nvSpPr>
        <p:spPr>
          <a:xfrm>
            <a:off x="548640" y="3380000"/>
            <a:ext cx="2683603" cy="200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27" name="Text 427"/>
          <p:cNvSpPr txBox="1"/>
          <p:nvPr/>
        </p:nvSpPr>
        <p:spPr>
          <a:xfrm>
            <a:off x="713232" y="3490000"/>
            <a:ext cx="2354419" cy="1800000"/>
          </a:xfrm>
          <a:prstGeom prst="rect">
            <a:avLst/>
          </a:prstGeom>
          <a:noFill/>
          <a:ln/>
        </p:spPr>
        <p:txBody>
          <a:bodyPr wrap="square" lIns="0" tIns="0" rIns="0" bIns="0" rtlCol="0" anchor="t"/>
          <a:lstStyle/>
          <a:p>
            <a:pPr marL="0" indent="0" algn="l">
              <a:lnSpc>
                <a:spcPct val="95000"/>
              </a:lnSpc>
              <a:spcAft>
                <a:spcPts val="300"/>
              </a:spcAft>
              <a:buNone/>
            </a:pPr>
            <a:r>
              <a:rPr lang="rw-RW" sz="1600" b="1" dirty="0">
                <a:solidFill>
                  <a:srgbClr val="1F3864"/>
                </a:solidFill>
                <a:latin typeface="Calibri" pitchFamily="34" charset="0"/>
                <a:ea typeface="Calibri" pitchFamily="34" charset="-122"/>
                <a:cs typeface="Calibri" pitchFamily="34" charset="-120"/>
              </a:rPr>
              <a:t>5. Amafoto y'ibere</a:t>
            </a:r>
            <a:endParaRPr lang="rw-RW" sz="1600" dirty="0"/>
          </a:p>
          <a:p>
            <a:pPr marL="0" indent="0" algn="l">
              <a:lnSpc>
                <a:spcPct val="95000"/>
              </a:lnSpc>
              <a:spcAft>
                <a:spcPts val="200"/>
              </a:spcAft>
              <a:buNone/>
            </a:pPr>
            <a:r>
              <a:rPr lang="rw-RW" sz="1600" dirty="0">
                <a:solidFill>
                  <a:srgbClr val="203864"/>
                </a:solidFill>
                <a:latin typeface="Calibri" pitchFamily="34" charset="0"/>
                <a:ea typeface="Calibri" pitchFamily="34" charset="-122"/>
                <a:cs typeface="Calibri" pitchFamily="34" charset="-120"/>
              </a:rPr>
              <a:t>Echographie ikorwa iyo bikenewe.</a:t>
            </a:r>
            <a:endParaRPr lang="rw-RW" sz="1600" dirty="0"/>
          </a:p>
        </p:txBody>
      </p:sp>
      <p:cxnSp>
        <p:nvCxnSpPr>
          <p:cNvPr id="428" name="Arrow 428"/>
          <p:cNvCxnSpPr/>
          <p:nvPr/>
        </p:nvCxnSpPr>
        <p:spPr>
          <a:xfrm>
            <a:off x="3237243" y="4380000"/>
            <a:ext cx="110000" cy="0"/>
          </a:xfrm>
          <a:prstGeom prst="straightConnector1">
            <a:avLst/>
          </a:prstGeom>
          <a:ln w="19050">
            <a:solidFill>
              <a:srgbClr val="1F3864"/>
            </a:solidFill>
            <a:tailEnd type="triangle" w="med" len="med"/>
          </a:ln>
        </p:spPr>
      </p:cxnSp>
      <p:sp>
        <p:nvSpPr>
          <p:cNvPr id="429" name="Shape 429"/>
          <p:cNvSpPr/>
          <p:nvPr/>
        </p:nvSpPr>
        <p:spPr>
          <a:xfrm>
            <a:off x="3352243" y="3380000"/>
            <a:ext cx="2683603" cy="200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30" name="Text 430"/>
          <p:cNvSpPr txBox="1"/>
          <p:nvPr/>
        </p:nvSpPr>
        <p:spPr>
          <a:xfrm>
            <a:off x="3516835" y="3490000"/>
            <a:ext cx="2354419" cy="1800000"/>
          </a:xfrm>
          <a:prstGeom prst="rect">
            <a:avLst/>
          </a:prstGeom>
          <a:noFill/>
          <a:ln/>
        </p:spPr>
        <p:txBody>
          <a:bodyPr wrap="square" lIns="0" tIns="0" rIns="0" bIns="0" rtlCol="0" anchor="t"/>
          <a:lstStyle/>
          <a:p>
            <a:pPr marL="0" indent="0" algn="l">
              <a:lnSpc>
                <a:spcPct val="95000"/>
              </a:lnSpc>
              <a:spcAft>
                <a:spcPts val="300"/>
              </a:spcAft>
              <a:buNone/>
            </a:pPr>
            <a:r>
              <a:rPr lang="rw-RW" sz="1600" b="1" dirty="0">
                <a:solidFill>
                  <a:srgbClr val="1F3864"/>
                </a:solidFill>
                <a:latin typeface="Calibri" pitchFamily="34" charset="0"/>
                <a:ea typeface="Calibri" pitchFamily="34" charset="-122"/>
                <a:cs typeface="Calibri" pitchFamily="34" charset="-120"/>
              </a:rPr>
              <a:t>6. Agace gato</a:t>
            </a:r>
            <a:endParaRPr lang="rw-RW" sz="1600" dirty="0"/>
          </a:p>
          <a:p>
            <a:pPr marL="0" indent="0" algn="l">
              <a:lnSpc>
                <a:spcPct val="95000"/>
              </a:lnSpc>
              <a:spcAft>
                <a:spcPts val="200"/>
              </a:spcAft>
              <a:buNone/>
            </a:pPr>
            <a:r>
              <a:rPr lang="rw-RW" sz="1600" dirty="0">
                <a:solidFill>
                  <a:srgbClr val="203864"/>
                </a:solidFill>
                <a:latin typeface="Calibri" pitchFamily="34" charset="0"/>
                <a:ea typeface="Calibri" pitchFamily="34" charset="-122"/>
                <a:cs typeface="Calibri" pitchFamily="34" charset="-120"/>
              </a:rPr>
              <a:t>Agace gato k’ibere gafatwa iyo hari ibikekwa, kagapimirwa muri laboratwari.</a:t>
            </a:r>
            <a:endParaRPr lang="rw-RW" sz="1600" dirty="0"/>
          </a:p>
        </p:txBody>
      </p:sp>
      <p:cxnSp>
        <p:nvCxnSpPr>
          <p:cNvPr id="431" name="Arrow 431"/>
          <p:cNvCxnSpPr/>
          <p:nvPr/>
        </p:nvCxnSpPr>
        <p:spPr>
          <a:xfrm>
            <a:off x="6040846" y="4380000"/>
            <a:ext cx="110000" cy="0"/>
          </a:xfrm>
          <a:prstGeom prst="straightConnector1">
            <a:avLst/>
          </a:prstGeom>
          <a:ln w="19050">
            <a:solidFill>
              <a:srgbClr val="1F3864"/>
            </a:solidFill>
            <a:tailEnd type="triangle" w="med" len="med"/>
          </a:ln>
        </p:spPr>
      </p:cxnSp>
      <p:sp>
        <p:nvSpPr>
          <p:cNvPr id="432" name="Shape 432"/>
          <p:cNvSpPr/>
          <p:nvPr/>
        </p:nvSpPr>
        <p:spPr>
          <a:xfrm>
            <a:off x="6155846" y="3380000"/>
            <a:ext cx="2683603" cy="200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33" name="Text 433"/>
          <p:cNvSpPr txBox="1"/>
          <p:nvPr/>
        </p:nvSpPr>
        <p:spPr>
          <a:xfrm>
            <a:off x="6320438" y="3490000"/>
            <a:ext cx="2354419" cy="1800000"/>
          </a:xfrm>
          <a:prstGeom prst="rect">
            <a:avLst/>
          </a:prstGeom>
          <a:noFill/>
          <a:ln/>
        </p:spPr>
        <p:txBody>
          <a:bodyPr wrap="square" lIns="0" tIns="0" rIns="0" bIns="0" rtlCol="0" anchor="t"/>
          <a:lstStyle/>
          <a:p>
            <a:pPr marL="0" indent="0" algn="l">
              <a:lnSpc>
                <a:spcPct val="95000"/>
              </a:lnSpc>
              <a:spcAft>
                <a:spcPts val="300"/>
              </a:spcAft>
              <a:buNone/>
            </a:pPr>
            <a:r>
              <a:rPr lang="rw-RW" sz="1600" b="1" dirty="0">
                <a:solidFill>
                  <a:srgbClr val="1F3864"/>
                </a:solidFill>
                <a:latin typeface="Calibri" pitchFamily="34" charset="0"/>
                <a:ea typeface="Calibri" pitchFamily="34" charset="-122"/>
                <a:cs typeface="Calibri" pitchFamily="34" charset="-120"/>
              </a:rPr>
              <a:t>7. Ibisubizo</a:t>
            </a:r>
            <a:endParaRPr lang="rw-RW" sz="1600" dirty="0"/>
          </a:p>
          <a:p>
            <a:pPr marL="0" indent="0" algn="l">
              <a:lnSpc>
                <a:spcPct val="95000"/>
              </a:lnSpc>
              <a:spcAft>
                <a:spcPts val="200"/>
              </a:spcAft>
              <a:buNone/>
            </a:pPr>
            <a:r>
              <a:rPr lang="rw-RW" sz="1600" dirty="0">
                <a:solidFill>
                  <a:srgbClr val="203864"/>
                </a:solidFill>
                <a:latin typeface="Calibri" pitchFamily="34" charset="0"/>
                <a:ea typeface="Calibri" pitchFamily="34" charset="-122"/>
                <a:cs typeface="Calibri" pitchFamily="34" charset="-120"/>
              </a:rPr>
              <a:t>Nta kanseri: arabimenyeshwa. Kanseri yemejwe: yoherezwa kuvurwa.</a:t>
            </a:r>
            <a:endParaRPr lang="rw-RW" sz="1600" dirty="0"/>
          </a:p>
        </p:txBody>
      </p:sp>
      <p:cxnSp>
        <p:nvCxnSpPr>
          <p:cNvPr id="434" name="Arrow 434"/>
          <p:cNvCxnSpPr/>
          <p:nvPr/>
        </p:nvCxnSpPr>
        <p:spPr>
          <a:xfrm>
            <a:off x="8844449" y="4380000"/>
            <a:ext cx="110000" cy="0"/>
          </a:xfrm>
          <a:prstGeom prst="straightConnector1">
            <a:avLst/>
          </a:prstGeom>
          <a:ln w="19050">
            <a:solidFill>
              <a:srgbClr val="1F3864"/>
            </a:solidFill>
            <a:tailEnd type="triangle" w="med" len="med"/>
          </a:ln>
        </p:spPr>
      </p:cxnSp>
      <p:sp>
        <p:nvSpPr>
          <p:cNvPr id="435" name="Shape 435"/>
          <p:cNvSpPr/>
          <p:nvPr/>
        </p:nvSpPr>
        <p:spPr>
          <a:xfrm>
            <a:off x="8959449" y="3380000"/>
            <a:ext cx="2683603" cy="200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36" name="Text 436"/>
          <p:cNvSpPr txBox="1"/>
          <p:nvPr/>
        </p:nvSpPr>
        <p:spPr>
          <a:xfrm>
            <a:off x="9124041" y="3490000"/>
            <a:ext cx="2354419" cy="1800000"/>
          </a:xfrm>
          <a:prstGeom prst="rect">
            <a:avLst/>
          </a:prstGeom>
          <a:noFill/>
          <a:ln/>
        </p:spPr>
        <p:txBody>
          <a:bodyPr wrap="square" lIns="0" tIns="0" rIns="0" bIns="0" rtlCol="0" anchor="t"/>
          <a:lstStyle/>
          <a:p>
            <a:pPr marL="0" indent="0" algn="l">
              <a:lnSpc>
                <a:spcPct val="95000"/>
              </a:lnSpc>
              <a:spcAft>
                <a:spcPts val="300"/>
              </a:spcAft>
              <a:buNone/>
            </a:pPr>
            <a:r>
              <a:rPr lang="rw-RW" sz="1600" b="1" dirty="0">
                <a:solidFill>
                  <a:srgbClr val="1F3864"/>
                </a:solidFill>
                <a:latin typeface="Calibri" pitchFamily="34" charset="0"/>
                <a:ea typeface="Calibri" pitchFamily="34" charset="-122"/>
                <a:cs typeface="Calibri" pitchFamily="34" charset="-120"/>
              </a:rPr>
              <a:t>8. Gukurikirana</a:t>
            </a:r>
            <a:endParaRPr lang="rw-RW" sz="1600" dirty="0"/>
          </a:p>
          <a:p>
            <a:pPr marL="0" indent="0" algn="l">
              <a:lnSpc>
                <a:spcPct val="95000"/>
              </a:lnSpc>
              <a:spcAft>
                <a:spcPts val="200"/>
              </a:spcAft>
              <a:buNone/>
            </a:pPr>
            <a:r>
              <a:rPr lang="rw-RW" sz="1600" dirty="0">
                <a:solidFill>
                  <a:srgbClr val="203864"/>
                </a:solidFill>
                <a:latin typeface="Calibri" pitchFamily="34" charset="0"/>
                <a:ea typeface="Calibri" pitchFamily="34" charset="-122"/>
                <a:cs typeface="Calibri" pitchFamily="34" charset="-120"/>
              </a:rPr>
              <a:t>Umukozi ushinzwe gukurikirana amufasha ku rugendo, ku mafaranga no ku matariki.</a:t>
            </a:r>
            <a:endParaRPr lang="rw-RW" sz="16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Text 453"/>
          <p:cNvSpPr txBox="1"/>
          <p:nvPr/>
        </p:nvSpPr>
        <p:spPr>
          <a:xfrm>
            <a:off x="548640" y="310896"/>
            <a:ext cx="11094415" cy="256032"/>
          </a:xfrm>
          <a:prstGeom prst="rect">
            <a:avLst/>
          </a:prstGeom>
          <a:noFill/>
          <a:ln/>
        </p:spPr>
        <p:txBody>
          <a:bodyPr wrap="square" lIns="0" tIns="0" rIns="0" bIns="0" rtlCol="0" anchor="ctr"/>
          <a:lstStyle/>
          <a:p>
            <a:pPr marL="0" indent="0" algn="l">
              <a:lnSpc>
                <a:spcPct val="95000"/>
              </a:lnSpc>
              <a:buNone/>
            </a:pPr>
            <a:r>
              <a:rPr lang="rw-RW" sz="1000" b="1" dirty="0">
                <a:solidFill>
                  <a:srgbClr val="6E8CB0"/>
                </a:solidFill>
                <a:latin typeface="Calibri" pitchFamily="34" charset="0"/>
                <a:ea typeface="Calibri" pitchFamily="34" charset="-122"/>
                <a:cs typeface="Calibri" pitchFamily="34" charset="-120"/>
              </a:rPr>
              <a:t>IGICE CYA 3 | KOHEREZWA</a:t>
            </a:r>
            <a:endParaRPr lang="rw-RW" sz="1000" dirty="0"/>
          </a:p>
        </p:txBody>
      </p:sp>
      <p:sp>
        <p:nvSpPr>
          <p:cNvPr id="454" name="Text 454"/>
          <p:cNvSpPr txBox="1"/>
          <p:nvPr/>
        </p:nvSpPr>
        <p:spPr>
          <a:xfrm>
            <a:off x="548640" y="585216"/>
            <a:ext cx="11094415" cy="566928"/>
          </a:xfrm>
          <a:prstGeom prst="rect">
            <a:avLst/>
          </a:prstGeom>
          <a:noFill/>
          <a:ln/>
        </p:spPr>
        <p:txBody>
          <a:bodyPr wrap="square" lIns="0" tIns="0" rIns="0" bIns="0" rtlCol="0" anchor="t"/>
          <a:lstStyle/>
          <a:p>
            <a:pPr marL="0" indent="0" algn="l">
              <a:lnSpc>
                <a:spcPct val="95000"/>
              </a:lnSpc>
              <a:buNone/>
            </a:pPr>
            <a:r>
              <a:rPr lang="rw-RW" sz="3000" b="1" dirty="0">
                <a:solidFill>
                  <a:srgbClr val="1F3864"/>
                </a:solidFill>
                <a:latin typeface="Calibri" pitchFamily="34" charset="0"/>
                <a:ea typeface="Calibri" pitchFamily="34" charset="-122"/>
                <a:cs typeface="Calibri" pitchFamily="34" charset="-120"/>
              </a:rPr>
              <a:t>Ni nde wohereza, kandi ryari?</a:t>
            </a:r>
            <a:endParaRPr lang="rw-RW" sz="3000" dirty="0"/>
          </a:p>
        </p:txBody>
      </p:sp>
      <p:sp>
        <p:nvSpPr>
          <p:cNvPr id="455" name="Text 455"/>
          <p:cNvSpPr txBox="1"/>
          <p:nvPr/>
        </p:nvSpPr>
        <p:spPr>
          <a:xfrm>
            <a:off x="548640" y="6382512"/>
            <a:ext cx="7315200" cy="274320"/>
          </a:xfrm>
          <a:prstGeom prst="rect">
            <a:avLst/>
          </a:prstGeom>
          <a:noFill/>
          <a:ln/>
        </p:spPr>
        <p:txBody>
          <a:bodyPr wrap="square" lIns="0" tIns="0" rIns="0" bIns="0" rtlCol="0" anchor="ctr"/>
          <a:lstStyle/>
          <a:p>
            <a:pPr marL="0" indent="0" algn="l">
              <a:lnSpc>
                <a:spcPct val="95000"/>
              </a:lnSpc>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456" name="Text 456"/>
          <p:cNvSpPr txBox="1"/>
          <p:nvPr/>
        </p:nvSpPr>
        <p:spPr>
          <a:xfrm>
            <a:off x="8897112" y="6382512"/>
            <a:ext cx="2743200" cy="274320"/>
          </a:xfrm>
          <a:prstGeom prst="rect">
            <a:avLst/>
          </a:prstGeom>
          <a:noFill/>
          <a:ln/>
        </p:spPr>
        <p:txBody>
          <a:bodyPr wrap="square" lIns="0" tIns="0" rIns="0" bIns="0" rtlCol="0" anchor="ctr"/>
          <a:lstStyle/>
          <a:p>
            <a:pPr marL="0" indent="0" algn="r">
              <a:lnSpc>
                <a:spcPct val="95000"/>
              </a:lnSpc>
              <a:buNone/>
            </a:pPr>
            <a:r>
              <a:rPr lang="rw-RW" sz="900" dirty="0">
                <a:solidFill>
                  <a:srgbClr val="7B8AA0"/>
                </a:solidFill>
                <a:latin typeface="Calibri" pitchFamily="34" charset="0"/>
                <a:ea typeface="Calibri" pitchFamily="34" charset="-122"/>
                <a:cs typeface="Calibri" pitchFamily="34" charset="-120"/>
              </a:rPr>
              <a:t>Igishushanyo cya 71B</a:t>
            </a:r>
            <a:endParaRPr lang="rw-RW" sz="900" dirty="0"/>
          </a:p>
        </p:txBody>
      </p:sp>
      <p:sp>
        <p:nvSpPr>
          <p:cNvPr id="443" name="Shape 443"/>
          <p:cNvSpPr/>
          <p:nvPr/>
        </p:nvSpPr>
        <p:spPr>
          <a:xfrm>
            <a:off x="548640" y="1200000"/>
            <a:ext cx="3598138" cy="3200000"/>
          </a:xfrm>
          <a:prstGeom prst="roundRect">
            <a:avLst>
              <a:gd name="adj" fmla="val 35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44" name="Text 444"/>
          <p:cNvSpPr txBox="1"/>
          <p:nvPr/>
        </p:nvSpPr>
        <p:spPr>
          <a:xfrm>
            <a:off x="713232" y="1310000"/>
            <a:ext cx="3268954" cy="300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1F3864"/>
                </a:solidFill>
                <a:latin typeface="Calibri" pitchFamily="34" charset="0"/>
                <a:ea typeface="Calibri" pitchFamily="34" charset="-122"/>
                <a:cs typeface="Calibri" pitchFamily="34" charset="-120"/>
              </a:rPr>
              <a:t>Imyaka 30 kugeza 49</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Mubaze niba hari impinduka cyangwa ikimenyetso yumvise cyangwa yabonye mu ibere.</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Gihari: mwohereze ako kanya.</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Nta kimenyetso: mwigishe, kandi mumushishikarize isuzuma rya buri mwaka ku ivuriro.</a:t>
            </a:r>
            <a:endParaRPr lang="rw-RW" sz="1800" dirty="0"/>
          </a:p>
        </p:txBody>
      </p:sp>
      <p:sp>
        <p:nvSpPr>
          <p:cNvPr id="445" name="Shape 445"/>
          <p:cNvSpPr/>
          <p:nvPr/>
        </p:nvSpPr>
        <p:spPr>
          <a:xfrm>
            <a:off x="4296778" y="1200000"/>
            <a:ext cx="3598138" cy="320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rw-RW" dirty="0"/>
          </a:p>
        </p:txBody>
      </p:sp>
      <p:sp>
        <p:nvSpPr>
          <p:cNvPr id="446" name="Text 446"/>
          <p:cNvSpPr txBox="1"/>
          <p:nvPr/>
        </p:nvSpPr>
        <p:spPr>
          <a:xfrm>
            <a:off x="4461370" y="1310000"/>
            <a:ext cx="3268954" cy="300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1B6E4A"/>
                </a:solidFill>
                <a:latin typeface="Calibri" pitchFamily="34" charset="0"/>
                <a:ea typeface="Calibri" pitchFamily="34" charset="-122"/>
                <a:cs typeface="Calibri" pitchFamily="34" charset="-120"/>
              </a:rPr>
              <a:t>Imyaka 50 n’abayirengeje</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Mwohereze bose ku ivuriro cyangwa ku kigo nderabuzima gusuzumwa amabere, nubwo nta kimenyetso bafite.</a:t>
            </a:r>
            <a:endParaRPr lang="rw-RW" sz="1800" dirty="0"/>
          </a:p>
        </p:txBody>
      </p:sp>
      <p:sp>
        <p:nvSpPr>
          <p:cNvPr id="447" name="Shape 447"/>
          <p:cNvSpPr/>
          <p:nvPr/>
        </p:nvSpPr>
        <p:spPr>
          <a:xfrm>
            <a:off x="8044916" y="1200000"/>
            <a:ext cx="3598138" cy="3200000"/>
          </a:xfrm>
          <a:prstGeom prst="roundRect">
            <a:avLst>
              <a:gd name="adj" fmla="val 3500"/>
            </a:avLst>
          </a:prstGeom>
          <a:solidFill>
            <a:srgbClr val="FDF6E3"/>
          </a:solidFill>
          <a:ln w="12700">
            <a:solidFill>
              <a:srgbClr val="E6D4A3"/>
            </a:solidFill>
            <a:prstDash val="solid"/>
          </a:ln>
        </p:spPr>
        <p:txBody>
          <a:bodyPr wrap="square" lIns="91440" tIns="45720" rIns="91440" bIns="45720" rtlCol="0" anchor="ctr"/>
          <a:lstStyle/>
          <a:p>
            <a:endParaRPr lang="rw-RW" dirty="0"/>
          </a:p>
        </p:txBody>
      </p:sp>
      <p:sp>
        <p:nvSpPr>
          <p:cNvPr id="448" name="Text 448"/>
          <p:cNvSpPr txBox="1"/>
          <p:nvPr/>
        </p:nvSpPr>
        <p:spPr>
          <a:xfrm>
            <a:off x="8209508" y="1310000"/>
            <a:ext cx="3268954" cy="3000000"/>
          </a:xfrm>
          <a:prstGeom prst="rect">
            <a:avLst/>
          </a:prstGeom>
          <a:noFill/>
          <a:ln/>
        </p:spPr>
        <p:txBody>
          <a:bodyPr wrap="square" lIns="0" tIns="0" rIns="0" bIns="0" rtlCol="0" anchor="t"/>
          <a:lstStyle/>
          <a:p>
            <a:pPr marL="0" indent="0" algn="l">
              <a:lnSpc>
                <a:spcPct val="95000"/>
              </a:lnSpc>
              <a:spcAft>
                <a:spcPts val="300"/>
              </a:spcAft>
              <a:buNone/>
            </a:pPr>
            <a:r>
              <a:rPr lang="rw-RW" sz="1800" b="1" dirty="0">
                <a:solidFill>
                  <a:srgbClr val="B06A08"/>
                </a:solidFill>
                <a:latin typeface="Calibri" pitchFamily="34" charset="0"/>
                <a:ea typeface="Calibri" pitchFamily="34" charset="-122"/>
                <a:cs typeface="Calibri" pitchFamily="34" charset="-120"/>
              </a:rPr>
              <a:t>Ku myaka yose</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Impinduka mu ibere: kohereza mu masaha 48.</a:t>
            </a:r>
            <a:endParaRPr lang="rw-RW" sz="1800" dirty="0"/>
          </a:p>
          <a:p>
            <a:pPr marL="0" indent="0" algn="l">
              <a:lnSpc>
                <a:spcPct val="95000"/>
              </a:lnSpc>
              <a:spcAft>
                <a:spcPts val="200"/>
              </a:spcAft>
              <a:buNone/>
            </a:pPr>
            <a:r>
              <a:rPr lang="rw-RW" sz="1800" dirty="0">
                <a:solidFill>
                  <a:srgbClr val="203864"/>
                </a:solidFill>
                <a:latin typeface="Calibri" pitchFamily="34" charset="0"/>
                <a:ea typeface="Calibri" pitchFamily="34" charset="-122"/>
                <a:cs typeface="Calibri" pitchFamily="34" charset="-120"/>
              </a:rPr>
              <a:t>Umuntu urembye cyane: mwohereze kwa muganga uwo munsi.</a:t>
            </a:r>
            <a:endParaRPr lang="rw-RW" sz="1800" dirty="0"/>
          </a:p>
        </p:txBody>
      </p:sp>
      <p:sp>
        <p:nvSpPr>
          <p:cNvPr id="449" name="Shape 449"/>
          <p:cNvSpPr/>
          <p:nvPr/>
        </p:nvSpPr>
        <p:spPr>
          <a:xfrm>
            <a:off x="548640" y="4550000"/>
            <a:ext cx="11094415" cy="800000"/>
          </a:xfrm>
          <a:prstGeom prst="roundRect">
            <a:avLst>
              <a:gd name="adj" fmla="val 6000"/>
            </a:avLst>
          </a:prstGeom>
          <a:solidFill>
            <a:srgbClr val="F3F7FC"/>
          </a:solidFill>
          <a:ln w="12700">
            <a:solidFill>
              <a:srgbClr val="D3E1F2"/>
            </a:solidFill>
            <a:prstDash val="solid"/>
          </a:ln>
        </p:spPr>
        <p:txBody>
          <a:bodyPr wrap="square" lIns="91440" tIns="45720" rIns="91440" bIns="45720" rtlCol="0" anchor="ctr"/>
          <a:lstStyle/>
          <a:p>
            <a:endParaRPr lang="rw-RW" dirty="0"/>
          </a:p>
        </p:txBody>
      </p:sp>
      <p:sp>
        <p:nvSpPr>
          <p:cNvPr id="450" name="Text 450"/>
          <p:cNvSpPr txBox="1"/>
          <p:nvPr/>
        </p:nvSpPr>
        <p:spPr>
          <a:xfrm>
            <a:off x="713232" y="4590000"/>
            <a:ext cx="10765231" cy="720000"/>
          </a:xfrm>
          <a:prstGeom prst="rect">
            <a:avLst/>
          </a:prstGeom>
          <a:noFill/>
          <a:ln/>
        </p:spPr>
        <p:txBody>
          <a:bodyPr wrap="square" lIns="0" tIns="0" rIns="0" bIns="0" rtlCol="0" anchor="ctr"/>
          <a:lstStyle/>
          <a:p>
            <a:pPr marL="0" indent="0" algn="l">
              <a:lnSpc>
                <a:spcPct val="95000"/>
              </a:lnSpc>
              <a:buNone/>
            </a:pPr>
            <a:r>
              <a:rPr lang="rw-RW" sz="1800" b="1" dirty="0">
                <a:solidFill>
                  <a:srgbClr val="1F3864"/>
                </a:solidFill>
                <a:latin typeface="Calibri" pitchFamily="34" charset="0"/>
                <a:ea typeface="Calibri" pitchFamily="34" charset="-122"/>
                <a:cs typeface="Calibri" pitchFamily="34" charset="-120"/>
              </a:rPr>
              <a:t>📌 Munsi y'imyaka 30, nta kimenyetso: </a:t>
            </a:r>
            <a:r>
              <a:rPr lang="rw-RW" sz="1800" dirty="0">
                <a:solidFill>
                  <a:srgbClr val="203864"/>
                </a:solidFill>
                <a:latin typeface="Calibri" pitchFamily="34" charset="0"/>
                <a:ea typeface="Calibri" pitchFamily="34" charset="-122"/>
                <a:cs typeface="Calibri" pitchFamily="34" charset="-120"/>
              </a:rPr>
              <a:t>mwigishe kwisuzuma amabere buri kwezi.</a:t>
            </a:r>
            <a:endParaRPr lang="rw-RW" sz="1800" dirty="0"/>
          </a:p>
        </p:txBody>
      </p:sp>
      <p:sp>
        <p:nvSpPr>
          <p:cNvPr id="451" name="Shape 451"/>
          <p:cNvSpPr/>
          <p:nvPr/>
        </p:nvSpPr>
        <p:spPr>
          <a:xfrm>
            <a:off x="548640" y="5480000"/>
            <a:ext cx="11094415" cy="780000"/>
          </a:xfrm>
          <a:prstGeom prst="roundRect">
            <a:avLst>
              <a:gd name="adj" fmla="val 6000"/>
            </a:avLst>
          </a:prstGeom>
          <a:solidFill>
            <a:srgbClr val="EAF5EF"/>
          </a:solidFill>
          <a:ln w="12700">
            <a:solidFill>
              <a:srgbClr val="8FC4A9"/>
            </a:solidFill>
            <a:prstDash val="solid"/>
          </a:ln>
        </p:spPr>
        <p:txBody>
          <a:bodyPr wrap="square" lIns="91440" tIns="45720" rIns="91440" bIns="45720" rtlCol="0" anchor="ctr"/>
          <a:lstStyle/>
          <a:p>
            <a:endParaRPr lang="rw-RW" dirty="0"/>
          </a:p>
        </p:txBody>
      </p:sp>
      <p:sp>
        <p:nvSpPr>
          <p:cNvPr id="452" name="Text 452"/>
          <p:cNvSpPr txBox="1"/>
          <p:nvPr/>
        </p:nvSpPr>
        <p:spPr>
          <a:xfrm>
            <a:off x="713232" y="5520000"/>
            <a:ext cx="10765231" cy="700000"/>
          </a:xfrm>
          <a:prstGeom prst="rect">
            <a:avLst/>
          </a:prstGeom>
          <a:noFill/>
          <a:ln/>
        </p:spPr>
        <p:txBody>
          <a:bodyPr wrap="square" lIns="0" tIns="0" rIns="0" bIns="0" rtlCol="0" anchor="ctr"/>
          <a:lstStyle/>
          <a:p>
            <a:pPr marL="0" indent="0" algn="l">
              <a:lnSpc>
                <a:spcPct val="95000"/>
              </a:lnSpc>
              <a:buNone/>
            </a:pPr>
            <a:r>
              <a:rPr lang="rw-RW" sz="1800" b="1" dirty="0">
                <a:solidFill>
                  <a:srgbClr val="1B6E4A"/>
                </a:solidFill>
                <a:latin typeface="Calibri" pitchFamily="34" charset="0"/>
                <a:ea typeface="Calibri" pitchFamily="34" charset="-122"/>
                <a:cs typeface="Calibri" pitchFamily="34" charset="-120"/>
              </a:rPr>
              <a:t>✅ Nyuma y'isuzuma: </a:t>
            </a:r>
            <a:r>
              <a:rPr lang="rw-RW" sz="1800" dirty="0">
                <a:solidFill>
                  <a:srgbClr val="203864"/>
                </a:solidFill>
                <a:latin typeface="Calibri" pitchFamily="34" charset="0"/>
                <a:ea typeface="Calibri" pitchFamily="34" charset="-122"/>
                <a:cs typeface="Calibri" pitchFamily="34" charset="-120"/>
              </a:rPr>
              <a:t>nta kibazo, akomeza kwisuzuma no gusuzumwa buri mwaka; hari ikibazo, yoherezwa ku bitaro.</a:t>
            </a:r>
            <a:endParaRPr lang="rw-RW" sz="1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KOHEREZWA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Akeneye kubonwa ryari?</a:t>
            </a:r>
            <a:endParaRPr lang="rw-RW" sz="30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72</a:t>
            </a:r>
            <a:endParaRPr lang="rw-RW" sz="900" dirty="0"/>
          </a:p>
        </p:txBody>
      </p:sp>
      <p:grpSp>
        <p:nvGrpSpPr>
          <p:cNvPr id="11" name="Grupo 10">
            <a:extLst>
              <a:ext uri="{FF2B5EF4-FFF2-40B4-BE49-F238E27FC236}">
                <a16:creationId xmlns:a16="http://schemas.microsoft.com/office/drawing/2014/main" id="{7034592B-85B3-2FD1-F8BF-C6ACFC70BBAF}"/>
              </a:ext>
            </a:extLst>
          </p:cNvPr>
          <p:cNvGrpSpPr/>
          <p:nvPr/>
        </p:nvGrpSpPr>
        <p:grpSpPr>
          <a:xfrm>
            <a:off x="548640" y="1313027"/>
            <a:ext cx="3514344" cy="3897328"/>
            <a:chOff x="548640" y="1313027"/>
            <a:chExt cx="3514344" cy="3897328"/>
          </a:xfrm>
        </p:grpSpPr>
        <p:sp>
          <p:nvSpPr>
            <p:cNvPr id="4" name="Shape 2"/>
            <p:cNvSpPr/>
            <p:nvPr/>
          </p:nvSpPr>
          <p:spPr>
            <a:xfrm>
              <a:off x="548640" y="1313027"/>
              <a:ext cx="3514344" cy="3897328"/>
            </a:xfrm>
            <a:prstGeom prst="roundRect">
              <a:avLst>
                <a:gd name="adj" fmla="val 3077"/>
              </a:avLst>
            </a:prstGeom>
            <a:solidFill>
              <a:srgbClr val="FDF0F0"/>
            </a:solidFill>
            <a:ln w="12700">
              <a:solidFill>
                <a:srgbClr val="E8B4B4"/>
              </a:solidFill>
              <a:prstDash val="solid"/>
            </a:ln>
          </p:spPr>
          <p:txBody>
            <a:bodyPr/>
            <a:lstStyle/>
            <a:p>
              <a:endParaRPr lang="rw-RW" dirty="0"/>
            </a:p>
          </p:txBody>
        </p:sp>
        <p:sp>
          <p:nvSpPr>
            <p:cNvPr id="5" name="Text 3"/>
            <p:cNvSpPr txBox="1"/>
            <p:nvPr/>
          </p:nvSpPr>
          <p:spPr>
            <a:xfrm>
              <a:off x="771144" y="1549908"/>
              <a:ext cx="3075432" cy="2084832"/>
            </a:xfrm>
            <a:prstGeom prst="rect">
              <a:avLst/>
            </a:prstGeom>
            <a:noFill/>
            <a:ln/>
          </p:spPr>
          <p:txBody>
            <a:bodyPr wrap="square" lIns="0" tIns="0" rIns="0" bIns="0" rtlCol="0" anchor="t">
              <a:normAutofit fontScale="96000" lnSpcReduction="1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Uyu munsi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Ibere ryahindutse ritukura, ribyimba kandi rishyushye mu gihe cy'iminsi, igisebe gifunguye ku ibere, cyangwa umuntu bigaragara ko atameze neza afite ububabare bukabije, umuriro mwinshi cyangwa kunanirwa guhumeka.</a:t>
              </a:r>
              <a:endParaRPr lang="rw-RW" sz="1800" dirty="0"/>
            </a:p>
          </p:txBody>
        </p:sp>
        <p:pic>
          <p:nvPicPr>
            <p:cNvPr id="19" name="Picture 18">
              <a:extLst>
                <a:ext uri="{FF2B5EF4-FFF2-40B4-BE49-F238E27FC236}">
                  <a16:creationId xmlns:a16="http://schemas.microsoft.com/office/drawing/2014/main" id="{E5B9E6AD-6E2A-5D92-05A4-55576F24C6F4}"/>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004633" y="3634740"/>
              <a:ext cx="2586996" cy="1411089"/>
            </a:xfrm>
            <a:prstGeom prst="rect">
              <a:avLst/>
            </a:prstGeom>
          </p:spPr>
        </p:pic>
      </p:grpSp>
      <p:grpSp>
        <p:nvGrpSpPr>
          <p:cNvPr id="14" name="Grupo 13">
            <a:extLst>
              <a:ext uri="{FF2B5EF4-FFF2-40B4-BE49-F238E27FC236}">
                <a16:creationId xmlns:a16="http://schemas.microsoft.com/office/drawing/2014/main" id="{BC29A275-691E-784C-40CE-2CC3091BE247}"/>
              </a:ext>
            </a:extLst>
          </p:cNvPr>
          <p:cNvGrpSpPr/>
          <p:nvPr/>
        </p:nvGrpSpPr>
        <p:grpSpPr>
          <a:xfrm>
            <a:off x="4337304" y="1313027"/>
            <a:ext cx="3514344" cy="3995065"/>
            <a:chOff x="4337304" y="1313027"/>
            <a:chExt cx="3514344" cy="3995065"/>
          </a:xfrm>
        </p:grpSpPr>
        <p:sp>
          <p:nvSpPr>
            <p:cNvPr id="6" name="Shape 4"/>
            <p:cNvSpPr/>
            <p:nvPr/>
          </p:nvSpPr>
          <p:spPr>
            <a:xfrm>
              <a:off x="4337304" y="1313027"/>
              <a:ext cx="3514344" cy="3995065"/>
            </a:xfrm>
            <a:prstGeom prst="roundRect">
              <a:avLst>
                <a:gd name="adj" fmla="val 3077"/>
              </a:avLst>
            </a:prstGeom>
            <a:solidFill>
              <a:schemeClr val="accent4">
                <a:lumMod val="20000"/>
                <a:lumOff val="80000"/>
              </a:schemeClr>
            </a:solidFill>
            <a:ln w="12700">
              <a:solidFill>
                <a:srgbClr val="D3E1F2"/>
              </a:solidFill>
              <a:prstDash val="solid"/>
            </a:ln>
          </p:spPr>
          <p:txBody>
            <a:bodyPr/>
            <a:lstStyle/>
            <a:p>
              <a:endParaRPr lang="rw-RW" dirty="0"/>
            </a:p>
          </p:txBody>
        </p:sp>
        <p:sp>
          <p:nvSpPr>
            <p:cNvPr id="7" name="Text 5"/>
            <p:cNvSpPr txBox="1"/>
            <p:nvPr/>
          </p:nvSpPr>
          <p:spPr>
            <a:xfrm>
              <a:off x="4556760" y="1549908"/>
              <a:ext cx="3075432" cy="2084832"/>
            </a:xfrm>
            <a:prstGeom prst="rect">
              <a:avLst/>
            </a:prstGeom>
            <a:noFill/>
            <a:ln/>
          </p:spPr>
          <p:txBody>
            <a:bodyPr wrap="square" lIns="0" tIns="0" rIns="0" bIns="0" rtlCol="0" anchor="t">
              <a:normAutofit fontScale="94500" lnSpcReduction="1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Mu masaha 48, nta gutegereza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icyo ari cyo cyose gishya mu ibere cyangwa mu kwaha, imoko yatebeye cyangwa yinjiye imbere, amaraso ava mu moko, uruhu rukururira imbere cyangwa rukomeye, cyangwa impinduka irimo gukura.</a:t>
              </a:r>
              <a:endParaRPr lang="rw-RW" sz="1800" dirty="0"/>
            </a:p>
          </p:txBody>
        </p:sp>
        <p:pic>
          <p:nvPicPr>
            <p:cNvPr id="10" name="Imagen 9">
              <a:extLst>
                <a:ext uri="{FF2B5EF4-FFF2-40B4-BE49-F238E27FC236}">
                  <a16:creationId xmlns:a16="http://schemas.microsoft.com/office/drawing/2014/main" id="{7D564AF3-447B-58BE-49A7-346D0236DD6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579181" y="3529584"/>
              <a:ext cx="3075432" cy="1694356"/>
            </a:xfrm>
            <a:prstGeom prst="rect">
              <a:avLst/>
            </a:prstGeom>
          </p:spPr>
        </p:pic>
      </p:grpSp>
      <p:grpSp>
        <p:nvGrpSpPr>
          <p:cNvPr id="18" name="Grupo 17">
            <a:extLst>
              <a:ext uri="{FF2B5EF4-FFF2-40B4-BE49-F238E27FC236}">
                <a16:creationId xmlns:a16="http://schemas.microsoft.com/office/drawing/2014/main" id="{26D62A3B-9082-145E-8822-6DE5D33AC2BC}"/>
              </a:ext>
            </a:extLst>
          </p:cNvPr>
          <p:cNvGrpSpPr/>
          <p:nvPr/>
        </p:nvGrpSpPr>
        <p:grpSpPr>
          <a:xfrm>
            <a:off x="8125968" y="1289304"/>
            <a:ext cx="3514344" cy="4018788"/>
            <a:chOff x="8125968" y="1289304"/>
            <a:chExt cx="3514344" cy="4018788"/>
          </a:xfrm>
        </p:grpSpPr>
        <p:sp>
          <p:nvSpPr>
            <p:cNvPr id="8" name="Shape 6"/>
            <p:cNvSpPr/>
            <p:nvPr/>
          </p:nvSpPr>
          <p:spPr>
            <a:xfrm>
              <a:off x="8125968" y="1289304"/>
              <a:ext cx="3514344" cy="4018788"/>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241907" y="1444752"/>
              <a:ext cx="3075432" cy="2084832"/>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Mu gihe cyateganijwe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Gusurwa nyuma yo kuvurwa, gusuzuma impinduka zamaze gusuzumwa, n’isuzuma risanzwe ryateganyijwe.</a:t>
              </a:r>
              <a:endParaRPr lang="rw-RW" sz="1800" dirty="0"/>
            </a:p>
          </p:txBody>
        </p:sp>
        <p:pic>
          <p:nvPicPr>
            <p:cNvPr id="16" name="Imagen 15">
              <a:extLst>
                <a:ext uri="{FF2B5EF4-FFF2-40B4-BE49-F238E27FC236}">
                  <a16:creationId xmlns:a16="http://schemas.microsoft.com/office/drawing/2014/main" id="{D3AB13C0-845D-F333-5CE8-36E289FD0FD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261852" y="3429000"/>
              <a:ext cx="3256540" cy="1781355"/>
            </a:xfrm>
            <a:prstGeom prst="rect">
              <a:avLst/>
            </a:prstGeom>
          </p:spPr>
        </p:pic>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KOHEREZA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Mbere y'uko mutandukana</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Iyoherezwa umuntu adashobora gukurikiza si iyoherezwa.</a:t>
            </a:r>
            <a:endParaRPr lang="rw-RW" sz="1800" dirty="0"/>
          </a:p>
        </p:txBody>
      </p:sp>
      <p:sp>
        <p:nvSpPr>
          <p:cNvPr id="5" name="Shape 3"/>
          <p:cNvSpPr/>
          <p:nvPr/>
        </p:nvSpPr>
        <p:spPr>
          <a:xfrm>
            <a:off x="548640" y="19110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110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87452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Vuga aho umwohereje kandi byumvikana nawe agusubiriremo.</a:t>
            </a:r>
            <a:endParaRPr lang="rw-RW" sz="1800" dirty="0"/>
          </a:p>
        </p:txBody>
      </p:sp>
      <p:sp>
        <p:nvSpPr>
          <p:cNvPr id="8" name="Shape 6"/>
          <p:cNvSpPr/>
          <p:nvPr/>
        </p:nvSpPr>
        <p:spPr>
          <a:xfrm>
            <a:off x="548640" y="26974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0" name="Text 8"/>
          <p:cNvSpPr txBox="1"/>
          <p:nvPr/>
        </p:nvSpPr>
        <p:spPr>
          <a:xfrm>
            <a:off x="1115568" y="266090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Musobanurire mu magambo asobanutse uko bizagenda mu gihe azaba ahageze, kugira ngo hatazagira ikimutungura.</a:t>
            </a:r>
            <a:endParaRPr lang="rw-RW" sz="1800" dirty="0"/>
          </a:p>
        </p:txBody>
      </p:sp>
      <p:sp>
        <p:nvSpPr>
          <p:cNvPr id="11" name="Shape 9"/>
          <p:cNvSpPr/>
          <p:nvPr/>
        </p:nvSpPr>
        <p:spPr>
          <a:xfrm>
            <a:off x="548640" y="348386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548640" y="348386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3" name="Text 11"/>
          <p:cNvSpPr txBox="1"/>
          <p:nvPr/>
        </p:nvSpPr>
        <p:spPr>
          <a:xfrm>
            <a:off x="1115568" y="344728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Mwemeranye umunsi wo kujyayo unawandike niba ari byo byamufasha.</a:t>
            </a:r>
            <a:endParaRPr lang="rw-RW" sz="1800" dirty="0"/>
          </a:p>
        </p:txBody>
      </p:sp>
      <p:sp>
        <p:nvSpPr>
          <p:cNvPr id="14" name="Shape 12"/>
          <p:cNvSpPr/>
          <p:nvPr/>
        </p:nvSpPr>
        <p:spPr>
          <a:xfrm>
            <a:off x="548640" y="427024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548640" y="427024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6" name="Text 14"/>
          <p:cNvSpPr txBox="1"/>
          <p:nvPr/>
        </p:nvSpPr>
        <p:spPr>
          <a:xfrm>
            <a:off x="1115568" y="423367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Mubaze ibyatuma atajyayo cyangwa atitabira, mubikemure none.</a:t>
            </a:r>
            <a:endParaRPr lang="rw-RW" sz="1800" dirty="0"/>
          </a:p>
        </p:txBody>
      </p:sp>
      <p:sp>
        <p:nvSpPr>
          <p:cNvPr id="17" name="Shape 15"/>
          <p:cNvSpPr/>
          <p:nvPr/>
        </p:nvSpPr>
        <p:spPr>
          <a:xfrm>
            <a:off x="548640" y="505663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8" name="Text 16"/>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9" name="Text 17"/>
          <p:cNvSpPr txBox="1"/>
          <p:nvPr/>
        </p:nvSpPr>
        <p:spPr>
          <a:xfrm>
            <a:off x="1115568" y="5020056"/>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Mwemerere ko uzamusura kandi ubikore</a:t>
            </a:r>
            <a:endParaRPr lang="rw-RW" sz="1800" dirty="0"/>
          </a:p>
        </p:txBody>
      </p:sp>
      <p:sp>
        <p:nvSpPr>
          <p:cNvPr id="20" name="Text 1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1" name="Text 1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73</a:t>
            </a:r>
            <a:endParaRPr lang="rw-RW"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INZITIZI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Ni iki kibuza abantu kugenda, kandi ni iki kibafasha</a:t>
            </a:r>
            <a:endParaRPr lang="rw-RW" sz="3000" dirty="0"/>
          </a:p>
        </p:txBody>
      </p:sp>
      <p:sp>
        <p:nvSpPr>
          <p:cNvPr id="4" name="Shape 2"/>
          <p:cNvSpPr/>
          <p:nvPr/>
        </p:nvSpPr>
        <p:spPr>
          <a:xfrm>
            <a:off x="548640" y="1325880"/>
            <a:ext cx="5362956" cy="4800600"/>
          </a:xfrm>
          <a:prstGeom prst="roundRect">
            <a:avLst>
              <a:gd name="adj" fmla="val 1524"/>
            </a:avLst>
          </a:prstGeom>
          <a:solidFill>
            <a:srgbClr val="FDF0F0"/>
          </a:solidFill>
          <a:ln w="12700">
            <a:solidFill>
              <a:srgbClr val="E8B4B4"/>
            </a:solidFill>
            <a:prstDash val="solid"/>
          </a:ln>
        </p:spPr>
        <p:txBody>
          <a:bodyPr/>
          <a:lstStyle/>
          <a:p>
            <a:endParaRPr lang="rw-RW" dirty="0"/>
          </a:p>
        </p:txBody>
      </p:sp>
      <p:sp>
        <p:nvSpPr>
          <p:cNvPr id="5" name="Text 3"/>
          <p:cNvSpPr txBox="1"/>
          <p:nvPr/>
        </p:nvSpPr>
        <p:spPr>
          <a:xfrm>
            <a:off x="786384" y="1490472"/>
            <a:ext cx="4887468" cy="365760"/>
          </a:xfrm>
          <a:prstGeom prst="rect">
            <a:avLst/>
          </a:prstGeom>
          <a:noFill/>
          <a:ln/>
        </p:spPr>
        <p:txBody>
          <a:bodyPr wrap="square" lIns="0" tIns="0" rIns="0" bIns="0" rtlCol="0" anchor="ctr"/>
          <a:lstStyle/>
          <a:p>
            <a:r>
              <a:rPr lang="rw-RW" sz="1900" b="1" dirty="0">
                <a:solidFill>
                  <a:srgbClr val="1F3864"/>
                </a:solidFill>
                <a:latin typeface="Calibri" pitchFamily="34" charset="0"/>
                <a:ea typeface="Calibri" pitchFamily="34" charset="-122"/>
                <a:cs typeface="Calibri" pitchFamily="34" charset="-120"/>
              </a:rPr>
              <a:t>🔴 Ni iki kibuza abantu</a:t>
            </a:r>
            <a:endParaRPr lang="rw-RW" sz="1900" dirty="0"/>
          </a:p>
        </p:txBody>
      </p:sp>
      <p:sp>
        <p:nvSpPr>
          <p:cNvPr id="6" name="Text 4"/>
          <p:cNvSpPr txBox="1"/>
          <p:nvPr/>
        </p:nvSpPr>
        <p:spPr>
          <a:xfrm>
            <a:off x="786384" y="1947672"/>
            <a:ext cx="5125212" cy="3977640"/>
          </a:xfrm>
          <a:prstGeom prst="rect">
            <a:avLst/>
          </a:prstGeom>
          <a:noFill/>
          <a:ln/>
        </p:spPr>
        <p:txBody>
          <a:bodyPr wrap="square" lIns="0" tIns="0" rIns="0" bIns="0" rtlCol="0" anchor="t"/>
          <a:lstStyle/>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Igiciro n'igihe cy'urugendo.</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Umunsi w’akazi kenshi cyangwa ubucuruzi.</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Nta muntu wo kwita ku bana.</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Ubwoba bw'ibizaboneka.</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Bafite ubwoba bw'uko ibere rishobora gukurwaho.</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Biteye isoni no gusuzumwa.</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Kutamenya aho kujya n'ibibera hariya.</a:t>
            </a:r>
            <a:endParaRPr lang="rw-RW" sz="1800" dirty="0"/>
          </a:p>
        </p:txBody>
      </p:sp>
      <p:sp>
        <p:nvSpPr>
          <p:cNvPr id="7" name="Shape 5"/>
          <p:cNvSpPr/>
          <p:nvPr/>
        </p:nvSpPr>
        <p:spPr>
          <a:xfrm>
            <a:off x="6277356" y="1325880"/>
            <a:ext cx="5362956" cy="4800600"/>
          </a:xfrm>
          <a:prstGeom prst="roundRect">
            <a:avLst>
              <a:gd name="adj" fmla="val 1524"/>
            </a:avLst>
          </a:prstGeom>
          <a:solidFill>
            <a:schemeClr val="accent6">
              <a:lumMod val="20000"/>
              <a:lumOff val="80000"/>
            </a:schemeClr>
          </a:solidFill>
          <a:ln w="12700">
            <a:solidFill>
              <a:srgbClr val="D3E1F2"/>
            </a:solidFill>
            <a:prstDash val="solid"/>
          </a:ln>
        </p:spPr>
        <p:txBody>
          <a:bodyPr/>
          <a:lstStyle/>
          <a:p>
            <a:endParaRPr lang="rw-RW" dirty="0"/>
          </a:p>
        </p:txBody>
      </p:sp>
      <p:sp>
        <p:nvSpPr>
          <p:cNvPr id="8" name="Text 6"/>
          <p:cNvSpPr txBox="1"/>
          <p:nvPr/>
        </p:nvSpPr>
        <p:spPr>
          <a:xfrm>
            <a:off x="6515100" y="1490472"/>
            <a:ext cx="4887468" cy="365760"/>
          </a:xfrm>
          <a:prstGeom prst="rect">
            <a:avLst/>
          </a:prstGeom>
          <a:noFill/>
          <a:ln/>
        </p:spPr>
        <p:txBody>
          <a:bodyPr wrap="square" lIns="0" tIns="0" rIns="0" bIns="0" rtlCol="0" anchor="ctr">
            <a:normAutofit fontScale="93000"/>
          </a:bodyPr>
          <a:lstStyle/>
          <a:p>
            <a:r>
              <a:rPr lang="rw-RW" sz="1900" b="1" dirty="0">
                <a:solidFill>
                  <a:srgbClr val="1F3864"/>
                </a:solidFill>
                <a:latin typeface="Calibri" pitchFamily="34" charset="0"/>
                <a:ea typeface="Calibri" pitchFamily="34" charset="-122"/>
                <a:cs typeface="Calibri" pitchFamily="34" charset="-120"/>
              </a:rPr>
              <a:t>🟢 Icyo umujyanama w'ubuzima yakora</a:t>
            </a:r>
            <a:endParaRPr lang="rw-RW" sz="1900" dirty="0"/>
          </a:p>
        </p:txBody>
      </p:sp>
      <p:sp>
        <p:nvSpPr>
          <p:cNvPr id="9" name="Text 7"/>
          <p:cNvSpPr txBox="1"/>
          <p:nvPr/>
        </p:nvSpPr>
        <p:spPr>
          <a:xfrm>
            <a:off x="6515100" y="1947672"/>
            <a:ext cx="4887468" cy="3977640"/>
          </a:xfrm>
          <a:prstGeom prst="rect">
            <a:avLst/>
          </a:prstGeom>
          <a:noFill/>
          <a:ln/>
        </p:spPr>
        <p:txBody>
          <a:bodyPr wrap="square" lIns="0" tIns="0" rIns="0" bIns="0" rtlCol="0" anchor="t"/>
          <a:lstStyle/>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Tegura umunsi udahura n’akazi cyangwa isoko.</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Gufasha mu gutegura ingendo cyangwa mujyane mu rugendo.</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Mufashe kureba uburyo abana bitabwaho.</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Vuga ukuri ko ibibyimba hafi ya byose atari kanseri.</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Sobanura ko uburyo bwo kuvura butandukanye bitewe n'abantu.</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Jya uvugira mu ibanga, ntuzigere uvugira imbere y'abandi.</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Muyobore aho agana ndetse n’ibikorerwa cyangwa ibiberayo.</a:t>
            </a:r>
            <a:endParaRPr lang="rw-RW" sz="1800" dirty="0"/>
          </a:p>
        </p:txBody>
      </p:sp>
      <p:sp>
        <p:nvSpPr>
          <p:cNvPr id="10" name="Text 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1" name="Text 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74</a:t>
            </a:r>
            <a:endParaRPr lang="rw-RW"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KUGANIRA N'ABANTU</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Gutega amatwi neza</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Banza utege amatwi. </a:t>
            </a:r>
            <a:r>
              <a:rPr lang="rw-RW" sz="1800" dirty="0">
                <a:solidFill>
                  <a:srgbClr val="203864"/>
                </a:solidFill>
                <a:latin typeface="Calibri" pitchFamily="34" charset="0"/>
                <a:ea typeface="Calibri" pitchFamily="34" charset="-122"/>
                <a:cs typeface="Calibri" pitchFamily="34" charset="-120"/>
              </a:rPr>
              <a:t>Reka uwo muntu avuge ibimuhangayikishije mbere yo kugira icyo usobanura</a:t>
            </a:r>
            <a:endParaRPr lang="rw-RW" sz="1800" dirty="0"/>
          </a:p>
        </p:txBody>
      </p:sp>
      <p:sp>
        <p:nvSpPr>
          <p:cNvPr id="6" name="Shape 4"/>
          <p:cNvSpPr/>
          <p:nvPr/>
        </p:nvSpPr>
        <p:spPr>
          <a:xfrm>
            <a:off x="630936" y="2286000"/>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203864"/>
                </a:solidFill>
                <a:latin typeface="Calibri" pitchFamily="34" charset="0"/>
                <a:ea typeface="Calibri" pitchFamily="34" charset="-122"/>
                <a:cs typeface="Calibri" pitchFamily="34" charset="-120"/>
              </a:rPr>
              <a:t>Ntugashinje icyaha. </a:t>
            </a:r>
            <a:r>
              <a:rPr lang="rw-RW" sz="1800" dirty="0">
                <a:solidFill>
                  <a:srgbClr val="203864"/>
                </a:solidFill>
                <a:latin typeface="Calibri" pitchFamily="34" charset="0"/>
                <a:ea typeface="Calibri" pitchFamily="34" charset="-122"/>
                <a:cs typeface="Calibri" pitchFamily="34" charset="-120"/>
              </a:rPr>
              <a:t>Nta muntu n'umwe wizanira iyi ndwara ku giti cye, kandi kubivugaho mu ijwi riranguruye birafasha.</a:t>
            </a:r>
            <a:endParaRPr lang="rw-RW" sz="1800" dirty="0"/>
          </a:p>
        </p:txBody>
      </p:sp>
      <p:sp>
        <p:nvSpPr>
          <p:cNvPr id="8" name="Shape 6"/>
          <p:cNvSpPr/>
          <p:nvPr/>
        </p:nvSpPr>
        <p:spPr>
          <a:xfrm>
            <a:off x="630936" y="3072384"/>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Mujye mubikora mu ibanga. </a:t>
            </a:r>
            <a:r>
              <a:rPr lang="rw-RW" sz="1800" dirty="0">
                <a:solidFill>
                  <a:srgbClr val="203864"/>
                </a:solidFill>
                <a:latin typeface="Calibri" pitchFamily="34" charset="0"/>
                <a:ea typeface="Calibri" pitchFamily="34" charset="-122"/>
                <a:cs typeface="Calibri" pitchFamily="34" charset="-120"/>
              </a:rPr>
              <a:t>Vuga aho abandi badashobora kumva, kandi ujye ukomeza ibyo akubwiye ubigire ibanga.</a:t>
            </a:r>
            <a:endParaRPr lang="rw-RW" sz="1800" dirty="0"/>
          </a:p>
        </p:txBody>
      </p:sp>
      <p:sp>
        <p:nvSpPr>
          <p:cNvPr id="10" name="Shape 8"/>
          <p:cNvSpPr/>
          <p:nvPr/>
        </p:nvSpPr>
        <p:spPr>
          <a:xfrm>
            <a:off x="630936" y="3858768"/>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Vugisha ukuri. </a:t>
            </a:r>
            <a:r>
              <a:rPr lang="rw-RW" sz="1800" dirty="0">
                <a:solidFill>
                  <a:srgbClr val="203864"/>
                </a:solidFill>
                <a:latin typeface="Calibri" pitchFamily="34" charset="0"/>
                <a:ea typeface="Calibri" pitchFamily="34" charset="-122"/>
                <a:cs typeface="Calibri" pitchFamily="34" charset="-120"/>
              </a:rPr>
              <a:t>Ntugasezeranye ibisubizo. Vuga ibyo uzi, n'intambwe ikurikiraho.</a:t>
            </a:r>
            <a:endParaRPr lang="rw-RW" sz="1800" dirty="0"/>
          </a:p>
        </p:txBody>
      </p:sp>
      <p:sp>
        <p:nvSpPr>
          <p:cNvPr id="12" name="Shape 10"/>
          <p:cNvSpPr/>
          <p:nvPr/>
        </p:nvSpPr>
        <p:spPr>
          <a:xfrm>
            <a:off x="630936" y="4645152"/>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3" name="Text 11"/>
          <p:cNvSpPr txBox="1"/>
          <p:nvPr/>
        </p:nvSpPr>
        <p:spPr>
          <a:xfrm>
            <a:off x="1115568" y="4471416"/>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Soza n’ibikorwa. </a:t>
            </a:r>
            <a:r>
              <a:rPr lang="rw-RW" sz="1800" dirty="0">
                <a:solidFill>
                  <a:srgbClr val="203864"/>
                </a:solidFill>
                <a:latin typeface="Calibri" pitchFamily="34" charset="0"/>
                <a:ea typeface="Calibri" pitchFamily="34" charset="-122"/>
                <a:cs typeface="Calibri" pitchFamily="34" charset="-120"/>
              </a:rPr>
              <a:t>Buri kiganiro cyose kigomba kurangira n'intambwe ikurikira yemeranijweho.</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75</a:t>
            </a:r>
            <a:endParaRPr lang="rw-RW"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INAMA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"Mfite ubwoba ko bazankuraho amabere yanjye"</a:t>
            </a:r>
            <a:endParaRPr lang="rw-RW" sz="3000" dirty="0"/>
          </a:p>
        </p:txBody>
      </p:sp>
      <p:sp>
        <p:nvSpPr>
          <p:cNvPr id="4" name="Text 2"/>
          <p:cNvSpPr txBox="1"/>
          <p:nvPr/>
        </p:nvSpPr>
        <p:spPr>
          <a:xfrm>
            <a:off x="548640" y="1325880"/>
            <a:ext cx="11091672" cy="320040"/>
          </a:xfrm>
          <a:prstGeom prst="rect">
            <a:avLst/>
          </a:prstGeom>
          <a:noFill/>
          <a:ln/>
        </p:spPr>
        <p:txBody>
          <a:bodyPr wrap="square" lIns="0" tIns="0" rIns="0" bIns="0" rtlCol="0" anchor="ctr"/>
          <a:lstStyle/>
          <a:p>
            <a:pPr marL="0" indent="0">
              <a:buNone/>
            </a:pPr>
            <a:r>
              <a:rPr lang="rw-RW" sz="1600" i="1" dirty="0">
                <a:solidFill>
                  <a:srgbClr val="B06A08"/>
                </a:solidFill>
                <a:latin typeface="Calibri" pitchFamily="34" charset="0"/>
                <a:ea typeface="Calibri" pitchFamily="34" charset="-122"/>
                <a:cs typeface="Calibri" pitchFamily="34" charset="-120"/>
              </a:rPr>
              <a:t>Hitamo igisubizo cy'ukuri kandi cy'ingirakamaro.</a:t>
            </a:r>
            <a:endParaRPr lang="rw-RW" sz="1600" dirty="0"/>
          </a:p>
        </p:txBody>
      </p:sp>
      <p:sp>
        <p:nvSpPr>
          <p:cNvPr id="5" name="Text 3"/>
          <p:cNvSpPr txBox="1"/>
          <p:nvPr/>
        </p:nvSpPr>
        <p:spPr>
          <a:xfrm>
            <a:off x="548640" y="1709928"/>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yanze kujya kwisuzumisha kuko atekereza ko ku bitaro bazamukuraho ibere. Ese uvuze ngo iki?</a:t>
            </a:r>
            <a:endParaRPr lang="rw-RW" sz="2000" dirty="0"/>
          </a:p>
        </p:txBody>
      </p:sp>
      <p:sp>
        <p:nvSpPr>
          <p:cNvPr id="6" name="Shape 4"/>
          <p:cNvSpPr/>
          <p:nvPr/>
        </p:nvSpPr>
        <p:spPr>
          <a:xfrm>
            <a:off x="548640" y="257860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768096" y="257860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Mwemerere ko amabere ye azakurwaho, kuburyo yitegura</a:t>
            </a:r>
            <a:endParaRPr lang="rw-RW" sz="1800" dirty="0"/>
          </a:p>
        </p:txBody>
      </p:sp>
      <p:sp>
        <p:nvSpPr>
          <p:cNvPr id="8" name="Shape 6"/>
          <p:cNvSpPr/>
          <p:nvPr/>
        </p:nvSpPr>
        <p:spPr>
          <a:xfrm>
            <a:off x="548640" y="3209544"/>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768096" y="3209544"/>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Mubwire ko ibi atari ibintu yakwiye kuba abaza.</a:t>
            </a:r>
            <a:endParaRPr lang="rw-RW" sz="1800" dirty="0"/>
          </a:p>
        </p:txBody>
      </p:sp>
      <p:sp>
        <p:nvSpPr>
          <p:cNvPr id="10" name="Shape 8"/>
          <p:cNvSpPr/>
          <p:nvPr/>
        </p:nvSpPr>
        <p:spPr>
          <a:xfrm>
            <a:off x="548640" y="384048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1" name="Text 9"/>
          <p:cNvSpPr txBox="1"/>
          <p:nvPr/>
        </p:nvSpPr>
        <p:spPr>
          <a:xfrm>
            <a:off x="768096" y="384048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Sobanura ko ubuvuzi atari bumwe ku bantu bose, ko gukuraho ibere bidasabwa kuri buri muntu, ko nta cyemezo gifatwa mbere y'ibizamini, kandi umusabe kumuherekeza</a:t>
            </a:r>
            <a:endParaRPr lang="rw-RW" sz="1800" dirty="0"/>
          </a:p>
        </p:txBody>
      </p:sp>
      <p:sp>
        <p:nvSpPr>
          <p:cNvPr id="12" name="Shape 10"/>
          <p:cNvSpPr/>
          <p:nvPr/>
        </p:nvSpPr>
        <p:spPr>
          <a:xfrm>
            <a:off x="548640" y="447141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3" name="Text 11"/>
          <p:cNvSpPr txBox="1"/>
          <p:nvPr/>
        </p:nvSpPr>
        <p:spPr>
          <a:xfrm>
            <a:off x="768096" y="447141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Musezeranye ko amabere ye atazakurwaho</a:t>
            </a:r>
            <a:endParaRPr lang="rw-RW" sz="1800" dirty="0"/>
          </a:p>
        </p:txBody>
      </p:sp>
      <p:sp>
        <p:nvSpPr>
          <p:cNvPr id="14" name="Text 12"/>
          <p:cNvSpPr txBox="1"/>
          <p:nvPr/>
        </p:nvSpPr>
        <p:spPr>
          <a:xfrm>
            <a:off x="548640" y="5266944"/>
            <a:ext cx="11091672" cy="996696"/>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Isezerano udashobora gusohoza rizibukwa, kandi risenya icyizere mu gihe bigaragaye ko ari ikosa. Igitangaje kandi gihumuriza ni uko ubuvuzi butandukanye hagati y'abantu, ko nta cyemezo gifatwa mbere y'ibizamini, kandi ko abantu benshi bagumana amabere yabo.</a:t>
            </a:r>
            <a:endParaRPr lang="rw-RW" sz="1700" dirty="0"/>
          </a:p>
        </p:txBody>
      </p:sp>
      <p:sp>
        <p:nvSpPr>
          <p:cNvPr id="15" name="Text 13"/>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6" name="Text 1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76</a:t>
            </a:r>
            <a:endParaRPr lang="rw-RW" sz="900" dirty="0"/>
          </a:p>
        </p:txBody>
      </p:sp>
    </p:spTree>
    <p:extLst>
      <p:ext uri="{BB962C8B-B14F-4D97-AF65-F5344CB8AC3E}">
        <p14:creationId xmlns:p14="http://schemas.microsoft.com/office/powerpoint/2010/main" val="2108605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INAMA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"Nzabanza kugerageza ubuvuzi busanzwe"</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fontScale="97500"/>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ufite ikibyimba cy'amabere gikura akubwira ko azabanza gukoresha ubuvuzi gakondo hanyuma akajya ku kigo nderabuzima nyuma mu gihe bidakora. Ni ubuhe buryo bwiza bwo gukemura iki kibazo?</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Emera, uzagaruke nyuma y’amezi atandatu</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Menyesha inzego zibishinzwe</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Mubwire ko imyemerere ye atari yo kandi ko yibeshya</a:t>
            </a:r>
            <a:endParaRPr lang="rw-RW" sz="1800" dirty="0"/>
          </a:p>
        </p:txBody>
      </p:sp>
      <p:sp>
        <p:nvSpPr>
          <p:cNvPr id="11" name="Shape 9"/>
          <p:cNvSpPr/>
          <p:nvPr/>
        </p:nvSpPr>
        <p:spPr>
          <a:xfrm>
            <a:off x="548640" y="408736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normAutofit fontScale="93000"/>
          </a:bodyP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Ubaha ibyo yemera, musobanurire utuje ko iki kibyimba gishobora gukura mu gihe ategereje kandi ko gutegereza ari byo bituma ubuvuzi burushaho kugorana, kandi usabe ko na we yakwisuzumisha ubu.</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Kwibasira ibyo umuntu yemera akenshi birangiza ikiganiro n'umubano. Ikibazo cyo kuvuga ni igihe, ntabwo ari ukwizera. Ikibyimba kigenda gikura muri ayo mezi kandi isuzuma ni icyo adashobora kubona ahandi.</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77</a:t>
            </a:r>
            <a:endParaRPr lang="rw-RW" sz="900" dirty="0"/>
          </a:p>
        </p:txBody>
      </p:sp>
    </p:spTree>
    <p:extLst>
      <p:ext uri="{BB962C8B-B14F-4D97-AF65-F5344CB8AC3E}">
        <p14:creationId xmlns:p14="http://schemas.microsoft.com/office/powerpoint/2010/main" val="19793362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INAMA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"Ntewe ipfunwe no gusuzumwa"</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akubwira mu ibanga ko atewe isoni no kureka umuntu wese areba amabere ye. Ni ikihe gisubizo cyiza kurusha ibindi?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Kumubwira ko isuzuma atari ngombwa cyane</a:t>
            </a:r>
            <a:endParaRPr lang="rw-RW" sz="1800" dirty="0"/>
          </a:p>
        </p:txBody>
      </p:sp>
      <p:sp>
        <p:nvSpPr>
          <p:cNvPr id="7" name="Shape 5"/>
          <p:cNvSpPr/>
          <p:nvPr/>
        </p:nvSpPr>
        <p:spPr>
          <a:xfrm>
            <a:off x="548640" y="282549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Kwemera ko abantu benshi biyumva batyo, kumusobanurira ko isuzuma rimara igihe gito kandi rikorerwa mu mwiherero n'umukozi w'ubuzima wabihuguriwe, no kwemera kumuherekeza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Kumubwira ko isoni nta cyo zivuze kandi ko agomba kugenda gusa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Gusaba abandi bagore bo mu mudugudu kumwemeza kugenda</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Isoni ni impamvu nyayo ituma abantu baguma kure, bityo zigomba gusubizwa aho kwirengagizwa. Kuzivuga, kumusobanurira uko isuzuma rikorwa, no kwemera kumuherekeza bihindura ubwoba bukavamo gahunda ifatika. Kwinjiza abandi bagore muri iki kibazo byamena ibanga rye.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78</a:t>
            </a:r>
            <a:endParaRPr lang="rw-RW" sz="900" dirty="0"/>
          </a:p>
        </p:txBody>
      </p:sp>
    </p:spTree>
    <p:extLst>
      <p:ext uri="{BB962C8B-B14F-4D97-AF65-F5344CB8AC3E}">
        <p14:creationId xmlns:p14="http://schemas.microsoft.com/office/powerpoint/2010/main" val="2014528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RY'IMIKORANIRE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Imyizerere kuri kanseri y'ibere</a:t>
            </a:r>
            <a:endParaRPr lang="rw-RW" sz="3000" dirty="0"/>
          </a:p>
        </p:txBody>
      </p:sp>
      <p:sp>
        <p:nvSpPr>
          <p:cNvPr id="4" name="Text 2"/>
          <p:cNvSpPr txBox="1"/>
          <p:nvPr/>
        </p:nvSpPr>
        <p:spPr>
          <a:xfrm>
            <a:off x="548640" y="1325880"/>
            <a:ext cx="11091672" cy="320040"/>
          </a:xfrm>
          <a:prstGeom prst="rect">
            <a:avLst/>
          </a:prstGeom>
          <a:noFill/>
          <a:ln/>
        </p:spPr>
        <p:txBody>
          <a:bodyPr wrap="square" lIns="0" tIns="0" rIns="0" bIns="0" rtlCol="0" anchor="ctr"/>
          <a:lstStyle/>
          <a:p>
            <a:pPr marL="0" indent="0">
              <a:buNone/>
            </a:pPr>
            <a:r>
              <a:rPr lang="rw-RW" sz="1600" i="1" dirty="0">
                <a:solidFill>
                  <a:srgbClr val="B06A08"/>
                </a:solidFill>
                <a:latin typeface="Calibri" pitchFamily="34" charset="0"/>
                <a:ea typeface="Calibri" pitchFamily="34" charset="-122"/>
                <a:cs typeface="Calibri" pitchFamily="34" charset="-120"/>
              </a:rPr>
              <a:t>Hitamo buri gitekerezo kugira ngo ubone igisubizo nyacyo.</a:t>
            </a:r>
            <a:endParaRPr lang="rw-RW" sz="1600" dirty="0"/>
          </a:p>
        </p:txBody>
      </p:sp>
      <p:sp>
        <p:nvSpPr>
          <p:cNvPr id="5" name="Shape 3"/>
          <p:cNvSpPr/>
          <p:nvPr/>
        </p:nvSpPr>
        <p:spPr>
          <a:xfrm>
            <a:off x="548640" y="1737360"/>
            <a:ext cx="4206240" cy="775411"/>
          </a:xfrm>
          <a:prstGeom prst="roundRect">
            <a:avLst>
              <a:gd name="adj" fmla="val 7075"/>
            </a:avLst>
          </a:prstGeom>
          <a:solidFill>
            <a:srgbClr val="FBF1F1"/>
          </a:solidFill>
          <a:ln w="12700">
            <a:solidFill>
              <a:srgbClr val="EFD6D6"/>
            </a:solidFill>
            <a:prstDash val="solid"/>
          </a:ln>
        </p:spPr>
        <p:txBody>
          <a:bodyPr/>
          <a:lstStyle/>
          <a:p>
            <a:endParaRPr lang="rw-RW" dirty="0"/>
          </a:p>
        </p:txBody>
      </p:sp>
      <p:sp>
        <p:nvSpPr>
          <p:cNvPr id="6" name="Text 4"/>
          <p:cNvSpPr txBox="1"/>
          <p:nvPr/>
        </p:nvSpPr>
        <p:spPr>
          <a:xfrm>
            <a:off x="731520" y="1773936"/>
            <a:ext cx="3840480" cy="702259"/>
          </a:xfrm>
          <a:prstGeom prst="rect">
            <a:avLst/>
          </a:prstGeom>
          <a:noFill/>
          <a:ln/>
        </p:spPr>
        <p:txBody>
          <a:bodyPr wrap="square" lIns="0" tIns="0" rIns="0" bIns="0" rtlCol="0" anchor="ctr">
            <a:normAutofit fontScale="99500"/>
          </a:bodyP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Gukubitwa cyangwa gukomereka ku ibere bitera kanseri y'ibere.</a:t>
            </a:r>
            <a:endParaRPr lang="rw-RW" sz="1700" dirty="0"/>
          </a:p>
        </p:txBody>
      </p:sp>
      <p:sp>
        <p:nvSpPr>
          <p:cNvPr id="7" name="Shape 5"/>
          <p:cNvSpPr/>
          <p:nvPr/>
        </p:nvSpPr>
        <p:spPr>
          <a:xfrm>
            <a:off x="5029200" y="1737360"/>
            <a:ext cx="6611112" cy="775411"/>
          </a:xfrm>
          <a:prstGeom prst="roundRect">
            <a:avLst>
              <a:gd name="adj" fmla="val 7075"/>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5212080" y="1773936"/>
            <a:ext cx="6245352" cy="702259"/>
          </a:xfrm>
          <a:prstGeom prst="rect">
            <a:avLst/>
          </a:prstGeom>
          <a:noFill/>
          <a:ln/>
        </p:spPr>
        <p:txBody>
          <a:bodyPr wrap="square" lIns="0" tIns="0" rIns="0" bIns="0" rtlCol="0" anchor="ct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Gukomereka bishobora gutuma umuntu abona ikibyimba cyari gisanzwe gihari. Ntabwo ari byo bitera indwara.</a:t>
            </a:r>
            <a:endParaRPr lang="rw-RW" sz="1700" dirty="0"/>
          </a:p>
        </p:txBody>
      </p:sp>
      <p:sp>
        <p:nvSpPr>
          <p:cNvPr id="9" name="Shape 7"/>
          <p:cNvSpPr/>
          <p:nvPr/>
        </p:nvSpPr>
        <p:spPr>
          <a:xfrm>
            <a:off x="548640" y="2640787"/>
            <a:ext cx="4206240" cy="775411"/>
          </a:xfrm>
          <a:prstGeom prst="roundRect">
            <a:avLst>
              <a:gd name="adj" fmla="val 7075"/>
            </a:avLst>
          </a:prstGeom>
          <a:solidFill>
            <a:srgbClr val="FBF1F1"/>
          </a:solidFill>
          <a:ln w="12700">
            <a:solidFill>
              <a:srgbClr val="EFD6D6"/>
            </a:solidFill>
            <a:prstDash val="solid"/>
          </a:ln>
        </p:spPr>
        <p:txBody>
          <a:bodyPr/>
          <a:lstStyle/>
          <a:p>
            <a:endParaRPr lang="rw-RW" dirty="0"/>
          </a:p>
        </p:txBody>
      </p:sp>
      <p:sp>
        <p:nvSpPr>
          <p:cNvPr id="10" name="Text 8"/>
          <p:cNvSpPr txBox="1"/>
          <p:nvPr/>
        </p:nvSpPr>
        <p:spPr>
          <a:xfrm>
            <a:off x="731520" y="2677363"/>
            <a:ext cx="3840480" cy="702259"/>
          </a:xfrm>
          <a:prstGeom prst="rect">
            <a:avLst/>
          </a:prstGeom>
          <a:noFill/>
          <a:ln/>
        </p:spPr>
        <p:txBody>
          <a:bodyPr wrap="square" lIns="0" tIns="0" rIns="0" bIns="0" rtlCol="0" anchor="ctr">
            <a:normAutofit fontScale="99500" lnSpcReduction="10000"/>
          </a:bodyP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Kwambara imyenda ifashe cyane, nk'isutiye, cyangwa gukoresha deodorant bitera kanseri y'ibere.</a:t>
            </a:r>
            <a:endParaRPr lang="rw-RW" sz="1700" dirty="0"/>
          </a:p>
        </p:txBody>
      </p:sp>
      <p:sp>
        <p:nvSpPr>
          <p:cNvPr id="11" name="Shape 9"/>
          <p:cNvSpPr/>
          <p:nvPr/>
        </p:nvSpPr>
        <p:spPr>
          <a:xfrm>
            <a:off x="5029200" y="2640787"/>
            <a:ext cx="6611112" cy="775411"/>
          </a:xfrm>
          <a:prstGeom prst="roundRect">
            <a:avLst>
              <a:gd name="adj" fmla="val 7075"/>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5212080" y="2677363"/>
            <a:ext cx="6245352" cy="702259"/>
          </a:xfrm>
          <a:prstGeom prst="rect">
            <a:avLst/>
          </a:prstGeom>
          <a:noFill/>
          <a:ln/>
        </p:spPr>
        <p:txBody>
          <a:bodyPr wrap="square" lIns="0" tIns="0" rIns="0" bIns="0" rtlCol="0" anchor="ct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Nta gihamya ifatika ihari kuri ibyo. Kubisubiramo bituma abantu bashakisha impamvu aho kujya kwisuzumisha.</a:t>
            </a:r>
            <a:endParaRPr lang="rw-RW" sz="1700" dirty="0"/>
          </a:p>
        </p:txBody>
      </p:sp>
      <p:sp>
        <p:nvSpPr>
          <p:cNvPr id="13" name="Shape 11"/>
          <p:cNvSpPr/>
          <p:nvPr/>
        </p:nvSpPr>
        <p:spPr>
          <a:xfrm>
            <a:off x="548640" y="3544214"/>
            <a:ext cx="4206240" cy="775411"/>
          </a:xfrm>
          <a:prstGeom prst="roundRect">
            <a:avLst>
              <a:gd name="adj" fmla="val 7075"/>
            </a:avLst>
          </a:prstGeom>
          <a:solidFill>
            <a:srgbClr val="FBF1F1"/>
          </a:solidFill>
          <a:ln w="12700">
            <a:solidFill>
              <a:srgbClr val="EFD6D6"/>
            </a:solidFill>
            <a:prstDash val="solid"/>
          </a:ln>
        </p:spPr>
        <p:txBody>
          <a:bodyPr/>
          <a:lstStyle/>
          <a:p>
            <a:endParaRPr lang="rw-RW" dirty="0"/>
          </a:p>
        </p:txBody>
      </p:sp>
      <p:sp>
        <p:nvSpPr>
          <p:cNvPr id="14" name="Text 12"/>
          <p:cNvSpPr txBox="1"/>
          <p:nvPr/>
        </p:nvSpPr>
        <p:spPr>
          <a:xfrm>
            <a:off x="731520" y="3580790"/>
            <a:ext cx="3840480" cy="702259"/>
          </a:xfrm>
          <a:prstGeom prst="rect">
            <a:avLst/>
          </a:prstGeom>
          <a:noFill/>
          <a:ln/>
        </p:spPr>
        <p:txBody>
          <a:bodyPr wrap="square" lIns="0" tIns="0" rIns="0" bIns="0" rtlCol="0" anchor="ct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Iyi ndwara ni umuvumo cyangwa igihano.</a:t>
            </a:r>
            <a:endParaRPr lang="rw-RW" sz="1700" dirty="0"/>
          </a:p>
        </p:txBody>
      </p:sp>
      <p:sp>
        <p:nvSpPr>
          <p:cNvPr id="15" name="Shape 13"/>
          <p:cNvSpPr/>
          <p:nvPr/>
        </p:nvSpPr>
        <p:spPr>
          <a:xfrm>
            <a:off x="5029200" y="3544214"/>
            <a:ext cx="6611112" cy="775411"/>
          </a:xfrm>
          <a:prstGeom prst="roundRect">
            <a:avLst>
              <a:gd name="adj" fmla="val 7075"/>
            </a:avLst>
          </a:prstGeom>
          <a:solidFill>
            <a:srgbClr val="E9F3EC"/>
          </a:solidFill>
          <a:ln w="12700">
            <a:solidFill>
              <a:srgbClr val="B7D6C1"/>
            </a:solidFill>
            <a:prstDash val="solid"/>
          </a:ln>
        </p:spPr>
        <p:txBody>
          <a:bodyPr/>
          <a:lstStyle/>
          <a:p>
            <a:endParaRPr lang="rw-RW" dirty="0"/>
          </a:p>
        </p:txBody>
      </p:sp>
      <p:sp>
        <p:nvSpPr>
          <p:cNvPr id="16" name="Text 14"/>
          <p:cNvSpPr txBox="1"/>
          <p:nvPr/>
        </p:nvSpPr>
        <p:spPr>
          <a:xfrm>
            <a:off x="5212080" y="3580790"/>
            <a:ext cx="6245352" cy="702259"/>
          </a:xfrm>
          <a:prstGeom prst="rect">
            <a:avLst/>
          </a:prstGeom>
          <a:noFill/>
          <a:ln/>
        </p:spPr>
        <p:txBody>
          <a:bodyPr wrap="square" lIns="0" tIns="0" rIns="0" bIns="0" rtlCol="0" anchor="ctr">
            <a:normAutofit fontScale="99500"/>
          </a:bodyP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Ni indwara y'uturemangingo tw'ibere. Nta muntu ugomba kubiryozwa, kandi nta muntu wabyiteye.</a:t>
            </a:r>
            <a:endParaRPr lang="rw-RW" sz="1700" dirty="0"/>
          </a:p>
        </p:txBody>
      </p:sp>
      <p:sp>
        <p:nvSpPr>
          <p:cNvPr id="17" name="Shape 15"/>
          <p:cNvSpPr/>
          <p:nvPr/>
        </p:nvSpPr>
        <p:spPr>
          <a:xfrm>
            <a:off x="548640" y="4447642"/>
            <a:ext cx="4206240" cy="775411"/>
          </a:xfrm>
          <a:prstGeom prst="roundRect">
            <a:avLst>
              <a:gd name="adj" fmla="val 7075"/>
            </a:avLst>
          </a:prstGeom>
          <a:solidFill>
            <a:srgbClr val="FBF1F1"/>
          </a:solidFill>
          <a:ln w="12700">
            <a:solidFill>
              <a:srgbClr val="EFD6D6"/>
            </a:solidFill>
            <a:prstDash val="solid"/>
          </a:ln>
        </p:spPr>
        <p:txBody>
          <a:bodyPr/>
          <a:lstStyle/>
          <a:p>
            <a:endParaRPr lang="rw-RW" dirty="0"/>
          </a:p>
        </p:txBody>
      </p:sp>
      <p:sp>
        <p:nvSpPr>
          <p:cNvPr id="18" name="Text 16"/>
          <p:cNvSpPr txBox="1"/>
          <p:nvPr/>
        </p:nvSpPr>
        <p:spPr>
          <a:xfrm>
            <a:off x="731520" y="4484218"/>
            <a:ext cx="3840480" cy="702259"/>
          </a:xfrm>
          <a:prstGeom prst="rect">
            <a:avLst/>
          </a:prstGeom>
          <a:noFill/>
          <a:ln/>
        </p:spPr>
        <p:txBody>
          <a:bodyPr wrap="square" lIns="0" tIns="0" rIns="0" bIns="0" rtlCol="0" anchor="ctr">
            <a:normAutofit fontScale="99500"/>
          </a:bodyP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Ushobora kwandura kanseri y'ibere ku wundi muntu.</a:t>
            </a:r>
            <a:endParaRPr lang="rw-RW" sz="1700" dirty="0"/>
          </a:p>
        </p:txBody>
      </p:sp>
      <p:sp>
        <p:nvSpPr>
          <p:cNvPr id="19" name="Shape 17"/>
          <p:cNvSpPr/>
          <p:nvPr/>
        </p:nvSpPr>
        <p:spPr>
          <a:xfrm>
            <a:off x="5029200" y="4447642"/>
            <a:ext cx="6611112" cy="775411"/>
          </a:xfrm>
          <a:prstGeom prst="roundRect">
            <a:avLst>
              <a:gd name="adj" fmla="val 7075"/>
            </a:avLst>
          </a:prstGeom>
          <a:solidFill>
            <a:srgbClr val="E9F3EC"/>
          </a:solidFill>
          <a:ln w="12700">
            <a:solidFill>
              <a:srgbClr val="B7D6C1"/>
            </a:solidFill>
            <a:prstDash val="solid"/>
          </a:ln>
        </p:spPr>
        <p:txBody>
          <a:bodyPr/>
          <a:lstStyle/>
          <a:p>
            <a:endParaRPr lang="rw-RW" dirty="0"/>
          </a:p>
        </p:txBody>
      </p:sp>
      <p:sp>
        <p:nvSpPr>
          <p:cNvPr id="20" name="Text 18"/>
          <p:cNvSpPr txBox="1"/>
          <p:nvPr/>
        </p:nvSpPr>
        <p:spPr>
          <a:xfrm>
            <a:off x="5212080" y="4484218"/>
            <a:ext cx="6245352" cy="702259"/>
          </a:xfrm>
          <a:prstGeom prst="rect">
            <a:avLst/>
          </a:prstGeom>
          <a:noFill/>
          <a:ln/>
        </p:spPr>
        <p:txBody>
          <a:bodyPr wrap="square" lIns="0" tIns="0" rIns="0" bIns="0" rtlCol="0" anchor="ctr">
            <a:normAutofit fontScale="99500"/>
          </a:bodyP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Ntiyandurira ku muntu binyuze mu kubana, gusangira ibyo kurya cyangwa kwita ku muntu. Nta muntu ugomba guhezwa.</a:t>
            </a:r>
            <a:endParaRPr lang="rw-RW" sz="1700" dirty="0"/>
          </a:p>
        </p:txBody>
      </p:sp>
      <p:sp>
        <p:nvSpPr>
          <p:cNvPr id="21" name="Shape 19"/>
          <p:cNvSpPr/>
          <p:nvPr/>
        </p:nvSpPr>
        <p:spPr>
          <a:xfrm>
            <a:off x="548640" y="5351069"/>
            <a:ext cx="4206240" cy="775411"/>
          </a:xfrm>
          <a:prstGeom prst="roundRect">
            <a:avLst>
              <a:gd name="adj" fmla="val 7075"/>
            </a:avLst>
          </a:prstGeom>
          <a:solidFill>
            <a:srgbClr val="FBF1F1"/>
          </a:solidFill>
          <a:ln w="12700">
            <a:solidFill>
              <a:srgbClr val="EFD6D6"/>
            </a:solidFill>
            <a:prstDash val="solid"/>
          </a:ln>
        </p:spPr>
        <p:txBody>
          <a:bodyPr/>
          <a:lstStyle/>
          <a:p>
            <a:endParaRPr lang="rw-RW" dirty="0"/>
          </a:p>
        </p:txBody>
      </p:sp>
      <p:sp>
        <p:nvSpPr>
          <p:cNvPr id="22" name="Text 20"/>
          <p:cNvSpPr txBox="1"/>
          <p:nvPr/>
        </p:nvSpPr>
        <p:spPr>
          <a:xfrm>
            <a:off x="731520" y="5387645"/>
            <a:ext cx="3840480" cy="702259"/>
          </a:xfrm>
          <a:prstGeom prst="rect">
            <a:avLst/>
          </a:prstGeom>
          <a:noFill/>
          <a:ln/>
        </p:spPr>
        <p:txBody>
          <a:bodyPr wrap="square" lIns="0" tIns="0" rIns="0" bIns="0" rtlCol="0" anchor="ct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Kanseri y'ibere buri gihe isobanura urupfu.</a:t>
            </a:r>
            <a:endParaRPr lang="rw-RW" sz="1700" dirty="0"/>
          </a:p>
        </p:txBody>
      </p:sp>
      <p:sp>
        <p:nvSpPr>
          <p:cNvPr id="23" name="Shape 21"/>
          <p:cNvSpPr/>
          <p:nvPr/>
        </p:nvSpPr>
        <p:spPr>
          <a:xfrm>
            <a:off x="5029200" y="5351069"/>
            <a:ext cx="6611112" cy="775411"/>
          </a:xfrm>
          <a:prstGeom prst="roundRect">
            <a:avLst>
              <a:gd name="adj" fmla="val 7075"/>
            </a:avLst>
          </a:prstGeom>
          <a:solidFill>
            <a:srgbClr val="E9F3EC"/>
          </a:solidFill>
          <a:ln w="12700">
            <a:solidFill>
              <a:srgbClr val="B7D6C1"/>
            </a:solidFill>
            <a:prstDash val="solid"/>
          </a:ln>
        </p:spPr>
        <p:txBody>
          <a:bodyPr/>
          <a:lstStyle/>
          <a:p>
            <a:endParaRPr lang="rw-RW" dirty="0"/>
          </a:p>
        </p:txBody>
      </p:sp>
      <p:sp>
        <p:nvSpPr>
          <p:cNvPr id="24" name="Text 22"/>
          <p:cNvSpPr txBox="1"/>
          <p:nvPr/>
        </p:nvSpPr>
        <p:spPr>
          <a:xfrm>
            <a:off x="5212080" y="5387645"/>
            <a:ext cx="6245352" cy="702259"/>
          </a:xfrm>
          <a:prstGeom prst="rect">
            <a:avLst/>
          </a:prstGeom>
          <a:noFill/>
          <a:ln/>
        </p:spPr>
        <p:txBody>
          <a:bodyPr wrap="square" lIns="0" tIns="0" rIns="0" bIns="0" rtlCol="0" anchor="ct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Kanseri y'ibere iravurwa, kandi ibisubizo biba byiza kurushaho iyo imenyekanye hakiri kare.</a:t>
            </a:r>
            <a:endParaRPr lang="rw-RW" sz="1700" dirty="0"/>
          </a:p>
        </p:txBody>
      </p:sp>
      <p:sp>
        <p:nvSpPr>
          <p:cNvPr id="25" name="Text 23"/>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6" name="Text 2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79</a:t>
            </a:r>
            <a:endParaRPr lang="rw-RW"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IBANGA RY'UBUZIMA BWITE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Ubuzima bwite n'icyubahiro</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Vuga mu ibanga. </a:t>
            </a:r>
            <a:r>
              <a:rPr lang="rw-RW" sz="1800" dirty="0">
                <a:solidFill>
                  <a:srgbClr val="203864"/>
                </a:solidFill>
                <a:latin typeface="Calibri" pitchFamily="34" charset="0"/>
                <a:ea typeface="Calibri" pitchFamily="34" charset="-122"/>
                <a:cs typeface="Calibri" pitchFamily="34" charset="-120"/>
              </a:rPr>
              <a:t>Ntuzigere uvuga ku mpinduka yo mu ibere ry'umuntu cyangwa ku bisubizo bye aho abandi bashobora kumva.</a:t>
            </a:r>
            <a:endParaRPr lang="rw-RW" sz="1800" dirty="0"/>
          </a:p>
        </p:txBody>
      </p:sp>
      <p:sp>
        <p:nvSpPr>
          <p:cNvPr id="6" name="Shape 4"/>
          <p:cNvSpPr/>
          <p:nvPr/>
        </p:nvSpPr>
        <p:spPr>
          <a:xfrm>
            <a:off x="630936" y="2286000"/>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Ntugasubiremo ibyo wabwiwe. </a:t>
            </a:r>
            <a:r>
              <a:rPr lang="rw-RW" sz="1800" dirty="0">
                <a:solidFill>
                  <a:srgbClr val="203864"/>
                </a:solidFill>
                <a:latin typeface="Calibri" pitchFamily="34" charset="0"/>
                <a:ea typeface="Calibri" pitchFamily="34" charset="-122"/>
                <a:cs typeface="Calibri" pitchFamily="34" charset="-120"/>
              </a:rPr>
              <a:t>Ntubibwire abaturanyi, abavandimwe cyangwa abari mu nama z'abaturage.</a:t>
            </a:r>
            <a:endParaRPr lang="rw-RW" sz="1800" dirty="0"/>
          </a:p>
        </p:txBody>
      </p:sp>
      <p:sp>
        <p:nvSpPr>
          <p:cNvPr id="8" name="Shape 6"/>
          <p:cNvSpPr/>
          <p:nvPr/>
        </p:nvSpPr>
        <p:spPr>
          <a:xfrm>
            <a:off x="630936" y="3072384"/>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Amakuru ye, amahitamo ye. </a:t>
            </a:r>
            <a:r>
              <a:rPr lang="rw-RW" sz="1800" dirty="0">
                <a:solidFill>
                  <a:srgbClr val="203864"/>
                </a:solidFill>
                <a:latin typeface="Calibri" pitchFamily="34" charset="0"/>
                <a:ea typeface="Calibri" pitchFamily="34" charset="-122"/>
                <a:cs typeface="Calibri" pitchFamily="34" charset="-120"/>
              </a:rPr>
              <a:t>Ni we uhitamo abo abibwira, harimo niba azabibwira umugabo we n'igihe azabimubwirira.</a:t>
            </a:r>
            <a:endParaRPr lang="rw-RW" sz="1800" dirty="0"/>
          </a:p>
        </p:txBody>
      </p:sp>
      <p:sp>
        <p:nvSpPr>
          <p:cNvPr id="10" name="Shape 8"/>
          <p:cNvSpPr/>
          <p:nvPr/>
        </p:nvSpPr>
        <p:spPr>
          <a:xfrm>
            <a:off x="630936" y="3858768"/>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203864"/>
                </a:solidFill>
                <a:latin typeface="Calibri" pitchFamily="34" charset="0"/>
                <a:ea typeface="Calibri" pitchFamily="34" charset="-122"/>
                <a:cs typeface="Calibri" pitchFamily="34" charset="-120"/>
              </a:rPr>
              <a:t>Ntugakeke. </a:t>
            </a:r>
            <a:r>
              <a:rPr lang="rw-RW" sz="1800" dirty="0">
                <a:solidFill>
                  <a:srgbClr val="203864"/>
                </a:solidFill>
                <a:latin typeface="Calibri" pitchFamily="34" charset="0"/>
                <a:ea typeface="Calibri" pitchFamily="34" charset="-122"/>
                <a:cs typeface="Calibri" pitchFamily="34" charset="-120"/>
              </a:rPr>
              <a:t>Ntugire icyo uvuga ku mubano we, ku bana be cyangwa ku mubiri we atabanje kubivuga ubwe.</a:t>
            </a:r>
            <a:endParaRPr lang="rw-RW" sz="1800" dirty="0"/>
          </a:p>
        </p:txBody>
      </p:sp>
      <p:sp>
        <p:nvSpPr>
          <p:cNvPr id="12" name="Shape 10"/>
          <p:cNvSpPr/>
          <p:nvPr/>
        </p:nvSpPr>
        <p:spPr>
          <a:xfrm>
            <a:off x="630936" y="4645152"/>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3" name="Text 11"/>
          <p:cNvSpPr txBox="1"/>
          <p:nvPr/>
        </p:nvSpPr>
        <p:spPr>
          <a:xfrm>
            <a:off x="1115568" y="4471416"/>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Koresha amagambo y'icyubahiro. </a:t>
            </a:r>
            <a:r>
              <a:rPr lang="rw-RW" sz="1800" dirty="0">
                <a:solidFill>
                  <a:srgbClr val="203864"/>
                </a:solidFill>
                <a:latin typeface="Calibri" pitchFamily="34" charset="0"/>
                <a:ea typeface="Calibri" pitchFamily="34" charset="-122"/>
                <a:cs typeface="Calibri" pitchFamily="34" charset="-120"/>
              </a:rPr>
              <a:t>Vuga ku ndwara n'intambwe ikurikira, ntuzigere ucira umuntu urubanza ku buryo yabayeho.</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80</a:t>
            </a:r>
            <a:endParaRPr lang="rw-RW"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GUKURIKIRANA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Gukora ibishoboka byose kugira ngo bigerweho</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Agaciro kanini k'akazi kawe kari mu nshuro umuntu ajya kwa muganga koko.</a:t>
            </a:r>
            <a:endParaRPr lang="rw-RW" sz="1800" dirty="0"/>
          </a:p>
        </p:txBody>
      </p:sp>
      <p:sp>
        <p:nvSpPr>
          <p:cNvPr id="5" name="Shape 3"/>
          <p:cNvSpPr/>
          <p:nvPr/>
        </p:nvSpPr>
        <p:spPr>
          <a:xfrm>
            <a:off x="548640" y="19110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110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87452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Andika uwoherejwe, aho yoherejwe n'itariki yagenwe.</a:t>
            </a:r>
            <a:endParaRPr lang="rw-RW" sz="1800" dirty="0"/>
          </a:p>
        </p:txBody>
      </p:sp>
      <p:sp>
        <p:nvSpPr>
          <p:cNvPr id="8" name="Shape 6"/>
          <p:cNvSpPr/>
          <p:nvPr/>
        </p:nvSpPr>
        <p:spPr>
          <a:xfrm>
            <a:off x="548640" y="26974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0" name="Text 8"/>
          <p:cNvSpPr txBox="1"/>
          <p:nvPr/>
        </p:nvSpPr>
        <p:spPr>
          <a:xfrm>
            <a:off x="1115568" y="266090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Garuka nyuma y'umunsi mwemeranyijeho, umubaze niba yaragiye.</a:t>
            </a:r>
            <a:endParaRPr lang="rw-RW" sz="1800" dirty="0"/>
          </a:p>
        </p:txBody>
      </p:sp>
      <p:sp>
        <p:nvSpPr>
          <p:cNvPr id="11" name="Shape 9"/>
          <p:cNvSpPr/>
          <p:nvPr/>
        </p:nvSpPr>
        <p:spPr>
          <a:xfrm>
            <a:off x="548640" y="348386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548640" y="348386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3" name="Text 11"/>
          <p:cNvSpPr txBox="1"/>
          <p:nvPr/>
        </p:nvSpPr>
        <p:spPr>
          <a:xfrm>
            <a:off x="1115568" y="344728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Niba atagiye, mubaze impamvu utamushinja, kandi mufatanye gukemura inzitizi.</a:t>
            </a:r>
            <a:endParaRPr lang="rw-RW" sz="1800" dirty="0"/>
          </a:p>
        </p:txBody>
      </p:sp>
      <p:sp>
        <p:nvSpPr>
          <p:cNvPr id="14" name="Shape 12"/>
          <p:cNvSpPr/>
          <p:nvPr/>
        </p:nvSpPr>
        <p:spPr>
          <a:xfrm>
            <a:off x="548640" y="427024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548640" y="427024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6" name="Text 14"/>
          <p:cNvSpPr txBox="1"/>
          <p:nvPr/>
        </p:nvSpPr>
        <p:spPr>
          <a:xfrm>
            <a:off x="1115568" y="423367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Tanga amakuru ku kigo nderabuzima nk'uko ubisabwa, kugira ngo hatagira umuntu wibagirana muri gahunda.</a:t>
            </a:r>
            <a:endParaRPr lang="rw-RW" sz="1800"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81</a:t>
            </a:r>
            <a:endParaRPr lang="rw-RW"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IKIBAZO CYO MU MUDUGUDU</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Gusoza ikibazo: Uwimana Vestine</a:t>
            </a:r>
            <a:endParaRPr lang="rw-RW" sz="3000" dirty="0"/>
          </a:p>
        </p:txBody>
      </p:sp>
      <p:sp>
        <p:nvSpPr>
          <p:cNvPr id="8" name="Text 6"/>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9" name="Text 7"/>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82</a:t>
            </a:r>
            <a:endParaRPr lang="rw-RW"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IKIBAZO CY'UMURYANGO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Isomo ry'ingenzi kuri Vestine</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Ikibyimba nticyababazaga. </a:t>
            </a:r>
            <a:r>
              <a:rPr lang="rw-RW" sz="1800" dirty="0">
                <a:solidFill>
                  <a:srgbClr val="203864"/>
                </a:solidFill>
                <a:latin typeface="Calibri" pitchFamily="34" charset="0"/>
                <a:ea typeface="Calibri" pitchFamily="34" charset="-122"/>
                <a:cs typeface="Calibri" pitchFamily="34" charset="-120"/>
              </a:rPr>
              <a:t>Ni yo mpamvu yamaze amezi atatu atajya kwisuzumisha, kandi ni yo myizerere ikwiye gukosorwa cyane mu gace kawe.</a:t>
            </a:r>
            <a:endParaRPr lang="rw-RW" sz="1800" dirty="0"/>
          </a:p>
        </p:txBody>
      </p:sp>
      <p:sp>
        <p:nvSpPr>
          <p:cNvPr id="6" name="Shape 4"/>
          <p:cNvSpPr/>
          <p:nvPr/>
        </p:nvSpPr>
        <p:spPr>
          <a:xfrm>
            <a:off x="630936" y="2286000"/>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Ubwoba bwo gutakaza ibere bwatumye aguma mu rugo. </a:t>
            </a:r>
            <a:r>
              <a:rPr lang="rw-RW" sz="1800" dirty="0">
                <a:solidFill>
                  <a:srgbClr val="203864"/>
                </a:solidFill>
                <a:latin typeface="Calibri" pitchFamily="34" charset="0"/>
                <a:ea typeface="Calibri" pitchFamily="34" charset="-122"/>
                <a:cs typeface="Calibri" pitchFamily="34" charset="-120"/>
              </a:rPr>
              <a:t>Igisubizo cy'ukuri, atari isezerano, ni cyo cyatumye ajya ku kigo nderabuzima.</a:t>
            </a:r>
            <a:endParaRPr lang="rw-RW" sz="1800" dirty="0"/>
          </a:p>
        </p:txBody>
      </p:sp>
      <p:sp>
        <p:nvSpPr>
          <p:cNvPr id="8" name="Shape 6"/>
          <p:cNvSpPr/>
          <p:nvPr/>
        </p:nvSpPr>
        <p:spPr>
          <a:xfrm>
            <a:off x="630936" y="3072384"/>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Ubwoba bwe ku bijyanye no gufata agace gato k'ibere bwasubijwe. </a:t>
            </a:r>
            <a:r>
              <a:rPr lang="rw-RW" sz="1800" dirty="0">
                <a:solidFill>
                  <a:srgbClr val="203864"/>
                </a:solidFill>
                <a:latin typeface="Calibri" pitchFamily="34" charset="0"/>
                <a:ea typeface="Calibri" pitchFamily="34" charset="-122"/>
                <a:cs typeface="Calibri" pitchFamily="34" charset="-120"/>
              </a:rPr>
              <a:t>Iyo hataba icyo kiganiro, ntiyari kurangiza ibizamini.</a:t>
            </a:r>
            <a:endParaRPr lang="rw-RW" sz="1800" dirty="0"/>
          </a:p>
        </p:txBody>
      </p:sp>
      <p:sp>
        <p:nvSpPr>
          <p:cNvPr id="10" name="Shape 8"/>
          <p:cNvSpPr/>
          <p:nvPr/>
        </p:nvSpPr>
        <p:spPr>
          <a:xfrm>
            <a:off x="630936" y="3858768"/>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Umunsi w'isoko n'urugendo byari inzitizi nyazo. </a:t>
            </a:r>
            <a:r>
              <a:rPr lang="rw-RW" sz="1800" dirty="0">
                <a:solidFill>
                  <a:srgbClr val="203864"/>
                </a:solidFill>
                <a:latin typeface="Calibri" pitchFamily="34" charset="0"/>
                <a:ea typeface="Calibri" pitchFamily="34" charset="-122"/>
                <a:cs typeface="Calibri" pitchFamily="34" charset="-120"/>
              </a:rPr>
              <a:t>Kuzikemura ni byo byatumye koherezwa kwe kuvamo kujya kwa muganga koko.</a:t>
            </a:r>
            <a:endParaRPr lang="rw-RW" sz="1800" dirty="0"/>
          </a:p>
        </p:txBody>
      </p:sp>
      <p:sp>
        <p:nvSpPr>
          <p:cNvPr id="12" name="Shape 10"/>
          <p:cNvSpPr/>
          <p:nvPr/>
        </p:nvSpPr>
        <p:spPr>
          <a:xfrm>
            <a:off x="630936" y="4645152"/>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3" name="Text 11"/>
          <p:cNvSpPr txBox="1"/>
          <p:nvPr/>
        </p:nvSpPr>
        <p:spPr>
          <a:xfrm>
            <a:off x="1115568" y="4471416"/>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Ubuzima bwe bwite bwarubahijwe. </a:t>
            </a:r>
            <a:r>
              <a:rPr lang="rw-RW" sz="1800" dirty="0">
                <a:solidFill>
                  <a:srgbClr val="203864"/>
                </a:solidFill>
                <a:latin typeface="Calibri" pitchFamily="34" charset="0"/>
                <a:ea typeface="Calibri" pitchFamily="34" charset="-122"/>
                <a:cs typeface="Calibri" pitchFamily="34" charset="-120"/>
              </a:rPr>
              <a:t>Ni we wihitiyemo igihe cyo kubwira umugabo we, kandi ibyo byatumye akomeza kukwizera.</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83</a:t>
            </a:r>
            <a:endParaRPr lang="rw-RW"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1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afite ibere ritukura, ribyimba kandi rishyushye mu gihe cy'iminsi ine, ubu afite umuriro mwinshi. Ni iki kigomba gukorwa?</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Agomba gutegereza kugeza umutuku ushize</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Agomba kuruhuka, agasurwa mu kwezi gutaha</a:t>
            </a:r>
            <a:endParaRPr lang="rw-RW" sz="1800" dirty="0"/>
          </a:p>
        </p:txBody>
      </p:sp>
      <p:sp>
        <p:nvSpPr>
          <p:cNvPr id="9" name="Shape 7"/>
          <p:cNvSpPr/>
          <p:nvPr/>
        </p:nvSpPr>
        <p:spPr>
          <a:xfrm>
            <a:off x="548640" y="345643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Agomba gusuzumirwa ku kigo nderabuzima nta gutinda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Agomba guhabwa imiti y'ibyatsi, agakurikiranirwa mu rugo</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Ibere rihinduka vuba gutya rikeneye gusuzumwa nonaha. Hari impamvu nyinshi zishoboka, zimwe muri zo zikomeye, kandi kumenya impamvu nyayo si inshingano z'abaturage.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84</a:t>
            </a:r>
            <a:endParaRPr lang="rw-RW" sz="900" dirty="0"/>
          </a:p>
        </p:txBody>
      </p:sp>
    </p:spTree>
    <p:extLst>
      <p:ext uri="{BB962C8B-B14F-4D97-AF65-F5344CB8AC3E}">
        <p14:creationId xmlns:p14="http://schemas.microsoft.com/office/powerpoint/2010/main" val="4279820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2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 cy'ingirakamaro kurusha ibindi umujyanama w'ubuzima yakora nyuma yo kohereza umuntu?</a:t>
            </a:r>
            <a:endParaRPr lang="rw-RW" sz="2000" dirty="0"/>
          </a:p>
        </p:txBody>
      </p:sp>
      <p:sp>
        <p:nvSpPr>
          <p:cNvPr id="5" name="Shape 3"/>
          <p:cNvSpPr/>
          <p:nvPr/>
        </p:nvSpPr>
        <p:spPr>
          <a:xfrm>
            <a:off x="548640" y="187452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Kumubaza icyamubuza kugenda, gukemura ibishoboka, hanyuma ukagaruka kureba uko byagenze</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Kubwira umuryango we ibyabonetse kugira ngo bamuhatire kugenda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Kubimuharira wenyine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Kubivuga mu nama y'abaturage itaha kugira ngo abandi bamushishikarize</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Kohereza umuntu bigira akamaro gusa iyo yagiye kwa muganga koko. Kumenya inzitizi no kuyikemura ni cyo gice gifatika cy'akazi. Kubwira umuryango cyangwa kuvuga ikibazo cye mu ruhame bisenya ibanga rye, kandi bishobora gutuma atongera kukwizera.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85</a:t>
            </a:r>
            <a:endParaRPr lang="rw-RW" sz="900" dirty="0"/>
          </a:p>
        </p:txBody>
      </p:sp>
    </p:spTree>
    <p:extLst>
      <p:ext uri="{BB962C8B-B14F-4D97-AF65-F5344CB8AC3E}">
        <p14:creationId xmlns:p14="http://schemas.microsoft.com/office/powerpoint/2010/main" val="11304158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3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arabaza niba ku bitaro bazamukuraho ibere. Ni ikihe gisubizo cy'ukuri kandi gifasha?</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03864"/>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Kumubwira ko atagomba kubitekerezaho</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B   </a:t>
            </a:r>
            <a:r>
              <a:rPr lang="rw-RW" sz="1800" b="1" dirty="0">
                <a:solidFill>
                  <a:srgbClr val="5B7FA6"/>
                </a:solidFill>
                <a:latin typeface="Calibri" pitchFamily="34" charset="0"/>
                <a:ea typeface="Calibri" pitchFamily="34" charset="-122"/>
                <a:cs typeface="Calibri" pitchFamily="34" charset="-120"/>
              </a:rPr>
              <a:t>Kumusezeranya ko ibere rye ritazakurwaho</a:t>
            </a:r>
            <a:endParaRPr lang="rw-RW" sz="1800" dirty="0"/>
          </a:p>
        </p:txBody>
      </p:sp>
      <p:sp>
        <p:nvSpPr>
          <p:cNvPr id="9" name="Shape 7"/>
          <p:cNvSpPr/>
          <p:nvPr/>
        </p:nvSpPr>
        <p:spPr>
          <a:xfrm>
            <a:off x="548640" y="313639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Kumusobanurira ko ubuvuzi butandukana ku bantu, ko nta cyemezo gifatwa mbere y'ibizamini, kandi ko gukuraho ibere bidakorerwa abantu bose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203864"/>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Kumubwira ko nta kabuza ibere rye rizakurwaho</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Isezerano udashobora kubahiriza rishobora gusenya icyizere, kandi kumutera ubwoba bishobora gutuma aguma mu rugo. Ukuri ni uko ubuvuzi buhitwamo nyuma y'ibizamini, butaba bumwe kuri bose, kandi abantu benshi bagumana ibere ryabo.</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86</a:t>
            </a:r>
            <a:endParaRPr lang="rw-RW" sz="900" dirty="0"/>
          </a:p>
        </p:txBody>
      </p:sp>
    </p:spTree>
    <p:extLst>
      <p:ext uri="{BB962C8B-B14F-4D97-AF65-F5344CB8AC3E}">
        <p14:creationId xmlns:p14="http://schemas.microsoft.com/office/powerpoint/2010/main" val="422616674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4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Umuryango wizera ko iyi ndwara yatewe no gukubitwa ku ibere uyu mugore yagize umwaka ushize. Ubabwira iki?</a:t>
            </a:r>
            <a:endParaRPr lang="rw-RW" sz="2000" dirty="0"/>
          </a:p>
        </p:txBody>
      </p:sp>
      <p:sp>
        <p:nvSpPr>
          <p:cNvPr id="5" name="Shape 3"/>
          <p:cNvSpPr/>
          <p:nvPr/>
        </p:nvSpPr>
        <p:spPr>
          <a:xfrm>
            <a:off x="548640" y="187452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Ko gukomereka bishobora gutuma umuntu abona ikibyimba cyari gisanzwe gihari, ariko bidatera kanseri y'ibere</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Ko bavuga ukuri, kandi ko agomba kwirinda gukomereka mu gihe kizaza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Ko nta muntu n'umwe uzi icyo ari cyo cyose ku bitera iyi ndwara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Ko batagomba kubivugaho na gato</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Iyi myizerere irakunze kugaragara, kandi ituma imiryango ishakisha impamvu aho kujya kwisuzumisha. Kuyikosora mu bwitonzi bikuraho kwishinja, kandi bigatuma ikiganiro cyerekeza ku cyo gukora gikurikiyeho.</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87</a:t>
            </a:r>
            <a:endParaRPr lang="rw-RW" sz="900" dirty="0"/>
          </a:p>
        </p:txBody>
      </p:sp>
    </p:spTree>
    <p:extLst>
      <p:ext uri="{BB962C8B-B14F-4D97-AF65-F5344CB8AC3E}">
        <p14:creationId xmlns:p14="http://schemas.microsoft.com/office/powerpoint/2010/main" val="34723428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5 kuri 5</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akubwiye ibisubizo bye mu ibanga. Ni nde ushobora kubiganiraho na we?</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Abaturanyi be, kugira ngo bamushyigikire</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Abakozi b'ubuzima bamwitaho gusa, no mu rugero inshingano zawe zo gutanga raporo zibisaba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Umuntu wese wo mu mudugudu ubajije amakuru ye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Inama y'abaturage yose, kugira ngo abere abandi urugero</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Ibyo akubwira ni ibye. Kubisubiramo bikwirakwiza isoni, kandi byigisha abandi bagore bose bo mu mudugudu kuguhisha ibimenyetso byabo, ibyo bikaba binyuranye n'ibyo akazi kawe gakeneye.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88</a:t>
            </a:r>
            <a:endParaRPr lang="rw-RW" sz="900" dirty="0"/>
          </a:p>
        </p:txBody>
      </p:sp>
    </p:spTree>
    <p:extLst>
      <p:ext uri="{BB962C8B-B14F-4D97-AF65-F5344CB8AC3E}">
        <p14:creationId xmlns:p14="http://schemas.microsoft.com/office/powerpoint/2010/main" val="1295991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Ibintu by'ingenzi</a:t>
            </a:r>
            <a:endParaRPr lang="rw-RW" sz="3000" dirty="0"/>
          </a:p>
        </p:txBody>
      </p:sp>
      <p:sp>
        <p:nvSpPr>
          <p:cNvPr id="4" name="Shape 2"/>
          <p:cNvSpPr/>
          <p:nvPr/>
        </p:nvSpPr>
        <p:spPr>
          <a:xfrm>
            <a:off x="548640" y="1463040"/>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822960" y="1463040"/>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Ikibyimba gishya cyangwa indi mpinduka mu ibere bisaba gusuzumwa vuba, kandi ibere ritukuye rikabyimba vuba risaba kuvurwa nta gutinda.</a:t>
            </a:r>
            <a:endParaRPr lang="rw-RW" sz="1800" dirty="0"/>
          </a:p>
        </p:txBody>
      </p:sp>
      <p:sp>
        <p:nvSpPr>
          <p:cNvPr id="6" name="Shape 4"/>
          <p:cNvSpPr/>
          <p:nvPr/>
        </p:nvSpPr>
        <p:spPr>
          <a:xfrm>
            <a:off x="548640" y="2322576"/>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822960" y="2322576"/>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Kohereza umuntu bigira akamaro gusa iyo ageze kwa muganga, bityo menya inzitizi kandi uyikemure.</a:t>
            </a:r>
            <a:endParaRPr lang="rw-RW" sz="1800" dirty="0"/>
          </a:p>
        </p:txBody>
      </p:sp>
      <p:sp>
        <p:nvSpPr>
          <p:cNvPr id="8" name="Shape 6"/>
          <p:cNvSpPr/>
          <p:nvPr/>
        </p:nvSpPr>
        <p:spPr>
          <a:xfrm>
            <a:off x="548640" y="3182112"/>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22960" y="3182112"/>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Subiza ubwoba bwo kubagwa mu kuri, utamusezeranya ibyo udashobora kwemeza.</a:t>
            </a:r>
            <a:endParaRPr lang="rw-RW" sz="1800" dirty="0"/>
          </a:p>
        </p:txBody>
      </p:sp>
      <p:sp>
        <p:nvSpPr>
          <p:cNvPr id="10" name="Shape 8"/>
          <p:cNvSpPr/>
          <p:nvPr/>
        </p:nvSpPr>
        <p:spPr>
          <a:xfrm>
            <a:off x="548640" y="4041648"/>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822960" y="4041648"/>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Gukomereka, imyambaro n'imivumo ntibitera kanseri y'ibere, kandi iyi ndwara ntiyandura ku muntu ijya ku wundi.</a:t>
            </a:r>
            <a:endParaRPr lang="rw-RW" sz="1800" dirty="0"/>
          </a:p>
        </p:txBody>
      </p:sp>
      <p:sp>
        <p:nvSpPr>
          <p:cNvPr id="12" name="Shape 10"/>
          <p:cNvSpPr/>
          <p:nvPr/>
        </p:nvSpPr>
        <p:spPr>
          <a:xfrm>
            <a:off x="548640" y="4901184"/>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3" name="Text 11"/>
          <p:cNvSpPr txBox="1"/>
          <p:nvPr/>
        </p:nvSpPr>
        <p:spPr>
          <a:xfrm>
            <a:off x="822960" y="4901184"/>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Ibyo umuntu akubwiye biguma mu ibanga, kandi ni we uhitamo abandi bagomba kubimenya.</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89</a:t>
            </a:r>
            <a:endParaRPr lang="rw-RW"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3 | KWIYUMVIRA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Kwiyumvira</a:t>
            </a:r>
            <a:endParaRPr lang="rw-RW" sz="3000" dirty="0"/>
          </a:p>
        </p:txBody>
      </p:sp>
      <p:sp>
        <p:nvSpPr>
          <p:cNvPr id="4" name="Text 2"/>
          <p:cNvSpPr txBox="1"/>
          <p:nvPr/>
        </p:nvSpPr>
        <p:spPr>
          <a:xfrm>
            <a:off x="548640" y="1371600"/>
            <a:ext cx="11091672" cy="36576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Amabwiriza ku wiga: </a:t>
            </a:r>
            <a:r>
              <a:rPr lang="rw-RW" sz="1800" dirty="0">
                <a:solidFill>
                  <a:srgbClr val="203864"/>
                </a:solidFill>
                <a:latin typeface="Calibri" pitchFamily="34" charset="0"/>
                <a:ea typeface="Calibri" pitchFamily="34" charset="-122"/>
                <a:cs typeface="Calibri" pitchFamily="34" charset="-120"/>
              </a:rPr>
              <a:t>Andika igisubizo cyawe mu gasanduku k'inyandiko. Ibi bisubizo ntibihabwa amanota.</a:t>
            </a:r>
            <a:endParaRPr lang="rw-RW" sz="1800" dirty="0"/>
          </a:p>
        </p:txBody>
      </p:sp>
      <p:sp>
        <p:nvSpPr>
          <p:cNvPr id="5" name="Shape 3"/>
          <p:cNvSpPr/>
          <p:nvPr/>
        </p:nvSpPr>
        <p:spPr>
          <a:xfrm>
            <a:off x="548640" y="1965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65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947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gute wafasha umuntu wo mu gace kawe kugera koko kwa muganga nyuma yo kumwohereza kubera impinduka mu ibere?</a:t>
            </a:r>
            <a:endParaRPr lang="rw-RW" sz="1800" dirty="0"/>
          </a:p>
        </p:txBody>
      </p:sp>
      <p:sp>
        <p:nvSpPr>
          <p:cNvPr id="8" name="Shape 6"/>
          <p:cNvSpPr/>
          <p:nvPr/>
        </p:nvSpPr>
        <p:spPr>
          <a:xfrm>
            <a:off x="1115568" y="2441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9" name="Shape 7"/>
          <p:cNvSpPr/>
          <p:nvPr/>
        </p:nvSpPr>
        <p:spPr>
          <a:xfrm>
            <a:off x="548640" y="3108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0" name="Text 8"/>
          <p:cNvSpPr txBox="1"/>
          <p:nvPr/>
        </p:nvSpPr>
        <p:spPr>
          <a:xfrm>
            <a:off x="548640" y="3108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1" name="Text 9"/>
          <p:cNvSpPr txBox="1"/>
          <p:nvPr/>
        </p:nvSpPr>
        <p:spPr>
          <a:xfrm>
            <a:off x="1115568" y="3090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iki wabwira umuntu ufite ubwoba ko isuzuma rizatuma ibere rye rikurwaho?</a:t>
            </a:r>
            <a:endParaRPr lang="rw-RW" sz="1800" dirty="0"/>
          </a:p>
        </p:txBody>
      </p:sp>
      <p:sp>
        <p:nvSpPr>
          <p:cNvPr id="12" name="Shape 10"/>
          <p:cNvSpPr/>
          <p:nvPr/>
        </p:nvSpPr>
        <p:spPr>
          <a:xfrm>
            <a:off x="1115568" y="3584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3" name="Shape 11"/>
          <p:cNvSpPr/>
          <p:nvPr/>
        </p:nvSpPr>
        <p:spPr>
          <a:xfrm>
            <a:off x="548640" y="4251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4" name="Text 12"/>
          <p:cNvSpPr txBox="1"/>
          <p:nvPr/>
        </p:nvSpPr>
        <p:spPr>
          <a:xfrm>
            <a:off x="548640" y="4251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5" name="Text 13"/>
          <p:cNvSpPr txBox="1"/>
          <p:nvPr/>
        </p:nvSpPr>
        <p:spPr>
          <a:xfrm>
            <a:off x="1115568" y="4233672"/>
            <a:ext cx="10524744" cy="457200"/>
          </a:xfrm>
          <a:prstGeom prst="rect">
            <a:avLst/>
          </a:prstGeom>
          <a:noFill/>
          <a:ln/>
        </p:spPr>
        <p:txBody>
          <a:bodyPr wrap="square" lIns="0" tIns="0" rIns="0" bIns="0" rtlCol="0" anchor="t">
            <a:normAutofit fontScale="85500"/>
          </a:bodyPr>
          <a:lstStyle/>
          <a:p>
            <a:pPr marL="0" indent="0">
              <a:buNone/>
            </a:pPr>
            <a:r>
              <a:rPr lang="rw-RW" sz="1800" dirty="0">
                <a:solidFill>
                  <a:srgbClr val="203864"/>
                </a:solidFill>
                <a:latin typeface="Calibri" pitchFamily="34" charset="0"/>
                <a:ea typeface="Calibri" pitchFamily="34" charset="-122"/>
                <a:cs typeface="Calibri" pitchFamily="34" charset="-120"/>
              </a:rPr>
              <a:t>Ni iyihe myizerere kuri kanseri y'ibere ikomeye cyane mu gace utuyemo, kandi ni gute wayisubiza mu buryo bw'icyubahiro?</a:t>
            </a:r>
            <a:endParaRPr lang="rw-RW" sz="1800" dirty="0"/>
          </a:p>
        </p:txBody>
      </p:sp>
      <p:sp>
        <p:nvSpPr>
          <p:cNvPr id="16" name="Shape 14"/>
          <p:cNvSpPr/>
          <p:nvPr/>
        </p:nvSpPr>
        <p:spPr>
          <a:xfrm>
            <a:off x="1115568" y="4727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90</a:t>
            </a:r>
            <a:endParaRPr lang="rw-RW"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91">
    <p:bg>
      <p:bgPr>
        <a:solidFill>
          <a:srgbClr val="1C3557"/>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463040"/>
          </a:xfrm>
          <a:prstGeom prst="rect">
            <a:avLst/>
          </a:prstGeom>
          <a:noFill/>
          <a:ln/>
        </p:spPr>
        <p:txBody>
          <a:bodyPr wrap="square" lIns="0" tIns="0" rIns="0" bIns="0" rtlCol="0" anchor="ctr"/>
          <a:lstStyle/>
          <a:p>
            <a:pPr marL="0" indent="0">
              <a:buNone/>
            </a:pPr>
            <a:r>
              <a:rPr lang="rw-RW" sz="9000" b="1" dirty="0">
                <a:solidFill>
                  <a:srgbClr val="3F6795"/>
                </a:solidFill>
                <a:latin typeface="Calibri" pitchFamily="34" charset="0"/>
                <a:ea typeface="Calibri" pitchFamily="34" charset="-122"/>
                <a:cs typeface="Calibri" pitchFamily="34" charset="-120"/>
              </a:rPr>
              <a:t>4</a:t>
            </a:r>
            <a:endParaRPr lang="rw-RW" sz="9000" dirty="0"/>
          </a:p>
        </p:txBody>
      </p:sp>
      <p:sp>
        <p:nvSpPr>
          <p:cNvPr id="3" name="Text 1"/>
          <p:cNvSpPr txBox="1"/>
          <p:nvPr/>
        </p:nvSpPr>
        <p:spPr>
          <a:xfrm>
            <a:off x="548640" y="2834640"/>
            <a:ext cx="11091672" cy="320040"/>
          </a:xfrm>
          <a:prstGeom prst="rect">
            <a:avLst/>
          </a:prstGeom>
          <a:noFill/>
          <a:ln/>
        </p:spPr>
        <p:txBody>
          <a:bodyPr wrap="square" lIns="0" tIns="0" rIns="0" bIns="0" rtlCol="0" anchor="ctr"/>
          <a:lstStyle/>
          <a:p>
            <a:pPr marL="0" indent="0">
              <a:buNone/>
            </a:pPr>
            <a:r>
              <a:rPr lang="rw-RW" sz="1300" b="1" kern="0" spc="400" dirty="0">
                <a:solidFill>
                  <a:srgbClr val="9FBAD8"/>
                </a:solidFill>
                <a:latin typeface="Calibri" pitchFamily="34" charset="0"/>
                <a:ea typeface="Calibri" pitchFamily="34" charset="-122"/>
                <a:cs typeface="Calibri" pitchFamily="34" charset="-120"/>
              </a:rPr>
              <a:t>I G I C E C Y A 4</a:t>
            </a:r>
            <a:endParaRPr lang="rw-RW" sz="1300" dirty="0"/>
          </a:p>
        </p:txBody>
      </p:sp>
      <p:sp>
        <p:nvSpPr>
          <p:cNvPr id="4" name="Text 2"/>
          <p:cNvSpPr txBox="1"/>
          <p:nvPr/>
        </p:nvSpPr>
        <p:spPr>
          <a:xfrm>
            <a:off x="548640" y="3200400"/>
            <a:ext cx="10424160" cy="1005840"/>
          </a:xfrm>
          <a:prstGeom prst="rect">
            <a:avLst/>
          </a:prstGeom>
          <a:noFill/>
          <a:ln/>
        </p:spPr>
        <p:txBody>
          <a:bodyPr wrap="square" lIns="0" tIns="0" rIns="0" bIns="0" rtlCol="0" anchor="ctr">
            <a:normAutofit fontScale="95000"/>
          </a:bodyPr>
          <a:lstStyle/>
          <a:p>
            <a:pPr marL="0" indent="0">
              <a:buNone/>
            </a:pPr>
            <a:r>
              <a:rPr lang="rw-RW" sz="4000" b="1" dirty="0">
                <a:solidFill>
                  <a:srgbClr val="FFFFFF"/>
                </a:solidFill>
                <a:latin typeface="Calibri" pitchFamily="34" charset="0"/>
                <a:ea typeface="Calibri" pitchFamily="34" charset="-122"/>
                <a:cs typeface="Calibri" pitchFamily="34" charset="-120"/>
              </a:rPr>
              <a:t>Uko kanseri y'ibere yemezwa n'uko ivurwa</a:t>
            </a:r>
            <a:endParaRPr lang="rw-RW" sz="4000" dirty="0"/>
          </a:p>
        </p:txBody>
      </p:sp>
      <p:sp>
        <p:nvSpPr>
          <p:cNvPr id="5" name="Text 3"/>
          <p:cNvSpPr txBox="1"/>
          <p:nvPr/>
        </p:nvSpPr>
        <p:spPr>
          <a:xfrm>
            <a:off x="548640" y="4343400"/>
            <a:ext cx="9601200" cy="731520"/>
          </a:xfrm>
          <a:prstGeom prst="rect">
            <a:avLst/>
          </a:prstGeom>
          <a:noFill/>
          <a:ln/>
        </p:spPr>
        <p:txBody>
          <a:bodyPr wrap="square" lIns="0" tIns="0" rIns="0" bIns="0" rtlCol="0" anchor="ctr"/>
          <a:lstStyle/>
          <a:p>
            <a:pPr marL="0" indent="0">
              <a:buNone/>
            </a:pPr>
            <a:r>
              <a:rPr lang="rw-RW" sz="1900" dirty="0">
                <a:solidFill>
                  <a:srgbClr val="DCE7F5"/>
                </a:solidFill>
                <a:latin typeface="Calibri" pitchFamily="34" charset="0"/>
                <a:ea typeface="Calibri" pitchFamily="34" charset="-122"/>
                <a:cs typeface="Calibri" pitchFamily="34" charset="-120"/>
              </a:rPr>
              <a:t>Ibikorerwa ku bitaro, mu magambo umuntu n'umuryango we bashobora kumva.</a:t>
            </a:r>
            <a:endParaRPr lang="rw-RW" sz="1900" dirty="0"/>
          </a:p>
        </p:txBody>
      </p:sp>
      <p:sp>
        <p:nvSpPr>
          <p:cNvPr id="6" name="Text 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E9AC0"/>
                </a:solidFill>
                <a:latin typeface="Calibri" pitchFamily="34" charset="0"/>
                <a:ea typeface="Calibri" pitchFamily="34" charset="-122"/>
                <a:cs typeface="Calibri" pitchFamily="34" charset="-120"/>
              </a:rPr>
              <a:t>Igishushanyo cya 91</a:t>
            </a:r>
            <a:endParaRPr lang="rw-RW"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Intego zo kwiga</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Nyuma y'iri somo, uzaba ushobora:</a:t>
            </a:r>
            <a:endParaRPr lang="rw-RW" sz="1800" dirty="0"/>
          </a:p>
        </p:txBody>
      </p:sp>
      <p:sp>
        <p:nvSpPr>
          <p:cNvPr id="5" name="Shape 3"/>
          <p:cNvSpPr/>
          <p:nvPr/>
        </p:nvSpPr>
        <p:spPr>
          <a:xfrm>
            <a:off x="548640" y="19110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110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87452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mu buryo bworoshye uko umukozi w'ubuzima amenya niba umuntu arwaye kanseri y'ibere.</a:t>
            </a:r>
            <a:endParaRPr lang="rw-RW" sz="1800" dirty="0"/>
          </a:p>
        </p:txBody>
      </p:sp>
      <p:sp>
        <p:nvSpPr>
          <p:cNvPr id="8" name="Shape 6"/>
          <p:cNvSpPr/>
          <p:nvPr/>
        </p:nvSpPr>
        <p:spPr>
          <a:xfrm>
            <a:off x="548640" y="26974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0" name="Text 8"/>
          <p:cNvSpPr txBox="1"/>
          <p:nvPr/>
        </p:nvSpPr>
        <p:spPr>
          <a:xfrm>
            <a:off x="1115568" y="266090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ko isuzuma rya laboratwari ku gace gato k'uturemangingo tw'ibere ari ryo ryonyine ritanga igisubizo cya nyuma.</a:t>
            </a:r>
            <a:endParaRPr lang="rw-RW" sz="1800" dirty="0"/>
          </a:p>
        </p:txBody>
      </p:sp>
      <p:sp>
        <p:nvSpPr>
          <p:cNvPr id="11" name="Shape 9"/>
          <p:cNvSpPr/>
          <p:nvPr/>
        </p:nvSpPr>
        <p:spPr>
          <a:xfrm>
            <a:off x="548640" y="348386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548640" y="348386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3" name="Text 11"/>
          <p:cNvSpPr txBox="1"/>
          <p:nvPr/>
        </p:nvSpPr>
        <p:spPr>
          <a:xfrm>
            <a:off x="1115568" y="344728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muri rusange uburyo bw'ingenzi bwo kuvura kanseri y'ibere.</a:t>
            </a:r>
            <a:endParaRPr lang="rw-RW" sz="1800" dirty="0"/>
          </a:p>
        </p:txBody>
      </p:sp>
      <p:sp>
        <p:nvSpPr>
          <p:cNvPr id="14" name="Shape 12"/>
          <p:cNvSpPr/>
          <p:nvPr/>
        </p:nvSpPr>
        <p:spPr>
          <a:xfrm>
            <a:off x="548640" y="427024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548640" y="427024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6" name="Text 14"/>
          <p:cNvSpPr txBox="1"/>
          <p:nvPr/>
        </p:nvSpPr>
        <p:spPr>
          <a:xfrm>
            <a:off x="1115568" y="423367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impamvu abantu babiri barwaye kanseri y'ibere bashobora kuvurwa mu buryo butandukanye.</a:t>
            </a:r>
            <a:endParaRPr lang="rw-RW" sz="1800" dirty="0"/>
          </a:p>
        </p:txBody>
      </p:sp>
      <p:sp>
        <p:nvSpPr>
          <p:cNvPr id="17" name="Shape 15"/>
          <p:cNvSpPr/>
          <p:nvPr/>
        </p:nvSpPr>
        <p:spPr>
          <a:xfrm>
            <a:off x="548640" y="505663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8" name="Text 16"/>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9" name="Text 17"/>
          <p:cNvSpPr txBox="1"/>
          <p:nvPr/>
        </p:nvSpPr>
        <p:spPr>
          <a:xfrm>
            <a:off x="1115568" y="5020056"/>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Gusubiza impungenge zikunze kugaragara ku bijyanye n'ibizamini n'ubuvuzi bwo ku bitaro.</a:t>
            </a:r>
            <a:endParaRPr lang="rw-RW" sz="1800" dirty="0"/>
          </a:p>
        </p:txBody>
      </p:sp>
      <p:sp>
        <p:nvSpPr>
          <p:cNvPr id="20" name="Text 1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1" name="Text 1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92</a:t>
            </a:r>
            <a:endParaRPr lang="rw-RW"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ISUZUMA</a:t>
            </a:r>
            <a:endParaRPr lang="rw-RW" sz="1000" dirty="0"/>
          </a:p>
        </p:txBody>
      </p:sp>
      <p:sp>
        <p:nvSpPr>
          <p:cNvPr id="3" name="Text 1"/>
          <p:cNvSpPr txBox="1"/>
          <p:nvPr/>
        </p:nvSpPr>
        <p:spPr>
          <a:xfrm>
            <a:off x="548640" y="781164"/>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Uko wabona igisubizo - Igice cya 1</a:t>
            </a:r>
            <a:endParaRPr lang="rw-RW" sz="3000" dirty="0"/>
          </a:p>
        </p:txBody>
      </p:sp>
      <p:sp>
        <p:nvSpPr>
          <p:cNvPr id="8" name="Text 6"/>
          <p:cNvSpPr txBox="1"/>
          <p:nvPr/>
        </p:nvSpPr>
        <p:spPr>
          <a:xfrm>
            <a:off x="4026408" y="3618411"/>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3" name="Text 11"/>
          <p:cNvSpPr txBox="1"/>
          <p:nvPr/>
        </p:nvSpPr>
        <p:spPr>
          <a:xfrm>
            <a:off x="7833360" y="3618411"/>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8" name="Shape 16"/>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9" name="Text 17"/>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Icyo wavuga: </a:t>
            </a:r>
            <a:r>
              <a:rPr lang="rw-RW" sz="1800" dirty="0">
                <a:solidFill>
                  <a:srgbClr val="203864"/>
                </a:solidFill>
                <a:latin typeface="Calibri" pitchFamily="34" charset="0"/>
                <a:ea typeface="Calibri" pitchFamily="34" charset="-122"/>
                <a:cs typeface="Calibri" pitchFamily="34" charset="-120"/>
              </a:rPr>
              <a:t>Izi ntambwe zifasha kumenya impinduka ziteye inkeke, ariko ntizemeza ko ari kanseri.</a:t>
            </a:r>
            <a:endParaRPr lang="rw-RW" sz="1800" dirty="0"/>
          </a:p>
        </p:txBody>
      </p:sp>
      <p:sp>
        <p:nvSpPr>
          <p:cNvPr id="20" name="Text 1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1" name="Text 1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93</a:t>
            </a:r>
            <a:endParaRPr lang="rw-RW" sz="900" dirty="0"/>
          </a:p>
        </p:txBody>
      </p:sp>
      <p:grpSp>
        <p:nvGrpSpPr>
          <p:cNvPr id="26" name="Grupo 25">
            <a:extLst>
              <a:ext uri="{FF2B5EF4-FFF2-40B4-BE49-F238E27FC236}">
                <a16:creationId xmlns:a16="http://schemas.microsoft.com/office/drawing/2014/main" id="{79E87E96-9549-C437-D914-30ACFB8C83E6}"/>
              </a:ext>
            </a:extLst>
          </p:cNvPr>
          <p:cNvGrpSpPr/>
          <p:nvPr/>
        </p:nvGrpSpPr>
        <p:grpSpPr>
          <a:xfrm>
            <a:off x="4355592" y="1612773"/>
            <a:ext cx="3506041" cy="3589878"/>
            <a:chOff x="4355592" y="1612773"/>
            <a:chExt cx="3506041" cy="3589878"/>
          </a:xfrm>
        </p:grpSpPr>
        <p:sp>
          <p:nvSpPr>
            <p:cNvPr id="9" name="Shape 7"/>
            <p:cNvSpPr/>
            <p:nvPr/>
          </p:nvSpPr>
          <p:spPr>
            <a:xfrm>
              <a:off x="4355592" y="1612773"/>
              <a:ext cx="3477768" cy="3589878"/>
            </a:xfrm>
            <a:prstGeom prst="roundRect">
              <a:avLst>
                <a:gd name="adj" fmla="val 2667"/>
              </a:avLst>
            </a:prstGeom>
            <a:solidFill>
              <a:srgbClr val="F3F7FC"/>
            </a:solidFill>
            <a:ln w="12700">
              <a:solidFill>
                <a:srgbClr val="D3E1F2"/>
              </a:solidFill>
              <a:prstDash val="solid"/>
            </a:ln>
          </p:spPr>
          <p:txBody>
            <a:bodyPr/>
            <a:lstStyle/>
            <a:p>
              <a:endParaRPr lang="rw-RW" dirty="0"/>
            </a:p>
          </p:txBody>
        </p:sp>
        <p:sp>
          <p:nvSpPr>
            <p:cNvPr id="10" name="Shape 8"/>
            <p:cNvSpPr/>
            <p:nvPr/>
          </p:nvSpPr>
          <p:spPr>
            <a:xfrm>
              <a:off x="4436472" y="1798755"/>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4449354" y="179263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2" name="Text 10"/>
            <p:cNvSpPr txBox="1"/>
            <p:nvPr/>
          </p:nvSpPr>
          <p:spPr>
            <a:xfrm>
              <a:off x="4942821" y="1838564"/>
              <a:ext cx="2918812" cy="1773070"/>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Isuzuma ry'amabere rikorwa n'umukozi w'ubuzima (CBE): </a:t>
              </a:r>
              <a:r>
                <a:rPr lang="rw-RW" sz="1800" dirty="0">
                  <a:solidFill>
                    <a:srgbClr val="203864"/>
                  </a:solidFill>
                  <a:latin typeface="Calibri" pitchFamily="34" charset="0"/>
                  <a:ea typeface="Calibri" pitchFamily="34" charset="-122"/>
                  <a:cs typeface="Calibri" pitchFamily="34" charset="-120"/>
                </a:rPr>
                <a:t>Amabere yombi n'ukwaha kwombi bisuzumwa mu ibanga n'umukozi w'ubuzima wabihuguriwe.</a:t>
              </a:r>
              <a:endParaRPr lang="rw-RW" sz="1800" dirty="0"/>
            </a:p>
          </p:txBody>
        </p:sp>
        <p:pic>
          <p:nvPicPr>
            <p:cNvPr id="23" name="Picture 22">
              <a:extLst>
                <a:ext uri="{FF2B5EF4-FFF2-40B4-BE49-F238E27FC236}">
                  <a16:creationId xmlns:a16="http://schemas.microsoft.com/office/drawing/2014/main" id="{D823A5CA-5916-F78F-0C77-B33F7B965561}"/>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4906702" y="3611634"/>
              <a:ext cx="2375548" cy="1501017"/>
            </a:xfrm>
            <a:prstGeom prst="rect">
              <a:avLst/>
            </a:prstGeom>
          </p:spPr>
        </p:pic>
      </p:grpSp>
      <p:grpSp>
        <p:nvGrpSpPr>
          <p:cNvPr id="24" name="Grupo 23">
            <a:extLst>
              <a:ext uri="{FF2B5EF4-FFF2-40B4-BE49-F238E27FC236}">
                <a16:creationId xmlns:a16="http://schemas.microsoft.com/office/drawing/2014/main" id="{D1FD097D-4EFE-DBB9-8C3C-D82EB9F6A856}"/>
              </a:ext>
            </a:extLst>
          </p:cNvPr>
          <p:cNvGrpSpPr/>
          <p:nvPr/>
        </p:nvGrpSpPr>
        <p:grpSpPr>
          <a:xfrm>
            <a:off x="548640" y="1612772"/>
            <a:ext cx="3624252" cy="3589879"/>
            <a:chOff x="548640" y="1612772"/>
            <a:chExt cx="3624252" cy="3589879"/>
          </a:xfrm>
        </p:grpSpPr>
        <p:sp>
          <p:nvSpPr>
            <p:cNvPr id="4" name="Shape 2"/>
            <p:cNvSpPr/>
            <p:nvPr/>
          </p:nvSpPr>
          <p:spPr>
            <a:xfrm>
              <a:off x="548640" y="1612772"/>
              <a:ext cx="3477768" cy="3589879"/>
            </a:xfrm>
            <a:prstGeom prst="roundRect">
              <a:avLst>
                <a:gd name="adj" fmla="val 2667"/>
              </a:avLst>
            </a:prstGeom>
            <a:solidFill>
              <a:srgbClr val="F3F7FC"/>
            </a:solidFill>
            <a:ln w="12700">
              <a:solidFill>
                <a:srgbClr val="D3E1F2"/>
              </a:solidFill>
              <a:prstDash val="solid"/>
            </a:ln>
          </p:spPr>
          <p:txBody>
            <a:bodyPr/>
            <a:lstStyle/>
            <a:p>
              <a:endParaRPr lang="rw-RW" dirty="0"/>
            </a:p>
          </p:txBody>
        </p:sp>
        <p:sp>
          <p:nvSpPr>
            <p:cNvPr id="5" name="Shape 3"/>
            <p:cNvSpPr/>
            <p:nvPr/>
          </p:nvSpPr>
          <p:spPr>
            <a:xfrm>
              <a:off x="634926" y="1748419"/>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647808" y="1748419"/>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097460" y="1792632"/>
              <a:ext cx="3075432" cy="1555899"/>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Ibibazo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Umukozi w'ubuzima abaza icyahindutse, igihe byatangiriye, n'uko byagiye byiyongera.</a:t>
              </a:r>
              <a:endParaRPr lang="rw-RW" sz="1800" dirty="0"/>
            </a:p>
          </p:txBody>
        </p:sp>
        <p:pic>
          <p:nvPicPr>
            <p:cNvPr id="25" name="Picture 24">
              <a:extLst>
                <a:ext uri="{FF2B5EF4-FFF2-40B4-BE49-F238E27FC236}">
                  <a16:creationId xmlns:a16="http://schemas.microsoft.com/office/drawing/2014/main" id="{749880F3-6E35-55C9-6129-AD6C37A26A29}"/>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888274" y="3348531"/>
              <a:ext cx="2798499" cy="1764120"/>
            </a:xfrm>
            <a:prstGeom prst="rect">
              <a:avLst/>
            </a:prstGeom>
          </p:spPr>
        </p:pic>
      </p:grpSp>
      <p:grpSp>
        <p:nvGrpSpPr>
          <p:cNvPr id="27" name="Grupo 26">
            <a:extLst>
              <a:ext uri="{FF2B5EF4-FFF2-40B4-BE49-F238E27FC236}">
                <a16:creationId xmlns:a16="http://schemas.microsoft.com/office/drawing/2014/main" id="{1A8D42B2-3E7A-4E78-2D17-7172D320B28B}"/>
              </a:ext>
            </a:extLst>
          </p:cNvPr>
          <p:cNvGrpSpPr/>
          <p:nvPr/>
        </p:nvGrpSpPr>
        <p:grpSpPr>
          <a:xfrm>
            <a:off x="8162544" y="1612772"/>
            <a:ext cx="3477768" cy="3650265"/>
            <a:chOff x="8162544" y="1612772"/>
            <a:chExt cx="3477768" cy="3650265"/>
          </a:xfrm>
        </p:grpSpPr>
        <p:sp>
          <p:nvSpPr>
            <p:cNvPr id="14" name="Shape 12"/>
            <p:cNvSpPr/>
            <p:nvPr/>
          </p:nvSpPr>
          <p:spPr>
            <a:xfrm>
              <a:off x="8162544" y="1612772"/>
              <a:ext cx="3477768" cy="3650265"/>
            </a:xfrm>
            <a:prstGeom prst="roundRect">
              <a:avLst>
                <a:gd name="adj" fmla="val 2667"/>
              </a:avLst>
            </a:prstGeom>
            <a:solidFill>
              <a:srgbClr val="F3F7FC"/>
            </a:solidFill>
            <a:ln w="12700">
              <a:solidFill>
                <a:srgbClr val="D3E1F2"/>
              </a:solidFill>
              <a:prstDash val="solid"/>
            </a:ln>
          </p:spPr>
          <p:txBody>
            <a:bodyPr/>
            <a:lstStyle/>
            <a:p>
              <a:endParaRPr lang="rw-RW" dirty="0"/>
            </a:p>
          </p:txBody>
        </p:sp>
        <p:sp>
          <p:nvSpPr>
            <p:cNvPr id="15" name="Shape 13"/>
            <p:cNvSpPr/>
            <p:nvPr/>
          </p:nvSpPr>
          <p:spPr>
            <a:xfrm>
              <a:off x="8201363" y="1770805"/>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6" name="Text 14"/>
            <p:cNvSpPr txBox="1"/>
            <p:nvPr/>
          </p:nvSpPr>
          <p:spPr>
            <a:xfrm>
              <a:off x="8190817" y="1770891"/>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7" name="Text 15"/>
            <p:cNvSpPr txBox="1"/>
            <p:nvPr/>
          </p:nvSpPr>
          <p:spPr>
            <a:xfrm>
              <a:off x="8729702" y="1838564"/>
              <a:ext cx="2814490" cy="1448332"/>
            </a:xfrm>
            <a:prstGeom prst="rect">
              <a:avLst/>
            </a:prstGeom>
            <a:noFill/>
            <a:ln/>
          </p:spPr>
          <p:txBody>
            <a:bodyPr wrap="square" lIns="0" tIns="0" rIns="0" bIns="0" rtlCol="0" anchor="t">
              <a:normAutofit fontScale="91500" lnSpcReduction="15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Amafoto y'amabere</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Mammography ifata amafoto y'amabere hakoreshejwe X-ray.</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Echographie (ultrasound) ireba neza ikibyimba cyangwa indi mpinduka.</a:t>
              </a:r>
              <a:endParaRPr lang="rw-RW" sz="1800" dirty="0"/>
            </a:p>
          </p:txBody>
        </p:sp>
        <p:pic>
          <p:nvPicPr>
            <p:cNvPr id="22" name="Imagen 21">
              <a:extLst>
                <a:ext uri="{FF2B5EF4-FFF2-40B4-BE49-F238E27FC236}">
                  <a16:creationId xmlns:a16="http://schemas.microsoft.com/office/drawing/2014/main" id="{EB05BC1D-EC36-8D5D-8613-4E103D538CB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822607" y="3734609"/>
              <a:ext cx="2157642" cy="1438428"/>
            </a:xfrm>
            <a:prstGeom prst="rect">
              <a:avLst/>
            </a:prstGeom>
          </p:spPr>
        </p:pic>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ISUZUMA</a:t>
            </a:r>
            <a:endParaRPr lang="rw-RW" sz="1000" dirty="0"/>
          </a:p>
        </p:txBody>
      </p:sp>
      <p:sp>
        <p:nvSpPr>
          <p:cNvPr id="3" name="Text 1"/>
          <p:cNvSpPr txBox="1"/>
          <p:nvPr/>
        </p:nvSpPr>
        <p:spPr>
          <a:xfrm>
            <a:off x="548640" y="732177"/>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Uko wabona igisubizo - Igice cya 2</a:t>
            </a:r>
            <a:endParaRPr lang="rw-RW" sz="3000" dirty="0"/>
          </a:p>
        </p:txBody>
      </p:sp>
      <p:sp>
        <p:nvSpPr>
          <p:cNvPr id="8" name="Text 6"/>
          <p:cNvSpPr txBox="1"/>
          <p:nvPr/>
        </p:nvSpPr>
        <p:spPr>
          <a:xfrm>
            <a:off x="4026408" y="3406146"/>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3" name="Text 11"/>
          <p:cNvSpPr txBox="1"/>
          <p:nvPr/>
        </p:nvSpPr>
        <p:spPr>
          <a:xfrm>
            <a:off x="7833360" y="3406146"/>
            <a:ext cx="329184" cy="457200"/>
          </a:xfrm>
          <a:prstGeom prst="rect">
            <a:avLst/>
          </a:prstGeom>
          <a:noFill/>
          <a:ln/>
        </p:spPr>
        <p:txBody>
          <a:bodyPr wrap="square" lIns="0" tIns="0" rIns="0" bIns="0" rtlCol="0" anchor="ctr"/>
          <a:lstStyle/>
          <a:p>
            <a:pPr marL="0" indent="0" algn="ctr">
              <a:buNone/>
            </a:pPr>
            <a:r>
              <a:rPr lang="rw-RW" sz="2200" b="1" dirty="0">
                <a:solidFill>
                  <a:srgbClr val="9FBAD8"/>
                </a:solidFill>
                <a:latin typeface="Calibri" pitchFamily="34" charset="0"/>
                <a:ea typeface="Calibri" pitchFamily="34" charset="-122"/>
                <a:cs typeface="Calibri" pitchFamily="34" charset="-120"/>
              </a:rPr>
              <a:t>&gt;</a:t>
            </a:r>
            <a:endParaRPr lang="rw-RW" sz="2200" dirty="0"/>
          </a:p>
        </p:txBody>
      </p:sp>
      <p:sp>
        <p:nvSpPr>
          <p:cNvPr id="18" name="Shape 16"/>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9" name="Text 17"/>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Wibuke: </a:t>
            </a:r>
            <a:r>
              <a:rPr lang="rw-RW" sz="1800" dirty="0">
                <a:solidFill>
                  <a:srgbClr val="203864"/>
                </a:solidFill>
                <a:latin typeface="Calibri" pitchFamily="34" charset="0"/>
                <a:ea typeface="Calibri" pitchFamily="34" charset="-122"/>
                <a:cs typeface="Calibri" pitchFamily="34" charset="-120"/>
              </a:rPr>
              <a:t>Isuzuma rya laboratwari ry'agace gato k'uturemangingo ni ryo ryonyine rishobora kwemeza kanseri y'ibere. CBE, mammography na echographie bifasha kubona no gusuzuma impinduka zidasanzwe.</a:t>
            </a:r>
            <a:endParaRPr lang="rw-RW" sz="1800" dirty="0"/>
          </a:p>
        </p:txBody>
      </p:sp>
      <p:sp>
        <p:nvSpPr>
          <p:cNvPr id="20" name="Text 1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1" name="Text 1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94</a:t>
            </a:r>
            <a:endParaRPr lang="rw-RW" sz="900" dirty="0"/>
          </a:p>
        </p:txBody>
      </p:sp>
      <p:grpSp>
        <p:nvGrpSpPr>
          <p:cNvPr id="22" name="Grupo 21">
            <a:extLst>
              <a:ext uri="{FF2B5EF4-FFF2-40B4-BE49-F238E27FC236}">
                <a16:creationId xmlns:a16="http://schemas.microsoft.com/office/drawing/2014/main" id="{4DB6EC5B-EDA9-93C4-8EF0-22EB43B10AF3}"/>
              </a:ext>
            </a:extLst>
          </p:cNvPr>
          <p:cNvGrpSpPr/>
          <p:nvPr/>
        </p:nvGrpSpPr>
        <p:grpSpPr>
          <a:xfrm>
            <a:off x="548640" y="1400506"/>
            <a:ext cx="3477768" cy="3856347"/>
            <a:chOff x="548640" y="1400506"/>
            <a:chExt cx="3477768" cy="3856347"/>
          </a:xfrm>
        </p:grpSpPr>
        <p:sp>
          <p:nvSpPr>
            <p:cNvPr id="4" name="Shape 2"/>
            <p:cNvSpPr/>
            <p:nvPr/>
          </p:nvSpPr>
          <p:spPr>
            <a:xfrm>
              <a:off x="548640" y="1400506"/>
              <a:ext cx="3477768" cy="3856347"/>
            </a:xfrm>
            <a:prstGeom prst="roundRect">
              <a:avLst>
                <a:gd name="adj" fmla="val 2667"/>
              </a:avLst>
            </a:prstGeom>
            <a:solidFill>
              <a:srgbClr val="F3F7FC"/>
            </a:solidFill>
            <a:ln w="12700">
              <a:solidFill>
                <a:srgbClr val="D3E1F2"/>
              </a:solidFill>
              <a:prstDash val="solid"/>
            </a:ln>
          </p:spPr>
          <p:txBody>
            <a:bodyPr/>
            <a:lstStyle/>
            <a:p>
              <a:endParaRPr lang="rw-RW" dirty="0"/>
            </a:p>
          </p:txBody>
        </p:sp>
        <p:sp>
          <p:nvSpPr>
            <p:cNvPr id="5" name="Shape 3"/>
            <p:cNvSpPr/>
            <p:nvPr/>
          </p:nvSpPr>
          <p:spPr>
            <a:xfrm>
              <a:off x="749808" y="1610601"/>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749808" y="159201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283208" y="1586410"/>
              <a:ext cx="2593848" cy="1874520"/>
            </a:xfrm>
            <a:prstGeom prst="rect">
              <a:avLst/>
            </a:prstGeom>
            <a:noFill/>
            <a:ln/>
          </p:spPr>
          <p:txBody>
            <a:bodyPr wrap="square" lIns="0" tIns="0" rIns="0" bIns="0" rtlCol="0" anchor="t">
              <a:normAutofit fontScale="92500" lnSpcReduction="1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Biopsy (gufata agace gato k'uturemangingo)</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Agace gato k'uturemangingo tw'ibere gafatwa, akenshi hakoreshejwe urushinge, nyuma yo gutera ikinya ku ruhu.</a:t>
              </a:r>
              <a:endParaRPr lang="rw-RW" sz="1800" dirty="0"/>
            </a:p>
          </p:txBody>
        </p:sp>
        <p:pic>
          <p:nvPicPr>
            <p:cNvPr id="23" name="Picture 22">
              <a:extLst>
                <a:ext uri="{FF2B5EF4-FFF2-40B4-BE49-F238E27FC236}">
                  <a16:creationId xmlns:a16="http://schemas.microsoft.com/office/drawing/2014/main" id="{5BB9C9B3-6C0D-7FE8-E5DB-A6EA9A6730F4}"/>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133857" y="3089174"/>
              <a:ext cx="2421694" cy="1989786"/>
            </a:xfrm>
            <a:prstGeom prst="rect">
              <a:avLst/>
            </a:prstGeom>
          </p:spPr>
        </p:pic>
      </p:grpSp>
      <p:grpSp>
        <p:nvGrpSpPr>
          <p:cNvPr id="24" name="Grupo 23">
            <a:extLst>
              <a:ext uri="{FF2B5EF4-FFF2-40B4-BE49-F238E27FC236}">
                <a16:creationId xmlns:a16="http://schemas.microsoft.com/office/drawing/2014/main" id="{95177E98-618A-332D-0C42-0D719B229B4B}"/>
              </a:ext>
            </a:extLst>
          </p:cNvPr>
          <p:cNvGrpSpPr/>
          <p:nvPr/>
        </p:nvGrpSpPr>
        <p:grpSpPr>
          <a:xfrm>
            <a:off x="4355592" y="1409133"/>
            <a:ext cx="3477768" cy="3856347"/>
            <a:chOff x="4355592" y="1409133"/>
            <a:chExt cx="3477768" cy="3856347"/>
          </a:xfrm>
        </p:grpSpPr>
        <p:sp>
          <p:nvSpPr>
            <p:cNvPr id="9" name="Shape 7"/>
            <p:cNvSpPr/>
            <p:nvPr/>
          </p:nvSpPr>
          <p:spPr>
            <a:xfrm>
              <a:off x="4355592" y="1409133"/>
              <a:ext cx="3477768" cy="3856347"/>
            </a:xfrm>
            <a:prstGeom prst="roundRect">
              <a:avLst>
                <a:gd name="adj" fmla="val 2667"/>
              </a:avLst>
            </a:prstGeom>
            <a:solidFill>
              <a:srgbClr val="F3F7FC"/>
            </a:solidFill>
            <a:ln w="12700">
              <a:solidFill>
                <a:srgbClr val="D3E1F2"/>
              </a:solidFill>
              <a:prstDash val="solid"/>
            </a:ln>
          </p:spPr>
          <p:txBody>
            <a:bodyPr/>
            <a:lstStyle/>
            <a:p>
              <a:endParaRPr lang="rw-RW" dirty="0"/>
            </a:p>
          </p:txBody>
        </p:sp>
        <p:sp>
          <p:nvSpPr>
            <p:cNvPr id="10" name="Shape 8"/>
            <p:cNvSpPr/>
            <p:nvPr/>
          </p:nvSpPr>
          <p:spPr>
            <a:xfrm>
              <a:off x="4556760" y="159201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4556760" y="159201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2" name="Text 10"/>
            <p:cNvSpPr txBox="1"/>
            <p:nvPr/>
          </p:nvSpPr>
          <p:spPr>
            <a:xfrm>
              <a:off x="5090160" y="1612588"/>
              <a:ext cx="2542032" cy="1874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Laboratwari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Agace kafashwe gasuzumwa hakoreshejwe microscope. Ibi byemeza niba kanseri ihari.</a:t>
              </a:r>
              <a:endParaRPr lang="rw-RW" sz="1800" dirty="0"/>
            </a:p>
          </p:txBody>
        </p:sp>
        <p:pic>
          <p:nvPicPr>
            <p:cNvPr id="25" name="Picture 24">
              <a:extLst>
                <a:ext uri="{FF2B5EF4-FFF2-40B4-BE49-F238E27FC236}">
                  <a16:creationId xmlns:a16="http://schemas.microsoft.com/office/drawing/2014/main" id="{29AB1034-94CD-B607-5B68-AED4DE82841D}"/>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898573" y="3504444"/>
              <a:ext cx="2297430" cy="1531620"/>
            </a:xfrm>
            <a:prstGeom prst="rect">
              <a:avLst/>
            </a:prstGeom>
          </p:spPr>
        </p:pic>
      </p:grpSp>
      <p:grpSp>
        <p:nvGrpSpPr>
          <p:cNvPr id="26" name="Grupo 25">
            <a:extLst>
              <a:ext uri="{FF2B5EF4-FFF2-40B4-BE49-F238E27FC236}">
                <a16:creationId xmlns:a16="http://schemas.microsoft.com/office/drawing/2014/main" id="{2216A282-DFEA-C326-B099-837B66CF84B7}"/>
              </a:ext>
            </a:extLst>
          </p:cNvPr>
          <p:cNvGrpSpPr/>
          <p:nvPr/>
        </p:nvGrpSpPr>
        <p:grpSpPr>
          <a:xfrm>
            <a:off x="8162544" y="1409133"/>
            <a:ext cx="3477768" cy="3847719"/>
            <a:chOff x="8162544" y="1409133"/>
            <a:chExt cx="3477768" cy="3847719"/>
          </a:xfrm>
        </p:grpSpPr>
        <p:sp>
          <p:nvSpPr>
            <p:cNvPr id="14" name="Shape 12"/>
            <p:cNvSpPr/>
            <p:nvPr/>
          </p:nvSpPr>
          <p:spPr>
            <a:xfrm>
              <a:off x="8162544" y="1409133"/>
              <a:ext cx="3477768" cy="3847719"/>
            </a:xfrm>
            <a:prstGeom prst="roundRect">
              <a:avLst>
                <a:gd name="adj" fmla="val 2667"/>
              </a:avLst>
            </a:prstGeom>
            <a:solidFill>
              <a:srgbClr val="F3F7FC"/>
            </a:solidFill>
            <a:ln w="12700">
              <a:solidFill>
                <a:srgbClr val="D3E1F2"/>
              </a:solidFill>
              <a:prstDash val="solid"/>
            </a:ln>
          </p:spPr>
          <p:txBody>
            <a:bodyPr/>
            <a:lstStyle/>
            <a:p>
              <a:endParaRPr lang="rw-RW" dirty="0"/>
            </a:p>
          </p:txBody>
        </p:sp>
        <p:sp>
          <p:nvSpPr>
            <p:cNvPr id="15" name="Shape 13"/>
            <p:cNvSpPr/>
            <p:nvPr/>
          </p:nvSpPr>
          <p:spPr>
            <a:xfrm>
              <a:off x="8363712" y="1610601"/>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6" name="Text 14"/>
            <p:cNvSpPr txBox="1"/>
            <p:nvPr/>
          </p:nvSpPr>
          <p:spPr>
            <a:xfrm>
              <a:off x="8363712" y="159201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7" name="Text 15"/>
            <p:cNvSpPr txBox="1"/>
            <p:nvPr/>
          </p:nvSpPr>
          <p:spPr>
            <a:xfrm>
              <a:off x="8836788" y="1718396"/>
              <a:ext cx="2602356" cy="1874520"/>
            </a:xfrm>
            <a:prstGeom prst="rect">
              <a:avLst/>
            </a:prstGeom>
            <a:noFill/>
            <a:ln/>
          </p:spPr>
          <p:txBody>
            <a:bodyPr wrap="square" lIns="0" tIns="0" rIns="0" bIns="0" rtlCol="0" anchor="t">
              <a:normAutofit fontScale="85000" lnSpcReduction="1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Ibindi bizamini iyo kanseri yemejwe</a:t>
              </a:r>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Andi mafoto cyangwa ibindi bizamini bishobora gukoreshwa kugira ngo hamenyekane niba kanseri yarakwirakwiriye n'aho igeze, no gutegura uburyo bwo kuvura.</a:t>
              </a:r>
              <a:endParaRPr lang="rw-RW" sz="1800" dirty="0"/>
            </a:p>
          </p:txBody>
        </p:sp>
        <p:pic>
          <p:nvPicPr>
            <p:cNvPr id="27" name="Picture 26">
              <a:extLst>
                <a:ext uri="{FF2B5EF4-FFF2-40B4-BE49-F238E27FC236}">
                  <a16:creationId xmlns:a16="http://schemas.microsoft.com/office/drawing/2014/main" id="{33F8D309-330A-6057-D486-3B3F50A1EDEC}"/>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897112" y="3491779"/>
              <a:ext cx="2071175" cy="1657531"/>
            </a:xfrm>
            <a:prstGeom prst="rect">
              <a:avLst/>
            </a:prstGeom>
          </p:spPr>
        </p:pic>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GUPIMA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normAutofit fontScale="93500"/>
          </a:bodyPr>
          <a:lstStyle/>
          <a:p>
            <a:pPr marL="0" indent="0">
              <a:buNone/>
            </a:pPr>
            <a:r>
              <a:rPr lang="rw-RW" sz="3000" b="1" dirty="0">
                <a:solidFill>
                  <a:srgbClr val="1F3864"/>
                </a:solidFill>
                <a:latin typeface="Calibri" pitchFamily="34" charset="0"/>
                <a:ea typeface="Calibri" pitchFamily="34" charset="-122"/>
                <a:cs typeface="Calibri" pitchFamily="34" charset="-120"/>
              </a:rPr>
              <a:t>Icyo wabwira umuryango uhangayitse</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 bijyanye no gutegereza. </a:t>
            </a:r>
            <a:r>
              <a:rPr lang="rw-RW" sz="1800" dirty="0">
                <a:solidFill>
                  <a:srgbClr val="203864"/>
                </a:solidFill>
                <a:latin typeface="Calibri" pitchFamily="34" charset="0"/>
                <a:ea typeface="Calibri" pitchFamily="34" charset="-122"/>
                <a:cs typeface="Calibri" pitchFamily="34" charset="-120"/>
              </a:rPr>
              <a:t>Ibisubizo bifata igihe kuko agace kafashwe kagomba gusuzumwa neza muri laboratwari, rimwe na rimwe iri kure.</a:t>
            </a:r>
            <a:endParaRPr lang="rw-RW" sz="1800" dirty="0"/>
          </a:p>
        </p:txBody>
      </p:sp>
      <p:sp>
        <p:nvSpPr>
          <p:cNvPr id="6" name="Shape 4"/>
          <p:cNvSpPr/>
          <p:nvPr/>
        </p:nvSpPr>
        <p:spPr>
          <a:xfrm>
            <a:off x="630936" y="2286000"/>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 bijyanye n'agace gato kafashwe. </a:t>
            </a:r>
            <a:r>
              <a:rPr lang="rw-RW" sz="1800" dirty="0">
                <a:solidFill>
                  <a:srgbClr val="203864"/>
                </a:solidFill>
                <a:latin typeface="Calibri" pitchFamily="34" charset="0"/>
                <a:ea typeface="Calibri" pitchFamily="34" charset="-122"/>
                <a:cs typeface="Calibri" pitchFamily="34" charset="-120"/>
              </a:rPr>
              <a:t>Bikorwa vuba, ni bwo buryo bwonyine bwo kumenya, kandi ntibituma indwara ikwirakwira.</a:t>
            </a:r>
            <a:endParaRPr lang="rw-RW" sz="1800" dirty="0"/>
          </a:p>
        </p:txBody>
      </p:sp>
      <p:sp>
        <p:nvSpPr>
          <p:cNvPr id="8" name="Shape 6"/>
          <p:cNvSpPr/>
          <p:nvPr/>
        </p:nvSpPr>
        <p:spPr>
          <a:xfrm>
            <a:off x="630936" y="3072384"/>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 bitaramenyekana. </a:t>
            </a:r>
            <a:r>
              <a:rPr lang="rw-RW" sz="1800" dirty="0">
                <a:solidFill>
                  <a:srgbClr val="203864"/>
                </a:solidFill>
                <a:latin typeface="Calibri" pitchFamily="34" charset="0"/>
                <a:ea typeface="Calibri" pitchFamily="34" charset="-122"/>
                <a:cs typeface="Calibri" pitchFamily="34" charset="-120"/>
              </a:rPr>
              <a:t>Kugeza igihe ibisubizo bigarukiye, nta muntu uzi igisubizo. Ntukeke kandi ntugire icyo usezeranya.</a:t>
            </a:r>
            <a:endParaRPr lang="rw-RW" sz="1800" dirty="0"/>
          </a:p>
        </p:txBody>
      </p:sp>
      <p:sp>
        <p:nvSpPr>
          <p:cNvPr id="10" name="Shape 8"/>
          <p:cNvSpPr/>
          <p:nvPr/>
        </p:nvSpPr>
        <p:spPr>
          <a:xfrm>
            <a:off x="630936" y="3858768"/>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685032"/>
            <a:ext cx="10524744" cy="731520"/>
          </a:xfrm>
          <a:prstGeom prst="rect">
            <a:avLst/>
          </a:prstGeom>
          <a:noFill/>
          <a:ln/>
        </p:spPr>
        <p:txBody>
          <a:bodyPr wrap="square" lIns="0" tIns="0" rIns="0" bIns="0" rtlCol="0" anchor="t">
            <a:normAutofit fontScale="99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 cyo gukora mu gihe bategereje. </a:t>
            </a:r>
            <a:r>
              <a:rPr lang="rw-RW" sz="1800" dirty="0">
                <a:solidFill>
                  <a:srgbClr val="203864"/>
                </a:solidFill>
                <a:latin typeface="Calibri" pitchFamily="34" charset="0"/>
                <a:ea typeface="Calibri" pitchFamily="34" charset="-122"/>
                <a:cs typeface="Calibri" pitchFamily="34" charset="-120"/>
              </a:rPr>
              <a:t>Akomeze kubahiriza gahunda yahawe, kandi amenyeshe ako kanya ububabare bukabije, umuriro mwinshi cyangwa igikomere kirushaho kuba kibi.</a:t>
            </a:r>
            <a:endParaRPr lang="rw-RW" sz="18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95</a:t>
            </a:r>
            <a:endParaRPr lang="rw-RW"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IMPINDUKA ZOSE NTABWO ARI KANSERI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normAutofit/>
          </a:bodyPr>
          <a:lstStyle/>
          <a:p>
            <a:pPr marL="0" indent="0">
              <a:buNone/>
            </a:pPr>
            <a:r>
              <a:rPr lang="rw-RW" sz="3000" b="1" dirty="0">
                <a:solidFill>
                  <a:srgbClr val="1F3864"/>
                </a:solidFill>
                <a:latin typeface="Calibri" pitchFamily="34" charset="0"/>
                <a:ea typeface="Calibri" pitchFamily="34" charset="-122"/>
                <a:cs typeface="Calibri" pitchFamily="34" charset="-120"/>
              </a:rPr>
              <a:t>Ibyo ibizamini bishobora kugaragaza</a:t>
            </a:r>
            <a:endParaRPr lang="rw-RW" sz="3000" dirty="0"/>
          </a:p>
        </p:txBody>
      </p:sp>
      <p:sp>
        <p:nvSpPr>
          <p:cNvPr id="4" name="Text 2"/>
          <p:cNvSpPr txBox="1"/>
          <p:nvPr/>
        </p:nvSpPr>
        <p:spPr>
          <a:xfrm>
            <a:off x="548640" y="1106424"/>
            <a:ext cx="11091672" cy="411480"/>
          </a:xfrm>
          <a:prstGeom prst="rect">
            <a:avLst/>
          </a:prstGeom>
          <a:noFill/>
          <a:ln/>
        </p:spPr>
        <p:txBody>
          <a:bodyPr wrap="square" lIns="0" tIns="0" rIns="0" bIns="0" rtlCol="0" anchor="ctr">
            <a:normAutofit fontScale="85500"/>
          </a:bodyPr>
          <a:lstStyle/>
          <a:p>
            <a:pPr marL="0" indent="0">
              <a:buNone/>
            </a:pPr>
            <a:r>
              <a:rPr lang="rw-RW" sz="1800" dirty="0">
                <a:solidFill>
                  <a:srgbClr val="203864"/>
                </a:solidFill>
                <a:latin typeface="Calibri" pitchFamily="34" charset="0"/>
                <a:ea typeface="Calibri" pitchFamily="34" charset="-122"/>
                <a:cs typeface="Calibri" pitchFamily="34" charset="-120"/>
              </a:rPr>
              <a:t>Abantu benshi basuzumwa kubera impinduka mu ibere basanga nta kanseri bafite. Igisubizo gishobora kuba kimwe muri ibi bitatu.</a:t>
            </a:r>
            <a:endParaRPr lang="rw-RW" sz="1800" dirty="0"/>
          </a:p>
        </p:txBody>
      </p:sp>
      <p:sp>
        <p:nvSpPr>
          <p:cNvPr id="5" name="Shape 3"/>
          <p:cNvSpPr/>
          <p:nvPr/>
        </p:nvSpPr>
        <p:spPr>
          <a:xfrm>
            <a:off x="548639" y="1540363"/>
            <a:ext cx="11139943" cy="824099"/>
          </a:xfrm>
          <a:prstGeom prst="roundRect">
            <a:avLst>
              <a:gd name="adj" fmla="val 3077"/>
            </a:avLst>
          </a:prstGeom>
          <a:solidFill>
            <a:schemeClr val="accent6">
              <a:lumMod val="20000"/>
              <a:lumOff val="80000"/>
            </a:schemeClr>
          </a:solidFill>
          <a:ln w="12700">
            <a:solidFill>
              <a:srgbClr val="D3E1F2"/>
            </a:solidFill>
            <a:prstDash val="solid"/>
          </a:ln>
        </p:spPr>
        <p:txBody>
          <a:bodyPr/>
          <a:lstStyle/>
          <a:p>
            <a:endParaRPr lang="rw-RW" dirty="0"/>
          </a:p>
        </p:txBody>
      </p:sp>
      <p:sp>
        <p:nvSpPr>
          <p:cNvPr id="6" name="Text 4"/>
          <p:cNvSpPr txBox="1"/>
          <p:nvPr/>
        </p:nvSpPr>
        <p:spPr>
          <a:xfrm>
            <a:off x="768095" y="1704955"/>
            <a:ext cx="10635537" cy="659507"/>
          </a:xfrm>
          <a:prstGeom prst="rect">
            <a:avLst/>
          </a:prstGeom>
          <a:noFill/>
          <a:ln/>
        </p:spPr>
        <p:txBody>
          <a:bodyPr wrap="square" lIns="0" tIns="0" rIns="0" bIns="0" rtlCol="0" anchor="t"/>
          <a:lstStyle/>
          <a:p>
            <a:pPr>
              <a:lnSpc>
                <a:spcPct val="105000"/>
              </a:lnSpc>
            </a:pPr>
            <a:r>
              <a:rPr lang="rw-RW" b="1" dirty="0">
                <a:solidFill>
                  <a:srgbClr val="1F3864"/>
                </a:solidFill>
                <a:latin typeface="Calibri" pitchFamily="34" charset="0"/>
                <a:ea typeface="Calibri" pitchFamily="34" charset="-122"/>
                <a:cs typeface="Calibri" pitchFamily="34" charset="-120"/>
              </a:rPr>
              <a:t>🟢 Nta </a:t>
            </a:r>
            <a:r>
              <a:rPr lang="rw-RW" sz="1800" b="1" dirty="0">
                <a:solidFill>
                  <a:srgbClr val="1F3864"/>
                </a:solidFill>
                <a:latin typeface="Calibri" pitchFamily="34" charset="0"/>
                <a:ea typeface="Calibri" pitchFamily="34" charset="-122"/>
                <a:cs typeface="Calibri" pitchFamily="34" charset="-120"/>
              </a:rPr>
              <a:t>kintu na kimwe gikeneye kuvurwa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Ikibyimba kitagira ingaruka cyangwa imiterere isanzwe y'ibere. Abwirwa icyo ari cyo n'icyo yakora niba gihindutse.</a:t>
            </a:r>
            <a:endParaRPr lang="rw-RW" sz="1800" dirty="0"/>
          </a:p>
        </p:txBody>
      </p:sp>
      <p:sp>
        <p:nvSpPr>
          <p:cNvPr id="7" name="Shape 5"/>
          <p:cNvSpPr/>
          <p:nvPr/>
        </p:nvSpPr>
        <p:spPr>
          <a:xfrm>
            <a:off x="584814" y="2452278"/>
            <a:ext cx="11091672" cy="1150010"/>
          </a:xfrm>
          <a:prstGeom prst="roundRect">
            <a:avLst>
              <a:gd name="adj" fmla="val 3077"/>
            </a:avLst>
          </a:prstGeom>
          <a:solidFill>
            <a:schemeClr val="accent4">
              <a:lumMod val="20000"/>
              <a:lumOff val="80000"/>
            </a:schemeClr>
          </a:solidFill>
          <a:ln w="12700">
            <a:solidFill>
              <a:srgbClr val="D3E1F2"/>
            </a:solidFill>
            <a:prstDash val="solid"/>
          </a:ln>
        </p:spPr>
        <p:txBody>
          <a:bodyPr/>
          <a:lstStyle/>
          <a:p>
            <a:endParaRPr lang="rw-RW" dirty="0"/>
          </a:p>
        </p:txBody>
      </p:sp>
      <p:sp>
        <p:nvSpPr>
          <p:cNvPr id="8" name="Text 6"/>
          <p:cNvSpPr txBox="1"/>
          <p:nvPr/>
        </p:nvSpPr>
        <p:spPr>
          <a:xfrm>
            <a:off x="804269" y="2616870"/>
            <a:ext cx="10587267" cy="820113"/>
          </a:xfrm>
          <a:prstGeom prst="rect">
            <a:avLst/>
          </a:prstGeom>
          <a:noFill/>
          <a:ln/>
        </p:spPr>
        <p:txBody>
          <a:bodyPr wrap="square" lIns="0" tIns="0" rIns="0" bIns="0" rtlCol="0" anchor="t"/>
          <a:lstStyle/>
          <a:p>
            <a:pPr>
              <a:lnSpc>
                <a:spcPct val="105000"/>
              </a:lnSpc>
            </a:pPr>
            <a:r>
              <a:rPr lang="rw-RW" b="1" dirty="0">
                <a:solidFill>
                  <a:srgbClr val="1F3864"/>
                </a:solidFill>
                <a:latin typeface="Calibri" pitchFamily="34" charset="0"/>
                <a:ea typeface="Calibri" pitchFamily="34" charset="-122"/>
                <a:cs typeface="Calibri" pitchFamily="34" charset="-120"/>
              </a:rPr>
              <a:t>🟠 Ikintu </a:t>
            </a:r>
            <a:r>
              <a:rPr lang="rw-RW" sz="1800" b="1" dirty="0">
                <a:solidFill>
                  <a:srgbClr val="1F3864"/>
                </a:solidFill>
                <a:latin typeface="Calibri" pitchFamily="34" charset="0"/>
                <a:ea typeface="Calibri" pitchFamily="34" charset="-122"/>
                <a:cs typeface="Calibri" pitchFamily="34" charset="-120"/>
              </a:rPr>
              <a:t>cyo gukurikirana cyangwa gukuraho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Impinduka itari kanseri, ariko itsinda ry'ubuzima rishaka kongera kuyisuzuma cyangwa kuyikuraho. Akomeza kubahiriza gahunda yahawe.</a:t>
            </a:r>
            <a:endParaRPr lang="rw-RW" sz="1800" dirty="0"/>
          </a:p>
        </p:txBody>
      </p:sp>
      <p:sp>
        <p:nvSpPr>
          <p:cNvPr id="9" name="Shape 7"/>
          <p:cNvSpPr/>
          <p:nvPr/>
        </p:nvSpPr>
        <p:spPr>
          <a:xfrm>
            <a:off x="610691" y="3671877"/>
            <a:ext cx="11057143" cy="805711"/>
          </a:xfrm>
          <a:prstGeom prst="roundRect">
            <a:avLst>
              <a:gd name="adj" fmla="val 3077"/>
            </a:avLst>
          </a:prstGeom>
          <a:solidFill>
            <a:srgbClr val="F6C6C0"/>
          </a:solidFill>
          <a:ln w="12700">
            <a:solidFill>
              <a:srgbClr val="D3E1F2"/>
            </a:solidFill>
            <a:prstDash val="solid"/>
          </a:ln>
        </p:spPr>
        <p:txBody>
          <a:bodyPr/>
          <a:lstStyle/>
          <a:p>
            <a:endParaRPr lang="rw-RW" dirty="0"/>
          </a:p>
        </p:txBody>
      </p:sp>
      <p:sp>
        <p:nvSpPr>
          <p:cNvPr id="10" name="Text 8"/>
          <p:cNvSpPr txBox="1"/>
          <p:nvPr/>
        </p:nvSpPr>
        <p:spPr>
          <a:xfrm>
            <a:off x="830147" y="3732259"/>
            <a:ext cx="10299499" cy="648509"/>
          </a:xfrm>
          <a:prstGeom prst="rect">
            <a:avLst/>
          </a:prstGeom>
          <a:noFill/>
          <a:ln/>
        </p:spPr>
        <p:txBody>
          <a:bodyPr wrap="square" lIns="0" tIns="0" rIns="0" bIns="0" rtlCol="0" anchor="t"/>
          <a:lstStyle/>
          <a:p>
            <a:pPr>
              <a:lnSpc>
                <a:spcPct val="105000"/>
              </a:lnSpc>
            </a:pPr>
            <a:r>
              <a:rPr lang="rw-RW" b="1" dirty="0">
                <a:solidFill>
                  <a:srgbClr val="1F3864"/>
                </a:solidFill>
                <a:latin typeface="Calibri" pitchFamily="34" charset="0"/>
                <a:ea typeface="Calibri" pitchFamily="34" charset="-122"/>
                <a:cs typeface="Calibri" pitchFamily="34" charset="-120"/>
              </a:rPr>
              <a:t>🔴 Kanseri </a:t>
            </a:r>
            <a:r>
              <a:rPr lang="rw-RW" sz="1800" b="1" dirty="0">
                <a:solidFill>
                  <a:srgbClr val="1F3864"/>
                </a:solidFill>
                <a:latin typeface="Calibri" pitchFamily="34" charset="0"/>
                <a:ea typeface="Calibri" pitchFamily="34" charset="-122"/>
                <a:cs typeface="Calibri" pitchFamily="34" charset="-120"/>
              </a:rPr>
              <a:t>y'ibere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Kanseri yemejwe n'isuzuma rya laboratwari ry'agace k'uturemangingo, maze yoherezwa kuvurwa.</a:t>
            </a:r>
            <a:endParaRPr lang="rw-RW" sz="1800" dirty="0"/>
          </a:p>
        </p:txBody>
      </p:sp>
      <p:sp>
        <p:nvSpPr>
          <p:cNvPr id="11" name="Shape 9"/>
          <p:cNvSpPr/>
          <p:nvPr/>
        </p:nvSpPr>
        <p:spPr>
          <a:xfrm>
            <a:off x="548640" y="5751576"/>
            <a:ext cx="11091672" cy="530352"/>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2" name="Text 10"/>
          <p:cNvSpPr txBox="1"/>
          <p:nvPr/>
        </p:nvSpPr>
        <p:spPr>
          <a:xfrm>
            <a:off x="749808" y="5842862"/>
            <a:ext cx="10689336" cy="353206"/>
          </a:xfrm>
          <a:prstGeom prst="rect">
            <a:avLst/>
          </a:prstGeom>
          <a:noFill/>
          <a:ln/>
        </p:spPr>
        <p:txBody>
          <a:bodyPr wrap="square" lIns="0" tIns="0" rIns="0" bIns="0" rtlCol="0" anchor="ctr"/>
          <a:lstStyle/>
          <a:p>
            <a:pPr marL="0" indent="0">
              <a:buNone/>
            </a:pPr>
            <a:r>
              <a:rPr lang="rw-RW" sz="1600" b="1" dirty="0">
                <a:solidFill>
                  <a:srgbClr val="B06A08"/>
                </a:solidFill>
                <a:latin typeface="Calibri" pitchFamily="34" charset="0"/>
                <a:ea typeface="Calibri" pitchFamily="34" charset="-122"/>
                <a:cs typeface="Calibri" pitchFamily="34" charset="-120"/>
              </a:rPr>
              <a:t>Vuga muri ubu buryo: </a:t>
            </a:r>
            <a:r>
              <a:rPr lang="rw-RW" sz="1600" dirty="0">
                <a:solidFill>
                  <a:srgbClr val="203864"/>
                </a:solidFill>
                <a:latin typeface="Calibri" pitchFamily="34" charset="0"/>
                <a:ea typeface="Calibri" pitchFamily="34" charset="-122"/>
                <a:cs typeface="Calibri" pitchFamily="34" charset="-120"/>
              </a:rPr>
              <a:t>Koherezwa kwisuzumisha ntibivuze ko umuntu arwaye kanseri. Bivuze ko impinduka iri kurebwa neza, kandi akenshi amakuru aba ari meza.</a:t>
            </a:r>
            <a:endParaRPr lang="rw-RW" sz="1600" dirty="0"/>
          </a:p>
        </p:txBody>
      </p:sp>
      <p:sp>
        <p:nvSpPr>
          <p:cNvPr id="13" name="Text 11"/>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4" name="Text 12"/>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96</a:t>
            </a:r>
            <a:endParaRPr lang="rw-RW" sz="900" dirty="0"/>
          </a:p>
        </p:txBody>
      </p:sp>
      <p:pic>
        <p:nvPicPr>
          <p:cNvPr id="16" name="Picture 15">
            <a:extLst>
              <a:ext uri="{FF2B5EF4-FFF2-40B4-BE49-F238E27FC236}">
                <a16:creationId xmlns:a16="http://schemas.microsoft.com/office/drawing/2014/main" id="{84B4918B-6B0D-3C84-C2B2-A9EDFBF7113D}"/>
              </a:ext>
            </a:extLst>
          </p:cNvPr>
          <p:cNvPicPr>
            <a:picLocks noChangeAspect="1"/>
          </p:cNvPicPr>
          <p:nvPr/>
        </p:nvPicPr>
        <p:blipFill>
          <a:blip r:embed="rId3"/>
          <a:stretch>
            <a:fillRect/>
          </a:stretch>
        </p:blipFill>
        <p:spPr>
          <a:xfrm>
            <a:off x="4620056" y="4464424"/>
            <a:ext cx="3021187" cy="1201292"/>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KUVURA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Ubwoko bw'ingenzi bwo kuvura</a:t>
            </a:r>
            <a:endParaRPr lang="rw-RW" sz="3000" dirty="0"/>
          </a:p>
        </p:txBody>
      </p:sp>
      <p:sp>
        <p:nvSpPr>
          <p:cNvPr id="16" name="Text 14"/>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7" name="Text 15"/>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97</a:t>
            </a:r>
            <a:endParaRPr lang="rw-RW" sz="900" dirty="0"/>
          </a:p>
        </p:txBody>
      </p:sp>
      <p:grpSp>
        <p:nvGrpSpPr>
          <p:cNvPr id="10" name="Grupo 9">
            <a:extLst>
              <a:ext uri="{FF2B5EF4-FFF2-40B4-BE49-F238E27FC236}">
                <a16:creationId xmlns:a16="http://schemas.microsoft.com/office/drawing/2014/main" id="{4359ABC5-79E2-70DA-884D-ED2DD6844B9D}"/>
              </a:ext>
            </a:extLst>
          </p:cNvPr>
          <p:cNvGrpSpPr/>
          <p:nvPr/>
        </p:nvGrpSpPr>
        <p:grpSpPr>
          <a:xfrm>
            <a:off x="548640" y="1576600"/>
            <a:ext cx="3514344" cy="4190017"/>
            <a:chOff x="548640" y="1576600"/>
            <a:chExt cx="3514344" cy="4190017"/>
          </a:xfrm>
        </p:grpSpPr>
        <p:sp>
          <p:nvSpPr>
            <p:cNvPr id="4" name="Shape 2"/>
            <p:cNvSpPr/>
            <p:nvPr/>
          </p:nvSpPr>
          <p:spPr>
            <a:xfrm>
              <a:off x="548640" y="1576600"/>
              <a:ext cx="3514344" cy="4190017"/>
            </a:xfrm>
            <a:prstGeom prst="roundRect">
              <a:avLst>
                <a:gd name="adj" fmla="val 3299"/>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5" y="1741193"/>
              <a:ext cx="3254164" cy="1830220"/>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Kubaga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Kubagwa kugira ngo kanseri ikurwe mu ibere. Utubyimba twa lymph (lymph nodes) two mu kwaha na two dushobora gusuzumwa cyangwa gukurwaho.</a:t>
              </a:r>
              <a:endParaRPr lang="rw-RW" sz="1800" dirty="0"/>
            </a:p>
          </p:txBody>
        </p:sp>
        <p:pic>
          <p:nvPicPr>
            <p:cNvPr id="19" name="Picture 18">
              <a:extLst>
                <a:ext uri="{FF2B5EF4-FFF2-40B4-BE49-F238E27FC236}">
                  <a16:creationId xmlns:a16="http://schemas.microsoft.com/office/drawing/2014/main" id="{49460295-C7A0-DD18-AA0B-89D582B9D07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658641" y="3571413"/>
              <a:ext cx="3294342" cy="2077831"/>
            </a:xfrm>
            <a:prstGeom prst="rect">
              <a:avLst/>
            </a:prstGeom>
          </p:spPr>
        </p:pic>
      </p:grpSp>
      <p:grpSp>
        <p:nvGrpSpPr>
          <p:cNvPr id="11" name="Grupo 10">
            <a:extLst>
              <a:ext uri="{FF2B5EF4-FFF2-40B4-BE49-F238E27FC236}">
                <a16:creationId xmlns:a16="http://schemas.microsoft.com/office/drawing/2014/main" id="{96078707-2314-61BB-04A4-9BD706831805}"/>
              </a:ext>
            </a:extLst>
          </p:cNvPr>
          <p:cNvGrpSpPr/>
          <p:nvPr/>
        </p:nvGrpSpPr>
        <p:grpSpPr>
          <a:xfrm>
            <a:off x="4337304" y="1576600"/>
            <a:ext cx="3514344" cy="4190017"/>
            <a:chOff x="4337304" y="1576600"/>
            <a:chExt cx="3514344" cy="4190017"/>
          </a:xfrm>
        </p:grpSpPr>
        <p:sp>
          <p:nvSpPr>
            <p:cNvPr id="6" name="Shape 4"/>
            <p:cNvSpPr/>
            <p:nvPr/>
          </p:nvSpPr>
          <p:spPr>
            <a:xfrm>
              <a:off x="4337304" y="1576600"/>
              <a:ext cx="3514344" cy="4190017"/>
            </a:xfrm>
            <a:prstGeom prst="roundRect">
              <a:avLst>
                <a:gd name="adj" fmla="val 3299"/>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741193"/>
              <a:ext cx="3075432" cy="1555899"/>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Kuvura imirasire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Ubuvuzi bwangiza uturemangingo twa kanseri kugira ngo tudakomeza gukura. Butangirwa mu bitaro byihariye.</a:t>
              </a:r>
              <a:endParaRPr lang="rw-RW" sz="1800" dirty="0"/>
            </a:p>
          </p:txBody>
        </p:sp>
        <p:pic>
          <p:nvPicPr>
            <p:cNvPr id="21" name="Picture 20">
              <a:extLst>
                <a:ext uri="{FF2B5EF4-FFF2-40B4-BE49-F238E27FC236}">
                  <a16:creationId xmlns:a16="http://schemas.microsoft.com/office/drawing/2014/main" id="{B4D65D56-CF01-777B-3D31-A587B5C1B458}"/>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447304" y="3297092"/>
              <a:ext cx="3294343" cy="2077830"/>
            </a:xfrm>
            <a:prstGeom prst="rect">
              <a:avLst/>
            </a:prstGeom>
          </p:spPr>
        </p:pic>
      </p:grpSp>
      <p:grpSp>
        <p:nvGrpSpPr>
          <p:cNvPr id="12" name="Grupo 11">
            <a:extLst>
              <a:ext uri="{FF2B5EF4-FFF2-40B4-BE49-F238E27FC236}">
                <a16:creationId xmlns:a16="http://schemas.microsoft.com/office/drawing/2014/main" id="{08186B1F-8DED-BB6E-DB6D-691522395FDB}"/>
              </a:ext>
            </a:extLst>
          </p:cNvPr>
          <p:cNvGrpSpPr/>
          <p:nvPr/>
        </p:nvGrpSpPr>
        <p:grpSpPr>
          <a:xfrm>
            <a:off x="8125968" y="1576600"/>
            <a:ext cx="3514344" cy="4190017"/>
            <a:chOff x="8125968" y="1576600"/>
            <a:chExt cx="3514344" cy="4190017"/>
          </a:xfrm>
        </p:grpSpPr>
        <p:sp>
          <p:nvSpPr>
            <p:cNvPr id="8" name="Shape 6"/>
            <p:cNvSpPr/>
            <p:nvPr/>
          </p:nvSpPr>
          <p:spPr>
            <a:xfrm>
              <a:off x="8125968" y="1576600"/>
              <a:ext cx="3514344" cy="4190017"/>
            </a:xfrm>
            <a:prstGeom prst="roundRect">
              <a:avLst>
                <a:gd name="adj" fmla="val 3299"/>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741193"/>
              <a:ext cx="3205346" cy="1555899"/>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Imiti ya kanseri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Imiti inyura mu mubiri wose kandi ikora ku turemangingo twa kanseri. Itangwa mu gihe cy'amezi.</a:t>
              </a:r>
              <a:endParaRPr lang="rw-RW" sz="1800" dirty="0"/>
            </a:p>
          </p:txBody>
        </p:sp>
        <p:pic>
          <p:nvPicPr>
            <p:cNvPr id="23" name="Picture 22">
              <a:extLst>
                <a:ext uri="{FF2B5EF4-FFF2-40B4-BE49-F238E27FC236}">
                  <a16:creationId xmlns:a16="http://schemas.microsoft.com/office/drawing/2014/main" id="{BA9FF599-EF17-5FAD-4A82-02050F495735}"/>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235969" y="3297092"/>
              <a:ext cx="3294342" cy="2077831"/>
            </a:xfrm>
            <a:prstGeom prst="rect">
              <a:avLst/>
            </a:prstGeom>
          </p:spPr>
        </p:pic>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55509-FE79-34C9-AA09-A8001ADE3D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C056BA-E73B-638F-51C7-35A1C72B0535}"/>
              </a:ext>
            </a:extLst>
          </p:cNvPr>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KUVURA</a:t>
            </a:r>
            <a:endParaRPr lang="rw-RW" sz="1000" dirty="0"/>
          </a:p>
        </p:txBody>
      </p:sp>
      <p:sp>
        <p:nvSpPr>
          <p:cNvPr id="3" name="Text 1">
            <a:extLst>
              <a:ext uri="{FF2B5EF4-FFF2-40B4-BE49-F238E27FC236}">
                <a16:creationId xmlns:a16="http://schemas.microsoft.com/office/drawing/2014/main" id="{0EE5C16C-4FCF-300A-0E5A-46C194558C2F}"/>
              </a:ext>
            </a:extLst>
          </p:cNvPr>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Ubwoko bw'ingenzi bwo kuvura</a:t>
            </a:r>
            <a:endParaRPr lang="rw-RW" sz="3000" dirty="0"/>
          </a:p>
        </p:txBody>
      </p:sp>
      <p:sp>
        <p:nvSpPr>
          <p:cNvPr id="16" name="Text 14">
            <a:extLst>
              <a:ext uri="{FF2B5EF4-FFF2-40B4-BE49-F238E27FC236}">
                <a16:creationId xmlns:a16="http://schemas.microsoft.com/office/drawing/2014/main" id="{3F10C2E7-6C0A-3853-DC06-21B5731C897A}"/>
              </a:ext>
            </a:extLst>
          </p:cNvPr>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7" name="Text 15">
            <a:extLst>
              <a:ext uri="{FF2B5EF4-FFF2-40B4-BE49-F238E27FC236}">
                <a16:creationId xmlns:a16="http://schemas.microsoft.com/office/drawing/2014/main" id="{E3C9DBAC-DD3D-1038-39BA-6914CDFA74AD}"/>
              </a:ext>
            </a:extLst>
          </p:cNvPr>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97</a:t>
            </a:r>
            <a:endParaRPr lang="rw-RW" sz="900" dirty="0"/>
          </a:p>
        </p:txBody>
      </p:sp>
      <p:grpSp>
        <p:nvGrpSpPr>
          <p:cNvPr id="4" name="Grupo 3">
            <a:extLst>
              <a:ext uri="{FF2B5EF4-FFF2-40B4-BE49-F238E27FC236}">
                <a16:creationId xmlns:a16="http://schemas.microsoft.com/office/drawing/2014/main" id="{CCA60D4B-3056-B718-8D2A-0D523B78531E}"/>
              </a:ext>
            </a:extLst>
          </p:cNvPr>
          <p:cNvGrpSpPr/>
          <p:nvPr/>
        </p:nvGrpSpPr>
        <p:grpSpPr>
          <a:xfrm>
            <a:off x="548640" y="1384142"/>
            <a:ext cx="3514344" cy="4176000"/>
            <a:chOff x="548640" y="1384142"/>
            <a:chExt cx="3514344" cy="4176000"/>
          </a:xfrm>
        </p:grpSpPr>
        <p:sp>
          <p:nvSpPr>
            <p:cNvPr id="10" name="Shape 8">
              <a:extLst>
                <a:ext uri="{FF2B5EF4-FFF2-40B4-BE49-F238E27FC236}">
                  <a16:creationId xmlns:a16="http://schemas.microsoft.com/office/drawing/2014/main" id="{C43E03C2-F81E-C598-1D2B-7CF6791BFFAB}"/>
                </a:ext>
              </a:extLst>
            </p:cNvPr>
            <p:cNvSpPr/>
            <p:nvPr/>
          </p:nvSpPr>
          <p:spPr>
            <a:xfrm>
              <a:off x="548640" y="1384142"/>
              <a:ext cx="3514344" cy="4176000"/>
            </a:xfrm>
            <a:prstGeom prst="roundRect">
              <a:avLst>
                <a:gd name="adj" fmla="val 3299"/>
              </a:avLst>
            </a:prstGeom>
            <a:solidFill>
              <a:srgbClr val="F3F7FC"/>
            </a:solidFill>
            <a:ln w="12700">
              <a:solidFill>
                <a:srgbClr val="D3E1F2"/>
              </a:solidFill>
              <a:prstDash val="solid"/>
            </a:ln>
          </p:spPr>
          <p:txBody>
            <a:bodyPr/>
            <a:lstStyle/>
            <a:p>
              <a:endParaRPr lang="rw-RW" dirty="0"/>
            </a:p>
          </p:txBody>
        </p:sp>
        <p:sp>
          <p:nvSpPr>
            <p:cNvPr id="11" name="Text 9">
              <a:extLst>
                <a:ext uri="{FF2B5EF4-FFF2-40B4-BE49-F238E27FC236}">
                  <a16:creationId xmlns:a16="http://schemas.microsoft.com/office/drawing/2014/main" id="{5A41ECFA-8CC9-19E2-7DC4-7D3228FCAACE}"/>
                </a:ext>
              </a:extLst>
            </p:cNvPr>
            <p:cNvSpPr txBox="1"/>
            <p:nvPr/>
          </p:nvSpPr>
          <p:spPr>
            <a:xfrm>
              <a:off x="768096" y="1548734"/>
              <a:ext cx="3075432" cy="1777413"/>
            </a:xfrm>
            <a:prstGeom prst="rect">
              <a:avLst/>
            </a:prstGeom>
            <a:noFill/>
            <a:ln/>
          </p:spPr>
          <p:txBody>
            <a:bodyPr wrap="square" lIns="0" tIns="0" rIns="0" bIns="0" rtlCol="0" anchor="t">
              <a:normAutofit fontScale="97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Ibinini bya buri munsi ku bantu bamwe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Kanseri zimwe z'ibere zivurwa n'ikinini gifatwa buri munsi mu gihe cy'imyaka myinshi nyuma y'ubundi buvuzi.</a:t>
              </a:r>
              <a:endParaRPr lang="rw-RW" sz="1800" dirty="0"/>
            </a:p>
          </p:txBody>
        </p:sp>
        <p:pic>
          <p:nvPicPr>
            <p:cNvPr id="25" name="Picture 24">
              <a:extLst>
                <a:ext uri="{FF2B5EF4-FFF2-40B4-BE49-F238E27FC236}">
                  <a16:creationId xmlns:a16="http://schemas.microsoft.com/office/drawing/2014/main" id="{45D25B41-A732-9F99-AA7B-4680C8FBB016}"/>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176439" y="3326147"/>
              <a:ext cx="2258745" cy="2143995"/>
            </a:xfrm>
            <a:prstGeom prst="rect">
              <a:avLst/>
            </a:prstGeom>
          </p:spPr>
        </p:pic>
      </p:grpSp>
      <p:grpSp>
        <p:nvGrpSpPr>
          <p:cNvPr id="5" name="Grupo 4">
            <a:extLst>
              <a:ext uri="{FF2B5EF4-FFF2-40B4-BE49-F238E27FC236}">
                <a16:creationId xmlns:a16="http://schemas.microsoft.com/office/drawing/2014/main" id="{38BD1137-EE42-FEAA-204F-91E60E48E945}"/>
              </a:ext>
            </a:extLst>
          </p:cNvPr>
          <p:cNvGrpSpPr/>
          <p:nvPr/>
        </p:nvGrpSpPr>
        <p:grpSpPr>
          <a:xfrm>
            <a:off x="4337304" y="1384142"/>
            <a:ext cx="3514344" cy="4176000"/>
            <a:chOff x="4337304" y="1384142"/>
            <a:chExt cx="3514344" cy="4176000"/>
          </a:xfrm>
        </p:grpSpPr>
        <p:sp>
          <p:nvSpPr>
            <p:cNvPr id="12" name="Shape 10">
              <a:extLst>
                <a:ext uri="{FF2B5EF4-FFF2-40B4-BE49-F238E27FC236}">
                  <a16:creationId xmlns:a16="http://schemas.microsoft.com/office/drawing/2014/main" id="{629EA62E-2E62-81A7-2A72-AC7CB13809AA}"/>
                </a:ext>
              </a:extLst>
            </p:cNvPr>
            <p:cNvSpPr/>
            <p:nvPr/>
          </p:nvSpPr>
          <p:spPr>
            <a:xfrm>
              <a:off x="4337304" y="1384142"/>
              <a:ext cx="3514344" cy="4176000"/>
            </a:xfrm>
            <a:prstGeom prst="roundRect">
              <a:avLst>
                <a:gd name="adj" fmla="val 3299"/>
              </a:avLst>
            </a:prstGeom>
            <a:solidFill>
              <a:srgbClr val="F3F7FC"/>
            </a:solidFill>
            <a:ln w="12700">
              <a:solidFill>
                <a:srgbClr val="D3E1F2"/>
              </a:solidFill>
              <a:prstDash val="solid"/>
            </a:ln>
          </p:spPr>
          <p:txBody>
            <a:bodyPr/>
            <a:lstStyle/>
            <a:p>
              <a:endParaRPr lang="rw-RW" dirty="0"/>
            </a:p>
          </p:txBody>
        </p:sp>
        <p:sp>
          <p:nvSpPr>
            <p:cNvPr id="13" name="Text 11">
              <a:extLst>
                <a:ext uri="{FF2B5EF4-FFF2-40B4-BE49-F238E27FC236}">
                  <a16:creationId xmlns:a16="http://schemas.microsoft.com/office/drawing/2014/main" id="{E0D21206-B074-0607-D602-55F9841391A7}"/>
                </a:ext>
              </a:extLst>
            </p:cNvPr>
            <p:cNvSpPr txBox="1"/>
            <p:nvPr/>
          </p:nvSpPr>
          <p:spPr>
            <a:xfrm>
              <a:off x="4475199" y="1468726"/>
              <a:ext cx="3075432" cy="1555899"/>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Kuvura ibimenyetso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Imiti n'ubuvuzi bigabanya ububabare n'ibindi bibazo, bitangwa hamwe n'ubuvuzi buvuzwe haruguru.</a:t>
              </a:r>
              <a:endParaRPr lang="rw-RW" sz="1800" dirty="0"/>
            </a:p>
          </p:txBody>
        </p:sp>
        <p:pic>
          <p:nvPicPr>
            <p:cNvPr id="27" name="Picture 26">
              <a:extLst>
                <a:ext uri="{FF2B5EF4-FFF2-40B4-BE49-F238E27FC236}">
                  <a16:creationId xmlns:a16="http://schemas.microsoft.com/office/drawing/2014/main" id="{D03534CF-3BE0-22C9-65D3-8F87BDAC9FC5}"/>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656968" y="3024625"/>
              <a:ext cx="2875016" cy="2445517"/>
            </a:xfrm>
            <a:prstGeom prst="rect">
              <a:avLst/>
            </a:prstGeom>
          </p:spPr>
        </p:pic>
      </p:grpSp>
      <p:grpSp>
        <p:nvGrpSpPr>
          <p:cNvPr id="6" name="Grupo 5">
            <a:extLst>
              <a:ext uri="{FF2B5EF4-FFF2-40B4-BE49-F238E27FC236}">
                <a16:creationId xmlns:a16="http://schemas.microsoft.com/office/drawing/2014/main" id="{52B517F5-DBD7-FB77-D89F-5B8E9FD38A3B}"/>
              </a:ext>
            </a:extLst>
          </p:cNvPr>
          <p:cNvGrpSpPr/>
          <p:nvPr/>
        </p:nvGrpSpPr>
        <p:grpSpPr>
          <a:xfrm>
            <a:off x="8125968" y="1384142"/>
            <a:ext cx="3514344" cy="4176000"/>
            <a:chOff x="8125968" y="1384142"/>
            <a:chExt cx="3514344" cy="4176000"/>
          </a:xfrm>
        </p:grpSpPr>
        <p:sp>
          <p:nvSpPr>
            <p:cNvPr id="14" name="Shape 12">
              <a:extLst>
                <a:ext uri="{FF2B5EF4-FFF2-40B4-BE49-F238E27FC236}">
                  <a16:creationId xmlns:a16="http://schemas.microsoft.com/office/drawing/2014/main" id="{D17E6FFF-EDF6-BF76-855F-AC482B8EF091}"/>
                </a:ext>
              </a:extLst>
            </p:cNvPr>
            <p:cNvSpPr/>
            <p:nvPr/>
          </p:nvSpPr>
          <p:spPr>
            <a:xfrm>
              <a:off x="8125968" y="1384142"/>
              <a:ext cx="3514344" cy="4176000"/>
            </a:xfrm>
            <a:prstGeom prst="roundRect">
              <a:avLst>
                <a:gd name="adj" fmla="val 3299"/>
              </a:avLst>
            </a:prstGeom>
            <a:solidFill>
              <a:srgbClr val="F3F7FC"/>
            </a:solidFill>
            <a:ln w="12700">
              <a:solidFill>
                <a:srgbClr val="D3E1F2"/>
              </a:solidFill>
              <a:prstDash val="solid"/>
            </a:ln>
          </p:spPr>
          <p:txBody>
            <a:bodyPr/>
            <a:lstStyle/>
            <a:p>
              <a:endParaRPr lang="rw-RW" dirty="0"/>
            </a:p>
          </p:txBody>
        </p:sp>
        <p:sp>
          <p:nvSpPr>
            <p:cNvPr id="15" name="Text 13">
              <a:extLst>
                <a:ext uri="{FF2B5EF4-FFF2-40B4-BE49-F238E27FC236}">
                  <a16:creationId xmlns:a16="http://schemas.microsoft.com/office/drawing/2014/main" id="{BC339EE2-0692-F81C-10B4-80DACC257781}"/>
                </a:ext>
              </a:extLst>
            </p:cNvPr>
            <p:cNvSpPr txBox="1"/>
            <p:nvPr/>
          </p:nvSpPr>
          <p:spPr>
            <a:xfrm>
              <a:off x="8345424" y="1548734"/>
              <a:ext cx="3075432" cy="1924812"/>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Gushyigikirwa mu gihe cyose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Gufashwa mu mirire, mu gukoresha ukuboko, mu guhangayika no mu buzima bwa buri munsi ni bimwe mu bigize ubuvuzi, si inyongera.</a:t>
              </a:r>
              <a:endParaRPr lang="rw-RW" sz="1800" dirty="0"/>
            </a:p>
          </p:txBody>
        </p:sp>
        <p:pic>
          <p:nvPicPr>
            <p:cNvPr id="29" name="Picture 28">
              <a:extLst>
                <a:ext uri="{FF2B5EF4-FFF2-40B4-BE49-F238E27FC236}">
                  <a16:creationId xmlns:a16="http://schemas.microsoft.com/office/drawing/2014/main" id="{7D8C5A6D-9E99-2C6A-72EE-27269D89E5DC}"/>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681884" y="3653273"/>
              <a:ext cx="2402511" cy="1816869"/>
            </a:xfrm>
            <a:prstGeom prst="rect">
              <a:avLst/>
            </a:prstGeom>
          </p:spPr>
        </p:pic>
      </p:grpSp>
    </p:spTree>
    <p:extLst>
      <p:ext uri="{BB962C8B-B14F-4D97-AF65-F5344CB8AC3E}">
        <p14:creationId xmlns:p14="http://schemas.microsoft.com/office/powerpoint/2010/main" val="391563149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UBUVUZI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Impamvu abantu babiri bavurwa mu buryo butandukanye</a:t>
            </a:r>
            <a:endParaRPr lang="rw-RW" sz="3000" dirty="0"/>
          </a:p>
        </p:txBody>
      </p:sp>
      <p:sp>
        <p:nvSpPr>
          <p:cNvPr id="4" name="Shape 2"/>
          <p:cNvSpPr/>
          <p:nvPr/>
        </p:nvSpPr>
        <p:spPr>
          <a:xfrm>
            <a:off x="548640" y="136245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548640" y="136245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6" name="Text 4"/>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Ubuvuzi biterwa n'urwego indwara igezeho, kandi ibyo bimenyekana nyuma y'ibizamini gusa.</a:t>
            </a:r>
            <a:endParaRPr lang="rw-RW" sz="1800" dirty="0"/>
          </a:p>
        </p:txBody>
      </p:sp>
      <p:sp>
        <p:nvSpPr>
          <p:cNvPr id="7" name="Shape 5"/>
          <p:cNvSpPr/>
          <p:nvPr/>
        </p:nvSpPr>
        <p:spPr>
          <a:xfrm>
            <a:off x="548640" y="214884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8" name="Text 6"/>
          <p:cNvSpPr txBox="1"/>
          <p:nvPr/>
        </p:nvSpPr>
        <p:spPr>
          <a:xfrm>
            <a:off x="548640" y="214884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9" name="Text 7"/>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Biterwa n'ibyo laboratwari ibona mu gace k'uturemangingo, kuko kanseri z'ibere zose atari kimwe.</a:t>
            </a:r>
            <a:endParaRPr lang="rw-RW" sz="1800" dirty="0"/>
          </a:p>
        </p:txBody>
      </p:sp>
      <p:sp>
        <p:nvSpPr>
          <p:cNvPr id="10" name="Shape 8"/>
          <p:cNvSpPr/>
          <p:nvPr/>
        </p:nvSpPr>
        <p:spPr>
          <a:xfrm>
            <a:off x="548640" y="293522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548640" y="293522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2" name="Text 10"/>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Biterwa n'umuntu ubwe, ubuzima bwe n'imibereho ye.</a:t>
            </a:r>
            <a:endParaRPr lang="rw-RW" sz="1800" dirty="0"/>
          </a:p>
        </p:txBody>
      </p:sp>
      <p:sp>
        <p:nvSpPr>
          <p:cNvPr id="13" name="Shape 11"/>
          <p:cNvSpPr/>
          <p:nvPr/>
        </p:nvSpPr>
        <p:spPr>
          <a:xfrm>
            <a:off x="548640" y="372160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4" name="Text 12"/>
          <p:cNvSpPr txBox="1"/>
          <p:nvPr/>
        </p:nvSpPr>
        <p:spPr>
          <a:xfrm>
            <a:off x="548640" y="372160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5" name="Text 13"/>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Abantu bamwe bahabwa uburyo bumwe bwo kuvurwa, abandi benshi bagahabwa uburyo burenze bumwe, bumwe bukurikira ubundi.</a:t>
            </a:r>
            <a:endParaRPr lang="rw-RW" sz="1800" dirty="0"/>
          </a:p>
        </p:txBody>
      </p:sp>
      <p:sp>
        <p:nvSpPr>
          <p:cNvPr id="16" name="Shape 14"/>
          <p:cNvSpPr/>
          <p:nvPr/>
        </p:nvSpPr>
        <p:spPr>
          <a:xfrm>
            <a:off x="548640" y="450799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7" name="Text 15"/>
          <p:cNvSpPr txBox="1"/>
          <p:nvPr/>
        </p:nvSpPr>
        <p:spPr>
          <a:xfrm>
            <a:off x="548640" y="450799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8" name="Text 16"/>
          <p:cNvSpPr txBox="1"/>
          <p:nvPr/>
        </p:nvSpPr>
        <p:spPr>
          <a:xfrm>
            <a:off x="1115568" y="4471416"/>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Itsinda ry'inzobere ku bitaro ni ryo rihitamo uburyo bwo kuvura. Ntibuhitirwamo mu baturage.</a:t>
            </a:r>
            <a:endParaRPr lang="rw-RW" sz="1800" dirty="0"/>
          </a:p>
        </p:txBody>
      </p:sp>
      <p:sp>
        <p:nvSpPr>
          <p:cNvPr id="19" name="Shape 17"/>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20" name="Text 18"/>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Impamvu ibi ari ngombwa: </a:t>
            </a:r>
            <a:r>
              <a:rPr lang="rw-RW" sz="1800" dirty="0">
                <a:solidFill>
                  <a:srgbClr val="203864"/>
                </a:solidFill>
                <a:latin typeface="Calibri" pitchFamily="34" charset="0"/>
                <a:ea typeface="Calibri" pitchFamily="34" charset="-122"/>
                <a:cs typeface="Calibri" pitchFamily="34" charset="-120"/>
              </a:rPr>
              <a:t>Imiryango iragereranya. Kubisobanura birinda imyizerere mibi y'uko umuntu umwe yitabwaho neza kurusha undi.</a:t>
            </a:r>
            <a:endParaRPr lang="rw-RW" sz="1800" dirty="0"/>
          </a:p>
        </p:txBody>
      </p:sp>
      <p:sp>
        <p:nvSpPr>
          <p:cNvPr id="21" name="Text 19"/>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2" name="Text 20"/>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98</a:t>
            </a:r>
            <a:endParaRPr lang="rw-RW"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KUVURA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Gukuraho ibere ntibikorerwa buri wese</a:t>
            </a:r>
            <a:endParaRPr lang="rw-RW" sz="3000" dirty="0"/>
          </a:p>
        </p:txBody>
      </p:sp>
      <p:sp>
        <p:nvSpPr>
          <p:cNvPr id="10" name="Shape 8"/>
          <p:cNvSpPr/>
          <p:nvPr/>
        </p:nvSpPr>
        <p:spPr>
          <a:xfrm>
            <a:off x="548640" y="5733288"/>
            <a:ext cx="11091672" cy="548640"/>
          </a:xfrm>
          <a:prstGeom prst="roundRect">
            <a:avLst>
              <a:gd name="adj" fmla="val 11111"/>
            </a:avLst>
          </a:prstGeom>
          <a:solidFill>
            <a:srgbClr val="FDF6E3"/>
          </a:solidFill>
          <a:ln w="12700">
            <a:solidFill>
              <a:srgbClr val="E6D4A3"/>
            </a:solidFill>
            <a:prstDash val="solid"/>
          </a:ln>
        </p:spPr>
        <p:txBody>
          <a:bodyPr/>
          <a:lstStyle/>
          <a:p>
            <a:endParaRPr lang="rw-RW" sz="1600" dirty="0"/>
          </a:p>
        </p:txBody>
      </p:sp>
      <p:sp>
        <p:nvSpPr>
          <p:cNvPr id="11" name="Text 9"/>
          <p:cNvSpPr txBox="1"/>
          <p:nvPr/>
        </p:nvSpPr>
        <p:spPr>
          <a:xfrm>
            <a:off x="749808" y="5734407"/>
            <a:ext cx="10689336" cy="548640"/>
          </a:xfrm>
          <a:prstGeom prst="rect">
            <a:avLst/>
          </a:prstGeom>
          <a:noFill/>
          <a:ln/>
        </p:spPr>
        <p:txBody>
          <a:bodyPr wrap="square" lIns="0" tIns="0" rIns="0" bIns="0" rtlCol="0" anchor="ctr"/>
          <a:lstStyle/>
          <a:p>
            <a:pPr marL="0" indent="0">
              <a:buNone/>
            </a:pPr>
            <a:r>
              <a:rPr lang="rw-RW" sz="1600" b="1" dirty="0">
                <a:solidFill>
                  <a:srgbClr val="B06A08"/>
                </a:solidFill>
                <a:latin typeface="Calibri" pitchFamily="34" charset="0"/>
                <a:ea typeface="Calibri" pitchFamily="34" charset="-122"/>
                <a:cs typeface="Calibri" pitchFamily="34" charset="-120"/>
              </a:rPr>
              <a:t>Vuga muri ubu buryo: </a:t>
            </a:r>
            <a:r>
              <a:rPr lang="rw-RW" sz="1600" dirty="0">
                <a:solidFill>
                  <a:srgbClr val="203864"/>
                </a:solidFill>
                <a:latin typeface="Calibri" pitchFamily="34" charset="0"/>
                <a:ea typeface="Calibri" pitchFamily="34" charset="-122"/>
                <a:cs typeface="Calibri" pitchFamily="34" charset="-120"/>
              </a:rPr>
              <a:t>Abagore bamwe bagumana ibere ryabo, abandi rigakurwaho. Nta muntu ubimenya mbere y'ibizamini, bityo si impamvu yo kuguma mu rugo.</a:t>
            </a:r>
            <a:endParaRPr lang="rw-RW" sz="16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99</a:t>
            </a:r>
            <a:endParaRPr lang="rw-RW" sz="900" dirty="0"/>
          </a:p>
        </p:txBody>
      </p:sp>
      <p:grpSp>
        <p:nvGrpSpPr>
          <p:cNvPr id="18" name="Grupo 17">
            <a:extLst>
              <a:ext uri="{FF2B5EF4-FFF2-40B4-BE49-F238E27FC236}">
                <a16:creationId xmlns:a16="http://schemas.microsoft.com/office/drawing/2014/main" id="{05FE1B06-5C7C-C897-9330-8BCBDB8C8C4A}"/>
              </a:ext>
            </a:extLst>
          </p:cNvPr>
          <p:cNvGrpSpPr/>
          <p:nvPr/>
        </p:nvGrpSpPr>
        <p:grpSpPr>
          <a:xfrm>
            <a:off x="4337304" y="1240568"/>
            <a:ext cx="3514344" cy="4392136"/>
            <a:chOff x="4337304" y="1240568"/>
            <a:chExt cx="3514344" cy="4392136"/>
          </a:xfrm>
        </p:grpSpPr>
        <p:sp>
          <p:nvSpPr>
            <p:cNvPr id="6" name="Shape 4"/>
            <p:cNvSpPr/>
            <p:nvPr/>
          </p:nvSpPr>
          <p:spPr>
            <a:xfrm>
              <a:off x="4337304" y="1240568"/>
              <a:ext cx="3514344" cy="439213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405160"/>
              <a:ext cx="3075432" cy="2084832"/>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Rimwe na rimwe ibere ryose rirakurwaho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Ibi bihitirwamo bamwe, bitewe n'uburwayi. Ntibivuze buri gihe ko kanseri ikomeye kurushaho.</a:t>
              </a:r>
              <a:endParaRPr lang="rw-RW" sz="1800" dirty="0"/>
            </a:p>
          </p:txBody>
        </p:sp>
        <p:pic>
          <p:nvPicPr>
            <p:cNvPr id="15" name="Picture 14">
              <a:extLst>
                <a:ext uri="{FF2B5EF4-FFF2-40B4-BE49-F238E27FC236}">
                  <a16:creationId xmlns:a16="http://schemas.microsoft.com/office/drawing/2014/main" id="{4FB956F6-4D4B-0AB6-1F93-F8522DB2B9FD}"/>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5245821" y="3160676"/>
              <a:ext cx="1551079" cy="2250162"/>
            </a:xfrm>
            <a:prstGeom prst="rect">
              <a:avLst/>
            </a:prstGeom>
          </p:spPr>
        </p:pic>
      </p:grpSp>
      <p:grpSp>
        <p:nvGrpSpPr>
          <p:cNvPr id="17" name="Grupo 16">
            <a:extLst>
              <a:ext uri="{FF2B5EF4-FFF2-40B4-BE49-F238E27FC236}">
                <a16:creationId xmlns:a16="http://schemas.microsoft.com/office/drawing/2014/main" id="{7EE8E837-B70D-00BD-B603-31B706C96188}"/>
              </a:ext>
            </a:extLst>
          </p:cNvPr>
          <p:cNvGrpSpPr/>
          <p:nvPr/>
        </p:nvGrpSpPr>
        <p:grpSpPr>
          <a:xfrm>
            <a:off x="548640" y="1240568"/>
            <a:ext cx="3514344" cy="4392136"/>
            <a:chOff x="548640" y="1240568"/>
            <a:chExt cx="3514344" cy="4392136"/>
          </a:xfrm>
        </p:grpSpPr>
        <p:sp>
          <p:nvSpPr>
            <p:cNvPr id="4" name="Shape 2"/>
            <p:cNvSpPr/>
            <p:nvPr/>
          </p:nvSpPr>
          <p:spPr>
            <a:xfrm>
              <a:off x="548640" y="1240568"/>
              <a:ext cx="3514344" cy="439213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6" y="1405160"/>
              <a:ext cx="3075432" cy="2084832"/>
            </a:xfrm>
            <a:prstGeom prst="rect">
              <a:avLst/>
            </a:prstGeom>
            <a:noFill/>
            <a:ln/>
          </p:spPr>
          <p:txBody>
            <a:bodyPr wrap="square" lIns="0" tIns="0" rIns="0" bIns="0" rtlCol="0" anchor="t">
              <a:normAutofit fontScale="95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Rimwe na rimwe hakurwaho ikibyimba gusa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 bantu bamwe, umuganga abaga akuraho ikibyimba n'agace gato kagikikije, maze igice gisigaye cy'ibere kikaguma.</a:t>
              </a:r>
              <a:endParaRPr lang="rw-RW" sz="1800" dirty="0"/>
            </a:p>
          </p:txBody>
        </p:sp>
        <p:pic>
          <p:nvPicPr>
            <p:cNvPr id="14" name="Picture 14">
              <a:extLst>
                <a:ext uri="{FF2B5EF4-FFF2-40B4-BE49-F238E27FC236}">
                  <a16:creationId xmlns:a16="http://schemas.microsoft.com/office/drawing/2014/main" id="{8E7F2919-7002-CFD8-B517-9C5BD9B8D1AA}"/>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359269" y="3160676"/>
              <a:ext cx="1551079" cy="2205626"/>
            </a:xfrm>
            <a:prstGeom prst="rect">
              <a:avLst/>
            </a:prstGeom>
          </p:spPr>
        </p:pic>
      </p:grpSp>
      <p:grpSp>
        <p:nvGrpSpPr>
          <p:cNvPr id="19" name="Grupo 18">
            <a:extLst>
              <a:ext uri="{FF2B5EF4-FFF2-40B4-BE49-F238E27FC236}">
                <a16:creationId xmlns:a16="http://schemas.microsoft.com/office/drawing/2014/main" id="{024152C9-5225-90D8-69DA-7270C031256F}"/>
              </a:ext>
            </a:extLst>
          </p:cNvPr>
          <p:cNvGrpSpPr/>
          <p:nvPr/>
        </p:nvGrpSpPr>
        <p:grpSpPr>
          <a:xfrm>
            <a:off x="8125968" y="1240568"/>
            <a:ext cx="3514344" cy="4392136"/>
            <a:chOff x="8125968" y="1240568"/>
            <a:chExt cx="3514344" cy="4392136"/>
          </a:xfrm>
        </p:grpSpPr>
        <p:sp>
          <p:nvSpPr>
            <p:cNvPr id="8" name="Shape 6"/>
            <p:cNvSpPr/>
            <p:nvPr/>
          </p:nvSpPr>
          <p:spPr>
            <a:xfrm>
              <a:off x="8125968" y="1240568"/>
              <a:ext cx="3514344" cy="439213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405160"/>
              <a:ext cx="3075432" cy="149961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Bifatwaho icyemezo nyuma y'ibizamini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Nta muntu ushobora kuvuga uburyo umuntu azabagwa mbere y'uko ibizamini birangira.</a:t>
              </a:r>
              <a:endParaRPr lang="rw-RW" sz="1800" dirty="0"/>
            </a:p>
          </p:txBody>
        </p:sp>
        <p:pic>
          <p:nvPicPr>
            <p:cNvPr id="16" name="Picture 14">
              <a:extLst>
                <a:ext uri="{FF2B5EF4-FFF2-40B4-BE49-F238E27FC236}">
                  <a16:creationId xmlns:a16="http://schemas.microsoft.com/office/drawing/2014/main" id="{A460533B-BEA4-8EFC-FE84-F557F57A20F2}"/>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9034485" y="3160675"/>
              <a:ext cx="1577016" cy="2250161"/>
            </a:xfrm>
            <a:prstGeom prst="rect">
              <a:avLst/>
            </a:prstGeom>
          </p:spPr>
        </p:pic>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GIKORANA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Imyizerere ku bijyanye n'ibizamini n'ubuvuzi bw'ibitaro</a:t>
            </a:r>
            <a:endParaRPr lang="rw-RW" sz="3000" dirty="0"/>
          </a:p>
        </p:txBody>
      </p:sp>
      <p:sp>
        <p:nvSpPr>
          <p:cNvPr id="4" name="Text 2"/>
          <p:cNvSpPr txBox="1"/>
          <p:nvPr/>
        </p:nvSpPr>
        <p:spPr>
          <a:xfrm>
            <a:off x="548640" y="1325880"/>
            <a:ext cx="11091672" cy="320040"/>
          </a:xfrm>
          <a:prstGeom prst="rect">
            <a:avLst/>
          </a:prstGeom>
          <a:noFill/>
          <a:ln/>
        </p:spPr>
        <p:txBody>
          <a:bodyPr wrap="square" lIns="0" tIns="0" rIns="0" bIns="0" rtlCol="0" anchor="ctr"/>
          <a:lstStyle/>
          <a:p>
            <a:pPr marL="0" indent="0">
              <a:buNone/>
            </a:pPr>
            <a:r>
              <a:rPr lang="rw-RW" sz="1600" i="1" dirty="0">
                <a:solidFill>
                  <a:srgbClr val="B06A08"/>
                </a:solidFill>
                <a:latin typeface="Calibri" pitchFamily="34" charset="0"/>
                <a:ea typeface="Calibri" pitchFamily="34" charset="-122"/>
                <a:cs typeface="Calibri" pitchFamily="34" charset="-120"/>
              </a:rPr>
              <a:t>Hitamo buri gitekerezo kugira ngo ubone igisubizo nyacyo.</a:t>
            </a:r>
            <a:endParaRPr lang="rw-RW" sz="1600" dirty="0"/>
          </a:p>
        </p:txBody>
      </p:sp>
      <p:sp>
        <p:nvSpPr>
          <p:cNvPr id="5" name="Shape 3"/>
          <p:cNvSpPr/>
          <p:nvPr/>
        </p:nvSpPr>
        <p:spPr>
          <a:xfrm>
            <a:off x="548640" y="1737360"/>
            <a:ext cx="4206240" cy="1001268"/>
          </a:xfrm>
          <a:prstGeom prst="roundRect">
            <a:avLst>
              <a:gd name="adj" fmla="val 5479"/>
            </a:avLst>
          </a:prstGeom>
          <a:solidFill>
            <a:srgbClr val="FBF1F1"/>
          </a:solidFill>
          <a:ln w="12700">
            <a:solidFill>
              <a:srgbClr val="EFD6D6"/>
            </a:solidFill>
            <a:prstDash val="solid"/>
          </a:ln>
        </p:spPr>
        <p:txBody>
          <a:bodyPr/>
          <a:lstStyle/>
          <a:p>
            <a:endParaRPr lang="rw-RW" dirty="0"/>
          </a:p>
        </p:txBody>
      </p:sp>
      <p:sp>
        <p:nvSpPr>
          <p:cNvPr id="6" name="Text 4"/>
          <p:cNvSpPr txBox="1"/>
          <p:nvPr/>
        </p:nvSpPr>
        <p:spPr>
          <a:xfrm>
            <a:off x="731520" y="1773936"/>
            <a:ext cx="3840480" cy="928116"/>
          </a:xfrm>
          <a:prstGeom prst="rect">
            <a:avLst/>
          </a:prstGeom>
          <a:noFill/>
          <a:ln/>
        </p:spPr>
        <p:txBody>
          <a:bodyPr wrap="square" lIns="0" tIns="0" rIns="0" bIns="0" rtlCol="0" anchor="ct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Gufata agace gato k'uturemangingo bituma kanseri ikwirakwira.</a:t>
            </a:r>
            <a:endParaRPr lang="rw-RW" sz="1700" dirty="0"/>
          </a:p>
        </p:txBody>
      </p:sp>
      <p:sp>
        <p:nvSpPr>
          <p:cNvPr id="7" name="Shape 5"/>
          <p:cNvSpPr/>
          <p:nvPr/>
        </p:nvSpPr>
        <p:spPr>
          <a:xfrm>
            <a:off x="5029200" y="1737360"/>
            <a:ext cx="6611112" cy="1001268"/>
          </a:xfrm>
          <a:prstGeom prst="roundRect">
            <a:avLst>
              <a:gd name="adj" fmla="val 5479"/>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5212080" y="1773936"/>
            <a:ext cx="6245352" cy="928116"/>
          </a:xfrm>
          <a:prstGeom prst="rect">
            <a:avLst/>
          </a:prstGeom>
          <a:noFill/>
          <a:ln/>
        </p:spPr>
        <p:txBody>
          <a:bodyPr wrap="square" lIns="0" tIns="0" rIns="0" bIns="0" rtlCol="0" anchor="ct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Bikorwa vuba, ni bwo buryo bwo kubona igisubizo, kandi ntibikwirakwiza indwara.</a:t>
            </a:r>
            <a:endParaRPr lang="rw-RW" sz="1700" dirty="0"/>
          </a:p>
        </p:txBody>
      </p:sp>
      <p:sp>
        <p:nvSpPr>
          <p:cNvPr id="9" name="Shape 7"/>
          <p:cNvSpPr/>
          <p:nvPr/>
        </p:nvSpPr>
        <p:spPr>
          <a:xfrm>
            <a:off x="548640" y="2866644"/>
            <a:ext cx="4206240" cy="1001268"/>
          </a:xfrm>
          <a:prstGeom prst="roundRect">
            <a:avLst>
              <a:gd name="adj" fmla="val 5479"/>
            </a:avLst>
          </a:prstGeom>
          <a:solidFill>
            <a:srgbClr val="FBF1F1"/>
          </a:solidFill>
          <a:ln w="12700">
            <a:solidFill>
              <a:srgbClr val="EFD6D6"/>
            </a:solidFill>
            <a:prstDash val="solid"/>
          </a:ln>
        </p:spPr>
        <p:txBody>
          <a:bodyPr/>
          <a:lstStyle/>
          <a:p>
            <a:endParaRPr lang="rw-RW" dirty="0"/>
          </a:p>
        </p:txBody>
      </p:sp>
      <p:sp>
        <p:nvSpPr>
          <p:cNvPr id="10" name="Text 8"/>
          <p:cNvSpPr txBox="1"/>
          <p:nvPr/>
        </p:nvSpPr>
        <p:spPr>
          <a:xfrm>
            <a:off x="731520" y="2903220"/>
            <a:ext cx="3840480" cy="928116"/>
          </a:xfrm>
          <a:prstGeom prst="rect">
            <a:avLst/>
          </a:prstGeom>
          <a:noFill/>
          <a:ln/>
        </p:spPr>
        <p:txBody>
          <a:bodyPr wrap="square" lIns="0" tIns="0" rIns="0" bIns="0" rtlCol="0" anchor="ct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Kubagwa bituma indwara ikwirakwira mu mubiri.</a:t>
            </a:r>
            <a:endParaRPr lang="rw-RW" sz="1700" dirty="0"/>
          </a:p>
        </p:txBody>
      </p:sp>
      <p:sp>
        <p:nvSpPr>
          <p:cNvPr id="11" name="Shape 9"/>
          <p:cNvSpPr/>
          <p:nvPr/>
        </p:nvSpPr>
        <p:spPr>
          <a:xfrm>
            <a:off x="5029200" y="2866644"/>
            <a:ext cx="6611112" cy="1001268"/>
          </a:xfrm>
          <a:prstGeom prst="roundRect">
            <a:avLst>
              <a:gd name="adj" fmla="val 5479"/>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5212080" y="2903220"/>
            <a:ext cx="6245352" cy="928116"/>
          </a:xfrm>
          <a:prstGeom prst="rect">
            <a:avLst/>
          </a:prstGeom>
          <a:noFill/>
          <a:ln/>
        </p:spPr>
        <p:txBody>
          <a:bodyPr wrap="square" lIns="0" tIns="0" rIns="0" bIns="0" rtlCol="0" anchor="ct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Kubagwa bikuraho kanseri iriho. Ntibikwirakwiza indwara.</a:t>
            </a:r>
            <a:endParaRPr lang="rw-RW" sz="1700" dirty="0"/>
          </a:p>
        </p:txBody>
      </p:sp>
      <p:sp>
        <p:nvSpPr>
          <p:cNvPr id="13" name="Shape 11"/>
          <p:cNvSpPr/>
          <p:nvPr/>
        </p:nvSpPr>
        <p:spPr>
          <a:xfrm>
            <a:off x="548640" y="3995928"/>
            <a:ext cx="4206240" cy="1001268"/>
          </a:xfrm>
          <a:prstGeom prst="roundRect">
            <a:avLst>
              <a:gd name="adj" fmla="val 5479"/>
            </a:avLst>
          </a:prstGeom>
          <a:solidFill>
            <a:srgbClr val="FBF1F1"/>
          </a:solidFill>
          <a:ln w="12700">
            <a:solidFill>
              <a:srgbClr val="EFD6D6"/>
            </a:solidFill>
            <a:prstDash val="solid"/>
          </a:ln>
        </p:spPr>
        <p:txBody>
          <a:bodyPr/>
          <a:lstStyle/>
          <a:p>
            <a:endParaRPr lang="rw-RW" dirty="0"/>
          </a:p>
        </p:txBody>
      </p:sp>
      <p:sp>
        <p:nvSpPr>
          <p:cNvPr id="14" name="Text 12"/>
          <p:cNvSpPr txBox="1"/>
          <p:nvPr/>
        </p:nvSpPr>
        <p:spPr>
          <a:xfrm>
            <a:off x="731520" y="4032504"/>
            <a:ext cx="3840480" cy="928116"/>
          </a:xfrm>
          <a:prstGeom prst="rect">
            <a:avLst/>
          </a:prstGeom>
          <a:noFill/>
          <a:ln/>
        </p:spPr>
        <p:txBody>
          <a:bodyPr wrap="square" lIns="0" tIns="0" rIns="0" bIns="0" rtlCol="0" anchor="ct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Umuntu wese urwaye kanseri y'ibere akurwaho ibere ryose.</a:t>
            </a:r>
            <a:endParaRPr lang="rw-RW" sz="1700" dirty="0"/>
          </a:p>
        </p:txBody>
      </p:sp>
      <p:sp>
        <p:nvSpPr>
          <p:cNvPr id="15" name="Shape 13"/>
          <p:cNvSpPr/>
          <p:nvPr/>
        </p:nvSpPr>
        <p:spPr>
          <a:xfrm>
            <a:off x="5029200" y="3995928"/>
            <a:ext cx="6611112" cy="1001268"/>
          </a:xfrm>
          <a:prstGeom prst="roundRect">
            <a:avLst>
              <a:gd name="adj" fmla="val 5479"/>
            </a:avLst>
          </a:prstGeom>
          <a:solidFill>
            <a:srgbClr val="E9F3EC"/>
          </a:solidFill>
          <a:ln w="12700">
            <a:solidFill>
              <a:srgbClr val="B7D6C1"/>
            </a:solidFill>
            <a:prstDash val="solid"/>
          </a:ln>
        </p:spPr>
        <p:txBody>
          <a:bodyPr/>
          <a:lstStyle/>
          <a:p>
            <a:endParaRPr lang="rw-RW" dirty="0"/>
          </a:p>
        </p:txBody>
      </p:sp>
      <p:sp>
        <p:nvSpPr>
          <p:cNvPr id="16" name="Text 14"/>
          <p:cNvSpPr txBox="1"/>
          <p:nvPr/>
        </p:nvSpPr>
        <p:spPr>
          <a:xfrm>
            <a:off x="5212080" y="4032504"/>
            <a:ext cx="6245352" cy="928116"/>
          </a:xfrm>
          <a:prstGeom prst="rect">
            <a:avLst/>
          </a:prstGeom>
          <a:noFill/>
          <a:ln/>
        </p:spPr>
        <p:txBody>
          <a:bodyPr wrap="square" lIns="0" tIns="0" rIns="0" bIns="0" rtlCol="0" anchor="ct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Ku bantu bamwe hakurwaho gusa ikibyimba n'agace gato kagikikije. Bifatwaho icyemezo nyuma y'ibizamini.</a:t>
            </a:r>
            <a:endParaRPr lang="rw-RW" sz="1700" dirty="0"/>
          </a:p>
        </p:txBody>
      </p:sp>
      <p:sp>
        <p:nvSpPr>
          <p:cNvPr id="17" name="Shape 15"/>
          <p:cNvSpPr/>
          <p:nvPr/>
        </p:nvSpPr>
        <p:spPr>
          <a:xfrm>
            <a:off x="548640" y="5125212"/>
            <a:ext cx="4206240" cy="1001268"/>
          </a:xfrm>
          <a:prstGeom prst="roundRect">
            <a:avLst>
              <a:gd name="adj" fmla="val 5479"/>
            </a:avLst>
          </a:prstGeom>
          <a:solidFill>
            <a:srgbClr val="FBF1F1"/>
          </a:solidFill>
          <a:ln w="12700">
            <a:solidFill>
              <a:srgbClr val="EFD6D6"/>
            </a:solidFill>
            <a:prstDash val="solid"/>
          </a:ln>
        </p:spPr>
        <p:txBody>
          <a:bodyPr/>
          <a:lstStyle/>
          <a:p>
            <a:endParaRPr lang="rw-RW" dirty="0"/>
          </a:p>
        </p:txBody>
      </p:sp>
      <p:sp>
        <p:nvSpPr>
          <p:cNvPr id="18" name="Text 16"/>
          <p:cNvSpPr txBox="1"/>
          <p:nvPr/>
        </p:nvSpPr>
        <p:spPr>
          <a:xfrm>
            <a:off x="731520" y="5161788"/>
            <a:ext cx="3840480" cy="928116"/>
          </a:xfrm>
          <a:prstGeom prst="rect">
            <a:avLst/>
          </a:prstGeom>
          <a:noFill/>
          <a:ln/>
        </p:spPr>
        <p:txBody>
          <a:bodyPr wrap="square" lIns="0" tIns="0" rIns="0" bIns="0" rtlCol="0" anchor="ctr"/>
          <a:lstStyle/>
          <a:p>
            <a:pPr marL="0" indent="0">
              <a:buNone/>
            </a:pPr>
            <a:r>
              <a:rPr lang="rw-RW" sz="1700" b="1" dirty="0">
                <a:solidFill>
                  <a:srgbClr val="A33A3A"/>
                </a:solidFill>
                <a:latin typeface="Calibri" pitchFamily="34" charset="0"/>
                <a:ea typeface="Calibri" pitchFamily="34" charset="-122"/>
                <a:cs typeface="Calibri" pitchFamily="34" charset="-120"/>
              </a:rPr>
              <a:t>Ikinyoma: </a:t>
            </a:r>
            <a:r>
              <a:rPr lang="rw-RW" sz="1700" dirty="0">
                <a:solidFill>
                  <a:srgbClr val="203864"/>
                </a:solidFill>
                <a:latin typeface="Calibri" pitchFamily="34" charset="0"/>
                <a:ea typeface="Calibri" pitchFamily="34" charset="-122"/>
                <a:cs typeface="Calibri" pitchFamily="34" charset="-120"/>
              </a:rPr>
              <a:t>Buri wese atakaza umusatsi.</a:t>
            </a:r>
            <a:endParaRPr lang="rw-RW" sz="1700" dirty="0"/>
          </a:p>
        </p:txBody>
      </p:sp>
      <p:sp>
        <p:nvSpPr>
          <p:cNvPr id="19" name="Shape 17"/>
          <p:cNvSpPr/>
          <p:nvPr/>
        </p:nvSpPr>
        <p:spPr>
          <a:xfrm>
            <a:off x="5029200" y="5125212"/>
            <a:ext cx="6611112" cy="1001268"/>
          </a:xfrm>
          <a:prstGeom prst="roundRect">
            <a:avLst>
              <a:gd name="adj" fmla="val 5479"/>
            </a:avLst>
          </a:prstGeom>
          <a:solidFill>
            <a:srgbClr val="E9F3EC"/>
          </a:solidFill>
          <a:ln w="12700">
            <a:solidFill>
              <a:srgbClr val="B7D6C1"/>
            </a:solidFill>
            <a:prstDash val="solid"/>
          </a:ln>
        </p:spPr>
        <p:txBody>
          <a:bodyPr/>
          <a:lstStyle/>
          <a:p>
            <a:endParaRPr lang="rw-RW" dirty="0"/>
          </a:p>
        </p:txBody>
      </p:sp>
      <p:sp>
        <p:nvSpPr>
          <p:cNvPr id="20" name="Text 18"/>
          <p:cNvSpPr txBox="1"/>
          <p:nvPr/>
        </p:nvSpPr>
        <p:spPr>
          <a:xfrm>
            <a:off x="5212080" y="5161788"/>
            <a:ext cx="6245352" cy="928116"/>
          </a:xfrm>
          <a:prstGeom prst="rect">
            <a:avLst/>
          </a:prstGeom>
          <a:noFill/>
          <a:ln/>
        </p:spPr>
        <p:txBody>
          <a:bodyPr wrap="square" lIns="0" tIns="0" rIns="0" bIns="0" rtlCol="0" anchor="ctr"/>
          <a:lstStyle/>
          <a:p>
            <a:pPr marL="0" indent="0">
              <a:buNone/>
            </a:pPr>
            <a:r>
              <a:rPr lang="rw-RW" sz="1700" b="1" dirty="0">
                <a:solidFill>
                  <a:srgbClr val="2E6B45"/>
                </a:solidFill>
                <a:latin typeface="Calibri" pitchFamily="34" charset="0"/>
                <a:ea typeface="Calibri" pitchFamily="34" charset="-122"/>
                <a:cs typeface="Calibri" pitchFamily="34" charset="-120"/>
              </a:rPr>
              <a:t>Ukuri: </a:t>
            </a:r>
            <a:r>
              <a:rPr lang="rw-RW" sz="1700" dirty="0">
                <a:solidFill>
                  <a:srgbClr val="203864"/>
                </a:solidFill>
                <a:latin typeface="Calibri" pitchFamily="34" charset="0"/>
                <a:ea typeface="Calibri" pitchFamily="34" charset="-122"/>
                <a:cs typeface="Calibri" pitchFamily="34" charset="-120"/>
              </a:rPr>
              <a:t>Gutakaza umusatsi biterwa n'imiti imwe n'imwe ya kanseri, si yose, kandi umusatsi wongera kumera nyuma.</a:t>
            </a:r>
            <a:endParaRPr lang="rw-RW" sz="1700" dirty="0"/>
          </a:p>
        </p:txBody>
      </p:sp>
      <p:sp>
        <p:nvSpPr>
          <p:cNvPr id="21" name="Text 19"/>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2" name="Text 20"/>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100</a:t>
            </a:r>
            <a:endParaRPr lang="rw-RW"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1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 cyemeza burundu kanseri y'ibere?</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Uko umuntu yiyumva</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Ifoto y'ibere yonyine</a:t>
            </a:r>
            <a:endParaRPr lang="rw-RW" sz="1800" dirty="0"/>
          </a:p>
        </p:txBody>
      </p:sp>
      <p:sp>
        <p:nvSpPr>
          <p:cNvPr id="9" name="Shape 7"/>
          <p:cNvSpPr/>
          <p:nvPr/>
        </p:nvSpPr>
        <p:spPr>
          <a:xfrm>
            <a:off x="548640" y="313639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Isuzuma rya laboratwari ku gace gato k'uturemangingo kakuwe mu ibere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Gusuzuma amabere neza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Ibibazo, isuzuma n'amafoto y'ibere byongera cyangwa bigabanya gukeka. Agace k'uturemangingo gasuzumwe muri laboratwari ni ko konyine gatanga igisubizo, ni yo mpamvu gahunda ya nyuma mu nzira y'isuzuma itagomba gusibwa.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101</a:t>
            </a:r>
            <a:endParaRPr lang="rw-RW" sz="900" dirty="0"/>
          </a:p>
        </p:txBody>
      </p:sp>
    </p:spTree>
    <p:extLst>
      <p:ext uri="{BB962C8B-B14F-4D97-AF65-F5344CB8AC3E}">
        <p14:creationId xmlns:p14="http://schemas.microsoft.com/office/powerpoint/2010/main" val="7175606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2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Umuryango uvuga ko gufata agace gato k'ikibyimba bizatuma indwara ikwirakwira mu mubiri, bityo uwo muvandimwe wabo akaba agomba kuguma mu rugo. Ubabwira iki?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Ko bafite ukuri ko agomba kuguma mu rugo</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Ko kubagwa gukomeye cyane ari byo byonyine bikwirakwiza indwara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Ko agace gashobora gufatwa nyuma, hashize amezi make</a:t>
            </a:r>
            <a:endParaRPr lang="rw-RW" sz="1800" dirty="0"/>
          </a:p>
        </p:txBody>
      </p:sp>
      <p:sp>
        <p:nvSpPr>
          <p:cNvPr id="11" name="Shape 9"/>
          <p:cNvSpPr/>
          <p:nvPr/>
        </p:nvSpPr>
        <p:spPr>
          <a:xfrm>
            <a:off x="548640" y="408736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Ko gufata agace gato bikorwa vuba, ari bwo buryo bwonyine bwo kumenya niba ari kanseri, kandi ko bidakwirakwiza indwara</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Iyi myizerere irakunze kugaragara kandi itwara abantu amezi. Kuyisubiza utuje, no kwemera kujyana icyo kibazo ku kigo nderabuzima muri kumwe, ni kimwe mu bintu by'ingenzi umujyanama w'ubuzima akora.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102</a:t>
            </a:r>
            <a:endParaRPr lang="rw-RW" sz="900" dirty="0"/>
          </a:p>
        </p:txBody>
      </p:sp>
    </p:spTree>
    <p:extLst>
      <p:ext uri="{BB962C8B-B14F-4D97-AF65-F5344CB8AC3E}">
        <p14:creationId xmlns:p14="http://schemas.microsoft.com/office/powerpoint/2010/main" val="407914516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3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Abagore babiri bo mu mudugudu umwe barwaye kanseri y'ibere kandi bahabwa ubuvuzi butandukanye. Umuryango umwe uvuga ko undi mugore yitabwaho neza kurusha uwabo. Usobanura iki?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Ko ubuvuzi buhitwamo n'uwishyura menshi</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Ko bombi bagomba guhabwa ubuvuzi bumwe neza neza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b="1" dirty="0">
                <a:solidFill>
                  <a:srgbClr val="5B7FA6"/>
                </a:solidFill>
                <a:latin typeface="Calibri" pitchFamily="34" charset="0"/>
                <a:cs typeface="Calibri" pitchFamily="34" charset="-120"/>
              </a:rPr>
              <a:t>C </a:t>
            </a:r>
            <a:r>
              <a:rPr lang="rw-RW" sz="1800" dirty="0">
                <a:solidFill>
                  <a:srgbClr val="203864"/>
                </a:solidFill>
                <a:latin typeface="Calibri" pitchFamily="34" charset="0"/>
                <a:ea typeface="Calibri" pitchFamily="34" charset="-122"/>
                <a:cs typeface="Calibri" pitchFamily="34" charset="-120"/>
              </a:rPr>
              <a:t>  </a:t>
            </a:r>
            <a:r>
              <a:rPr lang="rw-RW" sz="1800" dirty="0">
                <a:solidFill>
                  <a:srgbClr val="002060"/>
                </a:solidFill>
                <a:latin typeface="Calibri" pitchFamily="34" charset="0"/>
                <a:ea typeface="Calibri" pitchFamily="34" charset="-122"/>
                <a:cs typeface="Calibri" pitchFamily="34" charset="-120"/>
              </a:rPr>
              <a:t>Ko abakozi b'ubuzima bafata abantu mu buryo butari bwo</a:t>
            </a:r>
            <a:endParaRPr lang="rw-RW" sz="1800" dirty="0">
              <a:solidFill>
                <a:srgbClr val="002060"/>
              </a:solidFill>
            </a:endParaRPr>
          </a:p>
        </p:txBody>
      </p:sp>
      <p:sp>
        <p:nvSpPr>
          <p:cNvPr id="11" name="Shape 9"/>
          <p:cNvSpPr/>
          <p:nvPr/>
        </p:nvSpPr>
        <p:spPr>
          <a:xfrm>
            <a:off x="548640" y="408736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Ko ubuvuzi biterwa n'urwego indwara igezeho, ibyo laboratwari yabonye, na buri muntu, kandi bugenwa n'itsinda ry'inzobere</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Kanseri z'ibere ntabwo zose ari kimwe, kandi n'abazirwaye ntibameze kimwe. Kubisobanura birinda imiryango yombi kugereranya mu buryo butera uburakari no gushidikanya ku buvuzi bahabwa.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103</a:t>
            </a:r>
            <a:endParaRPr lang="rw-RW" sz="900" dirty="0"/>
          </a:p>
        </p:txBody>
      </p:sp>
    </p:spTree>
    <p:extLst>
      <p:ext uri="{BB962C8B-B14F-4D97-AF65-F5344CB8AC3E}">
        <p14:creationId xmlns:p14="http://schemas.microsoft.com/office/powerpoint/2010/main" val="273221145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4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yoherejwe gufatwa ifoto y'ibere n'agace gato k'uturemangingo. Arabaza niba ibi bisobanura ko arwaye kanseri. Ni iki cy'ukuri?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Nta muntu ushobora kugira icyo amubwira na kimwe</a:t>
            </a:r>
            <a:endParaRPr lang="rw-RW" sz="1800" dirty="0"/>
          </a:p>
        </p:txBody>
      </p:sp>
      <p:sp>
        <p:nvSpPr>
          <p:cNvPr id="7" name="Shape 5"/>
          <p:cNvSpPr/>
          <p:nvPr/>
        </p:nvSpPr>
        <p:spPr>
          <a:xfrm>
            <a:off x="548640" y="282549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Oya, ibizamini bikorwa kugira ngo hamenyekane iyo mpinduka iyo ari yo, kandi abantu benshi basuzumwa kubera impinduka mu ibere basanga nta kanseri bafite</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Agomba gutekereza ko ari bibi kurusha ibindi, agategura umuryango we</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Yego, koherezwa kwisuzumisha bivuze ko kanseri yabonetse</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Koherezwa kwisuzumisha bisobanura ko impinduka igiye kurebwa neza, si uko igisubizo cyabonetse. Kubivuga mu buryo bweruye ni byo bituma umuntu ufite ubwoba akomeza inzira y'isuzuma aho kuyireka.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104</a:t>
            </a:r>
            <a:endParaRPr lang="rw-RW" sz="900" dirty="0"/>
          </a:p>
        </p:txBody>
      </p:sp>
    </p:spTree>
    <p:extLst>
      <p:ext uri="{BB962C8B-B14F-4D97-AF65-F5344CB8AC3E}">
        <p14:creationId xmlns:p14="http://schemas.microsoft.com/office/powerpoint/2010/main" val="227328201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Ibintu by'ingenzi</a:t>
            </a:r>
            <a:endParaRPr lang="rw-RW" sz="3000" dirty="0"/>
          </a:p>
        </p:txBody>
      </p:sp>
      <p:sp>
        <p:nvSpPr>
          <p:cNvPr id="4" name="Shape 2"/>
          <p:cNvSpPr/>
          <p:nvPr/>
        </p:nvSpPr>
        <p:spPr>
          <a:xfrm>
            <a:off x="548640" y="1463040"/>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822960" y="1463040"/>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Ibibazo, isuzuma n'amafoto y'amabere byerekana inzira. Laboratwari itanga igisubizo.</a:t>
            </a:r>
            <a:endParaRPr lang="rw-RW" sz="1800" dirty="0"/>
          </a:p>
        </p:txBody>
      </p:sp>
      <p:sp>
        <p:nvSpPr>
          <p:cNvPr id="6" name="Shape 4"/>
          <p:cNvSpPr/>
          <p:nvPr/>
        </p:nvSpPr>
        <p:spPr>
          <a:xfrm>
            <a:off x="548640" y="2322576"/>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822960" y="2322576"/>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Agace gato k'uturemangingo gasuzumwe muri laboratwari ni ko konyine gashobora kwemeza kanseri y'ibere.</a:t>
            </a:r>
            <a:endParaRPr lang="rw-RW" sz="1800" dirty="0"/>
          </a:p>
        </p:txBody>
      </p:sp>
      <p:sp>
        <p:nvSpPr>
          <p:cNvPr id="8" name="Shape 6"/>
          <p:cNvSpPr/>
          <p:nvPr/>
        </p:nvSpPr>
        <p:spPr>
          <a:xfrm>
            <a:off x="548640" y="3182112"/>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22960" y="3182112"/>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Gufata ako gace ntibituma indwara ikwirakwira, kandi no kubagwa ntibiyikwirakwiza.</a:t>
            </a:r>
            <a:endParaRPr lang="rw-RW" sz="1800" dirty="0"/>
          </a:p>
        </p:txBody>
      </p:sp>
      <p:sp>
        <p:nvSpPr>
          <p:cNvPr id="10" name="Shape 8"/>
          <p:cNvSpPr/>
          <p:nvPr/>
        </p:nvSpPr>
        <p:spPr>
          <a:xfrm>
            <a:off x="548640" y="4041648"/>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822960" y="4041648"/>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Ubuvuzi bushobora kuba kubagwa, kuvura imirasire, imiti ya kanseri, ibinini bya buri munsi, cyangwa uruhurirane.</a:t>
            </a:r>
            <a:endParaRPr lang="rw-RW" sz="1800" dirty="0"/>
          </a:p>
        </p:txBody>
      </p:sp>
      <p:sp>
        <p:nvSpPr>
          <p:cNvPr id="12" name="Shape 10"/>
          <p:cNvSpPr/>
          <p:nvPr/>
        </p:nvSpPr>
        <p:spPr>
          <a:xfrm>
            <a:off x="548640" y="4901184"/>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3" name="Text 11"/>
          <p:cNvSpPr txBox="1"/>
          <p:nvPr/>
        </p:nvSpPr>
        <p:spPr>
          <a:xfrm>
            <a:off x="822960" y="4901184"/>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Ubuvuzi butandukana ku muntu ku wundi, kandi gukuraho ibere ntibikorerwa buri wese.</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105</a:t>
            </a:r>
            <a:endParaRPr lang="rw-RW"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4 | KWIYUMVIRA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Kwiyumvira</a:t>
            </a:r>
            <a:endParaRPr lang="rw-RW" sz="3000" dirty="0"/>
          </a:p>
        </p:txBody>
      </p:sp>
      <p:sp>
        <p:nvSpPr>
          <p:cNvPr id="4" name="Text 2"/>
          <p:cNvSpPr txBox="1"/>
          <p:nvPr/>
        </p:nvSpPr>
        <p:spPr>
          <a:xfrm>
            <a:off x="548640" y="1371600"/>
            <a:ext cx="11091672" cy="36576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Amabwiriza ku wiga: </a:t>
            </a:r>
            <a:r>
              <a:rPr lang="rw-RW" sz="1800" dirty="0">
                <a:solidFill>
                  <a:srgbClr val="203864"/>
                </a:solidFill>
                <a:latin typeface="Calibri" pitchFamily="34" charset="0"/>
                <a:ea typeface="Calibri" pitchFamily="34" charset="-122"/>
                <a:cs typeface="Calibri" pitchFamily="34" charset="-120"/>
              </a:rPr>
              <a:t>Andika igisubizo cyawe mu gasanduku k'inyandiko. Ibi bisubizo ntibihabwa amanota.</a:t>
            </a:r>
            <a:endParaRPr lang="rw-RW" sz="1800" dirty="0"/>
          </a:p>
        </p:txBody>
      </p:sp>
      <p:sp>
        <p:nvSpPr>
          <p:cNvPr id="5" name="Shape 3"/>
          <p:cNvSpPr/>
          <p:nvPr/>
        </p:nvSpPr>
        <p:spPr>
          <a:xfrm>
            <a:off x="548640" y="1965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65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947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gute wasobanurira umuryango impamvu ibisubizo bya laboratwari bifata igihe?</a:t>
            </a:r>
            <a:endParaRPr lang="rw-RW" sz="1800" dirty="0"/>
          </a:p>
        </p:txBody>
      </p:sp>
      <p:sp>
        <p:nvSpPr>
          <p:cNvPr id="8" name="Shape 6"/>
          <p:cNvSpPr/>
          <p:nvPr/>
        </p:nvSpPr>
        <p:spPr>
          <a:xfrm>
            <a:off x="1115568" y="2441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9" name="Shape 7"/>
          <p:cNvSpPr/>
          <p:nvPr/>
        </p:nvSpPr>
        <p:spPr>
          <a:xfrm>
            <a:off x="548640" y="3108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0" name="Text 8"/>
          <p:cNvSpPr txBox="1"/>
          <p:nvPr/>
        </p:nvSpPr>
        <p:spPr>
          <a:xfrm>
            <a:off x="548640" y="3108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1" name="Text 9"/>
          <p:cNvSpPr txBox="1"/>
          <p:nvPr/>
        </p:nvSpPr>
        <p:spPr>
          <a:xfrm>
            <a:off x="1115568" y="3090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iki wabwira umuryango ushaka ko umugore aguma mu rugo aho kujya gufatwa agace gato k'uturemangingo?</a:t>
            </a:r>
            <a:endParaRPr lang="rw-RW" sz="1800" dirty="0"/>
          </a:p>
        </p:txBody>
      </p:sp>
      <p:sp>
        <p:nvSpPr>
          <p:cNvPr id="12" name="Shape 10"/>
          <p:cNvSpPr/>
          <p:nvPr/>
        </p:nvSpPr>
        <p:spPr>
          <a:xfrm>
            <a:off x="1115568" y="3584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3" name="Shape 11"/>
          <p:cNvSpPr/>
          <p:nvPr/>
        </p:nvSpPr>
        <p:spPr>
          <a:xfrm>
            <a:off x="548640" y="4251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4" name="Text 12"/>
          <p:cNvSpPr txBox="1"/>
          <p:nvPr/>
        </p:nvSpPr>
        <p:spPr>
          <a:xfrm>
            <a:off x="548640" y="4251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5" name="Text 13"/>
          <p:cNvSpPr txBox="1"/>
          <p:nvPr/>
        </p:nvSpPr>
        <p:spPr>
          <a:xfrm>
            <a:off x="1115568" y="4233672"/>
            <a:ext cx="10524744" cy="457200"/>
          </a:xfrm>
          <a:prstGeom prst="rect">
            <a:avLst/>
          </a:prstGeom>
          <a:noFill/>
          <a:ln/>
        </p:spPr>
        <p:txBody>
          <a:bodyPr wrap="square" lIns="0" tIns="0" rIns="0" bIns="0" rtlCol="0" anchor="t">
            <a:normAutofit fontScale="93000"/>
          </a:bodyPr>
          <a:lstStyle/>
          <a:p>
            <a:pPr marL="0" indent="0">
              <a:buNone/>
            </a:pPr>
            <a:r>
              <a:rPr lang="rw-RW" sz="1800" dirty="0">
                <a:solidFill>
                  <a:srgbClr val="203864"/>
                </a:solidFill>
                <a:latin typeface="Calibri" pitchFamily="34" charset="0"/>
                <a:ea typeface="Calibri" pitchFamily="34" charset="-122"/>
                <a:cs typeface="Calibri" pitchFamily="34" charset="-120"/>
              </a:rPr>
              <a:t>Ni gute wasobanurira imiryango ibiri impamvu abavandimwe babo bavurwa mu buryo butandukanye?</a:t>
            </a:r>
            <a:endParaRPr lang="rw-RW" sz="1800" dirty="0"/>
          </a:p>
        </p:txBody>
      </p:sp>
      <p:sp>
        <p:nvSpPr>
          <p:cNvPr id="16" name="Shape 14"/>
          <p:cNvSpPr/>
          <p:nvPr/>
        </p:nvSpPr>
        <p:spPr>
          <a:xfrm>
            <a:off x="1115568" y="4727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106</a:t>
            </a:r>
            <a:endParaRPr lang="rw-RW"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07">
    <p:bg>
      <p:bgPr>
        <a:solidFill>
          <a:srgbClr val="1C3557"/>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1828800" cy="1463040"/>
          </a:xfrm>
          <a:prstGeom prst="rect">
            <a:avLst/>
          </a:prstGeom>
          <a:noFill/>
          <a:ln/>
        </p:spPr>
        <p:txBody>
          <a:bodyPr wrap="square" lIns="0" tIns="0" rIns="0" bIns="0" rtlCol="0" anchor="ctr"/>
          <a:lstStyle/>
          <a:p>
            <a:pPr marL="0" indent="0">
              <a:buNone/>
            </a:pPr>
            <a:r>
              <a:rPr lang="rw-RW" sz="9000" b="1" dirty="0">
                <a:solidFill>
                  <a:srgbClr val="3F6795"/>
                </a:solidFill>
                <a:latin typeface="Calibri" pitchFamily="34" charset="0"/>
                <a:ea typeface="Calibri" pitchFamily="34" charset="-122"/>
                <a:cs typeface="Calibri" pitchFamily="34" charset="-120"/>
              </a:rPr>
              <a:t>5</a:t>
            </a:r>
            <a:endParaRPr lang="rw-RW" sz="9000" dirty="0"/>
          </a:p>
        </p:txBody>
      </p:sp>
      <p:sp>
        <p:nvSpPr>
          <p:cNvPr id="3" name="Text 1"/>
          <p:cNvSpPr txBox="1"/>
          <p:nvPr/>
        </p:nvSpPr>
        <p:spPr>
          <a:xfrm>
            <a:off x="548640" y="2834640"/>
            <a:ext cx="11091672" cy="320040"/>
          </a:xfrm>
          <a:prstGeom prst="rect">
            <a:avLst/>
          </a:prstGeom>
          <a:noFill/>
          <a:ln/>
        </p:spPr>
        <p:txBody>
          <a:bodyPr wrap="square" lIns="0" tIns="0" rIns="0" bIns="0" rtlCol="0" anchor="ctr"/>
          <a:lstStyle/>
          <a:p>
            <a:pPr marL="0" indent="0">
              <a:buNone/>
            </a:pPr>
            <a:r>
              <a:rPr lang="rw-RW" sz="1300" b="1" kern="0" spc="400" dirty="0">
                <a:solidFill>
                  <a:srgbClr val="9FBAD8"/>
                </a:solidFill>
                <a:latin typeface="Calibri" pitchFamily="34" charset="0"/>
                <a:ea typeface="Calibri" pitchFamily="34" charset="-122"/>
                <a:cs typeface="Calibri" pitchFamily="34" charset="-120"/>
              </a:rPr>
              <a:t>I G I C E C Y A 5</a:t>
            </a:r>
            <a:endParaRPr lang="rw-RW" sz="1300" dirty="0"/>
          </a:p>
        </p:txBody>
      </p:sp>
      <p:sp>
        <p:nvSpPr>
          <p:cNvPr id="4" name="Text 2"/>
          <p:cNvSpPr txBox="1"/>
          <p:nvPr/>
        </p:nvSpPr>
        <p:spPr>
          <a:xfrm>
            <a:off x="548640" y="3200400"/>
            <a:ext cx="10424160" cy="1005840"/>
          </a:xfrm>
          <a:prstGeom prst="rect">
            <a:avLst/>
          </a:prstGeom>
          <a:noFill/>
          <a:ln/>
        </p:spPr>
        <p:txBody>
          <a:bodyPr wrap="square" lIns="0" tIns="0" rIns="0" bIns="0" rtlCol="0" anchor="ctr">
            <a:normAutofit fontScale="95000"/>
          </a:bodyPr>
          <a:lstStyle/>
          <a:p>
            <a:pPr marL="0" indent="0">
              <a:buNone/>
            </a:pPr>
            <a:r>
              <a:rPr lang="rw-RW" sz="4000" b="1" dirty="0">
                <a:solidFill>
                  <a:srgbClr val="FFFFFF"/>
                </a:solidFill>
                <a:latin typeface="Calibri" pitchFamily="34" charset="0"/>
                <a:ea typeface="Calibri" pitchFamily="34" charset="-122"/>
                <a:cs typeface="Calibri" pitchFamily="34" charset="-120"/>
              </a:rPr>
              <a:t>Ibyo witega ku ndwara no ku buvuzi</a:t>
            </a:r>
            <a:endParaRPr lang="rw-RW" sz="4000" dirty="0"/>
          </a:p>
        </p:txBody>
      </p:sp>
      <p:sp>
        <p:nvSpPr>
          <p:cNvPr id="5" name="Text 3"/>
          <p:cNvSpPr txBox="1"/>
          <p:nvPr/>
        </p:nvSpPr>
        <p:spPr>
          <a:xfrm>
            <a:off x="548640" y="4343400"/>
            <a:ext cx="9601200" cy="731520"/>
          </a:xfrm>
          <a:prstGeom prst="rect">
            <a:avLst/>
          </a:prstGeom>
          <a:noFill/>
          <a:ln/>
        </p:spPr>
        <p:txBody>
          <a:bodyPr wrap="square" lIns="0" tIns="0" rIns="0" bIns="0" rtlCol="0" anchor="ctr"/>
          <a:lstStyle/>
          <a:p>
            <a:pPr marL="0" indent="0">
              <a:buNone/>
            </a:pPr>
            <a:r>
              <a:rPr lang="rw-RW" sz="1900" dirty="0">
                <a:solidFill>
                  <a:srgbClr val="DCE7F5"/>
                </a:solidFill>
                <a:latin typeface="Calibri" pitchFamily="34" charset="0"/>
                <a:ea typeface="Calibri" pitchFamily="34" charset="-122"/>
                <a:cs typeface="Calibri" pitchFamily="34" charset="-120"/>
              </a:rPr>
              <a:t>Ibibazo umuntu ashobora guhura na byo, ibikeneye kwitabwaho n'abaganga, n'uburyo umuryango n'abaturage bashobora kumufasha neza.</a:t>
            </a:r>
            <a:endParaRPr lang="rw-RW" sz="1900" dirty="0"/>
          </a:p>
        </p:txBody>
      </p:sp>
      <p:sp>
        <p:nvSpPr>
          <p:cNvPr id="6" name="Text 4"/>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E9AC0"/>
                </a:solidFill>
                <a:latin typeface="Calibri" pitchFamily="34" charset="0"/>
                <a:ea typeface="Calibri" pitchFamily="34" charset="-122"/>
                <a:cs typeface="Calibri" pitchFamily="34" charset="-120"/>
              </a:rPr>
              <a:t>Igishushanyo cya 107</a:t>
            </a:r>
            <a:endParaRPr lang="rw-RW"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Intego zo kwiga</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Nyuma y'iri somo, uzaba ushobora:</a:t>
            </a:r>
            <a:endParaRPr lang="rw-RW" sz="1800" dirty="0"/>
          </a:p>
        </p:txBody>
      </p:sp>
      <p:sp>
        <p:nvSpPr>
          <p:cNvPr id="5" name="Shape 3"/>
          <p:cNvSpPr/>
          <p:nvPr/>
        </p:nvSpPr>
        <p:spPr>
          <a:xfrm>
            <a:off x="548640" y="191109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1109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87452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Kumenya ingaruka zikunze guterwa n'ubuvuzi bwa kanseri y'ibere.</a:t>
            </a:r>
            <a:endParaRPr lang="rw-RW" sz="1800" dirty="0"/>
          </a:p>
        </p:txBody>
      </p:sp>
      <p:sp>
        <p:nvSpPr>
          <p:cNvPr id="8" name="Shape 6"/>
          <p:cNvSpPr/>
          <p:nvPr/>
        </p:nvSpPr>
        <p:spPr>
          <a:xfrm>
            <a:off x="548640" y="269748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0" name="Text 8"/>
          <p:cNvSpPr txBox="1"/>
          <p:nvPr/>
        </p:nvSpPr>
        <p:spPr>
          <a:xfrm>
            <a:off x="1115568" y="266090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Gutandukanya ibibazo bikeneye kwitabwaho uyu munsi n'ibishobora gutegereza uruzinduko rukurikira.</a:t>
            </a:r>
            <a:endParaRPr lang="rw-RW" sz="1800" dirty="0"/>
          </a:p>
        </p:txBody>
      </p:sp>
      <p:sp>
        <p:nvSpPr>
          <p:cNvPr id="11" name="Shape 9"/>
          <p:cNvSpPr/>
          <p:nvPr/>
        </p:nvSpPr>
        <p:spPr>
          <a:xfrm>
            <a:off x="548640" y="348386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548640" y="348386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3" name="Text 11"/>
          <p:cNvSpPr txBox="1"/>
          <p:nvPr/>
        </p:nvSpPr>
        <p:spPr>
          <a:xfrm>
            <a:off x="1115568" y="344728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Kumenya kubyimba kw'ukuboko nyuma y'ubuvuzi n'icyo wakora.</a:t>
            </a:r>
            <a:endParaRPr lang="rw-RW" sz="1800" dirty="0"/>
          </a:p>
        </p:txBody>
      </p:sp>
      <p:sp>
        <p:nvSpPr>
          <p:cNvPr id="14" name="Shape 12"/>
          <p:cNvSpPr/>
          <p:nvPr/>
        </p:nvSpPr>
        <p:spPr>
          <a:xfrm>
            <a:off x="548640" y="427024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5" name="Text 13"/>
          <p:cNvSpPr txBox="1"/>
          <p:nvPr/>
        </p:nvSpPr>
        <p:spPr>
          <a:xfrm>
            <a:off x="548640" y="427024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6" name="Text 14"/>
          <p:cNvSpPr txBox="1"/>
          <p:nvPr/>
        </p:nvSpPr>
        <p:spPr>
          <a:xfrm>
            <a:off x="1115568" y="423367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Gusobanura impamvu ikinini cya buri munsi gikomeza gufatwa imyaka myinshi, n'iyo umuntu yumva ameze neza.</a:t>
            </a:r>
            <a:endParaRPr lang="rw-RW" sz="1800" dirty="0"/>
          </a:p>
        </p:txBody>
      </p:sp>
      <p:sp>
        <p:nvSpPr>
          <p:cNvPr id="17" name="Shape 15"/>
          <p:cNvSpPr/>
          <p:nvPr/>
        </p:nvSpPr>
        <p:spPr>
          <a:xfrm>
            <a:off x="548640" y="505663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8" name="Text 16"/>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9" name="Text 17"/>
          <p:cNvSpPr txBox="1"/>
          <p:nvPr/>
        </p:nvSpPr>
        <p:spPr>
          <a:xfrm>
            <a:off x="1115568" y="5020056"/>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Gushyigikira icyubahiro, isura y'umubiri n'imibereho myiza mu rwego rw'inshingano zawe.</a:t>
            </a:r>
            <a:endParaRPr lang="rw-RW" sz="1800" dirty="0"/>
          </a:p>
        </p:txBody>
      </p:sp>
      <p:sp>
        <p:nvSpPr>
          <p:cNvPr id="20" name="Text 18"/>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1" name="Text 19"/>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108</a:t>
            </a:r>
            <a:endParaRPr lang="rw-RW"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INGARUKA MBI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Ingaruka zishobora guterwa n'ubuvuzi</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Izi ngaruka zirakunze kubaho. Ntibisobanura ko ubuvuzi butari gukora.</a:t>
            </a:r>
            <a:endParaRPr lang="rw-RW" sz="1800" dirty="0"/>
          </a:p>
        </p:txBody>
      </p:sp>
      <p:sp>
        <p:nvSpPr>
          <p:cNvPr id="5" name="Shape 3"/>
          <p:cNvSpPr/>
          <p:nvPr/>
        </p:nvSpPr>
        <p:spPr>
          <a:xfrm>
            <a:off x="630936" y="204825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1115568" y="1874520"/>
            <a:ext cx="10524744" cy="65379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Umunaniro. </a:t>
            </a:r>
            <a:r>
              <a:rPr lang="rw-RW" sz="1800" dirty="0">
                <a:solidFill>
                  <a:srgbClr val="203864"/>
                </a:solidFill>
                <a:latin typeface="Calibri" pitchFamily="34" charset="0"/>
                <a:ea typeface="Calibri" pitchFamily="34" charset="-122"/>
                <a:cs typeface="Calibri" pitchFamily="34" charset="-120"/>
              </a:rPr>
              <a:t>Akenshi ni yo ngaruka abantu bumva igoye kurusha izindi. Igenda yiyongera uko ibyumweru by'ubuvuzi bishira.</a:t>
            </a:r>
            <a:endParaRPr lang="rw-RW" sz="1800" dirty="0"/>
          </a:p>
        </p:txBody>
      </p:sp>
      <p:sp>
        <p:nvSpPr>
          <p:cNvPr id="7" name="Shape 5"/>
          <p:cNvSpPr/>
          <p:nvPr/>
        </p:nvSpPr>
        <p:spPr>
          <a:xfrm>
            <a:off x="630936" y="27569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8" name="Text 6"/>
          <p:cNvSpPr txBox="1"/>
          <p:nvPr/>
        </p:nvSpPr>
        <p:spPr>
          <a:xfrm>
            <a:off x="1115568" y="2583180"/>
            <a:ext cx="10524744" cy="65379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Isesemi no kuruka. </a:t>
            </a:r>
            <a:r>
              <a:rPr lang="rw-RW" sz="1800" dirty="0">
                <a:solidFill>
                  <a:srgbClr val="203864"/>
                </a:solidFill>
                <a:latin typeface="Calibri" pitchFamily="34" charset="0"/>
                <a:ea typeface="Calibri" pitchFamily="34" charset="-122"/>
                <a:cs typeface="Calibri" pitchFamily="34" charset="-120"/>
              </a:rPr>
              <a:t>Bikunze guterwa n'imiti imwe n'imwe ya kanseri, kandi hari imiti ibifasha.</a:t>
            </a:r>
            <a:endParaRPr lang="rw-RW" sz="1800" dirty="0"/>
          </a:p>
        </p:txBody>
      </p:sp>
      <p:sp>
        <p:nvSpPr>
          <p:cNvPr id="9" name="Shape 7"/>
          <p:cNvSpPr/>
          <p:nvPr/>
        </p:nvSpPr>
        <p:spPr>
          <a:xfrm>
            <a:off x="630936" y="346557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0" name="Text 8"/>
          <p:cNvSpPr txBox="1"/>
          <p:nvPr/>
        </p:nvSpPr>
        <p:spPr>
          <a:xfrm>
            <a:off x="1115568" y="3291840"/>
            <a:ext cx="10524744" cy="65379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Gutakaza umusatsi. </a:t>
            </a:r>
            <a:r>
              <a:rPr lang="rw-RW" sz="1800" dirty="0">
                <a:solidFill>
                  <a:srgbClr val="203864"/>
                </a:solidFill>
                <a:latin typeface="Calibri" pitchFamily="34" charset="0"/>
                <a:ea typeface="Calibri" pitchFamily="34" charset="-122"/>
                <a:cs typeface="Calibri" pitchFamily="34" charset="-120"/>
              </a:rPr>
              <a:t>Bibaho ku buvuzi bumwe ariko si ku bundi, kandi umusatsi wongera kumera nyuma.</a:t>
            </a:r>
            <a:endParaRPr lang="rw-RW" sz="1800" dirty="0"/>
          </a:p>
        </p:txBody>
      </p:sp>
      <p:sp>
        <p:nvSpPr>
          <p:cNvPr id="11" name="Shape 9"/>
          <p:cNvSpPr/>
          <p:nvPr/>
        </p:nvSpPr>
        <p:spPr>
          <a:xfrm>
            <a:off x="630936" y="417423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2" name="Text 10"/>
          <p:cNvSpPr txBox="1"/>
          <p:nvPr/>
        </p:nvSpPr>
        <p:spPr>
          <a:xfrm>
            <a:off x="1115568" y="4000500"/>
            <a:ext cx="10524744" cy="65379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Ububabare cyangwa igikomere kirimo gukira. </a:t>
            </a:r>
            <a:r>
              <a:rPr lang="rw-RW" sz="1800" dirty="0">
                <a:solidFill>
                  <a:srgbClr val="203864"/>
                </a:solidFill>
                <a:latin typeface="Calibri" pitchFamily="34" charset="0"/>
                <a:ea typeface="Calibri" pitchFamily="34" charset="-122"/>
                <a:cs typeface="Calibri" pitchFamily="34" charset="-120"/>
              </a:rPr>
              <a:t>Ububabare bushobora kuvurwa. Igikomere gitukura, gishyushye cyangwa gifite impumuro mbi kigomba kumenyeshwa abaganga.</a:t>
            </a:r>
            <a:endParaRPr lang="rw-RW" sz="1800" dirty="0"/>
          </a:p>
        </p:txBody>
      </p:sp>
      <p:sp>
        <p:nvSpPr>
          <p:cNvPr id="13" name="Shape 11"/>
          <p:cNvSpPr/>
          <p:nvPr/>
        </p:nvSpPr>
        <p:spPr>
          <a:xfrm>
            <a:off x="630936" y="488289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4" name="Text 12"/>
          <p:cNvSpPr txBox="1"/>
          <p:nvPr/>
        </p:nvSpPr>
        <p:spPr>
          <a:xfrm>
            <a:off x="1115568" y="4709160"/>
            <a:ext cx="10524744" cy="65379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Urutugu rukomeye cyangwa rubabara. </a:t>
            </a:r>
            <a:r>
              <a:rPr lang="rw-RW" sz="1800" dirty="0">
                <a:solidFill>
                  <a:srgbClr val="203864"/>
                </a:solidFill>
                <a:latin typeface="Calibri" pitchFamily="34" charset="0"/>
                <a:ea typeface="Calibri" pitchFamily="34" charset="-122"/>
                <a:cs typeface="Calibri" pitchFamily="34" charset="-120"/>
              </a:rPr>
              <a:t>Bikunze kubaho nyuma yo kubagwa mu kwaha. Kunyeganyeza ukuboko buhoro nk'uko abaganga babigiriyemo inama birafasha.</a:t>
            </a:r>
            <a:endParaRPr lang="rw-RW" sz="1800" dirty="0"/>
          </a:p>
        </p:txBody>
      </p:sp>
      <p:sp>
        <p:nvSpPr>
          <p:cNvPr id="15" name="Shape 13"/>
          <p:cNvSpPr/>
          <p:nvPr/>
        </p:nvSpPr>
        <p:spPr>
          <a:xfrm>
            <a:off x="630936" y="559155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6" name="Text 14"/>
          <p:cNvSpPr txBox="1"/>
          <p:nvPr/>
        </p:nvSpPr>
        <p:spPr>
          <a:xfrm>
            <a:off x="1115568" y="5417820"/>
            <a:ext cx="10524744" cy="653796"/>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Agahinda, guhangayika n'ubwoba. </a:t>
            </a:r>
            <a:r>
              <a:rPr lang="rw-RW" sz="1800" dirty="0">
                <a:solidFill>
                  <a:srgbClr val="203864"/>
                </a:solidFill>
                <a:latin typeface="Calibri" pitchFamily="34" charset="0"/>
                <a:ea typeface="Calibri" pitchFamily="34" charset="-122"/>
                <a:cs typeface="Calibri" pitchFamily="34" charset="-120"/>
              </a:rPr>
              <a:t>Birakunze kubaho cyane, kandi ni byiza kubimubaza mu buryo bweruye aho gutegereza ko akubwira.</a:t>
            </a:r>
            <a:endParaRPr lang="rw-RW" sz="1800"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109</a:t>
            </a:r>
            <a:endParaRPr lang="rw-RW"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ICYO GUKORA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Ibyiciro bitatu bihangayikishije</a:t>
            </a:r>
            <a:endParaRPr lang="rw-RW" sz="3000" dirty="0"/>
          </a:p>
        </p:txBody>
      </p:sp>
      <p:sp>
        <p:nvSpPr>
          <p:cNvPr id="10" name="Shape 8"/>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1" name="Text 9"/>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Niba utizeye neza: </a:t>
            </a:r>
            <a:r>
              <a:rPr lang="rw-RW" sz="1800" dirty="0">
                <a:solidFill>
                  <a:srgbClr val="203864"/>
                </a:solidFill>
                <a:latin typeface="Calibri" pitchFamily="34" charset="0"/>
                <a:ea typeface="Calibri" pitchFamily="34" charset="-122"/>
                <a:cs typeface="Calibri" pitchFamily="34" charset="-120"/>
              </a:rPr>
              <a:t>Bifate nk'urwego rwihutirwa kurushaho, kandi uvugane n'ikigo nderabuzima. Buri gihe ni byiza kubaza kuruta gutegereza.</a:t>
            </a:r>
            <a:endParaRPr lang="rw-RW" sz="18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110</a:t>
            </a:r>
            <a:endParaRPr lang="rw-RW" sz="900" dirty="0"/>
          </a:p>
        </p:txBody>
      </p:sp>
      <p:grpSp>
        <p:nvGrpSpPr>
          <p:cNvPr id="18" name="Grupo 17">
            <a:extLst>
              <a:ext uri="{FF2B5EF4-FFF2-40B4-BE49-F238E27FC236}">
                <a16:creationId xmlns:a16="http://schemas.microsoft.com/office/drawing/2014/main" id="{4A329EDB-70A3-4803-F58E-2043F3D161A1}"/>
              </a:ext>
            </a:extLst>
          </p:cNvPr>
          <p:cNvGrpSpPr/>
          <p:nvPr/>
        </p:nvGrpSpPr>
        <p:grpSpPr>
          <a:xfrm>
            <a:off x="548640" y="1283698"/>
            <a:ext cx="3514344" cy="4239278"/>
            <a:chOff x="548640" y="1283698"/>
            <a:chExt cx="3514344" cy="4239278"/>
          </a:xfrm>
        </p:grpSpPr>
        <p:sp>
          <p:nvSpPr>
            <p:cNvPr id="4" name="Shape 2"/>
            <p:cNvSpPr/>
            <p:nvPr/>
          </p:nvSpPr>
          <p:spPr>
            <a:xfrm>
              <a:off x="548640" y="1283698"/>
              <a:ext cx="3514344" cy="4239278"/>
            </a:xfrm>
            <a:prstGeom prst="roundRect">
              <a:avLst>
                <a:gd name="adj" fmla="val 3077"/>
              </a:avLst>
            </a:prstGeom>
            <a:solidFill>
              <a:srgbClr val="F6C6C0"/>
            </a:solidFill>
            <a:ln w="12700">
              <a:solidFill>
                <a:srgbClr val="D3E1F2"/>
              </a:solidFill>
              <a:prstDash val="solid"/>
            </a:ln>
          </p:spPr>
          <p:txBody>
            <a:bodyPr/>
            <a:lstStyle/>
            <a:p>
              <a:endParaRPr lang="rw-RW" dirty="0"/>
            </a:p>
          </p:txBody>
        </p:sp>
        <p:sp>
          <p:nvSpPr>
            <p:cNvPr id="5" name="Text 3"/>
            <p:cNvSpPr txBox="1"/>
            <p:nvPr/>
          </p:nvSpPr>
          <p:spPr>
            <a:xfrm>
              <a:off x="768096" y="1448290"/>
              <a:ext cx="3075432" cy="1777989"/>
            </a:xfrm>
            <a:prstGeom prst="rect">
              <a:avLst/>
            </a:prstGeom>
            <a:noFill/>
            <a:ln/>
          </p:spPr>
          <p:txBody>
            <a:bodyPr wrap="square" lIns="0" tIns="0" rIns="0" bIns="0" rtlCol="0" anchor="t">
              <a:normAutofit fontScale="90000" lnSpcReduction="20000"/>
            </a:bodyPr>
            <a:lstStyle/>
            <a:p>
              <a:pPr>
                <a:lnSpc>
                  <a:spcPct val="105000"/>
                </a:lnSpc>
              </a:pPr>
              <a:r>
                <a:rPr lang="rw-RW" b="1" dirty="0">
                  <a:solidFill>
                    <a:srgbClr val="1F3864"/>
                  </a:solidFill>
                  <a:latin typeface="Calibri" pitchFamily="34" charset="0"/>
                  <a:ea typeface="Calibri" pitchFamily="34" charset="-122"/>
                  <a:cs typeface="Calibri" pitchFamily="34" charset="-120"/>
                </a:rPr>
                <a:t>🔴 Kwitabwaho </a:t>
              </a:r>
              <a:r>
                <a:rPr lang="rw-RW" sz="1800" b="1" dirty="0">
                  <a:solidFill>
                    <a:srgbClr val="1F3864"/>
                  </a:solidFill>
                  <a:latin typeface="Calibri" pitchFamily="34" charset="0"/>
                  <a:ea typeface="Calibri" pitchFamily="34" charset="-122"/>
                  <a:cs typeface="Calibri" pitchFamily="34" charset="-120"/>
                </a:rPr>
                <a:t>uyu munsi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Umuriro mwinshi, ububabare bukabije, igikomere kigenda gikwirakwira cyangwa gifite impumuro mbi, kuruka ku buryo adashobora kugumana amazi, guhumeka nabi, kudasobanukirwa ibimukikije cyangwa kugwa.</a:t>
              </a:r>
              <a:endParaRPr lang="rw-RW" sz="1800" dirty="0"/>
            </a:p>
          </p:txBody>
        </p:sp>
        <p:pic>
          <p:nvPicPr>
            <p:cNvPr id="15" name="Picture 14">
              <a:extLst>
                <a:ext uri="{FF2B5EF4-FFF2-40B4-BE49-F238E27FC236}">
                  <a16:creationId xmlns:a16="http://schemas.microsoft.com/office/drawing/2014/main" id="{40D9970D-FBF0-3584-431B-A3C7669BCE51}"/>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58368" y="3500067"/>
              <a:ext cx="3294888" cy="1797211"/>
            </a:xfrm>
            <a:prstGeom prst="rect">
              <a:avLst/>
            </a:prstGeom>
          </p:spPr>
        </p:pic>
      </p:grpSp>
      <p:grpSp>
        <p:nvGrpSpPr>
          <p:cNvPr id="20" name="Grupo 19">
            <a:extLst>
              <a:ext uri="{FF2B5EF4-FFF2-40B4-BE49-F238E27FC236}">
                <a16:creationId xmlns:a16="http://schemas.microsoft.com/office/drawing/2014/main" id="{63A75095-434A-EA5E-1F3F-2C40DA0A566D}"/>
              </a:ext>
            </a:extLst>
          </p:cNvPr>
          <p:cNvGrpSpPr/>
          <p:nvPr/>
        </p:nvGrpSpPr>
        <p:grpSpPr>
          <a:xfrm>
            <a:off x="4337304" y="1318200"/>
            <a:ext cx="3514344" cy="4204776"/>
            <a:chOff x="4337304" y="1318200"/>
            <a:chExt cx="3514344" cy="4204776"/>
          </a:xfrm>
        </p:grpSpPr>
        <p:sp>
          <p:nvSpPr>
            <p:cNvPr id="6" name="Shape 4"/>
            <p:cNvSpPr/>
            <p:nvPr/>
          </p:nvSpPr>
          <p:spPr>
            <a:xfrm>
              <a:off x="4337304" y="1318200"/>
              <a:ext cx="3514344" cy="4204776"/>
            </a:xfrm>
            <a:prstGeom prst="roundRect">
              <a:avLst>
                <a:gd name="adj" fmla="val 3077"/>
              </a:avLst>
            </a:prstGeom>
            <a:solidFill>
              <a:schemeClr val="accent4">
                <a:lumMod val="20000"/>
                <a:lumOff val="80000"/>
              </a:schemeClr>
            </a:solidFill>
            <a:ln w="12700">
              <a:solidFill>
                <a:srgbClr val="D3E1F2"/>
              </a:solidFill>
              <a:prstDash val="solid"/>
            </a:ln>
          </p:spPr>
          <p:txBody>
            <a:bodyPr/>
            <a:lstStyle/>
            <a:p>
              <a:endParaRPr lang="rw-RW" dirty="0"/>
            </a:p>
          </p:txBody>
        </p:sp>
        <p:sp>
          <p:nvSpPr>
            <p:cNvPr id="7" name="Text 5"/>
            <p:cNvSpPr txBox="1"/>
            <p:nvPr/>
          </p:nvSpPr>
          <p:spPr>
            <a:xfrm>
              <a:off x="4556760" y="1482793"/>
              <a:ext cx="3075432" cy="1743486"/>
            </a:xfrm>
            <a:prstGeom prst="rect">
              <a:avLst/>
            </a:prstGeom>
            <a:noFill/>
            <a:ln/>
          </p:spPr>
          <p:txBody>
            <a:bodyPr wrap="square" lIns="0" tIns="0" rIns="0" bIns="0" rtlCol="0" anchor="t">
              <a:normAutofit fontScale="96000" lnSpcReduction="10000"/>
            </a:bodyPr>
            <a:lstStyle/>
            <a:p>
              <a:pPr>
                <a:lnSpc>
                  <a:spcPct val="105000"/>
                </a:lnSpc>
              </a:pPr>
              <a:r>
                <a:rPr lang="rw-RW" b="1" dirty="0">
                  <a:solidFill>
                    <a:srgbClr val="1F3864"/>
                  </a:solidFill>
                  <a:latin typeface="Calibri" pitchFamily="34" charset="0"/>
                  <a:ea typeface="Calibri" pitchFamily="34" charset="-122"/>
                  <a:cs typeface="Calibri" pitchFamily="34" charset="-120"/>
                </a:rPr>
                <a:t>🟠 Kubonwa </a:t>
              </a:r>
              <a:r>
                <a:rPr lang="rw-RW" sz="1800" b="1" dirty="0">
                  <a:solidFill>
                    <a:srgbClr val="1F3864"/>
                  </a:solidFill>
                  <a:latin typeface="Calibri" pitchFamily="34" charset="0"/>
                  <a:ea typeface="Calibri" pitchFamily="34" charset="-122"/>
                  <a:cs typeface="Calibri" pitchFamily="34" charset="-120"/>
                </a:rPr>
                <a:t>vuba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Kubyimba gushya kw'ukuboko, igikomere kidakira, kurya bike cyane mu minsi myinshi, ikibyimba cyangwa impinduka igenda ikura, cyangwa intege nke zigenda ziyongera.</a:t>
              </a:r>
              <a:endParaRPr lang="rw-RW" sz="1800" dirty="0"/>
            </a:p>
          </p:txBody>
        </p:sp>
        <p:pic>
          <p:nvPicPr>
            <p:cNvPr id="14" name="Imagen 13">
              <a:extLst>
                <a:ext uri="{FF2B5EF4-FFF2-40B4-BE49-F238E27FC236}">
                  <a16:creationId xmlns:a16="http://schemas.microsoft.com/office/drawing/2014/main" id="{E498AC91-4C32-9F83-9D6C-D8A234F052E7}"/>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447032" y="3507764"/>
              <a:ext cx="3294888" cy="1790286"/>
            </a:xfrm>
            <a:prstGeom prst="rect">
              <a:avLst/>
            </a:prstGeom>
          </p:spPr>
        </p:pic>
      </p:grpSp>
      <p:grpSp>
        <p:nvGrpSpPr>
          <p:cNvPr id="21" name="Grupo 20">
            <a:extLst>
              <a:ext uri="{FF2B5EF4-FFF2-40B4-BE49-F238E27FC236}">
                <a16:creationId xmlns:a16="http://schemas.microsoft.com/office/drawing/2014/main" id="{011C2438-C193-058E-5C3F-17E5ACC2FDE2}"/>
              </a:ext>
            </a:extLst>
          </p:cNvPr>
          <p:cNvGrpSpPr/>
          <p:nvPr/>
        </p:nvGrpSpPr>
        <p:grpSpPr>
          <a:xfrm>
            <a:off x="8125968" y="1275071"/>
            <a:ext cx="3514344" cy="4239278"/>
            <a:chOff x="8125968" y="1275071"/>
            <a:chExt cx="3514344" cy="4239278"/>
          </a:xfrm>
        </p:grpSpPr>
        <p:sp>
          <p:nvSpPr>
            <p:cNvPr id="8" name="Shape 6"/>
            <p:cNvSpPr/>
            <p:nvPr/>
          </p:nvSpPr>
          <p:spPr>
            <a:xfrm>
              <a:off x="8125968" y="1275071"/>
              <a:ext cx="3514344" cy="4239278"/>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439664"/>
              <a:ext cx="3075432" cy="2084832"/>
            </a:xfrm>
            <a:prstGeom prst="rect">
              <a:avLst/>
            </a:prstGeom>
            <a:noFill/>
            <a:ln/>
          </p:spPr>
          <p:txBody>
            <a:bodyPr wrap="square" lIns="0" tIns="0" rIns="0" bIns="0" rtlCol="0" anchor="t">
              <a:normAutofit/>
            </a:bodyPr>
            <a:lstStyle/>
            <a:p>
              <a:pPr>
                <a:lnSpc>
                  <a:spcPct val="105000"/>
                </a:lnSpc>
              </a:pPr>
              <a:r>
                <a:rPr lang="rw-RW" b="1" dirty="0">
                  <a:solidFill>
                    <a:srgbClr val="1F3864"/>
                  </a:solidFill>
                  <a:latin typeface="Calibri" pitchFamily="34" charset="0"/>
                  <a:ea typeface="Calibri" pitchFamily="34" charset="-122"/>
                  <a:cs typeface="Calibri" pitchFamily="34" charset="-120"/>
                </a:rPr>
                <a:t>🔵 Bivuge </a:t>
              </a:r>
              <a:r>
                <a:rPr lang="rw-RW" sz="1800" b="1" dirty="0">
                  <a:solidFill>
                    <a:srgbClr val="1F3864"/>
                  </a:solidFill>
                  <a:latin typeface="Calibri" pitchFamily="34" charset="0"/>
                  <a:ea typeface="Calibri" pitchFamily="34" charset="-122"/>
                  <a:cs typeface="Calibri" pitchFamily="34" charset="-120"/>
                </a:rPr>
                <a:t>mu ruzinduko rukurikira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Umunaniro woroheje, isesemi yoroheje, guhinduka k'ubushake bwo kurya, agahinda, gutakaza umusatsi, cyangwa ibibazo ku buvuzi.</a:t>
              </a:r>
              <a:endParaRPr lang="rw-RW" sz="1800" dirty="0"/>
            </a:p>
          </p:txBody>
        </p:sp>
        <p:pic>
          <p:nvPicPr>
            <p:cNvPr id="16" name="Imagen 15">
              <a:extLst>
                <a:ext uri="{FF2B5EF4-FFF2-40B4-BE49-F238E27FC236}">
                  <a16:creationId xmlns:a16="http://schemas.microsoft.com/office/drawing/2014/main" id="{21B8A856-3543-ED92-EFD8-42618011293F}"/>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255747" y="3587277"/>
              <a:ext cx="3251381" cy="1736533"/>
            </a:xfrm>
            <a:prstGeom prst="rect">
              <a:avLst/>
            </a:prstGeom>
          </p:spPr>
        </p:pic>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RY'IMIKORANIRE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Ni nde ukeneye kwitabwaho muri iki gihe?</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Urasura abantu bane bari kuvurwa kanseri y'ibere. Ni uwuhe muri bo ukeneye kugera ku kigo nderabuzima uyu munsi?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Umugore wumva ananiwe ku mugoroba ariko arya kandi anywa neza</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Umugore watangiye gutakaza umusatsi</a:t>
            </a:r>
            <a:endParaRPr lang="rw-RW" sz="1800" dirty="0"/>
          </a:p>
        </p:txBody>
      </p:sp>
      <p:sp>
        <p:nvSpPr>
          <p:cNvPr id="9" name="Shape 7"/>
          <p:cNvSpPr/>
          <p:nvPr/>
        </p:nvSpPr>
        <p:spPr>
          <a:xfrm>
            <a:off x="548640" y="345643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Umugore ufite umuriro mwinshi, umaze kuruka kuva ejo kandi adashobora kugumana amazi</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Umugore uhangayikishijwe n'amafaranga y'urugendo rw'ukwezi gutaha</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Umuriro hamwe no kuruka no kutagumana amazi ni bibi mu gihe cy'ubuvuzi bwa kanseri, kuko umuntu atakaza amazi vuba kandi ashobora kuba afite indwara yandura (ubwandu). Ibindi bitatu na byo bifite agaciro, kandi bikemurwa mu ruzinduko rukurikira cyangwa mu gihe umufasha gutegura gahunda.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111</a:t>
            </a:r>
            <a:endParaRPr lang="rw-RW" sz="900" dirty="0"/>
          </a:p>
        </p:txBody>
      </p:sp>
    </p:spTree>
    <p:extLst>
      <p:ext uri="{BB962C8B-B14F-4D97-AF65-F5344CB8AC3E}">
        <p14:creationId xmlns:p14="http://schemas.microsoft.com/office/powerpoint/2010/main" val="2335202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KUBYIMBA KW'UKUBOKO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Kubyimba ukuboko nyuma yo kuvurwa</a:t>
            </a:r>
            <a:endParaRPr lang="rw-RW" sz="3000" dirty="0"/>
          </a:p>
        </p:txBody>
      </p:sp>
      <p:sp>
        <p:nvSpPr>
          <p:cNvPr id="10" name="Shape 8"/>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1" name="Text 9"/>
          <p:cNvSpPr txBox="1"/>
          <p:nvPr/>
        </p:nvSpPr>
        <p:spPr>
          <a:xfrm>
            <a:off x="749808" y="5678424"/>
            <a:ext cx="10689336" cy="54864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Ntuzigere ugira iyi nama: </a:t>
            </a:r>
            <a:r>
              <a:rPr lang="rw-RW" sz="1800" dirty="0">
                <a:solidFill>
                  <a:srgbClr val="203864"/>
                </a:solidFill>
                <a:latin typeface="Calibri" pitchFamily="34" charset="0"/>
                <a:ea typeface="Calibri" pitchFamily="34" charset="-122"/>
                <a:cs typeface="Calibri" pitchFamily="34" charset="-120"/>
              </a:rPr>
              <a:t>Ntuzigere uboha ikintu gikomeye ku kuboko kwabyimbye, kandi ntumubwire kureka gukoresha ukuboko. Ukuboko kwabyimbye kandi gutukura, gushyushye cyangwa kubabara bimenyeshwe uwo munsi.</a:t>
            </a:r>
            <a:endParaRPr lang="rw-RW" sz="18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112</a:t>
            </a:r>
            <a:endParaRPr lang="rw-RW" sz="900" dirty="0"/>
          </a:p>
        </p:txBody>
      </p:sp>
      <p:grpSp>
        <p:nvGrpSpPr>
          <p:cNvPr id="14" name="Grupo 13">
            <a:extLst>
              <a:ext uri="{FF2B5EF4-FFF2-40B4-BE49-F238E27FC236}">
                <a16:creationId xmlns:a16="http://schemas.microsoft.com/office/drawing/2014/main" id="{4A72B107-75BE-E814-C46A-28CB1C324A65}"/>
              </a:ext>
            </a:extLst>
          </p:cNvPr>
          <p:cNvGrpSpPr/>
          <p:nvPr/>
        </p:nvGrpSpPr>
        <p:grpSpPr>
          <a:xfrm>
            <a:off x="548640" y="1344086"/>
            <a:ext cx="3514344" cy="4005236"/>
            <a:chOff x="548640" y="1344086"/>
            <a:chExt cx="3514344" cy="4005236"/>
          </a:xfrm>
        </p:grpSpPr>
        <p:sp>
          <p:nvSpPr>
            <p:cNvPr id="4" name="Shape 2"/>
            <p:cNvSpPr/>
            <p:nvPr/>
          </p:nvSpPr>
          <p:spPr>
            <a:xfrm>
              <a:off x="548640" y="1344086"/>
              <a:ext cx="3514344" cy="400523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6" y="1508678"/>
              <a:ext cx="3075432" cy="1830220"/>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Bigenda bite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Nyuma yo kubagwa cyangwa kuvurwa n'imirasire mu kwaha, amazi ashobora kwirundanya, maze ukuboko ko kuri urwo ruhande kukabyimba.</a:t>
              </a:r>
              <a:endParaRPr lang="rw-RW" sz="1800" dirty="0"/>
            </a:p>
          </p:txBody>
        </p:sp>
        <p:pic>
          <p:nvPicPr>
            <p:cNvPr id="15" name="Picture 14">
              <a:extLst>
                <a:ext uri="{FF2B5EF4-FFF2-40B4-BE49-F238E27FC236}">
                  <a16:creationId xmlns:a16="http://schemas.microsoft.com/office/drawing/2014/main" id="{1234C5BD-2945-E73C-31E6-174FC3463525}"/>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869150" y="3338898"/>
              <a:ext cx="2873324" cy="1920424"/>
            </a:xfrm>
            <a:prstGeom prst="rect">
              <a:avLst/>
            </a:prstGeom>
          </p:spPr>
        </p:pic>
      </p:grpSp>
      <p:grpSp>
        <p:nvGrpSpPr>
          <p:cNvPr id="16" name="Grupo 15">
            <a:extLst>
              <a:ext uri="{FF2B5EF4-FFF2-40B4-BE49-F238E27FC236}">
                <a16:creationId xmlns:a16="http://schemas.microsoft.com/office/drawing/2014/main" id="{C3785785-3D5A-C573-C02A-E817F94A5714}"/>
              </a:ext>
            </a:extLst>
          </p:cNvPr>
          <p:cNvGrpSpPr/>
          <p:nvPr/>
        </p:nvGrpSpPr>
        <p:grpSpPr>
          <a:xfrm>
            <a:off x="4337304" y="1344085"/>
            <a:ext cx="3514344" cy="4005237"/>
            <a:chOff x="4337304" y="1344085"/>
            <a:chExt cx="3514344" cy="4005237"/>
          </a:xfrm>
        </p:grpSpPr>
        <p:sp>
          <p:nvSpPr>
            <p:cNvPr id="6" name="Shape 4"/>
            <p:cNvSpPr/>
            <p:nvPr/>
          </p:nvSpPr>
          <p:spPr>
            <a:xfrm>
              <a:off x="4337304" y="1344085"/>
              <a:ext cx="3514344" cy="4005237"/>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508678"/>
              <a:ext cx="3075432" cy="1830220"/>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Icyo yumva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Ukuboko kumva kuremereye, gufashe, cyangwa kunini kurusha ukundi. Impeta, amaboko y'imyenda cyangwa ibikomo bishobora kumufata cyane.</a:t>
              </a:r>
              <a:endParaRPr lang="rw-RW" sz="1800" dirty="0"/>
            </a:p>
          </p:txBody>
        </p:sp>
        <p:pic>
          <p:nvPicPr>
            <p:cNvPr id="17" name="Picture 16">
              <a:extLst>
                <a:ext uri="{FF2B5EF4-FFF2-40B4-BE49-F238E27FC236}">
                  <a16:creationId xmlns:a16="http://schemas.microsoft.com/office/drawing/2014/main" id="{52400BF3-0323-94DA-B3E1-9CC0E09D5296}"/>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5254649" y="3338898"/>
              <a:ext cx="1679653" cy="1920424"/>
            </a:xfrm>
            <a:prstGeom prst="rect">
              <a:avLst/>
            </a:prstGeom>
          </p:spPr>
        </p:pic>
      </p:grpSp>
      <p:grpSp>
        <p:nvGrpSpPr>
          <p:cNvPr id="18" name="Grupo 17">
            <a:extLst>
              <a:ext uri="{FF2B5EF4-FFF2-40B4-BE49-F238E27FC236}">
                <a16:creationId xmlns:a16="http://schemas.microsoft.com/office/drawing/2014/main" id="{CD027748-CEAF-3D3A-42B6-7D6C2F18381E}"/>
              </a:ext>
            </a:extLst>
          </p:cNvPr>
          <p:cNvGrpSpPr/>
          <p:nvPr/>
        </p:nvGrpSpPr>
        <p:grpSpPr>
          <a:xfrm>
            <a:off x="8125968" y="1344086"/>
            <a:ext cx="3514344" cy="4005236"/>
            <a:chOff x="8125968" y="1344086"/>
            <a:chExt cx="3514344" cy="4005236"/>
          </a:xfrm>
        </p:grpSpPr>
        <p:sp>
          <p:nvSpPr>
            <p:cNvPr id="8" name="Shape 6"/>
            <p:cNvSpPr/>
            <p:nvPr/>
          </p:nvSpPr>
          <p:spPr>
            <a:xfrm>
              <a:off x="8125968" y="1344086"/>
              <a:ext cx="3514344" cy="4005236"/>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508678"/>
              <a:ext cx="3075432" cy="1555899"/>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Icyo ukora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Bimenyeshe kugira ngo asuzumwe. Birafashwa, kandi biroroshye gufasha iyo bimenyeshejwe hakiri kare.</a:t>
              </a:r>
              <a:endParaRPr lang="rw-RW" sz="1800" dirty="0"/>
            </a:p>
          </p:txBody>
        </p:sp>
        <p:pic>
          <p:nvPicPr>
            <p:cNvPr id="19" name="Picture 18">
              <a:extLst>
                <a:ext uri="{FF2B5EF4-FFF2-40B4-BE49-F238E27FC236}">
                  <a16:creationId xmlns:a16="http://schemas.microsoft.com/office/drawing/2014/main" id="{F594AB3D-C8DE-DE50-AFC0-E2002381E45F}"/>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441432" y="3064577"/>
              <a:ext cx="2883415" cy="2194745"/>
            </a:xfrm>
            <a:prstGeom prst="rect">
              <a:avLst/>
            </a:prstGeom>
          </p:spPr>
        </p:pic>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IBININI BIFATWA IGIHE KIREKIRE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Ikinini gikomeza gufatwa imyaka myinshi</a:t>
            </a:r>
            <a:endParaRPr lang="rw-RW" sz="3000" dirty="0"/>
          </a:p>
        </p:txBody>
      </p:sp>
      <p:sp>
        <p:nvSpPr>
          <p:cNvPr id="10" name="Shape 8"/>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1" name="Text 9"/>
          <p:cNvSpPr txBox="1"/>
          <p:nvPr/>
        </p:nvSpPr>
        <p:spPr>
          <a:xfrm>
            <a:off x="749808" y="5678424"/>
            <a:ext cx="10689336" cy="54864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Icyo wavuga: </a:t>
            </a:r>
            <a:r>
              <a:rPr lang="rw-RW" sz="1800" dirty="0">
                <a:solidFill>
                  <a:srgbClr val="203864"/>
                </a:solidFill>
                <a:latin typeface="Calibri" pitchFamily="34" charset="0"/>
                <a:ea typeface="Calibri" pitchFamily="34" charset="-122"/>
                <a:cs typeface="Calibri" pitchFamily="34" charset="-120"/>
              </a:rPr>
              <a:t>Ikinini gikora mu ibanga, bityo kumva umeze neza ni cyo kigamije. Ingaruka zacyo zigomba kuvugwa ku kigo nderabuzima aho gukemurwa no kugihagarika.</a:t>
            </a:r>
            <a:endParaRPr lang="rw-RW" sz="18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113</a:t>
            </a:r>
            <a:endParaRPr lang="rw-RW" sz="900" dirty="0"/>
          </a:p>
        </p:txBody>
      </p:sp>
      <p:grpSp>
        <p:nvGrpSpPr>
          <p:cNvPr id="14" name="Grupo 13">
            <a:extLst>
              <a:ext uri="{FF2B5EF4-FFF2-40B4-BE49-F238E27FC236}">
                <a16:creationId xmlns:a16="http://schemas.microsoft.com/office/drawing/2014/main" id="{1D84B0EE-E48D-C10E-CCB6-80BFDA803453}"/>
              </a:ext>
            </a:extLst>
          </p:cNvPr>
          <p:cNvGrpSpPr/>
          <p:nvPr/>
        </p:nvGrpSpPr>
        <p:grpSpPr>
          <a:xfrm>
            <a:off x="548640" y="1309578"/>
            <a:ext cx="3514344" cy="4141902"/>
            <a:chOff x="548640" y="1309578"/>
            <a:chExt cx="3514344" cy="4141902"/>
          </a:xfrm>
        </p:grpSpPr>
        <p:sp>
          <p:nvSpPr>
            <p:cNvPr id="4" name="Shape 2"/>
            <p:cNvSpPr/>
            <p:nvPr/>
          </p:nvSpPr>
          <p:spPr>
            <a:xfrm>
              <a:off x="548640" y="1309578"/>
              <a:ext cx="3514344" cy="4141902"/>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6" y="1474171"/>
              <a:ext cx="3075432" cy="2084832"/>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Impamvu gitangwa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Kanseri zimwe z'ibere zikura bitewe n'imisemburo y'umubiri. Ikinini cya buri munsi kigabanya izo ngaruka, kandi kigabanya ibyago byo kongera kurwara.</a:t>
              </a:r>
              <a:endParaRPr lang="rw-RW" sz="1800" dirty="0"/>
            </a:p>
          </p:txBody>
        </p:sp>
        <p:pic>
          <p:nvPicPr>
            <p:cNvPr id="17" name="Picture 16">
              <a:extLst>
                <a:ext uri="{FF2B5EF4-FFF2-40B4-BE49-F238E27FC236}">
                  <a16:creationId xmlns:a16="http://schemas.microsoft.com/office/drawing/2014/main" id="{93461C1F-9E52-F85A-94B1-57BD076740E1}"/>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023975" y="3246221"/>
              <a:ext cx="2539414" cy="1929837"/>
            </a:xfrm>
            <a:prstGeom prst="rect">
              <a:avLst/>
            </a:prstGeom>
          </p:spPr>
        </p:pic>
      </p:grpSp>
      <p:grpSp>
        <p:nvGrpSpPr>
          <p:cNvPr id="15" name="Grupo 14">
            <a:extLst>
              <a:ext uri="{FF2B5EF4-FFF2-40B4-BE49-F238E27FC236}">
                <a16:creationId xmlns:a16="http://schemas.microsoft.com/office/drawing/2014/main" id="{7DE73227-89D0-5674-80FB-E696FEFA329A}"/>
              </a:ext>
            </a:extLst>
          </p:cNvPr>
          <p:cNvGrpSpPr/>
          <p:nvPr/>
        </p:nvGrpSpPr>
        <p:grpSpPr>
          <a:xfrm>
            <a:off x="4337304" y="1309578"/>
            <a:ext cx="3514344" cy="4074251"/>
            <a:chOff x="4337304" y="1309578"/>
            <a:chExt cx="3514344" cy="4074251"/>
          </a:xfrm>
        </p:grpSpPr>
        <p:sp>
          <p:nvSpPr>
            <p:cNvPr id="6" name="Shape 4"/>
            <p:cNvSpPr/>
            <p:nvPr/>
          </p:nvSpPr>
          <p:spPr>
            <a:xfrm>
              <a:off x="4337304" y="1309578"/>
              <a:ext cx="3514344" cy="4074251"/>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474171"/>
              <a:ext cx="3075432" cy="2084832"/>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Igihe kingana iki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Gifatwa imyaka myinshi nyuma y'uko ubundi buvuzi burangiye, nk'uko itsinda ry'ubuzima ribigiramo inama.</a:t>
              </a:r>
              <a:endParaRPr lang="rw-RW" sz="1800" dirty="0"/>
            </a:p>
          </p:txBody>
        </p:sp>
        <p:pic>
          <p:nvPicPr>
            <p:cNvPr id="19" name="Picture 18">
              <a:extLst>
                <a:ext uri="{FF2B5EF4-FFF2-40B4-BE49-F238E27FC236}">
                  <a16:creationId xmlns:a16="http://schemas.microsoft.com/office/drawing/2014/main" id="{B174571E-5D3B-8F34-361C-E7ADB897389B}"/>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629953" y="3223361"/>
              <a:ext cx="2929046" cy="1814983"/>
            </a:xfrm>
            <a:prstGeom prst="rect">
              <a:avLst/>
            </a:prstGeom>
          </p:spPr>
        </p:pic>
      </p:grpSp>
      <p:grpSp>
        <p:nvGrpSpPr>
          <p:cNvPr id="16" name="Grupo 15">
            <a:extLst>
              <a:ext uri="{FF2B5EF4-FFF2-40B4-BE49-F238E27FC236}">
                <a16:creationId xmlns:a16="http://schemas.microsoft.com/office/drawing/2014/main" id="{B6560409-1A55-6D9F-EF15-6EFC82978600}"/>
              </a:ext>
            </a:extLst>
          </p:cNvPr>
          <p:cNvGrpSpPr/>
          <p:nvPr/>
        </p:nvGrpSpPr>
        <p:grpSpPr>
          <a:xfrm>
            <a:off x="8125968" y="1309579"/>
            <a:ext cx="3514344" cy="4074250"/>
            <a:chOff x="8125968" y="1309579"/>
            <a:chExt cx="3514344" cy="4074250"/>
          </a:xfrm>
        </p:grpSpPr>
        <p:sp>
          <p:nvSpPr>
            <p:cNvPr id="8" name="Shape 6"/>
            <p:cNvSpPr/>
            <p:nvPr/>
          </p:nvSpPr>
          <p:spPr>
            <a:xfrm>
              <a:off x="8125968" y="1309579"/>
              <a:ext cx="3514344" cy="4074250"/>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474171"/>
              <a:ext cx="3075432" cy="2084832"/>
            </a:xfrm>
            <a:prstGeom prst="rect">
              <a:avLst/>
            </a:prstGeom>
            <a:noFill/>
            <a:ln/>
          </p:spPr>
          <p:txBody>
            <a:bodyPr wrap="square" lIns="0" tIns="0" rIns="0" bIns="0" rtlCol="0" anchor="t">
              <a:normAutofit fontScale="95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Impamvu abantu bagihagarika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Bumva bameze neza, cyangwa ikinini kikabatera ubushyuhe butunguranye mu mubiri, kubabara mu ngingo cyangwa agahinda, bakagihagarika batabibwiye umuntu n'umwe.</a:t>
              </a:r>
              <a:endParaRPr lang="rw-RW" sz="1800" dirty="0"/>
            </a:p>
          </p:txBody>
        </p:sp>
        <p:pic>
          <p:nvPicPr>
            <p:cNvPr id="21" name="Picture 20">
              <a:extLst>
                <a:ext uri="{FF2B5EF4-FFF2-40B4-BE49-F238E27FC236}">
                  <a16:creationId xmlns:a16="http://schemas.microsoft.com/office/drawing/2014/main" id="{E264F08B-EF47-B054-DAA6-32BC4171B6CE}"/>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345424" y="3172481"/>
              <a:ext cx="3043820" cy="1923918"/>
            </a:xfrm>
            <a:prstGeom prst="rect">
              <a:avLst/>
            </a:prstGeom>
          </p:spPr>
        </p:pic>
      </p:gr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IKIBAZO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Yifuza guhagarika ibinini bye</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fontScale="90000" lnSpcReduction="18000"/>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yarangije ubuvuzi bwe hashize amezi cumi n'umunani kandi afata ikinini cya buri munsi. Yumva ameze neza, ikinini kimutera ubushyuhe butunguranye mu mubiri, kandi akubwira ko yafashe icyemezo cyo kugihagarika. Ni ikihe gisubizo cyiza kurusha ibindi?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Kumwemerera, kuko yarangije ubuvuzi bw'ingenzi</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Kumubwira kugifata gusa ku minsi yibutse</a:t>
            </a:r>
            <a:endParaRPr lang="rw-RW" sz="1800" dirty="0"/>
          </a:p>
        </p:txBody>
      </p:sp>
      <p:sp>
        <p:nvSpPr>
          <p:cNvPr id="9" name="Shape 7"/>
          <p:cNvSpPr/>
          <p:nvPr/>
        </p:nvSpPr>
        <p:spPr>
          <a:xfrm>
            <a:off x="548640" y="345643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normAutofit fontScale="93000"/>
          </a:bodyP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Kumusobanurira ko ikinini kigabanya ibyago byo kongera kurwara, ko kumva ameze neza ari ibisanzwe, no kumushishikariza kuvuga ikibazo cy'ubushyuhe ku kigo nderabuzima aho kugihagarika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Kumubwira ko nta kabuza azapfa naramuka agihagaritse</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Ingaruka z'ikinini ni impamvu nyayo ituma abantu bagihagarika, kandi akenshi zishobora gufashwa. Kumwemerera bimwambura uburinzi agikeneye, naho kumutera ubwoba bikunze guhagarika ikiganiro aho guhindura ibyo akora.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114</a:t>
            </a:r>
            <a:endParaRPr lang="rw-RW" sz="900" dirty="0"/>
          </a:p>
        </p:txBody>
      </p:sp>
    </p:spTree>
    <p:extLst>
      <p:ext uri="{BB962C8B-B14F-4D97-AF65-F5344CB8AC3E}">
        <p14:creationId xmlns:p14="http://schemas.microsoft.com/office/powerpoint/2010/main" val="141200463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UBUFASHA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Ubufasha bw'ingirakamaro ushobora gutanga</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Tega amatwi. </a:t>
            </a:r>
            <a:r>
              <a:rPr lang="rw-RW" sz="1800" dirty="0">
                <a:solidFill>
                  <a:srgbClr val="203864"/>
                </a:solidFill>
                <a:latin typeface="Calibri" pitchFamily="34" charset="0"/>
                <a:ea typeface="Calibri" pitchFamily="34" charset="-122"/>
                <a:cs typeface="Calibri" pitchFamily="34" charset="-120"/>
              </a:rPr>
              <a:t>Mubaze uko amerewe, kandi umuhe umwanya wo gusubiza atihutishijwe.</a:t>
            </a:r>
            <a:endParaRPr lang="rw-RW" sz="1800" dirty="0"/>
          </a:p>
        </p:txBody>
      </p:sp>
      <p:sp>
        <p:nvSpPr>
          <p:cNvPr id="6" name="Shape 4"/>
          <p:cNvSpPr/>
          <p:nvPr/>
        </p:nvSpPr>
        <p:spPr>
          <a:xfrm>
            <a:off x="630936" y="2286000"/>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Mushishikarize gufata amafunguro mato kenshi no kunywa. </a:t>
            </a:r>
            <a:r>
              <a:rPr lang="rw-RW" sz="1800" dirty="0">
                <a:solidFill>
                  <a:srgbClr val="203864"/>
                </a:solidFill>
                <a:latin typeface="Calibri" pitchFamily="34" charset="0"/>
                <a:ea typeface="Calibri" pitchFamily="34" charset="-122"/>
                <a:cs typeface="Calibri" pitchFamily="34" charset="-120"/>
              </a:rPr>
              <a:t>Ibi bifasha cyane kurusha kumuhatira kurya ibiryo byinshi icyarimwe.</a:t>
            </a:r>
            <a:endParaRPr lang="rw-RW" sz="1800" dirty="0"/>
          </a:p>
        </p:txBody>
      </p:sp>
      <p:sp>
        <p:nvSpPr>
          <p:cNvPr id="8" name="Shape 6"/>
          <p:cNvSpPr/>
          <p:nvPr/>
        </p:nvSpPr>
        <p:spPr>
          <a:xfrm>
            <a:off x="630936" y="3072384"/>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Mushishikarize kunyeganyeza umubiri buhoro. </a:t>
            </a:r>
            <a:r>
              <a:rPr lang="rw-RW" sz="1800" dirty="0">
                <a:solidFill>
                  <a:srgbClr val="203864"/>
                </a:solidFill>
                <a:latin typeface="Calibri" pitchFamily="34" charset="0"/>
                <a:ea typeface="Calibri" pitchFamily="34" charset="-122"/>
                <a:cs typeface="Calibri" pitchFamily="34" charset="-120"/>
              </a:rPr>
              <a:t>Ingendo ngufi n'imyitozo y'ukuboko yahawe, uko abishoboye.</a:t>
            </a:r>
            <a:endParaRPr lang="rw-RW" sz="1800" dirty="0"/>
          </a:p>
        </p:txBody>
      </p:sp>
      <p:sp>
        <p:nvSpPr>
          <p:cNvPr id="10" name="Shape 8"/>
          <p:cNvSpPr/>
          <p:nvPr/>
        </p:nvSpPr>
        <p:spPr>
          <a:xfrm>
            <a:off x="630936" y="3858768"/>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Mushishikarize gufata imiti nk'uko yabigiriwemo inama. </a:t>
            </a:r>
            <a:r>
              <a:rPr lang="rw-RW" sz="1800" dirty="0">
                <a:solidFill>
                  <a:srgbClr val="203864"/>
                </a:solidFill>
                <a:latin typeface="Calibri" pitchFamily="34" charset="0"/>
                <a:ea typeface="Calibri" pitchFamily="34" charset="-122"/>
                <a:cs typeface="Calibri" pitchFamily="34" charset="-120"/>
              </a:rPr>
              <a:t>Harimo n'imiti y'ububabare n'iy'isesemi.</a:t>
            </a:r>
            <a:endParaRPr lang="rw-RW" sz="1800" dirty="0"/>
          </a:p>
        </p:txBody>
      </p:sp>
      <p:sp>
        <p:nvSpPr>
          <p:cNvPr id="12" name="Shape 10"/>
          <p:cNvSpPr/>
          <p:nvPr/>
        </p:nvSpPr>
        <p:spPr>
          <a:xfrm>
            <a:off x="630936" y="4645152"/>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3" name="Text 11"/>
          <p:cNvSpPr txBox="1"/>
          <p:nvPr/>
        </p:nvSpPr>
        <p:spPr>
          <a:xfrm>
            <a:off x="1115568" y="4471416"/>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Menyesha ibibazo hakiri kare. </a:t>
            </a:r>
            <a:r>
              <a:rPr lang="rw-RW" sz="1800" dirty="0">
                <a:solidFill>
                  <a:srgbClr val="203864"/>
                </a:solidFill>
                <a:latin typeface="Calibri" pitchFamily="34" charset="0"/>
                <a:ea typeface="Calibri" pitchFamily="34" charset="-122"/>
                <a:cs typeface="Calibri" pitchFamily="34" charset="-120"/>
              </a:rPr>
              <a:t>Ntugategereze ko ikibazo gikomera mbere yo kuvugana n'ikigo nderabuzima.</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115</a:t>
            </a:r>
            <a:endParaRPr lang="rw-RW"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KUVUGANA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Amagambo afasha n'amagambo akomeretsa</a:t>
            </a:r>
            <a:endParaRPr lang="rw-RW" sz="3000" dirty="0"/>
          </a:p>
        </p:txBody>
      </p:sp>
      <p:sp>
        <p:nvSpPr>
          <p:cNvPr id="4" name="Shape 2"/>
          <p:cNvSpPr/>
          <p:nvPr/>
        </p:nvSpPr>
        <p:spPr>
          <a:xfrm>
            <a:off x="548640" y="1325880"/>
            <a:ext cx="5362956" cy="4206240"/>
          </a:xfrm>
          <a:prstGeom prst="roundRect">
            <a:avLst>
              <a:gd name="adj" fmla="val 1739"/>
            </a:avLst>
          </a:prstGeom>
          <a:solidFill>
            <a:schemeClr val="accent6">
              <a:lumMod val="20000"/>
              <a:lumOff val="80000"/>
            </a:schemeClr>
          </a:solidFill>
          <a:ln w="12700">
            <a:solidFill>
              <a:srgbClr val="D3E1F2"/>
            </a:solidFill>
            <a:prstDash val="solid"/>
          </a:ln>
        </p:spPr>
        <p:txBody>
          <a:bodyPr/>
          <a:lstStyle/>
          <a:p>
            <a:endParaRPr lang="rw-RW" dirty="0"/>
          </a:p>
        </p:txBody>
      </p:sp>
      <p:sp>
        <p:nvSpPr>
          <p:cNvPr id="5" name="Text 3"/>
          <p:cNvSpPr txBox="1"/>
          <p:nvPr/>
        </p:nvSpPr>
        <p:spPr>
          <a:xfrm>
            <a:off x="786384" y="1490472"/>
            <a:ext cx="4887468" cy="365760"/>
          </a:xfrm>
          <a:prstGeom prst="rect">
            <a:avLst/>
          </a:prstGeom>
          <a:noFill/>
          <a:ln/>
        </p:spPr>
        <p:txBody>
          <a:bodyPr wrap="square" lIns="0" tIns="0" rIns="0" bIns="0" rtlCol="0" anchor="ctr"/>
          <a:lstStyle/>
          <a:p>
            <a:r>
              <a:rPr lang="rw-RW" sz="1900" b="1" dirty="0">
                <a:solidFill>
                  <a:srgbClr val="1F3864"/>
                </a:solidFill>
                <a:latin typeface="Calibri" pitchFamily="34" charset="0"/>
                <a:ea typeface="Calibri" pitchFamily="34" charset="-122"/>
                <a:cs typeface="Calibri" pitchFamily="34" charset="-120"/>
              </a:rPr>
              <a:t>🟢 Ibifasha</a:t>
            </a:r>
            <a:endParaRPr lang="rw-RW" sz="1900" dirty="0"/>
          </a:p>
        </p:txBody>
      </p:sp>
      <p:sp>
        <p:nvSpPr>
          <p:cNvPr id="6" name="Text 4"/>
          <p:cNvSpPr txBox="1"/>
          <p:nvPr/>
        </p:nvSpPr>
        <p:spPr>
          <a:xfrm>
            <a:off x="786384" y="1947672"/>
            <a:ext cx="4887468" cy="3383280"/>
          </a:xfrm>
          <a:prstGeom prst="rect">
            <a:avLst/>
          </a:prstGeom>
          <a:noFill/>
          <a:ln/>
        </p:spPr>
        <p:txBody>
          <a:bodyPr wrap="square" lIns="0" tIns="0" rIns="0" bIns="0" rtlCol="0" anchor="t"/>
          <a:lstStyle/>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"Wamerewe ute muri iki cyumweru?"</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"Birumvikana ko bikugoye. Mbwira byinshi."</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"Twabibwira umukozi w'ubuzima?"</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"Nzagaruka ku wa Kane."</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"Nta kosa ufite kuri iyi ndwara."</a:t>
            </a:r>
            <a:endParaRPr lang="rw-RW" sz="1800" dirty="0"/>
          </a:p>
        </p:txBody>
      </p:sp>
      <p:sp>
        <p:nvSpPr>
          <p:cNvPr id="7" name="Shape 5"/>
          <p:cNvSpPr/>
          <p:nvPr/>
        </p:nvSpPr>
        <p:spPr>
          <a:xfrm>
            <a:off x="6277356" y="1325880"/>
            <a:ext cx="5362956" cy="4206240"/>
          </a:xfrm>
          <a:prstGeom prst="roundRect">
            <a:avLst>
              <a:gd name="adj" fmla="val 1739"/>
            </a:avLst>
          </a:prstGeom>
          <a:solidFill>
            <a:srgbClr val="F6C6C0"/>
          </a:solidFill>
          <a:ln w="12700">
            <a:solidFill>
              <a:srgbClr val="D3E1F2"/>
            </a:solidFill>
            <a:prstDash val="solid"/>
          </a:ln>
        </p:spPr>
        <p:txBody>
          <a:bodyPr/>
          <a:lstStyle/>
          <a:p>
            <a:endParaRPr lang="rw-RW" dirty="0"/>
          </a:p>
        </p:txBody>
      </p:sp>
      <p:sp>
        <p:nvSpPr>
          <p:cNvPr id="8" name="Text 6"/>
          <p:cNvSpPr txBox="1"/>
          <p:nvPr/>
        </p:nvSpPr>
        <p:spPr>
          <a:xfrm>
            <a:off x="6515100" y="1490472"/>
            <a:ext cx="4887468" cy="365760"/>
          </a:xfrm>
          <a:prstGeom prst="rect">
            <a:avLst/>
          </a:prstGeom>
          <a:noFill/>
          <a:ln/>
        </p:spPr>
        <p:txBody>
          <a:bodyPr wrap="square" lIns="0" tIns="0" rIns="0" bIns="0" rtlCol="0" anchor="ctr"/>
          <a:lstStyle/>
          <a:p>
            <a:r>
              <a:rPr lang="rw-RW" sz="1900" b="1" dirty="0">
                <a:solidFill>
                  <a:srgbClr val="1F3864"/>
                </a:solidFill>
                <a:latin typeface="Calibri" pitchFamily="34" charset="0"/>
                <a:ea typeface="Calibri" pitchFamily="34" charset="-122"/>
                <a:cs typeface="Calibri" pitchFamily="34" charset="-120"/>
              </a:rPr>
              <a:t>🔴 Ibikomeretsa</a:t>
            </a:r>
            <a:endParaRPr lang="rw-RW" sz="1900" dirty="0"/>
          </a:p>
        </p:txBody>
      </p:sp>
      <p:sp>
        <p:nvSpPr>
          <p:cNvPr id="9" name="Text 7"/>
          <p:cNvSpPr txBox="1"/>
          <p:nvPr/>
        </p:nvSpPr>
        <p:spPr>
          <a:xfrm>
            <a:off x="6515100" y="1947672"/>
            <a:ext cx="4887468" cy="3383280"/>
          </a:xfrm>
          <a:prstGeom prst="rect">
            <a:avLst/>
          </a:prstGeom>
          <a:noFill/>
          <a:ln/>
        </p:spPr>
        <p:txBody>
          <a:bodyPr wrap="square" lIns="0" tIns="0" rIns="0" bIns="0" rtlCol="0" anchor="t"/>
          <a:lstStyle/>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"Ugomba gukomera, ntukarire."</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"Ntugire impungenge, byose bizagenda neza."</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"Hari abandi bagore bamerewe nabi kukurusha."</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"Ubu nta kintu na kimwe gishobora gukorwa."</a:t>
            </a:r>
          </a:p>
          <a:p>
            <a:pPr marL="342900" indent="-342900">
              <a:spcAft>
                <a:spcPts val="600"/>
              </a:spcAft>
              <a:buSzPct val="100000"/>
              <a:buChar char="•"/>
            </a:pPr>
            <a:r>
              <a:rPr lang="rw-RW" sz="1800" dirty="0">
                <a:solidFill>
                  <a:srgbClr val="203864"/>
                </a:solidFill>
                <a:latin typeface="Calibri" pitchFamily="34" charset="0"/>
                <a:ea typeface="Calibri" pitchFamily="34" charset="-122"/>
                <a:cs typeface="Calibri" pitchFamily="34" charset="-120"/>
              </a:rPr>
              <a:t>"Wagombaga kuza kare."</a:t>
            </a:r>
            <a:endParaRPr lang="rw-RW" sz="1800" dirty="0"/>
          </a:p>
        </p:txBody>
      </p:sp>
      <p:sp>
        <p:nvSpPr>
          <p:cNvPr id="10" name="Shape 8"/>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1" name="Text 9"/>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Ibuka: </a:t>
            </a:r>
            <a:r>
              <a:rPr lang="rw-RW" sz="1800" dirty="0">
                <a:solidFill>
                  <a:srgbClr val="203864"/>
                </a:solidFill>
                <a:latin typeface="Calibri" pitchFamily="34" charset="0"/>
                <a:ea typeface="Calibri" pitchFamily="34" charset="-122"/>
                <a:cs typeface="Calibri" pitchFamily="34" charset="-120"/>
              </a:rPr>
              <a:t>Ntukeneye amagambo atunganye. Kugaruka igihe wavuze ko uzagarukira bifite agaciro kurusha ibyo wavuga byose.</a:t>
            </a:r>
            <a:endParaRPr lang="rw-RW" sz="18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116</a:t>
            </a:r>
            <a:endParaRPr lang="rw-RW"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IMIBEREHO MYIZA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Icyubahiro, isura y'umubiri n'imibereho ya buri munsi</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Isura ye imufitiye akamaro. </a:t>
            </a:r>
            <a:r>
              <a:rPr lang="rw-RW" sz="1800" dirty="0">
                <a:solidFill>
                  <a:srgbClr val="203864"/>
                </a:solidFill>
                <a:latin typeface="Calibri" pitchFamily="34" charset="0"/>
                <a:ea typeface="Calibri" pitchFamily="34" charset="-122"/>
                <a:cs typeface="Calibri" pitchFamily="34" charset="-120"/>
              </a:rPr>
              <a:t>Inkovu, ibere ryahindutse cyangwa umusatsi watakaye bishobora kumugora. Ntubyirengagize, kandi ntumwitegereze cyangwa ngo ugire icyo ubivugaho.</a:t>
            </a:r>
            <a:endParaRPr lang="rw-RW" sz="1800" dirty="0"/>
          </a:p>
        </p:txBody>
      </p:sp>
      <p:sp>
        <p:nvSpPr>
          <p:cNvPr id="6" name="Shape 4"/>
          <p:cNvSpPr/>
          <p:nvPr/>
        </p:nvSpPr>
        <p:spPr>
          <a:xfrm>
            <a:off x="630936" y="2286000"/>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Imyenda n'ibyo kuzuza ahabuze. </a:t>
            </a:r>
            <a:r>
              <a:rPr lang="rw-RW" sz="1800" dirty="0">
                <a:solidFill>
                  <a:srgbClr val="203864"/>
                </a:solidFill>
                <a:latin typeface="Calibri" pitchFamily="34" charset="0"/>
                <a:ea typeface="Calibri" pitchFamily="34" charset="-122"/>
                <a:cs typeface="Calibri" pitchFamily="34" charset="-120"/>
              </a:rPr>
              <a:t>Agapadi koroshye gashyirwa mu mwenda gafasha abagore bamwe kumva bamerewe neza mu ruhame. Baza itsinda ry'ubuzima icyo gihari.</a:t>
            </a:r>
            <a:endParaRPr lang="rw-RW" sz="1800" dirty="0"/>
          </a:p>
        </p:txBody>
      </p:sp>
      <p:sp>
        <p:nvSpPr>
          <p:cNvPr id="8" name="Shape 6"/>
          <p:cNvSpPr/>
          <p:nvPr/>
        </p:nvSpPr>
        <p:spPr>
          <a:xfrm>
            <a:off x="630936" y="3072384"/>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Ibanga. </a:t>
            </a:r>
            <a:r>
              <a:rPr lang="rw-RW" sz="1800" dirty="0">
                <a:solidFill>
                  <a:srgbClr val="203864"/>
                </a:solidFill>
                <a:latin typeface="Calibri" pitchFamily="34" charset="0"/>
                <a:ea typeface="Calibri" pitchFamily="34" charset="-122"/>
                <a:cs typeface="Calibri" pitchFamily="34" charset="-120"/>
              </a:rPr>
              <a:t>Gufashwa gukaraba, kwambara no kugira isuku bikorwa mu mwiherero, kandi ntibiganirwaho n'abandi.</a:t>
            </a:r>
            <a:endParaRPr lang="rw-RW" sz="1800" dirty="0"/>
          </a:p>
        </p:txBody>
      </p:sp>
      <p:sp>
        <p:nvSpPr>
          <p:cNvPr id="10" name="Shape 8"/>
          <p:cNvSpPr/>
          <p:nvPr/>
        </p:nvSpPr>
        <p:spPr>
          <a:xfrm>
            <a:off x="630936" y="3858768"/>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Ubuzima bwe busanzwe. </a:t>
            </a:r>
            <a:r>
              <a:rPr lang="rw-RW" sz="1800" dirty="0">
                <a:solidFill>
                  <a:srgbClr val="203864"/>
                </a:solidFill>
                <a:latin typeface="Calibri" pitchFamily="34" charset="0"/>
                <a:ea typeface="Calibri" pitchFamily="34" charset="-122"/>
                <a:cs typeface="Calibri" pitchFamily="34" charset="-120"/>
              </a:rPr>
              <a:t>Shyigikira uko ashoboye gukomeza akazi ke, ubuzima bw'umuryango we n'isengesho rye.</a:t>
            </a:r>
            <a:endParaRPr lang="rw-RW" sz="1800" dirty="0"/>
          </a:p>
        </p:txBody>
      </p:sp>
      <p:sp>
        <p:nvSpPr>
          <p:cNvPr id="12" name="Shape 10"/>
          <p:cNvSpPr/>
          <p:nvPr/>
        </p:nvSpPr>
        <p:spPr>
          <a:xfrm>
            <a:off x="630936" y="4645152"/>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3" name="Text 11"/>
          <p:cNvSpPr txBox="1"/>
          <p:nvPr/>
        </p:nvSpPr>
        <p:spPr>
          <a:xfrm>
            <a:off x="1115568" y="4471416"/>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Kumuba hafi. </a:t>
            </a:r>
            <a:r>
              <a:rPr lang="rw-RW" sz="1800" dirty="0">
                <a:solidFill>
                  <a:srgbClr val="203864"/>
                </a:solidFill>
                <a:latin typeface="Calibri" pitchFamily="34" charset="0"/>
                <a:ea typeface="Calibri" pitchFamily="34" charset="-122"/>
                <a:cs typeface="Calibri" pitchFamily="34" charset="-120"/>
              </a:rPr>
              <a:t>Kumusura no kumugira umwe mu bandi bifite agaciro nk'ubundi bufasha bufatika.</a:t>
            </a:r>
            <a:endParaRPr lang="rw-RW" sz="1800" dirty="0"/>
          </a:p>
        </p:txBody>
      </p:sp>
      <p:sp>
        <p:nvSpPr>
          <p:cNvPr id="14" name="Shape 12"/>
          <p:cNvSpPr/>
          <p:nvPr/>
        </p:nvSpPr>
        <p:spPr>
          <a:xfrm>
            <a:off x="548640" y="5623560"/>
            <a:ext cx="11091672" cy="658368"/>
          </a:xfrm>
          <a:prstGeom prst="roundRect">
            <a:avLst>
              <a:gd name="adj" fmla="val 11111"/>
            </a:avLst>
          </a:prstGeom>
          <a:solidFill>
            <a:srgbClr val="FDF6E3"/>
          </a:solidFill>
          <a:ln w="12700">
            <a:solidFill>
              <a:srgbClr val="E6D4A3"/>
            </a:solidFill>
            <a:prstDash val="solid"/>
          </a:ln>
        </p:spPr>
        <p:txBody>
          <a:bodyPr/>
          <a:lstStyle/>
          <a:p>
            <a:endParaRPr lang="rw-RW" dirty="0"/>
          </a:p>
        </p:txBody>
      </p:sp>
      <p:sp>
        <p:nvSpPr>
          <p:cNvPr id="15" name="Text 13"/>
          <p:cNvSpPr txBox="1"/>
          <p:nvPr/>
        </p:nvSpPr>
        <p:spPr>
          <a:xfrm>
            <a:off x="749808" y="5678424"/>
            <a:ext cx="10689336" cy="548640"/>
          </a:xfrm>
          <a:prstGeom prst="rect">
            <a:avLst/>
          </a:prstGeom>
          <a:noFill/>
          <a:ln/>
        </p:spPr>
        <p:txBody>
          <a:bodyPr wrap="square" lIns="0" tIns="0" rIns="0" bIns="0" rtlCol="0" anchor="ctr"/>
          <a:lstStyle/>
          <a:p>
            <a:pPr marL="0" indent="0">
              <a:buNone/>
            </a:pPr>
            <a:r>
              <a:rPr lang="rw-RW" sz="1800" b="1" dirty="0">
                <a:solidFill>
                  <a:srgbClr val="B06A08"/>
                </a:solidFill>
                <a:latin typeface="Calibri" pitchFamily="34" charset="0"/>
                <a:ea typeface="Calibri" pitchFamily="34" charset="-122"/>
                <a:cs typeface="Calibri" pitchFamily="34" charset="-120"/>
              </a:rPr>
              <a:t>Ntuzigere ukeka: </a:t>
            </a:r>
            <a:r>
              <a:rPr lang="rw-RW" sz="1800" dirty="0">
                <a:solidFill>
                  <a:srgbClr val="203864"/>
                </a:solidFill>
                <a:latin typeface="Calibri" pitchFamily="34" charset="0"/>
                <a:ea typeface="Calibri" pitchFamily="34" charset="-122"/>
                <a:cs typeface="Calibri" pitchFamily="34" charset="-120"/>
              </a:rPr>
              <a:t>Ntugakeke ibijyanye n'umubano we, abana be cyangwa umubiri we. Kurikiza ibyo we ubwe azanye mu kiganiro.</a:t>
            </a:r>
            <a:endParaRPr lang="rw-RW" sz="1800" dirty="0"/>
          </a:p>
        </p:txBody>
      </p:sp>
      <p:sp>
        <p:nvSpPr>
          <p:cNvPr id="16" name="Text 14"/>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7" name="Text 15"/>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117</a:t>
            </a:r>
            <a:endParaRPr lang="rw-RW"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KWITABWAHO KUGIRA NGO UMUNTU YISHIMIRE</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normAutofit fontScale="93500"/>
          </a:bodyPr>
          <a:lstStyle/>
          <a:p>
            <a:pPr marL="0" indent="0">
              <a:buNone/>
            </a:pPr>
            <a:r>
              <a:rPr lang="rw-RW" sz="3000" b="1" dirty="0">
                <a:solidFill>
                  <a:srgbClr val="1F3864"/>
                </a:solidFill>
                <a:latin typeface="Calibri" pitchFamily="34" charset="0"/>
                <a:ea typeface="Calibri" pitchFamily="34" charset="-122"/>
                <a:cs typeface="Calibri" pitchFamily="34" charset="-120"/>
              </a:rPr>
              <a:t>Ubuvuzi butuma umuntu amererwa neza</a:t>
            </a:r>
            <a:endParaRPr lang="rw-RW" sz="3000" dirty="0"/>
          </a:p>
        </p:txBody>
      </p:sp>
      <p:sp>
        <p:nvSpPr>
          <p:cNvPr id="12" name="Text 10"/>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3" name="Text 11"/>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118</a:t>
            </a:r>
            <a:endParaRPr lang="rw-RW" sz="900" dirty="0"/>
          </a:p>
        </p:txBody>
      </p:sp>
      <p:grpSp>
        <p:nvGrpSpPr>
          <p:cNvPr id="10" name="Grupo 9">
            <a:extLst>
              <a:ext uri="{FF2B5EF4-FFF2-40B4-BE49-F238E27FC236}">
                <a16:creationId xmlns:a16="http://schemas.microsoft.com/office/drawing/2014/main" id="{6170C96A-8016-6D7E-C2C7-AF4C0556B9AF}"/>
              </a:ext>
            </a:extLst>
          </p:cNvPr>
          <p:cNvGrpSpPr/>
          <p:nvPr/>
        </p:nvGrpSpPr>
        <p:grpSpPr>
          <a:xfrm>
            <a:off x="548640" y="1257303"/>
            <a:ext cx="3514344" cy="3884039"/>
            <a:chOff x="548640" y="1257303"/>
            <a:chExt cx="3514344" cy="3884039"/>
          </a:xfrm>
        </p:grpSpPr>
        <p:sp>
          <p:nvSpPr>
            <p:cNvPr id="4" name="Shape 2"/>
            <p:cNvSpPr/>
            <p:nvPr/>
          </p:nvSpPr>
          <p:spPr>
            <a:xfrm>
              <a:off x="548640" y="1257303"/>
              <a:ext cx="3514344" cy="3884039"/>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768096" y="1421896"/>
              <a:ext cx="3075432" cy="2084832"/>
            </a:xfrm>
            <a:prstGeom prst="rect">
              <a:avLst/>
            </a:prstGeom>
            <a:noFill/>
            <a:ln/>
          </p:spPr>
          <p:txBody>
            <a:bodyPr wrap="square" lIns="0" tIns="0" rIns="0" bIns="0" rtlCol="0" anchor="t">
              <a:normAutofit/>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Si ubw'iherezo ry'ubuzima gusa</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Ubuvuzi bugabanya ububabare n'ibindi bimenyetso butangwa mu cyiciro icyo ari cyo cyose, hamwe n'ubuvuzi bwa kanseri.</a:t>
              </a:r>
              <a:endParaRPr lang="rw-RW" sz="1800" dirty="0"/>
            </a:p>
          </p:txBody>
        </p:sp>
        <p:pic>
          <p:nvPicPr>
            <p:cNvPr id="15" name="Picture 14">
              <a:extLst>
                <a:ext uri="{FF2B5EF4-FFF2-40B4-BE49-F238E27FC236}">
                  <a16:creationId xmlns:a16="http://schemas.microsoft.com/office/drawing/2014/main" id="{6DE103AE-C7B6-CAB6-8C55-697BEDD8696F}"/>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92235" y="2947094"/>
              <a:ext cx="3027153" cy="1906198"/>
            </a:xfrm>
            <a:prstGeom prst="rect">
              <a:avLst/>
            </a:prstGeom>
          </p:spPr>
        </p:pic>
      </p:grpSp>
      <p:grpSp>
        <p:nvGrpSpPr>
          <p:cNvPr id="11" name="Grupo 10">
            <a:extLst>
              <a:ext uri="{FF2B5EF4-FFF2-40B4-BE49-F238E27FC236}">
                <a16:creationId xmlns:a16="http://schemas.microsoft.com/office/drawing/2014/main" id="{DF537CF2-2647-0089-D474-1872A2382EA3}"/>
              </a:ext>
            </a:extLst>
          </p:cNvPr>
          <p:cNvGrpSpPr/>
          <p:nvPr/>
        </p:nvGrpSpPr>
        <p:grpSpPr>
          <a:xfrm>
            <a:off x="4337304" y="1257304"/>
            <a:ext cx="3514344" cy="3884038"/>
            <a:chOff x="4337304" y="1257304"/>
            <a:chExt cx="3514344" cy="3884038"/>
          </a:xfrm>
        </p:grpSpPr>
        <p:sp>
          <p:nvSpPr>
            <p:cNvPr id="6" name="Shape 4"/>
            <p:cNvSpPr/>
            <p:nvPr/>
          </p:nvSpPr>
          <p:spPr>
            <a:xfrm>
              <a:off x="4337304" y="1257304"/>
              <a:ext cx="3514344" cy="3884038"/>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4556760" y="1421896"/>
              <a:ext cx="3075432" cy="1312678"/>
            </a:xfrm>
            <a:prstGeom prst="rect">
              <a:avLst/>
            </a:prstGeom>
            <a:noFill/>
            <a:ln/>
          </p:spPr>
          <p:txBody>
            <a:bodyPr wrap="square" lIns="0" tIns="0" rIns="0" bIns="0" rtlCol="0" anchor="t">
              <a:normAutofit fontScale="95500" lnSpcReduction="10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Buvura ibimenyetso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Ububabare, isesemi, igikomere kigoye, kubura ibitotsi no guhangayika byose bishobora gufashwa.</a:t>
              </a:r>
              <a:endParaRPr lang="rw-RW" sz="1800" dirty="0"/>
            </a:p>
          </p:txBody>
        </p:sp>
        <p:pic>
          <p:nvPicPr>
            <p:cNvPr id="17" name="Picture 16">
              <a:extLst>
                <a:ext uri="{FF2B5EF4-FFF2-40B4-BE49-F238E27FC236}">
                  <a16:creationId xmlns:a16="http://schemas.microsoft.com/office/drawing/2014/main" id="{48D02D38-4C31-827A-AFCD-6D382B05B36A}"/>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663253" y="3058998"/>
              <a:ext cx="2691441" cy="1706693"/>
            </a:xfrm>
            <a:prstGeom prst="rect">
              <a:avLst/>
            </a:prstGeom>
          </p:spPr>
        </p:pic>
      </p:grpSp>
      <p:grpSp>
        <p:nvGrpSpPr>
          <p:cNvPr id="14" name="Grupo 13">
            <a:extLst>
              <a:ext uri="{FF2B5EF4-FFF2-40B4-BE49-F238E27FC236}">
                <a16:creationId xmlns:a16="http://schemas.microsoft.com/office/drawing/2014/main" id="{57DE004B-4089-881D-8F93-0546D362255F}"/>
              </a:ext>
            </a:extLst>
          </p:cNvPr>
          <p:cNvGrpSpPr/>
          <p:nvPr/>
        </p:nvGrpSpPr>
        <p:grpSpPr>
          <a:xfrm>
            <a:off x="8125968" y="1257303"/>
            <a:ext cx="3514344" cy="3884037"/>
            <a:chOff x="8125968" y="1257303"/>
            <a:chExt cx="3514344" cy="3884037"/>
          </a:xfrm>
        </p:grpSpPr>
        <p:sp>
          <p:nvSpPr>
            <p:cNvPr id="8" name="Shape 6"/>
            <p:cNvSpPr/>
            <p:nvPr/>
          </p:nvSpPr>
          <p:spPr>
            <a:xfrm>
              <a:off x="8125968" y="1257303"/>
              <a:ext cx="3514344" cy="3884037"/>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345424" y="1421896"/>
              <a:ext cx="3075432" cy="1188716"/>
            </a:xfrm>
            <a:prstGeom prst="rect">
              <a:avLst/>
            </a:prstGeom>
            <a:noFill/>
            <a:ln/>
          </p:spPr>
          <p:txBody>
            <a:bodyPr wrap="square" lIns="0" tIns="0" rIns="0" bIns="0" rtlCol="0" anchor="t">
              <a:normAutofit fontScale="98000"/>
            </a:bodyPr>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Bufasha n'umuryango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Umuryango na wo urafashwa, ugasobanurirwa ibiri kuba.</a:t>
              </a:r>
              <a:endParaRPr lang="rw-RW" sz="1800" dirty="0"/>
            </a:p>
          </p:txBody>
        </p:sp>
        <p:pic>
          <p:nvPicPr>
            <p:cNvPr id="19" name="Picture 18">
              <a:extLst>
                <a:ext uri="{FF2B5EF4-FFF2-40B4-BE49-F238E27FC236}">
                  <a16:creationId xmlns:a16="http://schemas.microsoft.com/office/drawing/2014/main" id="{AA0A7086-5B95-CD7A-8B92-6F0DBD76D4C7}"/>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8583282" y="2887871"/>
              <a:ext cx="2595731" cy="1965421"/>
            </a:xfrm>
            <a:prstGeom prst="rect">
              <a:avLst/>
            </a:prstGeom>
          </p:spPr>
        </p:pic>
      </p:gr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UMURYANGO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Gufasha umuryango</a:t>
            </a:r>
            <a:endParaRPr lang="rw-RW" sz="3000" dirty="0"/>
          </a:p>
        </p:txBody>
      </p:sp>
      <p:sp>
        <p:nvSpPr>
          <p:cNvPr id="4" name="Shape 2"/>
          <p:cNvSpPr/>
          <p:nvPr/>
        </p:nvSpPr>
        <p:spPr>
          <a:xfrm>
            <a:off x="548640" y="1362456"/>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548640" y="1362456"/>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6" name="Text 4"/>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Sobanura impamvu gahunda zo kwa muganga zigomba gukomeza, n'iyo yumva ameze neza kurushaho.</a:t>
            </a:r>
            <a:endParaRPr lang="rw-RW" sz="1800" dirty="0"/>
          </a:p>
        </p:txBody>
      </p:sp>
      <p:sp>
        <p:nvSpPr>
          <p:cNvPr id="7" name="Shape 5"/>
          <p:cNvSpPr/>
          <p:nvPr/>
        </p:nvSpPr>
        <p:spPr>
          <a:xfrm>
            <a:off x="548640" y="214884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8" name="Text 6"/>
          <p:cNvSpPr txBox="1"/>
          <p:nvPr/>
        </p:nvSpPr>
        <p:spPr>
          <a:xfrm>
            <a:off x="548640" y="214884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9" name="Text 7"/>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Sobanura ko iyi ndwara itandura ku muntu ijya ku wundi binyuze mu kubana cyangwa gusangira ibyo kurya.</a:t>
            </a:r>
            <a:endParaRPr lang="rw-RW" sz="1800" dirty="0"/>
          </a:p>
        </p:txBody>
      </p:sp>
      <p:sp>
        <p:nvSpPr>
          <p:cNvPr id="10" name="Shape 8"/>
          <p:cNvSpPr/>
          <p:nvPr/>
        </p:nvSpPr>
        <p:spPr>
          <a:xfrm>
            <a:off x="548640" y="2935224"/>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548640" y="2935224"/>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2" name="Text 10"/>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Shishikariza abagize umuryango gusangira imirimo, kugira ngo umuntu umwe adananirwa.</a:t>
            </a:r>
            <a:endParaRPr lang="rw-RW" sz="1800" dirty="0"/>
          </a:p>
        </p:txBody>
      </p:sp>
      <p:sp>
        <p:nvSpPr>
          <p:cNvPr id="13" name="Shape 11"/>
          <p:cNvSpPr/>
          <p:nvPr/>
        </p:nvSpPr>
        <p:spPr>
          <a:xfrm>
            <a:off x="548640" y="3721608"/>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4" name="Text 12"/>
          <p:cNvSpPr txBox="1"/>
          <p:nvPr/>
        </p:nvSpPr>
        <p:spPr>
          <a:xfrm>
            <a:off x="548640" y="3721608"/>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4</a:t>
            </a:r>
            <a:endParaRPr lang="rw-RW" sz="1500" dirty="0"/>
          </a:p>
        </p:txBody>
      </p:sp>
      <p:sp>
        <p:nvSpPr>
          <p:cNvPr id="15" name="Text 13"/>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Baza umuryango mu buryo bweruye icyatuma gahunda ikurikira ishoboka.</a:t>
            </a:r>
            <a:endParaRPr lang="rw-RW" sz="1800" dirty="0"/>
          </a:p>
        </p:txBody>
      </p:sp>
      <p:sp>
        <p:nvSpPr>
          <p:cNvPr id="16" name="Shape 14"/>
          <p:cNvSpPr/>
          <p:nvPr/>
        </p:nvSpPr>
        <p:spPr>
          <a:xfrm>
            <a:off x="548640" y="4507992"/>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7" name="Text 15"/>
          <p:cNvSpPr txBox="1"/>
          <p:nvPr/>
        </p:nvSpPr>
        <p:spPr>
          <a:xfrm>
            <a:off x="548640" y="4507992"/>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5</a:t>
            </a:r>
            <a:endParaRPr lang="rw-RW" sz="1500" dirty="0"/>
          </a:p>
        </p:txBody>
      </p:sp>
      <p:sp>
        <p:nvSpPr>
          <p:cNvPr id="18" name="Text 16"/>
          <p:cNvSpPr txBox="1"/>
          <p:nvPr/>
        </p:nvSpPr>
        <p:spPr>
          <a:xfrm>
            <a:off x="1115568" y="4471416"/>
            <a:ext cx="10524744" cy="731520"/>
          </a:xfrm>
          <a:prstGeom prst="rect">
            <a:avLst/>
          </a:prstGeom>
          <a:noFill/>
          <a:ln/>
        </p:spPr>
        <p:txBody>
          <a:bodyPr wrap="square" lIns="0" tIns="0" rIns="0" bIns="0" rtlCol="0" anchor="t"/>
          <a:lstStyle/>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Bagire inama yo kudahagarika ubuvuzi ngo bakoreshe imiti itaragiriwemo inama n'abakozi b'ubuzima.</a:t>
            </a:r>
            <a:endParaRPr lang="rw-RW" sz="1800" dirty="0"/>
          </a:p>
        </p:txBody>
      </p:sp>
      <p:sp>
        <p:nvSpPr>
          <p:cNvPr id="19" name="Text 17"/>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20" name="Text 18"/>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119</a:t>
            </a:r>
            <a:endParaRPr lang="rw-RW"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NYUMA YO KUVURWA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Gufasha umuntu nyuma yo kwivuza</a:t>
            </a:r>
            <a:endParaRPr lang="rw-RW" sz="3000" dirty="0"/>
          </a:p>
        </p:txBody>
      </p:sp>
      <p:sp>
        <p:nvSpPr>
          <p:cNvPr id="4" name="Shape 2"/>
          <p:cNvSpPr/>
          <p:nvPr/>
        </p:nvSpPr>
        <p:spPr>
          <a:xfrm>
            <a:off x="630936" y="1499616"/>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5" name="Text 3"/>
          <p:cNvSpPr txBox="1"/>
          <p:nvPr/>
        </p:nvSpPr>
        <p:spPr>
          <a:xfrm>
            <a:off x="1115568" y="1325880"/>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Gahunda zo gukurikiranwa zirakomeza. </a:t>
            </a:r>
            <a:r>
              <a:rPr lang="rw-RW" sz="1800" dirty="0">
                <a:solidFill>
                  <a:srgbClr val="203864"/>
                </a:solidFill>
                <a:latin typeface="Calibri" pitchFamily="34" charset="0"/>
                <a:ea typeface="Calibri" pitchFamily="34" charset="-122"/>
                <a:cs typeface="Calibri" pitchFamily="34" charset="-120"/>
              </a:rPr>
              <a:t>Yitabira gahunda zose yahawe, n'iyo yumva ameze neza rwose.</a:t>
            </a:r>
            <a:endParaRPr lang="rw-RW" sz="1800" dirty="0"/>
          </a:p>
        </p:txBody>
      </p:sp>
      <p:sp>
        <p:nvSpPr>
          <p:cNvPr id="6" name="Shape 4"/>
          <p:cNvSpPr/>
          <p:nvPr/>
        </p:nvSpPr>
        <p:spPr>
          <a:xfrm>
            <a:off x="630936" y="2286000"/>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7" name="Text 5"/>
          <p:cNvSpPr txBox="1"/>
          <p:nvPr/>
        </p:nvSpPr>
        <p:spPr>
          <a:xfrm>
            <a:off x="1115568" y="2112264"/>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Ikinini cya buri munsi kirakomeza. </a:t>
            </a:r>
            <a:r>
              <a:rPr lang="rw-RW" sz="1800" dirty="0">
                <a:solidFill>
                  <a:srgbClr val="203864"/>
                </a:solidFill>
                <a:latin typeface="Calibri" pitchFamily="34" charset="0"/>
                <a:ea typeface="Calibri" pitchFamily="34" charset="-122"/>
                <a:cs typeface="Calibri" pitchFamily="34" charset="-120"/>
              </a:rPr>
              <a:t>Ku bagihawe, gikomeza gufatwa imyaka myinshi nyuma y'uko ubundi buvuzi burangiye.</a:t>
            </a:r>
            <a:endParaRPr lang="rw-RW" sz="1800" dirty="0"/>
          </a:p>
        </p:txBody>
      </p:sp>
      <p:sp>
        <p:nvSpPr>
          <p:cNvPr id="8" name="Shape 6"/>
          <p:cNvSpPr/>
          <p:nvPr/>
        </p:nvSpPr>
        <p:spPr>
          <a:xfrm>
            <a:off x="630936" y="3072384"/>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9" name="Text 7"/>
          <p:cNvSpPr txBox="1"/>
          <p:nvPr/>
        </p:nvSpPr>
        <p:spPr>
          <a:xfrm>
            <a:off x="1115568" y="2898648"/>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Impinduka nshya zigomba kumenyeshwa. </a:t>
            </a:r>
            <a:r>
              <a:rPr lang="rw-RW" sz="1800" dirty="0">
                <a:solidFill>
                  <a:srgbClr val="203864"/>
                </a:solidFill>
                <a:latin typeface="Calibri" pitchFamily="34" charset="0"/>
                <a:ea typeface="Calibri" pitchFamily="34" charset="-122"/>
                <a:cs typeface="Calibri" pitchFamily="34" charset="-120"/>
              </a:rPr>
              <a:t>Ikibyimba gishya mu ibere iryo ari ryo ryose, kubyimba gushya, cyangwa ububabare bushya budashira bimenyeshwa, ntibyirengagizwe.</a:t>
            </a:r>
            <a:endParaRPr lang="rw-RW" sz="1800" dirty="0"/>
          </a:p>
        </p:txBody>
      </p:sp>
      <p:sp>
        <p:nvSpPr>
          <p:cNvPr id="10" name="Shape 8"/>
          <p:cNvSpPr/>
          <p:nvPr/>
        </p:nvSpPr>
        <p:spPr>
          <a:xfrm>
            <a:off x="630936" y="3858768"/>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1" name="Text 9"/>
          <p:cNvSpPr txBox="1"/>
          <p:nvPr/>
        </p:nvSpPr>
        <p:spPr>
          <a:xfrm>
            <a:off x="1115568" y="3685032"/>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Gukira bifata igihe. </a:t>
            </a:r>
            <a:r>
              <a:rPr lang="rw-RW" sz="1800" dirty="0">
                <a:solidFill>
                  <a:srgbClr val="203864"/>
                </a:solidFill>
                <a:latin typeface="Calibri" pitchFamily="34" charset="0"/>
                <a:ea typeface="Calibri" pitchFamily="34" charset="-122"/>
                <a:cs typeface="Calibri" pitchFamily="34" charset="-120"/>
              </a:rPr>
              <a:t>Umunaniro, urutugu rukomeye n'agahinda bishobora kumara amezi menshi nyuma y'uko ubuvuzi burangiye.</a:t>
            </a:r>
            <a:endParaRPr lang="rw-RW" sz="1800" dirty="0"/>
          </a:p>
        </p:txBody>
      </p:sp>
      <p:sp>
        <p:nvSpPr>
          <p:cNvPr id="12" name="Shape 10"/>
          <p:cNvSpPr/>
          <p:nvPr/>
        </p:nvSpPr>
        <p:spPr>
          <a:xfrm>
            <a:off x="630936" y="4645152"/>
            <a:ext cx="128016" cy="128016"/>
          </a:xfrm>
          <a:prstGeom prst="ellipse">
            <a:avLst/>
          </a:prstGeom>
          <a:solidFill>
            <a:srgbClr val="2E5C8A"/>
          </a:solidFill>
          <a:ln w="12700">
            <a:solidFill>
              <a:srgbClr val="2E5C8A"/>
            </a:solidFill>
            <a:prstDash val="solid"/>
          </a:ln>
        </p:spPr>
        <p:txBody>
          <a:bodyPr/>
          <a:lstStyle/>
          <a:p>
            <a:endParaRPr lang="rw-RW" dirty="0"/>
          </a:p>
        </p:txBody>
      </p:sp>
      <p:sp>
        <p:nvSpPr>
          <p:cNvPr id="13" name="Text 11"/>
          <p:cNvSpPr txBox="1"/>
          <p:nvPr/>
        </p:nvSpPr>
        <p:spPr>
          <a:xfrm>
            <a:off x="1115568" y="4471416"/>
            <a:ext cx="10524744" cy="731520"/>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Ashobora gukenera gufashwa kongera kwinjira mu buzima busanzwe. </a:t>
            </a:r>
            <a:r>
              <a:rPr lang="rw-RW" sz="1800" dirty="0">
                <a:solidFill>
                  <a:srgbClr val="203864"/>
                </a:solidFill>
                <a:latin typeface="Calibri" pitchFamily="34" charset="0"/>
                <a:ea typeface="Calibri" pitchFamily="34" charset="-122"/>
                <a:cs typeface="Calibri" pitchFamily="34" charset="-120"/>
              </a:rPr>
              <a:t>Abantu bamwe bashobora kumufata ukundi nyuma y'uburwayi; urugero rwawe rushobora kubihindura.</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120</a:t>
            </a:r>
            <a:endParaRPr lang="rw-RW"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1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akubwira ko ukuboko ko ku ruhande yabagiweho kwabyimbye, kuremereye kandi gufashe. Ni iki wakora?</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Kumubwira kureka burundu gukoresha uko kuboko</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Kumubwira ko nta kintu na kimwe cyakorwa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Kuboha igitambaro gikomeye ku kuboko kugira ngo kubyimba kugabanuke</a:t>
            </a:r>
            <a:endParaRPr lang="rw-RW" sz="1800" dirty="0"/>
          </a:p>
        </p:txBody>
      </p:sp>
      <p:sp>
        <p:nvSpPr>
          <p:cNvPr id="11" name="Shape 9"/>
          <p:cNvSpPr/>
          <p:nvPr/>
        </p:nvSpPr>
        <p:spPr>
          <a:xfrm>
            <a:off x="548640" y="408736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Kubimenyesha kugira ngo asuzumwe n'itsinda ry'ubuzima, kuko bishobora gufashwa</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Kubyimba kw'ukuboko nyuma yo kuvurwa kanseri y'ibere bigomba gusuzumwa, kandi biroroshye gufasha iyo bimenyeshejwe hakiri kare. Kuboha ikintu gikomeye ku kuboko kwabyimbye bishobora kubirushya, kandi guhagarika burundu gukoresha ukuboko na byo ntacyo bimaze.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121</a:t>
            </a:r>
            <a:endParaRPr lang="rw-RW" sz="900" dirty="0"/>
          </a:p>
        </p:txBody>
      </p:sp>
    </p:spTree>
    <p:extLst>
      <p:ext uri="{BB962C8B-B14F-4D97-AF65-F5344CB8AC3E}">
        <p14:creationId xmlns:p14="http://schemas.microsoft.com/office/powerpoint/2010/main" val="1262999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2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ikihe muri ibi gikeneye kwitabwaho uwo munsi?</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Umusatsi watangiye gutakara</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Umuriro mwinshi hamwe no kuruka, adashobora kugumana amazi</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Ikibazo ku bijyanye na gahunda ikurikira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Isesemi yoroheje nyuma yo kurya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Umuriro hamwe no kuruka no kutagumana amazi bishobora gutuma umubiri ubura amazi vuba, kandi bishobora kwerekana indwara yandura (ubwandu), ikaba ikomeye mu gihe cy'ubuvuzi bwa kanseri. Ibindi bitatu na byo bifite agaciro, kandi bikemurwa mu ruzinduko rukurikira.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122</a:t>
            </a:r>
            <a:endParaRPr lang="rw-RW" sz="900" dirty="0"/>
          </a:p>
        </p:txBody>
      </p:sp>
    </p:spTree>
    <p:extLst>
      <p:ext uri="{BB962C8B-B14F-4D97-AF65-F5344CB8AC3E}">
        <p14:creationId xmlns:p14="http://schemas.microsoft.com/office/powerpoint/2010/main" val="337449403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3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ufata ikinini cya buri munsi nyuma yo kuvurwa kanseri y'ibere avuga ko yumva ameze neza rwose kandi ashaka kugihagarika. Umubwira iki?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Ko agomba kugifata gusa iyo yumva atameze neza</a:t>
            </a:r>
            <a:endParaRPr lang="rw-RW" sz="1800" dirty="0"/>
          </a:p>
        </p:txBody>
      </p:sp>
      <p:sp>
        <p:nvSpPr>
          <p:cNvPr id="7" name="Shape 5"/>
          <p:cNvSpPr/>
          <p:nvPr/>
        </p:nvSpPr>
        <p:spPr>
          <a:xfrm>
            <a:off x="548640" y="282549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Ko kumva ameze neza ari cyo ikinini kigamije, ko kigabanya ibyago byo kongera kurwara, kandi ko ingaruka zacyo zigomba kuvugwa ku kigo nderabuzima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Ko ashobora kugihagarika kuko yumva ameze neza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Ko agomba kubyifatira icyemezo wenyine atabwiye undi muntu</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Ikinini gikora mu ibanga mu mubiri mu gihe cy'imyaka myinshi. Kugihagarika kare bimwambura uburinzi, kandi ingaruka zituma abantu bagihagarika akenshi zishobora gufashwa iyo itsinda ry'ubuzima rizimenye.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123</a:t>
            </a:r>
            <a:endParaRPr lang="rw-RW" sz="900" dirty="0"/>
          </a:p>
        </p:txBody>
      </p:sp>
    </p:spTree>
    <p:extLst>
      <p:ext uri="{BB962C8B-B14F-4D97-AF65-F5344CB8AC3E}">
        <p14:creationId xmlns:p14="http://schemas.microsoft.com/office/powerpoint/2010/main" val="380496277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ISUZUMA RY'UBUMENYI</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Isuzuma ry'ubumenyi: ikibazo cya 4 kuri 4</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Umuryango urabaza niba bashobora kwandura kanseri y'ibere bitewe no kwita ku muvandimwe wabo. Ubabwira iki?</a:t>
            </a:r>
            <a:endParaRPr lang="rw-RW" sz="2000" dirty="0"/>
          </a:p>
        </p:txBody>
      </p:sp>
      <p:sp>
        <p:nvSpPr>
          <p:cNvPr id="5" name="Shape 3"/>
          <p:cNvSpPr/>
          <p:nvPr/>
        </p:nvSpPr>
        <p:spPr>
          <a:xfrm>
            <a:off x="548640" y="187452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Ko kanseri y'ibere itandura ku muntu ijya ku wundi binyuze mu kubana, gusangira ibyo kurya cyangwa kwita ku muntu</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Ko bagomba kumwitarura kugira ngo birinde</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Ko bagomba gukoresha ibikoresho byo kuriraho bitandukanye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Ko abana bo mu rugo ari bo bonyine bafite ibyago</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Kubivuga mu buryo bweruye birinda ko umuntu ahezwa mu gihe akeneye cyane umuryango we hafi. Guhezwa byongera cyane umubabaro, kandi nta cyo bihindura na gato ku ndwara.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124</a:t>
            </a:r>
            <a:endParaRPr lang="rw-RW" sz="900" dirty="0"/>
          </a:p>
        </p:txBody>
      </p:sp>
    </p:spTree>
    <p:extLst>
      <p:ext uri="{BB962C8B-B14F-4D97-AF65-F5344CB8AC3E}">
        <p14:creationId xmlns:p14="http://schemas.microsoft.com/office/powerpoint/2010/main" val="366694364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Ibintu by'ingenzi</a:t>
            </a:r>
            <a:endParaRPr lang="rw-RW" sz="3000" dirty="0"/>
          </a:p>
        </p:txBody>
      </p:sp>
      <p:sp>
        <p:nvSpPr>
          <p:cNvPr id="4" name="Shape 2"/>
          <p:cNvSpPr/>
          <p:nvPr/>
        </p:nvSpPr>
        <p:spPr>
          <a:xfrm>
            <a:off x="548640" y="1463040"/>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5" name="Text 3"/>
          <p:cNvSpPr txBox="1"/>
          <p:nvPr/>
        </p:nvSpPr>
        <p:spPr>
          <a:xfrm>
            <a:off x="822960" y="1463040"/>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Umunaniro, isesemi, gutakaza umusatsi n'agahinda birakunze kubaho mu gihe cy'ubuvuzi, kandi bigomba kumenyeshwa.</a:t>
            </a:r>
            <a:endParaRPr lang="rw-RW" sz="1800" dirty="0"/>
          </a:p>
        </p:txBody>
      </p:sp>
      <p:sp>
        <p:nvSpPr>
          <p:cNvPr id="6" name="Shape 4"/>
          <p:cNvSpPr/>
          <p:nvPr/>
        </p:nvSpPr>
        <p:spPr>
          <a:xfrm>
            <a:off x="548640" y="2322576"/>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7" name="Text 5"/>
          <p:cNvSpPr txBox="1"/>
          <p:nvPr/>
        </p:nvSpPr>
        <p:spPr>
          <a:xfrm>
            <a:off x="822960" y="2322576"/>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Umuriro mwinshi hamwe no kuruka, ububabare bukabije, igikomere kigenda gikwirakwira cyangwa kugwa bikeneye kwitabwaho uwo munsi.</a:t>
            </a:r>
            <a:endParaRPr lang="rw-RW" sz="1800" dirty="0"/>
          </a:p>
        </p:txBody>
      </p:sp>
      <p:sp>
        <p:nvSpPr>
          <p:cNvPr id="8" name="Shape 6"/>
          <p:cNvSpPr/>
          <p:nvPr/>
        </p:nvSpPr>
        <p:spPr>
          <a:xfrm>
            <a:off x="548640" y="3182112"/>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9" name="Text 7"/>
          <p:cNvSpPr txBox="1"/>
          <p:nvPr/>
        </p:nvSpPr>
        <p:spPr>
          <a:xfrm>
            <a:off x="822960" y="3182112"/>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Ukuboko kwabyimbye kandi kuremereye nyuma y'ubuvuzi kumenyeshwa kugasuzumwa, kandi nta kintu gikomeye kibohwa kuri uko kuboko.</a:t>
            </a:r>
            <a:endParaRPr lang="rw-RW" sz="1800" dirty="0"/>
          </a:p>
        </p:txBody>
      </p:sp>
      <p:sp>
        <p:nvSpPr>
          <p:cNvPr id="10" name="Shape 8"/>
          <p:cNvSpPr/>
          <p:nvPr/>
        </p:nvSpPr>
        <p:spPr>
          <a:xfrm>
            <a:off x="548640" y="4041648"/>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1" name="Text 9"/>
          <p:cNvSpPr txBox="1"/>
          <p:nvPr/>
        </p:nvSpPr>
        <p:spPr>
          <a:xfrm>
            <a:off x="822960" y="4041648"/>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Ikinini cya buri munsi gitangwa nyuma y'ubuvuzi gikomeza gufatwa imyaka myinshi, kandi kumva umeze neza si impamvu yo kugihagarika.</a:t>
            </a:r>
            <a:endParaRPr lang="rw-RW" sz="1800" dirty="0"/>
          </a:p>
        </p:txBody>
      </p:sp>
      <p:sp>
        <p:nvSpPr>
          <p:cNvPr id="12" name="Shape 10"/>
          <p:cNvSpPr/>
          <p:nvPr/>
        </p:nvSpPr>
        <p:spPr>
          <a:xfrm>
            <a:off x="548640" y="4901184"/>
            <a:ext cx="11091672" cy="749808"/>
          </a:xfrm>
          <a:prstGeom prst="roundRect">
            <a:avLst>
              <a:gd name="adj" fmla="val 7317"/>
            </a:avLst>
          </a:prstGeom>
          <a:solidFill>
            <a:srgbClr val="F3F7FC"/>
          </a:solidFill>
          <a:ln w="12700">
            <a:solidFill>
              <a:srgbClr val="D3E1F2"/>
            </a:solidFill>
            <a:prstDash val="solid"/>
          </a:ln>
        </p:spPr>
        <p:txBody>
          <a:bodyPr/>
          <a:lstStyle/>
          <a:p>
            <a:endParaRPr lang="rw-RW" dirty="0"/>
          </a:p>
        </p:txBody>
      </p:sp>
      <p:sp>
        <p:nvSpPr>
          <p:cNvPr id="13" name="Text 11"/>
          <p:cNvSpPr txBox="1"/>
          <p:nvPr/>
        </p:nvSpPr>
        <p:spPr>
          <a:xfrm>
            <a:off x="822960" y="4901184"/>
            <a:ext cx="10543032" cy="749808"/>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Kanseri y'ibere ntiyandura ku muntu ijya ku wundi, bityo nta muntu ugomba guhezwa.</a:t>
            </a:r>
            <a:endParaRPr lang="rw-RW" sz="18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125</a:t>
            </a:r>
            <a:endParaRPr lang="rw-RW"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IGICE CYA 5 | KWIYUMVIRA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Kwiyumvira</a:t>
            </a:r>
            <a:endParaRPr lang="rw-RW" sz="3000" dirty="0"/>
          </a:p>
        </p:txBody>
      </p:sp>
      <p:sp>
        <p:nvSpPr>
          <p:cNvPr id="4" name="Text 2"/>
          <p:cNvSpPr txBox="1"/>
          <p:nvPr/>
        </p:nvSpPr>
        <p:spPr>
          <a:xfrm>
            <a:off x="548640" y="1371600"/>
            <a:ext cx="11091672" cy="365760"/>
          </a:xfrm>
          <a:prstGeom prst="rect">
            <a:avLst/>
          </a:prstGeom>
          <a:noFill/>
          <a:ln/>
        </p:spPr>
        <p:txBody>
          <a:bodyPr wrap="square" lIns="0" tIns="0" rIns="0" bIns="0" rtlCol="0" anchor="ctr">
            <a:normAutofit fontScale="93000"/>
          </a:bodyPr>
          <a:lstStyle/>
          <a:p>
            <a:pPr marL="0" indent="0">
              <a:buNone/>
            </a:pPr>
            <a:r>
              <a:rPr lang="rw-RW" sz="1800" b="1" dirty="0">
                <a:solidFill>
                  <a:srgbClr val="B06A08"/>
                </a:solidFill>
                <a:latin typeface="Calibri" pitchFamily="34" charset="0"/>
                <a:ea typeface="Calibri" pitchFamily="34" charset="-122"/>
                <a:cs typeface="Calibri" pitchFamily="34" charset="-120"/>
              </a:rPr>
              <a:t>Amabwiriza ku wiga: </a:t>
            </a:r>
            <a:r>
              <a:rPr lang="rw-RW" sz="1800" dirty="0">
                <a:solidFill>
                  <a:srgbClr val="203864"/>
                </a:solidFill>
                <a:latin typeface="Calibri" pitchFamily="34" charset="0"/>
                <a:ea typeface="Calibri" pitchFamily="34" charset="-122"/>
                <a:cs typeface="Calibri" pitchFamily="34" charset="-120"/>
              </a:rPr>
              <a:t>Andika igisubizo cyawe mu gasanduku k'inyandiko. Ibi bisubizo ntibihabwa amanota.</a:t>
            </a:r>
            <a:endParaRPr lang="rw-RW" sz="1800" dirty="0"/>
          </a:p>
        </p:txBody>
      </p:sp>
      <p:sp>
        <p:nvSpPr>
          <p:cNvPr id="5" name="Shape 3"/>
          <p:cNvSpPr/>
          <p:nvPr/>
        </p:nvSpPr>
        <p:spPr>
          <a:xfrm>
            <a:off x="548640" y="1965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6" name="Text 4"/>
          <p:cNvSpPr txBox="1"/>
          <p:nvPr/>
        </p:nvSpPr>
        <p:spPr>
          <a:xfrm>
            <a:off x="548640" y="1965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1</a:t>
            </a:r>
            <a:endParaRPr lang="rw-RW" sz="1500" dirty="0"/>
          </a:p>
        </p:txBody>
      </p:sp>
      <p:sp>
        <p:nvSpPr>
          <p:cNvPr id="7" name="Text 5"/>
          <p:cNvSpPr txBox="1"/>
          <p:nvPr/>
        </p:nvSpPr>
        <p:spPr>
          <a:xfrm>
            <a:off x="1115568" y="1947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gute wafasha umuntu wo mu gace utuyemo uri kuvurwa kanseri y'ibere?</a:t>
            </a:r>
            <a:endParaRPr lang="rw-RW" sz="1800" dirty="0"/>
          </a:p>
        </p:txBody>
      </p:sp>
      <p:sp>
        <p:nvSpPr>
          <p:cNvPr id="8" name="Shape 6"/>
          <p:cNvSpPr/>
          <p:nvPr/>
        </p:nvSpPr>
        <p:spPr>
          <a:xfrm>
            <a:off x="1115568" y="2441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9" name="Shape 7"/>
          <p:cNvSpPr/>
          <p:nvPr/>
        </p:nvSpPr>
        <p:spPr>
          <a:xfrm>
            <a:off x="548640" y="3108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0" name="Text 8"/>
          <p:cNvSpPr txBox="1"/>
          <p:nvPr/>
        </p:nvSpPr>
        <p:spPr>
          <a:xfrm>
            <a:off x="548640" y="3108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2</a:t>
            </a:r>
            <a:endParaRPr lang="rw-RW" sz="1500" dirty="0"/>
          </a:p>
        </p:txBody>
      </p:sp>
      <p:sp>
        <p:nvSpPr>
          <p:cNvPr id="11" name="Text 9"/>
          <p:cNvSpPr txBox="1"/>
          <p:nvPr/>
        </p:nvSpPr>
        <p:spPr>
          <a:xfrm>
            <a:off x="1115568" y="3090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iki wabwira umuryango ushaka guhisha abantu bose ubu burwayi?</a:t>
            </a:r>
            <a:endParaRPr lang="rw-RW" sz="1800" dirty="0"/>
          </a:p>
        </p:txBody>
      </p:sp>
      <p:sp>
        <p:nvSpPr>
          <p:cNvPr id="12" name="Shape 10"/>
          <p:cNvSpPr/>
          <p:nvPr/>
        </p:nvSpPr>
        <p:spPr>
          <a:xfrm>
            <a:off x="1115568" y="3584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3" name="Shape 11"/>
          <p:cNvSpPr/>
          <p:nvPr/>
        </p:nvSpPr>
        <p:spPr>
          <a:xfrm>
            <a:off x="548640" y="4251960"/>
            <a:ext cx="384048" cy="384048"/>
          </a:xfrm>
          <a:prstGeom prst="roundRect">
            <a:avLst>
              <a:gd name="adj" fmla="val 47619"/>
            </a:avLst>
          </a:prstGeom>
          <a:solidFill>
            <a:srgbClr val="2E5C8A"/>
          </a:solidFill>
          <a:ln w="12700">
            <a:solidFill>
              <a:srgbClr val="2E5C8A"/>
            </a:solidFill>
            <a:prstDash val="solid"/>
          </a:ln>
        </p:spPr>
        <p:txBody>
          <a:bodyPr/>
          <a:lstStyle/>
          <a:p>
            <a:endParaRPr lang="rw-RW" dirty="0"/>
          </a:p>
        </p:txBody>
      </p:sp>
      <p:sp>
        <p:nvSpPr>
          <p:cNvPr id="14" name="Text 12"/>
          <p:cNvSpPr txBox="1"/>
          <p:nvPr/>
        </p:nvSpPr>
        <p:spPr>
          <a:xfrm>
            <a:off x="548640" y="4251960"/>
            <a:ext cx="384048" cy="384048"/>
          </a:xfrm>
          <a:prstGeom prst="rect">
            <a:avLst/>
          </a:prstGeom>
          <a:noFill/>
          <a:ln/>
        </p:spPr>
        <p:txBody>
          <a:bodyPr wrap="square" lIns="0" tIns="0" rIns="0" bIns="0" rtlCol="0" anchor="ctr"/>
          <a:lstStyle/>
          <a:p>
            <a:pPr marL="0" indent="0" algn="ctr">
              <a:buNone/>
            </a:pPr>
            <a:r>
              <a:rPr lang="rw-RW" sz="1500" b="1" dirty="0">
                <a:solidFill>
                  <a:srgbClr val="FFFFFF"/>
                </a:solidFill>
                <a:latin typeface="Calibri" pitchFamily="34" charset="0"/>
                <a:ea typeface="Calibri" pitchFamily="34" charset="-122"/>
                <a:cs typeface="Calibri" pitchFamily="34" charset="-120"/>
              </a:rPr>
              <a:t>3</a:t>
            </a:r>
            <a:endParaRPr lang="rw-RW" sz="1500" dirty="0"/>
          </a:p>
        </p:txBody>
      </p:sp>
      <p:sp>
        <p:nvSpPr>
          <p:cNvPr id="15" name="Text 13"/>
          <p:cNvSpPr txBox="1"/>
          <p:nvPr/>
        </p:nvSpPr>
        <p:spPr>
          <a:xfrm>
            <a:off x="1115568" y="4233672"/>
            <a:ext cx="10524744" cy="457200"/>
          </a:xfrm>
          <a:prstGeom prst="rect">
            <a:avLst/>
          </a:prstGeom>
          <a:noFill/>
          <a:ln/>
        </p:spPr>
        <p:txBody>
          <a:bodyPr wrap="square" lIns="0" tIns="0" rIns="0" bIns="0" rtlCol="0" anchor="t"/>
          <a:lstStyle/>
          <a:p>
            <a:pPr marL="0" indent="0">
              <a:buNone/>
            </a:pPr>
            <a:r>
              <a:rPr lang="rw-RW" sz="1800" dirty="0">
                <a:solidFill>
                  <a:srgbClr val="203864"/>
                </a:solidFill>
                <a:latin typeface="Calibri" pitchFamily="34" charset="0"/>
                <a:ea typeface="Calibri" pitchFamily="34" charset="-122"/>
                <a:cs typeface="Calibri" pitchFamily="34" charset="-120"/>
              </a:rPr>
              <a:t>Ni ikihe kintu kimwe uzakora mu buryo butandukanye mu kazi kawe nyuma y'iri somo?</a:t>
            </a:r>
            <a:endParaRPr lang="rw-RW" sz="1800" dirty="0"/>
          </a:p>
        </p:txBody>
      </p:sp>
      <p:sp>
        <p:nvSpPr>
          <p:cNvPr id="16" name="Shape 14"/>
          <p:cNvSpPr/>
          <p:nvPr/>
        </p:nvSpPr>
        <p:spPr>
          <a:xfrm>
            <a:off x="1115568" y="4727448"/>
            <a:ext cx="10524744" cy="548640"/>
          </a:xfrm>
          <a:prstGeom prst="roundRect">
            <a:avLst>
              <a:gd name="adj" fmla="val 10000"/>
            </a:avLst>
          </a:prstGeom>
          <a:solidFill>
            <a:srgbClr val="FAFBFD"/>
          </a:solidFill>
          <a:ln w="12700">
            <a:solidFill>
              <a:srgbClr val="D3E1F2"/>
            </a:solidFill>
            <a:prstDash val="dash"/>
          </a:ln>
        </p:spPr>
        <p:txBody>
          <a:bodyPr/>
          <a:lstStyle/>
          <a:p>
            <a:endParaRPr lang="rw-RW" dirty="0"/>
          </a:p>
        </p:txBody>
      </p:sp>
      <p:sp>
        <p:nvSpPr>
          <p:cNvPr id="17" name="Text 15"/>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8" name="Text 16"/>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126</a:t>
            </a:r>
            <a:endParaRPr lang="rw-RW"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a:t>
            </a:r>
            <a:endParaRPr lang="rw-RW" sz="3000" dirty="0"/>
          </a:p>
        </p:txBody>
      </p:sp>
      <p:sp>
        <p:nvSpPr>
          <p:cNvPr id="4" name="Text 2"/>
          <p:cNvSpPr txBox="1"/>
          <p:nvPr/>
        </p:nvSpPr>
        <p:spPr>
          <a:xfrm>
            <a:off x="548640" y="1325880"/>
            <a:ext cx="11091672" cy="411480"/>
          </a:xfrm>
          <a:prstGeom prst="rect">
            <a:avLst/>
          </a:prstGeom>
          <a:noFill/>
          <a:ln/>
        </p:spPr>
        <p:txBody>
          <a:bodyPr wrap="square" lIns="0" tIns="0" rIns="0" bIns="0" rtlCol="0" anchor="ctr">
            <a:normAutofit fontScale="93000"/>
          </a:bodyPr>
          <a:lstStyle/>
          <a:p>
            <a:pPr marL="0" indent="0">
              <a:buNone/>
            </a:pPr>
            <a:r>
              <a:rPr lang="rw-RW" sz="1800" dirty="0">
                <a:solidFill>
                  <a:srgbClr val="203864"/>
                </a:solidFill>
                <a:latin typeface="Calibri" pitchFamily="34" charset="0"/>
                <a:ea typeface="Calibri" pitchFamily="34" charset="-122"/>
                <a:cs typeface="Calibri" pitchFamily="34" charset="-120"/>
              </a:rPr>
              <a:t>Ibibazo makumyabiri bikubiye isomo ryose. Igisubizo nyacyo n'ibisobanuro bikurikira buri kibazo.</a:t>
            </a:r>
            <a:endParaRPr lang="rw-RW" sz="1800" dirty="0"/>
          </a:p>
        </p:txBody>
      </p:sp>
      <p:sp>
        <p:nvSpPr>
          <p:cNvPr id="5" name="Shape 3"/>
          <p:cNvSpPr/>
          <p:nvPr/>
        </p:nvSpPr>
        <p:spPr>
          <a:xfrm>
            <a:off x="548640" y="2743200"/>
            <a:ext cx="3514344" cy="2377440"/>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907792"/>
            <a:ext cx="3075432" cy="208483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Ibibazo makumyabiri</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Biva mu bice byose uko ari bitanu, ikibazo kimwe kuri buri paji.</a:t>
            </a:r>
            <a:endParaRPr lang="rw-RW" sz="1800" dirty="0"/>
          </a:p>
        </p:txBody>
      </p:sp>
      <p:sp>
        <p:nvSpPr>
          <p:cNvPr id="7" name="Shape 5"/>
          <p:cNvSpPr/>
          <p:nvPr/>
        </p:nvSpPr>
        <p:spPr>
          <a:xfrm>
            <a:off x="4337304" y="2743200"/>
            <a:ext cx="3514344" cy="2377440"/>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4556760" y="2907792"/>
            <a:ext cx="3075432" cy="208483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Ibisubizo byasobanuwe</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Buri paji igaragaza igisubizo nyacyo n'impamvu ari cyo.</a:t>
            </a:r>
            <a:endParaRPr lang="rw-RW" sz="1800" dirty="0"/>
          </a:p>
        </p:txBody>
      </p:sp>
      <p:sp>
        <p:nvSpPr>
          <p:cNvPr id="9" name="Shape 7"/>
          <p:cNvSpPr/>
          <p:nvPr/>
        </p:nvSpPr>
        <p:spPr>
          <a:xfrm>
            <a:off x="8125968" y="2743200"/>
            <a:ext cx="3514344" cy="2377440"/>
          </a:xfrm>
          <a:prstGeom prst="roundRect">
            <a:avLst>
              <a:gd name="adj" fmla="val 3077"/>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8345424" y="2907792"/>
            <a:ext cx="3075432" cy="2084832"/>
          </a:xfrm>
          <a:prstGeom prst="rect">
            <a:avLst/>
          </a:prstGeom>
          <a:noFill/>
          <a:ln/>
        </p:spPr>
        <p:txBody>
          <a:bodyPr wrap="square" lIns="0" tIns="0" rIns="0" bIns="0" rtlCol="0" anchor="t"/>
          <a:lstStyle/>
          <a:p>
            <a:pPr marL="0" indent="0">
              <a:lnSpc>
                <a:spcPct val="105000"/>
              </a:lnSpc>
              <a:buNone/>
            </a:pPr>
            <a:r>
              <a:rPr lang="rw-RW" sz="1800" b="1" dirty="0">
                <a:solidFill>
                  <a:srgbClr val="1F3864"/>
                </a:solidFill>
                <a:latin typeface="Calibri" pitchFamily="34" charset="0"/>
                <a:ea typeface="Calibri" pitchFamily="34" charset="-122"/>
                <a:cs typeface="Calibri" pitchFamily="34" charset="-120"/>
              </a:rPr>
              <a:t>Byubakiye ku bihe bibaho koko</a:t>
            </a:r>
            <a:endParaRPr lang="rw-RW" sz="1800" dirty="0"/>
          </a:p>
          <a:p>
            <a:pPr marL="0" indent="0">
              <a:lnSpc>
                <a:spcPct val="105000"/>
              </a:lnSpc>
              <a:buNone/>
            </a:pPr>
            <a:r>
              <a:rPr lang="rw-RW" sz="1800" dirty="0">
                <a:solidFill>
                  <a:srgbClr val="203864"/>
                </a:solidFill>
                <a:latin typeface="Calibri" pitchFamily="34" charset="0"/>
                <a:ea typeface="Calibri" pitchFamily="34" charset="-122"/>
                <a:cs typeface="Calibri" pitchFamily="34" charset="-120"/>
              </a:rPr>
              <a:t>Ibibazo bikubaza icyo wakora, si ibyo wafashe mu mutwe.</a:t>
            </a:r>
            <a:endParaRPr lang="rw-RW" sz="1800" dirty="0"/>
          </a:p>
        </p:txBody>
      </p:sp>
      <p:sp>
        <p:nvSpPr>
          <p:cNvPr id="11" name="Text 9"/>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2" name="Text 10"/>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127</a:t>
            </a:r>
            <a:endParaRPr lang="rw-RW"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Kanseri y'ibere itangirira he?</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Mu maraso</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Mu ibere, iyo uturemangingo tumwe na tumwe twaho dutangiye gukura mu buryo budasanzwe</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Mu gifu</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Mu magufwa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Kanseri y'ibere itangirira mu ibere, akenshi mu mvubura cyangwa mu miyoboro mito itwara amashereka. Kumenya ibi bigufasha gusobanura impamvu ibere n'ukwaha bisuzumwa hamwe.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128</a:t>
            </a:r>
            <a:endParaRPr lang="rw-RW"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2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yabonye ikibyimba mu ibere. Ni iki cy'ukuri?</a:t>
            </a:r>
            <a:endParaRPr lang="rw-RW" sz="2000" dirty="0"/>
          </a:p>
        </p:txBody>
      </p:sp>
      <p:sp>
        <p:nvSpPr>
          <p:cNvPr id="5" name="Shape 3"/>
          <p:cNvSpPr/>
          <p:nvPr/>
        </p:nvSpPr>
        <p:spPr>
          <a:xfrm>
            <a:off x="548640" y="187452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Ibibyimba byinshi si kanseri, ariko buri kibyimba gishya kigomba gusuzumwa</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Nta kabuza ni kanseri</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Nta kibazo gifite kuko kitababaza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Agomba kumara amezi atandatu agikurikirana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Gukuka umutima no kubyirengagiza byombi ni bibi. Ibibyimba byinshi byo mu ibere si kanseri, nta muntu ushobora kubimenya akoresheje intoki, kandi isuzuma ni ryo ritanga igisubizo hakiri igihe cyo kugira icyo bakora.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129</a:t>
            </a:r>
            <a:endParaRPr lang="rw-RW"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3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Umugabo akubwira ko afite ikibyimba inyuma y'imoko. Umubwira iki?</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Abagabo ntibashobora kurwara kanseri y'ibere</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Agomba gutegereza kugeza kibabaje</a:t>
            </a:r>
            <a:endParaRPr lang="rw-RW" sz="1800" dirty="0"/>
          </a:p>
        </p:txBody>
      </p:sp>
      <p:sp>
        <p:nvSpPr>
          <p:cNvPr id="9" name="Shape 7"/>
          <p:cNvSpPr/>
          <p:nvPr/>
        </p:nvSpPr>
        <p:spPr>
          <a:xfrm>
            <a:off x="548640" y="313639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Kanseri y'ibere ntikunze kugaragara ku bagabo ariko irashoboka, bityo ikibyimba kigomba gusuzumwa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Ntagomba kugira uwo abibwira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Abagabo bagira agace gato k'ibere kandi bashobora kurwara kanseri y'ibere. Kubera ko bitunguranye, abagabo bakunze gutegereza igihe kirekire, kandi uko gutinda ni ko gutuma ingaruka ziba mbi kurushaho.</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130</a:t>
            </a:r>
            <a:endParaRPr lang="rw-RW"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4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Mu bwoko bwa kanseri zifata abagore mu Rwanda, kanseri y'ibere ni:</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Ntikunze kugaragara</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Kanseri ikunze kugaragara cyane mu bagore</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Igaragara gusa ku bagore bageze mu zabukuru</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Igaragara i Kigali gusa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Mu bigereranyo bya 2024, kanseri y'ibere ni yo kanseri ikunze kugaragara cyane mu bagore mu Rwanda, irusha gato kanseri y'inkondo y'umura, kandi abarwayi benshi baracyamenyekana iyo indwara imaze gukura.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131</a:t>
            </a:r>
            <a:endParaRPr lang="rw-RW"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5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Kuki ukwaha gusuzumwa iyo umuntu afite impinduka mu ibere?</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Kubera ko kanseri y'ibere itangirira mu kwaha</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Kubera ko utubyimba twa lymph (lymph nodes) two mu kwaha twakira amazi ava mu ibere kandi dushobora kugerwaho n'indwara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Kubera ko ukwaha koroshye gusuzuma kurusha ibere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Ukwaha ntigusuzumwa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Utubyimba twa lymph two mu kwaha twakira amazi ava mu ibere, bityo ikibyimba cyangwa kubyimba aho ni igice cy'isuzuma rimwe. Ni na yo mpamvu kubyimba munsi y'ukuboko kutagomba kwirengagizwa.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132</a:t>
            </a:r>
            <a:endParaRPr lang="rw-RW"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6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Kumenya amabere yawe bisobanura iki?</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Kwisuzuma amabere bisimbura isuzuma rikorwa n'umuforomo</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Kumenya uko amabere yawe asanzwe ameze, kubona impinduka zidasanzwe no kujya kwisuzumisha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Kujya ku kigo nderabuzima buri kwezi</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Kureba ku mabere gusa iyo ubabara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Kumenya amabere ni ukumenya uko amabere yawe asanzwe ameze, ukabona impinduka, ukajya kwisuzumisha. Mu Rwanda, abagore bashishikarizwa kwisuzuma amabere rimwe mu kwezi, nyuma y'imihango. Ibi ntibisimbura isuzuma rikorwa n'umuforomo buri mwaka ku bagore bafite imyaka 30 n’abayirengeje.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133</a:t>
            </a:r>
            <a:endParaRPr lang="rw-RW"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7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avuga ko ikibyimba kitababaza kidashobora kuba gikomeye. Ni iki cy'ukuri?</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Ari mu kuri, ububabare ni cyo kimenyetso cy'umuburo</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Kanseri nyinshi z'ibere ntizibabaza mu ntangiriro, bityo ikibyimba kitababaza na cyo kigomba gusuzumwa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Ibibyimba bibabaza ni byo byonyine biba kanseri</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Agomba gutegereza ko kibabaza mbere yo kugenda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Ububabare si ikimenyetso cyizewe, haba mu kwemeza cyangwa mu guhakana. Iyi myizerere ni yo mpamvu ikunze gutuma impinduka mu ibere imara amezi menshi itajyanwa kwa muganga, kandi kuyikosora ni kimwe mu bintu by'ingirakamaro ushobora gukora.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134</a:t>
            </a:r>
            <a:endParaRPr lang="rw-RW"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8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ikihe muri ibi kigomba gusuzumirwa ku kigo nderabuzima?</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Amabere ababara gato mu minsi ibiri ibanziriza imihango</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Ikimenyetso cyo kuvuka kimaze imyaka myinshi kidahinduka</a:t>
            </a:r>
            <a:endParaRPr lang="rw-RW" sz="1800" dirty="0"/>
          </a:p>
        </p:txBody>
      </p:sp>
      <p:sp>
        <p:nvSpPr>
          <p:cNvPr id="9" name="Shape 7"/>
          <p:cNvSpPr/>
          <p:nvPr/>
        </p:nvSpPr>
        <p:spPr>
          <a:xfrm>
            <a:off x="548640" y="313639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Imoko yatangiye vuba aha kwinjira imbere ku ruhande rumwe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Umunaniro nyuma y'umunsi muremure w'akazi</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Impinduka nshya ku ruhande rumwe ni yo y'ingenzi. Imoko itangiye kwinjira imbere ni impinduka y'ubwo bwoko. Kubabara mbere y'imihango n'ikimenyetso cyo kuvuka kidahinduka si byo.</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135</a:t>
            </a:r>
            <a:endParaRPr lang="rw-RW"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9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ufite ikibyimba gishya avuga ko nta muntu n'umwe wo mu muryango we wigeze arwara kanseri y'ibere, bityo ko adashobora kuyirwara. Ni iki cy'ukuri?</a:t>
            </a:r>
            <a:endParaRPr lang="rw-RW" sz="2000" dirty="0"/>
          </a:p>
        </p:txBody>
      </p:sp>
      <p:sp>
        <p:nvSpPr>
          <p:cNvPr id="5" name="Shape 3"/>
          <p:cNvSpPr/>
          <p:nvPr/>
        </p:nvSpPr>
        <p:spPr>
          <a:xfrm>
            <a:off x="548640" y="219456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Abantu benshi barwara kanseri y'ibere nta mateka yayo mu muryango bafite, bityo ikibyimba cye kigomba gusuzumwa</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Ari mu kuri, kandi nta isuzuma akeneye</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Abagore bafite amateka ya kanseri y'ibere mu muryango ni bo bonyine bayirwara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Agomba kubanza kubaza abavandimwe be mbere yo gufata icyemezo</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Amateka y'umuryango yongera ibyago ku bantu bamwe, ariko kutayagira ntibirinda umuntu n'umwe. Kanseri nyinshi z'ibere zifata abantu badafite mwene wabo wa hafi wayirwaye.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136</a:t>
            </a:r>
            <a:endParaRPr lang="rw-RW"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10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avuga ko ibere rye ryatukuye, rikabyimba kandi rigashyuha mu minsi ine, kandi afite umuriro. Ni iki kigomba gukorwa?</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Agomba gushyiraho ibitambaro bishyushye, agasuzumwa ukwezi gutaha</a:t>
            </a:r>
            <a:endParaRPr lang="rw-RW" sz="1800" dirty="0"/>
          </a:p>
        </p:txBody>
      </p:sp>
      <p:sp>
        <p:nvSpPr>
          <p:cNvPr id="7" name="Shape 5"/>
          <p:cNvSpPr/>
          <p:nvPr/>
        </p:nvSpPr>
        <p:spPr>
          <a:xfrm>
            <a:off x="548640" y="282549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Agomba gusuzumirwa ku kigo nderabuzima nta gutinda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Agomba gutegereza kugeza umutuku ushize</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Agomba kubwirwa ko nta kabuza ari kanseri</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Ibere rihinduka vuba gutya rishobora guterwa n'impamvu nyinshi, harimo indwara yandura (ubwandu) n'ubwoko bwa kanseri y'ibere budakunze kubaho. Kumenya impamvu nyayo si inshingano z'abaturage, kandi gutegereza ni byo bitera ingaruka mbi.</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137</a:t>
            </a:r>
            <a:endParaRPr lang="rw-RW"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11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ufite ikibyimba gishya mu ibere arabaza niba agomba gutegereza umunsi utaha wo gusuzuma amabere. Umubwira iki?</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Yego, uwo ni wo munsi umukwiriye</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Agomba gutegereza kugeza ikibyimba gitangiye kubabara</a:t>
            </a:r>
            <a:endParaRPr lang="rw-RW" sz="1800" dirty="0"/>
          </a:p>
        </p:txBody>
      </p:sp>
      <p:sp>
        <p:nvSpPr>
          <p:cNvPr id="9" name="Shape 7"/>
          <p:cNvSpPr/>
          <p:nvPr/>
        </p:nvSpPr>
        <p:spPr>
          <a:xfrm>
            <a:off x="548640" y="345643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Oya, isuzuma ry'abantu badafite ibimenyetso ni ikindi kintu, kandi ikibyimba cye gikeneye gusuzumwa nonaha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Agomba gutegereza kugeza nyuma y'isarura</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Isuzuma risanzwe ni iry'abantu batabonye impinduka n'imwe. Iyo habaye impinduka, umuntu akenera gusuzumwa iyo mpinduka, kandi kumubwira gutegereza bitinza ubuvuzi akeneye koko.</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138</a:t>
            </a:r>
            <a:endParaRPr lang="rw-RW"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12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 muri ibi kitari mu nshingano z'umujyanama w'ubuzima (CHW)?</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Gushishikariza umuntu ufite impinduka mu ibere kujya kwisuzumisha</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Kumenya ibimenyetso mpuruza no gutegura kohereza umuntu kwa muganga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Gufasha umuntu kurangiza gahunda ze zo gukurikiranwa</a:t>
            </a:r>
            <a:endParaRPr lang="rw-RW" sz="1800" dirty="0"/>
          </a:p>
        </p:txBody>
      </p:sp>
      <p:sp>
        <p:nvSpPr>
          <p:cNvPr id="11" name="Shape 9"/>
          <p:cNvSpPr/>
          <p:nvPr/>
        </p:nvSpPr>
        <p:spPr>
          <a:xfrm>
            <a:off x="548640" y="376732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Kubwira umuntu niba arwaye kanseri cyangwa atayirwaye</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Kumenya niba umuntu arwaye kanseri bisaba isuzuma n'ibizamini bya laboratwari. Inshingano z'umujyanama w'ubuzima ni ukubona, gusobanura, gushishikariza, kohereza, gushyigikira no gukurikirana, kandi izo nshingano zirokora ubuzima nubwo umujyanama w'ubuzima atemeza indwara.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139</a:t>
            </a:r>
            <a:endParaRPr lang="rw-RW"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13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 cy'ingirakamaro kurusha ibindi umujyanama w'ubuzima yakora nyuma yo kohereza umuntu?</a:t>
            </a:r>
            <a:endParaRPr lang="rw-RW" sz="2000" dirty="0"/>
          </a:p>
        </p:txBody>
      </p:sp>
      <p:sp>
        <p:nvSpPr>
          <p:cNvPr id="5" name="Shape 3"/>
          <p:cNvSpPr/>
          <p:nvPr/>
        </p:nvSpPr>
        <p:spPr>
          <a:xfrm>
            <a:off x="548640" y="187452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Kumubaza icyamubuza kugenda, gukemura ibishoboka, hanyuma ukagaruka kureba uko byagenze</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Kubwira umuryango we ibyabonetse kugira ngo bamuhatire kugenda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Kubitangaza mu nama y'abaturage itaha</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Kubimuharira wenyine</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Kohereza umuntu bigira akamaro gusa iyo yagiye kwa muganga koko. Kumenya inzitizi no kuyikemura ni cyo gice gifatika cy'akazi, kandi bikorwa hubahirizwa ibanga rye.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140</a:t>
            </a:r>
            <a:endParaRPr lang="rw-RW"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14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akubwiye ibisubizo bye mu ibanga. Ni iki wakora kuri ayo makuru?</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Kuyabwira abaturanyi bashobora kumufasha</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Kuyabika mu ibanga, ukayasangiza gusa uko inshingano zawe zo gutanga raporo zibisaba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Kuyavuga mu nama y'abaturage nk'urugero</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Kuyabwira umuntu wese ubajije amakuru ye</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Ibyo akubwira ni ibye. Kubisubiramo bikwirakwiza isoni, kandi byigisha abandi bagore bose bo mu mudugudu kuguhisha ibimenyetso byabo, ibyo bikaba binyuranye n'ibyo akazi kawe gakeneye.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141</a:t>
            </a:r>
            <a:endParaRPr lang="rw-RW"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15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yanze gusuzumwa kubera ko yizera ko ibere rye rizakurwaho. Ni ikihe gisubizo cy'ukuri kandi gifasha?</a:t>
            </a:r>
            <a:endParaRPr lang="rw-RW" sz="2000" dirty="0"/>
          </a:p>
        </p:txBody>
      </p:sp>
      <p:sp>
        <p:nvSpPr>
          <p:cNvPr id="5" name="Shape 3"/>
          <p:cNvSpPr/>
          <p:nvPr/>
        </p:nvSpPr>
        <p:spPr>
          <a:xfrm>
            <a:off x="548640" y="219456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dirty="0">
                <a:solidFill>
                  <a:srgbClr val="203864"/>
                </a:solidFill>
                <a:latin typeface="Calibri" pitchFamily="34" charset="0"/>
                <a:ea typeface="Calibri" pitchFamily="34" charset="-122"/>
                <a:cs typeface="Calibri" pitchFamily="34" charset="-120"/>
              </a:rPr>
              <a:t>A   </a:t>
            </a:r>
            <a:r>
              <a:rPr lang="rw-RW" sz="1800" b="1" dirty="0">
                <a:solidFill>
                  <a:srgbClr val="5B7FA6"/>
                </a:solidFill>
                <a:latin typeface="Calibri" pitchFamily="34" charset="0"/>
                <a:ea typeface="Calibri" pitchFamily="34" charset="-122"/>
                <a:cs typeface="Calibri" pitchFamily="34" charset="-120"/>
              </a:rPr>
              <a:t>Kumusezeranya ko ibere rye ritazakurwaho</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Kwemeranya na we ko nta kabuza rizakurwaho</a:t>
            </a:r>
            <a:endParaRPr lang="rw-RW" sz="1800" dirty="0"/>
          </a:p>
        </p:txBody>
      </p:sp>
      <p:sp>
        <p:nvSpPr>
          <p:cNvPr id="9" name="Shape 7"/>
          <p:cNvSpPr/>
          <p:nvPr/>
        </p:nvSpPr>
        <p:spPr>
          <a:xfrm>
            <a:off x="548640" y="345643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Kumusobanurira ko ubuvuzi butandukana ku bantu, ko nta cyemezo gifatwa mbere y'ibizamini, kandi ko gukuraho ibere bidakorerwa abantu bose</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Kumubwira ko atagomba kubitekerezaho</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Isezerano udashobora kubahiriza risenya icyizere, kandi kumutera ubwoba bituma aguma mu rugo. Icy'ukuri kandi gitera icyizere ni uko ubuvuzi buhitwamo nyuma y'ibizamini, kandi abantu benshi bagumana ibere ryabo.</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142</a:t>
            </a:r>
            <a:endParaRPr lang="rw-RW"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16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Ni iki cyemeza burundu kanseri y'ibere?</a:t>
            </a:r>
            <a:endParaRPr lang="rw-RW" sz="2000" dirty="0"/>
          </a:p>
        </p:txBody>
      </p:sp>
      <p:sp>
        <p:nvSpPr>
          <p:cNvPr id="5" name="Shape 3"/>
          <p:cNvSpPr/>
          <p:nvPr/>
        </p:nvSpPr>
        <p:spPr>
          <a:xfrm>
            <a:off x="548640" y="187452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Isuzuma rya laboratwari ku gace gato k'uturemangingo kakuwe mu ibere</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Gusuzuma amabere neza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Ifoto y'ibere yonyine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Uko umuntu yiyumva arembye</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Isuzuma n'amafoto y'ibere byerekana inzira. Agace k'uturemangingo gasuzumwe muri laboratwari ni ko konyine gatanga igisubizo, ni yo mpamvu gahunda yo gufata ako gace itagomba gusibwa.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143</a:t>
            </a:r>
            <a:endParaRPr lang="rw-RW"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17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Umuryango wizera ko gufata agace gato k'ikibyimba bizakwirakwiza indwara. Ubabwira iki?</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Ko bafite ukuri, kandi ko agomba kuguma mu rugo</a:t>
            </a:r>
            <a:endParaRPr lang="rw-RW" sz="1800" dirty="0"/>
          </a:p>
        </p:txBody>
      </p:sp>
      <p:sp>
        <p:nvSpPr>
          <p:cNvPr id="7" name="Shape 5"/>
          <p:cNvSpPr/>
          <p:nvPr/>
        </p:nvSpPr>
        <p:spPr>
          <a:xfrm>
            <a:off x="548640" y="2505456"/>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Ko gufata agace gato bikorwa vuba, ari bwo buryo bwonyine bwo kumenya niba ari kanseri, kandi ko bidakwirakwiza indwara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Ko gufata agace bishobora gutegereza amezi make</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Ko kubagwa gukomeye ari byo byonyine bikwirakwiza indwara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B</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Iyi myizerere irakunze kugaragara kandi itwara abantu amezi. Kuyisubiza utuje, no kwemera kujyana icyo kibazo ku kigo nderabuzima muri kumwe, ni kimwe mu bintu by'ingenzi umujyanama w'ubuzima akora.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144</a:t>
            </a:r>
            <a:endParaRPr lang="rw-RW"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18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Kuki abagore babiri barwaye kanseri y'ibere bavurwa mu buryo butandukanye?</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Kubera ko abakozi b'ubuzima batavuga rumwe</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Kubera ko umuryango umwe wishyuye amafaranga menshi</a:t>
            </a:r>
            <a:endParaRPr lang="rw-RW" sz="1800" dirty="0"/>
          </a:p>
        </p:txBody>
      </p:sp>
      <p:sp>
        <p:nvSpPr>
          <p:cNvPr id="9" name="Shape 7"/>
          <p:cNvSpPr/>
          <p:nvPr/>
        </p:nvSpPr>
        <p:spPr>
          <a:xfrm>
            <a:off x="548640" y="3136392"/>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Kubera ko ubuvuzi buterwa n'urwego indwara igezeho, ibyo laboratwari yabonye, na buri muntu</a:t>
            </a:r>
            <a:endParaRPr lang="rw-RW" sz="1800" dirty="0"/>
          </a:p>
        </p:txBody>
      </p:sp>
      <p:sp>
        <p:nvSpPr>
          <p:cNvPr id="11" name="Shape 9"/>
          <p:cNvSpPr/>
          <p:nvPr/>
        </p:nvSpPr>
        <p:spPr>
          <a:xfrm>
            <a:off x="548640" y="376732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Kubera ko abagore bageze mu zabukuru batavurwa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C</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Kanseri z'ibere ntabwo zose ari kimwe, kandi n'abazirwaye ntibameze kimwe. Itsinda ry'inzobere rifata icyemezo nyuma y'ibizamini, kandi kubisobanura birinda imiryango yombi kugereranya mu buryo bubabaza.</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145</a:t>
            </a:r>
            <a:endParaRPr lang="rw-RW"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19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normAutofit/>
          </a:bodyPr>
          <a:lstStyle/>
          <a:p>
            <a:pPr marL="0" indent="0">
              <a:buNone/>
            </a:pPr>
            <a:r>
              <a:rPr lang="rw-RW" sz="2000" b="1" dirty="0">
                <a:solidFill>
                  <a:srgbClr val="1F3864"/>
                </a:solidFill>
                <a:latin typeface="Calibri" pitchFamily="34" charset="0"/>
                <a:ea typeface="Calibri" pitchFamily="34" charset="-122"/>
                <a:cs typeface="Calibri" pitchFamily="34" charset="-120"/>
              </a:rPr>
              <a:t>Umugore avuga ko ukuboko ko ku ruhande yabagiweho kwabyimbye, kuremereye kandi gufashe. Ni iki wakora?</a:t>
            </a:r>
            <a:endParaRPr lang="rw-RW" sz="2000" dirty="0"/>
          </a:p>
        </p:txBody>
      </p:sp>
      <p:sp>
        <p:nvSpPr>
          <p:cNvPr id="5" name="Shape 3"/>
          <p:cNvSpPr/>
          <p:nvPr/>
        </p:nvSpPr>
        <p:spPr>
          <a:xfrm>
            <a:off x="548640" y="1874520"/>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6" name="Text 4"/>
          <p:cNvSpPr txBox="1"/>
          <p:nvPr/>
        </p:nvSpPr>
        <p:spPr>
          <a:xfrm>
            <a:off x="768096" y="1874520"/>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Kuboha igitambaro gikomeye ku kuboko</a:t>
            </a:r>
            <a:endParaRPr lang="rw-RW" sz="1800" dirty="0"/>
          </a:p>
        </p:txBody>
      </p:sp>
      <p:sp>
        <p:nvSpPr>
          <p:cNvPr id="7" name="Shape 5"/>
          <p:cNvSpPr/>
          <p:nvPr/>
        </p:nvSpPr>
        <p:spPr>
          <a:xfrm>
            <a:off x="548640" y="250545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50545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Kumubwira ko nta kintu cyakorwa</a:t>
            </a:r>
            <a:endParaRPr lang="rw-RW" sz="1800" dirty="0"/>
          </a:p>
        </p:txBody>
      </p:sp>
      <p:sp>
        <p:nvSpPr>
          <p:cNvPr id="9" name="Shape 7"/>
          <p:cNvSpPr/>
          <p:nvPr/>
        </p:nvSpPr>
        <p:spPr>
          <a:xfrm>
            <a:off x="548640" y="313639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13639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Kumubwira kureka burundu gukoresha ukuboko</a:t>
            </a:r>
            <a:endParaRPr lang="rw-RW" sz="1800" dirty="0"/>
          </a:p>
        </p:txBody>
      </p:sp>
      <p:sp>
        <p:nvSpPr>
          <p:cNvPr id="11" name="Shape 9"/>
          <p:cNvSpPr/>
          <p:nvPr/>
        </p:nvSpPr>
        <p:spPr>
          <a:xfrm>
            <a:off x="548640" y="3767328"/>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12" name="Text 10"/>
          <p:cNvSpPr txBox="1"/>
          <p:nvPr/>
        </p:nvSpPr>
        <p:spPr>
          <a:xfrm>
            <a:off x="768096" y="3767328"/>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Kubimenyesha kugira ngo asuzumwe, kuko bishobora gufashwa</a:t>
            </a:r>
            <a:endParaRPr lang="rw-RW" sz="1800" dirty="0"/>
          </a:p>
        </p:txBody>
      </p:sp>
      <p:sp>
        <p:nvSpPr>
          <p:cNvPr id="13" name="Text 11"/>
          <p:cNvSpPr txBox="1"/>
          <p:nvPr/>
        </p:nvSpPr>
        <p:spPr>
          <a:xfrm>
            <a:off x="548640" y="4562856"/>
            <a:ext cx="11091672" cy="170078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D</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Kubyimba kw'ukuboko nyuma yo kuvurwa kanseri y'ibere bigomba gusuzumwa, kandi biroroshye gufasha iyo bimenyeshejwe hakiri kare. Kuboha ikintu gikomeye ku kuboko kwabyimbye bishobora kubirushya, kandi guhagarika burundu gukoresha ukuboko na byo ntacyo bimaze.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146</a:t>
            </a:r>
            <a:endParaRPr lang="rw-RW"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IGENZURA RYA NYUMA</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Ikizamini cya nyuma: ikibazo cya 20 kuri 20</a:t>
            </a:r>
            <a:endParaRPr lang="rw-RW" sz="3000" dirty="0"/>
          </a:p>
        </p:txBody>
      </p:sp>
      <p:sp>
        <p:nvSpPr>
          <p:cNvPr id="4" name="Text 2"/>
          <p:cNvSpPr txBox="1"/>
          <p:nvPr/>
        </p:nvSpPr>
        <p:spPr>
          <a:xfrm>
            <a:off x="548640" y="1325880"/>
            <a:ext cx="11091672" cy="685800"/>
          </a:xfrm>
          <a:prstGeom prst="rect">
            <a:avLst/>
          </a:prstGeom>
          <a:noFill/>
          <a:ln/>
        </p:spPr>
        <p:txBody>
          <a:bodyPr wrap="square" lIns="0" tIns="0" rIns="0" bIns="0" rtlCol="0" anchor="t"/>
          <a:lstStyle/>
          <a:p>
            <a:pPr marL="0" indent="0">
              <a:buNone/>
            </a:pPr>
            <a:r>
              <a:rPr lang="rw-RW" sz="2000" b="1" dirty="0">
                <a:solidFill>
                  <a:srgbClr val="1F3864"/>
                </a:solidFill>
                <a:latin typeface="Calibri" pitchFamily="34" charset="0"/>
                <a:ea typeface="Calibri" pitchFamily="34" charset="-122"/>
                <a:cs typeface="Calibri" pitchFamily="34" charset="-120"/>
              </a:rPr>
              <a:t>Umugore umaze imyaka ibiri afata ikinini cya buri munsi nyuma yo kuvurwa yumva ameze neza kandi ashaka kugihagarika. Umubwira iki?</a:t>
            </a:r>
            <a:endParaRPr lang="rw-RW" sz="2000" dirty="0"/>
          </a:p>
        </p:txBody>
      </p:sp>
      <p:sp>
        <p:nvSpPr>
          <p:cNvPr id="5" name="Shape 3"/>
          <p:cNvSpPr/>
          <p:nvPr/>
        </p:nvSpPr>
        <p:spPr>
          <a:xfrm>
            <a:off x="548640" y="2194560"/>
            <a:ext cx="11091672" cy="548640"/>
          </a:xfrm>
          <a:prstGeom prst="roundRect">
            <a:avLst>
              <a:gd name="adj" fmla="val 10000"/>
            </a:avLst>
          </a:prstGeom>
          <a:solidFill>
            <a:srgbClr val="E9F3EC"/>
          </a:solidFill>
          <a:ln w="12700">
            <a:solidFill>
              <a:srgbClr val="B7D6C1"/>
            </a:solidFill>
            <a:prstDash val="solid"/>
          </a:ln>
        </p:spPr>
        <p:txBody>
          <a:bodyPr/>
          <a:lstStyle/>
          <a:p>
            <a:endParaRPr lang="rw-RW" dirty="0"/>
          </a:p>
        </p:txBody>
      </p:sp>
      <p:sp>
        <p:nvSpPr>
          <p:cNvPr id="6" name="Text 4"/>
          <p:cNvSpPr txBox="1"/>
          <p:nvPr/>
        </p:nvSpPr>
        <p:spPr>
          <a:xfrm>
            <a:off x="768096" y="2194560"/>
            <a:ext cx="10652760" cy="548640"/>
          </a:xfrm>
          <a:prstGeom prst="rect">
            <a:avLst/>
          </a:prstGeom>
          <a:noFill/>
          <a:ln/>
        </p:spPr>
        <p:txBody>
          <a:bodyPr wrap="square" lIns="0" tIns="0" rIns="0" bIns="0" rtlCol="0" anchor="ctr"/>
          <a:lstStyle/>
          <a:p>
            <a:pPr marL="0" indent="0">
              <a:buNone/>
            </a:pPr>
            <a:r>
              <a:rPr lang="rw-RW" sz="1800" b="1" dirty="0">
                <a:solidFill>
                  <a:srgbClr val="2E6B45"/>
                </a:solidFill>
                <a:latin typeface="Calibri" pitchFamily="34" charset="0"/>
                <a:ea typeface="Calibri" pitchFamily="34" charset="-122"/>
                <a:cs typeface="Calibri" pitchFamily="34" charset="-120"/>
              </a:rPr>
              <a:t>A   </a:t>
            </a:r>
            <a:r>
              <a:rPr lang="rw-RW" sz="1800" dirty="0">
                <a:solidFill>
                  <a:srgbClr val="203864"/>
                </a:solidFill>
                <a:latin typeface="Calibri" pitchFamily="34" charset="0"/>
                <a:ea typeface="Calibri" pitchFamily="34" charset="-122"/>
                <a:cs typeface="Calibri" pitchFamily="34" charset="-120"/>
              </a:rPr>
              <a:t>Ko kumva ameze neza ari cyo ikinini kigamije, ko kigabanya ibyago byo kongera kurwara, kandi ko ingaruka zacyo zigomba kuvugwa ku kigo nderabuzima</a:t>
            </a:r>
            <a:endParaRPr lang="rw-RW" sz="1800" dirty="0"/>
          </a:p>
        </p:txBody>
      </p:sp>
      <p:sp>
        <p:nvSpPr>
          <p:cNvPr id="7" name="Shape 5"/>
          <p:cNvSpPr/>
          <p:nvPr/>
        </p:nvSpPr>
        <p:spPr>
          <a:xfrm>
            <a:off x="548640" y="2825496"/>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8" name="Text 6"/>
          <p:cNvSpPr txBox="1"/>
          <p:nvPr/>
        </p:nvSpPr>
        <p:spPr>
          <a:xfrm>
            <a:off x="768096" y="2825496"/>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B   </a:t>
            </a:r>
            <a:r>
              <a:rPr lang="rw-RW" sz="1800" dirty="0">
                <a:solidFill>
                  <a:srgbClr val="203864"/>
                </a:solidFill>
                <a:latin typeface="Calibri" pitchFamily="34" charset="0"/>
                <a:ea typeface="Calibri" pitchFamily="34" charset="-122"/>
                <a:cs typeface="Calibri" pitchFamily="34" charset="-120"/>
              </a:rPr>
              <a:t>Ko ashobora kugihagarika ubu kuko yumva ameze neza</a:t>
            </a:r>
            <a:endParaRPr lang="rw-RW" sz="1800" dirty="0"/>
          </a:p>
        </p:txBody>
      </p:sp>
      <p:sp>
        <p:nvSpPr>
          <p:cNvPr id="9" name="Shape 7"/>
          <p:cNvSpPr/>
          <p:nvPr/>
        </p:nvSpPr>
        <p:spPr>
          <a:xfrm>
            <a:off x="548640" y="3456432"/>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0" name="Text 8"/>
          <p:cNvSpPr txBox="1"/>
          <p:nvPr/>
        </p:nvSpPr>
        <p:spPr>
          <a:xfrm>
            <a:off x="768096" y="3456432"/>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C   </a:t>
            </a:r>
            <a:r>
              <a:rPr lang="rw-RW" sz="1800" dirty="0">
                <a:solidFill>
                  <a:srgbClr val="203864"/>
                </a:solidFill>
                <a:latin typeface="Calibri" pitchFamily="34" charset="0"/>
                <a:ea typeface="Calibri" pitchFamily="34" charset="-122"/>
                <a:cs typeface="Calibri" pitchFamily="34" charset="-120"/>
              </a:rPr>
              <a:t>Ko agomba kugifata gusa iyo yumva atameze neza</a:t>
            </a:r>
            <a:endParaRPr lang="rw-RW" sz="1800" dirty="0"/>
          </a:p>
        </p:txBody>
      </p:sp>
      <p:sp>
        <p:nvSpPr>
          <p:cNvPr id="11" name="Shape 9"/>
          <p:cNvSpPr/>
          <p:nvPr/>
        </p:nvSpPr>
        <p:spPr>
          <a:xfrm>
            <a:off x="548640" y="4087368"/>
            <a:ext cx="11091672" cy="548640"/>
          </a:xfrm>
          <a:prstGeom prst="roundRect">
            <a:avLst>
              <a:gd name="adj" fmla="val 10000"/>
            </a:avLst>
          </a:prstGeom>
          <a:solidFill>
            <a:srgbClr val="F3F7FC"/>
          </a:solidFill>
          <a:ln w="12700">
            <a:solidFill>
              <a:srgbClr val="D3E1F2"/>
            </a:solidFill>
            <a:prstDash val="solid"/>
          </a:ln>
        </p:spPr>
        <p:txBody>
          <a:bodyPr/>
          <a:lstStyle/>
          <a:p>
            <a:endParaRPr lang="rw-RW" dirty="0"/>
          </a:p>
        </p:txBody>
      </p:sp>
      <p:sp>
        <p:nvSpPr>
          <p:cNvPr id="12" name="Text 10"/>
          <p:cNvSpPr txBox="1"/>
          <p:nvPr/>
        </p:nvSpPr>
        <p:spPr>
          <a:xfrm>
            <a:off x="768096" y="4087368"/>
            <a:ext cx="10652760" cy="548640"/>
          </a:xfrm>
          <a:prstGeom prst="rect">
            <a:avLst/>
          </a:prstGeom>
          <a:noFill/>
          <a:ln/>
        </p:spPr>
        <p:txBody>
          <a:bodyPr wrap="square" lIns="0" tIns="0" rIns="0" bIns="0" rtlCol="0" anchor="ctr"/>
          <a:lstStyle/>
          <a:p>
            <a:pPr marL="0" indent="0">
              <a:buNone/>
            </a:pPr>
            <a:r>
              <a:rPr lang="rw-RW" sz="1800" b="1" dirty="0">
                <a:solidFill>
                  <a:srgbClr val="5B7FA6"/>
                </a:solidFill>
                <a:latin typeface="Calibri" pitchFamily="34" charset="0"/>
                <a:ea typeface="Calibri" pitchFamily="34" charset="-122"/>
                <a:cs typeface="Calibri" pitchFamily="34" charset="-120"/>
              </a:rPr>
              <a:t>D   </a:t>
            </a:r>
            <a:r>
              <a:rPr lang="rw-RW" sz="1800" dirty="0">
                <a:solidFill>
                  <a:srgbClr val="203864"/>
                </a:solidFill>
                <a:latin typeface="Calibri" pitchFamily="34" charset="0"/>
                <a:ea typeface="Calibri" pitchFamily="34" charset="-122"/>
                <a:cs typeface="Calibri" pitchFamily="34" charset="-120"/>
              </a:rPr>
              <a:t>Ko agomba kwigabanyiriza urugero rw'umuti ubwe</a:t>
            </a:r>
            <a:endParaRPr lang="rw-RW" sz="1800" dirty="0"/>
          </a:p>
        </p:txBody>
      </p:sp>
      <p:sp>
        <p:nvSpPr>
          <p:cNvPr id="13" name="Text 11"/>
          <p:cNvSpPr txBox="1"/>
          <p:nvPr/>
        </p:nvSpPr>
        <p:spPr>
          <a:xfrm>
            <a:off x="548640" y="4882896"/>
            <a:ext cx="11091672" cy="1380744"/>
          </a:xfrm>
          <a:prstGeom prst="rect">
            <a:avLst/>
          </a:prstGeom>
          <a:noFill/>
          <a:ln/>
        </p:spPr>
        <p:txBody>
          <a:bodyPr wrap="square" lIns="0" tIns="0" rIns="0" bIns="0" rtlCol="0" anchor="t"/>
          <a:lstStyle/>
          <a:p>
            <a:pPr marL="0" indent="0">
              <a:lnSpc>
                <a:spcPct val="103000"/>
              </a:lnSpc>
              <a:buNone/>
            </a:pPr>
            <a:r>
              <a:rPr lang="rw-RW" sz="1700" b="1" dirty="0">
                <a:solidFill>
                  <a:srgbClr val="2E6B45"/>
                </a:solidFill>
                <a:latin typeface="Calibri" pitchFamily="34" charset="0"/>
                <a:ea typeface="Calibri" pitchFamily="34" charset="-122"/>
                <a:cs typeface="Calibri" pitchFamily="34" charset="-120"/>
              </a:rPr>
              <a:t>Igisubizo cyiza: A</a:t>
            </a:r>
            <a:endParaRPr lang="rw-RW" sz="1700" dirty="0"/>
          </a:p>
          <a:p>
            <a:pPr marL="0" indent="0">
              <a:lnSpc>
                <a:spcPct val="103000"/>
              </a:lnSpc>
              <a:buNone/>
            </a:pPr>
            <a:r>
              <a:rPr lang="rw-RW" sz="1700" b="1" dirty="0">
                <a:solidFill>
                  <a:srgbClr val="1F3864"/>
                </a:solidFill>
                <a:latin typeface="Calibri" pitchFamily="34" charset="0"/>
                <a:ea typeface="Calibri" pitchFamily="34" charset="-122"/>
                <a:cs typeface="Calibri" pitchFamily="34" charset="-120"/>
              </a:rPr>
              <a:t>Igisubizo: </a:t>
            </a:r>
            <a:r>
              <a:rPr lang="rw-RW" sz="1700" dirty="0">
                <a:solidFill>
                  <a:srgbClr val="203864"/>
                </a:solidFill>
                <a:latin typeface="Calibri" pitchFamily="34" charset="0"/>
                <a:ea typeface="Calibri" pitchFamily="34" charset="-122"/>
                <a:cs typeface="Calibri" pitchFamily="34" charset="-120"/>
              </a:rPr>
              <a:t>Ikinini gikora mu ibanga mu mubiri mu gihe cy'imyaka myinshi. Kugihagarika kare bimwambura uburinzi agikeneye, kandi ingaruka zituma abantu bagihagarika akenshi zishobora gufashwa iyo itsinda ry'ubuzima rizimenye.</a:t>
            </a:r>
            <a:endParaRPr lang="rw-RW" sz="1700" dirty="0"/>
          </a:p>
        </p:txBody>
      </p:sp>
      <p:sp>
        <p:nvSpPr>
          <p:cNvPr id="14" name="Text 12"/>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15" name="Text 13"/>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147</a:t>
            </a:r>
            <a:endParaRPr lang="rw-RW"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txBox="1"/>
          <p:nvPr/>
        </p:nvSpPr>
        <p:spPr>
          <a:xfrm>
            <a:off x="548640" y="310896"/>
            <a:ext cx="11091672" cy="256032"/>
          </a:xfrm>
          <a:prstGeom prst="rect">
            <a:avLst/>
          </a:prstGeom>
          <a:noFill/>
          <a:ln/>
        </p:spPr>
        <p:txBody>
          <a:bodyPr wrap="square" lIns="0" tIns="0" rIns="0" bIns="0" rtlCol="0" anchor="ctr"/>
          <a:lstStyle/>
          <a:p>
            <a:pPr marL="0" indent="0">
              <a:buNone/>
            </a:pPr>
            <a:r>
              <a:rPr lang="rw-RW" sz="1000" b="1" kern="0" spc="300" dirty="0">
                <a:solidFill>
                  <a:srgbClr val="6E8CB0"/>
                </a:solidFill>
                <a:latin typeface="Calibri" pitchFamily="34" charset="0"/>
                <a:ea typeface="Calibri" pitchFamily="34" charset="-122"/>
                <a:cs typeface="Calibri" pitchFamily="34" charset="-120"/>
              </a:rPr>
              <a:t>AHO BYAKUWE N'INKOMOKO</a:t>
            </a:r>
            <a:endParaRPr lang="rw-RW" sz="1000" dirty="0"/>
          </a:p>
        </p:txBody>
      </p:sp>
      <p:sp>
        <p:nvSpPr>
          <p:cNvPr id="3" name="Text 1"/>
          <p:cNvSpPr txBox="1"/>
          <p:nvPr/>
        </p:nvSpPr>
        <p:spPr>
          <a:xfrm>
            <a:off x="548640" y="585216"/>
            <a:ext cx="11091672" cy="566928"/>
          </a:xfrm>
          <a:prstGeom prst="rect">
            <a:avLst/>
          </a:prstGeom>
          <a:noFill/>
          <a:ln/>
        </p:spPr>
        <p:txBody>
          <a:bodyPr wrap="square" lIns="0" tIns="0" rIns="0" bIns="0" rtlCol="0" anchor="t"/>
          <a:lstStyle/>
          <a:p>
            <a:pPr marL="0" indent="0">
              <a:buNone/>
            </a:pPr>
            <a:r>
              <a:rPr lang="rw-RW" sz="3000" b="1" dirty="0">
                <a:solidFill>
                  <a:srgbClr val="1F3864"/>
                </a:solidFill>
                <a:latin typeface="Calibri" pitchFamily="34" charset="0"/>
                <a:ea typeface="Calibri" pitchFamily="34" charset="-122"/>
                <a:cs typeface="Calibri" pitchFamily="34" charset="-120"/>
              </a:rPr>
              <a:t>Inkomoko</a:t>
            </a:r>
            <a:endParaRPr lang="rw-RW" sz="3000" dirty="0"/>
          </a:p>
        </p:txBody>
      </p:sp>
      <p:sp>
        <p:nvSpPr>
          <p:cNvPr id="4" name="Text 2"/>
          <p:cNvSpPr txBox="1"/>
          <p:nvPr/>
        </p:nvSpPr>
        <p:spPr>
          <a:xfrm>
            <a:off x="548640" y="1371600"/>
            <a:ext cx="5303520" cy="4754880"/>
          </a:xfrm>
          <a:prstGeom prst="rect">
            <a:avLst/>
          </a:prstGeom>
          <a:noFill/>
          <a:ln/>
        </p:spPr>
        <p:txBody>
          <a:bodyPr wrap="square" lIns="0" tIns="0" rIns="0" bIns="0" rtlCol="0" anchor="t"/>
          <a:lstStyle/>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1. International Agency for Research on Cancer. Global Cancer Observatory: Cancer Today. Rwanda fact sheet, GLOBOCAN 2024 estimates (breast: 1,684 estimated new cases; 813 estimated deaths). Lyon: IARC / World Health Organization. https://gco.iarc.who.int/today</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2. International Agency for Research on Cancer. Global Cancer Observatory: Cancer Today. Breast fact sheet, GLOBOCAN 2024 estimates. Lyon: IARC / World Health Organization. https://gco.iarc.who.int/today</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3. Sung H, Filho AM, Laversanne M, et al. Global cancer statistics 2024: GLOBOCAN estimates of incidence and mortality worldwide for 34 cancers in 186 countries. CA: A Cancer Journal for Clinicians. 2026. doi:10.3322/caac.70090</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4. Republic of Rwanda, Ministry of Health. National Cancer Control Plan 2025 to 2029. Kigali: Ministry of Health and Rwanda Biomedical Centre.</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5. Rwanda Biomedical Centre. Updates in Cancer Care in Rwanda. Kigali: Ministry of Health, Cancer Programme, June 2026.</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6. World Health Organization. Breast cancer fact sheet. Geneva: WHO. https://www.who.int/news-room/fact-sheets/detail/breast-cancer</a:t>
            </a:r>
            <a:endParaRPr lang="rw-RW" sz="1300" dirty="0"/>
          </a:p>
        </p:txBody>
      </p:sp>
      <p:sp>
        <p:nvSpPr>
          <p:cNvPr id="5" name="Text 3"/>
          <p:cNvSpPr txBox="1"/>
          <p:nvPr/>
        </p:nvSpPr>
        <p:spPr>
          <a:xfrm>
            <a:off x="6217920" y="1371600"/>
            <a:ext cx="5303520" cy="4754880"/>
          </a:xfrm>
          <a:prstGeom prst="rect">
            <a:avLst/>
          </a:prstGeom>
          <a:noFill/>
          <a:ln/>
        </p:spPr>
        <p:txBody>
          <a:bodyPr wrap="square" lIns="0" tIns="0" rIns="0" bIns="0" rtlCol="0" anchor="t"/>
          <a:lstStyle/>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7. World Health Organization. Global Breast Cancer Initiative Implementation Framework: assessing, strengthening and scaling up services for the early detection and management of breast cancer. Geneva: WHO, 2023.</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8. World Health Organization. Guide to Cancer Early Diagnosis. Geneva: WHO, 2017.</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9. International Agency for Research on Cancer. Breast Cancer Screening. IARC Handbooks of Cancer Prevention, Volume 15. Lyon: IARC, 2016.</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10. Loibl S, André F, Bachelot T, et al. Early breast cancer: ESMO Clinical Practice Guideline for diagnosis, treatment and follow-up. Annals of Oncology. https://www.esmo.org/guidelines/breast-cancer</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11. American Cancer Society. Breast cancer: signs and symptoms, risk factors, diagnosis and treatment; and Breast cancer in men. https://www.cancer.org</a:t>
            </a:r>
          </a:p>
          <a:p>
            <a:pPr marL="0" indent="0">
              <a:spcAft>
                <a:spcPts val="900"/>
              </a:spcAft>
              <a:buNone/>
            </a:pPr>
            <a:r>
              <a:rPr lang="rw-RW" sz="1300" dirty="0">
                <a:solidFill>
                  <a:srgbClr val="203864"/>
                </a:solidFill>
                <a:latin typeface="Calibri" pitchFamily="34" charset="0"/>
                <a:ea typeface="Calibri" pitchFamily="34" charset="-122"/>
                <a:cs typeface="Calibri" pitchFamily="34" charset="-120"/>
              </a:rPr>
              <a:t>12. World Health Organization. Integrating palliative care and symptom relief into primary health care: a WHO guide for planners, implementers and managers. Geneva: WHO, 2018.</a:t>
            </a:r>
            <a:endParaRPr lang="rw-RW" sz="1300" dirty="0"/>
          </a:p>
        </p:txBody>
      </p:sp>
      <p:sp>
        <p:nvSpPr>
          <p:cNvPr id="6" name="Text 4"/>
          <p:cNvSpPr txBox="1"/>
          <p:nvPr/>
        </p:nvSpPr>
        <p:spPr>
          <a:xfrm>
            <a:off x="548640" y="6382512"/>
            <a:ext cx="7315200" cy="274320"/>
          </a:xfrm>
          <a:prstGeom prst="rect">
            <a:avLst/>
          </a:prstGeom>
          <a:noFill/>
          <a:ln/>
        </p:spPr>
        <p:txBody>
          <a:bodyPr wrap="square" lIns="0" tIns="0" rIns="0" bIns="0" rtlCol="0" anchor="ctr"/>
          <a:lstStyle/>
          <a:p>
            <a:pPr marL="0" indent="0" algn="l">
              <a:buNone/>
            </a:pPr>
            <a:r>
              <a:rPr lang="rw-RW" sz="900" dirty="0">
                <a:solidFill>
                  <a:srgbClr val="7B8AA0"/>
                </a:solidFill>
                <a:latin typeface="Calibri" pitchFamily="34" charset="0"/>
                <a:ea typeface="Calibri" pitchFamily="34" charset="-122"/>
                <a:cs typeface="Calibri" pitchFamily="34" charset="-120"/>
              </a:rPr>
              <a:t>Kanseri y'ibere | CHW (Umujyanama w'ubuzima) | Rwanda Biomedical Centre (RBC)</a:t>
            </a:r>
            <a:endParaRPr lang="rw-RW" sz="900" dirty="0"/>
          </a:p>
        </p:txBody>
      </p:sp>
      <p:sp>
        <p:nvSpPr>
          <p:cNvPr id="7" name="Text 5"/>
          <p:cNvSpPr txBox="1"/>
          <p:nvPr/>
        </p:nvSpPr>
        <p:spPr>
          <a:xfrm>
            <a:off x="8897112" y="6382512"/>
            <a:ext cx="2743200" cy="274320"/>
          </a:xfrm>
          <a:prstGeom prst="rect">
            <a:avLst/>
          </a:prstGeom>
          <a:noFill/>
          <a:ln/>
        </p:spPr>
        <p:txBody>
          <a:bodyPr wrap="square" lIns="0" tIns="0" rIns="0" bIns="0" rtlCol="0" anchor="ctr"/>
          <a:lstStyle/>
          <a:p>
            <a:pPr marL="0" indent="0" algn="r">
              <a:buNone/>
            </a:pPr>
            <a:r>
              <a:rPr lang="rw-RW" sz="900" dirty="0">
                <a:solidFill>
                  <a:srgbClr val="7B8AA0"/>
                </a:solidFill>
                <a:latin typeface="Calibri" pitchFamily="34" charset="0"/>
                <a:ea typeface="Calibri" pitchFamily="34" charset="-122"/>
                <a:cs typeface="Calibri" pitchFamily="34" charset="-120"/>
              </a:rPr>
              <a:t>Igishushanyo cya 148</a:t>
            </a:r>
            <a:endParaRPr lang="rw-RW"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01FA56D-293B-4D47-B1A6-B8751954F1F2}">
  <we:reference id="wa200010001" version="1.0.0.1" store="en-US" storeType="OMEX"/>
  <we:alternateReferences>
    <we:reference id="WA200010001" version="1.0.0.1" store="" storeType="OMEX"/>
  </we:alternateReferences>
  <we:properties>
    <we:property name="claude.fileId" value="&quot;a5ee7eed-a3b8-4366-b720-870baf9b87ce&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671ECF1-BDBD-481A-BB6F-00E6F00880D2}"/>
</file>

<file path=customXml/itemProps2.xml><?xml version="1.0" encoding="utf-8"?>
<ds:datastoreItem xmlns:ds="http://schemas.openxmlformats.org/officeDocument/2006/customXml" ds:itemID="{2E35DBC9-3B2D-4B40-A382-F2F7BE415742}"/>
</file>

<file path=customXml/itemProps3.xml><?xml version="1.0" encoding="utf-8"?>
<ds:datastoreItem xmlns:ds="http://schemas.openxmlformats.org/officeDocument/2006/customXml" ds:itemID="{3C7E19F9-2B9E-4957-881D-72E4E5F02655}"/>
</file>

<file path=docProps/app.xml><?xml version="1.0" encoding="utf-8"?>
<Properties xmlns="http://schemas.openxmlformats.org/officeDocument/2006/extended-properties" xmlns:vt="http://schemas.openxmlformats.org/officeDocument/2006/docPropsVTypes">
  <TotalTime>3751</TotalTime>
  <Words>18016</Words>
  <Application>Microsoft Macintosh PowerPoint</Application>
  <PresentationFormat>Panorámica</PresentationFormat>
  <Paragraphs>1942</Paragraphs>
  <Slides>161</Slides>
  <Notes>152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161</vt:i4>
      </vt:variant>
    </vt:vector>
  </HeadingPairs>
  <TitlesOfParts>
    <vt:vector size="164"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Breast Cancer, CHW Module, English</dc:title>
  <dc:subject>PptxGenJS Presentation</dc:subject>
  <dc:creator>Rwanda Biomedical Centre</dc:creator>
  <cp:lastModifiedBy>Diana Alejandra Guarin Castaño</cp:lastModifiedBy>
  <cp:revision>84</cp:revision>
  <dcterms:created xsi:type="dcterms:W3CDTF">2026-09-06T19:07:40Z</dcterms:created>
  <dcterms:modified xsi:type="dcterms:W3CDTF">2026-10-05T20:40:56Z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128e483-8504-409f-97ca-6f94af18631c_Enabled">
    <vt:lpwstr>true</vt:lpwstr>
  </property>
  <property fmtid="{D5CDD505-2E9C-101B-9397-08002B2CF9AE}" pid="3" name="MSIP_Label_1128e483-8504-409f-97ca-6f94af18631c_SetDate">
    <vt:lpwstr>2026-09-07T13:43:06Z</vt:lpwstr>
  </property>
  <property fmtid="{D5CDD505-2E9C-101B-9397-08002B2CF9AE}" pid="4" name="MSIP_Label_1128e483-8504-409f-97ca-6f94af18631c_Method">
    <vt:lpwstr>Privileged</vt:lpwstr>
  </property>
  <property fmtid="{D5CDD505-2E9C-101B-9397-08002B2CF9AE}" pid="5" name="MSIP_Label_1128e483-8504-409f-97ca-6f94af18631c_Name">
    <vt:lpwstr>Portuguese - Not Classified</vt:lpwstr>
  </property>
  <property fmtid="{D5CDD505-2E9C-101B-9397-08002B2CF9AE}" pid="6" name="MSIP_Label_1128e483-8504-409f-97ca-6f94af18631c_SiteId">
    <vt:lpwstr>a00de4ec-48a8-43a6-be74-e31274e2060d</vt:lpwstr>
  </property>
  <property fmtid="{D5CDD505-2E9C-101B-9397-08002B2CF9AE}" pid="7" name="MSIP_Label_1128e483-8504-409f-97ca-6f94af18631c_ActionId">
    <vt:lpwstr>4859ea5e-a144-4257-82b1-c56307c210d7</vt:lpwstr>
  </property>
  <property fmtid="{D5CDD505-2E9C-101B-9397-08002B2CF9AE}" pid="8" name="MSIP_Label_1128e483-8504-409f-97ca-6f94af18631c_ContentBits">
    <vt:lpwstr>0</vt:lpwstr>
  </property>
  <property fmtid="{D5CDD505-2E9C-101B-9397-08002B2CF9AE}" pid="9" name="MSIP_Label_1128e483-8504-409f-97ca-6f94af18631c_Tag">
    <vt:lpwstr>10, 0, 1, 1</vt:lpwstr>
  </property>
  <property fmtid="{D5CDD505-2E9C-101B-9397-08002B2CF9AE}" pid="10" name="_AdHocReviewCycleID">
    <vt:i4>1187218928</vt:i4>
  </property>
  <property fmtid="{D5CDD505-2E9C-101B-9397-08002B2CF9AE}" pid="11" name="_NewReviewCycle">
    <vt:lpwstr/>
  </property>
  <property fmtid="{D5CDD505-2E9C-101B-9397-08002B2CF9AE}" pid="12" name="_EmailSubject">
    <vt:lpwstr/>
  </property>
  <property fmtid="{D5CDD505-2E9C-101B-9397-08002B2CF9AE}" pid="13" name="_AuthorEmail">
    <vt:lpwstr>diana.alejandra.guarin.castano@msd.com</vt:lpwstr>
  </property>
  <property fmtid="{D5CDD505-2E9C-101B-9397-08002B2CF9AE}" pid="14" name="_AuthorEmailDisplayName">
    <vt:lpwstr>Guarin, Diana</vt:lpwstr>
  </property>
  <property fmtid="{D5CDD505-2E9C-101B-9397-08002B2CF9AE}" pid="15" name="ContentTypeId">
    <vt:lpwstr>0x0101007D61ECC46547A045896A1B75675AB43C</vt:lpwstr>
  </property>
</Properties>
</file>