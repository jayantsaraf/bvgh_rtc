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85" r:id="rId19"/>
    <p:sldId id="386" r:id="rId20"/>
    <p:sldId id="273" r:id="rId21"/>
    <p:sldId id="274" r:id="rId22"/>
    <p:sldId id="275" r:id="rId23"/>
    <p:sldId id="277" r:id="rId24"/>
    <p:sldId id="276" r:id="rId25"/>
    <p:sldId id="408" r:id="rId26"/>
    <p:sldId id="405" r:id="rId27"/>
    <p:sldId id="406" r:id="rId28"/>
    <p:sldId id="387" r:id="rId29"/>
    <p:sldId id="279" r:id="rId30"/>
    <p:sldId id="280" r:id="rId31"/>
    <p:sldId id="281" r:id="rId32"/>
    <p:sldId id="282" r:id="rId33"/>
    <p:sldId id="283" r:id="rId34"/>
    <p:sldId id="284" r:id="rId35"/>
    <p:sldId id="285" r:id="rId36"/>
    <p:sldId id="286" r:id="rId37"/>
    <p:sldId id="388" r:id="rId38"/>
    <p:sldId id="287" r:id="rId39"/>
    <p:sldId id="389" r:id="rId40"/>
    <p:sldId id="391" r:id="rId41"/>
    <p:sldId id="390" r:id="rId42"/>
    <p:sldId id="288" r:id="rId43"/>
    <p:sldId id="289" r:id="rId44"/>
    <p:sldId id="290" r:id="rId45"/>
    <p:sldId id="291" r:id="rId46"/>
    <p:sldId id="392" r:id="rId47"/>
    <p:sldId id="292" r:id="rId48"/>
    <p:sldId id="293" r:id="rId49"/>
    <p:sldId id="294" r:id="rId50"/>
    <p:sldId id="295" r:id="rId51"/>
    <p:sldId id="296" r:id="rId52"/>
    <p:sldId id="297" r:id="rId53"/>
    <p:sldId id="298" r:id="rId54"/>
    <p:sldId id="299" r:id="rId55"/>
    <p:sldId id="300" r:id="rId56"/>
    <p:sldId id="393" r:id="rId57"/>
    <p:sldId id="301" r:id="rId58"/>
    <p:sldId id="394" r:id="rId59"/>
    <p:sldId id="395" r:id="rId60"/>
    <p:sldId id="303" r:id="rId61"/>
    <p:sldId id="396" r:id="rId62"/>
    <p:sldId id="304" r:id="rId63"/>
    <p:sldId id="305" r:id="rId64"/>
    <p:sldId id="306" r:id="rId65"/>
    <p:sldId id="307" r:id="rId66"/>
    <p:sldId id="308" r:id="rId67"/>
    <p:sldId id="309" r:id="rId68"/>
    <p:sldId id="409" r:id="rId69"/>
    <p:sldId id="410" r:id="rId70"/>
    <p:sldId id="310" r:id="rId71"/>
    <p:sldId id="411" r:id="rId72"/>
    <p:sldId id="412" r:id="rId73"/>
    <p:sldId id="413" r:id="rId74"/>
    <p:sldId id="414" r:id="rId75"/>
    <p:sldId id="415" r:id="rId76"/>
    <p:sldId id="416" r:id="rId77"/>
    <p:sldId id="417" r:id="rId78"/>
    <p:sldId id="418" r:id="rId79"/>
    <p:sldId id="419" r:id="rId80"/>
    <p:sldId id="420" r:id="rId81"/>
    <p:sldId id="421" r:id="rId82"/>
    <p:sldId id="422" r:id="rId83"/>
    <p:sldId id="423" r:id="rId84"/>
    <p:sldId id="424" r:id="rId85"/>
    <p:sldId id="311" r:id="rId86"/>
    <p:sldId id="312" r:id="rId87"/>
    <p:sldId id="407" r:id="rId88"/>
    <p:sldId id="314" r:id="rId89"/>
    <p:sldId id="397" r:id="rId90"/>
    <p:sldId id="315" r:id="rId91"/>
    <p:sldId id="316" r:id="rId92"/>
    <p:sldId id="317" r:id="rId93"/>
    <p:sldId id="429" r:id="rId94"/>
    <p:sldId id="319" r:id="rId95"/>
    <p:sldId id="430" r:id="rId96"/>
    <p:sldId id="428" r:id="rId97"/>
    <p:sldId id="321" r:id="rId98"/>
    <p:sldId id="322" r:id="rId99"/>
    <p:sldId id="323" r:id="rId100"/>
    <p:sldId id="324" r:id="rId101"/>
    <p:sldId id="325" r:id="rId102"/>
    <p:sldId id="403" r:id="rId103"/>
    <p:sldId id="327" r:id="rId104"/>
    <p:sldId id="328" r:id="rId105"/>
    <p:sldId id="329" r:id="rId106"/>
    <p:sldId id="330" r:id="rId107"/>
    <p:sldId id="431" r:id="rId108"/>
    <p:sldId id="434" r:id="rId109"/>
    <p:sldId id="433" r:id="rId110"/>
    <p:sldId id="334" r:id="rId111"/>
    <p:sldId id="335" r:id="rId112"/>
    <p:sldId id="336" r:id="rId113"/>
    <p:sldId id="337" r:id="rId114"/>
    <p:sldId id="338" r:id="rId115"/>
    <p:sldId id="339" r:id="rId116"/>
    <p:sldId id="340" r:id="rId117"/>
    <p:sldId id="342" r:id="rId118"/>
    <p:sldId id="344" r:id="rId119"/>
    <p:sldId id="346" r:id="rId120"/>
    <p:sldId id="400" r:id="rId121"/>
    <p:sldId id="347" r:id="rId122"/>
    <p:sldId id="348" r:id="rId123"/>
    <p:sldId id="399" r:id="rId124"/>
    <p:sldId id="349" r:id="rId125"/>
    <p:sldId id="398" r:id="rId126"/>
    <p:sldId id="352" r:id="rId127"/>
    <p:sldId id="353" r:id="rId128"/>
    <p:sldId id="435" r:id="rId129"/>
    <p:sldId id="438" r:id="rId130"/>
    <p:sldId id="439" r:id="rId131"/>
    <p:sldId id="357" r:id="rId132"/>
    <p:sldId id="358" r:id="rId133"/>
    <p:sldId id="359" r:id="rId134"/>
    <p:sldId id="360" r:id="rId135"/>
    <p:sldId id="401" r:id="rId136"/>
    <p:sldId id="361" r:id="rId137"/>
    <p:sldId id="362" r:id="rId138"/>
    <p:sldId id="363" r:id="rId139"/>
    <p:sldId id="364" r:id="rId140"/>
    <p:sldId id="365" r:id="rId141"/>
    <p:sldId id="402" r:id="rId142"/>
    <p:sldId id="366" r:id="rId143"/>
    <p:sldId id="367" r:id="rId144"/>
    <p:sldId id="443" r:id="rId145"/>
    <p:sldId id="444" r:id="rId146"/>
    <p:sldId id="442" r:id="rId147"/>
    <p:sldId id="371" r:id="rId148"/>
    <p:sldId id="372" r:id="rId149"/>
    <p:sldId id="373" r:id="rId150"/>
    <p:sldId id="374" r:id="rId151"/>
    <p:sldId id="375" r:id="rId152"/>
    <p:sldId id="376" r:id="rId153"/>
    <p:sldId id="377" r:id="rId154"/>
    <p:sldId id="378" r:id="rId155"/>
    <p:sldId id="379" r:id="rId156"/>
    <p:sldId id="380" r:id="rId157"/>
    <p:sldId id="381" r:id="rId158"/>
    <p:sldId id="382" r:id="rId159"/>
    <p:sldId id="383" r:id="rId160"/>
    <p:sldId id="384" r:id="rId16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C1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09-16T21:22:28.9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50" autoAdjust="0"/>
    <p:restoredTop sz="94003" autoAdjust="0"/>
  </p:normalViewPr>
  <p:slideViewPr>
    <p:cSldViewPr snapToGrid="0" snapToObjects="1">
      <p:cViewPr varScale="1">
        <p:scale>
          <a:sx n="95" d="100"/>
          <a:sy n="95" d="100"/>
        </p:scale>
        <p:origin x="496"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customXml" Target="../customXml/item3.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viewProps" Target="viewProps.xml"/><Relationship Id="rId16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Hoja_de_c_lculo_de_Microsoft_Excel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12315B"/>
                </a:solidFill>
                <a:latin typeface="Calibri"/>
              </a:defRPr>
            </a:pPr>
            <a:r>
              <a:rPr lang="fr-FR" sz="1300" b="0" i="0" u="none" strike="noStrike" noProof="0" dirty="0">
                <a:solidFill>
                  <a:srgbClr val="12315B"/>
                </a:solidFill>
                <a:latin typeface="Calibri"/>
              </a:rPr>
              <a:t>Incidence du cancer du sein, taux standardisé par âge pour 100 000 habitants, 2024</a:t>
            </a:r>
          </a:p>
        </c:rich>
      </c:tx>
      <c:overlay val="0"/>
    </c:title>
    <c:autoTitleDeleted val="0"/>
    <c:plotArea>
      <c:layout/>
      <c:barChart>
        <c:barDir val="bar"/>
        <c:grouping val="clustered"/>
        <c:varyColors val="0"/>
        <c:ser>
          <c:idx val="0"/>
          <c:order val="0"/>
          <c:tx>
            <c:strRef>
              <c:f>Sheet1!$B$1</c:f>
              <c:strCache>
                <c:ptCount val="1"/>
                <c:pt idx="0">
                  <c:v>ASR pour 100 000</c:v>
                </c:pt>
              </c:strCache>
            </c:strRef>
          </c:tx>
          <c:spPr>
            <a:solidFill>
              <a:srgbClr val="2C6BAF"/>
            </a:solidFill>
            <a:effectLst/>
          </c:spPr>
          <c:invertIfNegative val="0"/>
          <c:dLbls>
            <c:numFmt formatCode="0.0" sourceLinked="0"/>
            <c:spPr>
              <a:noFill/>
              <a:ln>
                <a:noFill/>
              </a:ln>
              <a:effectLst/>
            </c:spPr>
            <c:txPr>
              <a:bodyPr/>
              <a:lstStyle/>
              <a:p>
                <a:pPr>
                  <a:defRPr sz="1300" b="0" i="0" u="none" strike="noStrike">
                    <a:solidFill>
                      <a:srgbClr val="12315B"/>
                    </a:solidFill>
                    <a:latin typeface="Calibri"/>
                  </a:defRPr>
                </a:pPr>
                <a:endParaRPr lang="en-US"/>
              </a:p>
            </c:txPr>
            <c:showLegendKey val="0"/>
            <c:showVal val="1"/>
            <c:showCatName val="0"/>
            <c:showSerName val="0"/>
            <c:showPercent val="0"/>
            <c:showBubbleSize val="0"/>
            <c:showLeaderLines val="0"/>
            <c:extLst xmlns:c16="http://schemas.microsoft.com/office/drawing/2014/chart" xmlns:c15="http://schemas.microsoft.com/office/drawing/2012/chart">
              <c:ext xmlns:c15="http://schemas.microsoft.com/office/drawing/2012/chart" uri="{CE6537A1-D6FC-4f65-9D91-7224C49458BB}">
                <c15:showLeaderLines val="0"/>
              </c:ext>
            </c:extLst>
          </c:dLbls>
          <c:cat>
            <c:strRef>
              <c:f>Sheet1!$A$2:$A$5</c:f>
              <c:strCache>
                <c:ptCount val="4"/>
                <c:pt idx="0">
                  <c:v>Rwanda</c:v>
                </c:pt>
                <c:pt idx="1">
                  <c:v>Afrique de l'Est</c:v>
                </c:pt>
                <c:pt idx="2">
                  <c:v>Afrique</c:v>
                </c:pt>
                <c:pt idx="3">
                  <c:v>Monde</c:v>
                </c:pt>
              </c:strCache>
            </c:strRef>
          </c:cat>
          <c:val>
            <c:numRef>
              <c:f>Sheet1!$B$2:$B$5</c:f>
              <c:numCache>
                <c:formatCode>General</c:formatCode>
                <c:ptCount val="4"/>
                <c:pt idx="0">
                  <c:v>30.6</c:v>
                </c:pt>
                <c:pt idx="1">
                  <c:v>29.3</c:v>
                </c:pt>
                <c:pt idx="2">
                  <c:v>41.4</c:v>
                </c:pt>
                <c:pt idx="3">
                  <c:v>47.8</c:v>
                </c:pt>
              </c:numCache>
            </c:numRef>
          </c:val>
          <c:extLst xmlns:c16="http://schemas.microsoft.com/office/drawing/2014/chart" xmlns:c15="http://schemas.microsoft.com/office/drawing/2012/chart">
            <c:ext xmlns:c16="http://schemas.microsoft.com/office/drawing/2014/chart" uri="{C3380CC4-5D6E-409C-BE32-E72D297353CC}">
              <c16:uniqueId val="{00000000-F48B-9049-97B0-8E5FCB0E11DE}"/>
            </c:ext>
          </c:extLst>
        </c:ser>
        <c:dLbls>
          <c:showLegendKey val="0"/>
          <c:showVal val="1"/>
          <c:showCatName val="0"/>
          <c:showSerName val="0"/>
          <c:showPercent val="0"/>
          <c:showBubbleSize val="0"/>
        </c:dLbls>
        <c:gapWidth val="150"/>
        <c:axId val="173829120"/>
        <c:axId val="174458752"/>
      </c:barChart>
      <c:catAx>
        <c:axId val="173829120"/>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3A63"/>
                </a:solidFill>
                <a:latin typeface="Arial"/>
              </a:defRPr>
            </a:pPr>
            <a:endParaRPr lang="en-US"/>
          </a:p>
        </c:txPr>
        <c:crossAx val="174458752"/>
        <c:crosses val="autoZero"/>
        <c:auto val="1"/>
        <c:lblAlgn val="ctr"/>
        <c:lblOffset val="100"/>
        <c:noMultiLvlLbl val="1"/>
      </c:catAx>
      <c:valAx>
        <c:axId val="174458752"/>
        <c:scaling>
          <c:orientation val="minMax"/>
          <c:max val="55"/>
          <c:min val="0"/>
        </c:scaling>
        <c:delete val="0"/>
        <c:axPos val="b"/>
        <c:majorGridlines>
          <c:spPr>
            <a:ln w="12700" cap="flat">
              <a:solidFill>
                <a:srgbClr val="E4EB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699"/>
                </a:solidFill>
                <a:latin typeface="Arial"/>
              </a:defRPr>
            </a:pPr>
            <a:endParaRPr lang="en-US"/>
          </a:p>
        </c:txPr>
        <c:crossAx val="173829120"/>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12315B"/>
                </a:solidFill>
                <a:latin typeface="Calibri"/>
              </a:defRPr>
            </a:pPr>
            <a:r>
              <a:rPr lang="fr-FR" sz="1300" b="0" i="0" u="none" strike="noStrike" noProof="0" dirty="0">
                <a:solidFill>
                  <a:srgbClr val="12315B"/>
                </a:solidFill>
                <a:latin typeface="Calibri"/>
              </a:rPr>
              <a:t>Les cinq cancers les plus fréquents au Rwanda, nouveaux cas estimés, des deux sexes, 2024</a:t>
            </a:r>
          </a:p>
        </c:rich>
      </c:tx>
      <c:overlay val="0"/>
    </c:title>
    <c:autoTitleDeleted val="0"/>
    <c:plotArea>
      <c:layout/>
      <c:barChart>
        <c:barDir val="bar"/>
        <c:grouping val="clustered"/>
        <c:varyColors val="0"/>
        <c:ser>
          <c:idx val="0"/>
          <c:order val="0"/>
          <c:tx>
            <c:strRef>
              <c:f>Sheet1!$B$1</c:f>
              <c:strCache>
                <c:ptCount val="1"/>
                <c:pt idx="0">
                  <c:v>Nombre estimé de nouveaux cas</c:v>
                </c:pt>
              </c:strCache>
            </c:strRef>
          </c:tx>
          <c:spPr>
            <a:solidFill>
              <a:srgbClr val="2C6BAF"/>
            </a:solidFill>
            <a:effectLst/>
          </c:spPr>
          <c:invertIfNegative val="0"/>
          <c:dLbls>
            <c:numFmt formatCode="#,##0" sourceLinked="0"/>
            <c:spPr>
              <a:noFill/>
              <a:ln>
                <a:noFill/>
              </a:ln>
              <a:effectLst/>
            </c:spPr>
            <c:txPr>
              <a:bodyPr/>
              <a:lstStyle/>
              <a:p>
                <a:pPr>
                  <a:defRPr sz="1300" b="0" i="0" u="none" strike="noStrike">
                    <a:solidFill>
                      <a:srgbClr val="12315B"/>
                    </a:solidFill>
                    <a:latin typeface="Calibri"/>
                  </a:defRPr>
                </a:pPr>
                <a:endParaRPr lang="en-US"/>
              </a:p>
            </c:txPr>
            <c:showLegendKey val="0"/>
            <c:showVal val="1"/>
            <c:showCatName val="0"/>
            <c:showSerName val="0"/>
            <c:showPercent val="0"/>
            <c:showBubbleSize val="0"/>
            <c:showLeaderLines val="0"/>
            <c:extLst xmlns:c16="http://schemas.microsoft.com/office/drawing/2014/chart" xmlns:c15="http://schemas.microsoft.com/office/drawing/2012/chart">
              <c:ext xmlns:c15="http://schemas.microsoft.com/office/drawing/2012/chart" uri="{CE6537A1-D6FC-4f65-9D91-7224C49458BB}">
                <c15:showLeaderLines val="0"/>
              </c:ext>
            </c:extLst>
          </c:dLbls>
          <c:cat>
            <c:strRef>
              <c:f>Sheet1!$A$2:$A$6</c:f>
              <c:strCache>
                <c:ptCount val="5"/>
                <c:pt idx="0">
                  <c:v>Estomac</c:v>
                </c:pt>
                <c:pt idx="1">
                  <c:v>Colorectum</c:v>
                </c:pt>
                <c:pt idx="2">
                  <c:v>Col de l'utérus</c:v>
                </c:pt>
                <c:pt idx="3">
                  <c:v>Sein</c:v>
                </c:pt>
                <c:pt idx="4">
                  <c:v>Prostate</c:v>
                </c:pt>
              </c:strCache>
            </c:strRef>
          </c:cat>
          <c:val>
            <c:numRef>
              <c:f>Sheet1!$B$2:$B$6</c:f>
              <c:numCache>
                <c:formatCode>General</c:formatCode>
                <c:ptCount val="5"/>
                <c:pt idx="0">
                  <c:v>895</c:v>
                </c:pt>
                <c:pt idx="1">
                  <c:v>925</c:v>
                </c:pt>
                <c:pt idx="2">
                  <c:v>1582</c:v>
                </c:pt>
                <c:pt idx="3">
                  <c:v>1684</c:v>
                </c:pt>
                <c:pt idx="4">
                  <c:v>1856</c:v>
                </c:pt>
              </c:numCache>
            </c:numRef>
          </c:val>
          <c:extLst xmlns:c16="http://schemas.microsoft.com/office/drawing/2014/chart" xmlns:c15="http://schemas.microsoft.com/office/drawing/2012/chart">
            <c:ext xmlns:c16="http://schemas.microsoft.com/office/drawing/2014/chart" uri="{C3380CC4-5D6E-409C-BE32-E72D297353CC}">
              <c16:uniqueId val="{00000000-DD5E-CB48-8615-0EE24C8DFB34}"/>
            </c:ext>
          </c:extLst>
        </c:ser>
        <c:dLbls>
          <c:showLegendKey val="0"/>
          <c:showVal val="1"/>
          <c:showCatName val="0"/>
          <c:showSerName val="0"/>
          <c:showPercent val="0"/>
          <c:showBubbleSize val="0"/>
        </c:dLbls>
        <c:gapWidth val="150"/>
        <c:axId val="173635456"/>
        <c:axId val="173650688"/>
      </c:barChart>
      <c:catAx>
        <c:axId val="173635456"/>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3A63"/>
                </a:solidFill>
                <a:latin typeface="Arial"/>
              </a:defRPr>
            </a:pPr>
            <a:endParaRPr lang="en-US"/>
          </a:p>
        </c:txPr>
        <c:crossAx val="173650688"/>
        <c:crosses val="autoZero"/>
        <c:auto val="1"/>
        <c:lblAlgn val="ctr"/>
        <c:lblOffset val="100"/>
        <c:noMultiLvlLbl val="1"/>
      </c:catAx>
      <c:valAx>
        <c:axId val="173650688"/>
        <c:scaling>
          <c:orientation val="minMax"/>
          <c:max val="2200"/>
          <c:min val="0"/>
        </c:scaling>
        <c:delete val="0"/>
        <c:axPos val="b"/>
        <c:majorGridlines>
          <c:spPr>
            <a:ln w="12700" cap="flat">
              <a:solidFill>
                <a:srgbClr val="E4EB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699"/>
                </a:solidFill>
                <a:latin typeface="Arial"/>
              </a:defRPr>
            </a:pPr>
            <a:endParaRPr lang="en-US"/>
          </a:p>
        </c:txPr>
        <c:crossAx val="17363545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12315B"/>
                </a:solidFill>
                <a:latin typeface="Calibri"/>
              </a:defRPr>
            </a:pPr>
            <a:r>
              <a:rPr lang="fr-FR" sz="1300" b="0" i="0" u="none" strike="noStrike" noProof="0" dirty="0">
                <a:solidFill>
                  <a:srgbClr val="12315B"/>
                </a:solidFill>
                <a:latin typeface="Calibri"/>
              </a:rPr>
              <a:t>Tous les cancers au Rwanda : charge estimée pour 2022 et charge projetée pour 2045</a:t>
            </a:r>
          </a:p>
        </c:rich>
      </c:tx>
      <c:overlay val="0"/>
    </c:title>
    <c:autoTitleDeleted val="0"/>
    <c:plotArea>
      <c:layout/>
      <c:barChart>
        <c:barDir val="col"/>
        <c:grouping val="clustered"/>
        <c:varyColors val="0"/>
        <c:ser>
          <c:idx val="0"/>
          <c:order val="0"/>
          <c:tx>
            <c:strRef>
              <c:f>Sheet1!$B$1</c:f>
              <c:strCache>
                <c:ptCount val="1"/>
                <c:pt idx="0">
                  <c:v>Nouveaux cas</c:v>
                </c:pt>
              </c:strCache>
            </c:strRef>
          </c:tx>
          <c:spPr>
            <a:solidFill>
              <a:srgbClr val="2C6BAF"/>
            </a:solidFill>
            <a:effectLst/>
          </c:spPr>
          <c:invertIfNegative val="0"/>
          <c:dLbls>
            <c:numFmt formatCode="#,##0" sourceLinked="0"/>
            <c:spPr>
              <a:noFill/>
              <a:ln>
                <a:noFill/>
              </a:ln>
              <a:effectLst/>
            </c:spPr>
            <c:txPr>
              <a:bodyPr/>
              <a:lstStyle/>
              <a:p>
                <a:pPr>
                  <a:defRPr sz="1200" b="0" i="0" u="none" strike="noStrike">
                    <a:solidFill>
                      <a:srgbClr val="12315B"/>
                    </a:solidFill>
                    <a:latin typeface="Calibri"/>
                  </a:defRPr>
                </a:pPr>
                <a:endParaRPr lang="en-US"/>
              </a:p>
            </c:txPr>
            <c:showLegendKey val="0"/>
            <c:showVal val="1"/>
            <c:showCatName val="0"/>
            <c:showSerName val="0"/>
            <c:showPercent val="0"/>
            <c:showBubbleSize val="0"/>
            <c:showLeaderLines val="0"/>
            <c:extLst xmlns:c16="http://schemas.microsoft.com/office/drawing/2014/chart" xmlns:c15="http://schemas.microsoft.com/office/drawing/2012/chart">
              <c:ext xmlns:c15="http://schemas.microsoft.com/office/drawing/2012/chart" uri="{CE6537A1-D6FC-4f65-9D91-7224C49458BB}">
                <c15:showLeaderLines val="0"/>
              </c:ext>
            </c:extLst>
          </c:dLbls>
          <c:cat>
            <c:strRef>
              <c:f>Sheet1!$A$2:$A$3</c:f>
              <c:strCache>
                <c:ptCount val="2"/>
                <c:pt idx="0">
                  <c:v>Estimation 2022</c:v>
                </c:pt>
                <c:pt idx="1">
                  <c:v>Projection 2045</c:v>
                </c:pt>
              </c:strCache>
            </c:strRef>
          </c:cat>
          <c:val>
            <c:numRef>
              <c:f>Sheet1!$B$2:$B$3</c:f>
              <c:numCache>
                <c:formatCode>General</c:formatCode>
                <c:ptCount val="2"/>
                <c:pt idx="0">
                  <c:v>7120</c:v>
                </c:pt>
                <c:pt idx="1">
                  <c:v>15000</c:v>
                </c:pt>
              </c:numCache>
            </c:numRef>
          </c:val>
          <c:extLst xmlns:c16="http://schemas.microsoft.com/office/drawing/2014/chart" xmlns:c15="http://schemas.microsoft.com/office/drawing/2012/chart">
            <c:ext xmlns:c16="http://schemas.microsoft.com/office/drawing/2014/chart" uri="{C3380CC4-5D6E-409C-BE32-E72D297353CC}">
              <c16:uniqueId val="{00000000-4128-E641-B70C-02142EBDA783}"/>
            </c:ext>
          </c:extLst>
        </c:ser>
        <c:ser>
          <c:idx val="1"/>
          <c:order val="1"/>
          <c:tx>
            <c:strRef>
              <c:f>Sheet1!$C$1</c:f>
              <c:strCache>
                <c:ptCount val="1"/>
                <c:pt idx="0">
                  <c:v>Décès</c:v>
                </c:pt>
              </c:strCache>
            </c:strRef>
          </c:tx>
          <c:spPr>
            <a:solidFill>
              <a:srgbClr val="9AC0E4"/>
            </a:solidFill>
            <a:effectLst/>
          </c:spPr>
          <c:invertIfNegative val="0"/>
          <c:dLbls>
            <c:numFmt formatCode="#,##0" sourceLinked="0"/>
            <c:spPr>
              <a:noFill/>
              <a:ln>
                <a:noFill/>
              </a:ln>
              <a:effectLst/>
            </c:spPr>
            <c:txPr>
              <a:bodyPr/>
              <a:lstStyle/>
              <a:p>
                <a:pPr>
                  <a:defRPr sz="1200" b="0" i="0" u="none" strike="noStrike">
                    <a:solidFill>
                      <a:srgbClr val="12315B"/>
                    </a:solidFill>
                    <a:latin typeface="Calibri"/>
                  </a:defRPr>
                </a:pPr>
                <a:endParaRPr lang="en-US"/>
              </a:p>
            </c:txPr>
            <c:showLegendKey val="0"/>
            <c:showVal val="1"/>
            <c:showCatName val="0"/>
            <c:showSerName val="0"/>
            <c:showPercent val="0"/>
            <c:showBubbleSize val="0"/>
            <c:showLeaderLines val="0"/>
            <c:extLst xmlns:c16="http://schemas.microsoft.com/office/drawing/2014/chart" xmlns:c15="http://schemas.microsoft.com/office/drawing/2012/chart">
              <c:ext xmlns:c15="http://schemas.microsoft.com/office/drawing/2012/chart" uri="{CE6537A1-D6FC-4f65-9D91-7224C49458BB}">
                <c15:showLeaderLines val="0"/>
              </c:ext>
            </c:extLst>
          </c:dLbls>
          <c:cat>
            <c:strRef>
              <c:f>Sheet1!$A$2:$A$3</c:f>
              <c:strCache>
                <c:ptCount val="2"/>
                <c:pt idx="0">
                  <c:v>Estimation 2022</c:v>
                </c:pt>
                <c:pt idx="1">
                  <c:v>Projection 2045</c:v>
                </c:pt>
              </c:strCache>
            </c:strRef>
          </c:cat>
          <c:val>
            <c:numRef>
              <c:f>Sheet1!$C$2:$C$3</c:f>
              <c:numCache>
                <c:formatCode>General</c:formatCode>
                <c:ptCount val="2"/>
                <c:pt idx="0">
                  <c:v>4890</c:v>
                </c:pt>
                <c:pt idx="1">
                  <c:v>10500</c:v>
                </c:pt>
              </c:numCache>
            </c:numRef>
          </c:val>
          <c:extLst xmlns:c16="http://schemas.microsoft.com/office/drawing/2014/chart" xmlns:c15="http://schemas.microsoft.com/office/drawing/2012/chart">
            <c:ext xmlns:c16="http://schemas.microsoft.com/office/drawing/2014/chart" uri="{C3380CC4-5D6E-409C-BE32-E72D297353CC}">
              <c16:uniqueId val="{00000001-4128-E641-B70C-02142EBDA783}"/>
            </c:ext>
          </c:extLst>
        </c:ser>
        <c:dLbls>
          <c:showLegendKey val="0"/>
          <c:showVal val="1"/>
          <c:showCatName val="0"/>
          <c:showSerName val="0"/>
          <c:showPercent val="0"/>
          <c:showBubbleSize val="0"/>
        </c:dLbls>
        <c:gapWidth val="150"/>
        <c:axId val="173728896"/>
        <c:axId val="173730432"/>
      </c:barChart>
      <c:catAx>
        <c:axId val="1737288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3A63"/>
                </a:solidFill>
                <a:latin typeface="Arial"/>
              </a:defRPr>
            </a:pPr>
            <a:endParaRPr lang="en-US"/>
          </a:p>
        </c:txPr>
        <c:crossAx val="173730432"/>
        <c:crosses val="autoZero"/>
        <c:auto val="1"/>
        <c:lblAlgn val="ctr"/>
        <c:lblOffset val="100"/>
        <c:noMultiLvlLbl val="1"/>
      </c:catAx>
      <c:valAx>
        <c:axId val="173730432"/>
        <c:scaling>
          <c:orientation val="minMax"/>
          <c:max val="18000"/>
          <c:min val="0"/>
        </c:scaling>
        <c:delete val="0"/>
        <c:axPos val="l"/>
        <c:majorGridlines>
          <c:spPr>
            <a:ln w="12700" cap="flat">
              <a:solidFill>
                <a:srgbClr val="E4EB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699"/>
                </a:solidFill>
                <a:latin typeface="Arial"/>
              </a:defRPr>
            </a:pPr>
            <a:endParaRPr lang="en-US"/>
          </a:p>
        </c:txPr>
        <c:crossAx val="173728896"/>
        <c:crosses val="autoZero"/>
        <c:crossBetween val="between"/>
      </c:valAx>
      <c:spPr>
        <a:noFill/>
        <a:ln>
          <a:noFill/>
        </a:ln>
        <a:effectLst/>
      </c:spPr>
    </c:plotArea>
    <c:legend>
      <c:legendPos val="b"/>
      <c:overlay val="0"/>
      <c:txPr>
        <a:bodyPr/>
        <a:lstStyle/>
        <a:p>
          <a:pPr>
            <a:defRPr sz="1200">
              <a:solidFill>
                <a:srgbClr val="1F3A6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6209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ED927-6366-ACB6-874D-E77B7C1D9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E9B56-AF76-F11C-0C36-7D349BC7E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172A9-65AA-2169-130C-115762599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3BF782-CA34-6CF0-9756-C8D7DDE1C3A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804667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DEFD1-53FE-7B6B-5107-A30B9847E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02335-9939-220B-CE8D-C34BE8EF9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26A40D-1CC8-0893-11F8-41D3B72EFD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C82EC8-932E-F384-D98B-118A9603A59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316474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687E3-9598-2BCC-A497-99B7899B4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52F56-A2C5-C154-3210-CDBE87F25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F41D3-E933-AFB8-9036-5186CD40B5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3F5E12-E90F-E19B-93E5-DFFD6400F74F}"/>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4633885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F034-FC09-1A63-B2B4-B6AE160E0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7B2F8-2A26-378F-EEF3-95F4BF01E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02E3D-9D74-F4E5-32DD-70C2F80680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109FF1-E80B-D909-84AF-ABD3AB162085}"/>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61382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0607B-2C20-F41D-302A-4E40E5EB2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FBA1E-120F-495B-1B60-0BF6CA71C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BF573-4162-B488-2894-633D54BCA5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2669B-6501-BC6F-70F1-DCE308EC20C3}"/>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163836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A9F45-E9F6-056B-C8A6-F361A99F6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9E0E9-FCD3-39DA-F16E-FB420B88E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33D0C-BE20-BE54-5331-CE96D8B8A742}"/>
              </a:ext>
            </a:extLst>
          </p:cNvPr>
          <p:cNvSpPr>
            <a:spLocks noGrp="1"/>
          </p:cNvSpPr>
          <p:nvPr>
            <p:ph type="body" idx="1"/>
          </p:nvPr>
        </p:nvSpPr>
        <p:spPr/>
        <p:txBody>
          <a:bodyPr/>
          <a:lstStyle/>
          <a:p>
            <a:r>
              <a:rPr lang="en-US" dirty="0">
                <a:solidFill>
                  <a:srgbClr val="FF0000"/>
                </a:solidFill>
              </a:rPr>
              <a:t># </a:t>
            </a:r>
            <a:r>
              <a:rPr lang="it-IT" dirty="0">
                <a:solidFill>
                  <a:srgbClr val="FF0000"/>
                </a:solidFill>
              </a:rPr>
              <a:t>DCIS (Ductal Carcinoma In Situ) : CCIS (Carcinome Canalaire In Situ)</a:t>
            </a:r>
            <a:endParaRPr lang="en-US" dirty="0">
              <a:solidFill>
                <a:srgbClr val="FF0000"/>
              </a:solidFill>
            </a:endParaRPr>
          </a:p>
        </p:txBody>
      </p:sp>
      <p:sp>
        <p:nvSpPr>
          <p:cNvPr id="4" name="Slide Number Placeholder 3">
            <a:extLst>
              <a:ext uri="{FF2B5EF4-FFF2-40B4-BE49-F238E27FC236}">
                <a16:creationId xmlns:a16="http://schemas.microsoft.com/office/drawing/2014/main" id="{A6FE6E6F-6003-0D9C-814F-5AC0F4B82C7A}"/>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9295128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E1F61-D3CE-DE5A-70F4-4AEBB6469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4766D-50DE-9CE6-A3B0-CFFDB1D85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1986DE-9978-3A22-E7F1-CCBC593E63BD}"/>
              </a:ext>
            </a:extLst>
          </p:cNvPr>
          <p:cNvSpPr>
            <a:spLocks noGrp="1"/>
          </p:cNvSpPr>
          <p:nvPr>
            <p:ph type="body" idx="1"/>
          </p:nvPr>
        </p:nvSpPr>
        <p:spPr/>
        <p:txBody>
          <a:bodyPr/>
          <a:lstStyle/>
          <a:p>
            <a:r>
              <a:rPr lang="en-US" dirty="0"/>
              <a:t># </a:t>
            </a:r>
            <a:r>
              <a:rPr lang="en-US" dirty="0" err="1"/>
              <a:t>Carcinome</a:t>
            </a:r>
            <a:r>
              <a:rPr lang="en-US" dirty="0"/>
              <a:t> </a:t>
            </a:r>
            <a:r>
              <a:rPr lang="en-US" dirty="0" err="1"/>
              <a:t>canalaire</a:t>
            </a:r>
            <a:r>
              <a:rPr lang="en-US" dirty="0"/>
              <a:t> </a:t>
            </a:r>
            <a:r>
              <a:rPr lang="en-US" dirty="0" err="1"/>
              <a:t>invasif</a:t>
            </a:r>
            <a:r>
              <a:rPr lang="en-US" dirty="0"/>
              <a:t> (</a:t>
            </a:r>
            <a:r>
              <a:rPr lang="en-US" dirty="0" err="1"/>
              <a:t>ou</a:t>
            </a:r>
            <a:r>
              <a:rPr lang="en-US" dirty="0"/>
              <a:t> </a:t>
            </a:r>
            <a:r>
              <a:rPr lang="en-US" dirty="0" err="1"/>
              <a:t>Carcinome</a:t>
            </a:r>
            <a:r>
              <a:rPr lang="en-US" dirty="0"/>
              <a:t> </a:t>
            </a:r>
            <a:r>
              <a:rPr lang="en-US" dirty="0" err="1"/>
              <a:t>canalaire</a:t>
            </a:r>
            <a:r>
              <a:rPr lang="en-US" dirty="0"/>
              <a:t> </a:t>
            </a:r>
            <a:r>
              <a:rPr lang="en-US" dirty="0" err="1"/>
              <a:t>infiltrant</a:t>
            </a:r>
            <a:r>
              <a:rPr lang="en-US" dirty="0"/>
              <a:t>)</a:t>
            </a:r>
          </a:p>
        </p:txBody>
      </p:sp>
      <p:sp>
        <p:nvSpPr>
          <p:cNvPr id="4" name="Slide Number Placeholder 3">
            <a:extLst>
              <a:ext uri="{FF2B5EF4-FFF2-40B4-BE49-F238E27FC236}">
                <a16:creationId xmlns:a16="http://schemas.microsoft.com/office/drawing/2014/main" id="{1F8F0342-0DF4-E388-CE69-5479E050B86B}"/>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41933465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EC00B-BDEA-B0BC-0BF1-0C5B93565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03D04-091E-AD62-759A-B61854D0C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A6B57-3353-A495-3AC9-8D8FB83293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0B7D31-7174-B7E4-033C-412B6778FAA2}"/>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771511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2A60F-F014-6C61-EE55-53F1C3736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803C4-7D76-AE63-70AE-BF045C065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27CCE-B98A-91D4-C097-D7179CC489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5B8A03-8A37-10A7-E525-C044D389110A}"/>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857276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A7FD5-626B-1EDB-44F5-BEAAD9D4C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CA282-3DA5-6EDD-0207-EA678C8C2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86D16B-0B4D-6F29-52D7-C65D0D1F85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736E96-C8C5-CCF6-246C-284389C28615}"/>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241016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A5B0D-9744-D0A4-15B1-5866C8363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33961-E24D-6627-1A99-D22A2D44C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DACEB-B3E3-D37D-4CEC-58B2D91498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B0479C-4304-ECCD-0500-B12C7D18592D}"/>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8844925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5735B-E154-B370-0FCC-3BC30DC97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FFA66-4D43-8C5F-16A9-915C1C3BB5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A0292-E19C-A9C8-92BC-AA3DBCB0C6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A76D80-45CA-92BA-DCAB-38AC2BFDC6E2}"/>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7313387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5AA5-440B-0EB5-33CF-C17D37B20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CC5BF-3AC8-08AE-486A-3C0387EF0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570D3-54F2-E2D3-C21A-6F3204FDD1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745560-2AC2-C5E8-7739-0331FDEEEC60}"/>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4330098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AD48-807D-B563-83AE-5365F3069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59A99-244F-4353-2A05-5051405D0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7D594-4852-B29B-6139-B8080F4000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0C48B-71E1-825B-F247-791FD7C7E584}"/>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41869528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4E135-C97F-A936-75AD-4ABC2BE12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86F73-D40E-6F82-C3BD-31B2B8C0A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9670D-E123-9AC4-6A9C-9425DB4F38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77D8FD-DDC6-1E58-CBDC-5902038322A9}"/>
              </a:ext>
            </a:extLst>
          </p:cNvPr>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5642831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B56FE-2B09-BAEC-7252-F99FAA766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D839D-F3A2-AB51-AD59-AD1B9CCAA5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CA43A-505F-34DE-D14F-9DC17B163F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8A3381-CF66-7170-3F48-3F1E451ADAA1}"/>
              </a:ext>
            </a:extLst>
          </p:cNvPr>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38097837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1AF4-D1EF-7095-233B-162B11D95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F3478-7565-A7AB-E52D-44A332A84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9BFF2-8A2E-2109-33D1-059E4F295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46E5C-8AB5-51A0-9934-DD2E2F3BBA7D}"/>
              </a:ext>
            </a:extLst>
          </p:cNvPr>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299498642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5FE7-E044-0ED7-921F-F5FFB9AEB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D15D6-F88A-6422-D832-CBD221088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35A512-81CA-C57C-6F31-70180D007B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72C841-9912-66A4-9B12-3E63EC36D9B4}"/>
              </a:ext>
            </a:extLst>
          </p:cNvPr>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40502791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55ABE-5FE0-7216-AC1F-1C1691261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32362-13D1-D8BF-6FB7-634E996EE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D01A6-38BE-96A5-81B6-5BE4850231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6668E8-7D9B-EAEA-40A2-0D83BE2FBD54}"/>
              </a:ext>
            </a:extLst>
          </p:cNvPr>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367627168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E1694-00BC-892F-BD32-C3B1F2536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25C59-66E4-C34C-8DEA-801806744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24AF0-5A92-26A3-7172-9A7545F3EA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250F65-7457-2F89-5E70-05FDB46436C4}"/>
              </a:ext>
            </a:extLst>
          </p:cNvPr>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366200157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1EAE0-B9BE-BCBA-EC3E-ACA7F315B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CF193-273B-2F8C-CFDC-DE10A1CC8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AAD726-BFAE-5B24-96CF-A2CEA3F6A4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96FB00-76AF-464D-AB9C-85C37E5D146E}"/>
              </a:ext>
            </a:extLst>
          </p:cNvPr>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27809383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jpeg"/></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jpeg"/></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5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41.jpg"/></Relationships>
</file>

<file path=ppt/slides/_rels/slide58.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3.jpeg"/></Relationships>
</file>

<file path=ppt/slides/_rels/slide5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5.jpg"/></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48.emf"/><Relationship Id="rId4" Type="http://schemas.openxmlformats.org/officeDocument/2006/relationships/image" Target="../media/image47.emf"/></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1.xml"/><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120.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notesSlide" Target="../notesSlides/notesSlide102.xml"/><Relationship Id="rId1" Type="http://schemas.openxmlformats.org/officeDocument/2006/relationships/slideLayout" Target="../slideLayouts/slideLayout1.xml"/><Relationship Id="rId5" Type="http://schemas.openxmlformats.org/officeDocument/2006/relationships/image" Target="../media/image85.jpg"/><Relationship Id="rId4" Type="http://schemas.openxmlformats.org/officeDocument/2006/relationships/image" Target="../media/image84.jpeg"/></Relationships>
</file>

<file path=ppt/slides/_rels/slide12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104.xml"/><Relationship Id="rId1" Type="http://schemas.openxmlformats.org/officeDocument/2006/relationships/slideLayout" Target="../slideLayouts/slideLayout1.xml"/><Relationship Id="rId4" Type="http://schemas.openxmlformats.org/officeDocument/2006/relationships/image" Target="../media/image88.jpeg"/></Relationships>
</file>

<file path=ppt/slides/_rels/slide12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107.xml"/><Relationship Id="rId1" Type="http://schemas.openxmlformats.org/officeDocument/2006/relationships/slideLayout" Target="../slideLayouts/slideLayout1.xml"/><Relationship Id="rId4" Type="http://schemas.openxmlformats.org/officeDocument/2006/relationships/image" Target="../media/image92.jp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16.xml"/><Relationship Id="rId1" Type="http://schemas.openxmlformats.org/officeDocument/2006/relationships/slideLayout" Target="../slideLayouts/slideLayout1.xml"/><Relationship Id="rId4" Type="http://schemas.openxmlformats.org/officeDocument/2006/relationships/image" Target="../media/image94.jpeg"/></Relationships>
</file>

<file path=ppt/slides/_rels/slide13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17.xml"/><Relationship Id="rId1" Type="http://schemas.openxmlformats.org/officeDocument/2006/relationships/slideLayout" Target="../slideLayouts/slideLayout1.xml"/><Relationship Id="rId4" Type="http://schemas.openxmlformats.org/officeDocument/2006/relationships/image" Target="../media/image96.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914400" y="1874520"/>
            <a:ext cx="10332720" cy="320040"/>
          </a:xfrm>
          <a:prstGeom prst="rect">
            <a:avLst/>
          </a:prstGeom>
          <a:noFill/>
          <a:ln/>
        </p:spPr>
        <p:txBody>
          <a:bodyPr wrap="square" lIns="0" tIns="0" rIns="0" bIns="0" rtlCol="0" anchor="ctr"/>
          <a:lstStyle/>
          <a:p>
            <a:r>
              <a:rPr lang="fr-FR" sz="1300" b="1" kern="0" spc="200" dirty="0">
                <a:solidFill>
                  <a:srgbClr val="9FC2E8"/>
                </a:solidFill>
                <a:latin typeface="Calibri" pitchFamily="34" charset="0"/>
                <a:ea typeface="Calibri" pitchFamily="34" charset="-122"/>
                <a:cs typeface="Calibri" pitchFamily="34" charset="-120"/>
              </a:rPr>
              <a:t>MODULE POUR LES PROFESSIONNELS DE SANTÉ DE PREMIÈRE LIGNE</a:t>
            </a:r>
            <a:endParaRPr lang="fr-FR" sz="1300" noProof="0" dirty="0">
              <a:solidFill>
                <a:srgbClr val="FF0000"/>
              </a:solidFill>
            </a:endParaRPr>
          </a:p>
        </p:txBody>
      </p:sp>
      <p:sp>
        <p:nvSpPr>
          <p:cNvPr id="3" name="Text 1"/>
          <p:cNvSpPr txBox="1"/>
          <p:nvPr/>
        </p:nvSpPr>
        <p:spPr>
          <a:xfrm>
            <a:off x="914400" y="2286000"/>
            <a:ext cx="10332720" cy="1005840"/>
          </a:xfrm>
          <a:prstGeom prst="rect">
            <a:avLst/>
          </a:prstGeom>
          <a:noFill/>
          <a:ln/>
        </p:spPr>
        <p:txBody>
          <a:bodyPr wrap="square" lIns="0" tIns="0" rIns="0" bIns="0" rtlCol="0" anchor="ctr"/>
          <a:lstStyle/>
          <a:p>
            <a:pPr marL="0" indent="0">
              <a:buNone/>
            </a:pPr>
            <a:r>
              <a:rPr lang="fr-FR" sz="5400" b="1" noProof="0" dirty="0">
                <a:solidFill>
                  <a:srgbClr val="FFFFFF"/>
                </a:solidFill>
                <a:latin typeface="Calibri" pitchFamily="34" charset="0"/>
                <a:ea typeface="Calibri" pitchFamily="34" charset="-122"/>
                <a:cs typeface="Calibri" pitchFamily="34" charset="-120"/>
              </a:rPr>
              <a:t>Cancer du sein</a:t>
            </a:r>
            <a:endParaRPr lang="fr-FR" sz="5400" noProof="0" dirty="0"/>
          </a:p>
        </p:txBody>
      </p:sp>
      <p:sp>
        <p:nvSpPr>
          <p:cNvPr id="4" name="Text 2"/>
          <p:cNvSpPr txBox="1"/>
          <p:nvPr/>
        </p:nvSpPr>
        <p:spPr>
          <a:xfrm>
            <a:off x="914400" y="3429000"/>
            <a:ext cx="8595360" cy="822960"/>
          </a:xfrm>
          <a:prstGeom prst="rect">
            <a:avLst/>
          </a:prstGeom>
          <a:noFill/>
          <a:ln/>
        </p:spPr>
        <p:txBody>
          <a:bodyPr wrap="square" lIns="0" tIns="0" rIns="0" bIns="0" rtlCol="0" anchor="ctr"/>
          <a:lstStyle/>
          <a:p>
            <a:pPr marL="0" indent="0">
              <a:lnSpc>
                <a:spcPct val="100000"/>
              </a:lnSpc>
              <a:buNone/>
            </a:pPr>
            <a:r>
              <a:rPr lang="fr-FR" sz="2000" noProof="0" dirty="0">
                <a:solidFill>
                  <a:srgbClr val="CFE0F4"/>
                </a:solidFill>
                <a:latin typeface="Calibri" pitchFamily="34" charset="0"/>
                <a:ea typeface="Calibri" pitchFamily="34" charset="-122"/>
                <a:cs typeface="Calibri" pitchFamily="34" charset="-120"/>
              </a:rPr>
              <a:t>Votre parcours d'apprentissage interactif : reconnaître, évaluer, orienter, expliquer, soutenir.</a:t>
            </a:r>
            <a:endParaRPr lang="fr-FR" sz="2000" noProof="0" dirty="0"/>
          </a:p>
        </p:txBody>
      </p:sp>
      <p:sp>
        <p:nvSpPr>
          <p:cNvPr id="5" name="Shape 3"/>
          <p:cNvSpPr/>
          <p:nvPr/>
        </p:nvSpPr>
        <p:spPr>
          <a:xfrm>
            <a:off x="914400" y="4526280"/>
            <a:ext cx="1371600" cy="402336"/>
          </a:xfrm>
          <a:prstGeom prst="roundRect">
            <a:avLst>
              <a:gd name="adj" fmla="val 18182"/>
            </a:avLst>
          </a:prstGeom>
          <a:solidFill>
            <a:srgbClr val="1D4C86"/>
          </a:solidFill>
          <a:ln/>
        </p:spPr>
        <p:txBody>
          <a:bodyPr/>
          <a:lstStyle/>
          <a:p>
            <a:endParaRPr lang="fr-FR" noProof="0" dirty="0"/>
          </a:p>
        </p:txBody>
      </p:sp>
      <p:sp>
        <p:nvSpPr>
          <p:cNvPr id="6" name="Text 4"/>
          <p:cNvSpPr txBox="1"/>
          <p:nvPr/>
        </p:nvSpPr>
        <p:spPr>
          <a:xfrm>
            <a:off x="914400" y="4526280"/>
            <a:ext cx="1371600" cy="402336"/>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Français</a:t>
            </a:r>
            <a:endParaRPr lang="fr-FR" sz="1400" noProof="0" dirty="0"/>
          </a:p>
        </p:txBody>
      </p:sp>
      <p:sp>
        <p:nvSpPr>
          <p:cNvPr id="7" name="Text 5"/>
          <p:cNvSpPr txBox="1"/>
          <p:nvPr/>
        </p:nvSpPr>
        <p:spPr>
          <a:xfrm>
            <a:off x="914400" y="5120640"/>
            <a:ext cx="7315200" cy="320040"/>
          </a:xfrm>
          <a:prstGeom prst="rect">
            <a:avLst/>
          </a:prstGeom>
          <a:noFill/>
          <a:ln/>
        </p:spPr>
        <p:txBody>
          <a:bodyPr wrap="square" lIns="0" tIns="0" rIns="0" bIns="0" rtlCol="0" anchor="ctr"/>
          <a:lstStyle/>
          <a:p>
            <a:pPr marL="0" indent="0">
              <a:buNone/>
            </a:pPr>
            <a:r>
              <a:rPr lang="fr-FR" sz="1500" noProof="0" dirty="0">
                <a:solidFill>
                  <a:srgbClr val="9FC2E8"/>
                </a:solidFill>
                <a:latin typeface="Calibri" pitchFamily="34" charset="0"/>
                <a:ea typeface="Calibri" pitchFamily="34" charset="-122"/>
                <a:cs typeface="Calibri" pitchFamily="34" charset="-120"/>
              </a:rPr>
              <a:t>Centre biomédical du Rwanda</a:t>
            </a:r>
            <a:endParaRPr lang="fr-FR" sz="15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MODULE POUR LES PROFESSIONNELS DE SANTÉ DE PREMIÈRE LIGNE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Objectifs du module</a:t>
            </a:r>
            <a:endParaRPr lang="fr-FR"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Reconnaître</a:t>
            </a:r>
            <a:endParaRPr lang="fr-FR"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Reconnaître le risque de cancer du sein et les modifications mammaires qui nécessitent une évaluation, y compris les signes urgents.</a:t>
            </a:r>
            <a:endParaRPr lang="fr-FR"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Distinguer</a:t>
            </a:r>
            <a:endParaRPr lang="fr-FR"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Distinguer le dépistage d’une personne sans symptôme de l’évaluation d’une personne présentant un changement mammaire.</a:t>
            </a:r>
            <a:endParaRPr lang="fr-FR"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Examiner</a:t>
            </a:r>
            <a:endParaRPr lang="fr-FR"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a:lnSpc>
                <a:spcPct val="90000"/>
              </a:lnSpc>
            </a:pPr>
            <a:r>
              <a:rPr lang="fr-FR" sz="1800" noProof="0" dirty="0">
                <a:solidFill>
                  <a:srgbClr val="1F3A63"/>
                </a:solidFill>
                <a:latin typeface="Calibri" pitchFamily="34" charset="0"/>
                <a:ea typeface="Calibri" pitchFamily="34" charset="-122"/>
                <a:cs typeface="Calibri" pitchFamily="34" charset="-120"/>
              </a:rPr>
              <a:t>Réaliser et consigner un examen systématique des seins et des aisselles, et enseigner l’auto-examen des seins.</a:t>
            </a:r>
            <a:endParaRPr lang="fr-FR"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Expliquer</a:t>
            </a:r>
            <a:endParaRPr lang="fr-FR"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Expliquer ce que signifie un résultat d’imagerie anormal, sans affirmer que le cancer est présent ou absent.</a:t>
            </a:r>
            <a:endParaRPr lang="fr-FR"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Orienter</a:t>
            </a:r>
            <a:endParaRPr lang="fr-FR"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Orienter avec le bon degré d’urgence, accompagner avec soin et consigner ce dont le registre du cancer a besoin.</a:t>
            </a:r>
            <a:endParaRPr lang="fr-FR"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Soutenir</a:t>
            </a:r>
            <a:endParaRPr lang="fr-FR"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Prendre en charge les effets du traitement, le lymphœdème, les soins palliatifs, l’après-cancer et le suivi.</a:t>
            </a:r>
            <a:endParaRPr lang="fr-FR" sz="18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MODULE POUR LES PROFESSIONNELS DE SANTÉ DE PREMIÈRE LIGNE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Contenu du module</a:t>
            </a:r>
            <a:endParaRPr lang="fr-FR"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Pré-test</a:t>
            </a:r>
            <a:endParaRPr lang="fr-FR"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Vingt courtes questions pour faire le point sur vos connaissances de départ. Vos réponses ne sont pas notées.</a:t>
            </a:r>
            <a:endParaRPr lang="fr-FR"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Session 1 : Compréhension</a:t>
            </a:r>
            <a:endParaRPr lang="fr-FR"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Ce qu'est le cancer du sein, comment il se développe, sa fréquence, les types et sous-types, le stade et le grade.</a:t>
            </a:r>
            <a:endParaRPr lang="fr-FR"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Session 2 : Dépistage</a:t>
            </a:r>
            <a:endParaRPr lang="fr-FR"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Qui est à risque, affections mammaires bénignes, quoi rechercher, comment examiner et ce que les tests peuvent faire.</a:t>
            </a:r>
            <a:endParaRPr lang="fr-FR"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normAutofit fontScale="73500" lnSpcReduction="20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Session 3 : Orientation et accompagnement</a:t>
            </a:r>
            <a:endParaRPr lang="fr-FR"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Avec quelle urgence orienter, quoi consigner, et comment accompagner face à la peur, à la chirurgie et à l’image corporelle.</a:t>
            </a:r>
            <a:endParaRPr lang="fr-FR"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Session 4 : Diagnostic et traitement</a:t>
            </a:r>
            <a:endParaRPr lang="fr-FR"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Comment un diagnostic est confirmé, ce que signifient les récepteurs, et à quoi sert chaque traitement.</a:t>
            </a:r>
            <a:endParaRPr lang="fr-FR"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Session 5 : Traitement de soutien</a:t>
            </a:r>
            <a:endParaRPr lang="fr-FR"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Effets à reconnaître, lymphœdème, observance, soins palliatifs, qualité de vie et suivi.</a:t>
            </a:r>
            <a:endParaRPr lang="fr-FR" sz="1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2148840"/>
            <a:ext cx="11094415" cy="777240"/>
          </a:xfrm>
          <a:prstGeom prst="rect">
            <a:avLst/>
          </a:prstGeom>
          <a:noFill/>
          <a:ln/>
        </p:spPr>
        <p:txBody>
          <a:bodyPr wrap="square" lIns="0" tIns="0" rIns="0" bIns="0" rtlCol="0" anchor="ctr"/>
          <a:lstStyle/>
          <a:p>
            <a:pPr marL="0" indent="0">
              <a:buNone/>
            </a:pPr>
            <a:r>
              <a:rPr lang="fr-FR" sz="4000" b="1" noProof="0" dirty="0">
                <a:solidFill>
                  <a:srgbClr val="12315B"/>
                </a:solidFill>
                <a:latin typeface="Calibri" pitchFamily="34" charset="0"/>
                <a:ea typeface="Calibri" pitchFamily="34" charset="-122"/>
                <a:cs typeface="Calibri" pitchFamily="34" charset="-120"/>
              </a:rPr>
              <a:t>Pré-test</a:t>
            </a:r>
            <a:endParaRPr lang="fr-FR" sz="4000" noProof="0" dirty="0"/>
          </a:p>
        </p:txBody>
      </p:sp>
      <p:sp>
        <p:nvSpPr>
          <p:cNvPr id="5" name="Text 3"/>
          <p:cNvSpPr txBox="1"/>
          <p:nvPr/>
        </p:nvSpPr>
        <p:spPr>
          <a:xfrm>
            <a:off x="548640" y="3017520"/>
            <a:ext cx="9509760" cy="1005840"/>
          </a:xfrm>
          <a:prstGeom prst="rect">
            <a:avLst/>
          </a:prstGeom>
          <a:noFill/>
          <a:ln/>
        </p:spPr>
        <p:txBody>
          <a:bodyPr wrap="square" lIns="0" tIns="0" rIns="0" bIns="0" rtlCol="0" anchor="ctr"/>
          <a:lstStyle/>
          <a:p>
            <a:pPr marL="0" indent="0">
              <a:lnSpc>
                <a:spcPct val="100000"/>
              </a:lnSpc>
              <a:buNone/>
            </a:pPr>
            <a:r>
              <a:rPr lang="fr-FR" sz="1900" noProof="0" dirty="0">
                <a:solidFill>
                  <a:srgbClr val="1F3A63"/>
                </a:solidFill>
                <a:latin typeface="Calibri" pitchFamily="34" charset="0"/>
                <a:ea typeface="Calibri" pitchFamily="34" charset="-122"/>
                <a:cs typeface="Calibri" pitchFamily="34" charset="-120"/>
              </a:rPr>
              <a:t>Vingt questions pour vérifier ce que vous savez déjà. Vos réponses ne sont pas notées. Vous rencontrerez à nouveau des idées similaires lors du post-test.</a:t>
            </a:r>
            <a:endParaRPr lang="fr-FR" sz="19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(1 sur 10)</a:t>
            </a:r>
            <a:endParaRPr lang="fr-FR" sz="3000" noProof="0" dirty="0"/>
          </a:p>
        </p:txBody>
      </p:sp>
      <p:sp>
        <p:nvSpPr>
          <p:cNvPr id="5" name="Shape 3"/>
          <p:cNvSpPr/>
          <p:nvPr/>
        </p:nvSpPr>
        <p:spPr>
          <a:xfrm>
            <a:off x="548640" y="2171700"/>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 La plupart des cancers du sein proviennent de quel tissu ?</a:t>
            </a:r>
            <a:endParaRPr lang="fr-FR" sz="1800" noProof="0" dirty="0"/>
          </a:p>
        </p:txBody>
      </p:sp>
      <p:sp>
        <p:nvSpPr>
          <p:cNvPr id="7" name="Text 5"/>
          <p:cNvSpPr txBox="1"/>
          <p:nvPr/>
        </p:nvSpPr>
        <p:spPr>
          <a:xfrm>
            <a:off x="731520" y="2702052"/>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Muscle de la paroi thoracique</a:t>
            </a:r>
            <a:endParaRPr lang="fr-FR" sz="1800" noProof="0" dirty="0"/>
          </a:p>
        </p:txBody>
      </p:sp>
      <p:sp>
        <p:nvSpPr>
          <p:cNvPr id="8" name="Text 6"/>
          <p:cNvSpPr txBox="1"/>
          <p:nvPr/>
        </p:nvSpPr>
        <p:spPr>
          <a:xfrm>
            <a:off x="6210148" y="2702052"/>
            <a:ext cx="5250028" cy="320040"/>
          </a:xfrm>
          <a:prstGeom prst="rect">
            <a:avLst/>
          </a:prstGeom>
          <a:noFill/>
          <a:ln/>
        </p:spPr>
        <p:txBody>
          <a:bodyPr wrap="square" lIns="0" tIns="0" rIns="0" bIns="0" rtlCol="0" anchor="t">
            <a:normAutofit fontScale="91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Cellules épithéliales tapissant les canaux et les lobules</a:t>
            </a:r>
            <a:endParaRPr lang="fr-FR" sz="1800" noProof="0" dirty="0"/>
          </a:p>
        </p:txBody>
      </p:sp>
      <p:sp>
        <p:nvSpPr>
          <p:cNvPr id="9" name="Text 7"/>
          <p:cNvSpPr txBox="1"/>
          <p:nvPr/>
        </p:nvSpPr>
        <p:spPr>
          <a:xfrm>
            <a:off x="731520" y="3076956"/>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Peau du sein</a:t>
            </a:r>
            <a:endParaRPr lang="fr-FR" sz="1800" noProof="0" dirty="0"/>
          </a:p>
        </p:txBody>
      </p:sp>
      <p:sp>
        <p:nvSpPr>
          <p:cNvPr id="10" name="Text 8"/>
          <p:cNvSpPr txBox="1"/>
          <p:nvPr/>
        </p:nvSpPr>
        <p:spPr>
          <a:xfrm>
            <a:off x="6210148" y="3076956"/>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Ganglions lymphatiques axillaires</a:t>
            </a:r>
            <a:endParaRPr lang="fr-FR" sz="1800" noProof="0" dirty="0"/>
          </a:p>
        </p:txBody>
      </p:sp>
      <p:sp>
        <p:nvSpPr>
          <p:cNvPr id="11" name="Shape 9"/>
          <p:cNvSpPr/>
          <p:nvPr/>
        </p:nvSpPr>
        <p:spPr>
          <a:xfrm>
            <a:off x="548640" y="3781044"/>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389077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Q2. Carcinome canalaire in situ signifie :</a:t>
            </a:r>
            <a:endParaRPr lang="fr-FR" sz="1800" noProof="0" dirty="0"/>
          </a:p>
        </p:txBody>
      </p:sp>
      <p:sp>
        <p:nvSpPr>
          <p:cNvPr id="13" name="Text 11"/>
          <p:cNvSpPr txBox="1"/>
          <p:nvPr/>
        </p:nvSpPr>
        <p:spPr>
          <a:xfrm>
            <a:off x="731520" y="4311396"/>
            <a:ext cx="5250028" cy="566928"/>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Cancer déjà propagé aux ganglions lymphatiques</a:t>
            </a:r>
            <a:endParaRPr lang="fr-FR" sz="1800" noProof="0" dirty="0"/>
          </a:p>
        </p:txBody>
      </p:sp>
      <p:sp>
        <p:nvSpPr>
          <p:cNvPr id="14" name="Text 12"/>
          <p:cNvSpPr txBox="1"/>
          <p:nvPr/>
        </p:nvSpPr>
        <p:spPr>
          <a:xfrm>
            <a:off x="6210148" y="4311396"/>
            <a:ext cx="5250028" cy="566928"/>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Cellules malignes anormales encore confinées dans le canal</a:t>
            </a:r>
            <a:endParaRPr lang="fr-FR"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Un kyste mammaire bénin</a:t>
            </a:r>
            <a:endParaRPr lang="fr-FR"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Une tumeur apparaissant dans l’aisselle</a:t>
            </a:r>
            <a:endParaRPr lang="fr-FR" sz="18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(2 sur 10)</a:t>
            </a:r>
            <a:endParaRPr lang="fr-FR" sz="3000" noProof="0" dirty="0"/>
          </a:p>
        </p:txBody>
      </p:sp>
      <p:sp>
        <p:nvSpPr>
          <p:cNvPr id="5" name="Shape 3"/>
          <p:cNvSpPr/>
          <p:nvPr/>
        </p:nvSpPr>
        <p:spPr>
          <a:xfrm>
            <a:off x="548640" y="2171700"/>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Q3. Une nouvelle masse mammaire indolore devrait être :</a:t>
            </a:r>
            <a:endParaRPr lang="fr-FR" sz="1800" noProof="0" dirty="0"/>
          </a:p>
        </p:txBody>
      </p:sp>
      <p:sp>
        <p:nvSpPr>
          <p:cNvPr id="7" name="Text 5"/>
          <p:cNvSpPr txBox="1"/>
          <p:nvPr/>
        </p:nvSpPr>
        <p:spPr>
          <a:xfrm>
            <a:off x="731520" y="2702052"/>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Ignorée, car le cancer est douloureux</a:t>
            </a:r>
            <a:endParaRPr lang="fr-FR" sz="1800" noProof="0" dirty="0"/>
          </a:p>
        </p:txBody>
      </p:sp>
      <p:sp>
        <p:nvSpPr>
          <p:cNvPr id="8" name="Text 6"/>
          <p:cNvSpPr txBox="1"/>
          <p:nvPr/>
        </p:nvSpPr>
        <p:spPr>
          <a:xfrm>
            <a:off x="6210148" y="2702052"/>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Évaluée cliniquement, car l’absence de douleur n’exclut pas le cancer</a:t>
            </a:r>
            <a:endParaRPr lang="fr-FR" sz="1800" noProof="0" dirty="0"/>
          </a:p>
        </p:txBody>
      </p:sp>
      <p:sp>
        <p:nvSpPr>
          <p:cNvPr id="9" name="Text 7"/>
          <p:cNvSpPr txBox="1"/>
          <p:nvPr/>
        </p:nvSpPr>
        <p:spPr>
          <a:xfrm>
            <a:off x="731520" y="332384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Traitée par antibiotiques</a:t>
            </a:r>
            <a:endParaRPr lang="fr-FR" sz="1800" noProof="0" dirty="0"/>
          </a:p>
        </p:txBody>
      </p:sp>
      <p:sp>
        <p:nvSpPr>
          <p:cNvPr id="10" name="Text 8"/>
          <p:cNvSpPr txBox="1"/>
          <p:nvPr/>
        </p:nvSpPr>
        <p:spPr>
          <a:xfrm>
            <a:off x="6210148" y="332384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Revue dans un an</a:t>
            </a:r>
            <a:endParaRPr lang="fr-FR" sz="1800" noProof="0" dirty="0"/>
          </a:p>
        </p:txBody>
      </p:sp>
      <p:sp>
        <p:nvSpPr>
          <p:cNvPr id="11" name="Shape 9"/>
          <p:cNvSpPr/>
          <p:nvPr/>
        </p:nvSpPr>
        <p:spPr>
          <a:xfrm>
            <a:off x="548640" y="4027932"/>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413766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Q4. La plupart des masses mammaires sont :</a:t>
            </a:r>
            <a:endParaRPr lang="fr-FR" sz="1800" noProof="0" dirty="0"/>
          </a:p>
        </p:txBody>
      </p:sp>
      <p:sp>
        <p:nvSpPr>
          <p:cNvPr id="13" name="Text 11"/>
          <p:cNvSpPr txBox="1"/>
          <p:nvPr/>
        </p:nvSpPr>
        <p:spPr>
          <a:xfrm>
            <a:off x="731520" y="455828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Cancer</a:t>
            </a:r>
            <a:endParaRPr lang="fr-FR" sz="1800" noProof="0" dirty="0"/>
          </a:p>
        </p:txBody>
      </p:sp>
      <p:sp>
        <p:nvSpPr>
          <p:cNvPr id="14" name="Text 12"/>
          <p:cNvSpPr txBox="1"/>
          <p:nvPr/>
        </p:nvSpPr>
        <p:spPr>
          <a:xfrm>
            <a:off x="6210148" y="4558284"/>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Bénignes, même si une évaluation reste nécessaire</a:t>
            </a:r>
            <a:endParaRPr lang="fr-FR"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Infectées</a:t>
            </a:r>
            <a:endParaRPr lang="fr-FR"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Impossible à évaluer</a:t>
            </a:r>
            <a:endParaRPr lang="fr-FR" sz="18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(3 sur 10)</a:t>
            </a:r>
            <a:endParaRPr lang="fr-FR" sz="3000" noProof="0" dirty="0"/>
          </a:p>
        </p:txBody>
      </p:sp>
      <p:sp>
        <p:nvSpPr>
          <p:cNvPr id="5" name="Shape 3"/>
          <p:cNvSpPr/>
          <p:nvPr/>
        </p:nvSpPr>
        <p:spPr>
          <a:xfrm>
            <a:off x="548640" y="2171700"/>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Q5. Une mammographie anormale signifie :</a:t>
            </a:r>
            <a:endParaRPr lang="fr-FR" sz="1800" noProof="0" dirty="0"/>
          </a:p>
        </p:txBody>
      </p:sp>
      <p:sp>
        <p:nvSpPr>
          <p:cNvPr id="7" name="Text 5"/>
          <p:cNvSpPr txBox="1"/>
          <p:nvPr/>
        </p:nvSpPr>
        <p:spPr>
          <a:xfrm>
            <a:off x="731520" y="2702052"/>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Cancer confirmé</a:t>
            </a:r>
            <a:endParaRPr lang="fr-FR" sz="1800" noProof="0" dirty="0"/>
          </a:p>
        </p:txBody>
      </p:sp>
      <p:sp>
        <p:nvSpPr>
          <p:cNvPr id="8" name="Text 6"/>
          <p:cNvSpPr txBox="1"/>
          <p:nvPr/>
        </p:nvSpPr>
        <p:spPr>
          <a:xfrm>
            <a:off x="6210148" y="2702052"/>
            <a:ext cx="5250028" cy="566928"/>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Une évaluation complémentaire est nécessaire et le cancer n'est pas encore confirmé</a:t>
            </a:r>
            <a:endParaRPr lang="fr-FR" sz="1800" noProof="0" dirty="0"/>
          </a:p>
        </p:txBody>
      </p:sp>
      <p:sp>
        <p:nvSpPr>
          <p:cNvPr id="9" name="Text 7"/>
          <p:cNvSpPr txBox="1"/>
          <p:nvPr/>
        </p:nvSpPr>
        <p:spPr>
          <a:xfrm>
            <a:off x="731520" y="332384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Aucune action n'est nécessaire</a:t>
            </a:r>
            <a:endParaRPr lang="fr-FR" sz="1800" noProof="0" dirty="0"/>
          </a:p>
        </p:txBody>
      </p:sp>
      <p:sp>
        <p:nvSpPr>
          <p:cNvPr id="10" name="Text 8"/>
          <p:cNvSpPr txBox="1"/>
          <p:nvPr/>
        </p:nvSpPr>
        <p:spPr>
          <a:xfrm>
            <a:off x="6210148" y="3323844"/>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 chirurgie doit être programmée immédiatement</a:t>
            </a:r>
            <a:endParaRPr lang="fr-FR" sz="1800" noProof="0" dirty="0"/>
          </a:p>
        </p:txBody>
      </p:sp>
      <p:sp>
        <p:nvSpPr>
          <p:cNvPr id="11" name="Shape 9"/>
          <p:cNvSpPr/>
          <p:nvPr/>
        </p:nvSpPr>
        <p:spPr>
          <a:xfrm>
            <a:off x="548640" y="4027932"/>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413766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Q6. Le cancer du sein est confirmé par :</a:t>
            </a:r>
            <a:endParaRPr lang="fr-FR" sz="1800" noProof="0" dirty="0"/>
          </a:p>
        </p:txBody>
      </p:sp>
      <p:sp>
        <p:nvSpPr>
          <p:cNvPr id="13" name="Text 11"/>
          <p:cNvSpPr txBox="1"/>
          <p:nvPr/>
        </p:nvSpPr>
        <p:spPr>
          <a:xfrm>
            <a:off x="731520" y="455828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La </a:t>
            </a:r>
            <a:r>
              <a:rPr lang="fr-FR" sz="1800" noProof="0" dirty="0">
                <a:solidFill>
                  <a:srgbClr val="1F3A63"/>
                </a:solidFill>
                <a:latin typeface="Calibri" pitchFamily="34" charset="0"/>
                <a:ea typeface="Calibri" pitchFamily="34" charset="-122"/>
                <a:cs typeface="Calibri" pitchFamily="34" charset="-120"/>
              </a:rPr>
              <a:t>mammographie seule</a:t>
            </a:r>
            <a:endParaRPr lang="fr-FR" sz="1800" noProof="0" dirty="0"/>
          </a:p>
        </p:txBody>
      </p:sp>
      <p:sp>
        <p:nvSpPr>
          <p:cNvPr id="14" name="Text 12"/>
          <p:cNvSpPr txBox="1"/>
          <p:nvPr/>
        </p:nvSpPr>
        <p:spPr>
          <a:xfrm>
            <a:off x="6210148" y="455828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L’examen clinique du sein seul</a:t>
            </a:r>
            <a:endParaRPr lang="fr-FR"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biopsie et l’histopathologie</a:t>
            </a:r>
            <a:endParaRPr lang="fr-FR"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L’échographie seule</a:t>
            </a:r>
            <a:endParaRPr lang="fr-FR" sz="18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(4 sur 10)</a:t>
            </a:r>
            <a:endParaRPr lang="fr-FR" sz="3000" noProof="0" dirty="0"/>
          </a:p>
        </p:txBody>
      </p:sp>
      <p:sp>
        <p:nvSpPr>
          <p:cNvPr id="5" name="Shape 3"/>
          <p:cNvSpPr/>
          <p:nvPr/>
        </p:nvSpPr>
        <p:spPr>
          <a:xfrm>
            <a:off x="548640" y="2295144"/>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40487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Q7. Le dépistage s'applique à :</a:t>
            </a:r>
            <a:endParaRPr lang="fr-FR" sz="1800" noProof="0" dirty="0"/>
          </a:p>
        </p:txBody>
      </p:sp>
      <p:sp>
        <p:nvSpPr>
          <p:cNvPr id="7" name="Text 5"/>
          <p:cNvSpPr txBox="1"/>
          <p:nvPr/>
        </p:nvSpPr>
        <p:spPr>
          <a:xfrm>
            <a:off x="731520" y="2825496"/>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Aux personnes qui ont une boule dans le sein</a:t>
            </a:r>
            <a:endParaRPr lang="fr-FR" sz="1800" noProof="0" dirty="0"/>
          </a:p>
        </p:txBody>
      </p:sp>
      <p:sp>
        <p:nvSpPr>
          <p:cNvPr id="8" name="Text 6"/>
          <p:cNvSpPr txBox="1"/>
          <p:nvPr/>
        </p:nvSpPr>
        <p:spPr>
          <a:xfrm>
            <a:off x="6210148" y="2825496"/>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Aux personnes qui n’ont aucun symptôme mammaire</a:t>
            </a:r>
            <a:endParaRPr lang="fr-FR"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Aux personnes déjà diagnostiquées</a:t>
            </a:r>
            <a:endParaRPr lang="fr-FR"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Aux personnes en attente d’une opération</a:t>
            </a:r>
            <a:endParaRPr lang="fr-FR" sz="1800" noProof="0" dirty="0"/>
          </a:p>
        </p:txBody>
      </p:sp>
      <p:sp>
        <p:nvSpPr>
          <p:cNvPr id="11" name="Shape 9"/>
          <p:cNvSpPr/>
          <p:nvPr/>
        </p:nvSpPr>
        <p:spPr>
          <a:xfrm>
            <a:off x="548640" y="3904488"/>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Q8. Lequel est un facteur de risque établi du cancer du sein ?</a:t>
            </a:r>
            <a:endParaRPr lang="fr-FR" sz="1800" noProof="0" dirty="0"/>
          </a:p>
        </p:txBody>
      </p:sp>
      <p:sp>
        <p:nvSpPr>
          <p:cNvPr id="13" name="Text 11"/>
          <p:cNvSpPr txBox="1"/>
          <p:nvPr/>
        </p:nvSpPr>
        <p:spPr>
          <a:xfrm>
            <a:off x="731520" y="443484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L’avancée en âge</a:t>
            </a:r>
            <a:endParaRPr lang="fr-FR" sz="1800" noProof="0" dirty="0"/>
          </a:p>
        </p:txBody>
      </p:sp>
      <p:sp>
        <p:nvSpPr>
          <p:cNvPr id="14" name="Text 12"/>
          <p:cNvSpPr txBox="1"/>
          <p:nvPr/>
        </p:nvSpPr>
        <p:spPr>
          <a:xfrm>
            <a:off x="6210148" y="443484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Le port de vêtements serrés</a:t>
            </a:r>
            <a:endParaRPr lang="fr-FR" sz="1800" noProof="0" dirty="0"/>
          </a:p>
        </p:txBody>
      </p:sp>
      <p:sp>
        <p:nvSpPr>
          <p:cNvPr id="15" name="Text 13"/>
          <p:cNvSpPr txBox="1"/>
          <p:nvPr/>
        </p:nvSpPr>
        <p:spPr>
          <a:xfrm>
            <a:off x="731520" y="480974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Un coup ou une blessure au sein</a:t>
            </a:r>
            <a:endParaRPr lang="fr-FR" sz="1800" noProof="0" dirty="0"/>
          </a:p>
        </p:txBody>
      </p:sp>
      <p:sp>
        <p:nvSpPr>
          <p:cNvPr id="16" name="Text 14"/>
          <p:cNvSpPr txBox="1"/>
          <p:nvPr/>
        </p:nvSpPr>
        <p:spPr>
          <a:xfrm>
            <a:off x="6210148" y="480974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Être gaucher</a:t>
            </a:r>
            <a:endParaRPr lang="fr-FR" sz="18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(5 sur 10)</a:t>
            </a:r>
            <a:endParaRPr lang="fr-FR" sz="3000" noProof="0" dirty="0"/>
          </a:p>
        </p:txBody>
      </p:sp>
      <p:sp>
        <p:nvSpPr>
          <p:cNvPr id="5" name="Shape 3"/>
          <p:cNvSpPr/>
          <p:nvPr/>
        </p:nvSpPr>
        <p:spPr>
          <a:xfrm>
            <a:off x="548640" y="2171700"/>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Q9. Une femme sans antécédents familiaux de cancer du sein :</a:t>
            </a:r>
            <a:endParaRPr lang="fr-FR" sz="1800" noProof="0" dirty="0"/>
          </a:p>
        </p:txBody>
      </p:sp>
      <p:sp>
        <p:nvSpPr>
          <p:cNvPr id="7" name="Text 5"/>
          <p:cNvSpPr txBox="1"/>
          <p:nvPr/>
        </p:nvSpPr>
        <p:spPr>
          <a:xfrm>
            <a:off x="731520" y="2702052"/>
            <a:ext cx="5250028" cy="320040"/>
          </a:xfrm>
          <a:prstGeom prst="rect">
            <a:avLst/>
          </a:prstGeom>
          <a:noFill/>
          <a:ln/>
        </p:spPr>
        <p:txBody>
          <a:bodyPr wrap="square" lIns="0" tIns="0" rIns="0" bIns="0" rtlCol="0" anchor="t">
            <a:normAutofit fontScale="9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Ne peut pas développer un cancer du sein</a:t>
            </a:r>
            <a:endParaRPr lang="fr-FR" sz="1800" noProof="0" dirty="0"/>
          </a:p>
        </p:txBody>
      </p:sp>
      <p:sp>
        <p:nvSpPr>
          <p:cNvPr id="8" name="Text 6"/>
          <p:cNvSpPr txBox="1"/>
          <p:nvPr/>
        </p:nvSpPr>
        <p:spPr>
          <a:xfrm>
            <a:off x="6210148" y="2702052"/>
            <a:ext cx="5250028" cy="320040"/>
          </a:xfrm>
          <a:prstGeom prst="rect">
            <a:avLst/>
          </a:prstGeom>
          <a:noFill/>
          <a:ln/>
        </p:spPr>
        <p:txBody>
          <a:bodyPr wrap="square" lIns="0" tIns="0" rIns="0" bIns="0" rtlCol="0" anchor="t">
            <a:normAutofit fontScale="9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Peut quand même développer un cancer du sein</a:t>
            </a:r>
            <a:endParaRPr lang="fr-FR" sz="1800" noProof="0" dirty="0"/>
          </a:p>
        </p:txBody>
      </p:sp>
      <p:sp>
        <p:nvSpPr>
          <p:cNvPr id="9" name="Text 7"/>
          <p:cNvSpPr txBox="1"/>
          <p:nvPr/>
        </p:nvSpPr>
        <p:spPr>
          <a:xfrm>
            <a:off x="731520" y="3076956"/>
            <a:ext cx="5250028" cy="320040"/>
          </a:xfrm>
          <a:prstGeom prst="rect">
            <a:avLst/>
          </a:prstGeom>
          <a:noFill/>
          <a:ln/>
        </p:spPr>
        <p:txBody>
          <a:bodyPr wrap="square" lIns="0" tIns="0" rIns="0" bIns="0" rtlCol="0" anchor="t">
            <a:normAutofit fontScale="9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N’a pas besoin d’évaluation en cas de nouvelle boule</a:t>
            </a:r>
            <a:endParaRPr lang="fr-FR" sz="1800" noProof="0" dirty="0"/>
          </a:p>
        </p:txBody>
      </p:sp>
      <p:sp>
        <p:nvSpPr>
          <p:cNvPr id="10" name="Text 8"/>
          <p:cNvSpPr txBox="1"/>
          <p:nvPr/>
        </p:nvSpPr>
        <p:spPr>
          <a:xfrm>
            <a:off x="6210148" y="3076956"/>
            <a:ext cx="5250028" cy="320040"/>
          </a:xfrm>
          <a:prstGeom prst="rect">
            <a:avLst/>
          </a:prstGeom>
          <a:noFill/>
          <a:ln/>
        </p:spPr>
        <p:txBody>
          <a:bodyPr wrap="square" lIns="0" tIns="0" rIns="0" bIns="0" rtlCol="0" anchor="t">
            <a:normAutofit fontScale="9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N’a aucun risque, quel que soit l’âge</a:t>
            </a:r>
            <a:endParaRPr lang="fr-FR" sz="1800" noProof="0" dirty="0"/>
          </a:p>
        </p:txBody>
      </p:sp>
      <p:sp>
        <p:nvSpPr>
          <p:cNvPr id="11" name="Shape 9"/>
          <p:cNvSpPr/>
          <p:nvPr/>
        </p:nvSpPr>
        <p:spPr>
          <a:xfrm>
            <a:off x="548640" y="3781044"/>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389077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Q10. La « peau d'orange » désigne :</a:t>
            </a:r>
            <a:endParaRPr lang="fr-FR" sz="1800" noProof="0" dirty="0"/>
          </a:p>
        </p:txBody>
      </p:sp>
      <p:sp>
        <p:nvSpPr>
          <p:cNvPr id="13" name="Text 11"/>
          <p:cNvSpPr txBox="1"/>
          <p:nvPr/>
        </p:nvSpPr>
        <p:spPr>
          <a:xfrm>
            <a:off x="731520" y="4311396"/>
            <a:ext cx="5250028" cy="566928"/>
          </a:xfrm>
          <a:prstGeom prst="rect">
            <a:avLst/>
          </a:prstGeom>
          <a:noFill/>
          <a:ln/>
        </p:spPr>
        <p:txBody>
          <a:bodyPr wrap="square" lIns="0" tIns="0" rIns="0" bIns="0" rtlCol="0" anchor="t">
            <a:normAutofit fontScale="9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5B7699"/>
                </a:solidFill>
                <a:latin typeface="Calibri" pitchFamily="34" charset="0"/>
                <a:ea typeface="Calibri" pitchFamily="34" charset="-122"/>
                <a:cs typeface="Calibri" pitchFamily="34" charset="-120"/>
              </a:rPr>
              <a:t>Un aspect normal du sein</a:t>
            </a:r>
            <a:endParaRPr lang="fr-FR" sz="1800" noProof="0" dirty="0"/>
          </a:p>
        </p:txBody>
      </p:sp>
      <p:sp>
        <p:nvSpPr>
          <p:cNvPr id="14" name="Text 12"/>
          <p:cNvSpPr txBox="1"/>
          <p:nvPr/>
        </p:nvSpPr>
        <p:spPr>
          <a:xfrm>
            <a:off x="6210148" y="4311396"/>
            <a:ext cx="5250028" cy="566928"/>
          </a:xfrm>
          <a:prstGeom prst="rect">
            <a:avLst/>
          </a:prstGeom>
          <a:noFill/>
          <a:ln/>
        </p:spPr>
        <p:txBody>
          <a:bodyPr wrap="square" lIns="0" tIns="0" rIns="0" bIns="0" rtlCol="0" anchor="t">
            <a:normAutofit fontScale="9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Une peau du sein épaissie et capitonnée, qui ressemble à une écorce d’orange</a:t>
            </a:r>
            <a:endParaRPr lang="fr-FR"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normAutofit fontScale="9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Un simple kyste mammaire</a:t>
            </a:r>
            <a:endParaRPr lang="fr-FR"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normAutofit fontScale="9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5B7699"/>
                </a:solidFill>
                <a:latin typeface="Calibri" pitchFamily="34" charset="0"/>
                <a:ea typeface="Calibri" pitchFamily="34" charset="-122"/>
                <a:cs typeface="Calibri" pitchFamily="34" charset="-120"/>
              </a:rPr>
              <a:t>Écoulement mamelonnaire laiteux</a:t>
            </a:r>
            <a:endParaRPr lang="fr-FR" sz="18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(6 sur 10)</a:t>
            </a:r>
            <a:endParaRPr lang="fr-FR" sz="3000" noProof="0" dirty="0"/>
          </a:p>
        </p:txBody>
      </p:sp>
      <p:sp>
        <p:nvSpPr>
          <p:cNvPr id="5" name="Shape 3"/>
          <p:cNvSpPr/>
          <p:nvPr/>
        </p:nvSpPr>
        <p:spPr>
          <a:xfrm>
            <a:off x="548640" y="2048256"/>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157984"/>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Q11. Le cancer du sein chez l'homme est :</a:t>
            </a:r>
            <a:endParaRPr lang="fr-FR" sz="1800" noProof="0" dirty="0"/>
          </a:p>
        </p:txBody>
      </p:sp>
      <p:sp>
        <p:nvSpPr>
          <p:cNvPr id="7" name="Text 5"/>
          <p:cNvSpPr txBox="1"/>
          <p:nvPr/>
        </p:nvSpPr>
        <p:spPr>
          <a:xfrm>
            <a:off x="731520" y="2578608"/>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Biologiquement impossible</a:t>
            </a:r>
            <a:endParaRPr lang="fr-FR" sz="1800" noProof="0" dirty="0"/>
          </a:p>
        </p:txBody>
      </p:sp>
      <p:sp>
        <p:nvSpPr>
          <p:cNvPr id="8" name="Text 6"/>
          <p:cNvSpPr txBox="1"/>
          <p:nvPr/>
        </p:nvSpPr>
        <p:spPr>
          <a:xfrm>
            <a:off x="6210148" y="2578608"/>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Rare mais possible, et toute anomalie suspecte doit être évaluée</a:t>
            </a:r>
            <a:endParaRPr lang="fr-FR"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Plus fréquent que chez les femmes</a:t>
            </a:r>
            <a:endParaRPr lang="fr-FR"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Jamais traité</a:t>
            </a:r>
            <a:endParaRPr lang="fr-FR" sz="1800" noProof="0" dirty="0"/>
          </a:p>
        </p:txBody>
      </p:sp>
      <p:sp>
        <p:nvSpPr>
          <p:cNvPr id="11" name="Shape 9"/>
          <p:cNvSpPr/>
          <p:nvPr/>
        </p:nvSpPr>
        <p:spPr>
          <a:xfrm>
            <a:off x="548640" y="3904488"/>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Q12. Le grade décrit :</a:t>
            </a:r>
            <a:endParaRPr lang="fr-FR" sz="1800" noProof="0" dirty="0"/>
          </a:p>
        </p:txBody>
      </p:sp>
      <p:sp>
        <p:nvSpPr>
          <p:cNvPr id="13" name="Text 11"/>
          <p:cNvSpPr txBox="1"/>
          <p:nvPr/>
        </p:nvSpPr>
        <p:spPr>
          <a:xfrm>
            <a:off x="731520" y="4434840"/>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L’étendue de la propagation du cancer</a:t>
            </a:r>
            <a:endParaRPr lang="fr-FR" sz="1800" noProof="0" dirty="0"/>
          </a:p>
        </p:txBody>
      </p:sp>
      <p:sp>
        <p:nvSpPr>
          <p:cNvPr id="14" name="Text 12"/>
          <p:cNvSpPr txBox="1"/>
          <p:nvPr/>
        </p:nvSpPr>
        <p:spPr>
          <a:xfrm>
            <a:off x="6210148" y="4434840"/>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À quel point les cellules paraissent anormales au microscope</a:t>
            </a:r>
            <a:endParaRPr lang="fr-FR" sz="1800" noProof="0" dirty="0"/>
          </a:p>
        </p:txBody>
      </p:sp>
      <p:sp>
        <p:nvSpPr>
          <p:cNvPr id="15" name="Text 13"/>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Le score d'imagerie</a:t>
            </a:r>
            <a:endParaRPr lang="fr-FR" sz="1800" noProof="0" dirty="0"/>
          </a:p>
        </p:txBody>
      </p:sp>
      <p:sp>
        <p:nvSpPr>
          <p:cNvPr id="16" name="Text 14"/>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 traitement choisi</a:t>
            </a:r>
            <a:endParaRPr lang="fr-FR" sz="1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(7 sur 10)</a:t>
            </a:r>
            <a:endParaRPr lang="fr-FR" sz="3000" noProof="0" dirty="0"/>
          </a:p>
        </p:txBody>
      </p:sp>
      <p:sp>
        <p:nvSpPr>
          <p:cNvPr id="5" name="Shape 3"/>
          <p:cNvSpPr/>
          <p:nvPr/>
        </p:nvSpPr>
        <p:spPr>
          <a:xfrm>
            <a:off x="548640" y="2171700"/>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Q13. Dans la classification TNM, la lettre N décrit :</a:t>
            </a:r>
            <a:endParaRPr lang="fr-FR" sz="1800" noProof="0" dirty="0"/>
          </a:p>
        </p:txBody>
      </p:sp>
      <p:sp>
        <p:nvSpPr>
          <p:cNvPr id="7" name="Text 5"/>
          <p:cNvSpPr txBox="1"/>
          <p:nvPr/>
        </p:nvSpPr>
        <p:spPr>
          <a:xfrm>
            <a:off x="731520" y="270205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La taille de la tumeur</a:t>
            </a:r>
            <a:endParaRPr lang="fr-FR" sz="1800" noProof="0" dirty="0"/>
          </a:p>
        </p:txBody>
      </p:sp>
      <p:sp>
        <p:nvSpPr>
          <p:cNvPr id="8" name="Text 6"/>
          <p:cNvSpPr txBox="1"/>
          <p:nvPr/>
        </p:nvSpPr>
        <p:spPr>
          <a:xfrm>
            <a:off x="6210148" y="2702052"/>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L’atteinte des ganglions lymphatiques régionaux</a:t>
            </a:r>
            <a:endParaRPr lang="fr-FR" sz="1800" noProof="0" dirty="0"/>
          </a:p>
        </p:txBody>
      </p:sp>
      <p:sp>
        <p:nvSpPr>
          <p:cNvPr id="9" name="Text 7"/>
          <p:cNvSpPr txBox="1"/>
          <p:nvPr/>
        </p:nvSpPr>
        <p:spPr>
          <a:xfrm>
            <a:off x="731520" y="307695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propagation à distance</a:t>
            </a:r>
            <a:endParaRPr lang="fr-FR" sz="1800" noProof="0" dirty="0"/>
          </a:p>
        </p:txBody>
      </p:sp>
      <p:sp>
        <p:nvSpPr>
          <p:cNvPr id="10" name="Text 8"/>
          <p:cNvSpPr txBox="1"/>
          <p:nvPr/>
        </p:nvSpPr>
        <p:spPr>
          <a:xfrm>
            <a:off x="6210148" y="307695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L’aspect des cellules</a:t>
            </a:r>
            <a:endParaRPr lang="fr-FR" sz="1800" noProof="0" dirty="0"/>
          </a:p>
        </p:txBody>
      </p:sp>
      <p:sp>
        <p:nvSpPr>
          <p:cNvPr id="11" name="Shape 9"/>
          <p:cNvSpPr/>
          <p:nvPr/>
        </p:nvSpPr>
        <p:spPr>
          <a:xfrm>
            <a:off x="548640" y="3781044"/>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389077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Q14. La recherche des récepteurs aux œstrogènes dans le tissu tumoral aide à :</a:t>
            </a:r>
            <a:endParaRPr lang="fr-FR" sz="1800" noProof="0" dirty="0"/>
          </a:p>
        </p:txBody>
      </p:sp>
      <p:sp>
        <p:nvSpPr>
          <p:cNvPr id="13" name="Text 11"/>
          <p:cNvSpPr txBox="1"/>
          <p:nvPr/>
        </p:nvSpPr>
        <p:spPr>
          <a:xfrm>
            <a:off x="731520" y="431139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Confirmer la présence d’un cancer</a:t>
            </a:r>
            <a:endParaRPr lang="fr-FR" sz="1800" noProof="0" dirty="0"/>
          </a:p>
        </p:txBody>
      </p:sp>
      <p:sp>
        <p:nvSpPr>
          <p:cNvPr id="14" name="Text 12"/>
          <p:cNvSpPr txBox="1"/>
          <p:nvPr/>
        </p:nvSpPr>
        <p:spPr>
          <a:xfrm>
            <a:off x="6210148" y="431139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Savoir si une hormonothérapie a des chances d’être utile</a:t>
            </a:r>
            <a:endParaRPr lang="fr-FR"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Mesurer la taille de la tumeur</a:t>
            </a:r>
            <a:endParaRPr lang="fr-FR"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Remplacer la stadification</a:t>
            </a:r>
            <a:endParaRPr lang="fr-FR" sz="18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(8 sur 10)</a:t>
            </a:r>
            <a:endParaRPr lang="fr-FR" sz="3000" noProof="0" dirty="0"/>
          </a:p>
        </p:txBody>
      </p:sp>
      <p:sp>
        <p:nvSpPr>
          <p:cNvPr id="5" name="Shape 3"/>
          <p:cNvSpPr/>
          <p:nvPr/>
        </p:nvSpPr>
        <p:spPr>
          <a:xfrm>
            <a:off x="548640" y="2048256"/>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157984"/>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Q15. Le cancer du sein triple négatif se caractérise par l’absence de :</a:t>
            </a:r>
            <a:endParaRPr lang="fr-FR" sz="1800" noProof="0" dirty="0"/>
          </a:p>
        </p:txBody>
      </p:sp>
      <p:sp>
        <p:nvSpPr>
          <p:cNvPr id="7" name="Text 5"/>
          <p:cNvSpPr txBox="1"/>
          <p:nvPr/>
        </p:nvSpPr>
        <p:spPr>
          <a:xfrm>
            <a:off x="731520" y="2578608"/>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Toute possibilité de traitement</a:t>
            </a:r>
            <a:endParaRPr lang="fr-FR" sz="1800" noProof="0" dirty="0"/>
          </a:p>
        </p:txBody>
      </p:sp>
      <p:sp>
        <p:nvSpPr>
          <p:cNvPr id="8" name="Text 6"/>
          <p:cNvSpPr txBox="1"/>
          <p:nvPr/>
        </p:nvSpPr>
        <p:spPr>
          <a:xfrm>
            <a:off x="6210148" y="2578608"/>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Récepteurs aux œstrogènes, récepteurs à la progestérone et surexpression de HER2</a:t>
            </a:r>
            <a:endParaRPr lang="fr-FR"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capacité de se propager</a:t>
            </a:r>
            <a:endParaRPr lang="fr-FR"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Un diagnostic tissulaire</a:t>
            </a:r>
            <a:endParaRPr lang="fr-FR" sz="1800" noProof="0" dirty="0"/>
          </a:p>
        </p:txBody>
      </p:sp>
      <p:sp>
        <p:nvSpPr>
          <p:cNvPr id="11" name="Shape 9"/>
          <p:cNvSpPr/>
          <p:nvPr/>
        </p:nvSpPr>
        <p:spPr>
          <a:xfrm>
            <a:off x="548640" y="3904488"/>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Q16. Une </a:t>
            </a:r>
            <a:r>
              <a:rPr lang="fr-FR" sz="1800" b="1" noProof="0" dirty="0" err="1">
                <a:solidFill>
                  <a:srgbClr val="12315B"/>
                </a:solidFill>
                <a:latin typeface="Calibri" pitchFamily="34" charset="0"/>
                <a:ea typeface="Calibri" pitchFamily="34" charset="-122"/>
                <a:cs typeface="Calibri" pitchFamily="34" charset="-120"/>
              </a:rPr>
              <a:t>microbiopsie</a:t>
            </a:r>
            <a:r>
              <a:rPr lang="fr-FR" sz="1800" b="1" noProof="0" dirty="0">
                <a:solidFill>
                  <a:srgbClr val="12315B"/>
                </a:solidFill>
                <a:latin typeface="Calibri" pitchFamily="34" charset="0"/>
                <a:ea typeface="Calibri" pitchFamily="34" charset="-122"/>
                <a:cs typeface="Calibri" pitchFamily="34" charset="-120"/>
              </a:rPr>
              <a:t> (biopsie au trocart) :</a:t>
            </a:r>
            <a:endParaRPr lang="fr-FR" sz="1800" noProof="0" dirty="0"/>
          </a:p>
        </p:txBody>
      </p:sp>
      <p:sp>
        <p:nvSpPr>
          <p:cNvPr id="13" name="Text 11"/>
          <p:cNvSpPr txBox="1"/>
          <p:nvPr/>
        </p:nvSpPr>
        <p:spPr>
          <a:xfrm>
            <a:off x="731520" y="4434840"/>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Propage le cancer dans le corps</a:t>
            </a:r>
            <a:endParaRPr lang="fr-FR" sz="1800" noProof="0" dirty="0"/>
          </a:p>
        </p:txBody>
      </p:sp>
      <p:sp>
        <p:nvSpPr>
          <p:cNvPr id="14" name="Text 12"/>
          <p:cNvSpPr txBox="1"/>
          <p:nvPr/>
        </p:nvSpPr>
        <p:spPr>
          <a:xfrm>
            <a:off x="6210148" y="4434840"/>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Prélève du tissu pour que l’anatomopathologie pose un diagnostic</a:t>
            </a:r>
            <a:endParaRPr lang="fr-FR" sz="1800" noProof="0" dirty="0"/>
          </a:p>
        </p:txBody>
      </p:sp>
      <p:sp>
        <p:nvSpPr>
          <p:cNvPr id="15" name="Text 13"/>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Remplace la chirurgie chez toutes les patientes</a:t>
            </a:r>
            <a:endParaRPr lang="fr-FR" sz="1800" noProof="0" dirty="0"/>
          </a:p>
        </p:txBody>
      </p:sp>
      <p:sp>
        <p:nvSpPr>
          <p:cNvPr id="16" name="Text 14"/>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N’est jamais nécessaire</a:t>
            </a:r>
            <a:endParaRPr lang="fr-FR" sz="1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(9 sur 10)</a:t>
            </a:r>
            <a:endParaRPr lang="fr-FR" sz="3000" noProof="0" dirty="0"/>
          </a:p>
        </p:txBody>
      </p:sp>
      <p:sp>
        <p:nvSpPr>
          <p:cNvPr id="5" name="Shape 3"/>
          <p:cNvSpPr/>
          <p:nvPr/>
        </p:nvSpPr>
        <p:spPr>
          <a:xfrm>
            <a:off x="548640" y="2048256"/>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157984"/>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Q17. Une rougeur, un gonflement et un épaississement cutané rapides du sein doivent être :</a:t>
            </a:r>
            <a:endParaRPr lang="fr-FR" sz="1800" noProof="0" dirty="0"/>
          </a:p>
        </p:txBody>
      </p:sp>
      <p:sp>
        <p:nvSpPr>
          <p:cNvPr id="7" name="Text 5"/>
          <p:cNvSpPr txBox="1"/>
          <p:nvPr/>
        </p:nvSpPr>
        <p:spPr>
          <a:xfrm>
            <a:off x="731520" y="2578608"/>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Traités par antibiotiques seuls, sans contrôle</a:t>
            </a:r>
            <a:endParaRPr lang="fr-FR" sz="1800" noProof="0" dirty="0"/>
          </a:p>
        </p:txBody>
      </p:sp>
      <p:sp>
        <p:nvSpPr>
          <p:cNvPr id="8" name="Text 6"/>
          <p:cNvSpPr txBox="1"/>
          <p:nvPr/>
        </p:nvSpPr>
        <p:spPr>
          <a:xfrm>
            <a:off x="6210148" y="2578608"/>
            <a:ext cx="5250028" cy="566928"/>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Évalués rapidement, car un cancer inflammatoire du sein peut se présenter ainsi</a:t>
            </a:r>
            <a:endParaRPr lang="fr-FR"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Ignorés s’il n’y a pas de boule</a:t>
            </a:r>
            <a:endParaRPr lang="fr-FR"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Revus dans six mois</a:t>
            </a:r>
            <a:endParaRPr lang="fr-FR" sz="1800" noProof="0" dirty="0"/>
          </a:p>
        </p:txBody>
      </p:sp>
      <p:sp>
        <p:nvSpPr>
          <p:cNvPr id="11" name="Shape 9"/>
          <p:cNvSpPr/>
          <p:nvPr/>
        </p:nvSpPr>
        <p:spPr>
          <a:xfrm>
            <a:off x="548640" y="3904488"/>
            <a:ext cx="11094415" cy="1655064"/>
          </a:xfrm>
          <a:prstGeom prst="roundRect">
            <a:avLst>
              <a:gd name="adj" fmla="val 331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Q18. La chirurgie du cancer du sein :</a:t>
            </a:r>
            <a:endParaRPr lang="fr-FR" sz="1800" noProof="0" dirty="0"/>
          </a:p>
        </p:txBody>
      </p:sp>
      <p:sp>
        <p:nvSpPr>
          <p:cNvPr id="13" name="Text 11"/>
          <p:cNvSpPr txBox="1"/>
          <p:nvPr/>
        </p:nvSpPr>
        <p:spPr>
          <a:xfrm>
            <a:off x="731520" y="4434840"/>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Signifie toujours l’ablation de tout le sein</a:t>
            </a:r>
            <a:endParaRPr lang="fr-FR" sz="1800" noProof="0" dirty="0"/>
          </a:p>
        </p:txBody>
      </p:sp>
      <p:sp>
        <p:nvSpPr>
          <p:cNvPr id="14" name="Text 12"/>
          <p:cNvSpPr txBox="1"/>
          <p:nvPr/>
        </p:nvSpPr>
        <p:spPr>
          <a:xfrm>
            <a:off x="6210148" y="4434840"/>
            <a:ext cx="5250028" cy="566928"/>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Peut être une chirurgie conservatrice mammaire ou une mastectomie, selon la situation</a:t>
            </a:r>
            <a:endParaRPr lang="fr-FR" sz="1800" noProof="0" dirty="0"/>
          </a:p>
        </p:txBody>
      </p:sp>
      <p:sp>
        <p:nvSpPr>
          <p:cNvPr id="15" name="Text 13"/>
          <p:cNvSpPr txBox="1"/>
          <p:nvPr/>
        </p:nvSpPr>
        <p:spPr>
          <a:xfrm>
            <a:off x="731520" y="5056632"/>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Ne concerne jamais les ganglions lymphatiques</a:t>
            </a:r>
            <a:endParaRPr lang="fr-FR" sz="1800" noProof="0" dirty="0"/>
          </a:p>
        </p:txBody>
      </p:sp>
      <p:sp>
        <p:nvSpPr>
          <p:cNvPr id="16" name="Text 14"/>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Est le seul traitement utilisé</a:t>
            </a:r>
            <a:endParaRPr lang="fr-FR" sz="1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INITIALE</a:t>
            </a: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Pré-test (10 sur 10)</a:t>
            </a:r>
            <a:endParaRPr lang="fr-FR" sz="3000" noProof="0" dirty="0"/>
          </a:p>
        </p:txBody>
      </p:sp>
      <p:sp>
        <p:nvSpPr>
          <p:cNvPr id="5" name="Shape 3"/>
          <p:cNvSpPr/>
          <p:nvPr/>
        </p:nvSpPr>
        <p:spPr>
          <a:xfrm>
            <a:off x="548640" y="2295144"/>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40487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Q19. Un nouveau gonflement du bras après un traitement du cancer du sein :</a:t>
            </a:r>
            <a:endParaRPr lang="fr-FR" sz="1800" noProof="0" dirty="0"/>
          </a:p>
        </p:txBody>
      </p:sp>
      <p:sp>
        <p:nvSpPr>
          <p:cNvPr id="7" name="Text 5"/>
          <p:cNvSpPr txBox="1"/>
          <p:nvPr/>
        </p:nvSpPr>
        <p:spPr>
          <a:xfrm>
            <a:off x="731520" y="2825496"/>
            <a:ext cx="5250028" cy="320040"/>
          </a:xfrm>
          <a:prstGeom prst="rect">
            <a:avLst/>
          </a:prstGeom>
          <a:noFill/>
          <a:ln/>
        </p:spPr>
        <p:txBody>
          <a:bodyPr wrap="square" lIns="0" tIns="0" rIns="0" bIns="0" rtlCol="0" anchor="t">
            <a:normAutofit fontScale="97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Est toujours permanent et incurable</a:t>
            </a:r>
            <a:endParaRPr lang="fr-FR" sz="1800" noProof="0" dirty="0"/>
          </a:p>
        </p:txBody>
      </p:sp>
      <p:sp>
        <p:nvSpPr>
          <p:cNvPr id="8" name="Text 6"/>
          <p:cNvSpPr txBox="1"/>
          <p:nvPr/>
        </p:nvSpPr>
        <p:spPr>
          <a:xfrm>
            <a:off x="6210148" y="2825496"/>
            <a:ext cx="5250028" cy="320040"/>
          </a:xfrm>
          <a:prstGeom prst="rect">
            <a:avLst/>
          </a:prstGeom>
          <a:noFill/>
          <a:ln/>
        </p:spPr>
        <p:txBody>
          <a:bodyPr wrap="square" lIns="0" tIns="0" rIns="0" bIns="0" rtlCol="0" anchor="t">
            <a:normAutofit fontScale="97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Peut être un lymphœdème et doit être évalué</a:t>
            </a:r>
            <a:endParaRPr lang="fr-FR"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normAutofit fontScale="97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Ne doit pas être signalé</a:t>
            </a:r>
            <a:endParaRPr lang="fr-FR"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normAutofit fontScale="97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Signifie toujours que le cancer est revenu</a:t>
            </a:r>
            <a:endParaRPr lang="fr-FR" sz="1800" noProof="0" dirty="0"/>
          </a:p>
        </p:txBody>
      </p:sp>
      <p:sp>
        <p:nvSpPr>
          <p:cNvPr id="11" name="Shape 9"/>
          <p:cNvSpPr/>
          <p:nvPr/>
        </p:nvSpPr>
        <p:spPr>
          <a:xfrm>
            <a:off x="548640" y="3904488"/>
            <a:ext cx="11094415" cy="1408176"/>
          </a:xfrm>
          <a:prstGeom prst="roundRect">
            <a:avLst>
              <a:gd name="adj" fmla="val 389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Q20. Au Rwanda, selon les estimations 2024, le cancer du sein est :</a:t>
            </a:r>
            <a:endParaRPr lang="fr-FR" sz="1800" noProof="0" dirty="0"/>
          </a:p>
        </p:txBody>
      </p:sp>
      <p:sp>
        <p:nvSpPr>
          <p:cNvPr id="13" name="Text 11"/>
          <p:cNvSpPr txBox="1"/>
          <p:nvPr/>
        </p:nvSpPr>
        <p:spPr>
          <a:xfrm>
            <a:off x="731520" y="4434840"/>
            <a:ext cx="5250028" cy="320040"/>
          </a:xfrm>
          <a:prstGeom prst="rect">
            <a:avLst/>
          </a:prstGeom>
          <a:noFill/>
          <a:ln/>
        </p:spPr>
        <p:txBody>
          <a:bodyPr wrap="square" lIns="0" tIns="0" rIns="0" bIns="0" rtlCol="0" anchor="t">
            <a:normAutofit fontScale="97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Pas du tout recensé</a:t>
            </a:r>
            <a:endParaRPr lang="fr-FR" sz="1800" noProof="0" dirty="0"/>
          </a:p>
        </p:txBody>
      </p:sp>
      <p:sp>
        <p:nvSpPr>
          <p:cNvPr id="14" name="Text 12"/>
          <p:cNvSpPr txBox="1"/>
          <p:nvPr/>
        </p:nvSpPr>
        <p:spPr>
          <a:xfrm>
            <a:off x="6210148" y="4434840"/>
            <a:ext cx="5250028" cy="320040"/>
          </a:xfrm>
          <a:prstGeom prst="rect">
            <a:avLst/>
          </a:prstGeom>
          <a:noFill/>
          <a:ln/>
        </p:spPr>
        <p:txBody>
          <a:bodyPr wrap="square" lIns="0" tIns="0" rIns="0" bIns="0" rtlCol="0" anchor="t">
            <a:normAutofit fontScale="90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Le cancer le plus fréquemment diagnostiqué chez la femme</a:t>
            </a:r>
            <a:endParaRPr lang="fr-FR" sz="1800" noProof="0" dirty="0"/>
          </a:p>
        </p:txBody>
      </p:sp>
      <p:sp>
        <p:nvSpPr>
          <p:cNvPr id="15" name="Text 13"/>
          <p:cNvSpPr txBox="1"/>
          <p:nvPr/>
        </p:nvSpPr>
        <p:spPr>
          <a:xfrm>
            <a:off x="731520" y="4809744"/>
            <a:ext cx="5250028" cy="320040"/>
          </a:xfrm>
          <a:prstGeom prst="rect">
            <a:avLst/>
          </a:prstGeom>
          <a:noFill/>
          <a:ln/>
        </p:spPr>
        <p:txBody>
          <a:bodyPr wrap="square" lIns="0" tIns="0" rIns="0" bIns="0" rtlCol="0" anchor="t">
            <a:normAutofit fontScale="97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Le cancer le plus rare</a:t>
            </a:r>
            <a:endParaRPr lang="fr-FR" sz="1800" noProof="0" dirty="0"/>
          </a:p>
        </p:txBody>
      </p:sp>
      <p:sp>
        <p:nvSpPr>
          <p:cNvPr id="16" name="Text 14"/>
          <p:cNvSpPr txBox="1"/>
          <p:nvPr/>
        </p:nvSpPr>
        <p:spPr>
          <a:xfrm>
            <a:off x="6210148" y="4809744"/>
            <a:ext cx="5250028" cy="320040"/>
          </a:xfrm>
          <a:prstGeom prst="rect">
            <a:avLst/>
          </a:prstGeom>
          <a:noFill/>
          <a:ln/>
        </p:spPr>
        <p:txBody>
          <a:bodyPr wrap="square" lIns="0" tIns="0" rIns="0" bIns="0" rtlCol="0" anchor="t">
            <a:normAutofit fontScale="97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Diagnostiqué uniquement à l'étranger</a:t>
            </a:r>
            <a:endParaRPr lang="fr-FR" sz="18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noAutofit/>
          </a:bodyPr>
          <a:lstStyle/>
          <a:p>
            <a:pPr marL="0" indent="0">
              <a:buNone/>
            </a:pPr>
            <a:r>
              <a:rPr lang="fr-FR" sz="10455" b="1" noProof="0" dirty="0">
                <a:solidFill>
                  <a:srgbClr val="2C5C99"/>
                </a:solidFill>
                <a:latin typeface="Calibri" pitchFamily="34" charset="0"/>
                <a:ea typeface="Calibri" pitchFamily="34" charset="-122"/>
                <a:cs typeface="Calibri" pitchFamily="34" charset="-120"/>
              </a:rPr>
              <a:t>1</a:t>
            </a:r>
            <a:endParaRPr lang="fr-FR" sz="10455"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fr-FR" sz="1600" b="1" noProof="0" dirty="0">
                <a:solidFill>
                  <a:srgbClr val="9FC2E8"/>
                </a:solidFill>
                <a:latin typeface="Calibri" pitchFamily="34" charset="0"/>
                <a:ea typeface="Calibri" pitchFamily="34" charset="-122"/>
                <a:cs typeface="Calibri" pitchFamily="34" charset="-120"/>
              </a:rPr>
              <a:t>S e s s i o n 1</a:t>
            </a:r>
            <a:endParaRPr lang="fr-FR"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fr-FR" sz="4000" b="1" noProof="0" dirty="0">
                <a:solidFill>
                  <a:srgbClr val="FFFFFF"/>
                </a:solidFill>
                <a:latin typeface="Calibri" pitchFamily="34" charset="0"/>
                <a:ea typeface="Calibri" pitchFamily="34" charset="-122"/>
                <a:cs typeface="Calibri" pitchFamily="34" charset="-120"/>
              </a:rPr>
              <a:t>Comprendre le cancer du sein</a:t>
            </a:r>
            <a:endParaRPr lang="fr-FR"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fr-FR" sz="1800" noProof="0" dirty="0">
                <a:solidFill>
                  <a:srgbClr val="CFE0F4"/>
                </a:solidFill>
                <a:latin typeface="Calibri" pitchFamily="34" charset="0"/>
                <a:ea typeface="Calibri" pitchFamily="34" charset="-122"/>
                <a:cs typeface="Calibri" pitchFamily="34" charset="-120"/>
              </a:rPr>
              <a:t>Construisez les bases : ce qu'est le cancer du sein, comment il se développe et se propage, sa fréquence au Rwanda, les types et sous-types, ainsi que la signification du stade et du grade.</a:t>
            </a:r>
            <a:endParaRPr lang="fr-FR"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fr-FR" sz="1000" noProof="0" dirty="0">
                <a:solidFill>
                  <a:srgbClr val="7FA6D4"/>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Objectifs d'apprentissage</a:t>
            </a:r>
            <a:endParaRPr lang="fr-FR"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Décrire</a:t>
            </a:r>
            <a:endParaRPr lang="fr-FR"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Décrire ce qu’est le cancer du sein et où il se développe dans le sein.</a:t>
            </a:r>
            <a:endParaRPr lang="fr-FR"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Interpréter</a:t>
            </a:r>
            <a:endParaRPr lang="fr-FR"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Interpréter le fardeau mondial, africain et rwandais, y compris son évolution à venir.</a:t>
            </a:r>
            <a:endParaRPr lang="fr-FR"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Expliquer l’anatomie</a:t>
            </a:r>
            <a:endParaRPr lang="fr-FR"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Expliquer l’anatomie mammaire et axillaire utile pour comprendre les symptômes et l’examen.</a:t>
            </a:r>
            <a:endParaRPr lang="fr-FR"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Décrire le processus</a:t>
            </a:r>
            <a:endParaRPr lang="fr-FR"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Décrire comment le cancer du sein se développe, envahit les tissus et se propage.</a:t>
            </a:r>
            <a:endParaRPr lang="fr-FR"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Différencier</a:t>
            </a:r>
            <a:endParaRPr lang="fr-FR"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Différencier la maladie in situ de la maladie invasive, et nommer les principaux types et sous-types.</a:t>
            </a:r>
            <a:endParaRPr lang="fr-FR"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normAutofit fontScale="96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Distinguer</a:t>
            </a:r>
            <a:endParaRPr lang="fr-FR"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Expliquer le TNM et distinguer le stade du grade.</a:t>
            </a:r>
            <a:endParaRPr lang="fr-FR" sz="1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Qu’est-ce que le cancer du sein</a:t>
            </a:r>
            <a:endParaRPr lang="fr-FR" sz="3000" noProof="0" dirty="0"/>
          </a:p>
        </p:txBody>
      </p:sp>
      <p:sp>
        <p:nvSpPr>
          <p:cNvPr id="5" name="Shape 3"/>
          <p:cNvSpPr/>
          <p:nvPr/>
        </p:nvSpPr>
        <p:spPr>
          <a:xfrm>
            <a:off x="650240" y="1371600"/>
            <a:ext cx="5204460" cy="4775200"/>
          </a:xfrm>
          <a:prstGeom prst="roundRect">
            <a:avLst>
              <a:gd name="adj" fmla="val 2490"/>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814832" y="1463040"/>
            <a:ext cx="4718776" cy="292608"/>
          </a:xfrm>
          <a:prstGeom prst="rect">
            <a:avLst/>
          </a:prstGeom>
          <a:noFill/>
          <a:ln/>
        </p:spPr>
        <p:txBody>
          <a:bodyPr wrap="square" lIns="0" tIns="0" rIns="0" bIns="0" rtlCol="0" anchor="t">
            <a:noAutofit/>
          </a:bodyPr>
          <a:lstStyle/>
          <a:p>
            <a:pPr marL="0" indent="0">
              <a:buNone/>
            </a:pPr>
            <a:r>
              <a:rPr lang="fr-FR" sz="1746" b="1" noProof="0" dirty="0">
                <a:solidFill>
                  <a:srgbClr val="12315B"/>
                </a:solidFill>
                <a:latin typeface="Calibri" pitchFamily="34" charset="0"/>
                <a:ea typeface="Calibri" pitchFamily="34" charset="-122"/>
                <a:cs typeface="Calibri" pitchFamily="34" charset="-120"/>
              </a:rPr>
              <a:t>Canaux et lobules</a:t>
            </a:r>
            <a:endParaRPr lang="fr-FR" noProof="0" dirty="0"/>
          </a:p>
        </p:txBody>
      </p:sp>
      <p:sp>
        <p:nvSpPr>
          <p:cNvPr id="7" name="Text 5"/>
          <p:cNvSpPr txBox="1"/>
          <p:nvPr/>
        </p:nvSpPr>
        <p:spPr>
          <a:xfrm>
            <a:off x="814832" y="1801368"/>
            <a:ext cx="4718776" cy="1719072"/>
          </a:xfrm>
          <a:prstGeom prst="rect">
            <a:avLst/>
          </a:prstGeom>
          <a:noFill/>
          <a:ln/>
        </p:spPr>
        <p:txBody>
          <a:bodyPr wrap="square" lIns="0" tIns="0" rIns="0" bIns="0" rtlCol="0" anchor="t">
            <a:noAutofit/>
          </a:bodyPr>
          <a:lstStyle/>
          <a:p>
            <a:pPr marL="0" indent="0">
              <a:lnSpc>
                <a:spcPct val="90000"/>
              </a:lnSpc>
              <a:buNone/>
            </a:pPr>
            <a:r>
              <a:rPr lang="fr-FR" sz="1674" noProof="0" dirty="0">
                <a:solidFill>
                  <a:srgbClr val="1F3A63"/>
                </a:solidFill>
                <a:latin typeface="Calibri" pitchFamily="34" charset="0"/>
                <a:ea typeface="Calibri" pitchFamily="34" charset="-122"/>
                <a:cs typeface="Calibri" pitchFamily="34" charset="-120"/>
              </a:rPr>
              <a:t>Le cancer du sein apparaît lorsque des cellules anormales se multiplient sans contrôle normal. La plupart naissent des cellules épithéliales qui tapissent les canaux ou les lobules.</a:t>
            </a:r>
            <a:endParaRPr lang="fr-FR" noProof="0" dirty="0"/>
          </a:p>
        </p:txBody>
      </p:sp>
      <p:sp>
        <p:nvSpPr>
          <p:cNvPr id="8" name="Shape 6"/>
          <p:cNvSpPr/>
          <p:nvPr/>
        </p:nvSpPr>
        <p:spPr>
          <a:xfrm>
            <a:off x="6197600" y="1357376"/>
            <a:ext cx="5382768" cy="4775200"/>
          </a:xfrm>
          <a:prstGeom prst="roundRect">
            <a:avLst>
              <a:gd name="adj" fmla="val 2490"/>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6535332" y="1448816"/>
            <a:ext cx="4880444" cy="292608"/>
          </a:xfrm>
          <a:prstGeom prst="rect">
            <a:avLst/>
          </a:prstGeom>
          <a:noFill/>
          <a:ln/>
        </p:spPr>
        <p:txBody>
          <a:bodyPr wrap="square" lIns="0" tIns="0" rIns="0" bIns="0" rtlCol="0" anchor="t">
            <a:noAutofit/>
          </a:bodyPr>
          <a:lstStyle/>
          <a:p>
            <a:pPr marL="0" indent="0">
              <a:buNone/>
            </a:pPr>
            <a:r>
              <a:rPr lang="fr-FR" sz="1746" b="1" noProof="0" dirty="0">
                <a:solidFill>
                  <a:srgbClr val="12315B"/>
                </a:solidFill>
                <a:latin typeface="Calibri" pitchFamily="34" charset="0"/>
                <a:ea typeface="Calibri" pitchFamily="34" charset="-122"/>
                <a:cs typeface="Calibri" pitchFamily="34" charset="-120"/>
              </a:rPr>
              <a:t>Pas une seule maladie</a:t>
            </a:r>
            <a:endParaRPr lang="fr-FR" noProof="0" dirty="0"/>
          </a:p>
        </p:txBody>
      </p:sp>
      <p:sp>
        <p:nvSpPr>
          <p:cNvPr id="10" name="Text 8"/>
          <p:cNvSpPr txBox="1"/>
          <p:nvPr/>
        </p:nvSpPr>
        <p:spPr>
          <a:xfrm>
            <a:off x="6535332" y="1787144"/>
            <a:ext cx="4880444" cy="171907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Le cancer du sein comprend des maladies biologiquement différentes. Deux tumeurs de même taille peuvent se comporter de manière très différente.</a:t>
            </a:r>
            <a:endParaRPr lang="fr-FR" noProof="0" dirty="0"/>
          </a:p>
        </p:txBody>
      </p:sp>
      <p:pic>
        <p:nvPicPr>
          <p:cNvPr id="23" name="Imagen 22">
            <a:extLst>
              <a:ext uri="{FF2B5EF4-FFF2-40B4-BE49-F238E27FC236}">
                <a16:creationId xmlns:a16="http://schemas.microsoft.com/office/drawing/2014/main" id="{1E341C47-5635-04FB-94F1-C33BC6F89B32}"/>
              </a:ext>
            </a:extLst>
          </p:cNvPr>
          <p:cNvPicPr>
            <a:picLocks noChangeAspect="1"/>
          </p:cNvPicPr>
          <p:nvPr/>
        </p:nvPicPr>
        <p:blipFill>
          <a:blip r:embed="rId3"/>
          <a:srcRect/>
          <a:stretch>
            <a:fillRect/>
          </a:stretch>
        </p:blipFill>
        <p:spPr>
          <a:xfrm>
            <a:off x="923317" y="2804160"/>
            <a:ext cx="4718775" cy="3145850"/>
          </a:xfrm>
          <a:prstGeom prst="rect">
            <a:avLst/>
          </a:prstGeom>
        </p:spPr>
      </p:pic>
      <p:pic>
        <p:nvPicPr>
          <p:cNvPr id="11" name="Imagen 10">
            <a:extLst>
              <a:ext uri="{FF2B5EF4-FFF2-40B4-BE49-F238E27FC236}">
                <a16:creationId xmlns:a16="http://schemas.microsoft.com/office/drawing/2014/main" id="{635BE586-B4BD-D870-D6C2-0B5FFD872308}"/>
              </a:ext>
            </a:extLst>
          </p:cNvPr>
          <p:cNvPicPr>
            <a:picLocks noChangeAspect="1"/>
          </p:cNvPicPr>
          <p:nvPr/>
        </p:nvPicPr>
        <p:blipFill>
          <a:blip r:embed="rId4"/>
          <a:srcRect/>
          <a:stretch>
            <a:fillRect/>
          </a:stretch>
        </p:blipFill>
        <p:spPr>
          <a:xfrm>
            <a:off x="6298596" y="2914109"/>
            <a:ext cx="5204459" cy="292595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EA91A4-7063-D9A2-AAB4-D73630881FA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CACD3A-213D-327B-F4CE-2E3A26F3D1EE}"/>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a:extLst>
              <a:ext uri="{FF2B5EF4-FFF2-40B4-BE49-F238E27FC236}">
                <a16:creationId xmlns:a16="http://schemas.microsoft.com/office/drawing/2014/main" id="{959F1449-D785-6C6C-94DE-714F019DD7FC}"/>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D768598F-D24D-2FBE-2129-F6F4AB600C36}"/>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Qu’est-ce que le cancer du sein</a:t>
            </a:r>
            <a:endParaRPr lang="fr-FR" sz="3000" noProof="0" dirty="0"/>
          </a:p>
        </p:txBody>
      </p:sp>
      <p:sp>
        <p:nvSpPr>
          <p:cNvPr id="11" name="Shape 9">
            <a:extLst>
              <a:ext uri="{FF2B5EF4-FFF2-40B4-BE49-F238E27FC236}">
                <a16:creationId xmlns:a16="http://schemas.microsoft.com/office/drawing/2014/main" id="{9980D3FC-AB44-B77E-00AB-B2B347952FA3}"/>
              </a:ext>
            </a:extLst>
          </p:cNvPr>
          <p:cNvSpPr/>
          <p:nvPr/>
        </p:nvSpPr>
        <p:spPr>
          <a:xfrm>
            <a:off x="548640" y="1343394"/>
            <a:ext cx="5547360" cy="4762938"/>
          </a:xfrm>
          <a:prstGeom prst="roundRect">
            <a:avLst>
              <a:gd name="adj" fmla="val 2490"/>
            </a:avLst>
          </a:prstGeom>
          <a:solidFill>
            <a:srgbClr val="F4F8FC"/>
          </a:solidFill>
          <a:ln w="12700">
            <a:solidFill>
              <a:srgbClr val="C8D8EC"/>
            </a:solidFill>
            <a:prstDash val="solid"/>
          </a:ln>
        </p:spPr>
        <p:txBody>
          <a:bodyPr/>
          <a:lstStyle/>
          <a:p>
            <a:endParaRPr lang="fr-FR" noProof="0" dirty="0"/>
          </a:p>
        </p:txBody>
      </p:sp>
      <p:sp>
        <p:nvSpPr>
          <p:cNvPr id="12" name="Text 10">
            <a:extLst>
              <a:ext uri="{FF2B5EF4-FFF2-40B4-BE49-F238E27FC236}">
                <a16:creationId xmlns:a16="http://schemas.microsoft.com/office/drawing/2014/main" id="{E2DB40A7-B5EA-6007-4124-515B28CD30B3}"/>
              </a:ext>
            </a:extLst>
          </p:cNvPr>
          <p:cNvSpPr txBox="1"/>
          <p:nvPr/>
        </p:nvSpPr>
        <p:spPr>
          <a:xfrm>
            <a:off x="837215" y="1481328"/>
            <a:ext cx="5029677" cy="292608"/>
          </a:xfrm>
          <a:prstGeom prst="rect">
            <a:avLst/>
          </a:prstGeom>
          <a:noFill/>
          <a:ln/>
        </p:spPr>
        <p:txBody>
          <a:bodyPr wrap="square" lIns="0" tIns="0" rIns="0" bIns="0" rtlCol="0" anchor="t">
            <a:noAutofit/>
          </a:bodyPr>
          <a:lstStyle/>
          <a:p>
            <a:pPr marL="0" indent="0">
              <a:buNone/>
            </a:pPr>
            <a:r>
              <a:rPr lang="fr-FR" sz="1746" b="1" noProof="0" dirty="0">
                <a:solidFill>
                  <a:srgbClr val="12315B"/>
                </a:solidFill>
                <a:latin typeface="Calibri" pitchFamily="34" charset="0"/>
                <a:ea typeface="Calibri" pitchFamily="34" charset="-122"/>
                <a:cs typeface="Calibri" pitchFamily="34" charset="-120"/>
              </a:rPr>
              <a:t>In situ et invasif</a:t>
            </a:r>
            <a:endParaRPr lang="fr-FR" noProof="0" dirty="0"/>
          </a:p>
        </p:txBody>
      </p:sp>
      <p:sp>
        <p:nvSpPr>
          <p:cNvPr id="13" name="Text 11">
            <a:extLst>
              <a:ext uri="{FF2B5EF4-FFF2-40B4-BE49-F238E27FC236}">
                <a16:creationId xmlns:a16="http://schemas.microsoft.com/office/drawing/2014/main" id="{F2D7AF38-5725-AF9A-9326-48356B311D06}"/>
              </a:ext>
            </a:extLst>
          </p:cNvPr>
          <p:cNvSpPr txBox="1"/>
          <p:nvPr/>
        </p:nvSpPr>
        <p:spPr>
          <a:xfrm>
            <a:off x="837215" y="1819656"/>
            <a:ext cx="5029677" cy="171907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Certaines lésions restent à l’intérieur du canal ou du lobule pendant un certain temps. Le cancer invasif franchit la paroi et envahit le tissu mammaire environnant.</a:t>
            </a:r>
            <a:endParaRPr lang="fr-FR" noProof="0" dirty="0"/>
          </a:p>
        </p:txBody>
      </p:sp>
      <p:sp>
        <p:nvSpPr>
          <p:cNvPr id="14" name="Shape 12">
            <a:extLst>
              <a:ext uri="{FF2B5EF4-FFF2-40B4-BE49-F238E27FC236}">
                <a16:creationId xmlns:a16="http://schemas.microsoft.com/office/drawing/2014/main" id="{8BB4FE6C-8279-F58F-1E31-09BB1F84C258}"/>
              </a:ext>
            </a:extLst>
          </p:cNvPr>
          <p:cNvSpPr/>
          <p:nvPr/>
        </p:nvSpPr>
        <p:spPr>
          <a:xfrm>
            <a:off x="6385302" y="1335024"/>
            <a:ext cx="5257753" cy="4762938"/>
          </a:xfrm>
          <a:prstGeom prst="roundRect">
            <a:avLst>
              <a:gd name="adj" fmla="val 2490"/>
            </a:avLst>
          </a:prstGeom>
          <a:solidFill>
            <a:srgbClr val="F4F8FC"/>
          </a:solidFill>
          <a:ln w="12700">
            <a:solidFill>
              <a:srgbClr val="C8D8EC"/>
            </a:solidFill>
            <a:prstDash val="solid"/>
          </a:ln>
        </p:spPr>
        <p:txBody>
          <a:bodyPr/>
          <a:lstStyle/>
          <a:p>
            <a:endParaRPr lang="fr-FR" noProof="0" dirty="0"/>
          </a:p>
        </p:txBody>
      </p:sp>
      <p:sp>
        <p:nvSpPr>
          <p:cNvPr id="15" name="Text 13">
            <a:extLst>
              <a:ext uri="{FF2B5EF4-FFF2-40B4-BE49-F238E27FC236}">
                <a16:creationId xmlns:a16="http://schemas.microsoft.com/office/drawing/2014/main" id="{E7E63333-F46B-7F88-0AF6-2BB4350F8B50}"/>
              </a:ext>
            </a:extLst>
          </p:cNvPr>
          <p:cNvSpPr txBox="1"/>
          <p:nvPr/>
        </p:nvSpPr>
        <p:spPr>
          <a:xfrm>
            <a:off x="6727495" y="1426464"/>
            <a:ext cx="4472004" cy="292608"/>
          </a:xfrm>
          <a:prstGeom prst="rect">
            <a:avLst/>
          </a:prstGeom>
          <a:noFill/>
          <a:ln/>
        </p:spPr>
        <p:txBody>
          <a:bodyPr wrap="square" lIns="0" tIns="0" rIns="0" bIns="0" rtlCol="0" anchor="t">
            <a:noAutofit/>
          </a:bodyPr>
          <a:lstStyle/>
          <a:p>
            <a:pPr marL="0" indent="0">
              <a:buNone/>
            </a:pPr>
            <a:r>
              <a:rPr lang="fr-FR" sz="1746" b="1" noProof="0" dirty="0">
                <a:solidFill>
                  <a:srgbClr val="12315B"/>
                </a:solidFill>
                <a:latin typeface="Calibri" pitchFamily="34" charset="0"/>
                <a:ea typeface="Calibri" pitchFamily="34" charset="-122"/>
                <a:cs typeface="Calibri" pitchFamily="34" charset="-120"/>
              </a:rPr>
              <a:t>Propagation</a:t>
            </a:r>
            <a:endParaRPr lang="fr-FR" noProof="0" dirty="0"/>
          </a:p>
        </p:txBody>
      </p:sp>
      <p:sp>
        <p:nvSpPr>
          <p:cNvPr id="16" name="Text 14">
            <a:extLst>
              <a:ext uri="{FF2B5EF4-FFF2-40B4-BE49-F238E27FC236}">
                <a16:creationId xmlns:a16="http://schemas.microsoft.com/office/drawing/2014/main" id="{29094225-F52C-A68F-AEA3-1BCEE789F805}"/>
              </a:ext>
            </a:extLst>
          </p:cNvPr>
          <p:cNvSpPr txBox="1"/>
          <p:nvPr/>
        </p:nvSpPr>
        <p:spPr>
          <a:xfrm>
            <a:off x="6727495" y="1764792"/>
            <a:ext cx="4472004" cy="1719072"/>
          </a:xfrm>
          <a:prstGeom prst="rect">
            <a:avLst/>
          </a:prstGeom>
          <a:noFill/>
          <a:ln/>
        </p:spPr>
        <p:txBody>
          <a:bodyPr wrap="square" lIns="0" tIns="0" rIns="0" bIns="0" rtlCol="0" anchor="t">
            <a:noAutofit/>
          </a:bodyPr>
          <a:lstStyle/>
          <a:p>
            <a:pPr marL="0" indent="0">
              <a:lnSpc>
                <a:spcPct val="90000"/>
              </a:lnSpc>
              <a:buNone/>
            </a:pPr>
            <a:r>
              <a:rPr lang="fr-FR" sz="1656" noProof="0" dirty="0">
                <a:solidFill>
                  <a:srgbClr val="1F3A63"/>
                </a:solidFill>
                <a:latin typeface="Calibri" pitchFamily="34" charset="0"/>
                <a:ea typeface="Calibri" pitchFamily="34" charset="-122"/>
                <a:cs typeface="Calibri" pitchFamily="34" charset="-120"/>
              </a:rPr>
              <a:t>La maladie invasive peut atteindre les ganglions lymphatiques axillaires et se propager dans la circulation sanguine jusqu'à l'os, le foie, le poumon ou le cerveau.</a:t>
            </a:r>
            <a:endParaRPr lang="fr-FR" noProof="0" dirty="0"/>
          </a:p>
        </p:txBody>
      </p:sp>
      <p:pic>
        <p:nvPicPr>
          <p:cNvPr id="23" name="Imagen 22">
            <a:extLst>
              <a:ext uri="{FF2B5EF4-FFF2-40B4-BE49-F238E27FC236}">
                <a16:creationId xmlns:a16="http://schemas.microsoft.com/office/drawing/2014/main" id="{E6D46D48-E6A8-5B04-7D94-31111DA1C3BA}"/>
              </a:ext>
            </a:extLst>
          </p:cNvPr>
          <p:cNvPicPr>
            <a:picLocks noChangeAspect="1"/>
          </p:cNvPicPr>
          <p:nvPr/>
        </p:nvPicPr>
        <p:blipFill>
          <a:blip r:embed="rId3"/>
          <a:srcRect/>
          <a:stretch>
            <a:fillRect/>
          </a:stretch>
        </p:blipFill>
        <p:spPr>
          <a:xfrm>
            <a:off x="992501" y="2762209"/>
            <a:ext cx="4525199" cy="3016799"/>
          </a:xfrm>
          <a:prstGeom prst="rect">
            <a:avLst/>
          </a:prstGeom>
        </p:spPr>
      </p:pic>
      <p:pic>
        <p:nvPicPr>
          <p:cNvPr id="24" name="Imagen 23">
            <a:extLst>
              <a:ext uri="{FF2B5EF4-FFF2-40B4-BE49-F238E27FC236}">
                <a16:creationId xmlns:a16="http://schemas.microsoft.com/office/drawing/2014/main" id="{36EBB2C5-8E82-2EB6-AA0C-245122C05D84}"/>
              </a:ext>
            </a:extLst>
          </p:cNvPr>
          <p:cNvPicPr>
            <a:picLocks noChangeAspect="1"/>
          </p:cNvPicPr>
          <p:nvPr/>
        </p:nvPicPr>
        <p:blipFill>
          <a:blip r:embed="rId4"/>
          <a:srcRect/>
          <a:stretch>
            <a:fillRect/>
          </a:stretch>
        </p:blipFill>
        <p:spPr>
          <a:xfrm>
            <a:off x="6727495" y="2762209"/>
            <a:ext cx="4627290" cy="3084860"/>
          </a:xfrm>
          <a:prstGeom prst="rect">
            <a:avLst/>
          </a:prstGeom>
        </p:spPr>
      </p:pic>
    </p:spTree>
    <p:extLst>
      <p:ext uri="{BB962C8B-B14F-4D97-AF65-F5344CB8AC3E}">
        <p14:creationId xmlns:p14="http://schemas.microsoft.com/office/powerpoint/2010/main" val="2793954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0E7C0E-290F-EFC8-9B85-36C9ED326A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596BB0-60DF-E3D8-EF6F-E91E3032628A}"/>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a:extLst>
              <a:ext uri="{FF2B5EF4-FFF2-40B4-BE49-F238E27FC236}">
                <a16:creationId xmlns:a16="http://schemas.microsoft.com/office/drawing/2014/main" id="{F21A444C-66B0-C4D1-D04C-084435C7E1F2}"/>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C918A3CA-2DAB-52D7-782D-36FEC7D864C4}"/>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Qu’est-ce que le cancer du sein</a:t>
            </a:r>
            <a:endParaRPr lang="fr-FR" sz="3000" noProof="0" dirty="0"/>
          </a:p>
        </p:txBody>
      </p:sp>
      <p:sp>
        <p:nvSpPr>
          <p:cNvPr id="17" name="Shape 15">
            <a:extLst>
              <a:ext uri="{FF2B5EF4-FFF2-40B4-BE49-F238E27FC236}">
                <a16:creationId xmlns:a16="http://schemas.microsoft.com/office/drawing/2014/main" id="{11675B68-0494-F786-69DA-E79D5751C0A8}"/>
              </a:ext>
            </a:extLst>
          </p:cNvPr>
          <p:cNvSpPr/>
          <p:nvPr/>
        </p:nvSpPr>
        <p:spPr>
          <a:xfrm>
            <a:off x="657126" y="1382604"/>
            <a:ext cx="5194268" cy="4908468"/>
          </a:xfrm>
          <a:prstGeom prst="roundRect">
            <a:avLst>
              <a:gd name="adj" fmla="val 2490"/>
            </a:avLst>
          </a:prstGeom>
          <a:solidFill>
            <a:srgbClr val="F4F8FC"/>
          </a:solidFill>
          <a:ln w="12700">
            <a:solidFill>
              <a:srgbClr val="C8D8EC"/>
            </a:solidFill>
            <a:prstDash val="solid"/>
          </a:ln>
        </p:spPr>
        <p:txBody>
          <a:bodyPr/>
          <a:lstStyle/>
          <a:p>
            <a:endParaRPr lang="fr-FR" noProof="0" dirty="0"/>
          </a:p>
        </p:txBody>
      </p:sp>
      <p:sp>
        <p:nvSpPr>
          <p:cNvPr id="18" name="Text 16">
            <a:extLst>
              <a:ext uri="{FF2B5EF4-FFF2-40B4-BE49-F238E27FC236}">
                <a16:creationId xmlns:a16="http://schemas.microsoft.com/office/drawing/2014/main" id="{7AA26E2D-A28C-BAE4-E230-9760747B2435}"/>
              </a:ext>
            </a:extLst>
          </p:cNvPr>
          <p:cNvSpPr txBox="1"/>
          <p:nvPr/>
        </p:nvSpPr>
        <p:spPr>
          <a:xfrm>
            <a:off x="821717" y="1474044"/>
            <a:ext cx="5029677" cy="292608"/>
          </a:xfrm>
          <a:prstGeom prst="rect">
            <a:avLst/>
          </a:prstGeom>
          <a:noFill/>
          <a:ln/>
        </p:spPr>
        <p:txBody>
          <a:bodyPr wrap="square" lIns="0" tIns="0" rIns="0" bIns="0" rtlCol="0" anchor="t">
            <a:noAutofit/>
          </a:bodyPr>
          <a:lstStyle/>
          <a:p>
            <a:pPr marL="0" indent="0">
              <a:buNone/>
            </a:pPr>
            <a:r>
              <a:rPr lang="fr-FR" sz="1746" b="1" noProof="0" dirty="0">
                <a:solidFill>
                  <a:srgbClr val="12315B"/>
                </a:solidFill>
                <a:latin typeface="Calibri" pitchFamily="34" charset="0"/>
                <a:ea typeface="Calibri" pitchFamily="34" charset="-122"/>
                <a:cs typeface="Calibri" pitchFamily="34" charset="-120"/>
              </a:rPr>
              <a:t>Plus tôt, mieux c'est</a:t>
            </a:r>
            <a:endParaRPr lang="fr-FR" noProof="0" dirty="0"/>
          </a:p>
        </p:txBody>
      </p:sp>
      <p:sp>
        <p:nvSpPr>
          <p:cNvPr id="19" name="Text 17">
            <a:extLst>
              <a:ext uri="{FF2B5EF4-FFF2-40B4-BE49-F238E27FC236}">
                <a16:creationId xmlns:a16="http://schemas.microsoft.com/office/drawing/2014/main" id="{335402A5-60B1-288E-9052-BFD1F7E11F76}"/>
              </a:ext>
            </a:extLst>
          </p:cNvPr>
          <p:cNvSpPr txBox="1"/>
          <p:nvPr/>
        </p:nvSpPr>
        <p:spPr>
          <a:xfrm>
            <a:off x="821717" y="1812372"/>
            <a:ext cx="5029677" cy="171907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Un cancer découvert petit, avant l’atteinte des ganglions, offre plus d’options de traitement et de meilleurs résultats.</a:t>
            </a:r>
            <a:endParaRPr lang="fr-FR" noProof="0" dirty="0"/>
          </a:p>
        </p:txBody>
      </p:sp>
      <p:sp>
        <p:nvSpPr>
          <p:cNvPr id="20" name="Shape 18">
            <a:extLst>
              <a:ext uri="{FF2B5EF4-FFF2-40B4-BE49-F238E27FC236}">
                <a16:creationId xmlns:a16="http://schemas.microsoft.com/office/drawing/2014/main" id="{065E4D3C-6230-A0B4-5416-D489B4FD7598}"/>
              </a:ext>
            </a:extLst>
          </p:cNvPr>
          <p:cNvSpPr/>
          <p:nvPr/>
        </p:nvSpPr>
        <p:spPr>
          <a:xfrm>
            <a:off x="6340608" y="1382604"/>
            <a:ext cx="5410933" cy="4908468"/>
          </a:xfrm>
          <a:prstGeom prst="roundRect">
            <a:avLst>
              <a:gd name="adj" fmla="val 2490"/>
            </a:avLst>
          </a:prstGeom>
          <a:solidFill>
            <a:srgbClr val="F4F8FC"/>
          </a:solidFill>
          <a:ln w="12700">
            <a:solidFill>
              <a:srgbClr val="C8D8EC"/>
            </a:solidFill>
            <a:prstDash val="solid"/>
          </a:ln>
        </p:spPr>
        <p:txBody>
          <a:bodyPr/>
          <a:lstStyle/>
          <a:p>
            <a:endParaRPr lang="fr-FR" noProof="0" dirty="0"/>
          </a:p>
        </p:txBody>
      </p:sp>
      <p:sp>
        <p:nvSpPr>
          <p:cNvPr id="21" name="Text 19">
            <a:extLst>
              <a:ext uri="{FF2B5EF4-FFF2-40B4-BE49-F238E27FC236}">
                <a16:creationId xmlns:a16="http://schemas.microsoft.com/office/drawing/2014/main" id="{E7FBC30C-4167-AB2D-C3BF-C67810878A13}"/>
              </a:ext>
            </a:extLst>
          </p:cNvPr>
          <p:cNvSpPr txBox="1"/>
          <p:nvPr/>
        </p:nvSpPr>
        <p:spPr>
          <a:xfrm>
            <a:off x="6717781" y="1474044"/>
            <a:ext cx="4817094" cy="292608"/>
          </a:xfrm>
          <a:prstGeom prst="rect">
            <a:avLst/>
          </a:prstGeom>
          <a:noFill/>
          <a:ln/>
        </p:spPr>
        <p:txBody>
          <a:bodyPr wrap="square" lIns="0" tIns="0" rIns="0" bIns="0" rtlCol="0" anchor="t">
            <a:noAutofit/>
          </a:bodyPr>
          <a:lstStyle/>
          <a:p>
            <a:pPr marL="0" indent="0">
              <a:buNone/>
            </a:pPr>
            <a:r>
              <a:rPr lang="fr-FR" sz="1746" b="1" noProof="0" dirty="0">
                <a:solidFill>
                  <a:srgbClr val="12315B"/>
                </a:solidFill>
                <a:latin typeface="Calibri" pitchFamily="34" charset="0"/>
                <a:ea typeface="Calibri" pitchFamily="34" charset="-122"/>
                <a:cs typeface="Calibri" pitchFamily="34" charset="-120"/>
              </a:rPr>
              <a:t>Une masse n'est pas un diagnostic</a:t>
            </a:r>
            <a:endParaRPr lang="fr-FR" noProof="0" dirty="0"/>
          </a:p>
        </p:txBody>
      </p:sp>
      <p:sp>
        <p:nvSpPr>
          <p:cNvPr id="22" name="Text 20">
            <a:extLst>
              <a:ext uri="{FF2B5EF4-FFF2-40B4-BE49-F238E27FC236}">
                <a16:creationId xmlns:a16="http://schemas.microsoft.com/office/drawing/2014/main" id="{327001C3-EED2-4934-1549-9711D136FCB2}"/>
              </a:ext>
            </a:extLst>
          </p:cNvPr>
          <p:cNvSpPr txBox="1"/>
          <p:nvPr/>
        </p:nvSpPr>
        <p:spPr>
          <a:xfrm>
            <a:off x="6717781" y="1812372"/>
            <a:ext cx="4817094" cy="171907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La plupart des boules du sein sont bénignes. Une boule, une image anormale ou un examen suspect éveillent la suspicion. C’est le tissu qui confirme le diagnostic.</a:t>
            </a:r>
            <a:endParaRPr lang="fr-FR" noProof="0" dirty="0"/>
          </a:p>
        </p:txBody>
      </p:sp>
      <p:pic>
        <p:nvPicPr>
          <p:cNvPr id="24" name="Imagen 23">
            <a:extLst>
              <a:ext uri="{FF2B5EF4-FFF2-40B4-BE49-F238E27FC236}">
                <a16:creationId xmlns:a16="http://schemas.microsoft.com/office/drawing/2014/main" id="{74952DA6-2D8D-AD1F-9E78-C5FB4F266721}"/>
              </a:ext>
            </a:extLst>
          </p:cNvPr>
          <p:cNvPicPr>
            <a:picLocks noChangeAspect="1"/>
          </p:cNvPicPr>
          <p:nvPr/>
        </p:nvPicPr>
        <p:blipFill>
          <a:blip r:embed="rId3"/>
          <a:srcRect/>
          <a:stretch>
            <a:fillRect/>
          </a:stretch>
        </p:blipFill>
        <p:spPr>
          <a:xfrm>
            <a:off x="923935" y="3010236"/>
            <a:ext cx="4660650" cy="3107100"/>
          </a:xfrm>
          <a:prstGeom prst="rect">
            <a:avLst/>
          </a:prstGeom>
        </p:spPr>
      </p:pic>
      <p:pic>
        <p:nvPicPr>
          <p:cNvPr id="26" name="Imagen 25">
            <a:extLst>
              <a:ext uri="{FF2B5EF4-FFF2-40B4-BE49-F238E27FC236}">
                <a16:creationId xmlns:a16="http://schemas.microsoft.com/office/drawing/2014/main" id="{F2170D82-8CE7-317F-3F0D-45A85E9385D2}"/>
              </a:ext>
            </a:extLst>
          </p:cNvPr>
          <p:cNvPicPr>
            <a:picLocks noChangeAspect="1"/>
          </p:cNvPicPr>
          <p:nvPr/>
        </p:nvPicPr>
        <p:blipFill>
          <a:blip r:embed="rId4"/>
          <a:stretch>
            <a:fillRect/>
          </a:stretch>
        </p:blipFill>
        <p:spPr>
          <a:xfrm>
            <a:off x="6814766" y="3010235"/>
            <a:ext cx="4550284" cy="3033523"/>
          </a:xfrm>
          <a:prstGeom prst="rect">
            <a:avLst/>
          </a:prstGeom>
        </p:spPr>
      </p:pic>
    </p:spTree>
    <p:extLst>
      <p:ext uri="{BB962C8B-B14F-4D97-AF65-F5344CB8AC3E}">
        <p14:creationId xmlns:p14="http://schemas.microsoft.com/office/powerpoint/2010/main" val="2428905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Fréquence du cancer du sein dans le monde</a:t>
            </a:r>
            <a:endParaRPr lang="fr-FR" sz="3000" noProof="0" dirty="0"/>
          </a:p>
        </p:txBody>
      </p:sp>
      <p:sp>
        <p:nvSpPr>
          <p:cNvPr id="5" name="Shape 3"/>
          <p:cNvSpPr/>
          <p:nvPr/>
        </p:nvSpPr>
        <p:spPr>
          <a:xfrm>
            <a:off x="548640" y="1325880"/>
            <a:ext cx="3527450" cy="1371600"/>
          </a:xfrm>
          <a:prstGeom prst="roundRect">
            <a:avLst>
              <a:gd name="adj" fmla="val 4000"/>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658368" y="1453896"/>
            <a:ext cx="3307994" cy="617220"/>
          </a:xfrm>
          <a:prstGeom prst="rect">
            <a:avLst/>
          </a:prstGeom>
          <a:noFill/>
          <a:ln/>
        </p:spPr>
        <p:txBody>
          <a:bodyPr wrap="square" lIns="0" tIns="0" rIns="0" bIns="0" rtlCol="0" anchor="ctr"/>
          <a:lstStyle/>
          <a:p>
            <a:pPr marL="0" indent="0" algn="ctr">
              <a:buNone/>
            </a:pPr>
            <a:r>
              <a:rPr lang="fr-FR" sz="2800" b="1" noProof="0" dirty="0">
                <a:solidFill>
                  <a:srgbClr val="12315B"/>
                </a:solidFill>
                <a:latin typeface="Calibri" pitchFamily="34" charset="0"/>
                <a:ea typeface="Calibri" pitchFamily="34" charset="-122"/>
                <a:cs typeface="Calibri" pitchFamily="34" charset="-120"/>
              </a:rPr>
              <a:t>2 434 087</a:t>
            </a:r>
            <a:endParaRPr lang="fr-FR" sz="2800" noProof="0" dirty="0"/>
          </a:p>
        </p:txBody>
      </p:sp>
      <p:sp>
        <p:nvSpPr>
          <p:cNvPr id="7" name="Text 5"/>
          <p:cNvSpPr txBox="1"/>
          <p:nvPr/>
        </p:nvSpPr>
        <p:spPr>
          <a:xfrm>
            <a:off x="658368" y="2039112"/>
            <a:ext cx="3307994" cy="603504"/>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Nouveaux cas estimés de cancer du sein dans le monde, 2024</a:t>
            </a:r>
            <a:endParaRPr lang="fr-FR" sz="1400" noProof="0" dirty="0"/>
          </a:p>
        </p:txBody>
      </p:sp>
      <p:sp>
        <p:nvSpPr>
          <p:cNvPr id="8" name="Shape 6"/>
          <p:cNvSpPr/>
          <p:nvPr/>
        </p:nvSpPr>
        <p:spPr>
          <a:xfrm>
            <a:off x="4332122" y="1325880"/>
            <a:ext cx="3527450" cy="1371600"/>
          </a:xfrm>
          <a:prstGeom prst="roundRect">
            <a:avLst>
              <a:gd name="adj" fmla="val 4000"/>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41850" y="1453896"/>
            <a:ext cx="3307994" cy="617220"/>
          </a:xfrm>
          <a:prstGeom prst="rect">
            <a:avLst/>
          </a:prstGeom>
          <a:noFill/>
          <a:ln/>
        </p:spPr>
        <p:txBody>
          <a:bodyPr wrap="square" lIns="0" tIns="0" rIns="0" bIns="0" rtlCol="0" anchor="ctr"/>
          <a:lstStyle/>
          <a:p>
            <a:pPr marL="0" indent="0" algn="ctr">
              <a:buNone/>
            </a:pPr>
            <a:r>
              <a:rPr lang="fr-FR" sz="2800" b="1" noProof="0" dirty="0">
                <a:solidFill>
                  <a:srgbClr val="12315B"/>
                </a:solidFill>
                <a:latin typeface="Calibri" pitchFamily="34" charset="0"/>
                <a:ea typeface="Calibri" pitchFamily="34" charset="-122"/>
                <a:cs typeface="Calibri" pitchFamily="34" charset="-120"/>
              </a:rPr>
              <a:t>693 660</a:t>
            </a:r>
            <a:endParaRPr lang="fr-FR" sz="2800" noProof="0" dirty="0"/>
          </a:p>
        </p:txBody>
      </p:sp>
      <p:sp>
        <p:nvSpPr>
          <p:cNvPr id="10" name="Text 8"/>
          <p:cNvSpPr txBox="1"/>
          <p:nvPr/>
        </p:nvSpPr>
        <p:spPr>
          <a:xfrm>
            <a:off x="4441850" y="2039112"/>
            <a:ext cx="3307994" cy="603504"/>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Décès estimés pour cancer du sein dans le monde, 2024</a:t>
            </a:r>
            <a:endParaRPr lang="fr-FR" sz="1400" noProof="0" dirty="0"/>
          </a:p>
        </p:txBody>
      </p:sp>
      <p:sp>
        <p:nvSpPr>
          <p:cNvPr id="11" name="Shape 9"/>
          <p:cNvSpPr/>
          <p:nvPr/>
        </p:nvSpPr>
        <p:spPr>
          <a:xfrm>
            <a:off x="8115605" y="1325880"/>
            <a:ext cx="3527450" cy="1371600"/>
          </a:xfrm>
          <a:prstGeom prst="roundRect">
            <a:avLst>
              <a:gd name="adj" fmla="val 4000"/>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25333" y="1453896"/>
            <a:ext cx="3307994" cy="617220"/>
          </a:xfrm>
          <a:prstGeom prst="rect">
            <a:avLst/>
          </a:prstGeom>
          <a:noFill/>
          <a:ln/>
        </p:spPr>
        <p:txBody>
          <a:bodyPr wrap="square" lIns="0" tIns="0" rIns="0" bIns="0" rtlCol="0" anchor="ctr"/>
          <a:lstStyle/>
          <a:p>
            <a:pPr marL="0" indent="0" algn="ctr">
              <a:buNone/>
            </a:pPr>
            <a:r>
              <a:rPr lang="fr-FR" sz="2800" b="1" noProof="0" dirty="0">
                <a:solidFill>
                  <a:srgbClr val="12315B"/>
                </a:solidFill>
                <a:latin typeface="Calibri" pitchFamily="34" charset="0"/>
                <a:ea typeface="Calibri" pitchFamily="34" charset="-122"/>
                <a:cs typeface="Calibri" pitchFamily="34" charset="-120"/>
              </a:rPr>
              <a:t>2e</a:t>
            </a:r>
            <a:endParaRPr lang="fr-FR" sz="2800" noProof="0" dirty="0"/>
          </a:p>
        </p:txBody>
      </p:sp>
      <p:sp>
        <p:nvSpPr>
          <p:cNvPr id="13" name="Text 11"/>
          <p:cNvSpPr txBox="1"/>
          <p:nvPr/>
        </p:nvSpPr>
        <p:spPr>
          <a:xfrm>
            <a:off x="8225333" y="2039112"/>
            <a:ext cx="3307994" cy="603504"/>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Cancer le plus fréquemment diagnostiqué dans le monde, tous cancers confondus, 2024</a:t>
            </a:r>
            <a:endParaRPr lang="fr-FR" sz="1400" noProof="0" dirty="0"/>
          </a:p>
        </p:txBody>
      </p:sp>
      <p:graphicFrame>
        <p:nvGraphicFramePr>
          <p:cNvPr id="14" name="Chart 0" descr="Chart"/>
          <p:cNvGraphicFramePr/>
          <p:nvPr>
            <p:extLst>
              <p:ext uri="{D42A27DB-BD31-4B8C-83A1-F6EECF244321}">
                <p14:modId xmlns:p14="http://schemas.microsoft.com/office/powerpoint/2010/main" val="3862519446"/>
              </p:ext>
            </p:extLst>
          </p:nvPr>
        </p:nvGraphicFramePr>
        <p:xfrm>
          <a:off x="548640" y="2926080"/>
          <a:ext cx="731520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8138160" y="2926080"/>
            <a:ext cx="3504895" cy="2606040"/>
          </a:xfrm>
          <a:prstGeom prst="roundRect">
            <a:avLst>
              <a:gd name="adj" fmla="val 2105"/>
            </a:avLst>
          </a:prstGeom>
          <a:solidFill>
            <a:srgbClr val="F4F8FC"/>
          </a:solidFill>
          <a:ln w="12700">
            <a:solidFill>
              <a:srgbClr val="C8D8EC"/>
            </a:solidFill>
            <a:prstDash val="solid"/>
          </a:ln>
        </p:spPr>
        <p:txBody>
          <a:bodyPr/>
          <a:lstStyle/>
          <a:p>
            <a:endParaRPr lang="fr-FR" noProof="0" dirty="0"/>
          </a:p>
        </p:txBody>
      </p:sp>
      <p:sp>
        <p:nvSpPr>
          <p:cNvPr id="16" name="Text 13"/>
          <p:cNvSpPr txBox="1"/>
          <p:nvPr/>
        </p:nvSpPr>
        <p:spPr>
          <a:xfrm>
            <a:off x="8302752" y="3017520"/>
            <a:ext cx="3175711"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Lecture des taux</a:t>
            </a:r>
            <a:endParaRPr lang="fr-FR" sz="1700" noProof="0" dirty="0"/>
          </a:p>
        </p:txBody>
      </p:sp>
      <p:sp>
        <p:nvSpPr>
          <p:cNvPr id="17" name="Text 14"/>
          <p:cNvSpPr txBox="1"/>
          <p:nvPr/>
        </p:nvSpPr>
        <p:spPr>
          <a:xfrm>
            <a:off x="8302752" y="3355848"/>
            <a:ext cx="3175711" cy="2121408"/>
          </a:xfrm>
          <a:prstGeom prst="rect">
            <a:avLst/>
          </a:prstGeom>
          <a:noFill/>
          <a:ln/>
        </p:spPr>
        <p:txBody>
          <a:bodyPr wrap="square" lIns="0" tIns="0" rIns="0" bIns="0" rtlCol="0" anchor="t">
            <a:normAutofit fontScale="93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Les taux sont standardisés sur l’âge, ce qui permet de comparer des populations d’âges différents. Le taux estimé du Rwanda est proche de la moyenne de l’Afrique de l’Est et nettement inférieur au taux mondial.</a:t>
            </a:r>
            <a:endParaRPr lang="fr-FR" sz="1800" noProof="0" dirty="0"/>
          </a:p>
        </p:txBody>
      </p:sp>
      <p:sp>
        <p:nvSpPr>
          <p:cNvPr id="18" name="Text 15"/>
          <p:cNvSpPr txBox="1"/>
          <p:nvPr/>
        </p:nvSpPr>
        <p:spPr>
          <a:xfrm>
            <a:off x="548640" y="5715000"/>
            <a:ext cx="11094415" cy="274320"/>
          </a:xfrm>
          <a:prstGeom prst="rect">
            <a:avLst/>
          </a:prstGeom>
          <a:noFill/>
          <a:ln/>
        </p:spPr>
        <p:txBody>
          <a:bodyPr wrap="square" lIns="0" tIns="0" rIns="0" bIns="0" rtlCol="0" anchor="ctr">
            <a:normAutofit fontScale="91500" lnSpcReduction="10000"/>
          </a:bodyPr>
          <a:lstStyle/>
          <a:p>
            <a:pPr marL="0" indent="0">
              <a:buNone/>
            </a:pPr>
            <a:r>
              <a:rPr lang="fr-FR" sz="1100" i="1" noProof="0" dirty="0">
                <a:solidFill>
                  <a:srgbClr val="5B7699"/>
                </a:solidFill>
                <a:latin typeface="Calibri" pitchFamily="34" charset="0"/>
                <a:ea typeface="Calibri" pitchFamily="34" charset="-122"/>
                <a:cs typeface="Calibri" pitchFamily="34" charset="-120"/>
              </a:rPr>
              <a:t>Source : Centre international de Recherche sur le Cancer (CIRC), Global Cancer </a:t>
            </a:r>
            <a:r>
              <a:rPr lang="fr-FR" sz="1100" i="1" noProof="0" dirty="0" err="1">
                <a:solidFill>
                  <a:srgbClr val="5B7699"/>
                </a:solidFill>
                <a:latin typeface="Calibri" pitchFamily="34" charset="0"/>
                <a:ea typeface="Calibri" pitchFamily="34" charset="-122"/>
                <a:cs typeface="Calibri" pitchFamily="34" charset="-120"/>
              </a:rPr>
              <a:t>Observatory</a:t>
            </a:r>
            <a:r>
              <a:rPr lang="fr-FR" sz="1100" i="1" noProof="0" dirty="0">
                <a:solidFill>
                  <a:srgbClr val="5B7699"/>
                </a:solidFill>
                <a:latin typeface="Calibri" pitchFamily="34" charset="0"/>
                <a:ea typeface="Calibri" pitchFamily="34" charset="-122"/>
                <a:cs typeface="Calibri" pitchFamily="34" charset="-120"/>
              </a:rPr>
              <a:t>, estimations GLOBOCAN 2024. Cancer du sein, tous âges. Il s’agit d’estimations modélisées, et non de cas confirmés par un registre.</a:t>
            </a:r>
            <a:endParaRPr lang="fr-FR" sz="11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Afrique et Rwanda</a:t>
            </a:r>
            <a:endParaRPr lang="fr-FR" sz="3000" noProof="0" dirty="0"/>
          </a:p>
        </p:txBody>
      </p:sp>
      <p:sp>
        <p:nvSpPr>
          <p:cNvPr id="5" name="Shape 3"/>
          <p:cNvSpPr/>
          <p:nvPr/>
        </p:nvSpPr>
        <p:spPr>
          <a:xfrm>
            <a:off x="1544391" y="1371600"/>
            <a:ext cx="2801472" cy="1691640"/>
          </a:xfrm>
          <a:prstGeom prst="roundRect">
            <a:avLst>
              <a:gd name="adj" fmla="val 3243"/>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1608953" y="1499616"/>
            <a:ext cx="2627182" cy="761238"/>
          </a:xfrm>
          <a:prstGeom prst="rect">
            <a:avLst/>
          </a:prstGeom>
          <a:noFill/>
          <a:ln/>
        </p:spPr>
        <p:txBody>
          <a:bodyPr wrap="square" lIns="0" tIns="0" rIns="0" bIns="0" rtlCol="0" anchor="ctr"/>
          <a:lstStyle/>
          <a:p>
            <a:pPr marL="0" indent="0" algn="ctr">
              <a:buNone/>
            </a:pPr>
            <a:r>
              <a:rPr lang="fr-FR" sz="3000" b="1" noProof="0" dirty="0">
                <a:solidFill>
                  <a:srgbClr val="12315B"/>
                </a:solidFill>
                <a:latin typeface="Calibri" pitchFamily="34" charset="0"/>
                <a:ea typeface="Calibri" pitchFamily="34" charset="-122"/>
                <a:cs typeface="Calibri" pitchFamily="34" charset="-120"/>
              </a:rPr>
              <a:t>225 643</a:t>
            </a:r>
            <a:endParaRPr lang="fr-FR" sz="3000" noProof="0" dirty="0"/>
          </a:p>
        </p:txBody>
      </p:sp>
      <p:sp>
        <p:nvSpPr>
          <p:cNvPr id="7" name="Text 5"/>
          <p:cNvSpPr txBox="1"/>
          <p:nvPr/>
        </p:nvSpPr>
        <p:spPr>
          <a:xfrm>
            <a:off x="1608953" y="2251253"/>
            <a:ext cx="2627182" cy="744322"/>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Nouveaux cas estimés de cancer du sein en </a:t>
            </a:r>
            <a:r>
              <a:rPr lang="fr-FR" sz="1400" b="1" noProof="0" dirty="0">
                <a:solidFill>
                  <a:srgbClr val="1F3A63"/>
                </a:solidFill>
                <a:latin typeface="Calibri" pitchFamily="34" charset="0"/>
                <a:ea typeface="Calibri" pitchFamily="34" charset="-122"/>
                <a:cs typeface="Calibri" pitchFamily="34" charset="-120"/>
              </a:rPr>
              <a:t>Afrique</a:t>
            </a:r>
            <a:r>
              <a:rPr lang="fr-FR" sz="1400" noProof="0" dirty="0">
                <a:solidFill>
                  <a:srgbClr val="1F3A63"/>
                </a:solidFill>
                <a:latin typeface="Calibri" pitchFamily="34" charset="0"/>
                <a:ea typeface="Calibri" pitchFamily="34" charset="-122"/>
                <a:cs typeface="Calibri" pitchFamily="34" charset="-120"/>
              </a:rPr>
              <a:t>, 2024</a:t>
            </a:r>
            <a:endParaRPr lang="fr-FR" sz="1400" noProof="0" dirty="0"/>
          </a:p>
        </p:txBody>
      </p:sp>
      <p:sp>
        <p:nvSpPr>
          <p:cNvPr id="8" name="Shape 6"/>
          <p:cNvSpPr/>
          <p:nvPr/>
        </p:nvSpPr>
        <p:spPr>
          <a:xfrm>
            <a:off x="4648994" y="1371600"/>
            <a:ext cx="2801472" cy="1691640"/>
          </a:xfrm>
          <a:prstGeom prst="roundRect">
            <a:avLst>
              <a:gd name="adj" fmla="val 3243"/>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713556" y="1499616"/>
            <a:ext cx="2627182" cy="761238"/>
          </a:xfrm>
          <a:prstGeom prst="rect">
            <a:avLst/>
          </a:prstGeom>
          <a:noFill/>
          <a:ln/>
        </p:spPr>
        <p:txBody>
          <a:bodyPr wrap="square" lIns="0" tIns="0" rIns="0" bIns="0" rtlCol="0" anchor="ctr"/>
          <a:lstStyle/>
          <a:p>
            <a:pPr marL="0" indent="0" algn="ctr">
              <a:buNone/>
            </a:pPr>
            <a:r>
              <a:rPr lang="fr-FR" sz="3000" b="1" noProof="0" dirty="0">
                <a:solidFill>
                  <a:srgbClr val="12315B"/>
                </a:solidFill>
                <a:latin typeface="Calibri" pitchFamily="34" charset="0"/>
                <a:ea typeface="Calibri" pitchFamily="34" charset="-122"/>
                <a:cs typeface="Calibri" pitchFamily="34" charset="-120"/>
              </a:rPr>
              <a:t>100 070</a:t>
            </a:r>
            <a:endParaRPr lang="fr-FR" sz="3000" noProof="0" dirty="0"/>
          </a:p>
        </p:txBody>
      </p:sp>
      <p:sp>
        <p:nvSpPr>
          <p:cNvPr id="10" name="Text 8"/>
          <p:cNvSpPr txBox="1"/>
          <p:nvPr/>
        </p:nvSpPr>
        <p:spPr>
          <a:xfrm>
            <a:off x="4713556" y="2251253"/>
            <a:ext cx="2627182" cy="744322"/>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Décès estimés par cancer du sein en </a:t>
            </a:r>
            <a:r>
              <a:rPr lang="fr-FR" sz="1400" b="1" noProof="0" dirty="0">
                <a:solidFill>
                  <a:srgbClr val="1F3A63"/>
                </a:solidFill>
                <a:latin typeface="Calibri" pitchFamily="34" charset="0"/>
                <a:ea typeface="Calibri" pitchFamily="34" charset="-122"/>
                <a:cs typeface="Calibri" pitchFamily="34" charset="-120"/>
              </a:rPr>
              <a:t>Afrique</a:t>
            </a:r>
            <a:r>
              <a:rPr lang="fr-FR" sz="1400" noProof="0" dirty="0">
                <a:solidFill>
                  <a:srgbClr val="1F3A63"/>
                </a:solidFill>
                <a:latin typeface="Calibri" pitchFamily="34" charset="0"/>
                <a:ea typeface="Calibri" pitchFamily="34" charset="-122"/>
                <a:cs typeface="Calibri" pitchFamily="34" charset="-120"/>
              </a:rPr>
              <a:t>, 2024</a:t>
            </a:r>
            <a:endParaRPr lang="fr-FR" sz="1400" noProof="0" dirty="0"/>
          </a:p>
        </p:txBody>
      </p:sp>
      <p:sp>
        <p:nvSpPr>
          <p:cNvPr id="11" name="Shape 9"/>
          <p:cNvSpPr/>
          <p:nvPr/>
        </p:nvSpPr>
        <p:spPr>
          <a:xfrm>
            <a:off x="7712035" y="1371600"/>
            <a:ext cx="2801472" cy="1691640"/>
          </a:xfrm>
          <a:prstGeom prst="roundRect">
            <a:avLst>
              <a:gd name="adj" fmla="val 3243"/>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7776597" y="1499616"/>
            <a:ext cx="2627182" cy="761238"/>
          </a:xfrm>
          <a:prstGeom prst="rect">
            <a:avLst/>
          </a:prstGeom>
          <a:noFill/>
          <a:ln/>
        </p:spPr>
        <p:txBody>
          <a:bodyPr wrap="square" lIns="0" tIns="0" rIns="0" bIns="0" rtlCol="0" anchor="ctr"/>
          <a:lstStyle/>
          <a:p>
            <a:pPr marL="0" indent="0" algn="ctr">
              <a:buNone/>
            </a:pPr>
            <a:r>
              <a:rPr lang="fr-FR" sz="3000" b="1" noProof="0" dirty="0">
                <a:solidFill>
                  <a:srgbClr val="12315B"/>
                </a:solidFill>
                <a:latin typeface="Calibri" pitchFamily="34" charset="0"/>
                <a:ea typeface="Calibri" pitchFamily="34" charset="-122"/>
                <a:cs typeface="Calibri" pitchFamily="34" charset="-120"/>
              </a:rPr>
              <a:t>1er</a:t>
            </a:r>
            <a:endParaRPr lang="fr-FR" sz="3000" noProof="0" dirty="0"/>
          </a:p>
        </p:txBody>
      </p:sp>
      <p:sp>
        <p:nvSpPr>
          <p:cNvPr id="13" name="Text 11"/>
          <p:cNvSpPr txBox="1"/>
          <p:nvPr/>
        </p:nvSpPr>
        <p:spPr>
          <a:xfrm>
            <a:off x="7776597" y="2251253"/>
            <a:ext cx="2627182" cy="744322"/>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Cancer le plus fréquent en Afrique, tous cancers confondus, 2024</a:t>
            </a:r>
            <a:endParaRPr lang="fr-FR" sz="1400" noProof="0" dirty="0"/>
          </a:p>
        </p:txBody>
      </p:sp>
      <p:sp>
        <p:nvSpPr>
          <p:cNvPr id="14" name="Shape 12"/>
          <p:cNvSpPr/>
          <p:nvPr/>
        </p:nvSpPr>
        <p:spPr>
          <a:xfrm>
            <a:off x="1544380" y="3600801"/>
            <a:ext cx="2801472" cy="1691640"/>
          </a:xfrm>
          <a:prstGeom prst="roundRect">
            <a:avLst>
              <a:gd name="adj" fmla="val 3243"/>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1608942" y="3728817"/>
            <a:ext cx="2627182" cy="761238"/>
          </a:xfrm>
          <a:prstGeom prst="rect">
            <a:avLst/>
          </a:prstGeom>
          <a:noFill/>
          <a:ln/>
        </p:spPr>
        <p:txBody>
          <a:bodyPr wrap="square" lIns="0" tIns="0" rIns="0" bIns="0" rtlCol="0" anchor="ctr"/>
          <a:lstStyle/>
          <a:p>
            <a:pPr marL="0" indent="0" algn="ctr">
              <a:buNone/>
            </a:pPr>
            <a:r>
              <a:rPr lang="fr-FR" sz="3000" b="1" noProof="0" dirty="0">
                <a:solidFill>
                  <a:srgbClr val="12315B"/>
                </a:solidFill>
                <a:latin typeface="Calibri" pitchFamily="34" charset="0"/>
                <a:ea typeface="Calibri" pitchFamily="34" charset="-122"/>
                <a:cs typeface="Calibri" pitchFamily="34" charset="-120"/>
              </a:rPr>
              <a:t>1 684</a:t>
            </a:r>
            <a:endParaRPr lang="fr-FR" sz="3000" noProof="0" dirty="0"/>
          </a:p>
        </p:txBody>
      </p:sp>
      <p:sp>
        <p:nvSpPr>
          <p:cNvPr id="16" name="Text 14"/>
          <p:cNvSpPr txBox="1"/>
          <p:nvPr/>
        </p:nvSpPr>
        <p:spPr>
          <a:xfrm>
            <a:off x="1608942" y="4480454"/>
            <a:ext cx="2627182" cy="744322"/>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Nouveaux cas estimés de cancer du sein au </a:t>
            </a:r>
            <a:r>
              <a:rPr lang="fr-FR" sz="1400" b="1" noProof="0" dirty="0">
                <a:solidFill>
                  <a:srgbClr val="1F3A63"/>
                </a:solidFill>
                <a:latin typeface="Calibri" pitchFamily="34" charset="0"/>
                <a:ea typeface="Calibri" pitchFamily="34" charset="-122"/>
                <a:cs typeface="Calibri" pitchFamily="34" charset="-120"/>
              </a:rPr>
              <a:t>Rwanda</a:t>
            </a:r>
            <a:r>
              <a:rPr lang="fr-FR" sz="1400" noProof="0" dirty="0">
                <a:solidFill>
                  <a:srgbClr val="1F3A63"/>
                </a:solidFill>
                <a:latin typeface="Calibri" pitchFamily="34" charset="0"/>
                <a:ea typeface="Calibri" pitchFamily="34" charset="-122"/>
                <a:cs typeface="Calibri" pitchFamily="34" charset="-120"/>
              </a:rPr>
              <a:t>, 2024</a:t>
            </a:r>
            <a:endParaRPr lang="fr-FR" sz="1400" noProof="0" dirty="0"/>
          </a:p>
        </p:txBody>
      </p:sp>
      <p:sp>
        <p:nvSpPr>
          <p:cNvPr id="17" name="Shape 15"/>
          <p:cNvSpPr/>
          <p:nvPr/>
        </p:nvSpPr>
        <p:spPr>
          <a:xfrm>
            <a:off x="4676701" y="3600801"/>
            <a:ext cx="2801472" cy="1691640"/>
          </a:xfrm>
          <a:prstGeom prst="roundRect">
            <a:avLst>
              <a:gd name="adj" fmla="val 3243"/>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741263" y="3728817"/>
            <a:ext cx="2627182" cy="761238"/>
          </a:xfrm>
          <a:prstGeom prst="rect">
            <a:avLst/>
          </a:prstGeom>
          <a:noFill/>
          <a:ln/>
        </p:spPr>
        <p:txBody>
          <a:bodyPr wrap="square" lIns="0" tIns="0" rIns="0" bIns="0" rtlCol="0" anchor="ctr"/>
          <a:lstStyle/>
          <a:p>
            <a:pPr marL="0" indent="0" algn="ctr">
              <a:buNone/>
            </a:pPr>
            <a:r>
              <a:rPr lang="fr-FR" sz="3000" b="1" noProof="0" dirty="0">
                <a:solidFill>
                  <a:srgbClr val="12315B"/>
                </a:solidFill>
                <a:latin typeface="Calibri" pitchFamily="34" charset="0"/>
                <a:ea typeface="Calibri" pitchFamily="34" charset="-122"/>
                <a:cs typeface="Calibri" pitchFamily="34" charset="-120"/>
              </a:rPr>
              <a:t>813</a:t>
            </a:r>
            <a:endParaRPr lang="fr-FR" sz="3000" noProof="0" dirty="0"/>
          </a:p>
        </p:txBody>
      </p:sp>
      <p:sp>
        <p:nvSpPr>
          <p:cNvPr id="19" name="Text 17"/>
          <p:cNvSpPr txBox="1"/>
          <p:nvPr/>
        </p:nvSpPr>
        <p:spPr>
          <a:xfrm>
            <a:off x="4741263" y="4480454"/>
            <a:ext cx="2627182" cy="744322"/>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Décès estimés par cancer du sein au </a:t>
            </a:r>
            <a:r>
              <a:rPr lang="fr-FR" sz="1400" b="1" noProof="0" dirty="0">
                <a:solidFill>
                  <a:srgbClr val="1F3A63"/>
                </a:solidFill>
                <a:latin typeface="Calibri" pitchFamily="34" charset="0"/>
                <a:ea typeface="Calibri" pitchFamily="34" charset="-122"/>
                <a:cs typeface="Calibri" pitchFamily="34" charset="-120"/>
              </a:rPr>
              <a:t>Rwanda</a:t>
            </a:r>
            <a:r>
              <a:rPr lang="fr-FR" sz="1400" noProof="0" dirty="0">
                <a:solidFill>
                  <a:srgbClr val="1F3A63"/>
                </a:solidFill>
                <a:latin typeface="Calibri" pitchFamily="34" charset="0"/>
                <a:ea typeface="Calibri" pitchFamily="34" charset="-122"/>
                <a:cs typeface="Calibri" pitchFamily="34" charset="-120"/>
              </a:rPr>
              <a:t>, 2024</a:t>
            </a:r>
            <a:endParaRPr lang="fr-FR" sz="1400" noProof="0" dirty="0"/>
          </a:p>
        </p:txBody>
      </p:sp>
      <p:sp>
        <p:nvSpPr>
          <p:cNvPr id="20" name="Shape 18"/>
          <p:cNvSpPr/>
          <p:nvPr/>
        </p:nvSpPr>
        <p:spPr>
          <a:xfrm>
            <a:off x="7712035" y="3600801"/>
            <a:ext cx="2801472" cy="1691640"/>
          </a:xfrm>
          <a:prstGeom prst="roundRect">
            <a:avLst>
              <a:gd name="adj" fmla="val 3243"/>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7776597" y="3728817"/>
            <a:ext cx="2627182" cy="761238"/>
          </a:xfrm>
          <a:prstGeom prst="rect">
            <a:avLst/>
          </a:prstGeom>
          <a:noFill/>
          <a:ln/>
        </p:spPr>
        <p:txBody>
          <a:bodyPr wrap="square" lIns="0" tIns="0" rIns="0" bIns="0" rtlCol="0" anchor="ctr"/>
          <a:lstStyle/>
          <a:p>
            <a:pPr marL="0" indent="0" algn="ctr">
              <a:buNone/>
            </a:pPr>
            <a:r>
              <a:rPr lang="fr-FR" sz="3000" b="1" noProof="0" dirty="0">
                <a:solidFill>
                  <a:srgbClr val="12315B"/>
                </a:solidFill>
                <a:latin typeface="Calibri" pitchFamily="34" charset="0"/>
                <a:ea typeface="Calibri" pitchFamily="34" charset="-122"/>
                <a:cs typeface="Calibri" pitchFamily="34" charset="-120"/>
              </a:rPr>
              <a:t>1er</a:t>
            </a:r>
            <a:endParaRPr lang="fr-FR" sz="3000" noProof="0" dirty="0"/>
          </a:p>
        </p:txBody>
      </p:sp>
      <p:sp>
        <p:nvSpPr>
          <p:cNvPr id="22" name="Text 20"/>
          <p:cNvSpPr txBox="1"/>
          <p:nvPr/>
        </p:nvSpPr>
        <p:spPr>
          <a:xfrm>
            <a:off x="7776597" y="4480454"/>
            <a:ext cx="2627182" cy="744322"/>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Cancer le plus fréquent chez les femmes au </a:t>
            </a:r>
            <a:r>
              <a:rPr lang="fr-FR" sz="1400" b="1" noProof="0" dirty="0">
                <a:solidFill>
                  <a:srgbClr val="1F3A63"/>
                </a:solidFill>
                <a:latin typeface="Calibri" pitchFamily="34" charset="0"/>
                <a:ea typeface="Calibri" pitchFamily="34" charset="-122"/>
                <a:cs typeface="Calibri" pitchFamily="34" charset="-120"/>
              </a:rPr>
              <a:t>Rwanda</a:t>
            </a:r>
            <a:r>
              <a:rPr lang="fr-FR" sz="1400" noProof="0" dirty="0">
                <a:solidFill>
                  <a:srgbClr val="1F3A63"/>
                </a:solidFill>
                <a:latin typeface="Calibri" pitchFamily="34" charset="0"/>
                <a:ea typeface="Calibri" pitchFamily="34" charset="-122"/>
                <a:cs typeface="Calibri" pitchFamily="34" charset="-120"/>
              </a:rPr>
              <a:t>, 2024</a:t>
            </a:r>
            <a:endParaRPr lang="fr-FR" sz="1400" noProof="0" dirty="0"/>
          </a:p>
        </p:txBody>
      </p:sp>
      <p:sp>
        <p:nvSpPr>
          <p:cNvPr id="23" name="Shape 21"/>
          <p:cNvSpPr/>
          <p:nvPr/>
        </p:nvSpPr>
        <p:spPr>
          <a:xfrm>
            <a:off x="548640" y="5580126"/>
            <a:ext cx="11094415" cy="637794"/>
          </a:xfrm>
          <a:prstGeom prst="roundRect">
            <a:avLst>
              <a:gd name="adj" fmla="val 4762"/>
            </a:avLst>
          </a:prstGeom>
          <a:solidFill>
            <a:srgbClr val="FDF1E0"/>
          </a:solidFill>
          <a:ln w="12700">
            <a:solidFill>
              <a:srgbClr val="EFD3AA"/>
            </a:solidFill>
            <a:prstDash val="solid"/>
          </a:ln>
        </p:spPr>
        <p:txBody>
          <a:bodyPr/>
          <a:lstStyle/>
          <a:p>
            <a:endParaRPr lang="fr-FR" noProof="0" dirty="0"/>
          </a:p>
        </p:txBody>
      </p:sp>
      <p:sp>
        <p:nvSpPr>
          <p:cNvPr id="24" name="Text 22"/>
          <p:cNvSpPr txBox="1"/>
          <p:nvPr/>
        </p:nvSpPr>
        <p:spPr>
          <a:xfrm>
            <a:off x="713232" y="5713172"/>
            <a:ext cx="10765231" cy="431596"/>
          </a:xfrm>
          <a:prstGeom prst="rect">
            <a:avLst/>
          </a:prstGeom>
          <a:noFill/>
          <a:ln/>
        </p:spPr>
        <p:txBody>
          <a:bodyPr wrap="square" lIns="0" tIns="0" rIns="0" bIns="0" rtlCol="0" anchor="ct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Il s’agit d’estimations modélisées du Global Cancer </a:t>
            </a:r>
            <a:r>
              <a:rPr lang="fr-FR" sz="1300" noProof="0" dirty="0" err="1">
                <a:solidFill>
                  <a:srgbClr val="0B1F3F"/>
                </a:solidFill>
                <a:latin typeface="Calibri" pitchFamily="34" charset="0"/>
                <a:ea typeface="Calibri" pitchFamily="34" charset="-122"/>
                <a:cs typeface="Calibri" pitchFamily="34" charset="-120"/>
              </a:rPr>
              <a:t>Observatory</a:t>
            </a:r>
            <a:r>
              <a:rPr lang="fr-FR" sz="1300" noProof="0" dirty="0">
                <a:solidFill>
                  <a:srgbClr val="0B1F3F"/>
                </a:solidFill>
                <a:latin typeface="Calibri" pitchFamily="34" charset="0"/>
                <a:ea typeface="Calibri" pitchFamily="34" charset="-122"/>
                <a:cs typeface="Calibri" pitchFamily="34" charset="-120"/>
              </a:rPr>
              <a:t> du CIRC (GLOBOCAN 2024), et non d’un décompte complet des cas confirmés par un registre. Le cancer du sein touche surtout les femmes, et plus rarement les hommes.</a:t>
            </a:r>
            <a:endParaRPr lang="fr-FR" sz="13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La place du cancer du sein au Rwanda</a:t>
            </a:r>
            <a:endParaRPr lang="fr-FR" sz="3000" noProof="0" dirty="0"/>
          </a:p>
        </p:txBody>
      </p:sp>
      <p:graphicFrame>
        <p:nvGraphicFramePr>
          <p:cNvPr id="5" name="Chart 0" descr="Chart"/>
          <p:cNvGraphicFramePr/>
          <p:nvPr>
            <p:extLst>
              <p:ext uri="{D42A27DB-BD31-4B8C-83A1-F6EECF244321}">
                <p14:modId xmlns:p14="http://schemas.microsoft.com/office/powerpoint/2010/main" val="2022284114"/>
              </p:ext>
            </p:extLst>
          </p:nvPr>
        </p:nvGraphicFramePr>
        <p:xfrm>
          <a:off x="548640" y="1325880"/>
          <a:ext cx="69494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325880"/>
            <a:ext cx="3870655" cy="1965960"/>
          </a:xfrm>
          <a:prstGeom prst="roundRect">
            <a:avLst>
              <a:gd name="adj" fmla="val 2791"/>
            </a:avLst>
          </a:prstGeom>
          <a:solidFill>
            <a:srgbClr val="F4F8FC"/>
          </a:solidFill>
          <a:ln w="12700">
            <a:solidFill>
              <a:srgbClr val="C8D8EC"/>
            </a:solidFill>
            <a:prstDash val="solid"/>
          </a:ln>
        </p:spPr>
        <p:txBody>
          <a:bodyPr/>
          <a:lstStyle/>
          <a:p>
            <a:endParaRPr lang="fr-FR" noProof="0" dirty="0"/>
          </a:p>
        </p:txBody>
      </p:sp>
      <p:sp>
        <p:nvSpPr>
          <p:cNvPr id="7" name="Text 4"/>
          <p:cNvSpPr txBox="1"/>
          <p:nvPr/>
        </p:nvSpPr>
        <p:spPr>
          <a:xfrm>
            <a:off x="7936992" y="1417320"/>
            <a:ext cx="3541471"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Ce que cela montre</a:t>
            </a:r>
            <a:endParaRPr lang="fr-FR" sz="1700" noProof="0" dirty="0"/>
          </a:p>
        </p:txBody>
      </p:sp>
      <p:sp>
        <p:nvSpPr>
          <p:cNvPr id="8" name="Text 5"/>
          <p:cNvSpPr txBox="1"/>
          <p:nvPr/>
        </p:nvSpPr>
        <p:spPr>
          <a:xfrm>
            <a:off x="7936992" y="1755648"/>
            <a:ext cx="3541471" cy="1481328"/>
          </a:xfrm>
          <a:prstGeom prst="rect">
            <a:avLst/>
          </a:prstGeom>
          <a:noFill/>
          <a:ln/>
        </p:spPr>
        <p:txBody>
          <a:bodyPr wrap="square" lIns="0" tIns="0" rIns="0" bIns="0" rtlCol="0" anchor="t">
            <a:normAutofit/>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Le cancer du sein est le deuxième cancer le plus fréquent au Rwanda selon les estimations de 2024, et le plus fréquent chez les femmes, juste devant le cancer du col de l'utérus.</a:t>
            </a:r>
            <a:endParaRPr lang="fr-FR" sz="1800" noProof="0" dirty="0"/>
          </a:p>
        </p:txBody>
      </p:sp>
      <p:sp>
        <p:nvSpPr>
          <p:cNvPr id="9" name="Shape 6"/>
          <p:cNvSpPr/>
          <p:nvPr/>
        </p:nvSpPr>
        <p:spPr>
          <a:xfrm>
            <a:off x="7772400" y="3474720"/>
            <a:ext cx="3870655" cy="1965960"/>
          </a:xfrm>
          <a:prstGeom prst="roundRect">
            <a:avLst>
              <a:gd name="adj" fmla="val 2791"/>
            </a:avLst>
          </a:prstGeom>
          <a:solidFill>
            <a:srgbClr val="F4F8FC"/>
          </a:solidFill>
          <a:ln w="12700">
            <a:solidFill>
              <a:srgbClr val="C8D8EC"/>
            </a:solidFill>
            <a:prstDash val="solid"/>
          </a:ln>
        </p:spPr>
        <p:txBody>
          <a:bodyPr/>
          <a:lstStyle/>
          <a:p>
            <a:endParaRPr lang="fr-FR" noProof="0" dirty="0"/>
          </a:p>
        </p:txBody>
      </p:sp>
      <p:sp>
        <p:nvSpPr>
          <p:cNvPr id="10" name="Text 7"/>
          <p:cNvSpPr txBox="1"/>
          <p:nvPr/>
        </p:nvSpPr>
        <p:spPr>
          <a:xfrm>
            <a:off x="7936992" y="3566160"/>
            <a:ext cx="3541471"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Pourquoi cela compte pour vous</a:t>
            </a:r>
            <a:endParaRPr lang="fr-FR" sz="1700" noProof="0" dirty="0"/>
          </a:p>
        </p:txBody>
      </p:sp>
      <p:sp>
        <p:nvSpPr>
          <p:cNvPr id="11" name="Text 8"/>
          <p:cNvSpPr txBox="1"/>
          <p:nvPr/>
        </p:nvSpPr>
        <p:spPr>
          <a:xfrm>
            <a:off x="7936992" y="3904488"/>
            <a:ext cx="3541471" cy="1481328"/>
          </a:xfrm>
          <a:prstGeom prst="rect">
            <a:avLst/>
          </a:prstGeom>
          <a:noFill/>
          <a:ln/>
        </p:spPr>
        <p:txBody>
          <a:bodyPr wrap="square" lIns="0" tIns="0" rIns="0" bIns="0" rtlCol="0" anchor="t">
            <a:normAutofit/>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La plupart des personnes consultent d’abord pour un changement qu’elles ont remarqué elles-mêmes. La consultation que vous menez est la principale voie vers un diagnostic plus précoce.</a:t>
            </a:r>
            <a:endParaRPr lang="fr-FR" sz="1800" noProof="0" dirty="0"/>
          </a:p>
        </p:txBody>
      </p:sp>
      <p:sp>
        <p:nvSpPr>
          <p:cNvPr id="12" name="Text 9"/>
          <p:cNvSpPr txBox="1"/>
          <p:nvPr/>
        </p:nvSpPr>
        <p:spPr>
          <a:xfrm>
            <a:off x="548640" y="5623560"/>
            <a:ext cx="11094415" cy="274320"/>
          </a:xfrm>
          <a:prstGeom prst="rect">
            <a:avLst/>
          </a:prstGeom>
          <a:noFill/>
          <a:ln/>
        </p:spPr>
        <p:txBody>
          <a:bodyPr wrap="square" lIns="0" tIns="0" rIns="0" bIns="0" rtlCol="0" anchor="ctr"/>
          <a:lstStyle/>
          <a:p>
            <a:pPr marL="0" indent="0">
              <a:buNone/>
            </a:pPr>
            <a:r>
              <a:rPr lang="fr-FR" sz="1100" i="1" noProof="0" dirty="0">
                <a:solidFill>
                  <a:srgbClr val="5B7699"/>
                </a:solidFill>
                <a:latin typeface="Calibri" pitchFamily="34" charset="0"/>
                <a:ea typeface="Calibri" pitchFamily="34" charset="-122"/>
                <a:cs typeface="Calibri" pitchFamily="34" charset="-120"/>
              </a:rPr>
              <a:t>Source : CIRC, Global Cancer </a:t>
            </a:r>
            <a:r>
              <a:rPr lang="fr-FR" sz="1100" i="1" noProof="0" dirty="0" err="1">
                <a:solidFill>
                  <a:srgbClr val="5B7699"/>
                </a:solidFill>
                <a:latin typeface="Calibri" pitchFamily="34" charset="0"/>
                <a:ea typeface="Calibri" pitchFamily="34" charset="-122"/>
                <a:cs typeface="Calibri" pitchFamily="34" charset="-120"/>
              </a:rPr>
              <a:t>Observatory</a:t>
            </a:r>
            <a:r>
              <a:rPr lang="fr-FR" sz="1100" i="1" noProof="0" dirty="0">
                <a:solidFill>
                  <a:srgbClr val="5B7699"/>
                </a:solidFill>
                <a:latin typeface="Calibri" pitchFamily="34" charset="0"/>
                <a:ea typeface="Calibri" pitchFamily="34" charset="-122"/>
                <a:cs typeface="Calibri" pitchFamily="34" charset="-120"/>
              </a:rPr>
              <a:t>, estimations GLOBOCAN 2024 pour le Rwanda, deux sexes, tous âges.</a:t>
            </a:r>
            <a:endParaRPr lang="fr-FR" sz="11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Le fardeau à venir</a:t>
            </a:r>
            <a:endParaRPr lang="fr-FR" sz="3000" noProof="0" dirty="0"/>
          </a:p>
        </p:txBody>
      </p:sp>
      <p:graphicFrame>
        <p:nvGraphicFramePr>
          <p:cNvPr id="5" name="Chart 0" descr="Chart"/>
          <p:cNvGraphicFramePr/>
          <p:nvPr>
            <p:extLst>
              <p:ext uri="{D42A27DB-BD31-4B8C-83A1-F6EECF244321}">
                <p14:modId xmlns:p14="http://schemas.microsoft.com/office/powerpoint/2010/main" val="1607126133"/>
              </p:ext>
            </p:extLst>
          </p:nvPr>
        </p:nvGraphicFramePr>
        <p:xfrm>
          <a:off x="548640" y="1325880"/>
          <a:ext cx="6949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325880"/>
            <a:ext cx="3870655" cy="1920240"/>
          </a:xfrm>
          <a:prstGeom prst="roundRect">
            <a:avLst>
              <a:gd name="adj" fmla="val 2857"/>
            </a:avLst>
          </a:prstGeom>
          <a:solidFill>
            <a:srgbClr val="F4F8FC"/>
          </a:solidFill>
          <a:ln w="12700">
            <a:solidFill>
              <a:srgbClr val="C8D8EC"/>
            </a:solidFill>
            <a:prstDash val="solid"/>
          </a:ln>
        </p:spPr>
        <p:txBody>
          <a:bodyPr/>
          <a:lstStyle/>
          <a:p>
            <a:endParaRPr lang="fr-FR" noProof="0" dirty="0"/>
          </a:p>
        </p:txBody>
      </p:sp>
      <p:sp>
        <p:nvSpPr>
          <p:cNvPr id="7" name="Text 4"/>
          <p:cNvSpPr txBox="1"/>
          <p:nvPr/>
        </p:nvSpPr>
        <p:spPr>
          <a:xfrm>
            <a:off x="7936992" y="1417320"/>
            <a:ext cx="3541471"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Le cancer du sein en Afrique</a:t>
            </a:r>
            <a:endParaRPr lang="fr-FR" sz="1700" noProof="0" dirty="0"/>
          </a:p>
        </p:txBody>
      </p:sp>
      <p:sp>
        <p:nvSpPr>
          <p:cNvPr id="8" name="Text 5"/>
          <p:cNvSpPr txBox="1"/>
          <p:nvPr/>
        </p:nvSpPr>
        <p:spPr>
          <a:xfrm>
            <a:off x="7936992" y="1755648"/>
            <a:ext cx="3541471" cy="1435608"/>
          </a:xfrm>
          <a:prstGeom prst="rect">
            <a:avLst/>
          </a:prstGeom>
          <a:noFill/>
          <a:ln/>
        </p:spPr>
        <p:txBody>
          <a:bodyPr wrap="square" lIns="0" tIns="0" rIns="0" bIns="0" rtlCol="0" anchor="t">
            <a:normAutofit fontScale="985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Une analyse distincte des données GLOBOCAN prévoit environ 1,12 million de nouveaux cas de cancer du sein par an en Afrique d'ici 2050, à partir d'une année de référence 2022.</a:t>
            </a:r>
            <a:endParaRPr lang="fr-FR" sz="1800" noProof="0" dirty="0"/>
          </a:p>
        </p:txBody>
      </p:sp>
      <p:sp>
        <p:nvSpPr>
          <p:cNvPr id="9" name="Shape 6"/>
          <p:cNvSpPr/>
          <p:nvPr/>
        </p:nvSpPr>
        <p:spPr>
          <a:xfrm>
            <a:off x="7772400" y="3429000"/>
            <a:ext cx="3870655" cy="1920240"/>
          </a:xfrm>
          <a:prstGeom prst="roundRect">
            <a:avLst>
              <a:gd name="adj" fmla="val 2857"/>
            </a:avLst>
          </a:prstGeom>
          <a:solidFill>
            <a:srgbClr val="F4F8FC"/>
          </a:solidFill>
          <a:ln w="12700">
            <a:solidFill>
              <a:srgbClr val="C8D8EC"/>
            </a:solidFill>
            <a:prstDash val="solid"/>
          </a:ln>
        </p:spPr>
        <p:txBody>
          <a:bodyPr/>
          <a:lstStyle/>
          <a:p>
            <a:endParaRPr lang="fr-FR" noProof="0" dirty="0"/>
          </a:p>
        </p:txBody>
      </p:sp>
      <p:sp>
        <p:nvSpPr>
          <p:cNvPr id="10" name="Text 7"/>
          <p:cNvSpPr txBox="1"/>
          <p:nvPr/>
        </p:nvSpPr>
        <p:spPr>
          <a:xfrm>
            <a:off x="7936992" y="3520440"/>
            <a:ext cx="3541471" cy="292608"/>
          </a:xfrm>
          <a:prstGeom prst="rect">
            <a:avLst/>
          </a:prstGeom>
          <a:noFill/>
          <a:ln/>
        </p:spPr>
        <p:txBody>
          <a:bodyPr wrap="square" lIns="0" tIns="0" rIns="0" bIns="0" rtlCol="0" anchor="t">
            <a:normAutofit fontScale="98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Lisez attentivement les projections</a:t>
            </a:r>
            <a:endParaRPr lang="fr-FR" sz="1700" noProof="0" dirty="0"/>
          </a:p>
        </p:txBody>
      </p:sp>
      <p:sp>
        <p:nvSpPr>
          <p:cNvPr id="11" name="Text 8"/>
          <p:cNvSpPr txBox="1"/>
          <p:nvPr/>
        </p:nvSpPr>
        <p:spPr>
          <a:xfrm>
            <a:off x="7936992" y="3858768"/>
            <a:ext cx="3541471" cy="1435608"/>
          </a:xfrm>
          <a:prstGeom prst="rect">
            <a:avLst/>
          </a:prstGeom>
          <a:noFill/>
          <a:ln/>
        </p:spPr>
        <p:txBody>
          <a:bodyPr wrap="square" lIns="0" tIns="0" rIns="0" bIns="0" rtlCol="0" anchor="t">
            <a:normAutofit lnSpcReduction="10000"/>
          </a:bodyPr>
          <a:lstStyle/>
          <a:p>
            <a:pPr marL="0" indent="0">
              <a:lnSpc>
                <a:spcPct val="90000"/>
              </a:lnSpc>
              <a:buNone/>
            </a:pPr>
            <a:r>
              <a:rPr lang="fr-FR" sz="1746" noProof="0" dirty="0">
                <a:solidFill>
                  <a:srgbClr val="1F3A63"/>
                </a:solidFill>
                <a:latin typeface="Calibri" pitchFamily="34" charset="0"/>
                <a:ea typeface="Calibri" pitchFamily="34" charset="-122"/>
                <a:cs typeface="Calibri" pitchFamily="34" charset="-120"/>
              </a:rPr>
              <a:t>Les projections décrivent ce qui pourrait se produire si les tendances actuelles se poursuivent. Ce ne sont pas des certitudes. La hausse est surtout liée à la croissance démographique et au vieillissement.</a:t>
            </a:r>
            <a:endParaRPr lang="fr-FR" sz="1746" noProof="0" dirty="0"/>
          </a:p>
        </p:txBody>
      </p:sp>
      <p:sp>
        <p:nvSpPr>
          <p:cNvPr id="12" name="Text 9"/>
          <p:cNvSpPr txBox="1"/>
          <p:nvPr/>
        </p:nvSpPr>
        <p:spPr>
          <a:xfrm>
            <a:off x="548640" y="5691358"/>
            <a:ext cx="11094415" cy="274320"/>
          </a:xfrm>
          <a:prstGeom prst="rect">
            <a:avLst/>
          </a:prstGeom>
          <a:noFill/>
          <a:ln/>
        </p:spPr>
        <p:txBody>
          <a:bodyPr wrap="square" lIns="0" tIns="0" rIns="0" bIns="0" rtlCol="0" anchor="ctr">
            <a:normAutofit fontScale="91500" lnSpcReduction="10000"/>
          </a:bodyPr>
          <a:lstStyle/>
          <a:p>
            <a:pPr marL="0" indent="0">
              <a:buNone/>
            </a:pPr>
            <a:r>
              <a:rPr lang="fr-FR" sz="1100" i="1" noProof="0" dirty="0">
                <a:solidFill>
                  <a:srgbClr val="5B7699"/>
                </a:solidFill>
                <a:latin typeface="Calibri" pitchFamily="34" charset="0"/>
                <a:ea typeface="Calibri" pitchFamily="34" charset="-122"/>
                <a:cs typeface="Calibri" pitchFamily="34" charset="-120"/>
              </a:rPr>
              <a:t>Sources : Plan national de lutte contre le cancer du Rwanda 2025 à 2029 (tous cancers, 2022 à 2045). La projection du cancer du sein en Afrique jusqu’en 2050 est calculée à partir d’une année de référence GLOBOCAN 2022 et présentée séparément des estimations GLOBOCAN 2024 utilisées ailleurs.</a:t>
            </a:r>
            <a:endParaRPr lang="fr-FR" sz="11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Diagnostiqué trop tard</a:t>
            </a:r>
            <a:endParaRPr lang="fr-FR" sz="3000" noProof="0" dirty="0"/>
          </a:p>
        </p:txBody>
      </p:sp>
      <p:sp>
        <p:nvSpPr>
          <p:cNvPr id="23" name="Text 21"/>
          <p:cNvSpPr txBox="1"/>
          <p:nvPr/>
        </p:nvSpPr>
        <p:spPr>
          <a:xfrm>
            <a:off x="548640" y="6191018"/>
            <a:ext cx="11094415" cy="274320"/>
          </a:xfrm>
          <a:prstGeom prst="rect">
            <a:avLst/>
          </a:prstGeom>
          <a:noFill/>
          <a:ln/>
        </p:spPr>
        <p:txBody>
          <a:bodyPr wrap="square" lIns="0" tIns="0" rIns="0" bIns="0" rtlCol="0" anchor="ctr">
            <a:noAutofit/>
          </a:bodyPr>
          <a:lstStyle/>
          <a:p>
            <a:pPr marL="0" indent="0">
              <a:buNone/>
            </a:pPr>
            <a:r>
              <a:rPr lang="fr-FR" sz="990" i="1" noProof="0" dirty="0">
                <a:solidFill>
                  <a:srgbClr val="5B7699"/>
                </a:solidFill>
                <a:latin typeface="Calibri" pitchFamily="34" charset="0"/>
                <a:ea typeface="Calibri" pitchFamily="34" charset="-122"/>
                <a:cs typeface="Calibri" pitchFamily="34" charset="-120"/>
              </a:rPr>
              <a:t>Source : République du Rwanda, Ministère de la Santé. Plan national de lutte contre le cancer 2025 à 2029.</a:t>
            </a:r>
            <a:endParaRPr lang="fr-FR" sz="990" noProof="0" dirty="0"/>
          </a:p>
        </p:txBody>
      </p:sp>
      <p:sp>
        <p:nvSpPr>
          <p:cNvPr id="8" name="Shape 6"/>
          <p:cNvSpPr/>
          <p:nvPr/>
        </p:nvSpPr>
        <p:spPr>
          <a:xfrm>
            <a:off x="4332122" y="1136068"/>
            <a:ext cx="3527450" cy="1405426"/>
          </a:xfrm>
          <a:prstGeom prst="roundRect">
            <a:avLst>
              <a:gd name="adj" fmla="val 3158"/>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41850" y="1153244"/>
            <a:ext cx="3307994" cy="781812"/>
          </a:xfrm>
          <a:prstGeom prst="rect">
            <a:avLst/>
          </a:prstGeom>
          <a:noFill/>
          <a:ln/>
        </p:spPr>
        <p:txBody>
          <a:bodyPr wrap="square" lIns="0" tIns="0" rIns="0" bIns="0" rtlCol="0" anchor="ctr">
            <a:normAutofit fontScale="97500"/>
          </a:bodyPr>
          <a:lstStyle/>
          <a:p>
            <a:pPr marL="0" indent="0" algn="ctr">
              <a:buNone/>
            </a:pPr>
            <a:r>
              <a:rPr lang="fr-FR" sz="3200" b="1" noProof="0" dirty="0">
                <a:solidFill>
                  <a:srgbClr val="12315B"/>
                </a:solidFill>
                <a:latin typeface="Calibri" pitchFamily="34" charset="0"/>
                <a:ea typeface="Calibri" pitchFamily="34" charset="-122"/>
                <a:cs typeface="Calibri" pitchFamily="34" charset="-120"/>
              </a:rPr>
              <a:t>En dessous de 50 %</a:t>
            </a:r>
            <a:endParaRPr lang="fr-FR" sz="3200" noProof="0" dirty="0"/>
          </a:p>
        </p:txBody>
      </p:sp>
      <p:sp>
        <p:nvSpPr>
          <p:cNvPr id="10" name="Text 8"/>
          <p:cNvSpPr txBox="1"/>
          <p:nvPr/>
        </p:nvSpPr>
        <p:spPr>
          <a:xfrm>
            <a:off x="4441850" y="1928655"/>
            <a:ext cx="3307994" cy="764438"/>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Cible nationale de diagnostics à un stade avancé d’ici 2029</a:t>
            </a:r>
            <a:endParaRPr lang="fr-FR" sz="1400" noProof="0" dirty="0"/>
          </a:p>
        </p:txBody>
      </p:sp>
      <p:sp>
        <p:nvSpPr>
          <p:cNvPr id="5" name="Shape 3"/>
          <p:cNvSpPr/>
          <p:nvPr/>
        </p:nvSpPr>
        <p:spPr>
          <a:xfrm>
            <a:off x="548640" y="1136068"/>
            <a:ext cx="3527450" cy="1405426"/>
          </a:xfrm>
          <a:prstGeom prst="roundRect">
            <a:avLst>
              <a:gd name="adj" fmla="val 3158"/>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658368" y="1153244"/>
            <a:ext cx="3307994" cy="781812"/>
          </a:xfrm>
          <a:prstGeom prst="rect">
            <a:avLst/>
          </a:prstGeom>
          <a:noFill/>
          <a:ln/>
        </p:spPr>
        <p:txBody>
          <a:bodyPr wrap="square" lIns="0" tIns="0" rIns="0" bIns="0" rtlCol="0" anchor="ctr"/>
          <a:lstStyle/>
          <a:p>
            <a:pPr marL="0" indent="0" algn="ctr">
              <a:buNone/>
            </a:pPr>
            <a:r>
              <a:rPr lang="fr-FR" sz="3200" b="1" noProof="0" dirty="0">
                <a:solidFill>
                  <a:srgbClr val="12315B"/>
                </a:solidFill>
                <a:latin typeface="Calibri" pitchFamily="34" charset="0"/>
                <a:ea typeface="Calibri" pitchFamily="34" charset="-122"/>
                <a:cs typeface="Calibri" pitchFamily="34" charset="-120"/>
              </a:rPr>
              <a:t>73 %</a:t>
            </a:r>
            <a:endParaRPr lang="fr-FR" sz="3200" noProof="0" dirty="0"/>
          </a:p>
        </p:txBody>
      </p:sp>
      <p:sp>
        <p:nvSpPr>
          <p:cNvPr id="7" name="Text 5"/>
          <p:cNvSpPr txBox="1"/>
          <p:nvPr/>
        </p:nvSpPr>
        <p:spPr>
          <a:xfrm>
            <a:off x="658368" y="1928655"/>
            <a:ext cx="3307994" cy="764438"/>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des cancers du sein dont le stade était connu au Rwanda étaient de stade III ou IV en 2023</a:t>
            </a:r>
            <a:endParaRPr lang="fr-FR" sz="1400" noProof="0" dirty="0"/>
          </a:p>
        </p:txBody>
      </p:sp>
      <p:sp>
        <p:nvSpPr>
          <p:cNvPr id="11" name="Shape 9"/>
          <p:cNvSpPr/>
          <p:nvPr/>
        </p:nvSpPr>
        <p:spPr>
          <a:xfrm>
            <a:off x="8115605" y="1136068"/>
            <a:ext cx="3527450" cy="1405426"/>
          </a:xfrm>
          <a:prstGeom prst="roundRect">
            <a:avLst>
              <a:gd name="adj" fmla="val 3158"/>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25333" y="1153244"/>
            <a:ext cx="3307994" cy="781812"/>
          </a:xfrm>
          <a:prstGeom prst="rect">
            <a:avLst/>
          </a:prstGeom>
          <a:noFill/>
          <a:ln/>
        </p:spPr>
        <p:txBody>
          <a:bodyPr wrap="square" lIns="0" tIns="0" rIns="0" bIns="0" rtlCol="0" anchor="ctr"/>
          <a:lstStyle/>
          <a:p>
            <a:pPr marL="0" indent="0" algn="ctr">
              <a:buNone/>
            </a:pPr>
            <a:r>
              <a:rPr lang="fr-FR" sz="3200" b="1" noProof="0" dirty="0">
                <a:solidFill>
                  <a:srgbClr val="12315B"/>
                </a:solidFill>
                <a:latin typeface="Calibri" pitchFamily="34" charset="0"/>
                <a:ea typeface="Calibri" pitchFamily="34" charset="-122"/>
                <a:cs typeface="Calibri" pitchFamily="34" charset="-120"/>
              </a:rPr>
              <a:t>521 143</a:t>
            </a:r>
            <a:endParaRPr lang="fr-FR" sz="3200" noProof="0" dirty="0"/>
          </a:p>
        </p:txBody>
      </p:sp>
      <p:sp>
        <p:nvSpPr>
          <p:cNvPr id="13" name="Text 11"/>
          <p:cNvSpPr txBox="1"/>
          <p:nvPr/>
        </p:nvSpPr>
        <p:spPr>
          <a:xfrm>
            <a:off x="8225333" y="1928655"/>
            <a:ext cx="3307994" cy="764438"/>
          </a:xfrm>
          <a:prstGeom prst="rect">
            <a:avLst/>
          </a:prstGeom>
          <a:noFill/>
          <a:ln/>
        </p:spPr>
        <p:txBody>
          <a:bodyPr wrap="square" lIns="0" tIns="0" rIns="0" bIns="0" rtlCol="0" anchor="t"/>
          <a:lstStyle/>
          <a:p>
            <a:pPr marL="0" indent="0" algn="ctr">
              <a:lnSpc>
                <a:spcPct val="92000"/>
              </a:lnSpc>
              <a:buNone/>
            </a:pPr>
            <a:r>
              <a:rPr lang="fr-FR" sz="1400" noProof="0" dirty="0">
                <a:solidFill>
                  <a:srgbClr val="1F3A63"/>
                </a:solidFill>
                <a:latin typeface="Calibri" pitchFamily="34" charset="0"/>
                <a:ea typeface="Calibri" pitchFamily="34" charset="-122"/>
                <a:cs typeface="Calibri" pitchFamily="34" charset="-120"/>
              </a:rPr>
              <a:t>Personnes dépistées par examen clinique du sein au Rwanda, de 2019 à 2024</a:t>
            </a:r>
            <a:endParaRPr lang="fr-FR" sz="1400" noProof="0" dirty="0"/>
          </a:p>
        </p:txBody>
      </p:sp>
      <p:grpSp>
        <p:nvGrpSpPr>
          <p:cNvPr id="28" name="Grupo 27">
            <a:extLst>
              <a:ext uri="{FF2B5EF4-FFF2-40B4-BE49-F238E27FC236}">
                <a16:creationId xmlns:a16="http://schemas.microsoft.com/office/drawing/2014/main" id="{52A3385F-EE3F-87FC-428E-43BD393FDB7E}"/>
              </a:ext>
            </a:extLst>
          </p:cNvPr>
          <p:cNvGrpSpPr/>
          <p:nvPr/>
        </p:nvGrpSpPr>
        <p:grpSpPr>
          <a:xfrm>
            <a:off x="548639" y="2693093"/>
            <a:ext cx="11094415" cy="3497925"/>
            <a:chOff x="548639" y="2693093"/>
            <a:chExt cx="11094415" cy="3497925"/>
          </a:xfrm>
        </p:grpSpPr>
        <p:sp>
          <p:nvSpPr>
            <p:cNvPr id="24" name="Shape 12">
              <a:extLst>
                <a:ext uri="{FF2B5EF4-FFF2-40B4-BE49-F238E27FC236}">
                  <a16:creationId xmlns:a16="http://schemas.microsoft.com/office/drawing/2014/main" id="{E533692B-92DF-8B5C-86BE-879EC396BBB3}"/>
                </a:ext>
              </a:extLst>
            </p:cNvPr>
            <p:cNvSpPr/>
            <p:nvPr/>
          </p:nvSpPr>
          <p:spPr>
            <a:xfrm>
              <a:off x="548639" y="2693093"/>
              <a:ext cx="11094415" cy="3497925"/>
            </a:xfrm>
            <a:prstGeom prst="roundRect">
              <a:avLst>
                <a:gd name="adj" fmla="val 2500"/>
              </a:avLst>
            </a:prstGeom>
            <a:solidFill>
              <a:srgbClr val="F4F8FC"/>
            </a:solidFill>
            <a:ln w="12700">
              <a:solidFill>
                <a:srgbClr val="C8D8EC"/>
              </a:solidFill>
              <a:prstDash val="solid"/>
            </a:ln>
          </p:spPr>
          <p:txBody>
            <a:bodyPr/>
            <a:lstStyle/>
            <a:p>
              <a:endParaRPr lang="fr-FR" noProof="0" dirty="0"/>
            </a:p>
          </p:txBody>
        </p:sp>
        <p:sp>
          <p:nvSpPr>
            <p:cNvPr id="25" name="Text 13">
              <a:extLst>
                <a:ext uri="{FF2B5EF4-FFF2-40B4-BE49-F238E27FC236}">
                  <a16:creationId xmlns:a16="http://schemas.microsoft.com/office/drawing/2014/main" id="{5C946924-E585-077A-8A35-8201BC87231E}"/>
                </a:ext>
              </a:extLst>
            </p:cNvPr>
            <p:cNvSpPr txBox="1"/>
            <p:nvPr/>
          </p:nvSpPr>
          <p:spPr>
            <a:xfrm>
              <a:off x="944613" y="3053307"/>
              <a:ext cx="4280031" cy="263598"/>
            </a:xfrm>
            <a:prstGeom prst="rect">
              <a:avLst/>
            </a:prstGeom>
            <a:noFill/>
            <a:ln/>
          </p:spPr>
          <p:txBody>
            <a:bodyPr wrap="square" lIns="0" tIns="0" rIns="0" bIns="0" rtlCol="0" anchor="t">
              <a:noAutofit/>
            </a:bodyPr>
            <a:lstStyle/>
            <a:p>
              <a:pPr marL="0" indent="0">
                <a:buNone/>
              </a:pPr>
              <a:r>
                <a:rPr lang="fr-FR" sz="2000" b="1" noProof="0" dirty="0">
                  <a:solidFill>
                    <a:srgbClr val="12315B"/>
                  </a:solidFill>
                  <a:latin typeface="Calibri" pitchFamily="34" charset="0"/>
                  <a:ea typeface="Calibri" pitchFamily="34" charset="-122"/>
                  <a:cs typeface="Calibri" pitchFamily="34" charset="-120"/>
                </a:rPr>
                <a:t>Pourquoi le stade avancé compte</a:t>
              </a:r>
              <a:endParaRPr lang="fr-FR" sz="2000" noProof="0" dirty="0"/>
            </a:p>
          </p:txBody>
        </p:sp>
        <p:sp>
          <p:nvSpPr>
            <p:cNvPr id="26" name="Text 14">
              <a:extLst>
                <a:ext uri="{FF2B5EF4-FFF2-40B4-BE49-F238E27FC236}">
                  <a16:creationId xmlns:a16="http://schemas.microsoft.com/office/drawing/2014/main" id="{2000EDDD-31F3-DCD8-A58F-07A0E19B53D6}"/>
                </a:ext>
              </a:extLst>
            </p:cNvPr>
            <p:cNvSpPr txBox="1"/>
            <p:nvPr/>
          </p:nvSpPr>
          <p:spPr>
            <a:xfrm>
              <a:off x="944613" y="3880101"/>
              <a:ext cx="3252500" cy="462876"/>
            </a:xfrm>
            <a:prstGeom prst="rect">
              <a:avLst/>
            </a:prstGeom>
            <a:noFill/>
            <a:ln/>
          </p:spPr>
          <p:txBody>
            <a:bodyPr wrap="square" lIns="0" tIns="0" rIns="0" bIns="0" rtlCol="0" anchor="t">
              <a:noAutofit/>
            </a:bodyPr>
            <a:lstStyle/>
            <a:p>
              <a:pPr marL="0" indent="0">
                <a:lnSpc>
                  <a:spcPct val="90000"/>
                </a:lnSpc>
                <a:buNone/>
              </a:pPr>
              <a:r>
                <a:rPr lang="fr-FR" sz="1550" noProof="0" dirty="0">
                  <a:solidFill>
                    <a:srgbClr val="1F3A63"/>
                  </a:solidFill>
                  <a:latin typeface="Calibri" pitchFamily="34" charset="0"/>
                  <a:ea typeface="Calibri" pitchFamily="34" charset="-122"/>
                  <a:cs typeface="Calibri" pitchFamily="34" charset="-120"/>
                </a:rPr>
                <a:t>Un stade avancé réduit les options de traitement, augmente la probabilité d’une mastectomie et d’un traitement systémique, et diminue la survie.</a:t>
              </a:r>
              <a:endParaRPr lang="fr-FR" noProof="0" dirty="0"/>
            </a:p>
          </p:txBody>
        </p:sp>
        <p:pic>
          <p:nvPicPr>
            <p:cNvPr id="27" name="Imagen 26">
              <a:extLst>
                <a:ext uri="{FF2B5EF4-FFF2-40B4-BE49-F238E27FC236}">
                  <a16:creationId xmlns:a16="http://schemas.microsoft.com/office/drawing/2014/main" id="{0AB937CD-B87B-4BDF-C560-D2264FF9700A}"/>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5808009" y="2884587"/>
              <a:ext cx="4834647" cy="3127967"/>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 120"/>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1</a:t>
            </a:r>
            <a:endParaRPr lang="fr-FR" sz="1800" dirty="0"/>
          </a:p>
        </p:txBody>
      </p:sp>
      <p:sp>
        <p:nvSpPr>
          <p:cNvPr id="121" name="Text 121"/>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L’Initiative mondiale de l’OMS contre le cancer du sein : 60, 60, 80</a:t>
            </a:r>
            <a:endParaRPr lang="fr-FR" sz="1800" dirty="0"/>
          </a:p>
        </p:txBody>
      </p:sp>
      <p:sp>
        <p:nvSpPr>
          <p:cNvPr id="122" name="Text 122"/>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101" name="Text 101"/>
          <p:cNvSpPr txBox="1"/>
          <p:nvPr/>
        </p:nvSpPr>
        <p:spPr>
          <a:xfrm>
            <a:off x="548640" y="1225000"/>
            <a:ext cx="11094415" cy="640000"/>
          </a:xfrm>
          <a:prstGeom prst="rect">
            <a:avLst/>
          </a:prstGeom>
          <a:noFill/>
          <a:ln/>
        </p:spPr>
        <p:txBody>
          <a:bodyPr wrap="square" lIns="0" tIns="0" rIns="0" bIns="0" rtlCol="0" anchor="t"/>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Lancée par l’OMS en 2021 pour réduire de 2,5 % par an les décès par cancer du sein. Le Rwanda intègre ces trois cibles dans sa directive nationale sur le cancer du sein.</a:t>
            </a:r>
            <a:endParaRPr lang="fr-FR" sz="1800" dirty="0"/>
          </a:p>
        </p:txBody>
      </p:sp>
      <p:sp>
        <p:nvSpPr>
          <p:cNvPr id="102" name="Shape 102"/>
          <p:cNvSpPr/>
          <p:nvPr/>
        </p:nvSpPr>
        <p:spPr>
          <a:xfrm>
            <a:off x="548640" y="1990000"/>
            <a:ext cx="3527450" cy="29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03" name="Shape 103"/>
          <p:cNvSpPr/>
          <p:nvPr/>
        </p:nvSpPr>
        <p:spPr>
          <a:xfrm>
            <a:off x="2052365" y="2140000"/>
            <a:ext cx="520000" cy="52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1</a:t>
            </a:r>
            <a:endParaRPr lang="fr-FR" sz="1800" dirty="0"/>
          </a:p>
        </p:txBody>
      </p:sp>
      <p:sp>
        <p:nvSpPr>
          <p:cNvPr id="104" name="Text 104"/>
          <p:cNvSpPr txBox="1"/>
          <p:nvPr/>
        </p:nvSpPr>
        <p:spPr>
          <a:xfrm>
            <a:off x="698640" y="2750000"/>
            <a:ext cx="3227450" cy="380000"/>
          </a:xfrm>
          <a:prstGeom prst="rect">
            <a:avLst/>
          </a:prstGeom>
          <a:noFill/>
          <a:ln/>
        </p:spPr>
        <p:txBody>
          <a:bodyPr wrap="square" lIns="0" tIns="0" rIns="0" bIns="0" rtlCol="0" anchor="t"/>
          <a:lstStyle/>
          <a:p>
            <a:pPr marL="0" indent="0" algn="ctr">
              <a:lnSpc>
                <a:spcPct val="95000"/>
              </a:lnSpc>
              <a:buNone/>
            </a:pPr>
            <a:r>
              <a:rPr lang="fr-FR" sz="1800" b="1" dirty="0">
                <a:solidFill>
                  <a:srgbClr val="12315B"/>
                </a:solidFill>
                <a:latin typeface="Calibri" pitchFamily="34" charset="0"/>
                <a:ea typeface="Calibri" pitchFamily="34" charset="-122"/>
                <a:cs typeface="Calibri" pitchFamily="34" charset="-120"/>
              </a:rPr>
              <a:t>Détection précoce</a:t>
            </a:r>
            <a:endParaRPr lang="fr-FR" sz="1800" dirty="0"/>
          </a:p>
        </p:txBody>
      </p:sp>
      <p:sp>
        <p:nvSpPr>
          <p:cNvPr id="105" name="Text 105"/>
          <p:cNvSpPr txBox="1"/>
          <p:nvPr/>
        </p:nvSpPr>
        <p:spPr>
          <a:xfrm>
            <a:off x="698640" y="3160000"/>
            <a:ext cx="3227450" cy="560000"/>
          </a:xfrm>
          <a:prstGeom prst="rect">
            <a:avLst/>
          </a:prstGeom>
          <a:noFill/>
          <a:ln/>
        </p:spPr>
        <p:txBody>
          <a:bodyPr wrap="square" lIns="0" tIns="0" rIns="0" bIns="0" rtlCol="0" anchor="t"/>
          <a:lstStyle/>
          <a:p>
            <a:pPr marL="0" indent="0" algn="ctr">
              <a:lnSpc>
                <a:spcPct val="95000"/>
              </a:lnSpc>
              <a:buNone/>
            </a:pPr>
            <a:r>
              <a:rPr lang="fr-FR" sz="3200" b="1" dirty="0">
                <a:solidFill>
                  <a:srgbClr val="2E6DB4"/>
                </a:solidFill>
                <a:latin typeface="Calibri" pitchFamily="34" charset="0"/>
                <a:ea typeface="Calibri" pitchFamily="34" charset="-122"/>
                <a:cs typeface="Calibri" pitchFamily="34" charset="-120"/>
              </a:rPr>
              <a:t>60 % ou plus</a:t>
            </a:r>
            <a:endParaRPr lang="fr-FR" sz="3200" dirty="0"/>
          </a:p>
        </p:txBody>
      </p:sp>
      <p:sp>
        <p:nvSpPr>
          <p:cNvPr id="106" name="Text 106"/>
          <p:cNvSpPr txBox="1"/>
          <p:nvPr/>
        </p:nvSpPr>
        <p:spPr>
          <a:xfrm>
            <a:off x="698640" y="3790000"/>
            <a:ext cx="3227450" cy="1050000"/>
          </a:xfrm>
          <a:prstGeom prst="rect">
            <a:avLst/>
          </a:prstGeom>
          <a:noFill/>
          <a:ln/>
        </p:spPr>
        <p:txBody>
          <a:bodyPr wrap="square" lIns="0" tIns="0" rIns="0" bIns="0" rtlCol="0" anchor="t"/>
          <a:lstStyle/>
          <a:p>
            <a:pPr marL="0" indent="0" algn="ctr">
              <a:lnSpc>
                <a:spcPct val="95000"/>
              </a:lnSpc>
              <a:buNone/>
            </a:pPr>
            <a:r>
              <a:rPr lang="fr-FR" sz="1800" dirty="0">
                <a:solidFill>
                  <a:srgbClr val="1F3A63"/>
                </a:solidFill>
                <a:latin typeface="Calibri" pitchFamily="34" charset="0"/>
                <a:ea typeface="Calibri" pitchFamily="34" charset="-122"/>
                <a:cs typeface="Calibri" pitchFamily="34" charset="-120"/>
              </a:rPr>
              <a:t>des cancers du sein invasifs diagnostiqués au stade I ou II</a:t>
            </a:r>
            <a:endParaRPr lang="fr-FR" sz="1800" dirty="0"/>
          </a:p>
        </p:txBody>
      </p:sp>
      <p:sp>
        <p:nvSpPr>
          <p:cNvPr id="107" name="Shape 107"/>
          <p:cNvSpPr/>
          <p:nvPr/>
        </p:nvSpPr>
        <p:spPr>
          <a:xfrm>
            <a:off x="4332122" y="1990000"/>
            <a:ext cx="3527450" cy="29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08" name="Shape 108"/>
          <p:cNvSpPr/>
          <p:nvPr/>
        </p:nvSpPr>
        <p:spPr>
          <a:xfrm>
            <a:off x="5835847" y="2140000"/>
            <a:ext cx="520000" cy="52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2</a:t>
            </a:r>
            <a:endParaRPr lang="fr-FR" sz="1800" dirty="0"/>
          </a:p>
        </p:txBody>
      </p:sp>
      <p:sp>
        <p:nvSpPr>
          <p:cNvPr id="109" name="Text 109"/>
          <p:cNvSpPr txBox="1"/>
          <p:nvPr/>
        </p:nvSpPr>
        <p:spPr>
          <a:xfrm>
            <a:off x="4482122" y="2750000"/>
            <a:ext cx="3227450" cy="380000"/>
          </a:xfrm>
          <a:prstGeom prst="rect">
            <a:avLst/>
          </a:prstGeom>
          <a:noFill/>
          <a:ln/>
        </p:spPr>
        <p:txBody>
          <a:bodyPr wrap="square" lIns="0" tIns="0" rIns="0" bIns="0" rtlCol="0" anchor="t"/>
          <a:lstStyle/>
          <a:p>
            <a:pPr marL="0" indent="0" algn="ctr">
              <a:lnSpc>
                <a:spcPct val="95000"/>
              </a:lnSpc>
              <a:buNone/>
            </a:pPr>
            <a:r>
              <a:rPr lang="fr-FR" sz="1800" b="1" dirty="0">
                <a:solidFill>
                  <a:srgbClr val="12315B"/>
                </a:solidFill>
                <a:latin typeface="Calibri" pitchFamily="34" charset="0"/>
                <a:ea typeface="Calibri" pitchFamily="34" charset="-122"/>
                <a:cs typeface="Calibri" pitchFamily="34" charset="-120"/>
              </a:rPr>
              <a:t>Diagnostic rapide</a:t>
            </a:r>
            <a:endParaRPr lang="fr-FR" sz="1800" dirty="0"/>
          </a:p>
        </p:txBody>
      </p:sp>
      <p:sp>
        <p:nvSpPr>
          <p:cNvPr id="110" name="Text 110"/>
          <p:cNvSpPr txBox="1"/>
          <p:nvPr/>
        </p:nvSpPr>
        <p:spPr>
          <a:xfrm>
            <a:off x="4482122" y="3160000"/>
            <a:ext cx="3227450" cy="560000"/>
          </a:xfrm>
          <a:prstGeom prst="rect">
            <a:avLst/>
          </a:prstGeom>
          <a:noFill/>
          <a:ln/>
        </p:spPr>
        <p:txBody>
          <a:bodyPr wrap="square" lIns="0" tIns="0" rIns="0" bIns="0" rtlCol="0" anchor="t"/>
          <a:lstStyle/>
          <a:p>
            <a:pPr marL="0" indent="0" algn="ctr">
              <a:lnSpc>
                <a:spcPct val="95000"/>
              </a:lnSpc>
              <a:buNone/>
            </a:pPr>
            <a:r>
              <a:rPr lang="fr-FR" sz="3200" b="1" dirty="0">
                <a:solidFill>
                  <a:srgbClr val="2E6DB4"/>
                </a:solidFill>
                <a:latin typeface="Calibri" pitchFamily="34" charset="0"/>
                <a:ea typeface="Calibri" pitchFamily="34" charset="-122"/>
                <a:cs typeface="Calibri" pitchFamily="34" charset="-120"/>
              </a:rPr>
              <a:t>60 jours ou moins</a:t>
            </a:r>
            <a:endParaRPr lang="fr-FR" sz="3200" dirty="0"/>
          </a:p>
        </p:txBody>
      </p:sp>
      <p:sp>
        <p:nvSpPr>
          <p:cNvPr id="111" name="Text 111"/>
          <p:cNvSpPr txBox="1"/>
          <p:nvPr/>
        </p:nvSpPr>
        <p:spPr>
          <a:xfrm>
            <a:off x="4482122" y="3790000"/>
            <a:ext cx="3227450" cy="1050000"/>
          </a:xfrm>
          <a:prstGeom prst="rect">
            <a:avLst/>
          </a:prstGeom>
          <a:noFill/>
          <a:ln/>
        </p:spPr>
        <p:txBody>
          <a:bodyPr wrap="square" lIns="0" tIns="0" rIns="0" bIns="0" rtlCol="0" anchor="t"/>
          <a:lstStyle/>
          <a:p>
            <a:pPr marL="0" indent="0" algn="ctr">
              <a:lnSpc>
                <a:spcPct val="95000"/>
              </a:lnSpc>
              <a:buNone/>
            </a:pPr>
            <a:r>
              <a:rPr lang="fr-FR" sz="1800" dirty="0">
                <a:solidFill>
                  <a:srgbClr val="1F3A63"/>
                </a:solidFill>
                <a:latin typeface="Calibri" pitchFamily="34" charset="0"/>
                <a:ea typeface="Calibri" pitchFamily="34" charset="-122"/>
                <a:cs typeface="Calibri" pitchFamily="34" charset="-120"/>
              </a:rPr>
              <a:t>entre la première consultation et le diagnostic : évaluation, imagerie, prélèvement et anatomopathologie</a:t>
            </a:r>
            <a:endParaRPr lang="fr-FR" sz="1800" dirty="0"/>
          </a:p>
        </p:txBody>
      </p:sp>
      <p:sp>
        <p:nvSpPr>
          <p:cNvPr id="112" name="Shape 112"/>
          <p:cNvSpPr/>
          <p:nvPr/>
        </p:nvSpPr>
        <p:spPr>
          <a:xfrm>
            <a:off x="8115604" y="1990000"/>
            <a:ext cx="3527450" cy="29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13" name="Shape 113"/>
          <p:cNvSpPr/>
          <p:nvPr/>
        </p:nvSpPr>
        <p:spPr>
          <a:xfrm>
            <a:off x="9619329" y="2140000"/>
            <a:ext cx="520000" cy="52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3</a:t>
            </a:r>
            <a:endParaRPr lang="fr-FR" sz="1800" dirty="0"/>
          </a:p>
        </p:txBody>
      </p:sp>
      <p:sp>
        <p:nvSpPr>
          <p:cNvPr id="114" name="Text 114"/>
          <p:cNvSpPr txBox="1"/>
          <p:nvPr/>
        </p:nvSpPr>
        <p:spPr>
          <a:xfrm>
            <a:off x="8265604" y="2750000"/>
            <a:ext cx="3227450" cy="380000"/>
          </a:xfrm>
          <a:prstGeom prst="rect">
            <a:avLst/>
          </a:prstGeom>
          <a:noFill/>
          <a:ln/>
        </p:spPr>
        <p:txBody>
          <a:bodyPr wrap="square" lIns="0" tIns="0" rIns="0" bIns="0" rtlCol="0" anchor="t"/>
          <a:lstStyle/>
          <a:p>
            <a:pPr marL="0" indent="0" algn="ctr">
              <a:lnSpc>
                <a:spcPct val="95000"/>
              </a:lnSpc>
              <a:buNone/>
            </a:pPr>
            <a:r>
              <a:rPr lang="fr-FR" sz="1800" b="1" dirty="0">
                <a:solidFill>
                  <a:srgbClr val="12315B"/>
                </a:solidFill>
                <a:latin typeface="Calibri" pitchFamily="34" charset="0"/>
                <a:ea typeface="Calibri" pitchFamily="34" charset="-122"/>
                <a:cs typeface="Calibri" pitchFamily="34" charset="-120"/>
              </a:rPr>
              <a:t>Traitement complet</a:t>
            </a:r>
            <a:endParaRPr lang="fr-FR" sz="1800" dirty="0"/>
          </a:p>
        </p:txBody>
      </p:sp>
      <p:sp>
        <p:nvSpPr>
          <p:cNvPr id="115" name="Text 115"/>
          <p:cNvSpPr txBox="1"/>
          <p:nvPr/>
        </p:nvSpPr>
        <p:spPr>
          <a:xfrm>
            <a:off x="8265604" y="3160000"/>
            <a:ext cx="3227450" cy="560000"/>
          </a:xfrm>
          <a:prstGeom prst="rect">
            <a:avLst/>
          </a:prstGeom>
          <a:noFill/>
          <a:ln/>
        </p:spPr>
        <p:txBody>
          <a:bodyPr wrap="square" lIns="0" tIns="0" rIns="0" bIns="0" rtlCol="0" anchor="t"/>
          <a:lstStyle/>
          <a:p>
            <a:pPr marL="0" indent="0" algn="ctr">
              <a:lnSpc>
                <a:spcPct val="95000"/>
              </a:lnSpc>
              <a:buNone/>
            </a:pPr>
            <a:r>
              <a:rPr lang="fr-FR" sz="3200" b="1" dirty="0">
                <a:solidFill>
                  <a:srgbClr val="2E6DB4"/>
                </a:solidFill>
                <a:latin typeface="Calibri" pitchFamily="34" charset="0"/>
                <a:ea typeface="Calibri" pitchFamily="34" charset="-122"/>
                <a:cs typeface="Calibri" pitchFamily="34" charset="-120"/>
              </a:rPr>
              <a:t>80 % ou plus</a:t>
            </a:r>
            <a:endParaRPr lang="fr-FR" sz="3200" dirty="0"/>
          </a:p>
        </p:txBody>
      </p:sp>
      <p:sp>
        <p:nvSpPr>
          <p:cNvPr id="116" name="Text 116"/>
          <p:cNvSpPr txBox="1"/>
          <p:nvPr/>
        </p:nvSpPr>
        <p:spPr>
          <a:xfrm>
            <a:off x="8265604" y="3790000"/>
            <a:ext cx="3227450" cy="1050000"/>
          </a:xfrm>
          <a:prstGeom prst="rect">
            <a:avLst/>
          </a:prstGeom>
          <a:noFill/>
          <a:ln/>
        </p:spPr>
        <p:txBody>
          <a:bodyPr wrap="square" lIns="0" tIns="0" rIns="0" bIns="0" rtlCol="0" anchor="t"/>
          <a:lstStyle/>
          <a:p>
            <a:pPr marL="0" indent="0" algn="ctr">
              <a:lnSpc>
                <a:spcPct val="95000"/>
              </a:lnSpc>
              <a:buNone/>
            </a:pPr>
            <a:r>
              <a:rPr lang="fr-FR" sz="1800" dirty="0">
                <a:solidFill>
                  <a:srgbClr val="1F3A63"/>
                </a:solidFill>
                <a:latin typeface="Calibri" pitchFamily="34" charset="0"/>
                <a:ea typeface="Calibri" pitchFamily="34" charset="-122"/>
                <a:cs typeface="Calibri" pitchFamily="34" charset="-120"/>
              </a:rPr>
              <a:t>des patientes terminent le traitement multimodal recommandé</a:t>
            </a:r>
            <a:endParaRPr lang="fr-FR" sz="1800" dirty="0"/>
          </a:p>
        </p:txBody>
      </p:sp>
      <p:sp>
        <p:nvSpPr>
          <p:cNvPr id="117" name="Shape 117"/>
          <p:cNvSpPr/>
          <p:nvPr/>
        </p:nvSpPr>
        <p:spPr>
          <a:xfrm>
            <a:off x="548640" y="5090000"/>
            <a:ext cx="11094415" cy="115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19" name="Text 119"/>
          <p:cNvSpPr txBox="1"/>
          <p:nvPr/>
        </p:nvSpPr>
        <p:spPr>
          <a:xfrm>
            <a:off x="713232" y="5140000"/>
            <a:ext cx="10765231" cy="1050000"/>
          </a:xfrm>
          <a:prstGeom prst="rect">
            <a:avLst/>
          </a:prstGeom>
          <a:noFill/>
          <a:ln/>
        </p:spPr>
        <p:txBody>
          <a:bodyPr wrap="square" lIns="0" tIns="0" rIns="0" bIns="0" rtlCol="0" anchor="ctr"/>
          <a:lstStyle/>
          <a:p>
            <a:pPr marL="0" indent="0" algn="ctr">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Détection précoce  →  Diagnostic rapide  →  Traitement complet  →  Meilleure survie</a:t>
            </a:r>
            <a:endParaRPr lang="fr-FR" sz="1800" dirty="0"/>
          </a:p>
          <a:p>
            <a:pPr marL="0" indent="0" algn="ctr">
              <a:lnSpc>
                <a:spcPct val="95000"/>
              </a:lnSpc>
              <a:buNone/>
            </a:pPr>
            <a:r>
              <a:rPr lang="fr-FR" sz="1800" dirty="0">
                <a:solidFill>
                  <a:srgbClr val="0B1F3F"/>
                </a:solidFill>
                <a:latin typeface="Calibri" pitchFamily="34" charset="0"/>
                <a:ea typeface="Calibri" pitchFamily="34" charset="-122"/>
                <a:cs typeface="Calibri" pitchFamily="34" charset="-120"/>
              </a:rPr>
              <a:t>Votre rôle : chaque changement mammaire que vous reconnaissez, examinez et orientez sans délai rapproche le Rwanda des deux premières cibles.</a:t>
            </a:r>
            <a:endParaRPr lang="fr-FR"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958AD1-72A3-DBA4-44F8-E2492485E4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408C003-816E-32ED-1F39-7940E49260F3}"/>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4" name="Text 2">
            <a:extLst>
              <a:ext uri="{FF2B5EF4-FFF2-40B4-BE49-F238E27FC236}">
                <a16:creationId xmlns:a16="http://schemas.microsoft.com/office/drawing/2014/main" id="{95DBC135-5BE0-DE4D-12AA-5356E234A070}"/>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Diagnostiqué trop tard</a:t>
            </a:r>
            <a:endParaRPr lang="fr-FR" sz="3000" noProof="0" dirty="0"/>
          </a:p>
        </p:txBody>
      </p:sp>
      <p:sp>
        <p:nvSpPr>
          <p:cNvPr id="17" name="Shape 15">
            <a:extLst>
              <a:ext uri="{FF2B5EF4-FFF2-40B4-BE49-F238E27FC236}">
                <a16:creationId xmlns:a16="http://schemas.microsoft.com/office/drawing/2014/main" id="{63F4B8ED-9814-B49D-A3F5-C51D1E412C00}"/>
              </a:ext>
            </a:extLst>
          </p:cNvPr>
          <p:cNvSpPr/>
          <p:nvPr/>
        </p:nvSpPr>
        <p:spPr>
          <a:xfrm>
            <a:off x="548639" y="1120392"/>
            <a:ext cx="11094415" cy="5463288"/>
          </a:xfrm>
          <a:prstGeom prst="roundRect">
            <a:avLst>
              <a:gd name="adj" fmla="val 2500"/>
            </a:avLst>
          </a:prstGeom>
          <a:solidFill>
            <a:srgbClr val="F4F8FC"/>
          </a:solidFill>
          <a:ln w="12700">
            <a:solidFill>
              <a:srgbClr val="C8D8EC"/>
            </a:solidFill>
            <a:prstDash val="solid"/>
          </a:ln>
        </p:spPr>
        <p:txBody>
          <a:bodyPr/>
          <a:lstStyle/>
          <a:p>
            <a:endParaRPr lang="fr-FR" noProof="0" dirty="0"/>
          </a:p>
        </p:txBody>
      </p:sp>
      <p:sp>
        <p:nvSpPr>
          <p:cNvPr id="18" name="Text 16">
            <a:extLst>
              <a:ext uri="{FF2B5EF4-FFF2-40B4-BE49-F238E27FC236}">
                <a16:creationId xmlns:a16="http://schemas.microsoft.com/office/drawing/2014/main" id="{CDAA897E-F6B6-4352-B44A-E1AC199C514B}"/>
              </a:ext>
            </a:extLst>
          </p:cNvPr>
          <p:cNvSpPr txBox="1"/>
          <p:nvPr/>
        </p:nvSpPr>
        <p:spPr>
          <a:xfrm>
            <a:off x="713231" y="1246990"/>
            <a:ext cx="4867761" cy="338328"/>
          </a:xfrm>
          <a:prstGeom prst="rect">
            <a:avLst/>
          </a:prstGeom>
          <a:noFill/>
          <a:ln/>
        </p:spPr>
        <p:txBody>
          <a:bodyPr wrap="square" lIns="0" tIns="0" rIns="0" bIns="0" rtlCol="0" anchor="t">
            <a:noAutofit/>
          </a:bodyPr>
          <a:lstStyle/>
          <a:p>
            <a:pPr marL="0" indent="0">
              <a:buNone/>
            </a:pPr>
            <a:r>
              <a:rPr lang="fr-FR" sz="1920" b="1" noProof="0" dirty="0">
                <a:solidFill>
                  <a:srgbClr val="12315B"/>
                </a:solidFill>
                <a:latin typeface="Calibri" pitchFamily="34" charset="0"/>
                <a:ea typeface="Calibri" pitchFamily="34" charset="-122"/>
                <a:cs typeface="Calibri" pitchFamily="34" charset="-120"/>
              </a:rPr>
              <a:t>Où se produit le retard</a:t>
            </a:r>
            <a:endParaRPr lang="fr-FR" sz="1920" noProof="0" dirty="0"/>
          </a:p>
        </p:txBody>
      </p:sp>
      <p:sp>
        <p:nvSpPr>
          <p:cNvPr id="19" name="Text 17">
            <a:extLst>
              <a:ext uri="{FF2B5EF4-FFF2-40B4-BE49-F238E27FC236}">
                <a16:creationId xmlns:a16="http://schemas.microsoft.com/office/drawing/2014/main" id="{15E32166-4635-D20F-5851-2D3139EC03DD}"/>
              </a:ext>
            </a:extLst>
          </p:cNvPr>
          <p:cNvSpPr txBox="1"/>
          <p:nvPr/>
        </p:nvSpPr>
        <p:spPr>
          <a:xfrm>
            <a:off x="650168" y="1585319"/>
            <a:ext cx="10929822" cy="553464"/>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Le retard s’accumule entre le moment où un changement est remarqué, la consultation, l’évaluation, la biopsie et le début du traitement. Chacune de ces étapes peut être raccourcie.</a:t>
            </a:r>
            <a:endParaRPr lang="fr-FR" noProof="0" dirty="0"/>
          </a:p>
        </p:txBody>
      </p:sp>
      <p:pic>
        <p:nvPicPr>
          <p:cNvPr id="7" name="Imagen 6">
            <a:extLst>
              <a:ext uri="{FF2B5EF4-FFF2-40B4-BE49-F238E27FC236}">
                <a16:creationId xmlns:a16="http://schemas.microsoft.com/office/drawing/2014/main" id="{1181A98F-766F-AF4D-0A89-3AD772DBA71F}"/>
              </a:ext>
            </a:extLst>
          </p:cNvPr>
          <p:cNvPicPr>
            <a:picLocks noChangeAspect="1"/>
          </p:cNvPicPr>
          <p:nvPr/>
        </p:nvPicPr>
        <p:blipFill>
          <a:blip r:embed="rId3"/>
          <a:stretch>
            <a:fillRect/>
          </a:stretch>
        </p:blipFill>
        <p:spPr>
          <a:xfrm>
            <a:off x="2209646" y="2165676"/>
            <a:ext cx="7772400" cy="4277119"/>
          </a:xfrm>
          <a:prstGeom prst="rect">
            <a:avLst/>
          </a:prstGeom>
        </p:spPr>
      </p:pic>
    </p:spTree>
    <p:extLst>
      <p:ext uri="{BB962C8B-B14F-4D97-AF65-F5344CB8AC3E}">
        <p14:creationId xmlns:p14="http://schemas.microsoft.com/office/powerpoint/2010/main" val="854680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26CD58-24E5-C66D-5FCB-A48685B9F2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DA3E165-621B-FACF-06C2-47EFCDC07D65}"/>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4" name="Text 2">
            <a:extLst>
              <a:ext uri="{FF2B5EF4-FFF2-40B4-BE49-F238E27FC236}">
                <a16:creationId xmlns:a16="http://schemas.microsoft.com/office/drawing/2014/main" id="{4D659C5F-B45E-791C-41CD-7CAB4F85807B}"/>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Diagnostiqué trop tard</a:t>
            </a:r>
            <a:endParaRPr lang="fr-FR" sz="3000" noProof="0" dirty="0"/>
          </a:p>
        </p:txBody>
      </p:sp>
      <p:sp>
        <p:nvSpPr>
          <p:cNvPr id="20" name="Shape 18">
            <a:extLst>
              <a:ext uri="{FF2B5EF4-FFF2-40B4-BE49-F238E27FC236}">
                <a16:creationId xmlns:a16="http://schemas.microsoft.com/office/drawing/2014/main" id="{312EEAD1-B132-BB3A-D498-8A4E827702A2}"/>
              </a:ext>
            </a:extLst>
          </p:cNvPr>
          <p:cNvSpPr/>
          <p:nvPr/>
        </p:nvSpPr>
        <p:spPr>
          <a:xfrm>
            <a:off x="548639" y="1170432"/>
            <a:ext cx="11094415" cy="5413248"/>
          </a:xfrm>
          <a:prstGeom prst="roundRect">
            <a:avLst>
              <a:gd name="adj" fmla="val 2500"/>
            </a:avLst>
          </a:prstGeom>
          <a:solidFill>
            <a:srgbClr val="F4F8FC"/>
          </a:solidFill>
          <a:ln w="12700">
            <a:solidFill>
              <a:srgbClr val="C8D8EC"/>
            </a:solidFill>
            <a:prstDash val="solid"/>
          </a:ln>
        </p:spPr>
        <p:txBody>
          <a:bodyPr/>
          <a:lstStyle/>
          <a:p>
            <a:endParaRPr lang="fr-FR" noProof="0" dirty="0"/>
          </a:p>
        </p:txBody>
      </p:sp>
      <p:sp>
        <p:nvSpPr>
          <p:cNvPr id="21" name="Text 19">
            <a:extLst>
              <a:ext uri="{FF2B5EF4-FFF2-40B4-BE49-F238E27FC236}">
                <a16:creationId xmlns:a16="http://schemas.microsoft.com/office/drawing/2014/main" id="{C14EBFE5-2A5E-8F4F-A46A-C243CA2565CA}"/>
              </a:ext>
            </a:extLst>
          </p:cNvPr>
          <p:cNvSpPr txBox="1"/>
          <p:nvPr/>
        </p:nvSpPr>
        <p:spPr>
          <a:xfrm>
            <a:off x="713232" y="1261873"/>
            <a:ext cx="3198266" cy="292608"/>
          </a:xfrm>
          <a:prstGeom prst="rect">
            <a:avLst/>
          </a:prstGeom>
          <a:noFill/>
          <a:ln/>
        </p:spPr>
        <p:txBody>
          <a:bodyPr wrap="square" lIns="0" tIns="0" rIns="0" bIns="0" rtlCol="0" anchor="t">
            <a:noAutofit/>
          </a:bodyPr>
          <a:lstStyle/>
          <a:p>
            <a:pPr marL="0" indent="0">
              <a:buNone/>
            </a:pPr>
            <a:r>
              <a:rPr lang="fr-FR" sz="1751" b="1" noProof="0" dirty="0">
                <a:solidFill>
                  <a:srgbClr val="12315B"/>
                </a:solidFill>
                <a:latin typeface="Calibri" pitchFamily="34" charset="0"/>
                <a:ea typeface="Calibri" pitchFamily="34" charset="-122"/>
                <a:cs typeface="Calibri" pitchFamily="34" charset="-120"/>
              </a:rPr>
              <a:t>Votre rôle</a:t>
            </a:r>
            <a:endParaRPr lang="fr-FR" sz="1751" noProof="0" dirty="0"/>
          </a:p>
        </p:txBody>
      </p:sp>
      <p:sp>
        <p:nvSpPr>
          <p:cNvPr id="22" name="Text 20">
            <a:extLst>
              <a:ext uri="{FF2B5EF4-FFF2-40B4-BE49-F238E27FC236}">
                <a16:creationId xmlns:a16="http://schemas.microsoft.com/office/drawing/2014/main" id="{484CC843-6208-3360-EF72-E4E77A35868C}"/>
              </a:ext>
            </a:extLst>
          </p:cNvPr>
          <p:cNvSpPr txBox="1"/>
          <p:nvPr/>
        </p:nvSpPr>
        <p:spPr>
          <a:xfrm>
            <a:off x="713232" y="1600201"/>
            <a:ext cx="10929822" cy="1709928"/>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Reconnaître un changement mammaire inquiétant dès le premier contact, et orienter sans attendre pour voir, est le levier le plus important dont vous disposez.</a:t>
            </a:r>
            <a:endParaRPr lang="fr-FR" sz="1800" noProof="0" dirty="0"/>
          </a:p>
        </p:txBody>
      </p:sp>
      <p:pic>
        <p:nvPicPr>
          <p:cNvPr id="9" name="Imagen 8">
            <a:extLst>
              <a:ext uri="{FF2B5EF4-FFF2-40B4-BE49-F238E27FC236}">
                <a16:creationId xmlns:a16="http://schemas.microsoft.com/office/drawing/2014/main" id="{A3E0575C-6057-72A7-8F79-A2381F75921D}"/>
              </a:ext>
            </a:extLst>
          </p:cNvPr>
          <p:cNvPicPr>
            <a:picLocks noChangeAspect="1"/>
          </p:cNvPicPr>
          <p:nvPr/>
        </p:nvPicPr>
        <p:blipFill>
          <a:blip r:embed="rId3"/>
          <a:stretch>
            <a:fillRect/>
          </a:stretch>
        </p:blipFill>
        <p:spPr>
          <a:xfrm>
            <a:off x="1199618" y="2194561"/>
            <a:ext cx="9957050" cy="4184285"/>
          </a:xfrm>
          <a:prstGeom prst="rect">
            <a:avLst/>
          </a:prstGeom>
        </p:spPr>
      </p:pic>
    </p:spTree>
    <p:extLst>
      <p:ext uri="{BB962C8B-B14F-4D97-AF65-F5344CB8AC3E}">
        <p14:creationId xmlns:p14="http://schemas.microsoft.com/office/powerpoint/2010/main" val="1723250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007009-7E0C-7B2A-7F06-B241259778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B2C9EA-E7EB-4B04-08D4-916C17766426}"/>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a:extLst>
              <a:ext uri="{FF2B5EF4-FFF2-40B4-BE49-F238E27FC236}">
                <a16:creationId xmlns:a16="http://schemas.microsoft.com/office/drawing/2014/main" id="{AC8CFDA7-DB3E-95D5-2502-7CC94102E8F9}"/>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21B4E23E-513D-2202-F774-82565CB0611F}"/>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Anatomie mammaire</a:t>
            </a:r>
            <a:endParaRPr lang="fr-FR" sz="3000" noProof="0" dirty="0"/>
          </a:p>
        </p:txBody>
      </p:sp>
      <p:pic>
        <p:nvPicPr>
          <p:cNvPr id="5" name="Imagen 4">
            <a:extLst>
              <a:ext uri="{FF2B5EF4-FFF2-40B4-BE49-F238E27FC236}">
                <a16:creationId xmlns:a16="http://schemas.microsoft.com/office/drawing/2014/main" id="{DFF8E33F-C85D-3547-ED4C-9F9116FFD747}"/>
              </a:ext>
            </a:extLst>
          </p:cNvPr>
          <p:cNvPicPr>
            <a:picLocks noChangeAspect="1"/>
          </p:cNvPicPr>
          <p:nvPr/>
        </p:nvPicPr>
        <p:blipFill>
          <a:blip r:embed="rId3"/>
          <a:stretch>
            <a:fillRect/>
          </a:stretch>
        </p:blipFill>
        <p:spPr>
          <a:xfrm>
            <a:off x="1577787" y="978400"/>
            <a:ext cx="8157883" cy="5420907"/>
          </a:xfrm>
          <a:prstGeom prst="rect">
            <a:avLst/>
          </a:prstGeom>
        </p:spPr>
      </p:pic>
    </p:spTree>
    <p:extLst>
      <p:ext uri="{BB962C8B-B14F-4D97-AF65-F5344CB8AC3E}">
        <p14:creationId xmlns:p14="http://schemas.microsoft.com/office/powerpoint/2010/main" val="3072300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Autofit/>
          </a:bodyPr>
          <a:lstStyle/>
          <a:p>
            <a:pPr marL="0" indent="0">
              <a:buNone/>
            </a:pPr>
            <a:r>
              <a:rPr lang="fr-FR" sz="2340" b="1" noProof="0" dirty="0">
                <a:solidFill>
                  <a:srgbClr val="12315B"/>
                </a:solidFill>
                <a:latin typeface="Calibri" pitchFamily="34" charset="0"/>
                <a:ea typeface="Calibri" pitchFamily="34" charset="-122"/>
                <a:cs typeface="Calibri" pitchFamily="34" charset="-120"/>
              </a:rPr>
              <a:t>Drainage lymphatique</a:t>
            </a:r>
            <a:endParaRPr lang="fr-FR" sz="2340" noProof="0" dirty="0"/>
          </a:p>
        </p:txBody>
      </p:sp>
      <p:pic>
        <p:nvPicPr>
          <p:cNvPr id="5" name="Imagen 4">
            <a:extLst>
              <a:ext uri="{FF2B5EF4-FFF2-40B4-BE49-F238E27FC236}">
                <a16:creationId xmlns:a16="http://schemas.microsoft.com/office/drawing/2014/main" id="{9E2812AF-E322-7C95-D0C3-5D5078DBC430}"/>
              </a:ext>
            </a:extLst>
          </p:cNvPr>
          <p:cNvPicPr>
            <a:picLocks noChangeAspect="1"/>
          </p:cNvPicPr>
          <p:nvPr/>
        </p:nvPicPr>
        <p:blipFill>
          <a:blip r:embed="rId3"/>
          <a:stretch>
            <a:fillRect/>
          </a:stretch>
        </p:blipFill>
        <p:spPr>
          <a:xfrm>
            <a:off x="1792788" y="1109472"/>
            <a:ext cx="7772400" cy="5181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Comment le cancer du sein se développe</a:t>
            </a:r>
            <a:endParaRPr lang="fr-FR" sz="3000" noProof="0" dirty="0"/>
          </a:p>
        </p:txBody>
      </p:sp>
      <p:sp>
        <p:nvSpPr>
          <p:cNvPr id="5" name="Shape 3"/>
          <p:cNvSpPr/>
          <p:nvPr/>
        </p:nvSpPr>
        <p:spPr>
          <a:xfrm>
            <a:off x="548640"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fr-FR"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FFFFFF"/>
                </a:solidFill>
                <a:latin typeface="Calibri" pitchFamily="34" charset="0"/>
                <a:ea typeface="Calibri" pitchFamily="34" charset="-122"/>
                <a:cs typeface="Calibri" pitchFamily="34" charset="-120"/>
              </a:rPr>
              <a:t>Croissance anormale</a:t>
            </a:r>
            <a:endParaRPr lang="fr-FR" sz="1287"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Maladie in situ</a:t>
            </a:r>
            <a:endParaRPr lang="fr-FR" sz="1287"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Cancer invasif</a:t>
            </a:r>
            <a:endParaRPr lang="fr-FR" sz="1287"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aux ganglions</a:t>
            </a:r>
            <a:endParaRPr lang="fr-FR" sz="1287"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à distance</a:t>
            </a:r>
            <a:endParaRPr lang="fr-FR" sz="1287"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Temps et taille</a:t>
            </a:r>
            <a:endParaRPr lang="fr-FR" sz="1287" noProof="0" dirty="0"/>
          </a:p>
        </p:txBody>
      </p:sp>
      <p:sp>
        <p:nvSpPr>
          <p:cNvPr id="17" name="Shape 15"/>
          <p:cNvSpPr/>
          <p:nvPr/>
        </p:nvSpPr>
        <p:spPr>
          <a:xfrm>
            <a:off x="548640" y="2148839"/>
            <a:ext cx="11094415" cy="4014893"/>
          </a:xfrm>
          <a:prstGeom prst="roundRect">
            <a:avLst>
              <a:gd name="adj" fmla="val 2286"/>
            </a:avLst>
          </a:prstGeom>
          <a:solidFill>
            <a:srgbClr val="F4F8FC"/>
          </a:solidFill>
          <a:ln w="15875">
            <a:solidFill>
              <a:srgbClr val="C8D8EC"/>
            </a:solidFill>
            <a:prstDash val="solid"/>
          </a:ln>
        </p:spPr>
        <p:txBody>
          <a:bodyPr/>
          <a:lstStyle/>
          <a:p>
            <a:endParaRPr lang="fr-FR" noProof="0" dirty="0"/>
          </a:p>
        </p:txBody>
      </p:sp>
      <p:sp>
        <p:nvSpPr>
          <p:cNvPr id="21" name="Text 19"/>
          <p:cNvSpPr txBox="1"/>
          <p:nvPr/>
        </p:nvSpPr>
        <p:spPr>
          <a:xfrm>
            <a:off x="819573" y="2304627"/>
            <a:ext cx="10768618" cy="1737360"/>
          </a:xfrm>
          <a:prstGeom prst="rect">
            <a:avLst/>
          </a:prstGeom>
          <a:noFill/>
          <a:ln/>
        </p:spPr>
        <p:txBody>
          <a:bodyPr wrap="square" lIns="0" tIns="0" rIns="0" bIns="0" rtlCol="0" anchor="t">
            <a:noAutofit/>
          </a:bodyPr>
          <a:lstStyle/>
          <a:p>
            <a:pPr marL="0" indent="0">
              <a:lnSpc>
                <a:spcPct val="98000"/>
              </a:lnSpc>
              <a:buNone/>
            </a:pPr>
            <a:r>
              <a:rPr lang="fr-FR" noProof="0" dirty="0">
                <a:solidFill>
                  <a:srgbClr val="0B1F3F"/>
                </a:solidFill>
                <a:latin typeface="Calibri" pitchFamily="34" charset="0"/>
                <a:ea typeface="Calibri" pitchFamily="34" charset="-122"/>
                <a:cs typeface="Calibri" pitchFamily="34" charset="-120"/>
              </a:rPr>
              <a:t>Des cellules qui tapissent un canal ou un lobule accumulent des modifications qui leur permettent de croître sans contrôle normal. À ce stade, rien ne se voit et rien ne se palpe.</a:t>
            </a:r>
            <a:endParaRPr lang="fr-FR" noProof="0" dirty="0"/>
          </a:p>
        </p:txBody>
      </p:sp>
      <p:pic>
        <p:nvPicPr>
          <p:cNvPr id="19" name="Imagen 18">
            <a:extLst>
              <a:ext uri="{FF2B5EF4-FFF2-40B4-BE49-F238E27FC236}">
                <a16:creationId xmlns:a16="http://schemas.microsoft.com/office/drawing/2014/main" id="{8912307D-6BE2-340B-F2AE-338645843F30}"/>
              </a:ext>
            </a:extLst>
          </p:cNvPr>
          <p:cNvPicPr>
            <a:picLocks noChangeAspect="1"/>
          </p:cNvPicPr>
          <p:nvPr/>
        </p:nvPicPr>
        <p:blipFill>
          <a:blip r:embed="rId3"/>
          <a:stretch>
            <a:fillRect/>
          </a:stretch>
        </p:blipFill>
        <p:spPr>
          <a:xfrm>
            <a:off x="2971694" y="2994288"/>
            <a:ext cx="6102001" cy="30475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Comment le cancer du sein se développe</a:t>
            </a:r>
            <a:endParaRPr lang="fr-FR"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Croissance anormale</a:t>
            </a:r>
            <a:endParaRPr lang="fr-FR" sz="1287" noProof="0" dirty="0"/>
          </a:p>
        </p:txBody>
      </p:sp>
      <p:sp>
        <p:nvSpPr>
          <p:cNvPr id="7" name="Shape 5"/>
          <p:cNvSpPr/>
          <p:nvPr/>
        </p:nvSpPr>
        <p:spPr>
          <a:xfrm>
            <a:off x="2422093"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fr-FR"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FFFFFF"/>
                </a:solidFill>
                <a:latin typeface="Calibri" pitchFamily="34" charset="0"/>
                <a:ea typeface="Calibri" pitchFamily="34" charset="-122"/>
                <a:cs typeface="Calibri" pitchFamily="34" charset="-120"/>
              </a:rPr>
              <a:t>Maladie in situ</a:t>
            </a:r>
            <a:endParaRPr lang="fr-FR" sz="1287"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Cancer invasif</a:t>
            </a:r>
            <a:endParaRPr lang="fr-FR" sz="1287"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aux ganglions</a:t>
            </a:r>
            <a:endParaRPr lang="fr-FR" sz="1287"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à distance</a:t>
            </a:r>
            <a:endParaRPr lang="fr-FR" sz="1287"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Temps et taille</a:t>
            </a:r>
            <a:endParaRPr lang="fr-FR" sz="1287" noProof="0" dirty="0"/>
          </a:p>
        </p:txBody>
      </p:sp>
      <p:sp>
        <p:nvSpPr>
          <p:cNvPr id="17" name="Shape 15"/>
          <p:cNvSpPr/>
          <p:nvPr/>
        </p:nvSpPr>
        <p:spPr>
          <a:xfrm>
            <a:off x="548640" y="2148840"/>
            <a:ext cx="11094415" cy="4142232"/>
          </a:xfrm>
          <a:prstGeom prst="roundRect">
            <a:avLst>
              <a:gd name="adj" fmla="val 2286"/>
            </a:avLst>
          </a:prstGeom>
          <a:solidFill>
            <a:srgbClr val="F4F8FC"/>
          </a:solidFill>
          <a:ln w="15875">
            <a:solidFill>
              <a:srgbClr val="C8D8EC"/>
            </a:solidFill>
            <a:prstDash val="solid"/>
          </a:ln>
        </p:spPr>
        <p:txBody>
          <a:bodyPr/>
          <a:lstStyle/>
          <a:p>
            <a:endParaRPr lang="fr-FR" noProof="0" dirty="0"/>
          </a:p>
        </p:txBody>
      </p:sp>
      <p:sp>
        <p:nvSpPr>
          <p:cNvPr id="21" name="Text 19"/>
          <p:cNvSpPr txBox="1"/>
          <p:nvPr/>
        </p:nvSpPr>
        <p:spPr>
          <a:xfrm>
            <a:off x="808617" y="2387301"/>
            <a:ext cx="10779574" cy="1737360"/>
          </a:xfrm>
          <a:prstGeom prst="rect">
            <a:avLst/>
          </a:prstGeom>
          <a:noFill/>
          <a:ln/>
        </p:spPr>
        <p:txBody>
          <a:bodyPr wrap="square" lIns="0" tIns="0" rIns="0" bIns="0" rtlCol="0" anchor="t">
            <a:noAutofit/>
          </a:bodyPr>
          <a:lstStyle/>
          <a:p>
            <a:pPr marL="0" indent="0">
              <a:lnSpc>
                <a:spcPct val="98000"/>
              </a:lnSpc>
              <a:buNone/>
            </a:pPr>
            <a:r>
              <a:rPr lang="fr-FR" noProof="0" dirty="0">
                <a:solidFill>
                  <a:srgbClr val="0B1F3F"/>
                </a:solidFill>
                <a:latin typeface="Calibri" pitchFamily="34" charset="0"/>
                <a:ea typeface="Calibri" pitchFamily="34" charset="-122"/>
                <a:cs typeface="Calibri" pitchFamily="34" charset="-120"/>
              </a:rPr>
              <a:t>Des cellules malignes anormales peuvent remplir le canal tout en restant à l'intérieur. Il s'agit d'un carcinome in situ. Il n'a pas envahi le tissu mammaire environnant et ne progresse pas toujours.</a:t>
            </a:r>
            <a:endParaRPr lang="fr-FR" noProof="0" dirty="0"/>
          </a:p>
        </p:txBody>
      </p:sp>
      <p:pic>
        <p:nvPicPr>
          <p:cNvPr id="19" name="Imagen 18">
            <a:extLst>
              <a:ext uri="{FF2B5EF4-FFF2-40B4-BE49-F238E27FC236}">
                <a16:creationId xmlns:a16="http://schemas.microsoft.com/office/drawing/2014/main" id="{37D7993D-1FF1-D190-20D2-1AD45D46BD68}"/>
              </a:ext>
            </a:extLst>
          </p:cNvPr>
          <p:cNvPicPr>
            <a:picLocks noChangeAspect="1"/>
          </p:cNvPicPr>
          <p:nvPr/>
        </p:nvPicPr>
        <p:blipFill>
          <a:blip r:embed="rId3"/>
          <a:stretch>
            <a:fillRect/>
          </a:stretch>
        </p:blipFill>
        <p:spPr>
          <a:xfrm>
            <a:off x="2337664" y="3039321"/>
            <a:ext cx="7772400" cy="307771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Comment le cancer du sein se développe</a:t>
            </a:r>
            <a:endParaRPr lang="fr-FR"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Croissance anormale</a:t>
            </a:r>
            <a:endParaRPr lang="fr-FR" sz="1287"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Maladie in situ</a:t>
            </a:r>
            <a:endParaRPr lang="fr-FR" sz="1287" noProof="0" dirty="0"/>
          </a:p>
        </p:txBody>
      </p:sp>
      <p:sp>
        <p:nvSpPr>
          <p:cNvPr id="9" name="Shape 7"/>
          <p:cNvSpPr/>
          <p:nvPr/>
        </p:nvSpPr>
        <p:spPr>
          <a:xfrm>
            <a:off x="4295546"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fr-FR"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FFFFFF"/>
                </a:solidFill>
                <a:latin typeface="Calibri" pitchFamily="34" charset="0"/>
                <a:ea typeface="Calibri" pitchFamily="34" charset="-122"/>
                <a:cs typeface="Calibri" pitchFamily="34" charset="-120"/>
              </a:rPr>
              <a:t>Cancer invasif</a:t>
            </a:r>
            <a:endParaRPr lang="fr-FR" sz="1287"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aux ganglions</a:t>
            </a:r>
            <a:endParaRPr lang="fr-FR" sz="1287"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à distance</a:t>
            </a:r>
            <a:endParaRPr lang="fr-FR" sz="1287"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Temps et taille</a:t>
            </a:r>
            <a:endParaRPr lang="fr-FR" sz="1287" noProof="0" dirty="0"/>
          </a:p>
        </p:txBody>
      </p:sp>
      <p:sp>
        <p:nvSpPr>
          <p:cNvPr id="17" name="Shape 15"/>
          <p:cNvSpPr/>
          <p:nvPr/>
        </p:nvSpPr>
        <p:spPr>
          <a:xfrm>
            <a:off x="548640" y="2148840"/>
            <a:ext cx="11094415" cy="4142232"/>
          </a:xfrm>
          <a:prstGeom prst="roundRect">
            <a:avLst>
              <a:gd name="adj" fmla="val 2286"/>
            </a:avLst>
          </a:prstGeom>
          <a:solidFill>
            <a:srgbClr val="F4F8FC"/>
          </a:solidFill>
          <a:ln w="15875">
            <a:solidFill>
              <a:srgbClr val="C8D8EC"/>
            </a:solidFill>
            <a:prstDash val="solid"/>
          </a:ln>
        </p:spPr>
        <p:txBody>
          <a:bodyPr/>
          <a:lstStyle/>
          <a:p>
            <a:endParaRPr lang="fr-FR" noProof="0" dirty="0"/>
          </a:p>
        </p:txBody>
      </p:sp>
      <p:sp>
        <p:nvSpPr>
          <p:cNvPr id="21" name="Text 19"/>
          <p:cNvSpPr txBox="1"/>
          <p:nvPr/>
        </p:nvSpPr>
        <p:spPr>
          <a:xfrm>
            <a:off x="844475" y="2387301"/>
            <a:ext cx="10743716" cy="1737360"/>
          </a:xfrm>
          <a:prstGeom prst="rect">
            <a:avLst/>
          </a:prstGeom>
          <a:noFill/>
          <a:ln/>
        </p:spPr>
        <p:txBody>
          <a:bodyPr wrap="square" lIns="0" tIns="0" rIns="0" bIns="0" rtlCol="0" anchor="t">
            <a:noAutofit/>
          </a:bodyPr>
          <a:lstStyle/>
          <a:p>
            <a:pPr marL="0" indent="0">
              <a:lnSpc>
                <a:spcPct val="98000"/>
              </a:lnSpc>
              <a:buNone/>
            </a:pPr>
            <a:r>
              <a:rPr lang="fr-FR" noProof="0" dirty="0">
                <a:solidFill>
                  <a:srgbClr val="0B1F3F"/>
                </a:solidFill>
                <a:latin typeface="Calibri" pitchFamily="34" charset="0"/>
                <a:ea typeface="Calibri" pitchFamily="34" charset="-122"/>
                <a:cs typeface="Calibri" pitchFamily="34" charset="-120"/>
              </a:rPr>
              <a:t>Une partie des lésions franchit la paroi du canal ou du lobule et envahit le tissu mammaire environnant. C’est le cancer du sein invasif, qui peut alors atteindre les vaisseaux lymphatiques et sanguins.</a:t>
            </a:r>
            <a:endParaRPr lang="fr-FR" noProof="0" dirty="0"/>
          </a:p>
        </p:txBody>
      </p:sp>
      <p:pic>
        <p:nvPicPr>
          <p:cNvPr id="19" name="Imagen 18">
            <a:extLst>
              <a:ext uri="{FF2B5EF4-FFF2-40B4-BE49-F238E27FC236}">
                <a16:creationId xmlns:a16="http://schemas.microsoft.com/office/drawing/2014/main" id="{09068DE7-9D98-B5E1-CFFE-C2782134371F}"/>
              </a:ext>
            </a:extLst>
          </p:cNvPr>
          <p:cNvPicPr>
            <a:picLocks noChangeAspect="1"/>
          </p:cNvPicPr>
          <p:nvPr/>
        </p:nvPicPr>
        <p:blipFill>
          <a:blip r:embed="rId3"/>
          <a:stretch>
            <a:fillRect/>
          </a:stretch>
        </p:blipFill>
        <p:spPr>
          <a:xfrm>
            <a:off x="2081631" y="3005339"/>
            <a:ext cx="7772400" cy="30715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Comment le cancer du sein se développe</a:t>
            </a:r>
            <a:endParaRPr lang="fr-FR"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Croissance anormale</a:t>
            </a:r>
            <a:endParaRPr lang="fr-FR" sz="1287"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Maladie in situ</a:t>
            </a:r>
            <a:endParaRPr lang="fr-FR" sz="1287"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Cancer invasif</a:t>
            </a:r>
            <a:endParaRPr lang="fr-FR" sz="1287" noProof="0" dirty="0"/>
          </a:p>
        </p:txBody>
      </p:sp>
      <p:sp>
        <p:nvSpPr>
          <p:cNvPr id="11" name="Shape 9"/>
          <p:cNvSpPr/>
          <p:nvPr/>
        </p:nvSpPr>
        <p:spPr>
          <a:xfrm>
            <a:off x="6169000"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fr-FR"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FFFFFF"/>
                </a:solidFill>
                <a:latin typeface="Calibri" pitchFamily="34" charset="0"/>
                <a:ea typeface="Calibri" pitchFamily="34" charset="-122"/>
                <a:cs typeface="Calibri" pitchFamily="34" charset="-120"/>
              </a:rPr>
              <a:t>Propagation aux ganglions</a:t>
            </a:r>
            <a:endParaRPr lang="fr-FR" sz="1287"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à distance</a:t>
            </a:r>
            <a:endParaRPr lang="fr-FR" sz="1287"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Temps et taille</a:t>
            </a:r>
            <a:endParaRPr lang="fr-FR" sz="1287" noProof="0" dirty="0"/>
          </a:p>
        </p:txBody>
      </p:sp>
      <p:sp>
        <p:nvSpPr>
          <p:cNvPr id="17" name="Shape 15"/>
          <p:cNvSpPr/>
          <p:nvPr/>
        </p:nvSpPr>
        <p:spPr>
          <a:xfrm>
            <a:off x="548640" y="2148840"/>
            <a:ext cx="11094415" cy="4142232"/>
          </a:xfrm>
          <a:prstGeom prst="roundRect">
            <a:avLst>
              <a:gd name="adj" fmla="val 2286"/>
            </a:avLst>
          </a:prstGeom>
          <a:solidFill>
            <a:srgbClr val="F4F8FC"/>
          </a:solidFill>
          <a:ln w="15875">
            <a:solidFill>
              <a:srgbClr val="C8D8EC"/>
            </a:solidFill>
            <a:prstDash val="solid"/>
          </a:ln>
        </p:spPr>
        <p:txBody>
          <a:bodyPr/>
          <a:lstStyle/>
          <a:p>
            <a:endParaRPr lang="fr-FR" noProof="0" dirty="0"/>
          </a:p>
        </p:txBody>
      </p:sp>
      <p:sp>
        <p:nvSpPr>
          <p:cNvPr id="21" name="Text 19"/>
          <p:cNvSpPr txBox="1"/>
          <p:nvPr/>
        </p:nvSpPr>
        <p:spPr>
          <a:xfrm>
            <a:off x="826545" y="2405230"/>
            <a:ext cx="10816509" cy="1737360"/>
          </a:xfrm>
          <a:prstGeom prst="rect">
            <a:avLst/>
          </a:prstGeom>
          <a:noFill/>
          <a:ln/>
        </p:spPr>
        <p:txBody>
          <a:bodyPr wrap="square" lIns="0" tIns="0" rIns="0" bIns="0" rtlCol="0" anchor="t">
            <a:noAutofit/>
          </a:bodyPr>
          <a:lstStyle/>
          <a:p>
            <a:pPr marL="0" indent="0">
              <a:lnSpc>
                <a:spcPct val="98000"/>
              </a:lnSpc>
              <a:buNone/>
            </a:pPr>
            <a:r>
              <a:rPr lang="fr-FR" noProof="0" dirty="0">
                <a:solidFill>
                  <a:srgbClr val="0B1F3F"/>
                </a:solidFill>
                <a:latin typeface="Calibri" pitchFamily="34" charset="0"/>
                <a:ea typeface="Calibri" pitchFamily="34" charset="-122"/>
                <a:cs typeface="Calibri" pitchFamily="34" charset="-120"/>
              </a:rPr>
              <a:t>Les cellules tumorales peuvent migrer le long des vaisseaux lymphatiques et se fixer dans les ganglions axillaires. L’atteinte ganglionnaire indique que la maladie a dépassé le sein.</a:t>
            </a:r>
            <a:endParaRPr lang="fr-FR" noProof="0" dirty="0"/>
          </a:p>
        </p:txBody>
      </p:sp>
      <p:pic>
        <p:nvPicPr>
          <p:cNvPr id="19" name="Imagen 18">
            <a:extLst>
              <a:ext uri="{FF2B5EF4-FFF2-40B4-BE49-F238E27FC236}">
                <a16:creationId xmlns:a16="http://schemas.microsoft.com/office/drawing/2014/main" id="{688B3CF9-1AAF-6972-F7C1-AA4DCDDF4F5C}"/>
              </a:ext>
            </a:extLst>
          </p:cNvPr>
          <p:cNvPicPr>
            <a:picLocks noChangeAspect="1"/>
          </p:cNvPicPr>
          <p:nvPr/>
        </p:nvPicPr>
        <p:blipFill>
          <a:blip r:embed="rId3"/>
          <a:stretch>
            <a:fillRect/>
          </a:stretch>
        </p:blipFill>
        <p:spPr>
          <a:xfrm>
            <a:off x="3336506" y="3062882"/>
            <a:ext cx="4559643" cy="304372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Comment le cancer du sein se développe</a:t>
            </a:r>
            <a:endParaRPr lang="fr-FR"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Croissance anormale</a:t>
            </a:r>
            <a:endParaRPr lang="fr-FR" sz="1287"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Maladie in situ</a:t>
            </a:r>
            <a:endParaRPr lang="fr-FR" sz="1287"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Cancer invasif</a:t>
            </a:r>
            <a:endParaRPr lang="fr-FR" sz="1287"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aux ganglions</a:t>
            </a:r>
            <a:endParaRPr lang="fr-FR" sz="1287" noProof="0" dirty="0"/>
          </a:p>
        </p:txBody>
      </p:sp>
      <p:sp>
        <p:nvSpPr>
          <p:cNvPr id="13" name="Shape 11"/>
          <p:cNvSpPr/>
          <p:nvPr/>
        </p:nvSpPr>
        <p:spPr>
          <a:xfrm>
            <a:off x="8042453"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fr-FR"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FFFFFF"/>
                </a:solidFill>
                <a:latin typeface="Calibri" pitchFamily="34" charset="0"/>
                <a:ea typeface="Calibri" pitchFamily="34" charset="-122"/>
                <a:cs typeface="Calibri" pitchFamily="34" charset="-120"/>
              </a:rPr>
              <a:t>Propagation à distance</a:t>
            </a:r>
            <a:endParaRPr lang="fr-FR" sz="1287"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Temps et taille</a:t>
            </a:r>
            <a:endParaRPr lang="fr-FR" sz="1287" noProof="0" dirty="0"/>
          </a:p>
        </p:txBody>
      </p:sp>
      <p:sp>
        <p:nvSpPr>
          <p:cNvPr id="17" name="Shape 15"/>
          <p:cNvSpPr/>
          <p:nvPr/>
        </p:nvSpPr>
        <p:spPr>
          <a:xfrm>
            <a:off x="548640" y="2148840"/>
            <a:ext cx="11094415" cy="4233672"/>
          </a:xfrm>
          <a:prstGeom prst="roundRect">
            <a:avLst>
              <a:gd name="adj" fmla="val 2286"/>
            </a:avLst>
          </a:prstGeom>
          <a:solidFill>
            <a:srgbClr val="F4F8FC"/>
          </a:solidFill>
          <a:ln w="15875">
            <a:solidFill>
              <a:srgbClr val="C8D8EC"/>
            </a:solidFill>
            <a:prstDash val="solid"/>
          </a:ln>
        </p:spPr>
        <p:txBody>
          <a:bodyPr/>
          <a:lstStyle/>
          <a:p>
            <a:endParaRPr lang="fr-FR" noProof="0" dirty="0"/>
          </a:p>
        </p:txBody>
      </p:sp>
      <p:sp>
        <p:nvSpPr>
          <p:cNvPr id="21" name="Text 19"/>
          <p:cNvSpPr txBox="1"/>
          <p:nvPr/>
        </p:nvSpPr>
        <p:spPr>
          <a:xfrm>
            <a:off x="862404" y="2387302"/>
            <a:ext cx="10725787" cy="1737360"/>
          </a:xfrm>
          <a:prstGeom prst="rect">
            <a:avLst/>
          </a:prstGeom>
          <a:noFill/>
          <a:ln/>
        </p:spPr>
        <p:txBody>
          <a:bodyPr wrap="square" lIns="0" tIns="0" rIns="0" bIns="0" rtlCol="0" anchor="t">
            <a:noAutofit/>
          </a:bodyPr>
          <a:lstStyle/>
          <a:p>
            <a:pPr marL="0" indent="0">
              <a:lnSpc>
                <a:spcPct val="98000"/>
              </a:lnSpc>
              <a:buNone/>
            </a:pPr>
            <a:r>
              <a:rPr lang="fr-FR" noProof="0" dirty="0">
                <a:solidFill>
                  <a:srgbClr val="0B1F3F"/>
                </a:solidFill>
                <a:latin typeface="Calibri" pitchFamily="34" charset="0"/>
                <a:ea typeface="Calibri" pitchFamily="34" charset="-122"/>
                <a:cs typeface="Calibri" pitchFamily="34" charset="-120"/>
              </a:rPr>
              <a:t>Les cellules transportées par le sang peuvent former des métastases à distance. Dans le cancer du sein, les sites fréquents sont l’os, le foie, le poumon et le cerveau.</a:t>
            </a:r>
            <a:endParaRPr lang="fr-FR" noProof="0" dirty="0"/>
          </a:p>
        </p:txBody>
      </p:sp>
      <p:pic>
        <p:nvPicPr>
          <p:cNvPr id="18" name="Imagen 17">
            <a:extLst>
              <a:ext uri="{FF2B5EF4-FFF2-40B4-BE49-F238E27FC236}">
                <a16:creationId xmlns:a16="http://schemas.microsoft.com/office/drawing/2014/main" id="{A8CC3B60-C5C2-85AA-5FB0-D423A35A2AE7}"/>
              </a:ext>
            </a:extLst>
          </p:cNvPr>
          <p:cNvPicPr>
            <a:picLocks noChangeAspect="1"/>
          </p:cNvPicPr>
          <p:nvPr/>
        </p:nvPicPr>
        <p:blipFill>
          <a:blip r:embed="rId3"/>
          <a:stretch>
            <a:fillRect/>
          </a:stretch>
        </p:blipFill>
        <p:spPr>
          <a:xfrm>
            <a:off x="3540758" y="3018399"/>
            <a:ext cx="4854146" cy="323609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Comment le cancer du sein se développe</a:t>
            </a:r>
            <a:endParaRPr lang="fr-FR"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Croissance anormale</a:t>
            </a:r>
            <a:endParaRPr lang="fr-FR" sz="1287"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Maladie in situ</a:t>
            </a:r>
            <a:endParaRPr lang="fr-FR" sz="1287"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Cancer invasif</a:t>
            </a:r>
            <a:endParaRPr lang="fr-FR" sz="1287"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aux ganglions</a:t>
            </a:r>
            <a:endParaRPr lang="fr-FR" sz="1287"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fr-FR"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5B7699"/>
                </a:solidFill>
                <a:latin typeface="Calibri" pitchFamily="34" charset="0"/>
                <a:ea typeface="Calibri" pitchFamily="34" charset="-122"/>
                <a:cs typeface="Calibri" pitchFamily="34" charset="-120"/>
              </a:rPr>
              <a:t>Propagation à distance</a:t>
            </a:r>
            <a:endParaRPr lang="fr-FR" sz="1287" noProof="0" dirty="0"/>
          </a:p>
        </p:txBody>
      </p:sp>
      <p:sp>
        <p:nvSpPr>
          <p:cNvPr id="15" name="Shape 13"/>
          <p:cNvSpPr/>
          <p:nvPr/>
        </p:nvSpPr>
        <p:spPr>
          <a:xfrm>
            <a:off x="9915906"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fr-FR"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noAutofit/>
          </a:bodyPr>
          <a:lstStyle/>
          <a:p>
            <a:pPr marL="0" indent="0" algn="ctr">
              <a:buNone/>
            </a:pPr>
            <a:r>
              <a:rPr lang="fr-FR" sz="1287" b="1" noProof="0" dirty="0">
                <a:solidFill>
                  <a:srgbClr val="FFFFFF"/>
                </a:solidFill>
                <a:latin typeface="Calibri" pitchFamily="34" charset="0"/>
                <a:ea typeface="Calibri" pitchFamily="34" charset="-122"/>
                <a:cs typeface="Calibri" pitchFamily="34" charset="-120"/>
              </a:rPr>
              <a:t>Temps et taille</a:t>
            </a:r>
            <a:endParaRPr lang="fr-FR" sz="1287" noProof="0" dirty="0"/>
          </a:p>
        </p:txBody>
      </p:sp>
      <p:sp>
        <p:nvSpPr>
          <p:cNvPr id="17" name="Shape 15"/>
          <p:cNvSpPr/>
          <p:nvPr/>
        </p:nvSpPr>
        <p:spPr>
          <a:xfrm>
            <a:off x="548640" y="2148840"/>
            <a:ext cx="11094415" cy="4233672"/>
          </a:xfrm>
          <a:prstGeom prst="roundRect">
            <a:avLst>
              <a:gd name="adj" fmla="val 2286"/>
            </a:avLst>
          </a:prstGeom>
          <a:solidFill>
            <a:srgbClr val="F4F8FC"/>
          </a:solidFill>
          <a:ln w="15875">
            <a:solidFill>
              <a:srgbClr val="C8D8EC"/>
            </a:solidFill>
            <a:prstDash val="solid"/>
          </a:ln>
        </p:spPr>
        <p:txBody>
          <a:bodyPr/>
          <a:lstStyle/>
          <a:p>
            <a:endParaRPr lang="fr-FR" noProof="0" dirty="0"/>
          </a:p>
        </p:txBody>
      </p:sp>
      <p:sp>
        <p:nvSpPr>
          <p:cNvPr id="21" name="Text 19"/>
          <p:cNvSpPr txBox="1"/>
          <p:nvPr/>
        </p:nvSpPr>
        <p:spPr>
          <a:xfrm>
            <a:off x="862404" y="2387301"/>
            <a:ext cx="10725787" cy="1737360"/>
          </a:xfrm>
          <a:prstGeom prst="rect">
            <a:avLst/>
          </a:prstGeom>
          <a:noFill/>
          <a:ln/>
        </p:spPr>
        <p:txBody>
          <a:bodyPr wrap="square" lIns="0" tIns="0" rIns="0" bIns="0" rtlCol="0" anchor="t">
            <a:noAutofit/>
          </a:bodyPr>
          <a:lstStyle/>
          <a:p>
            <a:pPr marL="0" indent="0">
              <a:lnSpc>
                <a:spcPct val="98000"/>
              </a:lnSpc>
              <a:buNone/>
            </a:pPr>
            <a:r>
              <a:rPr lang="fr-FR" sz="1600" noProof="0" dirty="0">
                <a:solidFill>
                  <a:srgbClr val="0B1F3F"/>
                </a:solidFill>
                <a:latin typeface="Calibri" pitchFamily="34" charset="0"/>
                <a:ea typeface="Calibri" pitchFamily="34" charset="-122"/>
                <a:cs typeface="Calibri" pitchFamily="34" charset="-120"/>
              </a:rPr>
              <a:t>Les tumeurs découvertes petites et sans atteinte ganglionnaire se traitent très différemment de celles découvertes tardivement. C’est le raccourcissement du délai entre l’apparition d’un changement et le diagnostic qui améliore les résultats.</a:t>
            </a:r>
            <a:endParaRPr lang="fr-FR" sz="1600" noProof="0" dirty="0"/>
          </a:p>
        </p:txBody>
      </p:sp>
      <p:pic>
        <p:nvPicPr>
          <p:cNvPr id="18" name="Imagen 17">
            <a:extLst>
              <a:ext uri="{FF2B5EF4-FFF2-40B4-BE49-F238E27FC236}">
                <a16:creationId xmlns:a16="http://schemas.microsoft.com/office/drawing/2014/main" id="{54F44252-F46F-4D36-BA65-3F825323C942}"/>
              </a:ext>
            </a:extLst>
          </p:cNvPr>
          <p:cNvPicPr>
            <a:picLocks noChangeAspect="1"/>
          </p:cNvPicPr>
          <p:nvPr/>
        </p:nvPicPr>
        <p:blipFill>
          <a:blip r:embed="rId3"/>
          <a:stretch>
            <a:fillRect/>
          </a:stretch>
        </p:blipFill>
        <p:spPr>
          <a:xfrm>
            <a:off x="2167737" y="3148674"/>
            <a:ext cx="7772400" cy="310582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Maladie in situ et invasive</a:t>
            </a:r>
            <a:endParaRPr lang="fr-FR" sz="3000" noProof="0" dirty="0"/>
          </a:p>
        </p:txBody>
      </p:sp>
      <p:sp>
        <p:nvSpPr>
          <p:cNvPr id="5" name="Shape 3"/>
          <p:cNvSpPr/>
          <p:nvPr/>
        </p:nvSpPr>
        <p:spPr>
          <a:xfrm>
            <a:off x="548640" y="1371600"/>
            <a:ext cx="5394960" cy="4781550"/>
          </a:xfrm>
          <a:prstGeom prst="roundRect">
            <a:avLst>
              <a:gd name="adj" fmla="val 2553"/>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463040"/>
            <a:ext cx="5065776" cy="292608"/>
          </a:xfrm>
          <a:prstGeom prst="rect">
            <a:avLst/>
          </a:prstGeom>
          <a:noFill/>
          <a:ln/>
        </p:spPr>
        <p:txBody>
          <a:bodyPr wrap="square" lIns="0" tIns="0" rIns="0" bIns="0" rtlCol="0" anchor="t">
            <a:noAutofit/>
          </a:bodyPr>
          <a:lstStyle/>
          <a:p>
            <a:pPr marL="0" indent="0">
              <a:buNone/>
            </a:pPr>
            <a:r>
              <a:rPr lang="fr-FR" sz="1746" b="1" noProof="0" dirty="0">
                <a:solidFill>
                  <a:srgbClr val="12315B"/>
                </a:solidFill>
                <a:latin typeface="Calibri" pitchFamily="34" charset="0"/>
                <a:ea typeface="Calibri" pitchFamily="34" charset="-122"/>
                <a:cs typeface="Calibri" pitchFamily="34" charset="-120"/>
              </a:rPr>
              <a:t>Maladie in situ</a:t>
            </a:r>
            <a:endParaRPr lang="fr-FR" noProof="0" dirty="0"/>
          </a:p>
        </p:txBody>
      </p:sp>
      <p:sp>
        <p:nvSpPr>
          <p:cNvPr id="7" name="Text 5"/>
          <p:cNvSpPr txBox="1"/>
          <p:nvPr/>
        </p:nvSpPr>
        <p:spPr>
          <a:xfrm>
            <a:off x="713232" y="1855155"/>
            <a:ext cx="5065776" cy="1664208"/>
          </a:xfrm>
          <a:prstGeom prst="rect">
            <a:avLst/>
          </a:prstGeom>
          <a:noFill/>
          <a:ln/>
        </p:spPr>
        <p:txBody>
          <a:bodyPr wrap="square" lIns="0" tIns="0" rIns="0" bIns="0" rtlCol="0" anchor="t">
            <a:noAutofit/>
          </a:bodyPr>
          <a:lstStyle/>
          <a:p>
            <a:pPr marL="0" indent="0">
              <a:lnSpc>
                <a:spcPct val="90000"/>
              </a:lnSpc>
              <a:buNone/>
            </a:pPr>
            <a:r>
              <a:rPr lang="fr-FR" sz="1710" noProof="0" dirty="0">
                <a:solidFill>
                  <a:srgbClr val="1F3A63"/>
                </a:solidFill>
                <a:latin typeface="Calibri" pitchFamily="34" charset="0"/>
                <a:ea typeface="Calibri" pitchFamily="34" charset="-122"/>
                <a:cs typeface="Calibri" pitchFamily="34" charset="-120"/>
              </a:rPr>
              <a:t>Les cellules malignes restent à l’intérieur du canal ou du lobule où elles sont apparues et n’ont pas envahi le tissu mammaire environnant. Le carcinome canalaire in situ (CCIS) en est le principal exemple. Il est le plus souvent découvert par l’imagerie plutôt que sous forme de boule.</a:t>
            </a:r>
            <a:endParaRPr lang="fr-FR" sz="1710" noProof="0" dirty="0"/>
          </a:p>
        </p:txBody>
      </p:sp>
      <p:sp>
        <p:nvSpPr>
          <p:cNvPr id="8" name="Shape 6"/>
          <p:cNvSpPr/>
          <p:nvPr/>
        </p:nvSpPr>
        <p:spPr>
          <a:xfrm>
            <a:off x="6217920" y="1371600"/>
            <a:ext cx="5425135" cy="4781550"/>
          </a:xfrm>
          <a:prstGeom prst="roundRect">
            <a:avLst>
              <a:gd name="adj" fmla="val 2553"/>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6382512" y="1463040"/>
            <a:ext cx="5095951" cy="292608"/>
          </a:xfrm>
          <a:prstGeom prst="rect">
            <a:avLst/>
          </a:prstGeom>
          <a:noFill/>
          <a:ln/>
        </p:spPr>
        <p:txBody>
          <a:bodyPr wrap="square" lIns="0" tIns="0" rIns="0" bIns="0" rtlCol="0" anchor="t">
            <a:noAutofit/>
          </a:bodyPr>
          <a:lstStyle/>
          <a:p>
            <a:pPr marL="0" indent="0">
              <a:buNone/>
            </a:pPr>
            <a:r>
              <a:rPr lang="fr-FR" sz="1746" b="1" noProof="0" dirty="0">
                <a:solidFill>
                  <a:srgbClr val="12315B"/>
                </a:solidFill>
                <a:latin typeface="Calibri" pitchFamily="34" charset="0"/>
                <a:ea typeface="Calibri" pitchFamily="34" charset="-122"/>
                <a:cs typeface="Calibri" pitchFamily="34" charset="-120"/>
              </a:rPr>
              <a:t>Cancer du sein invasif</a:t>
            </a:r>
            <a:endParaRPr lang="fr-FR" noProof="0" dirty="0"/>
          </a:p>
        </p:txBody>
      </p:sp>
      <p:sp>
        <p:nvSpPr>
          <p:cNvPr id="10" name="Text 8"/>
          <p:cNvSpPr txBox="1"/>
          <p:nvPr/>
        </p:nvSpPr>
        <p:spPr>
          <a:xfrm>
            <a:off x="6382512" y="1855155"/>
            <a:ext cx="5095951" cy="1664208"/>
          </a:xfrm>
          <a:prstGeom prst="rect">
            <a:avLst/>
          </a:prstGeom>
          <a:noFill/>
          <a:ln/>
        </p:spPr>
        <p:txBody>
          <a:bodyPr wrap="square" lIns="0" tIns="0" rIns="0" bIns="0" rtlCol="0" anchor="t">
            <a:noAutofit/>
          </a:bodyPr>
          <a:lstStyle/>
          <a:p>
            <a:pPr marL="0" indent="0">
              <a:lnSpc>
                <a:spcPct val="90000"/>
              </a:lnSpc>
              <a:buNone/>
            </a:pPr>
            <a:r>
              <a:rPr lang="fr-FR" sz="1710" noProof="0" dirty="0">
                <a:solidFill>
                  <a:srgbClr val="1F3A63"/>
                </a:solidFill>
                <a:latin typeface="Calibri" pitchFamily="34" charset="0"/>
                <a:ea typeface="Calibri" pitchFamily="34" charset="-122"/>
                <a:cs typeface="Calibri" pitchFamily="34" charset="-120"/>
              </a:rPr>
              <a:t>Les cellules malignes ont franchi la paroi et envahi le tissu mammaire environnant. Elles peuvent alors atteindre les vaisseaux lymphatiques et sanguins, et donc toucher les ganglions axillaires ou des organes à distance. La plupart des cancers du sein diagnostiqués sont invasifs.</a:t>
            </a:r>
            <a:endParaRPr lang="fr-FR" sz="1710" noProof="0" dirty="0"/>
          </a:p>
        </p:txBody>
      </p:sp>
      <p:pic>
        <p:nvPicPr>
          <p:cNvPr id="21" name="Imagen 20">
            <a:extLst>
              <a:ext uri="{FF2B5EF4-FFF2-40B4-BE49-F238E27FC236}">
                <a16:creationId xmlns:a16="http://schemas.microsoft.com/office/drawing/2014/main" id="{BA9BC86B-D6B3-4E61-0788-6DCFDB3A7765}"/>
              </a:ext>
            </a:extLst>
          </p:cNvPr>
          <p:cNvPicPr>
            <a:picLocks noChangeAspect="1"/>
          </p:cNvPicPr>
          <p:nvPr/>
        </p:nvPicPr>
        <p:blipFill>
          <a:blip r:embed="rId3"/>
          <a:srcRect/>
          <a:stretch>
            <a:fillRect/>
          </a:stretch>
        </p:blipFill>
        <p:spPr>
          <a:xfrm>
            <a:off x="6871855" y="3312200"/>
            <a:ext cx="4102861" cy="2735241"/>
          </a:xfrm>
          <a:prstGeom prst="rect">
            <a:avLst/>
          </a:prstGeom>
        </p:spPr>
      </p:pic>
      <p:pic>
        <p:nvPicPr>
          <p:cNvPr id="12" name="Imagen 11">
            <a:extLst>
              <a:ext uri="{FF2B5EF4-FFF2-40B4-BE49-F238E27FC236}">
                <a16:creationId xmlns:a16="http://schemas.microsoft.com/office/drawing/2014/main" id="{53125DA1-B639-DEA5-EAAC-C11F21BD059E}"/>
              </a:ext>
            </a:extLst>
          </p:cNvPr>
          <p:cNvPicPr>
            <a:picLocks noChangeAspect="1"/>
          </p:cNvPicPr>
          <p:nvPr/>
        </p:nvPicPr>
        <p:blipFill>
          <a:blip r:embed="rId4"/>
          <a:srcRect/>
          <a:stretch>
            <a:fillRect/>
          </a:stretch>
        </p:blipFill>
        <p:spPr>
          <a:xfrm>
            <a:off x="643957" y="3188849"/>
            <a:ext cx="5186165" cy="259015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5FFC0CB-0AB3-22CE-9673-CAD81C5C61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22B312-89C6-35B8-05E5-A0B98ED6A192}"/>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a:extLst>
              <a:ext uri="{FF2B5EF4-FFF2-40B4-BE49-F238E27FC236}">
                <a16:creationId xmlns:a16="http://schemas.microsoft.com/office/drawing/2014/main" id="{E16C750B-B18A-88BC-1E17-105C8678FE75}"/>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B8BC672C-338A-454B-8C9F-FE84B0333192}"/>
              </a:ext>
            </a:extLst>
          </p:cNvPr>
          <p:cNvSpPr txBox="1"/>
          <p:nvPr/>
        </p:nvSpPr>
        <p:spPr>
          <a:xfrm>
            <a:off x="548640" y="702855"/>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Maladie in situ et invasive</a:t>
            </a:r>
            <a:endParaRPr lang="fr-FR" sz="3000" noProof="0" dirty="0"/>
          </a:p>
        </p:txBody>
      </p:sp>
      <p:sp>
        <p:nvSpPr>
          <p:cNvPr id="11" name="Shape 9">
            <a:extLst>
              <a:ext uri="{FF2B5EF4-FFF2-40B4-BE49-F238E27FC236}">
                <a16:creationId xmlns:a16="http://schemas.microsoft.com/office/drawing/2014/main" id="{7BD129E7-2D87-9824-EBAE-A97DD09A0063}"/>
              </a:ext>
            </a:extLst>
          </p:cNvPr>
          <p:cNvSpPr/>
          <p:nvPr/>
        </p:nvSpPr>
        <p:spPr>
          <a:xfrm>
            <a:off x="548640" y="1466233"/>
            <a:ext cx="3527450" cy="4366155"/>
          </a:xfrm>
          <a:prstGeom prst="roundRect">
            <a:avLst>
              <a:gd name="adj" fmla="val 2449"/>
            </a:avLst>
          </a:prstGeom>
          <a:solidFill>
            <a:srgbClr val="F4F8FC"/>
          </a:solidFill>
          <a:ln w="12700">
            <a:solidFill>
              <a:srgbClr val="C8D8EC"/>
            </a:solidFill>
            <a:prstDash val="solid"/>
          </a:ln>
        </p:spPr>
        <p:txBody>
          <a:bodyPr/>
          <a:lstStyle/>
          <a:p>
            <a:endParaRPr lang="fr-FR" noProof="0" dirty="0"/>
          </a:p>
        </p:txBody>
      </p:sp>
      <p:sp>
        <p:nvSpPr>
          <p:cNvPr id="12" name="Text 10">
            <a:extLst>
              <a:ext uri="{FF2B5EF4-FFF2-40B4-BE49-F238E27FC236}">
                <a16:creationId xmlns:a16="http://schemas.microsoft.com/office/drawing/2014/main" id="{0A658BB3-8158-72A6-BDCE-C5480F302BBC}"/>
              </a:ext>
            </a:extLst>
          </p:cNvPr>
          <p:cNvSpPr txBox="1"/>
          <p:nvPr/>
        </p:nvSpPr>
        <p:spPr>
          <a:xfrm>
            <a:off x="713232" y="1767743"/>
            <a:ext cx="3198266" cy="292608"/>
          </a:xfrm>
          <a:prstGeom prst="rect">
            <a:avLst/>
          </a:prstGeom>
          <a:noFill/>
          <a:ln/>
        </p:spPr>
        <p:txBody>
          <a:bodyPr wrap="square" lIns="0" tIns="0" rIns="0" bIns="0" rtlCol="0" anchor="t">
            <a:normAutofit fontScale="94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Ce n'est pas une séquence inévitable</a:t>
            </a:r>
            <a:endParaRPr lang="fr-FR" sz="1700" noProof="0" dirty="0"/>
          </a:p>
        </p:txBody>
      </p:sp>
      <p:sp>
        <p:nvSpPr>
          <p:cNvPr id="13" name="Text 11">
            <a:extLst>
              <a:ext uri="{FF2B5EF4-FFF2-40B4-BE49-F238E27FC236}">
                <a16:creationId xmlns:a16="http://schemas.microsoft.com/office/drawing/2014/main" id="{1BF246C5-6342-90CE-AF4B-D3B1E47D99C4}"/>
              </a:ext>
            </a:extLst>
          </p:cNvPr>
          <p:cNvSpPr txBox="1"/>
          <p:nvPr/>
        </p:nvSpPr>
        <p:spPr>
          <a:xfrm>
            <a:off x="713232" y="2106071"/>
            <a:ext cx="3198266" cy="1755648"/>
          </a:xfrm>
          <a:prstGeom prst="rect">
            <a:avLst/>
          </a:prstGeom>
          <a:noFill/>
          <a:ln/>
        </p:spPr>
        <p:txBody>
          <a:bodyPr wrap="square" lIns="0" tIns="0" rIns="0" bIns="0" rtlCol="0" anchor="t">
            <a:noAutofit/>
          </a:bodyPr>
          <a:lstStyle/>
          <a:p>
            <a:pPr marL="0" indent="0">
              <a:lnSpc>
                <a:spcPct val="90000"/>
              </a:lnSpc>
              <a:buNone/>
            </a:pPr>
            <a:r>
              <a:rPr lang="fr-FR" sz="1602" noProof="0" dirty="0">
                <a:solidFill>
                  <a:srgbClr val="1F3A63"/>
                </a:solidFill>
                <a:latin typeface="Calibri" pitchFamily="34" charset="0"/>
                <a:ea typeface="Calibri" pitchFamily="34" charset="-122"/>
                <a:cs typeface="Calibri" pitchFamily="34" charset="-120"/>
              </a:rPr>
              <a:t>Toutes les lésions in situ n’évoluent pas vers un cancer invasif. Le traitement du CCIS vise à éviter cette évolution.</a:t>
            </a:r>
            <a:endParaRPr lang="fr-FR" sz="1602" noProof="0" dirty="0"/>
          </a:p>
        </p:txBody>
      </p:sp>
      <p:sp>
        <p:nvSpPr>
          <p:cNvPr id="14" name="Shape 12">
            <a:extLst>
              <a:ext uri="{FF2B5EF4-FFF2-40B4-BE49-F238E27FC236}">
                <a16:creationId xmlns:a16="http://schemas.microsoft.com/office/drawing/2014/main" id="{8952625A-FD70-EF37-5446-51DE00444048}"/>
              </a:ext>
            </a:extLst>
          </p:cNvPr>
          <p:cNvSpPr/>
          <p:nvPr/>
        </p:nvSpPr>
        <p:spPr>
          <a:xfrm>
            <a:off x="4332122" y="1466233"/>
            <a:ext cx="3527450" cy="4366155"/>
          </a:xfrm>
          <a:prstGeom prst="roundRect">
            <a:avLst>
              <a:gd name="adj" fmla="val 2449"/>
            </a:avLst>
          </a:prstGeom>
          <a:solidFill>
            <a:srgbClr val="F4F8FC"/>
          </a:solidFill>
          <a:ln w="12700">
            <a:solidFill>
              <a:srgbClr val="C8D8EC"/>
            </a:solidFill>
            <a:prstDash val="solid"/>
          </a:ln>
        </p:spPr>
        <p:txBody>
          <a:bodyPr/>
          <a:lstStyle/>
          <a:p>
            <a:endParaRPr lang="fr-FR" noProof="0" dirty="0"/>
          </a:p>
        </p:txBody>
      </p:sp>
      <p:sp>
        <p:nvSpPr>
          <p:cNvPr id="15" name="Text 13">
            <a:extLst>
              <a:ext uri="{FF2B5EF4-FFF2-40B4-BE49-F238E27FC236}">
                <a16:creationId xmlns:a16="http://schemas.microsoft.com/office/drawing/2014/main" id="{51577A11-2842-8896-F39A-445B0B5AC61F}"/>
              </a:ext>
            </a:extLst>
          </p:cNvPr>
          <p:cNvSpPr txBox="1"/>
          <p:nvPr/>
        </p:nvSpPr>
        <p:spPr>
          <a:xfrm>
            <a:off x="4496714" y="1767743"/>
            <a:ext cx="3198266" cy="292608"/>
          </a:xfrm>
          <a:prstGeom prst="rect">
            <a:avLst/>
          </a:prstGeom>
          <a:noFill/>
          <a:ln/>
        </p:spPr>
        <p:txBody>
          <a:bodyPr wrap="square" lIns="0" tIns="0" rIns="0" bIns="0" rtlCol="0" anchor="t">
            <a:normAutofit fontScale="94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Pourquoi la différence est importante</a:t>
            </a:r>
            <a:endParaRPr lang="fr-FR" sz="1700" noProof="0" dirty="0"/>
          </a:p>
        </p:txBody>
      </p:sp>
      <p:sp>
        <p:nvSpPr>
          <p:cNvPr id="16" name="Text 14">
            <a:extLst>
              <a:ext uri="{FF2B5EF4-FFF2-40B4-BE49-F238E27FC236}">
                <a16:creationId xmlns:a16="http://schemas.microsoft.com/office/drawing/2014/main" id="{E380E0E6-3EFE-94E3-3968-1318F64624D0}"/>
              </a:ext>
            </a:extLst>
          </p:cNvPr>
          <p:cNvSpPr txBox="1"/>
          <p:nvPr/>
        </p:nvSpPr>
        <p:spPr>
          <a:xfrm>
            <a:off x="4496714" y="2106071"/>
            <a:ext cx="3198266" cy="1755648"/>
          </a:xfrm>
          <a:prstGeom prst="rect">
            <a:avLst/>
          </a:prstGeom>
          <a:noFill/>
          <a:ln/>
        </p:spPr>
        <p:txBody>
          <a:bodyPr wrap="square" lIns="0" tIns="0" rIns="0" bIns="0" rtlCol="0" anchor="t">
            <a:noAutofit/>
          </a:bodyPr>
          <a:lstStyle/>
          <a:p>
            <a:pPr marL="0" indent="0">
              <a:lnSpc>
                <a:spcPct val="90000"/>
              </a:lnSpc>
              <a:buNone/>
            </a:pPr>
            <a:r>
              <a:rPr lang="fr-FR" sz="1602" noProof="0" dirty="0">
                <a:solidFill>
                  <a:srgbClr val="1F3A63"/>
                </a:solidFill>
                <a:latin typeface="Calibri" pitchFamily="34" charset="0"/>
                <a:ea typeface="Calibri" pitchFamily="34" charset="-122"/>
                <a:cs typeface="Calibri" pitchFamily="34" charset="-120"/>
              </a:rPr>
              <a:t>La maladie in situ ne se propage ni aux ganglions ni aux organes à distance. La stadification, le pronostic et le traitement diffèrent en conséquence.</a:t>
            </a:r>
            <a:endParaRPr lang="fr-FR" sz="1602" noProof="0" dirty="0"/>
          </a:p>
        </p:txBody>
      </p:sp>
      <p:sp>
        <p:nvSpPr>
          <p:cNvPr id="17" name="Shape 15">
            <a:extLst>
              <a:ext uri="{FF2B5EF4-FFF2-40B4-BE49-F238E27FC236}">
                <a16:creationId xmlns:a16="http://schemas.microsoft.com/office/drawing/2014/main" id="{9BC5FBF2-140C-BBEF-1383-72130E46D0C3}"/>
              </a:ext>
            </a:extLst>
          </p:cNvPr>
          <p:cNvSpPr/>
          <p:nvPr/>
        </p:nvSpPr>
        <p:spPr>
          <a:xfrm>
            <a:off x="8115605" y="1466233"/>
            <a:ext cx="3527450" cy="4366155"/>
          </a:xfrm>
          <a:prstGeom prst="roundRect">
            <a:avLst>
              <a:gd name="adj" fmla="val 2449"/>
            </a:avLst>
          </a:prstGeom>
          <a:solidFill>
            <a:srgbClr val="F4F8FC"/>
          </a:solidFill>
          <a:ln w="12700">
            <a:solidFill>
              <a:srgbClr val="C8D8EC"/>
            </a:solidFill>
            <a:prstDash val="solid"/>
          </a:ln>
        </p:spPr>
        <p:txBody>
          <a:bodyPr/>
          <a:lstStyle/>
          <a:p>
            <a:endParaRPr lang="fr-FR" noProof="0" dirty="0"/>
          </a:p>
        </p:txBody>
      </p:sp>
      <p:sp>
        <p:nvSpPr>
          <p:cNvPr id="18" name="Text 16">
            <a:extLst>
              <a:ext uri="{FF2B5EF4-FFF2-40B4-BE49-F238E27FC236}">
                <a16:creationId xmlns:a16="http://schemas.microsoft.com/office/drawing/2014/main" id="{01F1D671-C6AE-0FD0-DDE1-C669E4D5F3F2}"/>
              </a:ext>
            </a:extLst>
          </p:cNvPr>
          <p:cNvSpPr txBox="1"/>
          <p:nvPr/>
        </p:nvSpPr>
        <p:spPr>
          <a:xfrm>
            <a:off x="8280197" y="1767743"/>
            <a:ext cx="3198266" cy="292608"/>
          </a:xfrm>
          <a:prstGeom prst="rect">
            <a:avLst/>
          </a:prstGeom>
          <a:noFill/>
          <a:ln/>
        </p:spPr>
        <p:txBody>
          <a:bodyPr wrap="square" lIns="0" tIns="0" rIns="0" bIns="0" rtlCol="0" anchor="t">
            <a:normAutofit fontScale="94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Ce que les patients entendent</a:t>
            </a:r>
            <a:endParaRPr lang="fr-FR" sz="1700" noProof="0" dirty="0"/>
          </a:p>
        </p:txBody>
      </p:sp>
      <p:sp>
        <p:nvSpPr>
          <p:cNvPr id="19" name="Text 17">
            <a:extLst>
              <a:ext uri="{FF2B5EF4-FFF2-40B4-BE49-F238E27FC236}">
                <a16:creationId xmlns:a16="http://schemas.microsoft.com/office/drawing/2014/main" id="{8DC125BE-D3AF-AD83-ACA4-FCDDE9FAF91C}"/>
              </a:ext>
            </a:extLst>
          </p:cNvPr>
          <p:cNvSpPr txBox="1"/>
          <p:nvPr/>
        </p:nvSpPr>
        <p:spPr>
          <a:xfrm>
            <a:off x="8280197" y="2106071"/>
            <a:ext cx="3198266" cy="1755648"/>
          </a:xfrm>
          <a:prstGeom prst="rect">
            <a:avLst/>
          </a:prstGeom>
          <a:noFill/>
          <a:ln/>
        </p:spPr>
        <p:txBody>
          <a:bodyPr wrap="square" lIns="0" tIns="0" rIns="0" bIns="0" rtlCol="0" anchor="t">
            <a:noAutofit/>
          </a:bodyPr>
          <a:lstStyle/>
          <a:p>
            <a:pPr marL="0" indent="0">
              <a:lnSpc>
                <a:spcPct val="90000"/>
              </a:lnSpc>
              <a:buNone/>
            </a:pPr>
            <a:r>
              <a:rPr lang="fr-FR" sz="1602" noProof="0" dirty="0">
                <a:solidFill>
                  <a:srgbClr val="1F3A63"/>
                </a:solidFill>
                <a:latin typeface="Calibri" pitchFamily="34" charset="0"/>
                <a:ea typeface="Calibri" pitchFamily="34" charset="-122"/>
                <a:cs typeface="Calibri" pitchFamily="34" charset="-120"/>
              </a:rPr>
              <a:t>Les personnes ne retiennent souvent que le mot carcinome. Expliquez simplement qu’in situ signifie contenu, et que c’est une situation différente d’un cancer invasif.</a:t>
            </a:r>
            <a:endParaRPr lang="fr-FR" sz="1602" noProof="0" dirty="0"/>
          </a:p>
        </p:txBody>
      </p:sp>
      <p:pic>
        <p:nvPicPr>
          <p:cNvPr id="7" name="Imagen 6">
            <a:extLst>
              <a:ext uri="{FF2B5EF4-FFF2-40B4-BE49-F238E27FC236}">
                <a16:creationId xmlns:a16="http://schemas.microsoft.com/office/drawing/2014/main" id="{FAF4FB4B-9CB8-DB76-1622-E8CED696401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401941" y="3307286"/>
            <a:ext cx="3387811" cy="2258541"/>
          </a:xfrm>
          <a:prstGeom prst="rect">
            <a:avLst/>
          </a:prstGeom>
        </p:spPr>
      </p:pic>
      <p:pic>
        <p:nvPicPr>
          <p:cNvPr id="8" name="Imagen 7">
            <a:extLst>
              <a:ext uri="{FF2B5EF4-FFF2-40B4-BE49-F238E27FC236}">
                <a16:creationId xmlns:a16="http://schemas.microsoft.com/office/drawing/2014/main" id="{94CF56C6-45C0-BEB9-1520-79DB78AFF92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650065" y="3355086"/>
            <a:ext cx="3284982" cy="2189988"/>
          </a:xfrm>
          <a:prstGeom prst="rect">
            <a:avLst/>
          </a:prstGeom>
        </p:spPr>
      </p:pic>
      <p:pic>
        <p:nvPicPr>
          <p:cNvPr id="9" name="Imagen 8">
            <a:extLst>
              <a:ext uri="{FF2B5EF4-FFF2-40B4-BE49-F238E27FC236}">
                <a16:creationId xmlns:a16="http://schemas.microsoft.com/office/drawing/2014/main" id="{0D60F9F8-55D6-0E64-DE62-5B5DE00C2E2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306323" y="3429000"/>
            <a:ext cx="3198266" cy="2132177"/>
          </a:xfrm>
          <a:prstGeom prst="rect">
            <a:avLst/>
          </a:prstGeom>
        </p:spPr>
      </p:pic>
    </p:spTree>
    <p:extLst>
      <p:ext uri="{BB962C8B-B14F-4D97-AF65-F5344CB8AC3E}">
        <p14:creationId xmlns:p14="http://schemas.microsoft.com/office/powerpoint/2010/main" val="5857863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Types de cancer du sein</a:t>
            </a:r>
            <a:endParaRPr lang="fr-FR" sz="3000" noProof="0" dirty="0"/>
          </a:p>
        </p:txBody>
      </p:sp>
      <p:sp>
        <p:nvSpPr>
          <p:cNvPr id="5" name="Shape 3"/>
          <p:cNvSpPr/>
          <p:nvPr/>
        </p:nvSpPr>
        <p:spPr>
          <a:xfrm>
            <a:off x="548639" y="1156451"/>
            <a:ext cx="11094415" cy="1102657"/>
          </a:xfrm>
          <a:prstGeom prst="roundRect">
            <a:avLst>
              <a:gd name="adj" fmla="val 2347"/>
            </a:avLst>
          </a:prstGeom>
          <a:solidFill>
            <a:srgbClr val="F4F8FC"/>
          </a:solidFill>
          <a:ln w="12700">
            <a:solidFill>
              <a:srgbClr val="C8D8EC"/>
            </a:solidFill>
            <a:prstDash val="solid"/>
          </a:ln>
        </p:spPr>
        <p:txBody>
          <a:bodyPr/>
          <a:lstStyle/>
          <a:p>
            <a:endParaRPr lang="fr-FR" sz="2000" noProof="0" dirty="0"/>
          </a:p>
        </p:txBody>
      </p:sp>
      <p:sp>
        <p:nvSpPr>
          <p:cNvPr id="6" name="Text 4"/>
          <p:cNvSpPr txBox="1"/>
          <p:nvPr/>
        </p:nvSpPr>
        <p:spPr>
          <a:xfrm>
            <a:off x="713231" y="1247890"/>
            <a:ext cx="10059077" cy="292608"/>
          </a:xfrm>
          <a:prstGeom prst="rect">
            <a:avLst/>
          </a:prstGeom>
          <a:noFill/>
          <a:ln/>
        </p:spPr>
        <p:txBody>
          <a:bodyPr wrap="square" lIns="0" tIns="0" rIns="0" bIns="0" rtlCol="0" anchor="t">
            <a:noAutofit/>
          </a:bodyPr>
          <a:lstStyle/>
          <a:p>
            <a:pPr marL="0" indent="0">
              <a:buNone/>
            </a:pPr>
            <a:r>
              <a:rPr lang="fr-FR" sz="1755" b="1" noProof="0" dirty="0">
                <a:solidFill>
                  <a:srgbClr val="12315B"/>
                </a:solidFill>
                <a:latin typeface="Calibri" pitchFamily="34" charset="0"/>
                <a:ea typeface="Calibri" pitchFamily="34" charset="-122"/>
                <a:cs typeface="Calibri" pitchFamily="34" charset="-120"/>
              </a:rPr>
              <a:t>Carcinome canalaire in situ</a:t>
            </a:r>
            <a:endParaRPr lang="fr-FR" sz="1755" noProof="0" dirty="0"/>
          </a:p>
        </p:txBody>
      </p:sp>
      <p:sp>
        <p:nvSpPr>
          <p:cNvPr id="7" name="Text 5"/>
          <p:cNvSpPr txBox="1"/>
          <p:nvPr/>
        </p:nvSpPr>
        <p:spPr>
          <a:xfrm>
            <a:off x="713231" y="1640005"/>
            <a:ext cx="10059077" cy="619103"/>
          </a:xfrm>
          <a:prstGeom prst="rect">
            <a:avLst/>
          </a:prstGeom>
          <a:noFill/>
          <a:ln/>
        </p:spPr>
        <p:txBody>
          <a:bodyPr wrap="square" lIns="0" tIns="0" rIns="0" bIns="0" rtlCol="0" anchor="t">
            <a:normAutofit fontScale="94000"/>
          </a:bodyPr>
          <a:lstStyle/>
          <a:p>
            <a:pPr marL="0" indent="0">
              <a:lnSpc>
                <a:spcPct val="90000"/>
              </a:lnSpc>
              <a:buNone/>
            </a:pPr>
            <a:r>
              <a:rPr lang="fr-FR" sz="2000" noProof="0" dirty="0">
                <a:solidFill>
                  <a:srgbClr val="1F3A63"/>
                </a:solidFill>
                <a:latin typeface="Calibri" pitchFamily="34" charset="0"/>
                <a:ea typeface="Calibri" pitchFamily="34" charset="-122"/>
                <a:cs typeface="Calibri" pitchFamily="34" charset="-120"/>
              </a:rPr>
              <a:t>Cellules malignes confinées dans le canal. Non invasif. Souvent découvert sous forme de microcalcifications à la mammographie plutôt que sous forme de boule.</a:t>
            </a:r>
            <a:endParaRPr lang="fr-FR" sz="2000" noProof="0" dirty="0"/>
          </a:p>
        </p:txBody>
      </p:sp>
      <p:pic>
        <p:nvPicPr>
          <p:cNvPr id="23" name="Imagen 22">
            <a:extLst>
              <a:ext uri="{FF2B5EF4-FFF2-40B4-BE49-F238E27FC236}">
                <a16:creationId xmlns:a16="http://schemas.microsoft.com/office/drawing/2014/main" id="{2F8E5440-6AA4-7249-729D-7E68E27F0E2E}"/>
              </a:ext>
            </a:extLst>
          </p:cNvPr>
          <p:cNvPicPr>
            <a:picLocks noChangeAspect="1"/>
          </p:cNvPicPr>
          <p:nvPr/>
        </p:nvPicPr>
        <p:blipFill>
          <a:blip r:embed="rId3"/>
          <a:srcRect/>
          <a:stretch>
            <a:fillRect/>
          </a:stretch>
        </p:blipFill>
        <p:spPr>
          <a:xfrm>
            <a:off x="2273712" y="2473093"/>
            <a:ext cx="7644576" cy="381797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4DBC50-AFB9-B624-1504-8AD500E377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71D26E-1F7D-B4F9-0A26-8B942A23D69C}"/>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a:extLst>
              <a:ext uri="{FF2B5EF4-FFF2-40B4-BE49-F238E27FC236}">
                <a16:creationId xmlns:a16="http://schemas.microsoft.com/office/drawing/2014/main" id="{3C74763A-B025-BBA6-E8CB-F975D216D24B}"/>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A7A1F3F0-AD4C-96C2-9791-5E782055E922}"/>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Types de cancer du sein</a:t>
            </a:r>
            <a:endParaRPr lang="fr-FR" sz="3000" noProof="0" dirty="0"/>
          </a:p>
        </p:txBody>
      </p:sp>
      <p:sp>
        <p:nvSpPr>
          <p:cNvPr id="8" name="Shape 6">
            <a:extLst>
              <a:ext uri="{FF2B5EF4-FFF2-40B4-BE49-F238E27FC236}">
                <a16:creationId xmlns:a16="http://schemas.microsoft.com/office/drawing/2014/main" id="{16A0341C-2DC6-9516-C99F-0E6C48946E83}"/>
              </a:ext>
            </a:extLst>
          </p:cNvPr>
          <p:cNvSpPr/>
          <p:nvPr/>
        </p:nvSpPr>
        <p:spPr>
          <a:xfrm>
            <a:off x="548640" y="1138523"/>
            <a:ext cx="11094414" cy="1138516"/>
          </a:xfrm>
          <a:prstGeom prst="roundRect">
            <a:avLst>
              <a:gd name="adj" fmla="val 2347"/>
            </a:avLst>
          </a:prstGeom>
          <a:solidFill>
            <a:srgbClr val="F4F8FC"/>
          </a:solidFill>
          <a:ln w="12700">
            <a:solidFill>
              <a:srgbClr val="C8D8EC"/>
            </a:solidFill>
            <a:prstDash val="solid"/>
          </a:ln>
        </p:spPr>
        <p:txBody>
          <a:bodyPr/>
          <a:lstStyle/>
          <a:p>
            <a:endParaRPr lang="fr-FR" noProof="0" dirty="0"/>
          </a:p>
        </p:txBody>
      </p:sp>
      <p:sp>
        <p:nvSpPr>
          <p:cNvPr id="9" name="Text 7">
            <a:extLst>
              <a:ext uri="{FF2B5EF4-FFF2-40B4-BE49-F238E27FC236}">
                <a16:creationId xmlns:a16="http://schemas.microsoft.com/office/drawing/2014/main" id="{CCCA96E8-8863-64D4-860F-5907DF18B340}"/>
              </a:ext>
            </a:extLst>
          </p:cNvPr>
          <p:cNvSpPr txBox="1"/>
          <p:nvPr/>
        </p:nvSpPr>
        <p:spPr>
          <a:xfrm>
            <a:off x="761516" y="1229962"/>
            <a:ext cx="10059076" cy="292608"/>
          </a:xfrm>
          <a:prstGeom prst="rect">
            <a:avLst/>
          </a:prstGeom>
          <a:noFill/>
          <a:ln/>
        </p:spPr>
        <p:txBody>
          <a:bodyPr wrap="square" lIns="0" tIns="0" rIns="0" bIns="0" rtlCol="0" anchor="t">
            <a:noAutofit/>
          </a:bodyPr>
          <a:lstStyle/>
          <a:p>
            <a:pPr marL="0" indent="0">
              <a:buNone/>
            </a:pPr>
            <a:r>
              <a:rPr lang="fr-FR" sz="1755" b="1" noProof="0" dirty="0">
                <a:solidFill>
                  <a:srgbClr val="12315B"/>
                </a:solidFill>
                <a:latin typeface="Calibri" pitchFamily="34" charset="0"/>
                <a:ea typeface="Calibri" pitchFamily="34" charset="-122"/>
                <a:cs typeface="Calibri" pitchFamily="34" charset="-120"/>
              </a:rPr>
              <a:t>Carcinome invasif sans type particulier</a:t>
            </a:r>
            <a:endParaRPr lang="fr-FR" sz="1755" noProof="0" dirty="0"/>
          </a:p>
        </p:txBody>
      </p:sp>
      <p:sp>
        <p:nvSpPr>
          <p:cNvPr id="10" name="Text 8">
            <a:extLst>
              <a:ext uri="{FF2B5EF4-FFF2-40B4-BE49-F238E27FC236}">
                <a16:creationId xmlns:a16="http://schemas.microsoft.com/office/drawing/2014/main" id="{7FC9628D-7EEA-994B-B7AB-B7E89D144C2A}"/>
              </a:ext>
            </a:extLst>
          </p:cNvPr>
          <p:cNvSpPr txBox="1"/>
          <p:nvPr/>
        </p:nvSpPr>
        <p:spPr>
          <a:xfrm>
            <a:off x="761507" y="1622077"/>
            <a:ext cx="10716955" cy="654961"/>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Aussi appelé carcinome canalaire infiltrant. C’est le cancer du sein invasif le plus fréquent ; il se présente généralement comme une masse ferme.</a:t>
            </a:r>
            <a:endParaRPr lang="fr-FR" sz="1800" noProof="0" dirty="0"/>
          </a:p>
        </p:txBody>
      </p:sp>
      <p:pic>
        <p:nvPicPr>
          <p:cNvPr id="23" name="Imagen 22">
            <a:extLst>
              <a:ext uri="{FF2B5EF4-FFF2-40B4-BE49-F238E27FC236}">
                <a16:creationId xmlns:a16="http://schemas.microsoft.com/office/drawing/2014/main" id="{4186C23E-54C5-0B55-542F-F3BB0C78B9BA}"/>
              </a:ext>
            </a:extLst>
          </p:cNvPr>
          <p:cNvPicPr>
            <a:picLocks noChangeAspect="1"/>
          </p:cNvPicPr>
          <p:nvPr/>
        </p:nvPicPr>
        <p:blipFill>
          <a:blip r:embed="rId3"/>
          <a:stretch>
            <a:fillRect/>
          </a:stretch>
        </p:blipFill>
        <p:spPr>
          <a:xfrm>
            <a:off x="2049221" y="2340295"/>
            <a:ext cx="8093558" cy="4042216"/>
          </a:xfrm>
          <a:prstGeom prst="rect">
            <a:avLst/>
          </a:prstGeom>
        </p:spPr>
      </p:pic>
    </p:spTree>
    <p:extLst>
      <p:ext uri="{BB962C8B-B14F-4D97-AF65-F5344CB8AC3E}">
        <p14:creationId xmlns:p14="http://schemas.microsoft.com/office/powerpoint/2010/main" val="3187504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5CEAAB-C3E6-B872-91D3-F5F21F5DE6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0364BC-7B6C-F742-93AE-DE8EFBC4FC85}"/>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a:extLst>
              <a:ext uri="{FF2B5EF4-FFF2-40B4-BE49-F238E27FC236}">
                <a16:creationId xmlns:a16="http://schemas.microsoft.com/office/drawing/2014/main" id="{2223C5A3-4E4F-1B19-5990-3958231AAA33}"/>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7D81E5C2-CF27-F457-5ECD-5F7DDA7C2EC8}"/>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Types de cancer du sein</a:t>
            </a:r>
            <a:endParaRPr lang="fr-FR" sz="3000" noProof="0" dirty="0"/>
          </a:p>
        </p:txBody>
      </p:sp>
      <p:sp>
        <p:nvSpPr>
          <p:cNvPr id="11" name="Shape 9">
            <a:extLst>
              <a:ext uri="{FF2B5EF4-FFF2-40B4-BE49-F238E27FC236}">
                <a16:creationId xmlns:a16="http://schemas.microsoft.com/office/drawing/2014/main" id="{B0FA495F-B3C7-DE8E-098D-9E3C60370532}"/>
              </a:ext>
            </a:extLst>
          </p:cNvPr>
          <p:cNvSpPr/>
          <p:nvPr/>
        </p:nvSpPr>
        <p:spPr>
          <a:xfrm>
            <a:off x="548640" y="1102663"/>
            <a:ext cx="11094415" cy="1066801"/>
          </a:xfrm>
          <a:prstGeom prst="roundRect">
            <a:avLst>
              <a:gd name="adj" fmla="val 2347"/>
            </a:avLst>
          </a:prstGeom>
          <a:solidFill>
            <a:srgbClr val="F4F8FC"/>
          </a:solidFill>
          <a:ln w="12700">
            <a:solidFill>
              <a:srgbClr val="C8D8EC"/>
            </a:solidFill>
            <a:prstDash val="solid"/>
          </a:ln>
        </p:spPr>
        <p:txBody>
          <a:bodyPr/>
          <a:lstStyle/>
          <a:p>
            <a:endParaRPr lang="fr-FR" noProof="0" dirty="0"/>
          </a:p>
        </p:txBody>
      </p:sp>
      <p:sp>
        <p:nvSpPr>
          <p:cNvPr id="12" name="Text 10">
            <a:extLst>
              <a:ext uri="{FF2B5EF4-FFF2-40B4-BE49-F238E27FC236}">
                <a16:creationId xmlns:a16="http://schemas.microsoft.com/office/drawing/2014/main" id="{4D657473-7B42-3D0F-7846-213C50043AAC}"/>
              </a:ext>
            </a:extLst>
          </p:cNvPr>
          <p:cNvSpPr txBox="1"/>
          <p:nvPr/>
        </p:nvSpPr>
        <p:spPr>
          <a:xfrm>
            <a:off x="713232" y="1194103"/>
            <a:ext cx="10765231" cy="292608"/>
          </a:xfrm>
          <a:prstGeom prst="rect">
            <a:avLst/>
          </a:prstGeom>
          <a:noFill/>
          <a:ln/>
        </p:spPr>
        <p:txBody>
          <a:bodyPr wrap="square" lIns="0" tIns="0" rIns="0" bIns="0" rtlCol="0" anchor="t">
            <a:noAutofit/>
          </a:bodyPr>
          <a:lstStyle/>
          <a:p>
            <a:pPr marL="0" indent="0">
              <a:buNone/>
            </a:pPr>
            <a:r>
              <a:rPr lang="fr-FR" sz="1751" b="1" noProof="0" dirty="0">
                <a:solidFill>
                  <a:srgbClr val="12315B"/>
                </a:solidFill>
                <a:latin typeface="Calibri" pitchFamily="34" charset="0"/>
                <a:ea typeface="Calibri" pitchFamily="34" charset="-122"/>
                <a:cs typeface="Calibri" pitchFamily="34" charset="-120"/>
              </a:rPr>
              <a:t>Carcinome lobulaire invasif</a:t>
            </a:r>
            <a:endParaRPr lang="fr-FR" sz="1751" noProof="0" dirty="0"/>
          </a:p>
        </p:txBody>
      </p:sp>
      <p:sp>
        <p:nvSpPr>
          <p:cNvPr id="13" name="Text 11">
            <a:extLst>
              <a:ext uri="{FF2B5EF4-FFF2-40B4-BE49-F238E27FC236}">
                <a16:creationId xmlns:a16="http://schemas.microsoft.com/office/drawing/2014/main" id="{DE4C0E01-8B28-D58D-A819-4FF5F04B277B}"/>
              </a:ext>
            </a:extLst>
          </p:cNvPr>
          <p:cNvSpPr txBox="1"/>
          <p:nvPr/>
        </p:nvSpPr>
        <p:spPr>
          <a:xfrm>
            <a:off x="713232" y="1532432"/>
            <a:ext cx="10765231" cy="637032"/>
          </a:xfrm>
          <a:prstGeom prst="rect">
            <a:avLst/>
          </a:prstGeom>
          <a:noFill/>
          <a:ln/>
        </p:spPr>
        <p:txBody>
          <a:bodyPr wrap="square" lIns="0" tIns="0" rIns="0" bIns="0" rtlCol="0" anchor="t">
            <a:normAutofit fontScale="935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Deuxième type invasif le plus fréquent. Il peut s’étendre de façon diffuse et se présenter comme un épaississement plutôt qu’une boule bien limitée ; il peut être plus difficile à voir à l’imagerie.</a:t>
            </a:r>
            <a:endParaRPr lang="fr-FR" sz="1800" noProof="0" dirty="0"/>
          </a:p>
        </p:txBody>
      </p:sp>
      <p:sp>
        <p:nvSpPr>
          <p:cNvPr id="24" name="CuadroTexto 23">
            <a:extLst>
              <a:ext uri="{FF2B5EF4-FFF2-40B4-BE49-F238E27FC236}">
                <a16:creationId xmlns:a16="http://schemas.microsoft.com/office/drawing/2014/main" id="{84A3CABE-49C1-0870-A167-F126FC4D7EF6}"/>
              </a:ext>
            </a:extLst>
          </p:cNvPr>
          <p:cNvSpPr txBox="1"/>
          <p:nvPr/>
        </p:nvSpPr>
        <p:spPr>
          <a:xfrm>
            <a:off x="548641" y="5882065"/>
            <a:ext cx="11094414" cy="535531"/>
          </a:xfrm>
          <a:prstGeom prst="rect">
            <a:avLst/>
          </a:prstGeom>
          <a:noFill/>
        </p:spPr>
        <p:txBody>
          <a:bodyPr wrap="square">
            <a:noAutofit/>
          </a:bodyPr>
          <a:lstStyle/>
          <a:p>
            <a:pPr marL="0" indent="0">
              <a:lnSpc>
                <a:spcPct val="90000"/>
              </a:lnSpc>
              <a:buNone/>
            </a:pPr>
            <a:r>
              <a:rPr lang="fr-FR" sz="1488" i="1" noProof="0" dirty="0">
                <a:solidFill>
                  <a:srgbClr val="1F3A63"/>
                </a:solidFill>
                <a:latin typeface="Calibri" pitchFamily="34" charset="0"/>
                <a:ea typeface="Calibri" pitchFamily="34" charset="-122"/>
                <a:cs typeface="Calibri" pitchFamily="34" charset="-120"/>
              </a:rPr>
              <a:t>Le type histologique décrit l’aspect des cellules. Le sous-type selon les récepteurs décrit la biologie qui oriente le traitement. Les deux figurent dans le compte rendu.</a:t>
            </a:r>
            <a:endParaRPr lang="fr-FR" sz="1488" i="1" noProof="0" dirty="0"/>
          </a:p>
        </p:txBody>
      </p:sp>
      <p:pic>
        <p:nvPicPr>
          <p:cNvPr id="25" name="Imagen 24">
            <a:extLst>
              <a:ext uri="{FF2B5EF4-FFF2-40B4-BE49-F238E27FC236}">
                <a16:creationId xmlns:a16="http://schemas.microsoft.com/office/drawing/2014/main" id="{A80532A4-2C01-A674-D14D-BEF1EE396E66}"/>
              </a:ext>
            </a:extLst>
          </p:cNvPr>
          <p:cNvPicPr>
            <a:picLocks noChangeAspect="1"/>
          </p:cNvPicPr>
          <p:nvPr/>
        </p:nvPicPr>
        <p:blipFill>
          <a:blip r:embed="rId3"/>
          <a:stretch>
            <a:fillRect/>
          </a:stretch>
        </p:blipFill>
        <p:spPr>
          <a:xfrm>
            <a:off x="2485465" y="2215185"/>
            <a:ext cx="7221070" cy="3606463"/>
          </a:xfrm>
          <a:prstGeom prst="rect">
            <a:avLst/>
          </a:prstGeom>
        </p:spPr>
      </p:pic>
    </p:spTree>
    <p:extLst>
      <p:ext uri="{BB962C8B-B14F-4D97-AF65-F5344CB8AC3E}">
        <p14:creationId xmlns:p14="http://schemas.microsoft.com/office/powerpoint/2010/main" val="3732431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FE95D7-40D4-AADB-AF3E-6186B73B349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505C7A-183C-551B-4CEA-6CD652BC1308}"/>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a:extLst>
              <a:ext uri="{FF2B5EF4-FFF2-40B4-BE49-F238E27FC236}">
                <a16:creationId xmlns:a16="http://schemas.microsoft.com/office/drawing/2014/main" id="{B0C120A0-AF13-059A-EDE0-E27DB1DE1E39}"/>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B1F99508-7F1B-1B74-8F0F-B45E546D12AB}"/>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Types de cancer du sein</a:t>
            </a:r>
            <a:endParaRPr lang="fr-FR" sz="3000" noProof="0" dirty="0"/>
          </a:p>
        </p:txBody>
      </p:sp>
      <p:sp>
        <p:nvSpPr>
          <p:cNvPr id="14" name="Shape 12">
            <a:extLst>
              <a:ext uri="{FF2B5EF4-FFF2-40B4-BE49-F238E27FC236}">
                <a16:creationId xmlns:a16="http://schemas.microsoft.com/office/drawing/2014/main" id="{2D9CD7EA-D95D-E460-530E-CB42306B9189}"/>
              </a:ext>
            </a:extLst>
          </p:cNvPr>
          <p:cNvSpPr/>
          <p:nvPr/>
        </p:nvSpPr>
        <p:spPr>
          <a:xfrm>
            <a:off x="548639" y="1204254"/>
            <a:ext cx="11094415" cy="983134"/>
          </a:xfrm>
          <a:prstGeom prst="roundRect">
            <a:avLst>
              <a:gd name="adj" fmla="val 2711"/>
            </a:avLst>
          </a:prstGeom>
          <a:solidFill>
            <a:srgbClr val="F4F8FC"/>
          </a:solidFill>
          <a:ln w="12700">
            <a:solidFill>
              <a:srgbClr val="C8D8EC"/>
            </a:solidFill>
            <a:prstDash val="solid"/>
          </a:ln>
        </p:spPr>
        <p:txBody>
          <a:bodyPr/>
          <a:lstStyle/>
          <a:p>
            <a:endParaRPr lang="fr-FR" noProof="0" dirty="0"/>
          </a:p>
        </p:txBody>
      </p:sp>
      <p:sp>
        <p:nvSpPr>
          <p:cNvPr id="15" name="Text 13">
            <a:extLst>
              <a:ext uri="{FF2B5EF4-FFF2-40B4-BE49-F238E27FC236}">
                <a16:creationId xmlns:a16="http://schemas.microsoft.com/office/drawing/2014/main" id="{BF2599ED-3865-86A0-4AB4-FBC90FD8F367}"/>
              </a:ext>
            </a:extLst>
          </p:cNvPr>
          <p:cNvSpPr txBox="1"/>
          <p:nvPr/>
        </p:nvSpPr>
        <p:spPr>
          <a:xfrm>
            <a:off x="713231" y="1241906"/>
            <a:ext cx="10059077" cy="292608"/>
          </a:xfrm>
          <a:prstGeom prst="rect">
            <a:avLst/>
          </a:prstGeom>
          <a:noFill/>
          <a:ln/>
        </p:spPr>
        <p:txBody>
          <a:bodyPr wrap="square" lIns="0" tIns="0" rIns="0" bIns="0" rtlCol="0" anchor="t">
            <a:noAutofit/>
          </a:bodyPr>
          <a:lstStyle/>
          <a:p>
            <a:pPr marL="0" indent="0">
              <a:buNone/>
            </a:pPr>
            <a:r>
              <a:rPr lang="fr-FR" sz="1755" b="1" noProof="0" dirty="0">
                <a:solidFill>
                  <a:srgbClr val="12315B"/>
                </a:solidFill>
                <a:latin typeface="Calibri" pitchFamily="34" charset="0"/>
                <a:ea typeface="Calibri" pitchFamily="34" charset="-122"/>
                <a:cs typeface="Calibri" pitchFamily="34" charset="-120"/>
              </a:rPr>
              <a:t>Autres types particuliers</a:t>
            </a:r>
            <a:endParaRPr lang="fr-FR" sz="1755" noProof="0" dirty="0"/>
          </a:p>
        </p:txBody>
      </p:sp>
      <p:sp>
        <p:nvSpPr>
          <p:cNvPr id="16" name="Text 14">
            <a:extLst>
              <a:ext uri="{FF2B5EF4-FFF2-40B4-BE49-F238E27FC236}">
                <a16:creationId xmlns:a16="http://schemas.microsoft.com/office/drawing/2014/main" id="{CF0BF90E-CEEA-2266-6EAF-6146E12BD454}"/>
              </a:ext>
            </a:extLst>
          </p:cNvPr>
          <p:cNvSpPr txBox="1"/>
          <p:nvPr/>
        </p:nvSpPr>
        <p:spPr>
          <a:xfrm>
            <a:off x="713231" y="1634021"/>
            <a:ext cx="10765232" cy="691449"/>
          </a:xfrm>
          <a:prstGeom prst="rect">
            <a:avLst/>
          </a:prstGeom>
          <a:noFill/>
          <a:ln/>
        </p:spPr>
        <p:txBody>
          <a:bodyPr wrap="square" lIns="0" tIns="0" rIns="0" bIns="0" rtlCol="0" anchor="t">
            <a:noAutofit/>
          </a:bodyPr>
          <a:lstStyle/>
          <a:p>
            <a:pPr marL="0" indent="0">
              <a:lnSpc>
                <a:spcPct val="90000"/>
              </a:lnSpc>
              <a:buNone/>
            </a:pPr>
            <a:r>
              <a:rPr lang="fr-FR" sz="1656" noProof="0" dirty="0">
                <a:solidFill>
                  <a:srgbClr val="1F3A63"/>
                </a:solidFill>
                <a:latin typeface="Calibri" pitchFamily="34" charset="0"/>
                <a:ea typeface="Calibri" pitchFamily="34" charset="-122"/>
                <a:cs typeface="Calibri" pitchFamily="34" charset="-120"/>
              </a:rPr>
              <a:t>Il existe plusieurs carcinomes moins fréquents, comme les carcinomes mucineux et tubuleux. Leur nom figure dans les comptes rendus d’anatomopathologie et ne change pas votre conduite.</a:t>
            </a:r>
            <a:endParaRPr lang="fr-FR" sz="1656" noProof="0" dirty="0"/>
          </a:p>
        </p:txBody>
      </p:sp>
      <p:sp>
        <p:nvSpPr>
          <p:cNvPr id="19" name="Text 17">
            <a:extLst>
              <a:ext uri="{FF2B5EF4-FFF2-40B4-BE49-F238E27FC236}">
                <a16:creationId xmlns:a16="http://schemas.microsoft.com/office/drawing/2014/main" id="{65F7590B-0F60-E11D-82B1-DB92AECDCBF9}"/>
              </a:ext>
            </a:extLst>
          </p:cNvPr>
          <p:cNvSpPr txBox="1"/>
          <p:nvPr/>
        </p:nvSpPr>
        <p:spPr>
          <a:xfrm>
            <a:off x="569799" y="6116356"/>
            <a:ext cx="10929823" cy="274320"/>
          </a:xfrm>
          <a:prstGeom prst="rect">
            <a:avLst/>
          </a:prstGeom>
          <a:noFill/>
          <a:ln/>
        </p:spPr>
        <p:txBody>
          <a:bodyPr wrap="square" lIns="0" tIns="0" rIns="0" bIns="0" rtlCol="0" anchor="t">
            <a:normAutofit/>
          </a:bodyPr>
          <a:lstStyle/>
          <a:p>
            <a:pPr marL="0" indent="0">
              <a:lnSpc>
                <a:spcPct val="90000"/>
              </a:lnSpc>
              <a:buNone/>
            </a:pPr>
            <a:r>
              <a:rPr lang="fr-FR" sz="1600" i="1" noProof="0" dirty="0">
                <a:solidFill>
                  <a:srgbClr val="1F3A63"/>
                </a:solidFill>
                <a:latin typeface="Calibri" pitchFamily="34" charset="0"/>
                <a:ea typeface="Calibri" pitchFamily="34" charset="-122"/>
                <a:cs typeface="Calibri" pitchFamily="34" charset="-120"/>
              </a:rPr>
              <a:t>Presque tous les cancers du sein sont des carcinomes issus de l'épithélium. Les sarcomes et lymphomes du sein sont rares.</a:t>
            </a:r>
            <a:endParaRPr lang="fr-FR" sz="1600" i="1" noProof="0" dirty="0"/>
          </a:p>
        </p:txBody>
      </p:sp>
      <p:sp>
        <p:nvSpPr>
          <p:cNvPr id="22" name="Text 20">
            <a:extLst>
              <a:ext uri="{FF2B5EF4-FFF2-40B4-BE49-F238E27FC236}">
                <a16:creationId xmlns:a16="http://schemas.microsoft.com/office/drawing/2014/main" id="{EF61E87D-5A14-A1D1-3900-ECB3FD481695}"/>
              </a:ext>
            </a:extLst>
          </p:cNvPr>
          <p:cNvSpPr txBox="1"/>
          <p:nvPr/>
        </p:nvSpPr>
        <p:spPr>
          <a:xfrm>
            <a:off x="8280197" y="4395139"/>
            <a:ext cx="3198266" cy="1539317"/>
          </a:xfrm>
          <a:prstGeom prst="rect">
            <a:avLst/>
          </a:prstGeom>
          <a:noFill/>
          <a:ln/>
        </p:spPr>
        <p:txBody>
          <a:bodyPr wrap="square" lIns="0" tIns="0" rIns="0" bIns="0" rtlCol="0" anchor="t"/>
          <a:lstStyle/>
          <a:p>
            <a:pPr marL="0" indent="0">
              <a:lnSpc>
                <a:spcPct val="90000"/>
              </a:lnSpc>
              <a:buNone/>
            </a:pPr>
            <a:endParaRPr lang="fr-FR" sz="1800" noProof="0" dirty="0"/>
          </a:p>
        </p:txBody>
      </p:sp>
      <p:pic>
        <p:nvPicPr>
          <p:cNvPr id="23" name="Imagen 22">
            <a:extLst>
              <a:ext uri="{FF2B5EF4-FFF2-40B4-BE49-F238E27FC236}">
                <a16:creationId xmlns:a16="http://schemas.microsoft.com/office/drawing/2014/main" id="{71C1A722-715E-DD3D-1B60-B96B88B95B99}"/>
              </a:ext>
            </a:extLst>
          </p:cNvPr>
          <p:cNvPicPr>
            <a:picLocks noChangeAspect="1"/>
          </p:cNvPicPr>
          <p:nvPr/>
        </p:nvPicPr>
        <p:blipFill>
          <a:blip r:embed="rId3"/>
          <a:stretch>
            <a:fillRect/>
          </a:stretch>
        </p:blipFill>
        <p:spPr>
          <a:xfrm>
            <a:off x="2278040" y="2257786"/>
            <a:ext cx="7635920" cy="3813655"/>
          </a:xfrm>
          <a:prstGeom prst="rect">
            <a:avLst/>
          </a:prstGeom>
        </p:spPr>
      </p:pic>
    </p:spTree>
    <p:extLst>
      <p:ext uri="{BB962C8B-B14F-4D97-AF65-F5344CB8AC3E}">
        <p14:creationId xmlns:p14="http://schemas.microsoft.com/office/powerpoint/2010/main" val="1424181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Présentations à ne pas manquer</a:t>
            </a:r>
            <a:endParaRPr lang="fr-FR" sz="3000" noProof="0" dirty="0"/>
          </a:p>
        </p:txBody>
      </p:sp>
      <p:sp>
        <p:nvSpPr>
          <p:cNvPr id="15" name="Text 13"/>
          <p:cNvSpPr txBox="1"/>
          <p:nvPr/>
        </p:nvSpPr>
        <p:spPr>
          <a:xfrm>
            <a:off x="548640" y="5916700"/>
            <a:ext cx="11094415" cy="443215"/>
          </a:xfrm>
          <a:prstGeom prst="rect">
            <a:avLst/>
          </a:prstGeom>
          <a:noFill/>
          <a:ln/>
        </p:spPr>
        <p:txBody>
          <a:bodyPr wrap="square" lIns="0" tIns="0" rIns="0" bIns="0" rtlCol="0" anchor="ctr">
            <a:normAutofit fontScale="99000"/>
          </a:bodyPr>
          <a:lstStyle/>
          <a:p>
            <a:pPr marL="0" indent="0">
              <a:lnSpc>
                <a:spcPct val="95000"/>
              </a:lnSpc>
              <a:buNone/>
            </a:pPr>
            <a:r>
              <a:rPr lang="fr-FR" sz="1400" i="1" noProof="0" dirty="0">
                <a:solidFill>
                  <a:srgbClr val="0B1F3F"/>
                </a:solidFill>
                <a:latin typeface="Calibri" pitchFamily="34" charset="0"/>
                <a:ea typeface="Calibri" pitchFamily="34" charset="-122"/>
                <a:cs typeface="Calibri" pitchFamily="34" charset="-120"/>
              </a:rPr>
              <a:t>Une rougeur et un gonflement rapides du sein ont plusieurs causes, dont l’infection. Ne concluez pas qu’un sein rouge est un cancer inflammatoire, ni qu’il ne s’agit que d’une mastite. Réévaluez de façon planifiée et orientez si l’évolution n’est pas celle attendue.</a:t>
            </a:r>
            <a:endParaRPr lang="fr-FR" sz="1400" i="1" noProof="0" dirty="0"/>
          </a:p>
        </p:txBody>
      </p:sp>
      <p:grpSp>
        <p:nvGrpSpPr>
          <p:cNvPr id="18" name="Grupo 17">
            <a:extLst>
              <a:ext uri="{FF2B5EF4-FFF2-40B4-BE49-F238E27FC236}">
                <a16:creationId xmlns:a16="http://schemas.microsoft.com/office/drawing/2014/main" id="{E8AE4063-9EB5-9A3B-5850-7B5311CDA359}"/>
              </a:ext>
            </a:extLst>
          </p:cNvPr>
          <p:cNvGrpSpPr/>
          <p:nvPr/>
        </p:nvGrpSpPr>
        <p:grpSpPr>
          <a:xfrm>
            <a:off x="548640" y="1192309"/>
            <a:ext cx="3527450" cy="4579521"/>
            <a:chOff x="548640" y="1192309"/>
            <a:chExt cx="3527450" cy="4579521"/>
          </a:xfrm>
        </p:grpSpPr>
        <p:sp>
          <p:nvSpPr>
            <p:cNvPr id="5" name="Shape 3"/>
            <p:cNvSpPr/>
            <p:nvPr/>
          </p:nvSpPr>
          <p:spPr>
            <a:xfrm>
              <a:off x="548640" y="1192309"/>
              <a:ext cx="3527450" cy="4579521"/>
            </a:xfrm>
            <a:prstGeom prst="roundRect">
              <a:avLst>
                <a:gd name="adj" fmla="val 1555"/>
              </a:avLst>
            </a:prstGeom>
            <a:solidFill>
              <a:srgbClr val="FBECEA"/>
            </a:solidFill>
            <a:ln w="12700">
              <a:solidFill>
                <a:srgbClr val="E7B6B0"/>
              </a:solidFill>
              <a:prstDash val="solid"/>
            </a:ln>
          </p:spPr>
          <p:txBody>
            <a:bodyPr/>
            <a:lstStyle/>
            <a:p>
              <a:endParaRPr lang="fr-FR" noProof="0" dirty="0"/>
            </a:p>
          </p:txBody>
        </p:sp>
        <p:sp>
          <p:nvSpPr>
            <p:cNvPr id="6" name="Text 4"/>
            <p:cNvSpPr txBox="1"/>
            <p:nvPr/>
          </p:nvSpPr>
          <p:spPr>
            <a:xfrm>
              <a:off x="713232" y="1283750"/>
              <a:ext cx="3198266" cy="292608"/>
            </a:xfrm>
            <a:prstGeom prst="rect">
              <a:avLst/>
            </a:prstGeom>
            <a:noFill/>
            <a:ln/>
          </p:spPr>
          <p:txBody>
            <a:bodyPr wrap="square" lIns="0" tIns="0" rIns="0" bIns="0" rtlCol="0" anchor="t"/>
            <a:lstStyle/>
            <a:p>
              <a:r>
                <a:rPr lang="fr-FR" sz="1700" b="1" dirty="0">
                  <a:solidFill>
                    <a:srgbClr val="A32319"/>
                  </a:solidFill>
                  <a:latin typeface="Calibri" pitchFamily="34" charset="0"/>
                  <a:ea typeface="Calibri" pitchFamily="34" charset="-122"/>
                  <a:cs typeface="Calibri" pitchFamily="34" charset="-120"/>
                </a:rPr>
                <a:t>🔴 Cancer </a:t>
              </a:r>
              <a:r>
                <a:rPr lang="fr-FR" sz="1700" b="1" noProof="0" dirty="0">
                  <a:solidFill>
                    <a:srgbClr val="A32319"/>
                  </a:solidFill>
                  <a:latin typeface="Calibri" pitchFamily="34" charset="0"/>
                  <a:ea typeface="Calibri" pitchFamily="34" charset="-122"/>
                  <a:cs typeface="Calibri" pitchFamily="34" charset="-120"/>
                </a:rPr>
                <a:t>inflammatoire du sein</a:t>
              </a:r>
              <a:endParaRPr lang="fr-FR" sz="1700" noProof="0" dirty="0"/>
            </a:p>
          </p:txBody>
        </p:sp>
        <p:sp>
          <p:nvSpPr>
            <p:cNvPr id="7" name="Text 5"/>
            <p:cNvSpPr txBox="1"/>
            <p:nvPr/>
          </p:nvSpPr>
          <p:spPr>
            <a:xfrm>
              <a:off x="713232" y="1622078"/>
              <a:ext cx="3198266" cy="3355848"/>
            </a:xfrm>
            <a:prstGeom prst="rect">
              <a:avLst/>
            </a:prstGeom>
            <a:noFill/>
            <a:ln/>
          </p:spPr>
          <p:txBody>
            <a:bodyPr wrap="square" lIns="0" tIns="0" rIns="0" bIns="0" rtlCol="0" anchor="t">
              <a:noAutofit/>
            </a:bodyPr>
            <a:lstStyle/>
            <a:p>
              <a:pPr marL="0" indent="0">
                <a:lnSpc>
                  <a:spcPct val="90000"/>
                </a:lnSpc>
                <a:buNone/>
              </a:pPr>
              <a:r>
                <a:rPr lang="fr-FR" sz="1494" noProof="0" dirty="0">
                  <a:solidFill>
                    <a:srgbClr val="1F3A63"/>
                  </a:solidFill>
                  <a:latin typeface="Calibri" pitchFamily="34" charset="0"/>
                  <a:ea typeface="Calibri" pitchFamily="34" charset="-122"/>
                  <a:cs typeface="Calibri" pitchFamily="34" charset="-120"/>
                </a:rPr>
                <a:t>Gonflement rapide du sein, rougeur diffuse, chaleur, épaississement de la peau et peau d’orange, souvent sans boule distincte. Il peut être confondu avec une mastite. Des changements mammaires qui ne régressent pas rapidement sous traitement approprié nécessitent une évaluation urgente.</a:t>
              </a:r>
              <a:endParaRPr lang="fr-FR" sz="1494" noProof="0" dirty="0"/>
            </a:p>
          </p:txBody>
        </p:sp>
        <p:pic>
          <p:nvPicPr>
            <p:cNvPr id="16" name="Imagen 15">
              <a:extLst>
                <a:ext uri="{FF2B5EF4-FFF2-40B4-BE49-F238E27FC236}">
                  <a16:creationId xmlns:a16="http://schemas.microsoft.com/office/drawing/2014/main" id="{1770A403-454A-9E23-B852-B2BD87BA9B03}"/>
                </a:ext>
              </a:extLst>
            </p:cNvPr>
            <p:cNvPicPr>
              <a:picLocks noChangeAspect="1"/>
            </p:cNvPicPr>
            <p:nvPr/>
          </p:nvPicPr>
          <p:blipFill>
            <a:blip r:embed="rId3"/>
            <a:srcRect/>
            <a:stretch>
              <a:fillRect/>
            </a:stretch>
          </p:blipFill>
          <p:spPr>
            <a:xfrm>
              <a:off x="1189364" y="3596843"/>
              <a:ext cx="2145505" cy="2145505"/>
            </a:xfrm>
            <a:prstGeom prst="rect">
              <a:avLst/>
            </a:prstGeom>
          </p:spPr>
        </p:pic>
      </p:grpSp>
      <p:grpSp>
        <p:nvGrpSpPr>
          <p:cNvPr id="19" name="Grupo 18">
            <a:extLst>
              <a:ext uri="{FF2B5EF4-FFF2-40B4-BE49-F238E27FC236}">
                <a16:creationId xmlns:a16="http://schemas.microsoft.com/office/drawing/2014/main" id="{7746621E-4457-F743-9333-AFF6AF1F0BDE}"/>
              </a:ext>
            </a:extLst>
          </p:cNvPr>
          <p:cNvGrpSpPr/>
          <p:nvPr/>
        </p:nvGrpSpPr>
        <p:grpSpPr>
          <a:xfrm>
            <a:off x="4332122" y="1192309"/>
            <a:ext cx="3527450" cy="4579521"/>
            <a:chOff x="4332122" y="1192309"/>
            <a:chExt cx="3527450" cy="4579521"/>
          </a:xfrm>
        </p:grpSpPr>
        <p:sp>
          <p:nvSpPr>
            <p:cNvPr id="8" name="Shape 6"/>
            <p:cNvSpPr/>
            <p:nvPr/>
          </p:nvSpPr>
          <p:spPr>
            <a:xfrm>
              <a:off x="4332122" y="1192309"/>
              <a:ext cx="3527450" cy="4579521"/>
            </a:xfrm>
            <a:prstGeom prst="roundRect">
              <a:avLst>
                <a:gd name="adj" fmla="val 1555"/>
              </a:avLst>
            </a:prstGeom>
            <a:solidFill>
              <a:srgbClr val="FBECEA"/>
            </a:solidFill>
            <a:ln w="12700">
              <a:solidFill>
                <a:srgbClr val="E7B6B0"/>
              </a:solidFill>
              <a:prstDash val="solid"/>
            </a:ln>
          </p:spPr>
          <p:txBody>
            <a:bodyPr/>
            <a:lstStyle/>
            <a:p>
              <a:endParaRPr lang="fr-FR" noProof="0" dirty="0"/>
            </a:p>
          </p:txBody>
        </p:sp>
        <p:sp>
          <p:nvSpPr>
            <p:cNvPr id="9" name="Text 7"/>
            <p:cNvSpPr txBox="1"/>
            <p:nvPr/>
          </p:nvSpPr>
          <p:spPr>
            <a:xfrm>
              <a:off x="4496714" y="1283750"/>
              <a:ext cx="3198266" cy="292608"/>
            </a:xfrm>
            <a:prstGeom prst="rect">
              <a:avLst/>
            </a:prstGeom>
            <a:noFill/>
            <a:ln/>
          </p:spPr>
          <p:txBody>
            <a:bodyPr wrap="square" lIns="0" tIns="0" rIns="0" bIns="0" rtlCol="0" anchor="t"/>
            <a:lstStyle/>
            <a:p>
              <a:r>
                <a:rPr lang="fr-FR" sz="1700" b="1" dirty="0">
                  <a:solidFill>
                    <a:srgbClr val="A32319"/>
                  </a:solidFill>
                  <a:latin typeface="Calibri" pitchFamily="34" charset="0"/>
                  <a:ea typeface="Calibri" pitchFamily="34" charset="-122"/>
                  <a:cs typeface="Calibri" pitchFamily="34" charset="-120"/>
                </a:rPr>
                <a:t>🔴 Maladie </a:t>
              </a:r>
              <a:r>
                <a:rPr lang="fr-FR" sz="1700" b="1" noProof="0" dirty="0">
                  <a:solidFill>
                    <a:srgbClr val="A32319"/>
                  </a:solidFill>
                  <a:latin typeface="Calibri" pitchFamily="34" charset="0"/>
                  <a:ea typeface="Calibri" pitchFamily="34" charset="-122"/>
                  <a:cs typeface="Calibri" pitchFamily="34" charset="-120"/>
                </a:rPr>
                <a:t>de Paget du mamelon</a:t>
              </a:r>
              <a:endParaRPr lang="fr-FR" sz="1700" noProof="0" dirty="0"/>
            </a:p>
          </p:txBody>
        </p:sp>
        <p:sp>
          <p:nvSpPr>
            <p:cNvPr id="10" name="Text 8"/>
            <p:cNvSpPr txBox="1"/>
            <p:nvPr/>
          </p:nvSpPr>
          <p:spPr>
            <a:xfrm>
              <a:off x="4496714" y="1622078"/>
              <a:ext cx="3198266" cy="3355848"/>
            </a:xfrm>
            <a:prstGeom prst="rect">
              <a:avLst/>
            </a:prstGeom>
            <a:noFill/>
            <a:ln/>
          </p:spPr>
          <p:txBody>
            <a:bodyPr wrap="square" lIns="0" tIns="0" rIns="0" bIns="0" rtlCol="0" anchor="t">
              <a:noAutofit/>
            </a:bodyPr>
            <a:lstStyle/>
            <a:p>
              <a:pPr marL="0" indent="0">
                <a:lnSpc>
                  <a:spcPct val="90000"/>
                </a:lnSpc>
                <a:buNone/>
              </a:pPr>
              <a:r>
                <a:rPr lang="fr-FR" sz="1494" noProof="0" dirty="0">
                  <a:solidFill>
                    <a:srgbClr val="1F3A63"/>
                  </a:solidFill>
                  <a:latin typeface="Calibri" pitchFamily="34" charset="0"/>
                  <a:ea typeface="Calibri" pitchFamily="34" charset="-122"/>
                  <a:cs typeface="Calibri" pitchFamily="34" charset="-120"/>
                </a:rPr>
                <a:t>Lésion persistante du mamelon et de l’aréole, squameuse, d’aspect eczémateux ou ulcérée, parfois avec écoulement. Elle peut être associée à un cancer in situ ou invasif sous-jacent. Une lésion du mamelon qui ne guérit pas doit être évaluée, et non traitée par des crèmes répétées.</a:t>
              </a:r>
              <a:endParaRPr lang="fr-FR" sz="1494" noProof="0" dirty="0"/>
            </a:p>
          </p:txBody>
        </p:sp>
        <p:pic>
          <p:nvPicPr>
            <p:cNvPr id="14" name="Imagen 13">
              <a:extLst>
                <a:ext uri="{FF2B5EF4-FFF2-40B4-BE49-F238E27FC236}">
                  <a16:creationId xmlns:a16="http://schemas.microsoft.com/office/drawing/2014/main" id="{2EB020CE-4896-4197-49C4-123A8C56C9C9}"/>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455112" y="3371703"/>
              <a:ext cx="3290804" cy="2202547"/>
            </a:xfrm>
            <a:prstGeom prst="rect">
              <a:avLst/>
            </a:prstGeom>
          </p:spPr>
        </p:pic>
      </p:grpSp>
      <p:grpSp>
        <p:nvGrpSpPr>
          <p:cNvPr id="20" name="Grupo 19">
            <a:extLst>
              <a:ext uri="{FF2B5EF4-FFF2-40B4-BE49-F238E27FC236}">
                <a16:creationId xmlns:a16="http://schemas.microsoft.com/office/drawing/2014/main" id="{65F8FEFD-B823-F4B4-6003-8C3E86A4682B}"/>
              </a:ext>
            </a:extLst>
          </p:cNvPr>
          <p:cNvGrpSpPr/>
          <p:nvPr/>
        </p:nvGrpSpPr>
        <p:grpSpPr>
          <a:xfrm>
            <a:off x="8115605" y="1192309"/>
            <a:ext cx="3527450" cy="4579521"/>
            <a:chOff x="8115605" y="1192309"/>
            <a:chExt cx="3527450" cy="4579521"/>
          </a:xfrm>
        </p:grpSpPr>
        <p:sp>
          <p:nvSpPr>
            <p:cNvPr id="11" name="Shape 9"/>
            <p:cNvSpPr/>
            <p:nvPr/>
          </p:nvSpPr>
          <p:spPr>
            <a:xfrm>
              <a:off x="8115605" y="1192309"/>
              <a:ext cx="3527450" cy="4579521"/>
            </a:xfrm>
            <a:prstGeom prst="roundRect">
              <a:avLst>
                <a:gd name="adj" fmla="val 1555"/>
              </a:avLst>
            </a:prstGeom>
            <a:solidFill>
              <a:srgbClr val="FBECEA"/>
            </a:solidFill>
            <a:ln w="12700">
              <a:solidFill>
                <a:srgbClr val="E7B6B0"/>
              </a:solidFill>
              <a:prstDash val="solid"/>
            </a:ln>
          </p:spPr>
          <p:txBody>
            <a:bodyPr/>
            <a:lstStyle/>
            <a:p>
              <a:endParaRPr lang="fr-FR" noProof="0" dirty="0"/>
            </a:p>
          </p:txBody>
        </p:sp>
        <p:sp>
          <p:nvSpPr>
            <p:cNvPr id="12" name="Text 10"/>
            <p:cNvSpPr txBox="1"/>
            <p:nvPr/>
          </p:nvSpPr>
          <p:spPr>
            <a:xfrm>
              <a:off x="8280197" y="1283750"/>
              <a:ext cx="3198266" cy="292608"/>
            </a:xfrm>
            <a:prstGeom prst="rect">
              <a:avLst/>
            </a:prstGeom>
            <a:noFill/>
            <a:ln/>
          </p:spPr>
          <p:txBody>
            <a:bodyPr wrap="square" lIns="0" tIns="0" rIns="0" bIns="0" rtlCol="0" anchor="t"/>
            <a:lstStyle/>
            <a:p>
              <a:r>
                <a:rPr lang="fr-FR" sz="1700" b="1" dirty="0">
                  <a:solidFill>
                    <a:srgbClr val="A32319"/>
                  </a:solidFill>
                  <a:latin typeface="Calibri" pitchFamily="34" charset="0"/>
                  <a:ea typeface="Calibri" pitchFamily="34" charset="-122"/>
                  <a:cs typeface="Calibri" pitchFamily="34" charset="-120"/>
                </a:rPr>
                <a:t>🔴 Cancer </a:t>
              </a:r>
              <a:r>
                <a:rPr lang="fr-FR" sz="1700" b="1" noProof="0" dirty="0">
                  <a:solidFill>
                    <a:srgbClr val="A32319"/>
                  </a:solidFill>
                  <a:latin typeface="Calibri" pitchFamily="34" charset="0"/>
                  <a:ea typeface="Calibri" pitchFamily="34" charset="-122"/>
                  <a:cs typeface="Calibri" pitchFamily="34" charset="-120"/>
                </a:rPr>
                <a:t>du sein chez l'homme</a:t>
              </a:r>
              <a:endParaRPr lang="fr-FR" sz="1700" noProof="0" dirty="0"/>
            </a:p>
          </p:txBody>
        </p:sp>
        <p:sp>
          <p:nvSpPr>
            <p:cNvPr id="13" name="Text 11"/>
            <p:cNvSpPr txBox="1"/>
            <p:nvPr/>
          </p:nvSpPr>
          <p:spPr>
            <a:xfrm>
              <a:off x="8280197" y="1622078"/>
              <a:ext cx="3198266" cy="3355848"/>
            </a:xfrm>
            <a:prstGeom prst="rect">
              <a:avLst/>
            </a:prstGeom>
            <a:noFill/>
            <a:ln/>
          </p:spPr>
          <p:txBody>
            <a:bodyPr wrap="square" lIns="0" tIns="0" rIns="0" bIns="0" rtlCol="0" anchor="t">
              <a:noAutofit/>
            </a:bodyPr>
            <a:lstStyle/>
            <a:p>
              <a:pPr marL="0" indent="0">
                <a:lnSpc>
                  <a:spcPct val="90000"/>
                </a:lnSpc>
                <a:buNone/>
              </a:pPr>
              <a:r>
                <a:rPr lang="fr-FR" sz="1494" noProof="0" dirty="0">
                  <a:solidFill>
                    <a:srgbClr val="1F3A63"/>
                  </a:solidFill>
                  <a:latin typeface="Calibri" pitchFamily="34" charset="0"/>
                  <a:ea typeface="Calibri" pitchFamily="34" charset="-122"/>
                  <a:cs typeface="Calibri" pitchFamily="34" charset="-120"/>
                </a:rPr>
                <a:t>Rare mais réel. Il se présente généralement comme une boule ferme, souvent indolore, derrière ou près du mamelon, parfois avec rétraction ou écoulement du mamelon. Évaluez toute masse du sein chez l’homme au lieu de conclure à une gynécomastie.</a:t>
              </a:r>
              <a:endParaRPr lang="fr-FR" sz="1494" noProof="0" dirty="0"/>
            </a:p>
          </p:txBody>
        </p:sp>
        <p:pic>
          <p:nvPicPr>
            <p:cNvPr id="17" name="Imagen 16">
              <a:extLst>
                <a:ext uri="{FF2B5EF4-FFF2-40B4-BE49-F238E27FC236}">
                  <a16:creationId xmlns:a16="http://schemas.microsoft.com/office/drawing/2014/main" id="{97294B5B-AD83-FC7A-F804-46E91904FA3C}"/>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171024" y="3477550"/>
              <a:ext cx="3428748" cy="1645246"/>
            </a:xfrm>
            <a:prstGeom prst="rect">
              <a:avLst/>
            </a:prstGeom>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rmAutofit/>
          </a:bodyPr>
          <a:lstStyle/>
          <a:p>
            <a:pPr marL="0" indent="0">
              <a:buNone/>
            </a:pPr>
            <a:r>
              <a:rPr lang="fr-FR" sz="3000" b="1" noProof="0" dirty="0">
                <a:solidFill>
                  <a:srgbClr val="12315B"/>
                </a:solidFill>
                <a:latin typeface="Calibri" pitchFamily="34" charset="0"/>
                <a:ea typeface="Calibri" pitchFamily="34" charset="-122"/>
                <a:cs typeface="Calibri" pitchFamily="34" charset="-120"/>
              </a:rPr>
              <a:t>Biologie tumorale : les trois résultats qui orientent le traitement</a:t>
            </a:r>
            <a:endParaRPr lang="fr-FR" sz="3000" noProof="0" dirty="0"/>
          </a:p>
        </p:txBody>
      </p:sp>
      <p:pic>
        <p:nvPicPr>
          <p:cNvPr id="6" name="Imagen 5">
            <a:extLst>
              <a:ext uri="{FF2B5EF4-FFF2-40B4-BE49-F238E27FC236}">
                <a16:creationId xmlns:a16="http://schemas.microsoft.com/office/drawing/2014/main" id="{2866BFB2-C538-70C2-5F4A-77415BB190AE}"/>
              </a:ext>
            </a:extLst>
          </p:cNvPr>
          <p:cNvPicPr>
            <a:picLocks noChangeAspect="1"/>
          </p:cNvPicPr>
          <p:nvPr/>
        </p:nvPicPr>
        <p:blipFill>
          <a:blip r:embed="rId3"/>
          <a:stretch>
            <a:fillRect/>
          </a:stretch>
        </p:blipFill>
        <p:spPr>
          <a:xfrm>
            <a:off x="1147118" y="1087757"/>
            <a:ext cx="9417907" cy="529475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Vérifiez votre compréhension</a:t>
            </a:r>
            <a:endParaRPr lang="fr-FR"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fr-FR"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lstStyle/>
          <a:p>
            <a:pPr marL="0" indent="0">
              <a:lnSpc>
                <a:spcPct val="92000"/>
              </a:lnSpc>
              <a:buNone/>
            </a:pPr>
            <a:r>
              <a:rPr lang="fr-FR" sz="1600" b="1" noProof="0" dirty="0">
                <a:solidFill>
                  <a:srgbClr val="C9761A"/>
                </a:solidFill>
                <a:latin typeface="Calibri" pitchFamily="34" charset="0"/>
                <a:ea typeface="Calibri" pitchFamily="34" charset="-122"/>
                <a:cs typeface="Calibri" pitchFamily="34" charset="-120"/>
              </a:rPr>
              <a:t>Scénario </a:t>
            </a:r>
            <a:r>
              <a:rPr lang="fr-FR" sz="1600" noProof="0" dirty="0">
                <a:solidFill>
                  <a:srgbClr val="0B1F3F"/>
                </a:solidFill>
                <a:latin typeface="Calibri" pitchFamily="34" charset="0"/>
                <a:ea typeface="Calibri" pitchFamily="34" charset="-122"/>
                <a:cs typeface="Calibri" pitchFamily="34" charset="-120"/>
              </a:rPr>
              <a:t>Un compte rendu d’anatomopathologie décrit un carcinome invasif de type non spécifique de 1,8 cm, grade 2, ER positif, PR positif, HER2 négatif.</a:t>
            </a:r>
            <a:endParaRPr lang="fr-FR" sz="1600"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fr-FR" sz="1900" b="1" noProof="0" dirty="0">
                <a:solidFill>
                  <a:srgbClr val="12315B"/>
                </a:solidFill>
                <a:latin typeface="Calibri" pitchFamily="34" charset="0"/>
                <a:ea typeface="Calibri" pitchFamily="34" charset="-122"/>
                <a:cs typeface="Calibri" pitchFamily="34" charset="-120"/>
              </a:rPr>
              <a:t>Quelle affirmation est exacte ?</a:t>
            </a:r>
            <a:endParaRPr lang="fr-FR" sz="1900" noProof="0" dirty="0"/>
          </a:p>
        </p:txBody>
      </p:sp>
      <p:sp>
        <p:nvSpPr>
          <p:cNvPr id="8" name="Shape 6"/>
          <p:cNvSpPr/>
          <p:nvPr/>
        </p:nvSpPr>
        <p:spPr>
          <a:xfrm>
            <a:off x="548640" y="2816352"/>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9" name="Text 7"/>
          <p:cNvSpPr txBox="1"/>
          <p:nvPr/>
        </p:nvSpPr>
        <p:spPr>
          <a:xfrm>
            <a:off x="713232" y="2871216"/>
            <a:ext cx="7260336" cy="356616"/>
          </a:xfrm>
          <a:prstGeom prst="rect">
            <a:avLst/>
          </a:prstGeom>
          <a:noFill/>
          <a:ln/>
        </p:spPr>
        <p:txBody>
          <a:bodyPr wrap="square" lIns="0" tIns="0" rIns="0" bIns="0" rtlCol="0" anchor="ctr">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Les résultats des récepteurs indiquent jusqu’où le cancer s’est propagé</a:t>
            </a:r>
            <a:endParaRPr lang="fr-FR" sz="1800" noProof="0" dirty="0"/>
          </a:p>
        </p:txBody>
      </p:sp>
      <p:sp>
        <p:nvSpPr>
          <p:cNvPr id="10" name="Shape 8"/>
          <p:cNvSpPr/>
          <p:nvPr/>
        </p:nvSpPr>
        <p:spPr>
          <a:xfrm>
            <a:off x="548640" y="3374136"/>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11" name="Text 9"/>
          <p:cNvSpPr txBox="1"/>
          <p:nvPr/>
        </p:nvSpPr>
        <p:spPr>
          <a:xfrm>
            <a:off x="713232" y="3429000"/>
            <a:ext cx="7260336" cy="356616"/>
          </a:xfrm>
          <a:prstGeom prst="rect">
            <a:avLst/>
          </a:prstGeom>
          <a:noFill/>
          <a:ln/>
        </p:spPr>
        <p:txBody>
          <a:bodyPr wrap="square" lIns="0" tIns="0" rIns="0" bIns="0" rtlCol="0" anchor="ctr">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Un grade 2 signifie que le cancer a atteint les ganglions lymphatiques</a:t>
            </a:r>
            <a:endParaRPr lang="fr-FR" sz="1800" noProof="0" dirty="0"/>
          </a:p>
        </p:txBody>
      </p:sp>
      <p:sp>
        <p:nvSpPr>
          <p:cNvPr id="12" name="Shape 10"/>
          <p:cNvSpPr/>
          <p:nvPr/>
        </p:nvSpPr>
        <p:spPr>
          <a:xfrm>
            <a:off x="548640" y="3931920"/>
            <a:ext cx="7589520" cy="713232"/>
          </a:xfrm>
          <a:prstGeom prst="roundRect">
            <a:avLst>
              <a:gd name="adj" fmla="val 6410"/>
            </a:avLst>
          </a:prstGeom>
          <a:solidFill>
            <a:srgbClr val="EAF5EF"/>
          </a:solidFill>
          <a:ln w="19050">
            <a:solidFill>
              <a:srgbClr val="8FC4A9"/>
            </a:solidFill>
            <a:prstDash val="solid"/>
          </a:ln>
        </p:spPr>
        <p:txBody>
          <a:bodyPr/>
          <a:lstStyle/>
          <a:p>
            <a:endParaRPr lang="fr-FR" noProof="0" dirty="0"/>
          </a:p>
        </p:txBody>
      </p:sp>
      <p:sp>
        <p:nvSpPr>
          <p:cNvPr id="13" name="Text 11"/>
          <p:cNvSpPr txBox="1"/>
          <p:nvPr/>
        </p:nvSpPr>
        <p:spPr>
          <a:xfrm>
            <a:off x="713232" y="3986784"/>
            <a:ext cx="7260336" cy="603504"/>
          </a:xfrm>
          <a:prstGeom prst="rect">
            <a:avLst/>
          </a:prstGeom>
          <a:noFill/>
          <a:ln/>
        </p:spPr>
        <p:txBody>
          <a:bodyPr wrap="square" lIns="0" tIns="0" rIns="0" bIns="0" rtlCol="0" anchor="ctr">
            <a:normAutofit fontScale="93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Les résultats des récepteurs décrivent la biologie tumorale et indiquent qu’une hormonothérapie sera probablement pertinente ✓</a:t>
            </a:r>
            <a:endParaRPr lang="fr-FR" sz="1800" noProof="0" dirty="0"/>
          </a:p>
        </p:txBody>
      </p:sp>
      <p:sp>
        <p:nvSpPr>
          <p:cNvPr id="14" name="Shape 12"/>
          <p:cNvSpPr/>
          <p:nvPr/>
        </p:nvSpPr>
        <p:spPr>
          <a:xfrm>
            <a:off x="548640" y="4736592"/>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15" name="Text 13"/>
          <p:cNvSpPr txBox="1"/>
          <p:nvPr/>
        </p:nvSpPr>
        <p:spPr>
          <a:xfrm>
            <a:off x="713232" y="4791456"/>
            <a:ext cx="7260336" cy="356616"/>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 maladie in situ a été décrite dans ce rapport</a:t>
            </a:r>
            <a:endParaRPr lang="fr-FR"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fr-FR"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fr-FR" sz="1800" b="1" noProof="0" dirty="0">
                <a:solidFill>
                  <a:srgbClr val="1B6E4A"/>
                </a:solidFill>
                <a:latin typeface="Calibri" pitchFamily="34" charset="0"/>
                <a:ea typeface="Calibri" pitchFamily="34" charset="-122"/>
                <a:cs typeface="Calibri" pitchFamily="34" charset="-120"/>
              </a:rPr>
              <a:t>Bonne réponse : C</a:t>
            </a:r>
            <a:endParaRPr lang="fr-FR"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normAutofit fontScale="94500"/>
          </a:bodyP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Le stade décrit l’étendue de la propagation ; il dépend de la taille de la tumeur, de l’atteinte ganglionnaire et du bilan à distance, et non des récepteurs. Le grade décrit à quel point les cellules paraissent anormales au microscope. La positivité ER et PR décrit la biologie et indique qu’une hormonothérapie fera probablement partie du traitement. Le carcinome invasif de type non spécifique est invasif, et non in situ.</a:t>
            </a:r>
            <a:endParaRPr lang="fr-FR" sz="1800"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3116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92376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Stadification : le système TNM</a:t>
            </a:r>
            <a:endParaRPr lang="fr-FR" sz="3000" noProof="0" dirty="0"/>
          </a:p>
        </p:txBody>
      </p:sp>
      <p:sp>
        <p:nvSpPr>
          <p:cNvPr id="23" name="Shape 21"/>
          <p:cNvSpPr/>
          <p:nvPr/>
        </p:nvSpPr>
        <p:spPr>
          <a:xfrm>
            <a:off x="548640" y="5838988"/>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24" name="Text 22"/>
          <p:cNvSpPr txBox="1"/>
          <p:nvPr/>
        </p:nvSpPr>
        <p:spPr>
          <a:xfrm>
            <a:off x="713232" y="5912140"/>
            <a:ext cx="10765231" cy="420624"/>
          </a:xfrm>
          <a:prstGeom prst="rect">
            <a:avLst/>
          </a:prstGeom>
          <a:noFill/>
          <a:ln/>
        </p:spPr>
        <p:txBody>
          <a:bodyPr wrap="square" lIns="0" tIns="0" rIns="0" bIns="0" rtlCol="0" anchor="ctr">
            <a:normAutofit fontScale="95000"/>
          </a:bodyP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Le stade combine </a:t>
            </a:r>
            <a:r>
              <a:rPr lang="fr-FR" sz="1300" noProof="0" dirty="0" err="1">
                <a:solidFill>
                  <a:srgbClr val="0B1F3F"/>
                </a:solidFill>
                <a:latin typeface="Calibri" pitchFamily="34" charset="0"/>
                <a:ea typeface="Calibri" pitchFamily="34" charset="-122"/>
                <a:cs typeface="Calibri" pitchFamily="34" charset="-120"/>
              </a:rPr>
              <a:t>T</a:t>
            </a:r>
            <a:r>
              <a:rPr lang="fr-FR" sz="1300" noProof="0" dirty="0">
                <a:solidFill>
                  <a:srgbClr val="0B1F3F"/>
                </a:solidFill>
                <a:latin typeface="Calibri" pitchFamily="34" charset="0"/>
                <a:ea typeface="Calibri" pitchFamily="34" charset="-122"/>
                <a:cs typeface="Calibri" pitchFamily="34" charset="-120"/>
              </a:rPr>
              <a:t>, N et M. Il indique jusqu’où la maladie s’est propagée, renseigne sur le pronostic et oriente la planification du traitement. Vous n’avez pas à déterminer le stade vous-même, mais vous devez comprendre ce que signifie le stade qui vous est communiqué.</a:t>
            </a:r>
            <a:endParaRPr lang="fr-FR" sz="1300" noProof="0" dirty="0"/>
          </a:p>
        </p:txBody>
      </p:sp>
      <p:pic>
        <p:nvPicPr>
          <p:cNvPr id="5" name="Imagen 4">
            <a:extLst>
              <a:ext uri="{FF2B5EF4-FFF2-40B4-BE49-F238E27FC236}">
                <a16:creationId xmlns:a16="http://schemas.microsoft.com/office/drawing/2014/main" id="{8D78D490-37B9-9BE2-C3A2-5E34844DE1DD}"/>
              </a:ext>
            </a:extLst>
          </p:cNvPr>
          <p:cNvPicPr>
            <a:picLocks noChangeAspect="1"/>
          </p:cNvPicPr>
          <p:nvPr/>
        </p:nvPicPr>
        <p:blipFill>
          <a:blip r:embed="rId3"/>
          <a:stretch>
            <a:fillRect/>
          </a:stretch>
        </p:blipFill>
        <p:spPr>
          <a:xfrm>
            <a:off x="548639" y="1723665"/>
            <a:ext cx="10929823" cy="366345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88B1A6-5DC8-B13D-3B34-7A5EB92820E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079EE7-7D47-EA2F-57DE-A070BC4255E9}"/>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a:extLst>
              <a:ext uri="{FF2B5EF4-FFF2-40B4-BE49-F238E27FC236}">
                <a16:creationId xmlns:a16="http://schemas.microsoft.com/office/drawing/2014/main" id="{A24F47ED-0DFE-26F4-E6E4-BC5DA6F62ACB}"/>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3BEA417E-6313-AA3E-1522-B23F1B338CA3}"/>
              </a:ext>
            </a:extLst>
          </p:cNvPr>
          <p:cNvSpPr txBox="1"/>
          <p:nvPr/>
        </p:nvSpPr>
        <p:spPr>
          <a:xfrm>
            <a:off x="548640" y="566928"/>
            <a:ext cx="11094415" cy="566928"/>
          </a:xfrm>
          <a:prstGeom prst="rect">
            <a:avLst/>
          </a:prstGeom>
          <a:noFill/>
          <a:ln/>
        </p:spPr>
        <p:txBody>
          <a:bodyPr wrap="square" lIns="0" tIns="0" rIns="0" bIns="0" rtlCol="0" anchor="t"/>
          <a:lstStyle/>
          <a:p>
            <a:r>
              <a:rPr lang="fr-FR" sz="3000" b="1" dirty="0">
                <a:solidFill>
                  <a:srgbClr val="12315B"/>
                </a:solidFill>
                <a:latin typeface="Calibri" pitchFamily="34" charset="0"/>
                <a:ea typeface="Calibri" pitchFamily="34" charset="-122"/>
                <a:cs typeface="Calibri" pitchFamily="34" charset="-120"/>
              </a:rPr>
              <a:t>Stade : l'étendue ou la propagation de la maladie</a:t>
            </a:r>
            <a:endParaRPr lang="fr-FR" sz="3000" noProof="0" dirty="0"/>
          </a:p>
        </p:txBody>
      </p:sp>
      <p:pic>
        <p:nvPicPr>
          <p:cNvPr id="5" name="Imagen 4">
            <a:extLst>
              <a:ext uri="{FF2B5EF4-FFF2-40B4-BE49-F238E27FC236}">
                <a16:creationId xmlns:a16="http://schemas.microsoft.com/office/drawing/2014/main" id="{AE865511-4DF8-8C1E-50D3-0030D05A0979}"/>
              </a:ext>
            </a:extLst>
          </p:cNvPr>
          <p:cNvPicPr>
            <a:picLocks noChangeAspect="1"/>
          </p:cNvPicPr>
          <p:nvPr/>
        </p:nvPicPr>
        <p:blipFill>
          <a:blip r:embed="rId3"/>
          <a:stretch>
            <a:fillRect/>
          </a:stretch>
        </p:blipFill>
        <p:spPr>
          <a:xfrm>
            <a:off x="612807" y="1133855"/>
            <a:ext cx="10921465" cy="5454575"/>
          </a:xfrm>
          <a:prstGeom prst="rect">
            <a:avLst/>
          </a:prstGeom>
        </p:spPr>
      </p:pic>
    </p:spTree>
    <p:extLst>
      <p:ext uri="{BB962C8B-B14F-4D97-AF65-F5344CB8AC3E}">
        <p14:creationId xmlns:p14="http://schemas.microsoft.com/office/powerpoint/2010/main" val="19661028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r>
              <a:rPr lang="fr-FR" sz="3000" b="1" dirty="0">
                <a:solidFill>
                  <a:srgbClr val="12315B"/>
                </a:solidFill>
                <a:latin typeface="Calibri" pitchFamily="34" charset="0"/>
                <a:ea typeface="Calibri" pitchFamily="34" charset="-122"/>
                <a:cs typeface="Calibri" pitchFamily="34" charset="-120"/>
              </a:rPr>
              <a:t>Grade : à quel point les cellules paraissent anormales</a:t>
            </a:r>
            <a:endParaRPr lang="fr-FR" sz="3000" noProof="0" dirty="0"/>
          </a:p>
        </p:txBody>
      </p:sp>
      <p:pic>
        <p:nvPicPr>
          <p:cNvPr id="5" name="Imagen 4">
            <a:extLst>
              <a:ext uri="{FF2B5EF4-FFF2-40B4-BE49-F238E27FC236}">
                <a16:creationId xmlns:a16="http://schemas.microsoft.com/office/drawing/2014/main" id="{7752AA49-984E-B7B8-C242-2427CAA2E021}"/>
              </a:ext>
            </a:extLst>
          </p:cNvPr>
          <p:cNvPicPr>
            <a:picLocks noChangeAspect="1"/>
          </p:cNvPicPr>
          <p:nvPr/>
        </p:nvPicPr>
        <p:blipFill>
          <a:blip r:embed="rId3"/>
          <a:stretch>
            <a:fillRect/>
          </a:stretch>
        </p:blipFill>
        <p:spPr>
          <a:xfrm>
            <a:off x="830179" y="1006587"/>
            <a:ext cx="10287000" cy="535066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(1 sur 3)</a:t>
            </a:r>
            <a:endParaRPr lang="fr-FR" sz="3000" noProof="0" dirty="0"/>
          </a:p>
        </p:txBody>
      </p:sp>
      <p:sp>
        <p:nvSpPr>
          <p:cNvPr id="5" name="Shape 3"/>
          <p:cNvSpPr/>
          <p:nvPr/>
        </p:nvSpPr>
        <p:spPr>
          <a:xfrm>
            <a:off x="548640" y="1832915"/>
            <a:ext cx="11094415" cy="1652321"/>
          </a:xfrm>
          <a:prstGeom prst="roundRect">
            <a:avLst>
              <a:gd name="adj" fmla="val 3320"/>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942643"/>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 La plupart des cancers du sein proviennent de quel tissu ?</a:t>
            </a:r>
            <a:endParaRPr lang="fr-FR" sz="1800" noProof="0" dirty="0"/>
          </a:p>
        </p:txBody>
      </p:sp>
      <p:sp>
        <p:nvSpPr>
          <p:cNvPr id="7" name="Text 5"/>
          <p:cNvSpPr txBox="1"/>
          <p:nvPr/>
        </p:nvSpPr>
        <p:spPr>
          <a:xfrm>
            <a:off x="731520" y="2363267"/>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Le muscle de la paroi thoracique</a:t>
            </a:r>
            <a:endParaRPr lang="fr-FR" sz="1800" noProof="0" dirty="0"/>
          </a:p>
        </p:txBody>
      </p:sp>
      <p:sp>
        <p:nvSpPr>
          <p:cNvPr id="8" name="Text 6"/>
          <p:cNvSpPr txBox="1"/>
          <p:nvPr/>
        </p:nvSpPr>
        <p:spPr>
          <a:xfrm>
            <a:off x="6210148" y="2363267"/>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L’épithélium des canaux et des lobules</a:t>
            </a:r>
            <a:endParaRPr lang="fr-FR" sz="1800" noProof="0" dirty="0"/>
          </a:p>
        </p:txBody>
      </p:sp>
      <p:sp>
        <p:nvSpPr>
          <p:cNvPr id="9" name="Text 7"/>
          <p:cNvSpPr txBox="1"/>
          <p:nvPr/>
        </p:nvSpPr>
        <p:spPr>
          <a:xfrm>
            <a:off x="731520" y="2738171"/>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Le tissu ganglionnaire axillaire</a:t>
            </a:r>
            <a:endParaRPr lang="fr-FR" sz="1800" noProof="0" dirty="0"/>
          </a:p>
        </p:txBody>
      </p:sp>
      <p:sp>
        <p:nvSpPr>
          <p:cNvPr id="10" name="Text 8"/>
          <p:cNvSpPr txBox="1"/>
          <p:nvPr/>
        </p:nvSpPr>
        <p:spPr>
          <a:xfrm>
            <a:off x="6210148" y="2738171"/>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 graisse du sein</a:t>
            </a:r>
            <a:endParaRPr lang="fr-FR" sz="1800" noProof="0" dirty="0"/>
          </a:p>
        </p:txBody>
      </p:sp>
      <p:sp>
        <p:nvSpPr>
          <p:cNvPr id="11" name="Text 9"/>
          <p:cNvSpPr txBox="1"/>
          <p:nvPr/>
        </p:nvSpPr>
        <p:spPr>
          <a:xfrm>
            <a:off x="731520" y="3167939"/>
            <a:ext cx="10728655" cy="244145"/>
          </a:xfrm>
          <a:prstGeom prst="rect">
            <a:avLst/>
          </a:prstGeom>
          <a:noFill/>
          <a:ln/>
        </p:spPr>
        <p:txBody>
          <a:bodyPr wrap="square" lIns="0" tIns="0" rIns="0" bIns="0" rtlCol="0" anchor="t">
            <a:normAutofit/>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Les cancers du sein sont, dans leur immense majorité, des carcinomes nés des cellules épithéliales qui tapissent les canaux et les lobules.</a:t>
            </a:r>
            <a:endParaRPr lang="fr-FR" sz="1350" noProof="0" dirty="0"/>
          </a:p>
        </p:txBody>
      </p:sp>
      <p:sp>
        <p:nvSpPr>
          <p:cNvPr id="12" name="Shape 10"/>
          <p:cNvSpPr/>
          <p:nvPr/>
        </p:nvSpPr>
        <p:spPr>
          <a:xfrm>
            <a:off x="548640" y="3686404"/>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796132"/>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Q2. On annonce à une patiente qu’elle a un carcinome canalaire in situ. L’explication exacte est :</a:t>
            </a:r>
            <a:endParaRPr lang="fr-FR" sz="1800" noProof="0" dirty="0"/>
          </a:p>
        </p:txBody>
      </p:sp>
      <p:sp>
        <p:nvSpPr>
          <p:cNvPr id="14" name="Text 12"/>
          <p:cNvSpPr txBox="1"/>
          <p:nvPr/>
        </p:nvSpPr>
        <p:spPr>
          <a:xfrm>
            <a:off x="731520" y="421675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Le cancer s'est propagé à ses ganglions lymphatiques</a:t>
            </a:r>
            <a:endParaRPr lang="fr-FR" sz="1800" noProof="0" dirty="0"/>
          </a:p>
        </p:txBody>
      </p:sp>
      <p:sp>
        <p:nvSpPr>
          <p:cNvPr id="15" name="Text 13"/>
          <p:cNvSpPr txBox="1"/>
          <p:nvPr/>
        </p:nvSpPr>
        <p:spPr>
          <a:xfrm>
            <a:off x="6210148" y="4216756"/>
            <a:ext cx="5250028" cy="566928"/>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Les cellules anormales sont contenues dans le canal et n'ont pas envahi les tissus environnants</a:t>
            </a:r>
            <a:endParaRPr lang="fr-FR" sz="1800" noProof="0" dirty="0"/>
          </a:p>
        </p:txBody>
      </p:sp>
      <p:sp>
        <p:nvSpPr>
          <p:cNvPr id="16" name="Text 14"/>
          <p:cNvSpPr txBox="1"/>
          <p:nvPr/>
        </p:nvSpPr>
        <p:spPr>
          <a:xfrm>
            <a:off x="731520" y="483854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C'est un kyste bénin</a:t>
            </a:r>
            <a:endParaRPr lang="fr-FR" sz="1800" noProof="0" dirty="0"/>
          </a:p>
        </p:txBody>
      </p:sp>
      <p:sp>
        <p:nvSpPr>
          <p:cNvPr id="17" name="Text 15"/>
          <p:cNvSpPr txBox="1"/>
          <p:nvPr/>
        </p:nvSpPr>
        <p:spPr>
          <a:xfrm>
            <a:off x="6210148" y="4838548"/>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Aucun traitement ni suivi ne sera nécessaire</a:t>
            </a:r>
            <a:endParaRPr lang="fr-FR" sz="1800" noProof="0" dirty="0"/>
          </a:p>
        </p:txBody>
      </p:sp>
      <p:sp>
        <p:nvSpPr>
          <p:cNvPr id="18" name="Text 16"/>
          <p:cNvSpPr txBox="1"/>
          <p:nvPr/>
        </p:nvSpPr>
        <p:spPr>
          <a:xfrm>
            <a:off x="731520" y="526831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b="0" noProof="0" dirty="0">
                <a:solidFill>
                  <a:srgbClr val="0B1F3F"/>
                </a:solidFill>
                <a:latin typeface="Calibri" pitchFamily="34" charset="0"/>
                <a:ea typeface="Calibri" pitchFamily="34" charset="-122"/>
                <a:cs typeface="Calibri" pitchFamily="34" charset="-120"/>
              </a:rPr>
              <a:t>In situ signifie contenu dans le canal. Il n’y a pas d’invasion, donc pas de propagation aux ganglions ni à distance ; on le traite quand même car une partie de ces lésions évoluerait.</a:t>
            </a:r>
            <a:endParaRPr lang="fr-FR" sz="1350" noProof="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(2 sur 3)</a:t>
            </a:r>
            <a:endParaRPr lang="fr-FR" sz="3000" noProof="0" dirty="0"/>
          </a:p>
        </p:txBody>
      </p:sp>
      <p:sp>
        <p:nvSpPr>
          <p:cNvPr id="5" name="Shape 3"/>
          <p:cNvSpPr/>
          <p:nvPr/>
        </p:nvSpPr>
        <p:spPr>
          <a:xfrm>
            <a:off x="548640" y="1832915"/>
            <a:ext cx="11094415" cy="1899209"/>
          </a:xfrm>
          <a:prstGeom prst="roundRect">
            <a:avLst>
              <a:gd name="adj" fmla="val 288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942643"/>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Q3. Le stade et le grade diffèrent parce que :</a:t>
            </a:r>
            <a:endParaRPr lang="fr-FR" sz="1800" noProof="0" dirty="0"/>
          </a:p>
        </p:txBody>
      </p:sp>
      <p:sp>
        <p:nvSpPr>
          <p:cNvPr id="7" name="Text 5"/>
          <p:cNvSpPr txBox="1"/>
          <p:nvPr/>
        </p:nvSpPr>
        <p:spPr>
          <a:xfrm>
            <a:off x="731520" y="2363267"/>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Ils signifient la même chose</a:t>
            </a:r>
            <a:endParaRPr lang="fr-FR" sz="1800" noProof="0" dirty="0"/>
          </a:p>
        </p:txBody>
      </p:sp>
      <p:sp>
        <p:nvSpPr>
          <p:cNvPr id="8" name="Text 6"/>
          <p:cNvSpPr txBox="1"/>
          <p:nvPr/>
        </p:nvSpPr>
        <p:spPr>
          <a:xfrm>
            <a:off x="6210148" y="2363267"/>
            <a:ext cx="5250028" cy="566928"/>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Le stade est l'étendue de la propagation et le grade correspond à l'aspect anormal des cellules</a:t>
            </a:r>
            <a:endParaRPr lang="fr-FR" sz="1800" noProof="0" dirty="0"/>
          </a:p>
        </p:txBody>
      </p:sp>
      <p:sp>
        <p:nvSpPr>
          <p:cNvPr id="9" name="Text 7"/>
          <p:cNvSpPr txBox="1"/>
          <p:nvPr/>
        </p:nvSpPr>
        <p:spPr>
          <a:xfrm>
            <a:off x="731520" y="2985059"/>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Le grade est l'étendue de la propagation</a:t>
            </a:r>
            <a:endParaRPr lang="fr-FR" sz="1800" noProof="0" dirty="0"/>
          </a:p>
        </p:txBody>
      </p:sp>
      <p:sp>
        <p:nvSpPr>
          <p:cNvPr id="10" name="Text 8"/>
          <p:cNvSpPr txBox="1"/>
          <p:nvPr/>
        </p:nvSpPr>
        <p:spPr>
          <a:xfrm>
            <a:off x="6210148" y="2985059"/>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 stade ne fait référence qu'à la taille de la tumeur</a:t>
            </a:r>
            <a:endParaRPr lang="fr-FR" sz="1800" noProof="0" dirty="0"/>
          </a:p>
        </p:txBody>
      </p:sp>
      <p:sp>
        <p:nvSpPr>
          <p:cNvPr id="11" name="Text 9"/>
          <p:cNvSpPr txBox="1"/>
          <p:nvPr/>
        </p:nvSpPr>
        <p:spPr>
          <a:xfrm>
            <a:off x="731520" y="3414827"/>
            <a:ext cx="10728655" cy="244145"/>
          </a:xfrm>
          <a:prstGeom prst="rect">
            <a:avLst/>
          </a:prstGeom>
          <a:noFill/>
          <a:ln/>
        </p:spPr>
        <p:txBody>
          <a:bodyPr wrap="square" lIns="0" tIns="0" rIns="0" bIns="0" rtlCol="0" anchor="t">
            <a:normAutofit/>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 stade indique où et jusqu’où, à partir de </a:t>
            </a:r>
            <a:r>
              <a:rPr lang="fr-FR" sz="1350" noProof="0" dirty="0" err="1">
                <a:solidFill>
                  <a:srgbClr val="0B1F3F"/>
                </a:solidFill>
                <a:latin typeface="Calibri" pitchFamily="34" charset="0"/>
                <a:ea typeface="Calibri" pitchFamily="34" charset="-122"/>
                <a:cs typeface="Calibri" pitchFamily="34" charset="-120"/>
              </a:rPr>
              <a:t>T</a:t>
            </a:r>
            <a:r>
              <a:rPr lang="fr-FR" sz="1350" noProof="0" dirty="0">
                <a:solidFill>
                  <a:srgbClr val="0B1F3F"/>
                </a:solidFill>
                <a:latin typeface="Calibri" pitchFamily="34" charset="0"/>
                <a:ea typeface="Calibri" pitchFamily="34" charset="-122"/>
                <a:cs typeface="Calibri" pitchFamily="34" charset="-120"/>
              </a:rPr>
              <a:t>, N et M. Le grade décrit l’aspect des cellules tumorales au microscope.</a:t>
            </a:r>
            <a:endParaRPr lang="fr-FR" sz="1350" noProof="0" dirty="0"/>
          </a:p>
        </p:txBody>
      </p:sp>
      <p:sp>
        <p:nvSpPr>
          <p:cNvPr id="12" name="Shape 10"/>
          <p:cNvSpPr/>
          <p:nvPr/>
        </p:nvSpPr>
        <p:spPr>
          <a:xfrm>
            <a:off x="548640" y="3933292"/>
            <a:ext cx="11094415" cy="1841602"/>
          </a:xfrm>
          <a:prstGeom prst="roundRect">
            <a:avLst>
              <a:gd name="adj" fmla="val 297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04302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Q4. Le cancer du sein se propage le plus souvent à distance vers :</a:t>
            </a:r>
            <a:endParaRPr lang="fr-FR" sz="1800" noProof="0" dirty="0"/>
          </a:p>
        </p:txBody>
      </p:sp>
      <p:sp>
        <p:nvSpPr>
          <p:cNvPr id="14" name="Text 12"/>
          <p:cNvSpPr txBox="1"/>
          <p:nvPr/>
        </p:nvSpPr>
        <p:spPr>
          <a:xfrm>
            <a:off x="731520" y="446364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L’os, le foie, le poumon et le cerveau</a:t>
            </a:r>
            <a:endParaRPr lang="fr-FR" sz="1800" noProof="0" dirty="0"/>
          </a:p>
        </p:txBody>
      </p:sp>
      <p:sp>
        <p:nvSpPr>
          <p:cNvPr id="15" name="Text 13"/>
          <p:cNvSpPr txBox="1"/>
          <p:nvPr/>
        </p:nvSpPr>
        <p:spPr>
          <a:xfrm>
            <a:off x="6210148" y="446364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La thyroïde et les parathyroïdes</a:t>
            </a:r>
            <a:endParaRPr lang="fr-FR" sz="1800" noProof="0" dirty="0"/>
          </a:p>
        </p:txBody>
      </p:sp>
      <p:sp>
        <p:nvSpPr>
          <p:cNvPr id="16" name="Text 14"/>
          <p:cNvSpPr txBox="1"/>
          <p:nvPr/>
        </p:nvSpPr>
        <p:spPr>
          <a:xfrm>
            <a:off x="731520" y="483854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L’estomac et le pancréas</a:t>
            </a:r>
            <a:endParaRPr lang="fr-FR" sz="1800" noProof="0" dirty="0"/>
          </a:p>
        </p:txBody>
      </p:sp>
      <p:sp>
        <p:nvSpPr>
          <p:cNvPr id="17" name="Text 15"/>
          <p:cNvSpPr txBox="1"/>
          <p:nvPr/>
        </p:nvSpPr>
        <p:spPr>
          <a:xfrm>
            <a:off x="6210148" y="483854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Les reins uniquement</a:t>
            </a:r>
            <a:endParaRPr lang="fr-FR" sz="1800" noProof="0" dirty="0"/>
          </a:p>
        </p:txBody>
      </p:sp>
      <p:sp>
        <p:nvSpPr>
          <p:cNvPr id="18" name="Text 16"/>
          <p:cNvSpPr txBox="1"/>
          <p:nvPr/>
        </p:nvSpPr>
        <p:spPr>
          <a:xfrm>
            <a:off x="731520" y="526831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L'os est le site de propagation à distance le plus fréquent du cancer du sein, suivi du foie, des poumons et du cerveau. Une nouvelle douleur osseuse persistante chez une personne traitée pour un cancer du sein doit être évaluée.</a:t>
            </a:r>
            <a:endParaRPr lang="fr-FR" sz="1350"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(3 sur 3)</a:t>
            </a:r>
            <a:endParaRPr lang="fr-FR" sz="3000" noProof="0" dirty="0"/>
          </a:p>
        </p:txBody>
      </p:sp>
      <p:sp>
        <p:nvSpPr>
          <p:cNvPr id="5" name="Shape 3"/>
          <p:cNvSpPr/>
          <p:nvPr/>
        </p:nvSpPr>
        <p:spPr>
          <a:xfrm>
            <a:off x="548640" y="1738274"/>
            <a:ext cx="11094415" cy="1841602"/>
          </a:xfrm>
          <a:prstGeom prst="roundRect">
            <a:avLst>
              <a:gd name="adj" fmla="val 297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Q5. Une tumeur sans ER, sans PR et non HER2 positive est dite :</a:t>
            </a:r>
            <a:endParaRPr lang="fr-FR" sz="1800" noProof="0" dirty="0"/>
          </a:p>
        </p:txBody>
      </p:sp>
      <p:sp>
        <p:nvSpPr>
          <p:cNvPr id="7" name="Text 5"/>
          <p:cNvSpPr txBox="1"/>
          <p:nvPr/>
        </p:nvSpPr>
        <p:spPr>
          <a:xfrm>
            <a:off x="731520" y="2268626"/>
            <a:ext cx="5250028" cy="320040"/>
          </a:xfrm>
          <a:prstGeom prst="rect">
            <a:avLst/>
          </a:prstGeom>
          <a:noFill/>
          <a:ln/>
        </p:spPr>
        <p:txBody>
          <a:bodyPr wrap="square" lIns="0" tIns="0" rIns="0" bIns="0" rtlCol="0" anchor="t">
            <a:normAutofit fontScale="96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À récepteurs hormonaux positifs</a:t>
            </a:r>
            <a:endParaRPr lang="fr-FR" sz="1800" noProof="0" dirty="0"/>
          </a:p>
        </p:txBody>
      </p:sp>
      <p:sp>
        <p:nvSpPr>
          <p:cNvPr id="8" name="Text 6"/>
          <p:cNvSpPr txBox="1"/>
          <p:nvPr/>
        </p:nvSpPr>
        <p:spPr>
          <a:xfrm>
            <a:off x="6210148" y="2268626"/>
            <a:ext cx="5250028" cy="320040"/>
          </a:xfrm>
          <a:prstGeom prst="rect">
            <a:avLst/>
          </a:prstGeom>
          <a:noFill/>
          <a:ln/>
        </p:spPr>
        <p:txBody>
          <a:bodyPr wrap="square" lIns="0" tIns="0" rIns="0" bIns="0" rtlCol="0" anchor="t">
            <a:normAutofit fontScale="96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HER2 positif</a:t>
            </a:r>
            <a:endParaRPr lang="fr-FR" sz="1800" noProof="0" dirty="0"/>
          </a:p>
        </p:txBody>
      </p:sp>
      <p:sp>
        <p:nvSpPr>
          <p:cNvPr id="9" name="Text 7"/>
          <p:cNvSpPr txBox="1"/>
          <p:nvPr/>
        </p:nvSpPr>
        <p:spPr>
          <a:xfrm>
            <a:off x="731520" y="2643530"/>
            <a:ext cx="5250028" cy="320040"/>
          </a:xfrm>
          <a:prstGeom prst="rect">
            <a:avLst/>
          </a:prstGeom>
          <a:noFill/>
          <a:ln/>
        </p:spPr>
        <p:txBody>
          <a:bodyPr wrap="square" lIns="0" tIns="0" rIns="0" bIns="0" rtlCol="0" anchor="t">
            <a:normAutofit fontScale="96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Triple négatif</a:t>
            </a:r>
            <a:endParaRPr lang="fr-FR" sz="1800" noProof="0" dirty="0"/>
          </a:p>
        </p:txBody>
      </p:sp>
      <p:sp>
        <p:nvSpPr>
          <p:cNvPr id="10" name="Text 8"/>
          <p:cNvSpPr txBox="1"/>
          <p:nvPr/>
        </p:nvSpPr>
        <p:spPr>
          <a:xfrm>
            <a:off x="6210148" y="2643530"/>
            <a:ext cx="5250028" cy="320040"/>
          </a:xfrm>
          <a:prstGeom prst="rect">
            <a:avLst/>
          </a:prstGeom>
          <a:noFill/>
          <a:ln/>
        </p:spPr>
        <p:txBody>
          <a:bodyPr wrap="square" lIns="0" tIns="0" rIns="0" bIns="0" rtlCol="0" anchor="t">
            <a:normAutofit fontScale="96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In situ</a:t>
            </a:r>
            <a:endParaRPr lang="fr-FR" sz="1800" noProof="0" dirty="0"/>
          </a:p>
        </p:txBody>
      </p:sp>
      <p:sp>
        <p:nvSpPr>
          <p:cNvPr id="11" name="Text 9"/>
          <p:cNvSpPr txBox="1"/>
          <p:nvPr/>
        </p:nvSpPr>
        <p:spPr>
          <a:xfrm>
            <a:off x="731520" y="3073298"/>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C. </a:t>
            </a:r>
            <a:r>
              <a:rPr lang="fr-FR" sz="1350" noProof="0" dirty="0">
                <a:solidFill>
                  <a:srgbClr val="0B1F3F"/>
                </a:solidFill>
                <a:latin typeface="Calibri" pitchFamily="34" charset="0"/>
                <a:ea typeface="Calibri" pitchFamily="34" charset="-122"/>
                <a:cs typeface="Calibri" pitchFamily="34" charset="-120"/>
              </a:rPr>
              <a:t>Triple négatif signifie l’absence des trois marqueurs. L’hormonothérapie et les traitements anti-HER2 ne sont pas indiqués ; le traitement repose sur d’autres approches systémiques.</a:t>
            </a:r>
            <a:endParaRPr lang="fr-FR" sz="1350" noProof="0" dirty="0"/>
          </a:p>
        </p:txBody>
      </p:sp>
      <p:sp>
        <p:nvSpPr>
          <p:cNvPr id="12" name="Shape 10"/>
          <p:cNvSpPr/>
          <p:nvPr/>
        </p:nvSpPr>
        <p:spPr>
          <a:xfrm>
            <a:off x="548640" y="3781044"/>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890772"/>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Q6. Sein rouge, gonflé et chaud depuis deux semaines, peau épaissie, sans boule. Vous devez :</a:t>
            </a:r>
            <a:endParaRPr lang="fr-FR" sz="1800" noProof="0" dirty="0"/>
          </a:p>
        </p:txBody>
      </p:sp>
      <p:sp>
        <p:nvSpPr>
          <p:cNvPr id="14" name="Text 12"/>
          <p:cNvSpPr txBox="1"/>
          <p:nvPr/>
        </p:nvSpPr>
        <p:spPr>
          <a:xfrm>
            <a:off x="731520" y="4311396"/>
            <a:ext cx="5250028" cy="566928"/>
          </a:xfrm>
          <a:prstGeom prst="rect">
            <a:avLst/>
          </a:prstGeom>
          <a:noFill/>
          <a:ln/>
        </p:spPr>
        <p:txBody>
          <a:bodyPr wrap="square" lIns="0" tIns="0" rIns="0" bIns="0" rtlCol="0" anchor="t">
            <a:normAutofit fontScale="96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La rassurer : ce ne peut pas être un cancer sans boule</a:t>
            </a:r>
            <a:endParaRPr lang="fr-FR" sz="1800" noProof="0" dirty="0"/>
          </a:p>
        </p:txBody>
      </p:sp>
      <p:sp>
        <p:nvSpPr>
          <p:cNvPr id="15" name="Text 13"/>
          <p:cNvSpPr txBox="1"/>
          <p:nvPr/>
        </p:nvSpPr>
        <p:spPr>
          <a:xfrm>
            <a:off x="6210148" y="4311396"/>
            <a:ext cx="5250028" cy="566928"/>
          </a:xfrm>
          <a:prstGeom prst="rect">
            <a:avLst/>
          </a:prstGeom>
          <a:noFill/>
          <a:ln/>
        </p:spPr>
        <p:txBody>
          <a:bodyPr wrap="square" lIns="0" tIns="0" rIns="0" bIns="0" rtlCol="0" anchor="t">
            <a:normAutofit fontScale="89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Traiter comme une infection et prévoir un contrôle, avec orientation rapide si l’évolution n’est pas celle attendue</a:t>
            </a:r>
            <a:endParaRPr lang="fr-FR"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normAutofit fontScale="96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Attendre six mois</a:t>
            </a:r>
            <a:endParaRPr lang="fr-FR"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normAutofit fontScale="96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Programmer un dépistage de routine</a:t>
            </a:r>
            <a:endParaRPr lang="fr-FR" sz="1800" noProof="0" dirty="0"/>
          </a:p>
        </p:txBody>
      </p:sp>
      <p:sp>
        <p:nvSpPr>
          <p:cNvPr id="18" name="Text 16"/>
          <p:cNvSpPr txBox="1"/>
          <p:nvPr/>
        </p:nvSpPr>
        <p:spPr>
          <a:xfrm>
            <a:off x="731520" y="5362956"/>
            <a:ext cx="10728655" cy="433426"/>
          </a:xfrm>
          <a:prstGeom prst="rect">
            <a:avLst/>
          </a:prstGeom>
          <a:noFill/>
          <a:ln/>
        </p:spPr>
        <p:txBody>
          <a:bodyPr wrap="square" lIns="0" tIns="0" rIns="0" bIns="0" rtlCol="0" anchor="t">
            <a:normAutofit fontScale="950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Un cancer inflammatoire du sein peut se présenter exactement ainsi, souvent sans boule distincte. L’infection est plus fréquente : traitez-la correctement, mais réévaluez de façon planifiée et orientez rapidement si le tableau ne régresse pas.</a:t>
            </a:r>
            <a:endParaRPr lang="fr-FR" sz="1350" noProof="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1</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Réflexion sur la </a:t>
            </a:r>
            <a:r>
              <a:rPr lang="fr-FR" sz="3000" b="1" noProof="0" dirty="0">
                <a:solidFill/>
                <a:latin typeface="Calibri" pitchFamily="34" charset="0"/>
                <a:ea typeface="Calibri" pitchFamily="34" charset="-122"/>
                <a:cs typeface="Calibri" pitchFamily="34" charset="-120"/>
              </a:rPr>
              <a:t>session</a:t>
            </a:r>
            <a:endParaRPr lang="fr-FR"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noAutofit/>
          </a:bodyPr>
          <a:lstStyle/>
          <a:p>
            <a:pPr marL="0" indent="0">
              <a:lnSpc>
                <a:spcPct val="95000"/>
              </a:lnSpc>
              <a:buNone/>
            </a:pPr>
            <a:r>
              <a:rPr lang="fr-FR" sz="1409" i="1" noProof="0" dirty="0">
                <a:solidFill>
                  <a:srgbClr val="5B7699"/>
                </a:solidFill>
                <a:latin typeface="Calibri" pitchFamily="34" charset="0"/>
                <a:ea typeface="Calibri" pitchFamily="34" charset="-122"/>
                <a:cs typeface="Calibri" pitchFamily="34" charset="-120"/>
              </a:rPr>
              <a:t>Saisissez votre réponse dans la zone de texte. Il n'y a pas de réponse unique correcte. Ces questions ne sont pas notées et servent à votre propre pratique et à la discussion.</a:t>
            </a:r>
            <a:endParaRPr lang="fr-FR" sz="1409"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fr-FR"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1</a:t>
            </a:r>
            <a:endParaRPr lang="fr-FR"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Avec vos propres mots, comment expliqueriez-vous à une patiente qu’un carcinome in situ n’est pas la même chose qu’un cancer du sein invasif ?</a:t>
            </a:r>
            <a:endParaRPr lang="fr-FR"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fr-FR"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2</a:t>
            </a:r>
            <a:endParaRPr lang="fr-FR"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Quel point sur le fardeau du cancer du sein au Rwanda aimeriez-vous le plus faire comprendre à un membre de la communauté, et pourquoi ?</a:t>
            </a:r>
            <a:endParaRPr lang="fr-FR"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fr-FR"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3</a:t>
            </a:r>
            <a:endParaRPr lang="fr-FR"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Près des trois quarts des cancers du sein dont le stade était connu au Rwanda étaient avancés au diagnostic. Dans votre contexte, où se produit ce retard, et sur quelle partie pourriez-vous agir ?</a:t>
            </a:r>
            <a:endParaRPr lang="fr-FR" sz="1800" noProof="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2">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noAutofit/>
          </a:bodyPr>
          <a:lstStyle/>
          <a:p>
            <a:pPr marL="0" indent="0">
              <a:buNone/>
            </a:pPr>
            <a:r>
              <a:rPr lang="fr-FR" sz="10455" b="1" noProof="0" dirty="0">
                <a:solidFill>
                  <a:srgbClr val="2C5C99"/>
                </a:solidFill>
                <a:latin typeface="Calibri" pitchFamily="34" charset="0"/>
                <a:ea typeface="Calibri" pitchFamily="34" charset="-122"/>
                <a:cs typeface="Calibri" pitchFamily="34" charset="-120"/>
              </a:rPr>
              <a:t>2</a:t>
            </a:r>
            <a:endParaRPr lang="fr-FR" sz="10455"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fr-FR" sz="1600" b="1" noProof="0" dirty="0">
                <a:solidFill>
                  <a:srgbClr val="9FC2E8"/>
                </a:solidFill>
                <a:latin typeface="Calibri" pitchFamily="34" charset="0"/>
                <a:ea typeface="Calibri" pitchFamily="34" charset="-122"/>
                <a:cs typeface="Calibri" pitchFamily="34" charset="-120"/>
              </a:rPr>
              <a:t>S e s s i o n 2</a:t>
            </a:r>
            <a:endParaRPr lang="fr-FR"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fr-FR" sz="4000" b="1" noProof="0" dirty="0">
                <a:solidFill>
                  <a:srgbClr val="FFFFFF"/>
                </a:solidFill>
                <a:latin typeface="Calibri" pitchFamily="34" charset="0"/>
                <a:ea typeface="Calibri" pitchFamily="34" charset="-122"/>
                <a:cs typeface="Calibri" pitchFamily="34" charset="-120"/>
              </a:rPr>
              <a:t>Dépistage et détection précoce</a:t>
            </a:r>
            <a:endParaRPr lang="fr-FR"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fr-FR" sz="1800" noProof="0" dirty="0">
                <a:solidFill>
                  <a:srgbClr val="CFE0F4"/>
                </a:solidFill>
                <a:latin typeface="Calibri" pitchFamily="34" charset="0"/>
                <a:ea typeface="Calibri" pitchFamily="34" charset="-122"/>
                <a:cs typeface="Calibri" pitchFamily="34" charset="-120"/>
              </a:rPr>
              <a:t>Suivez Immaculée, 48 ans, alors que vous étudiez ce qu'est le dépistage, quelles affections mammaires sont bénignes, ce qu'il faut rechercher, comment examiner et ce que signifie réellement un résultat anormal.</a:t>
            </a:r>
            <a:endParaRPr lang="fr-FR"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fr-FR" sz="1000" noProof="0" dirty="0">
                <a:solidFill>
                  <a:srgbClr val="7FA6D4"/>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Objectifs d'apprentissage</a:t>
            </a:r>
            <a:endParaRPr lang="fr-FR" sz="3000" noProof="0" dirty="0"/>
          </a:p>
        </p:txBody>
      </p:sp>
      <p:sp>
        <p:nvSpPr>
          <p:cNvPr id="5" name="Shape 3"/>
          <p:cNvSpPr/>
          <p:nvPr/>
        </p:nvSpPr>
        <p:spPr>
          <a:xfrm>
            <a:off x="548640" y="1417320"/>
            <a:ext cx="3527450" cy="1960557"/>
          </a:xfrm>
          <a:prstGeom prst="roundRect">
            <a:avLst>
              <a:gd name="adj" fmla="val 228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Distinguer</a:t>
            </a:r>
            <a:endParaRPr lang="fr-FR" sz="1700" noProof="0" dirty="0"/>
          </a:p>
        </p:txBody>
      </p:sp>
      <p:sp>
        <p:nvSpPr>
          <p:cNvPr id="7" name="Text 5"/>
          <p:cNvSpPr txBox="1"/>
          <p:nvPr/>
        </p:nvSpPr>
        <p:spPr>
          <a:xfrm>
            <a:off x="713232" y="1847088"/>
            <a:ext cx="3198266" cy="1916499"/>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Distinguer le dépistage d’une personne sans symptôme de l’évaluation d’une personne présentant un changement mammaire.</a:t>
            </a:r>
            <a:endParaRPr lang="fr-FR" sz="1800" noProof="0" dirty="0"/>
          </a:p>
        </p:txBody>
      </p:sp>
      <p:sp>
        <p:nvSpPr>
          <p:cNvPr id="8" name="Shape 6"/>
          <p:cNvSpPr/>
          <p:nvPr/>
        </p:nvSpPr>
        <p:spPr>
          <a:xfrm>
            <a:off x="4332122" y="1417320"/>
            <a:ext cx="3527450" cy="1960557"/>
          </a:xfrm>
          <a:prstGeom prst="roundRect">
            <a:avLst>
              <a:gd name="adj" fmla="val 2285"/>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Différencier</a:t>
            </a:r>
            <a:endParaRPr lang="fr-FR" sz="1700" noProof="0" dirty="0"/>
          </a:p>
        </p:txBody>
      </p:sp>
      <p:sp>
        <p:nvSpPr>
          <p:cNvPr id="10" name="Text 8"/>
          <p:cNvSpPr txBox="1"/>
          <p:nvPr/>
        </p:nvSpPr>
        <p:spPr>
          <a:xfrm>
            <a:off x="4496714" y="1847088"/>
            <a:ext cx="3198266" cy="1916499"/>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Différencier les affections mammaires bénignes courantes des signes qui nécessitent une évaluation urgente.</a:t>
            </a:r>
            <a:endParaRPr lang="fr-FR" sz="1800" noProof="0" dirty="0"/>
          </a:p>
        </p:txBody>
      </p:sp>
      <p:sp>
        <p:nvSpPr>
          <p:cNvPr id="11" name="Shape 9"/>
          <p:cNvSpPr/>
          <p:nvPr/>
        </p:nvSpPr>
        <p:spPr>
          <a:xfrm>
            <a:off x="8115605" y="1417320"/>
            <a:ext cx="3527450" cy="1960557"/>
          </a:xfrm>
          <a:prstGeom prst="roundRect">
            <a:avLst>
              <a:gd name="adj" fmla="val 228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Identifier</a:t>
            </a:r>
            <a:endParaRPr lang="fr-FR" sz="1700" noProof="0" dirty="0"/>
          </a:p>
        </p:txBody>
      </p:sp>
      <p:sp>
        <p:nvSpPr>
          <p:cNvPr id="13" name="Text 11"/>
          <p:cNvSpPr txBox="1"/>
          <p:nvPr/>
        </p:nvSpPr>
        <p:spPr>
          <a:xfrm>
            <a:off x="8280197" y="1847088"/>
            <a:ext cx="3198266" cy="1916499"/>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Identifier les facteurs de risque établis et séparer le risque moyen du risque accru.</a:t>
            </a:r>
            <a:endParaRPr lang="fr-FR" sz="1800" noProof="0" dirty="0"/>
          </a:p>
        </p:txBody>
      </p:sp>
      <p:sp>
        <p:nvSpPr>
          <p:cNvPr id="14" name="Shape 12"/>
          <p:cNvSpPr/>
          <p:nvPr/>
        </p:nvSpPr>
        <p:spPr>
          <a:xfrm>
            <a:off x="548640" y="3834643"/>
            <a:ext cx="3527450" cy="1960557"/>
          </a:xfrm>
          <a:prstGeom prst="roundRect">
            <a:avLst>
              <a:gd name="adj" fmla="val 2798"/>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926083"/>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Reconnaître</a:t>
            </a:r>
            <a:endParaRPr lang="fr-FR" sz="1700" noProof="0" dirty="0"/>
          </a:p>
        </p:txBody>
      </p:sp>
      <p:sp>
        <p:nvSpPr>
          <p:cNvPr id="16" name="Text 14"/>
          <p:cNvSpPr txBox="1"/>
          <p:nvPr/>
        </p:nvSpPr>
        <p:spPr>
          <a:xfrm>
            <a:off x="713232" y="4264411"/>
            <a:ext cx="3198266" cy="1475925"/>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Reconnaître les changements mammaires inquiétants et les signes qui imposent d’agir sans délai.</a:t>
            </a:r>
            <a:endParaRPr lang="fr-FR" sz="1800" noProof="0" dirty="0"/>
          </a:p>
        </p:txBody>
      </p:sp>
      <p:sp>
        <p:nvSpPr>
          <p:cNvPr id="17" name="Shape 15"/>
          <p:cNvSpPr/>
          <p:nvPr/>
        </p:nvSpPr>
        <p:spPr>
          <a:xfrm>
            <a:off x="4332122" y="3834643"/>
            <a:ext cx="3527450" cy="1960557"/>
          </a:xfrm>
          <a:prstGeom prst="roundRect">
            <a:avLst>
              <a:gd name="adj" fmla="val 2798"/>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926083"/>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Évaluer</a:t>
            </a:r>
            <a:endParaRPr lang="fr-FR" sz="1700" noProof="0" dirty="0"/>
          </a:p>
        </p:txBody>
      </p:sp>
      <p:sp>
        <p:nvSpPr>
          <p:cNvPr id="19" name="Text 17"/>
          <p:cNvSpPr txBox="1"/>
          <p:nvPr/>
        </p:nvSpPr>
        <p:spPr>
          <a:xfrm>
            <a:off x="4496714" y="4264411"/>
            <a:ext cx="3198266" cy="1475925"/>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Effectuez un examen systématique des seins et des aisselles et enseignez l’auto-examen des seins.</a:t>
            </a:r>
            <a:endParaRPr lang="fr-FR" sz="1800" noProof="0" dirty="0"/>
          </a:p>
        </p:txBody>
      </p:sp>
      <p:sp>
        <p:nvSpPr>
          <p:cNvPr id="20" name="Shape 18"/>
          <p:cNvSpPr/>
          <p:nvPr/>
        </p:nvSpPr>
        <p:spPr>
          <a:xfrm>
            <a:off x="8115605" y="3834643"/>
            <a:ext cx="3527450" cy="1960557"/>
          </a:xfrm>
          <a:prstGeom prst="roundRect">
            <a:avLst>
              <a:gd name="adj" fmla="val 2798"/>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926083"/>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Interpréter</a:t>
            </a:r>
            <a:endParaRPr lang="fr-FR" sz="1700" noProof="0" dirty="0"/>
          </a:p>
        </p:txBody>
      </p:sp>
      <p:sp>
        <p:nvSpPr>
          <p:cNvPr id="22" name="Text 20"/>
          <p:cNvSpPr txBox="1"/>
          <p:nvPr/>
        </p:nvSpPr>
        <p:spPr>
          <a:xfrm>
            <a:off x="8280197" y="4264411"/>
            <a:ext cx="3198266" cy="1475925"/>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Interpréter une anomalie d’imagerie ou d’examen et indiquer la bonne étape suivante.</a:t>
            </a:r>
            <a:endParaRPr lang="fr-FR" sz="1800" noProof="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Voici Immaculée</a:t>
            </a:r>
            <a:endParaRPr lang="fr-FR" sz="3000"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Qu'est-ce que le dépistage</a:t>
            </a:r>
            <a:endParaRPr lang="fr-FR" sz="3000" noProof="0" dirty="0"/>
          </a:p>
        </p:txBody>
      </p:sp>
      <p:sp>
        <p:nvSpPr>
          <p:cNvPr id="23" name="Shape 21"/>
          <p:cNvSpPr/>
          <p:nvPr/>
        </p:nvSpPr>
        <p:spPr>
          <a:xfrm>
            <a:off x="548640" y="5760720"/>
            <a:ext cx="11094415" cy="548640"/>
          </a:xfrm>
          <a:prstGeom prst="roundRect">
            <a:avLst>
              <a:gd name="adj" fmla="val 8333"/>
            </a:avLst>
          </a:prstGeom>
          <a:solidFill>
            <a:srgbClr val="FDF1E0"/>
          </a:solidFill>
          <a:ln w="12700">
            <a:solidFill>
              <a:srgbClr val="EFD3AA"/>
            </a:solidFill>
            <a:prstDash val="solid"/>
          </a:ln>
        </p:spPr>
        <p:txBody>
          <a:bodyPr/>
          <a:lstStyle/>
          <a:p>
            <a:endParaRPr lang="fr-FR" noProof="0" dirty="0"/>
          </a:p>
        </p:txBody>
      </p:sp>
      <p:sp>
        <p:nvSpPr>
          <p:cNvPr id="24" name="Text 22"/>
          <p:cNvSpPr txBox="1"/>
          <p:nvPr/>
        </p:nvSpPr>
        <p:spPr>
          <a:xfrm>
            <a:off x="713232" y="5833872"/>
            <a:ext cx="10765231" cy="402336"/>
          </a:xfrm>
          <a:prstGeom prst="rect">
            <a:avLst/>
          </a:prstGeom>
          <a:noFill/>
          <a:ln/>
        </p:spPr>
        <p:txBody>
          <a:bodyPr wrap="square" lIns="0" tIns="0" rIns="0" bIns="0" rtlCol="0" anchor="ctr">
            <a:noAutofit/>
          </a:bodyPr>
          <a:lstStyle/>
          <a:p>
            <a:pPr marL="0" indent="0">
              <a:lnSpc>
                <a:spcPct val="95000"/>
              </a:lnSpc>
              <a:buNone/>
            </a:pPr>
            <a:r>
              <a:rPr lang="fr-FR" sz="1261" noProof="0" dirty="0">
                <a:solidFill>
                  <a:srgbClr val="0B1F3F"/>
                </a:solidFill>
                <a:latin typeface="Calibri" pitchFamily="34" charset="0"/>
                <a:ea typeface="Calibri" pitchFamily="34" charset="-122"/>
                <a:cs typeface="Calibri" pitchFamily="34" charset="-120"/>
              </a:rPr>
              <a:t>Ne présentez jamais l’examen d’une boule symptomatique comme un dépistage. Cela fausse, pour la patiente, la raison de l’examen, et risque de placer une personne qui a besoin d’une évaluation dans une file d’attente de routine.</a:t>
            </a:r>
            <a:endParaRPr lang="fr-FR" sz="1261" noProof="0" dirty="0"/>
          </a:p>
        </p:txBody>
      </p:sp>
      <p:grpSp>
        <p:nvGrpSpPr>
          <p:cNvPr id="17" name="Grupo 16">
            <a:extLst>
              <a:ext uri="{FF2B5EF4-FFF2-40B4-BE49-F238E27FC236}">
                <a16:creationId xmlns:a16="http://schemas.microsoft.com/office/drawing/2014/main" id="{10AB2FF6-7F3E-6426-1FDC-8D3F587AEADD}"/>
              </a:ext>
            </a:extLst>
          </p:cNvPr>
          <p:cNvGrpSpPr/>
          <p:nvPr/>
        </p:nvGrpSpPr>
        <p:grpSpPr>
          <a:xfrm>
            <a:off x="548640" y="1176730"/>
            <a:ext cx="3527450" cy="4157068"/>
            <a:chOff x="548640" y="1176730"/>
            <a:chExt cx="3527450" cy="4157068"/>
          </a:xfrm>
        </p:grpSpPr>
        <p:sp>
          <p:nvSpPr>
            <p:cNvPr id="5" name="Shape 3"/>
            <p:cNvSpPr/>
            <p:nvPr/>
          </p:nvSpPr>
          <p:spPr>
            <a:xfrm>
              <a:off x="548640" y="1176730"/>
              <a:ext cx="3527450" cy="4157068"/>
            </a:xfrm>
            <a:prstGeom prst="roundRect">
              <a:avLst>
                <a:gd name="adj" fmla="val 2727"/>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268170"/>
              <a:ext cx="3198266" cy="292608"/>
            </a:xfrm>
            <a:prstGeom prst="rect">
              <a:avLst/>
            </a:prstGeom>
            <a:noFill/>
            <a:ln/>
          </p:spPr>
          <p:txBody>
            <a:bodyPr wrap="square" lIns="0" tIns="0" rIns="0" bIns="0" rtlCol="0" anchor="t">
              <a:noAutofit/>
            </a:bodyPr>
            <a:lstStyle/>
            <a:p>
              <a:pPr marL="0" indent="0">
                <a:buNone/>
              </a:pPr>
              <a:r>
                <a:rPr lang="fr-FR" sz="1755" b="1" noProof="0" dirty="0">
                  <a:solidFill>
                    <a:srgbClr val="12315B"/>
                  </a:solidFill>
                  <a:latin typeface="Calibri" pitchFamily="34" charset="0"/>
                  <a:ea typeface="Calibri" pitchFamily="34" charset="-122"/>
                  <a:cs typeface="Calibri" pitchFamily="34" charset="-120"/>
                </a:rPr>
                <a:t>Dépistage</a:t>
              </a:r>
              <a:endParaRPr lang="fr-FR" sz="1755" noProof="0" dirty="0"/>
            </a:p>
          </p:txBody>
        </p:sp>
        <p:sp>
          <p:nvSpPr>
            <p:cNvPr id="7" name="Text 5"/>
            <p:cNvSpPr txBox="1"/>
            <p:nvPr/>
          </p:nvSpPr>
          <p:spPr>
            <a:xfrm>
              <a:off x="713232" y="1764156"/>
              <a:ext cx="3198266" cy="1527048"/>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Examiner des personnes sans symptôme mammaire, afin de détecter un cancer du sein plus tôt qu’il ne l’aurait été autrement.</a:t>
              </a:r>
              <a:endParaRPr lang="fr-FR" noProof="0" dirty="0"/>
            </a:p>
          </p:txBody>
        </p:sp>
      </p:grpSp>
      <p:grpSp>
        <p:nvGrpSpPr>
          <p:cNvPr id="18" name="Grupo 17">
            <a:extLst>
              <a:ext uri="{FF2B5EF4-FFF2-40B4-BE49-F238E27FC236}">
                <a16:creationId xmlns:a16="http://schemas.microsoft.com/office/drawing/2014/main" id="{849BBE48-F949-F97F-C339-C663FCF28575}"/>
              </a:ext>
            </a:extLst>
          </p:cNvPr>
          <p:cNvGrpSpPr/>
          <p:nvPr/>
        </p:nvGrpSpPr>
        <p:grpSpPr>
          <a:xfrm>
            <a:off x="4332122" y="1176730"/>
            <a:ext cx="3527450" cy="4157068"/>
            <a:chOff x="4332122" y="1176730"/>
            <a:chExt cx="3527450" cy="4157068"/>
          </a:xfrm>
        </p:grpSpPr>
        <p:sp>
          <p:nvSpPr>
            <p:cNvPr id="8" name="Shape 6"/>
            <p:cNvSpPr/>
            <p:nvPr/>
          </p:nvSpPr>
          <p:spPr>
            <a:xfrm>
              <a:off x="4332122" y="1176730"/>
              <a:ext cx="3527450" cy="4157068"/>
            </a:xfrm>
            <a:prstGeom prst="roundRect">
              <a:avLst>
                <a:gd name="adj" fmla="val 2727"/>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268170"/>
              <a:ext cx="3198266" cy="292608"/>
            </a:xfrm>
            <a:prstGeom prst="rect">
              <a:avLst/>
            </a:prstGeom>
            <a:noFill/>
            <a:ln/>
          </p:spPr>
          <p:txBody>
            <a:bodyPr wrap="square" lIns="0" tIns="0" rIns="0" bIns="0" rtlCol="0" anchor="t">
              <a:noAutofit/>
            </a:bodyPr>
            <a:lstStyle/>
            <a:p>
              <a:pPr marL="0" indent="0">
                <a:buNone/>
              </a:pPr>
              <a:r>
                <a:rPr lang="fr-FR" sz="1755" b="1" noProof="0" dirty="0">
                  <a:solidFill>
                    <a:srgbClr val="12315B"/>
                  </a:solidFill>
                  <a:latin typeface="Calibri" pitchFamily="34" charset="0"/>
                  <a:ea typeface="Calibri" pitchFamily="34" charset="-122"/>
                  <a:cs typeface="Calibri" pitchFamily="34" charset="-120"/>
                </a:rPr>
                <a:t>Évaluation diagnostique</a:t>
              </a:r>
              <a:endParaRPr lang="fr-FR" sz="1755" noProof="0" dirty="0"/>
            </a:p>
          </p:txBody>
        </p:sp>
        <p:sp>
          <p:nvSpPr>
            <p:cNvPr id="10" name="Text 8"/>
            <p:cNvSpPr txBox="1"/>
            <p:nvPr/>
          </p:nvSpPr>
          <p:spPr>
            <a:xfrm>
              <a:off x="4496714" y="1764156"/>
              <a:ext cx="3198266" cy="1527048"/>
            </a:xfrm>
            <a:prstGeom prst="rect">
              <a:avLst/>
            </a:prstGeom>
            <a:noFill/>
            <a:ln/>
          </p:spPr>
          <p:txBody>
            <a:bodyPr wrap="square" lIns="0" tIns="0" rIns="0" bIns="0" rtlCol="0" anchor="t">
              <a:noAutofit/>
            </a:bodyPr>
            <a:lstStyle/>
            <a:p>
              <a:pPr marL="0" indent="0">
                <a:lnSpc>
                  <a:spcPct val="90000"/>
                </a:lnSpc>
                <a:buNone/>
              </a:pPr>
              <a:r>
                <a:rPr lang="fr-FR" sz="1691" noProof="0" dirty="0">
                  <a:solidFill>
                    <a:srgbClr val="1F3A63"/>
                  </a:solidFill>
                  <a:latin typeface="Calibri" pitchFamily="34" charset="0"/>
                  <a:ea typeface="Calibri" pitchFamily="34" charset="-122"/>
                  <a:cs typeface="Calibri" pitchFamily="34" charset="-120"/>
                </a:rPr>
                <a:t>Investiguer une personne qui présente un changement mammaire, un examen suspect ou un résultat de dépistage anormal. Ce n’est pas du dépistage.</a:t>
              </a:r>
              <a:endParaRPr lang="fr-FR" noProof="0" dirty="0"/>
            </a:p>
          </p:txBody>
        </p:sp>
      </p:grpSp>
      <p:grpSp>
        <p:nvGrpSpPr>
          <p:cNvPr id="19" name="Grupo 18">
            <a:extLst>
              <a:ext uri="{FF2B5EF4-FFF2-40B4-BE49-F238E27FC236}">
                <a16:creationId xmlns:a16="http://schemas.microsoft.com/office/drawing/2014/main" id="{564B7321-3B63-9590-8C51-5BB65AE18B9E}"/>
              </a:ext>
            </a:extLst>
          </p:cNvPr>
          <p:cNvGrpSpPr/>
          <p:nvPr/>
        </p:nvGrpSpPr>
        <p:grpSpPr>
          <a:xfrm>
            <a:off x="8115605" y="1176730"/>
            <a:ext cx="3527450" cy="4157068"/>
            <a:chOff x="8115605" y="1176730"/>
            <a:chExt cx="3527450" cy="4157068"/>
          </a:xfrm>
        </p:grpSpPr>
        <p:sp>
          <p:nvSpPr>
            <p:cNvPr id="11" name="Shape 9"/>
            <p:cNvSpPr/>
            <p:nvPr/>
          </p:nvSpPr>
          <p:spPr>
            <a:xfrm>
              <a:off x="8115605" y="1176730"/>
              <a:ext cx="3527450" cy="4157068"/>
            </a:xfrm>
            <a:prstGeom prst="roundRect">
              <a:avLst>
                <a:gd name="adj" fmla="val 2727"/>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268170"/>
              <a:ext cx="3198266" cy="292608"/>
            </a:xfrm>
            <a:prstGeom prst="rect">
              <a:avLst/>
            </a:prstGeom>
            <a:noFill/>
            <a:ln/>
          </p:spPr>
          <p:txBody>
            <a:bodyPr wrap="square" lIns="0" tIns="0" rIns="0" bIns="0" rtlCol="0" anchor="t">
              <a:noAutofit/>
            </a:bodyPr>
            <a:lstStyle/>
            <a:p>
              <a:pPr marL="0" indent="0">
                <a:buNone/>
              </a:pPr>
              <a:r>
                <a:rPr lang="fr-FR" sz="1755" b="1" noProof="0" dirty="0">
                  <a:solidFill>
                    <a:srgbClr val="12315B"/>
                  </a:solidFill>
                  <a:latin typeface="Calibri" pitchFamily="34" charset="0"/>
                  <a:ea typeface="Calibri" pitchFamily="34" charset="-122"/>
                  <a:cs typeface="Calibri" pitchFamily="34" charset="-120"/>
                </a:rPr>
                <a:t>Surveillance</a:t>
              </a:r>
              <a:endParaRPr lang="fr-FR" sz="1755" noProof="0" dirty="0"/>
            </a:p>
          </p:txBody>
        </p:sp>
        <p:sp>
          <p:nvSpPr>
            <p:cNvPr id="13" name="Text 11"/>
            <p:cNvSpPr txBox="1"/>
            <p:nvPr/>
          </p:nvSpPr>
          <p:spPr>
            <a:xfrm>
              <a:off x="8280197" y="1764156"/>
              <a:ext cx="3198266" cy="1527048"/>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Contrôles répétés et planifiés chez une personne déjà connue comme à risque plus élevé, par exemple après un cancer du sein ou une lésion à haut risque.</a:t>
              </a:r>
              <a:endParaRPr lang="fr-FR" noProof="0" dirty="0"/>
            </a:p>
          </p:txBody>
        </p:sp>
      </p:grpSp>
      <p:pic>
        <p:nvPicPr>
          <p:cNvPr id="20" name="Imagen 19">
            <a:extLst>
              <a:ext uri="{FF2B5EF4-FFF2-40B4-BE49-F238E27FC236}">
                <a16:creationId xmlns:a16="http://schemas.microsoft.com/office/drawing/2014/main" id="{750FDA1E-8E6C-BC3B-D0CF-22C73E5F65F8}"/>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38530" y="3122171"/>
            <a:ext cx="3198266" cy="2132177"/>
          </a:xfrm>
          <a:prstGeom prst="rect">
            <a:avLst/>
          </a:prstGeom>
        </p:spPr>
      </p:pic>
      <p:pic>
        <p:nvPicPr>
          <p:cNvPr id="21" name="Imagen 20">
            <a:extLst>
              <a:ext uri="{FF2B5EF4-FFF2-40B4-BE49-F238E27FC236}">
                <a16:creationId xmlns:a16="http://schemas.microsoft.com/office/drawing/2014/main" id="{5A32E13E-37C6-4842-CFAB-780D1E5835A0}"/>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513332" y="3122171"/>
            <a:ext cx="3198266" cy="2132177"/>
          </a:xfrm>
          <a:prstGeom prst="rect">
            <a:avLst/>
          </a:prstGeom>
        </p:spPr>
      </p:pic>
      <p:pic>
        <p:nvPicPr>
          <p:cNvPr id="25" name="Imagen 24">
            <a:extLst>
              <a:ext uri="{FF2B5EF4-FFF2-40B4-BE49-F238E27FC236}">
                <a16:creationId xmlns:a16="http://schemas.microsoft.com/office/drawing/2014/main" id="{E6DA1795-F04B-BA82-E1D0-91B4C24529EC}"/>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280197" y="3122171"/>
            <a:ext cx="3198266" cy="213217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55BA659-DDE7-3C0B-4166-88F490B32F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AAF767-3363-721E-7E0C-6D687CB980D3}"/>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a:extLst>
              <a:ext uri="{FF2B5EF4-FFF2-40B4-BE49-F238E27FC236}">
                <a16:creationId xmlns:a16="http://schemas.microsoft.com/office/drawing/2014/main" id="{6FACCB67-D842-8E59-F3B3-E33FF3D37FB0}"/>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430F4562-9879-56BE-3E90-EF219AC7C4A7}"/>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Ce que le dépistage n'est pas</a:t>
            </a:r>
            <a:endParaRPr lang="fr-FR" sz="3000" noProof="0" dirty="0"/>
          </a:p>
        </p:txBody>
      </p:sp>
      <p:sp>
        <p:nvSpPr>
          <p:cNvPr id="14" name="Shape 12">
            <a:extLst>
              <a:ext uri="{FF2B5EF4-FFF2-40B4-BE49-F238E27FC236}">
                <a16:creationId xmlns:a16="http://schemas.microsoft.com/office/drawing/2014/main" id="{1E8A730B-E8F2-D5C9-C1F9-6C7E103BF008}"/>
              </a:ext>
            </a:extLst>
          </p:cNvPr>
          <p:cNvSpPr/>
          <p:nvPr/>
        </p:nvSpPr>
        <p:spPr>
          <a:xfrm>
            <a:off x="548640" y="1212712"/>
            <a:ext cx="3527450" cy="5169800"/>
          </a:xfrm>
          <a:prstGeom prst="roundRect">
            <a:avLst>
              <a:gd name="adj" fmla="val 2667"/>
            </a:avLst>
          </a:prstGeom>
          <a:solidFill>
            <a:srgbClr val="F4F8FC"/>
          </a:solidFill>
          <a:ln w="12700">
            <a:solidFill>
              <a:srgbClr val="C8D8EC"/>
            </a:solidFill>
            <a:prstDash val="solid"/>
          </a:ln>
        </p:spPr>
        <p:txBody>
          <a:bodyPr/>
          <a:lstStyle/>
          <a:p>
            <a:endParaRPr lang="fr-FR" noProof="0" dirty="0"/>
          </a:p>
        </p:txBody>
      </p:sp>
      <p:sp>
        <p:nvSpPr>
          <p:cNvPr id="15" name="Text 13">
            <a:extLst>
              <a:ext uri="{FF2B5EF4-FFF2-40B4-BE49-F238E27FC236}">
                <a16:creationId xmlns:a16="http://schemas.microsoft.com/office/drawing/2014/main" id="{BA2D8514-3D11-0B3F-F9B4-B0B2A504DC6C}"/>
              </a:ext>
            </a:extLst>
          </p:cNvPr>
          <p:cNvSpPr txBox="1"/>
          <p:nvPr/>
        </p:nvSpPr>
        <p:spPr>
          <a:xfrm>
            <a:off x="713232" y="1304152"/>
            <a:ext cx="3198266" cy="292608"/>
          </a:xfrm>
          <a:prstGeom prst="rect">
            <a:avLst/>
          </a:prstGeom>
          <a:noFill/>
          <a:ln/>
        </p:spPr>
        <p:txBody>
          <a:bodyPr wrap="square" lIns="0" tIns="0" rIns="0" bIns="0" rtlCol="0" anchor="t">
            <a:noAutofit/>
          </a:bodyPr>
          <a:lstStyle/>
          <a:p>
            <a:pPr marL="0" indent="0">
              <a:buNone/>
            </a:pPr>
            <a:r>
              <a:rPr lang="fr-FR" b="1" noProof="0" dirty="0">
                <a:solidFill>
                  <a:srgbClr val="12315B"/>
                </a:solidFill>
                <a:latin typeface="Calibri" pitchFamily="34" charset="0"/>
                <a:ea typeface="Calibri" pitchFamily="34" charset="-122"/>
                <a:cs typeface="Calibri" pitchFamily="34" charset="-120"/>
              </a:rPr>
              <a:t>Immaculée n'est pas candidate au dépistage</a:t>
            </a:r>
            <a:endParaRPr lang="fr-FR" noProof="0" dirty="0"/>
          </a:p>
        </p:txBody>
      </p:sp>
      <p:sp>
        <p:nvSpPr>
          <p:cNvPr id="16" name="Text 14">
            <a:extLst>
              <a:ext uri="{FF2B5EF4-FFF2-40B4-BE49-F238E27FC236}">
                <a16:creationId xmlns:a16="http://schemas.microsoft.com/office/drawing/2014/main" id="{7EDE5187-5804-E76F-7D41-20A7AC39C18E}"/>
              </a:ext>
            </a:extLst>
          </p:cNvPr>
          <p:cNvSpPr txBox="1"/>
          <p:nvPr/>
        </p:nvSpPr>
        <p:spPr>
          <a:xfrm>
            <a:off x="713232" y="1927290"/>
            <a:ext cx="3198266" cy="1287958"/>
          </a:xfrm>
          <a:prstGeom prst="rect">
            <a:avLst/>
          </a:prstGeom>
          <a:noFill/>
          <a:ln/>
        </p:spPr>
        <p:txBody>
          <a:bodyPr wrap="square" lIns="0" tIns="0" rIns="0" bIns="0" rtlCol="0" anchor="t">
            <a:noAutofit/>
          </a:bodyPr>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Elle a une masse mammaire persistante. C'est un symptôme. Elle a besoin d'une évaluation diagnostique du sein, et un test de dépistage ne ferait qu'ajouter un retard.</a:t>
            </a:r>
            <a:endParaRPr lang="fr-FR" noProof="0" dirty="0"/>
          </a:p>
        </p:txBody>
      </p:sp>
      <p:sp>
        <p:nvSpPr>
          <p:cNvPr id="20" name="Shape 18">
            <a:extLst>
              <a:ext uri="{FF2B5EF4-FFF2-40B4-BE49-F238E27FC236}">
                <a16:creationId xmlns:a16="http://schemas.microsoft.com/office/drawing/2014/main" id="{5F245617-A4AF-ADC6-63A6-FA98BDD6E58F}"/>
              </a:ext>
            </a:extLst>
          </p:cNvPr>
          <p:cNvSpPr/>
          <p:nvPr/>
        </p:nvSpPr>
        <p:spPr>
          <a:xfrm>
            <a:off x="8115605" y="1212712"/>
            <a:ext cx="3527450" cy="5169800"/>
          </a:xfrm>
          <a:prstGeom prst="roundRect">
            <a:avLst>
              <a:gd name="adj" fmla="val 2667"/>
            </a:avLst>
          </a:prstGeom>
          <a:solidFill>
            <a:srgbClr val="F4F8FC"/>
          </a:solidFill>
          <a:ln w="12700">
            <a:solidFill>
              <a:srgbClr val="C8D8EC"/>
            </a:solidFill>
            <a:prstDash val="solid"/>
          </a:ln>
        </p:spPr>
        <p:txBody>
          <a:bodyPr/>
          <a:lstStyle/>
          <a:p>
            <a:endParaRPr lang="fr-FR" noProof="0" dirty="0"/>
          </a:p>
        </p:txBody>
      </p:sp>
      <p:sp>
        <p:nvSpPr>
          <p:cNvPr id="21" name="Text 19">
            <a:extLst>
              <a:ext uri="{FF2B5EF4-FFF2-40B4-BE49-F238E27FC236}">
                <a16:creationId xmlns:a16="http://schemas.microsoft.com/office/drawing/2014/main" id="{AD6AC777-F95D-954B-AE1C-8A297BD9A6DD}"/>
              </a:ext>
            </a:extLst>
          </p:cNvPr>
          <p:cNvSpPr txBox="1"/>
          <p:nvPr/>
        </p:nvSpPr>
        <p:spPr>
          <a:xfrm>
            <a:off x="8280197" y="1304152"/>
            <a:ext cx="3198266" cy="292608"/>
          </a:xfrm>
          <a:prstGeom prst="rect">
            <a:avLst/>
          </a:prstGeom>
          <a:noFill/>
          <a:ln/>
        </p:spPr>
        <p:txBody>
          <a:bodyPr wrap="square" lIns="0" tIns="0" rIns="0" bIns="0" rtlCol="0" anchor="t">
            <a:noAutofit/>
          </a:bodyPr>
          <a:lstStyle/>
          <a:p>
            <a:pPr marL="0" indent="0">
              <a:buNone/>
            </a:pPr>
            <a:r>
              <a:rPr lang="fr-FR" b="1" noProof="0" dirty="0">
                <a:solidFill>
                  <a:srgbClr val="12315B"/>
                </a:solidFill>
                <a:latin typeface="Calibri" pitchFamily="34" charset="0"/>
                <a:ea typeface="Calibri" pitchFamily="34" charset="-122"/>
                <a:cs typeface="Calibri" pitchFamily="34" charset="-120"/>
              </a:rPr>
              <a:t>Un test normal ne ferme pas la porte</a:t>
            </a:r>
            <a:endParaRPr lang="fr-FR" noProof="0" dirty="0"/>
          </a:p>
        </p:txBody>
      </p:sp>
      <p:sp>
        <p:nvSpPr>
          <p:cNvPr id="22" name="Text 20">
            <a:extLst>
              <a:ext uri="{FF2B5EF4-FFF2-40B4-BE49-F238E27FC236}">
                <a16:creationId xmlns:a16="http://schemas.microsoft.com/office/drawing/2014/main" id="{C52E9DB1-0553-C7D1-0BC9-01C946F9048C}"/>
              </a:ext>
            </a:extLst>
          </p:cNvPr>
          <p:cNvSpPr txBox="1"/>
          <p:nvPr/>
        </p:nvSpPr>
        <p:spPr>
          <a:xfrm>
            <a:off x="8280197" y="1912300"/>
            <a:ext cx="3198266" cy="1242988"/>
          </a:xfrm>
          <a:prstGeom prst="rect">
            <a:avLst/>
          </a:prstGeom>
          <a:noFill/>
          <a:ln/>
        </p:spPr>
        <p:txBody>
          <a:bodyPr wrap="square" lIns="0" tIns="0" rIns="0" bIns="0" rtlCol="0" anchor="t">
            <a:noAutofit/>
          </a:bodyPr>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Un résultat de dépistage normal antérieur ne dit rien d’un nouveau changement mammaire. Tout nouveau symptôme est évalué pour lui-même.</a:t>
            </a:r>
            <a:endParaRPr lang="fr-FR" noProof="0" dirty="0"/>
          </a:p>
        </p:txBody>
      </p:sp>
      <p:sp>
        <p:nvSpPr>
          <p:cNvPr id="17" name="Shape 15">
            <a:extLst>
              <a:ext uri="{FF2B5EF4-FFF2-40B4-BE49-F238E27FC236}">
                <a16:creationId xmlns:a16="http://schemas.microsoft.com/office/drawing/2014/main" id="{40EDA642-A020-B88E-21E5-B890BD3FCC4A}"/>
              </a:ext>
            </a:extLst>
          </p:cNvPr>
          <p:cNvSpPr/>
          <p:nvPr/>
        </p:nvSpPr>
        <p:spPr>
          <a:xfrm>
            <a:off x="4332122" y="1212712"/>
            <a:ext cx="3527450" cy="5169800"/>
          </a:xfrm>
          <a:prstGeom prst="roundRect">
            <a:avLst>
              <a:gd name="adj" fmla="val 2667"/>
            </a:avLst>
          </a:prstGeom>
          <a:solidFill>
            <a:srgbClr val="F4F8FC"/>
          </a:solidFill>
          <a:ln w="12700">
            <a:solidFill>
              <a:srgbClr val="C8D8EC"/>
            </a:solidFill>
            <a:prstDash val="solid"/>
          </a:ln>
        </p:spPr>
        <p:txBody>
          <a:bodyPr/>
          <a:lstStyle/>
          <a:p>
            <a:endParaRPr lang="fr-FR" noProof="0" dirty="0"/>
          </a:p>
        </p:txBody>
      </p:sp>
      <p:sp>
        <p:nvSpPr>
          <p:cNvPr id="18" name="Text 16">
            <a:extLst>
              <a:ext uri="{FF2B5EF4-FFF2-40B4-BE49-F238E27FC236}">
                <a16:creationId xmlns:a16="http://schemas.microsoft.com/office/drawing/2014/main" id="{561FF33E-98D3-0724-608A-CA74E2D0AE60}"/>
              </a:ext>
            </a:extLst>
          </p:cNvPr>
          <p:cNvSpPr txBox="1"/>
          <p:nvPr/>
        </p:nvSpPr>
        <p:spPr>
          <a:xfrm>
            <a:off x="4496714" y="1304152"/>
            <a:ext cx="3198266" cy="292608"/>
          </a:xfrm>
          <a:prstGeom prst="rect">
            <a:avLst/>
          </a:prstGeom>
          <a:noFill/>
          <a:ln/>
        </p:spPr>
        <p:txBody>
          <a:bodyPr wrap="square" lIns="0" tIns="0" rIns="0" bIns="0" rtlCol="0" anchor="t">
            <a:noAutofit/>
          </a:bodyPr>
          <a:lstStyle/>
          <a:p>
            <a:pPr marL="0" indent="0">
              <a:buNone/>
            </a:pPr>
            <a:r>
              <a:rPr lang="fr-FR" b="1" noProof="0" dirty="0">
                <a:solidFill>
                  <a:srgbClr val="12315B"/>
                </a:solidFill>
                <a:latin typeface="Calibri" pitchFamily="34" charset="0"/>
                <a:ea typeface="Calibri" pitchFamily="34" charset="-122"/>
                <a:cs typeface="Calibri" pitchFamily="34" charset="-120"/>
              </a:rPr>
              <a:t>Le dépistage trouve ce qui ne se palpe pas</a:t>
            </a:r>
            <a:endParaRPr lang="fr-FR" noProof="0" dirty="0"/>
          </a:p>
        </p:txBody>
      </p:sp>
      <p:sp>
        <p:nvSpPr>
          <p:cNvPr id="19" name="Text 17">
            <a:extLst>
              <a:ext uri="{FF2B5EF4-FFF2-40B4-BE49-F238E27FC236}">
                <a16:creationId xmlns:a16="http://schemas.microsoft.com/office/drawing/2014/main" id="{5029B1A2-D23E-0638-321B-83A35A6D9DED}"/>
              </a:ext>
            </a:extLst>
          </p:cNvPr>
          <p:cNvSpPr txBox="1"/>
          <p:nvPr/>
        </p:nvSpPr>
        <p:spPr>
          <a:xfrm>
            <a:off x="4496714" y="1945526"/>
            <a:ext cx="3198266" cy="1572768"/>
          </a:xfrm>
          <a:prstGeom prst="rect">
            <a:avLst/>
          </a:prstGeom>
          <a:noFill/>
          <a:ln/>
        </p:spPr>
        <p:txBody>
          <a:bodyPr wrap="square" lIns="0" tIns="0" rIns="0" bIns="0" rtlCol="0" anchor="t">
            <a:normAutofit fontScale="97500"/>
          </a:bodyPr>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Le dépistage vise à détecter la maladie avant tout signe perceptible. Il ne peut pas jouer ce rôle chez une personne qui a déjà un changement.</a:t>
            </a:r>
            <a:endParaRPr lang="fr-FR" noProof="0" dirty="0"/>
          </a:p>
        </p:txBody>
      </p:sp>
      <p:pic>
        <p:nvPicPr>
          <p:cNvPr id="11" name="Imagen 10">
            <a:extLst>
              <a:ext uri="{FF2B5EF4-FFF2-40B4-BE49-F238E27FC236}">
                <a16:creationId xmlns:a16="http://schemas.microsoft.com/office/drawing/2014/main" id="{0B021E75-0981-DEFE-4172-A4759602B7B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71072" y="3479459"/>
            <a:ext cx="3251373" cy="2167582"/>
          </a:xfrm>
          <a:prstGeom prst="rect">
            <a:avLst/>
          </a:prstGeom>
        </p:spPr>
      </p:pic>
      <p:pic>
        <p:nvPicPr>
          <p:cNvPr id="12" name="Imagen 11">
            <a:extLst>
              <a:ext uri="{FF2B5EF4-FFF2-40B4-BE49-F238E27FC236}">
                <a16:creationId xmlns:a16="http://schemas.microsoft.com/office/drawing/2014/main" id="{9F291F3A-A674-7C36-58D5-6E3F4C62A2F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434929" y="3429000"/>
            <a:ext cx="3324432" cy="2216288"/>
          </a:xfrm>
          <a:prstGeom prst="rect">
            <a:avLst/>
          </a:prstGeom>
        </p:spPr>
      </p:pic>
      <p:pic>
        <p:nvPicPr>
          <p:cNvPr id="13" name="Imagen 12">
            <a:extLst>
              <a:ext uri="{FF2B5EF4-FFF2-40B4-BE49-F238E27FC236}">
                <a16:creationId xmlns:a16="http://schemas.microsoft.com/office/drawing/2014/main" id="{7E0676EB-5AC9-7095-6A04-69C1A98D547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188105" y="3692100"/>
            <a:ext cx="3357537" cy="1803180"/>
          </a:xfrm>
          <a:prstGeom prst="rect">
            <a:avLst/>
          </a:prstGeom>
        </p:spPr>
      </p:pic>
    </p:spTree>
    <p:extLst>
      <p:ext uri="{BB962C8B-B14F-4D97-AF65-F5344CB8AC3E}">
        <p14:creationId xmlns:p14="http://schemas.microsoft.com/office/powerpoint/2010/main" val="4192175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Affections mammaires bénignes que vous rencontrerez</a:t>
            </a:r>
            <a:endParaRPr lang="fr-FR" sz="3000" noProof="0" dirty="0"/>
          </a:p>
        </p:txBody>
      </p:sp>
      <p:sp>
        <p:nvSpPr>
          <p:cNvPr id="25" name="Text 22">
            <a:extLst>
              <a:ext uri="{FF2B5EF4-FFF2-40B4-BE49-F238E27FC236}">
                <a16:creationId xmlns:a16="http://schemas.microsoft.com/office/drawing/2014/main" id="{4BBCB1BE-A009-F804-A73E-D7891B150B37}"/>
              </a:ext>
            </a:extLst>
          </p:cNvPr>
          <p:cNvSpPr txBox="1"/>
          <p:nvPr/>
        </p:nvSpPr>
        <p:spPr>
          <a:xfrm>
            <a:off x="548640" y="6063817"/>
            <a:ext cx="11094415" cy="274320"/>
          </a:xfrm>
          <a:prstGeom prst="rect">
            <a:avLst/>
          </a:prstGeom>
          <a:noFill/>
          <a:ln/>
        </p:spPr>
        <p:txBody>
          <a:bodyPr wrap="square" lIns="0" tIns="0" rIns="0" bIns="0" rtlCol="0" anchor="ctr">
            <a:noAutofit/>
          </a:bodyPr>
          <a:lstStyle/>
          <a:p>
            <a:pPr marL="0" indent="0">
              <a:lnSpc>
                <a:spcPct val="95000"/>
              </a:lnSpc>
              <a:buNone/>
            </a:pPr>
            <a:r>
              <a:rPr lang="fr-FR" sz="868" i="1" noProof="0" dirty="0">
                <a:solidFill>
                  <a:srgbClr val="0B1F3F"/>
                </a:solidFill>
                <a:latin typeface="Calibri" pitchFamily="34" charset="0"/>
                <a:ea typeface="Calibri" pitchFamily="34" charset="-122"/>
                <a:cs typeface="Calibri" pitchFamily="34" charset="-120"/>
              </a:rPr>
              <a:t>Les affections bénignes sont bien plus fréquentes que le cancer, mais une explication bénigne n’est jamais présumée. Les deux peuvent coexister : une anomalie qui n’évolue pas comme prévu est réévaluée, et non simplement renommée.</a:t>
            </a:r>
            <a:endParaRPr lang="fr-FR" sz="868" i="1" noProof="0" dirty="0"/>
          </a:p>
        </p:txBody>
      </p:sp>
      <p:grpSp>
        <p:nvGrpSpPr>
          <p:cNvPr id="11" name="Grupo 10">
            <a:extLst>
              <a:ext uri="{FF2B5EF4-FFF2-40B4-BE49-F238E27FC236}">
                <a16:creationId xmlns:a16="http://schemas.microsoft.com/office/drawing/2014/main" id="{42F43CE9-1419-6960-F918-F764824044D7}"/>
              </a:ext>
            </a:extLst>
          </p:cNvPr>
          <p:cNvGrpSpPr/>
          <p:nvPr/>
        </p:nvGrpSpPr>
        <p:grpSpPr>
          <a:xfrm>
            <a:off x="548639" y="1116770"/>
            <a:ext cx="5296245" cy="4778252"/>
            <a:chOff x="548639" y="1116770"/>
            <a:chExt cx="5296245" cy="4778252"/>
          </a:xfrm>
        </p:grpSpPr>
        <p:sp>
          <p:nvSpPr>
            <p:cNvPr id="5" name="Shape 3"/>
            <p:cNvSpPr/>
            <p:nvPr/>
          </p:nvSpPr>
          <p:spPr>
            <a:xfrm>
              <a:off x="548639" y="1116770"/>
              <a:ext cx="5296245" cy="4778252"/>
            </a:xfrm>
            <a:prstGeom prst="roundRect">
              <a:avLst>
                <a:gd name="adj" fmla="val 3023"/>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208210"/>
              <a:ext cx="4801996" cy="292608"/>
            </a:xfrm>
            <a:prstGeom prst="rect">
              <a:avLst/>
            </a:prstGeom>
            <a:noFill/>
            <a:ln/>
          </p:spPr>
          <p:txBody>
            <a:bodyPr wrap="square" lIns="0" tIns="0" rIns="0" bIns="0" rtlCol="0" anchor="t">
              <a:noAutofit/>
            </a:bodyPr>
            <a:lstStyle/>
            <a:p>
              <a:pPr marL="0" indent="0">
                <a:buNone/>
              </a:pPr>
              <a:r>
                <a:rPr lang="fr-FR" sz="1755" b="1" noProof="0" dirty="0">
                  <a:solidFill>
                    <a:srgbClr val="12315B"/>
                  </a:solidFill>
                  <a:latin typeface="Calibri" pitchFamily="34" charset="0"/>
                  <a:ea typeface="Calibri" pitchFamily="34" charset="-122"/>
                  <a:cs typeface="Calibri" pitchFamily="34" charset="-120"/>
                </a:rPr>
                <a:t>Fibroadénome</a:t>
              </a:r>
              <a:endParaRPr lang="fr-FR" sz="1755" noProof="0" dirty="0"/>
            </a:p>
          </p:txBody>
        </p:sp>
        <p:sp>
          <p:nvSpPr>
            <p:cNvPr id="7" name="Text 5"/>
            <p:cNvSpPr txBox="1"/>
            <p:nvPr/>
          </p:nvSpPr>
          <p:spPr>
            <a:xfrm>
              <a:off x="713232" y="1576518"/>
              <a:ext cx="4801996" cy="1330452"/>
            </a:xfrm>
            <a:prstGeom prst="rect">
              <a:avLst/>
            </a:prstGeom>
            <a:noFill/>
            <a:ln/>
          </p:spPr>
          <p:txBody>
            <a:bodyPr wrap="square" lIns="0" tIns="0" rIns="0" bIns="0" rtlCol="0" anchor="t">
              <a:noAutofit/>
            </a:bodyPr>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Boule lisse, ferme, bien limitée et souvent mobile, plus fréquente chez les femmes jeunes. Bénigne, mais évaluée pour confirmer sa nature.</a:t>
              </a:r>
            </a:p>
            <a:p>
              <a:pPr>
                <a:lnSpc>
                  <a:spcPct val="90000"/>
                </a:lnSpc>
              </a:pPr>
              <a:r>
                <a:rPr lang="fr-FR" sz="1600" noProof="0" dirty="0">
                  <a:solidFill>
                    <a:srgbClr val="1F3A63"/>
                  </a:solidFill>
                  <a:latin typeface="Calibri" pitchFamily="34" charset="0"/>
                  <a:ea typeface="Calibri" pitchFamily="34" charset="-122"/>
                  <a:cs typeface="Calibri" pitchFamily="34" charset="-120"/>
                </a:rPr>
                <a:t>Confirmé par l’évaluation, puis généralement surveillé. L’exérèse est envisagée s’il est volumineux, grossit, est symptomatique ou si le diagnostic est incertain.</a:t>
              </a:r>
              <a:endParaRPr lang="fr-FR" sz="1600" noProof="0" dirty="0"/>
            </a:p>
            <a:p>
              <a:pPr marL="0" indent="0">
                <a:lnSpc>
                  <a:spcPct val="90000"/>
                </a:lnSpc>
                <a:buNone/>
              </a:pPr>
              <a:endParaRPr lang="fr-FR" sz="1600" noProof="0" dirty="0"/>
            </a:p>
          </p:txBody>
        </p:sp>
        <p:pic>
          <p:nvPicPr>
            <p:cNvPr id="26" name="Imagen 25">
              <a:extLst>
                <a:ext uri="{FF2B5EF4-FFF2-40B4-BE49-F238E27FC236}">
                  <a16:creationId xmlns:a16="http://schemas.microsoft.com/office/drawing/2014/main" id="{8F5990B5-A970-A626-741B-2FDA9D96F11A}"/>
                </a:ext>
              </a:extLst>
            </p:cNvPr>
            <p:cNvPicPr>
              <a:picLocks noChangeAspect="1"/>
            </p:cNvPicPr>
            <p:nvPr/>
          </p:nvPicPr>
          <p:blipFill>
            <a:blip r:embed="rId3"/>
            <a:stretch>
              <a:fillRect/>
            </a:stretch>
          </p:blipFill>
          <p:spPr>
            <a:xfrm>
              <a:off x="966413" y="3287079"/>
              <a:ext cx="4460696" cy="2227833"/>
            </a:xfrm>
            <a:prstGeom prst="rect">
              <a:avLst/>
            </a:prstGeom>
          </p:spPr>
        </p:pic>
      </p:grpSp>
      <p:grpSp>
        <p:nvGrpSpPr>
          <p:cNvPr id="12" name="Grupo 11">
            <a:extLst>
              <a:ext uri="{FF2B5EF4-FFF2-40B4-BE49-F238E27FC236}">
                <a16:creationId xmlns:a16="http://schemas.microsoft.com/office/drawing/2014/main" id="{723640FB-B148-D14B-570A-DFFBD7D56B35}"/>
              </a:ext>
            </a:extLst>
          </p:cNvPr>
          <p:cNvGrpSpPr/>
          <p:nvPr/>
        </p:nvGrpSpPr>
        <p:grpSpPr>
          <a:xfrm>
            <a:off x="6340839" y="1116769"/>
            <a:ext cx="5296246" cy="4778251"/>
            <a:chOff x="6340839" y="1116769"/>
            <a:chExt cx="5296246" cy="4778251"/>
          </a:xfrm>
        </p:grpSpPr>
        <p:sp>
          <p:nvSpPr>
            <p:cNvPr id="8" name="Shape 6"/>
            <p:cNvSpPr/>
            <p:nvPr/>
          </p:nvSpPr>
          <p:spPr>
            <a:xfrm>
              <a:off x="6340839" y="1116769"/>
              <a:ext cx="5296246" cy="4778251"/>
            </a:xfrm>
            <a:prstGeom prst="roundRect">
              <a:avLst>
                <a:gd name="adj" fmla="val 3023"/>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6670496" y="1208210"/>
              <a:ext cx="4801997" cy="292608"/>
            </a:xfrm>
            <a:prstGeom prst="rect">
              <a:avLst/>
            </a:prstGeom>
            <a:noFill/>
            <a:ln/>
          </p:spPr>
          <p:txBody>
            <a:bodyPr wrap="square" lIns="0" tIns="0" rIns="0" bIns="0" rtlCol="0" anchor="t">
              <a:noAutofit/>
            </a:bodyPr>
            <a:lstStyle/>
            <a:p>
              <a:pPr marL="0" indent="0">
                <a:buNone/>
              </a:pPr>
              <a:r>
                <a:rPr lang="fr-FR" sz="1755" b="1" noProof="0" dirty="0">
                  <a:solidFill>
                    <a:srgbClr val="12315B"/>
                  </a:solidFill>
                  <a:latin typeface="Calibri" pitchFamily="34" charset="0"/>
                  <a:ea typeface="Calibri" pitchFamily="34" charset="-122"/>
                  <a:cs typeface="Calibri" pitchFamily="34" charset="-120"/>
                </a:rPr>
                <a:t>Modifications fibrokystiques</a:t>
              </a:r>
              <a:endParaRPr lang="fr-FR" sz="1755" noProof="0" dirty="0"/>
            </a:p>
          </p:txBody>
        </p:sp>
        <p:sp>
          <p:nvSpPr>
            <p:cNvPr id="10" name="Text 8"/>
            <p:cNvSpPr txBox="1"/>
            <p:nvPr/>
          </p:nvSpPr>
          <p:spPr>
            <a:xfrm>
              <a:off x="6670496" y="1576518"/>
              <a:ext cx="4801997" cy="1330452"/>
            </a:xfrm>
            <a:prstGeom prst="rect">
              <a:avLst/>
            </a:prstGeom>
            <a:noFill/>
            <a:ln/>
          </p:spPr>
          <p:txBody>
            <a:bodyPr wrap="square" lIns="0" tIns="0" rIns="0" bIns="0" rtlCol="0" anchor="t">
              <a:noAutofit/>
            </a:bodyPr>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Tissu mammaire bosselé ou nodulaire, souvent sensible et variable selon le cycle menstruel. Fréquentes et bénignes.</a:t>
              </a:r>
            </a:p>
            <a:p>
              <a:pPr>
                <a:lnSpc>
                  <a:spcPct val="90000"/>
                </a:lnSpc>
              </a:pPr>
              <a:r>
                <a:rPr lang="fr-FR" sz="1600" noProof="0" dirty="0">
                  <a:solidFill>
                    <a:srgbClr val="1F3A63"/>
                  </a:solidFill>
                  <a:latin typeface="Calibri" pitchFamily="34" charset="0"/>
                  <a:ea typeface="Calibri" pitchFamily="34" charset="-122"/>
                  <a:cs typeface="Calibri" pitchFamily="34" charset="-120"/>
                </a:rPr>
                <a:t>Réassurance après évaluation, avec un soutien-gorge bien ajusté et un antalgique simple pour la gêne cyclique. Aucune intervention n’est nécessaire pour le changement lui-même.</a:t>
              </a:r>
              <a:endParaRPr lang="fr-FR" sz="1600" noProof="0" dirty="0"/>
            </a:p>
            <a:p>
              <a:pPr marL="0" indent="0">
                <a:lnSpc>
                  <a:spcPct val="90000"/>
                </a:lnSpc>
                <a:buNone/>
              </a:pPr>
              <a:endParaRPr lang="fr-FR" sz="1600" noProof="0" dirty="0"/>
            </a:p>
          </p:txBody>
        </p:sp>
        <p:pic>
          <p:nvPicPr>
            <p:cNvPr id="34" name="Imagen 33">
              <a:extLst>
                <a:ext uri="{FF2B5EF4-FFF2-40B4-BE49-F238E27FC236}">
                  <a16:creationId xmlns:a16="http://schemas.microsoft.com/office/drawing/2014/main" id="{75960077-D314-9ADE-40D9-5557AC7042C5}"/>
                </a:ext>
              </a:extLst>
            </p:cNvPr>
            <p:cNvPicPr>
              <a:picLocks noChangeAspect="1"/>
            </p:cNvPicPr>
            <p:nvPr/>
          </p:nvPicPr>
          <p:blipFill>
            <a:blip r:embed="rId4"/>
            <a:stretch>
              <a:fillRect/>
            </a:stretch>
          </p:blipFill>
          <p:spPr>
            <a:xfrm>
              <a:off x="6877247" y="3287079"/>
              <a:ext cx="4342061" cy="2225457"/>
            </a:xfrm>
            <a:prstGeom prst="rect">
              <a:avLst/>
            </a:prstGeom>
          </p:spPr>
        </p:pic>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EB0BA27-6A9F-D342-B31B-6AF2F5D9CA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BCEBA2-85A3-F9A5-E240-C6A2B30E1BD9}"/>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a:extLst>
              <a:ext uri="{FF2B5EF4-FFF2-40B4-BE49-F238E27FC236}">
                <a16:creationId xmlns:a16="http://schemas.microsoft.com/office/drawing/2014/main" id="{F471D10B-E0E8-9169-CD53-2ED6379B33CB}"/>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97974E5E-E8D2-8367-3D65-75E398B383C3}"/>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Affections mammaires bénignes que vous rencontrerez</a:t>
            </a:r>
            <a:endParaRPr lang="fr-FR" sz="3000" noProof="0" dirty="0"/>
          </a:p>
        </p:txBody>
      </p:sp>
      <p:grpSp>
        <p:nvGrpSpPr>
          <p:cNvPr id="5" name="Grupo 4">
            <a:extLst>
              <a:ext uri="{FF2B5EF4-FFF2-40B4-BE49-F238E27FC236}">
                <a16:creationId xmlns:a16="http://schemas.microsoft.com/office/drawing/2014/main" id="{79ED3E83-FB18-557E-62A6-635C51E3EF8E}"/>
              </a:ext>
            </a:extLst>
          </p:cNvPr>
          <p:cNvGrpSpPr/>
          <p:nvPr/>
        </p:nvGrpSpPr>
        <p:grpSpPr>
          <a:xfrm>
            <a:off x="575547" y="1236690"/>
            <a:ext cx="5225646" cy="4919472"/>
            <a:chOff x="575547" y="1236690"/>
            <a:chExt cx="5225646" cy="4919472"/>
          </a:xfrm>
        </p:grpSpPr>
        <p:sp>
          <p:nvSpPr>
            <p:cNvPr id="11" name="Shape 9">
              <a:extLst>
                <a:ext uri="{FF2B5EF4-FFF2-40B4-BE49-F238E27FC236}">
                  <a16:creationId xmlns:a16="http://schemas.microsoft.com/office/drawing/2014/main" id="{B2268CCD-F4F4-B407-7886-F6B99D126269}"/>
                </a:ext>
              </a:extLst>
            </p:cNvPr>
            <p:cNvSpPr/>
            <p:nvPr/>
          </p:nvSpPr>
          <p:spPr>
            <a:xfrm>
              <a:off x="575547" y="1236690"/>
              <a:ext cx="5225646" cy="4919472"/>
            </a:xfrm>
            <a:prstGeom prst="roundRect">
              <a:avLst>
                <a:gd name="adj" fmla="val 3023"/>
              </a:avLst>
            </a:prstGeom>
            <a:solidFill>
              <a:srgbClr val="F4F8FC"/>
            </a:solidFill>
            <a:ln w="12700">
              <a:solidFill>
                <a:srgbClr val="C8D8EC"/>
              </a:solidFill>
              <a:prstDash val="solid"/>
            </a:ln>
          </p:spPr>
          <p:txBody>
            <a:bodyPr/>
            <a:lstStyle/>
            <a:p>
              <a:endParaRPr lang="fr-FR" noProof="0" dirty="0"/>
            </a:p>
          </p:txBody>
        </p:sp>
        <p:sp>
          <p:nvSpPr>
            <p:cNvPr id="12" name="Text 10">
              <a:extLst>
                <a:ext uri="{FF2B5EF4-FFF2-40B4-BE49-F238E27FC236}">
                  <a16:creationId xmlns:a16="http://schemas.microsoft.com/office/drawing/2014/main" id="{F86D5B3D-F124-CF67-88FD-1187F4584AE4}"/>
                </a:ext>
              </a:extLst>
            </p:cNvPr>
            <p:cNvSpPr txBox="1"/>
            <p:nvPr/>
          </p:nvSpPr>
          <p:spPr>
            <a:xfrm>
              <a:off x="740138" y="1328130"/>
              <a:ext cx="4737985" cy="292608"/>
            </a:xfrm>
            <a:prstGeom prst="rect">
              <a:avLst/>
            </a:prstGeom>
            <a:noFill/>
            <a:ln/>
          </p:spPr>
          <p:txBody>
            <a:bodyPr wrap="square" lIns="0" tIns="0" rIns="0" bIns="0" rtlCol="0" anchor="t">
              <a:noAutofit/>
            </a:bodyPr>
            <a:lstStyle/>
            <a:p>
              <a:pPr marL="0" indent="0">
                <a:buNone/>
              </a:pPr>
              <a:r>
                <a:rPr lang="fr-FR" sz="1600" b="1" noProof="0" dirty="0">
                  <a:solidFill>
                    <a:srgbClr val="12315B"/>
                  </a:solidFill>
                  <a:latin typeface="Calibri" panose="020F0502020204030204" pitchFamily="34" charset="0"/>
                  <a:ea typeface="Calibri" pitchFamily="34" charset="-122"/>
                  <a:cs typeface="Calibri" panose="020F0502020204030204" pitchFamily="34" charset="0"/>
                </a:rPr>
                <a:t>Kyste simple</a:t>
              </a:r>
              <a:endParaRPr lang="fr-FR" sz="1600" noProof="0" dirty="0">
                <a:latin typeface="Calibri" panose="020F0502020204030204" pitchFamily="34" charset="0"/>
                <a:cs typeface="Calibri" panose="020F0502020204030204" pitchFamily="34" charset="0"/>
              </a:endParaRPr>
            </a:p>
          </p:txBody>
        </p:sp>
        <p:sp>
          <p:nvSpPr>
            <p:cNvPr id="13" name="Text 11">
              <a:extLst>
                <a:ext uri="{FF2B5EF4-FFF2-40B4-BE49-F238E27FC236}">
                  <a16:creationId xmlns:a16="http://schemas.microsoft.com/office/drawing/2014/main" id="{61CFB67C-20E3-99F6-074C-3254EB031AC3}"/>
                </a:ext>
              </a:extLst>
            </p:cNvPr>
            <p:cNvSpPr txBox="1"/>
            <p:nvPr/>
          </p:nvSpPr>
          <p:spPr>
            <a:xfrm>
              <a:off x="740138" y="1711428"/>
              <a:ext cx="4737985" cy="1330452"/>
            </a:xfrm>
            <a:prstGeom prst="rect">
              <a:avLst/>
            </a:prstGeom>
            <a:noFill/>
            <a:ln/>
          </p:spPr>
          <p:txBody>
            <a:bodyPr wrap="square" lIns="0" tIns="0" rIns="0" bIns="0" rtlCol="0" anchor="t">
              <a:noAutofit/>
            </a:bodyPr>
            <a:lstStyle/>
            <a:p>
              <a:pPr marL="0" indent="0">
                <a:lnSpc>
                  <a:spcPct val="90000"/>
                </a:lnSpc>
                <a:buNone/>
              </a:pPr>
              <a:r>
                <a:rPr lang="fr-FR" sz="1600" noProof="0" dirty="0">
                  <a:solidFill>
                    <a:srgbClr val="1F3A63"/>
                  </a:solidFill>
                  <a:latin typeface="Calibri" panose="020F0502020204030204" pitchFamily="34" charset="0"/>
                  <a:ea typeface="Calibri" pitchFamily="34" charset="-122"/>
                  <a:cs typeface="Calibri" panose="020F0502020204030204" pitchFamily="34" charset="0"/>
                </a:rPr>
                <a:t>Tuméfaction remplie de liquide, pouvant apparaître rapidement, lisse et tendue à la palpation. L’échographie distingue le kystique du solide.</a:t>
              </a:r>
            </a:p>
            <a:p>
              <a:pPr>
                <a:lnSpc>
                  <a:spcPct val="90000"/>
                </a:lnSpc>
              </a:pPr>
              <a:r>
                <a:rPr lang="fr-FR" sz="1600" noProof="0" dirty="0">
                  <a:solidFill>
                    <a:srgbClr val="1F3A63"/>
                  </a:solidFill>
                  <a:latin typeface="Calibri" panose="020F0502020204030204" pitchFamily="34" charset="0"/>
                  <a:ea typeface="Calibri" pitchFamily="34" charset="-122"/>
                  <a:cs typeface="Calibri" panose="020F0502020204030204" pitchFamily="34" charset="0"/>
                </a:rPr>
                <a:t>Aucun traitement s’il ne gêne pas. Un kyste tendu et douloureux peut être ponctionné. Un liquide sanglant, ou une boule persistante après ponction, nécessite une évaluation.</a:t>
              </a:r>
              <a:endParaRPr lang="fr-FR" sz="1600" noProof="0" dirty="0">
                <a:latin typeface="Calibri" panose="020F0502020204030204" pitchFamily="34" charset="0"/>
                <a:cs typeface="Calibri" panose="020F0502020204030204" pitchFamily="34" charset="0"/>
              </a:endParaRPr>
            </a:p>
            <a:p>
              <a:pPr marL="0" indent="0">
                <a:lnSpc>
                  <a:spcPct val="90000"/>
                </a:lnSpc>
                <a:buNone/>
              </a:pPr>
              <a:endParaRPr lang="fr-FR" sz="1600" noProof="0" dirty="0">
                <a:latin typeface="Calibri" panose="020F0502020204030204" pitchFamily="34" charset="0"/>
                <a:cs typeface="Calibri" panose="020F0502020204030204" pitchFamily="34" charset="0"/>
              </a:endParaRPr>
            </a:p>
          </p:txBody>
        </p:sp>
        <p:pic>
          <p:nvPicPr>
            <p:cNvPr id="26" name="Imagen 25">
              <a:extLst>
                <a:ext uri="{FF2B5EF4-FFF2-40B4-BE49-F238E27FC236}">
                  <a16:creationId xmlns:a16="http://schemas.microsoft.com/office/drawing/2014/main" id="{462591C7-BB66-310E-9A9D-2D54A849B174}"/>
                </a:ext>
              </a:extLst>
            </p:cNvPr>
            <p:cNvPicPr>
              <a:picLocks noChangeAspect="1"/>
            </p:cNvPicPr>
            <p:nvPr/>
          </p:nvPicPr>
          <p:blipFill>
            <a:blip r:embed="rId3"/>
            <a:stretch>
              <a:fillRect/>
            </a:stretch>
          </p:blipFill>
          <p:spPr>
            <a:xfrm>
              <a:off x="1015593" y="3315614"/>
              <a:ext cx="4094970" cy="2729980"/>
            </a:xfrm>
            <a:prstGeom prst="rect">
              <a:avLst/>
            </a:prstGeom>
          </p:spPr>
        </p:pic>
      </p:grpSp>
      <p:grpSp>
        <p:nvGrpSpPr>
          <p:cNvPr id="6" name="Grupo 5">
            <a:extLst>
              <a:ext uri="{FF2B5EF4-FFF2-40B4-BE49-F238E27FC236}">
                <a16:creationId xmlns:a16="http://schemas.microsoft.com/office/drawing/2014/main" id="{40C7C6AB-AA8F-436F-2329-945CAE1380BA}"/>
              </a:ext>
            </a:extLst>
          </p:cNvPr>
          <p:cNvGrpSpPr/>
          <p:nvPr/>
        </p:nvGrpSpPr>
        <p:grpSpPr>
          <a:xfrm>
            <a:off x="6160653" y="1236690"/>
            <a:ext cx="5455799" cy="4919472"/>
            <a:chOff x="6160653" y="1236690"/>
            <a:chExt cx="5455799" cy="4919472"/>
          </a:xfrm>
        </p:grpSpPr>
        <p:sp>
          <p:nvSpPr>
            <p:cNvPr id="14" name="Shape 12">
              <a:extLst>
                <a:ext uri="{FF2B5EF4-FFF2-40B4-BE49-F238E27FC236}">
                  <a16:creationId xmlns:a16="http://schemas.microsoft.com/office/drawing/2014/main" id="{8B301545-CE5C-CD49-F52B-1B69844A0467}"/>
                </a:ext>
              </a:extLst>
            </p:cNvPr>
            <p:cNvSpPr/>
            <p:nvPr/>
          </p:nvSpPr>
          <p:spPr>
            <a:xfrm>
              <a:off x="6160653" y="1236690"/>
              <a:ext cx="5455799" cy="4919472"/>
            </a:xfrm>
            <a:prstGeom prst="roundRect">
              <a:avLst>
                <a:gd name="adj" fmla="val 3023"/>
              </a:avLst>
            </a:prstGeom>
            <a:solidFill>
              <a:srgbClr val="F4F8FC"/>
            </a:solidFill>
            <a:ln w="12700">
              <a:solidFill>
                <a:srgbClr val="C8D8EC"/>
              </a:solidFill>
              <a:prstDash val="solid"/>
            </a:ln>
          </p:spPr>
          <p:txBody>
            <a:bodyPr/>
            <a:lstStyle/>
            <a:p>
              <a:endParaRPr lang="fr-FR" noProof="0" dirty="0"/>
            </a:p>
          </p:txBody>
        </p:sp>
        <p:sp>
          <p:nvSpPr>
            <p:cNvPr id="16" name="Text 14">
              <a:extLst>
                <a:ext uri="{FF2B5EF4-FFF2-40B4-BE49-F238E27FC236}">
                  <a16:creationId xmlns:a16="http://schemas.microsoft.com/office/drawing/2014/main" id="{847E9ACD-EC52-5313-8268-74E8CF244CA0}"/>
                </a:ext>
              </a:extLst>
            </p:cNvPr>
            <p:cNvSpPr txBox="1"/>
            <p:nvPr/>
          </p:nvSpPr>
          <p:spPr>
            <a:xfrm>
              <a:off x="6325246" y="1366658"/>
              <a:ext cx="4946660" cy="1330452"/>
            </a:xfrm>
            <a:prstGeom prst="rect">
              <a:avLst/>
            </a:prstGeom>
            <a:noFill/>
            <a:ln/>
          </p:spPr>
          <p:txBody>
            <a:bodyPr wrap="square" lIns="0" tIns="0" rIns="0" bIns="0" rtlCol="0" anchor="t">
              <a:noAutofit/>
            </a:bodyPr>
            <a:lstStyle/>
            <a:p>
              <a:r>
                <a:rPr lang="fr-FR" sz="1600" b="1" noProof="0" dirty="0">
                  <a:solidFill>
                    <a:schemeClr val="accent1">
                      <a:lumMod val="50000"/>
                    </a:schemeClr>
                  </a:solidFill>
                  <a:latin typeface="Calibri" panose="020F0502020204030204" pitchFamily="34" charset="0"/>
                  <a:cs typeface="Calibri" panose="020F0502020204030204" pitchFamily="34" charset="0"/>
                </a:rPr>
                <a:t>Mastite</a:t>
              </a:r>
            </a:p>
            <a:p>
              <a:r>
                <a:rPr lang="fr-FR" sz="1600" noProof="0" dirty="0">
                  <a:solidFill>
                    <a:schemeClr val="accent1">
                      <a:lumMod val="50000"/>
                    </a:schemeClr>
                  </a:solidFill>
                  <a:latin typeface="Calibri" panose="020F0502020204030204" pitchFamily="34" charset="0"/>
                  <a:cs typeface="Calibri" panose="020F0502020204030204" pitchFamily="34" charset="0"/>
                </a:rPr>
                <a:t>Sein douloureux, rouge, chaud et gonflé, souvent avec fièvre, surtout pendant l’allaitement. Poursuivre l’allaitement ou l’expression du lait, assurer un bon drainage, donner des antalgiques et des antibiotiques si indiqué ; orienter en l’absence d’amélioration.</a:t>
              </a:r>
            </a:p>
            <a:p>
              <a:endParaRPr lang="fr-FR" sz="1600" noProof="0" dirty="0">
                <a:solidFill>
                  <a:schemeClr val="accent1">
                    <a:lumMod val="50000"/>
                  </a:schemeClr>
                </a:solidFill>
                <a:latin typeface="Calibri" panose="020F0502020204030204" pitchFamily="34" charset="0"/>
                <a:cs typeface="Calibri" panose="020F0502020204030204" pitchFamily="34" charset="0"/>
              </a:endParaRPr>
            </a:p>
            <a:p>
              <a:r>
                <a:rPr lang="fr-FR" sz="1600" b="1" noProof="0" dirty="0">
                  <a:solidFill>
                    <a:schemeClr val="accent1">
                      <a:lumMod val="50000"/>
                    </a:schemeClr>
                  </a:solidFill>
                  <a:latin typeface="Calibri" panose="020F0502020204030204" pitchFamily="34" charset="0"/>
                  <a:cs typeface="Calibri" panose="020F0502020204030204" pitchFamily="34" charset="0"/>
                </a:rPr>
                <a:t>Abcès mammaire</a:t>
              </a:r>
            </a:p>
            <a:p>
              <a:r>
                <a:rPr lang="fr-FR" sz="1600" noProof="0" dirty="0">
                  <a:solidFill>
                    <a:schemeClr val="accent1">
                      <a:lumMod val="50000"/>
                    </a:schemeClr>
                  </a:solidFill>
                  <a:latin typeface="Calibri" panose="020F0502020204030204" pitchFamily="34" charset="0"/>
                  <a:cs typeface="Calibri" panose="020F0502020204030204" pitchFamily="34" charset="0"/>
                </a:rPr>
                <a:t>Généralement une collection fluctuante. Il nécessite un drainage par ponction ou incision, associé à des antibiotiques, avec orientation selon les capacités locales.</a:t>
              </a:r>
            </a:p>
            <a:p>
              <a:pPr>
                <a:lnSpc>
                  <a:spcPct val="90000"/>
                </a:lnSpc>
              </a:pPr>
              <a:endParaRPr lang="fr-FR" sz="1600" noProof="0" dirty="0">
                <a:latin typeface="Calibri" panose="020F0502020204030204" pitchFamily="34" charset="0"/>
                <a:cs typeface="Calibri" panose="020F0502020204030204" pitchFamily="34" charset="0"/>
              </a:endParaRPr>
            </a:p>
            <a:p>
              <a:pPr marL="0" indent="0">
                <a:lnSpc>
                  <a:spcPct val="90000"/>
                </a:lnSpc>
                <a:buNone/>
              </a:pPr>
              <a:endParaRPr lang="fr-FR" sz="1600" noProof="0" dirty="0">
                <a:latin typeface="Calibri" panose="020F0502020204030204" pitchFamily="34" charset="0"/>
                <a:cs typeface="Calibri" panose="020F0502020204030204" pitchFamily="34" charset="0"/>
              </a:endParaRPr>
            </a:p>
          </p:txBody>
        </p:sp>
        <p:pic>
          <p:nvPicPr>
            <p:cNvPr id="27" name="Imagen 26">
              <a:extLst>
                <a:ext uri="{FF2B5EF4-FFF2-40B4-BE49-F238E27FC236}">
                  <a16:creationId xmlns:a16="http://schemas.microsoft.com/office/drawing/2014/main" id="{E79B1C89-BDA9-6334-1808-A4A9D0EDCC1E}"/>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6390809" y="4509541"/>
              <a:ext cx="5083682" cy="1536053"/>
            </a:xfrm>
            <a:prstGeom prst="rect">
              <a:avLst/>
            </a:prstGeom>
          </p:spPr>
        </p:pic>
      </p:grpSp>
    </p:spTree>
    <p:extLst>
      <p:ext uri="{BB962C8B-B14F-4D97-AF65-F5344CB8AC3E}">
        <p14:creationId xmlns:p14="http://schemas.microsoft.com/office/powerpoint/2010/main" val="42941106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6D14BD4-5C80-4780-4BAC-26D3AE7287F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B0B84F-C255-6658-E541-79A989C778BD}"/>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4" name="Text 2">
            <a:extLst>
              <a:ext uri="{FF2B5EF4-FFF2-40B4-BE49-F238E27FC236}">
                <a16:creationId xmlns:a16="http://schemas.microsoft.com/office/drawing/2014/main" id="{84A3DD56-9942-4040-B31A-FD3059B013CD}"/>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Affections mammaires bénignes que vous rencontrerez</a:t>
            </a:r>
            <a:endParaRPr lang="fr-FR" sz="3000" noProof="0" dirty="0"/>
          </a:p>
        </p:txBody>
      </p:sp>
      <p:sp>
        <p:nvSpPr>
          <p:cNvPr id="25" name="Text 22">
            <a:extLst>
              <a:ext uri="{FF2B5EF4-FFF2-40B4-BE49-F238E27FC236}">
                <a16:creationId xmlns:a16="http://schemas.microsoft.com/office/drawing/2014/main" id="{E55AE822-726C-4AF7-DBD1-36FE3BCB86E7}"/>
              </a:ext>
            </a:extLst>
          </p:cNvPr>
          <p:cNvSpPr txBox="1"/>
          <p:nvPr/>
        </p:nvSpPr>
        <p:spPr>
          <a:xfrm>
            <a:off x="548640" y="5919466"/>
            <a:ext cx="10938551" cy="585216"/>
          </a:xfrm>
          <a:prstGeom prst="rect">
            <a:avLst/>
          </a:prstGeom>
          <a:noFill/>
          <a:ln/>
        </p:spPr>
        <p:txBody>
          <a:bodyPr wrap="square" lIns="0" tIns="0" rIns="0" bIns="0" rtlCol="0" anchor="ctr">
            <a:noAutofit/>
          </a:bodyPr>
          <a:lstStyle/>
          <a:p>
            <a:pPr marL="0" indent="0">
              <a:lnSpc>
                <a:spcPct val="95000"/>
              </a:lnSpc>
              <a:buNone/>
            </a:pPr>
            <a:r>
              <a:rPr lang="fr-FR" sz="1229" b="1" i="1" noProof="0" dirty="0">
                <a:solidFill>
                  <a:srgbClr val="0B1F3F"/>
                </a:solidFill>
                <a:latin typeface="Calibri" pitchFamily="34" charset="0"/>
                <a:ea typeface="Calibri" pitchFamily="34" charset="-122"/>
                <a:cs typeface="Calibri" pitchFamily="34" charset="-120"/>
              </a:rPr>
              <a:t>La gynécomastie</a:t>
            </a:r>
            <a:r>
              <a:rPr lang="fr-FR" sz="1229" i="1" noProof="0" dirty="0">
                <a:solidFill>
                  <a:srgbClr val="0B1F3F"/>
                </a:solidFill>
                <a:latin typeface="Calibri" pitchFamily="34" charset="0"/>
                <a:ea typeface="Calibri" pitchFamily="34" charset="-122"/>
                <a:cs typeface="Calibri" pitchFamily="34" charset="-120"/>
              </a:rPr>
              <a:t> chez l’homme est une augmentation bénigne du tissu mammaire, généralement symétrique, souple et centrée derrière le mamelon. Une masse ferme, dure ou excentrée, un changement de la peau, une rétraction du mamelon ou un écoulement sanglant chez un homme ne correspondent pas à une gynécomastie et doivent être évalués.</a:t>
            </a:r>
            <a:endParaRPr lang="fr-FR" sz="1229" i="1" noProof="0" dirty="0"/>
          </a:p>
        </p:txBody>
      </p:sp>
      <p:grpSp>
        <p:nvGrpSpPr>
          <p:cNvPr id="5" name="Grupo 4">
            <a:extLst>
              <a:ext uri="{FF2B5EF4-FFF2-40B4-BE49-F238E27FC236}">
                <a16:creationId xmlns:a16="http://schemas.microsoft.com/office/drawing/2014/main" id="{C734B064-FC07-CCFD-95E1-83AF8305F7A6}"/>
              </a:ext>
            </a:extLst>
          </p:cNvPr>
          <p:cNvGrpSpPr/>
          <p:nvPr/>
        </p:nvGrpSpPr>
        <p:grpSpPr>
          <a:xfrm>
            <a:off x="6310861" y="1239160"/>
            <a:ext cx="5176330" cy="4621993"/>
            <a:chOff x="6310861" y="1239160"/>
            <a:chExt cx="5176330" cy="4621993"/>
          </a:xfrm>
        </p:grpSpPr>
        <p:sp>
          <p:nvSpPr>
            <p:cNvPr id="20" name="Shape 18">
              <a:extLst>
                <a:ext uri="{FF2B5EF4-FFF2-40B4-BE49-F238E27FC236}">
                  <a16:creationId xmlns:a16="http://schemas.microsoft.com/office/drawing/2014/main" id="{4A77C27B-A518-3894-EE70-A7F2F1F7B1A0}"/>
                </a:ext>
              </a:extLst>
            </p:cNvPr>
            <p:cNvSpPr/>
            <p:nvPr/>
          </p:nvSpPr>
          <p:spPr>
            <a:xfrm>
              <a:off x="6310861" y="1239160"/>
              <a:ext cx="5176330" cy="4621993"/>
            </a:xfrm>
            <a:prstGeom prst="roundRect">
              <a:avLst>
                <a:gd name="adj" fmla="val 3023"/>
              </a:avLst>
            </a:prstGeom>
            <a:solidFill>
              <a:srgbClr val="F4F8FC"/>
            </a:solidFill>
            <a:ln w="12700">
              <a:solidFill>
                <a:srgbClr val="C8D8EC"/>
              </a:solidFill>
              <a:prstDash val="solid"/>
            </a:ln>
          </p:spPr>
          <p:txBody>
            <a:bodyPr/>
            <a:lstStyle/>
            <a:p>
              <a:endParaRPr lang="fr-FR" noProof="0" dirty="0"/>
            </a:p>
          </p:txBody>
        </p:sp>
        <p:sp>
          <p:nvSpPr>
            <p:cNvPr id="21" name="Text 19">
              <a:extLst>
                <a:ext uri="{FF2B5EF4-FFF2-40B4-BE49-F238E27FC236}">
                  <a16:creationId xmlns:a16="http://schemas.microsoft.com/office/drawing/2014/main" id="{A6AD6562-3EF9-5740-ABD2-FA54AEDB16AD}"/>
                </a:ext>
              </a:extLst>
            </p:cNvPr>
            <p:cNvSpPr txBox="1"/>
            <p:nvPr/>
          </p:nvSpPr>
          <p:spPr>
            <a:xfrm>
              <a:off x="6539387" y="1330601"/>
              <a:ext cx="4693271" cy="292608"/>
            </a:xfrm>
            <a:prstGeom prst="rect">
              <a:avLst/>
            </a:prstGeom>
            <a:noFill/>
            <a:ln/>
          </p:spPr>
          <p:txBody>
            <a:bodyPr wrap="square" lIns="0" tIns="0" rIns="0" bIns="0" rtlCol="0" anchor="t">
              <a:noAutofit/>
            </a:bodyPr>
            <a:lstStyle/>
            <a:p>
              <a:r>
                <a:rPr lang="fr-FR" sz="1600" b="1" dirty="0">
                  <a:solidFill>
                    <a:srgbClr val="12315B"/>
                  </a:solidFill>
                  <a:latin typeface="Calibri" pitchFamily="34" charset="0"/>
                  <a:ea typeface="Calibri" pitchFamily="34" charset="-122"/>
                  <a:cs typeface="Calibri" pitchFamily="34" charset="-120"/>
                </a:rPr>
                <a:t>Papillome </a:t>
              </a:r>
              <a:r>
                <a:rPr lang="fr-FR" sz="1600" b="1" dirty="0" err="1">
                  <a:solidFill>
                    <a:srgbClr val="12315B"/>
                  </a:solidFill>
                  <a:latin typeface="Calibri" pitchFamily="34" charset="0"/>
                  <a:ea typeface="Calibri" pitchFamily="34" charset="-122"/>
                  <a:cs typeface="Calibri" pitchFamily="34" charset="-120"/>
                </a:rPr>
                <a:t>intracanalaire</a:t>
              </a:r>
              <a:endParaRPr lang="fr-FR" sz="1600" noProof="0" dirty="0">
                <a:solidFill>
                  <a:srgbClr val="FF0000"/>
                </a:solidFill>
              </a:endParaRPr>
            </a:p>
          </p:txBody>
        </p:sp>
        <p:sp>
          <p:nvSpPr>
            <p:cNvPr id="22" name="Text 20">
              <a:extLst>
                <a:ext uri="{FF2B5EF4-FFF2-40B4-BE49-F238E27FC236}">
                  <a16:creationId xmlns:a16="http://schemas.microsoft.com/office/drawing/2014/main" id="{205CDD01-C676-A712-B1D0-EE21F3546F84}"/>
                </a:ext>
              </a:extLst>
            </p:cNvPr>
            <p:cNvSpPr txBox="1"/>
            <p:nvPr/>
          </p:nvSpPr>
          <p:spPr>
            <a:xfrm>
              <a:off x="6539387" y="1728889"/>
              <a:ext cx="4693271" cy="1330452"/>
            </a:xfrm>
            <a:prstGeom prst="rect">
              <a:avLst/>
            </a:prstGeom>
            <a:noFill/>
            <a:ln/>
          </p:spPr>
          <p:txBody>
            <a:bodyPr wrap="square" lIns="0" tIns="0" rIns="0" bIns="0" rtlCol="0" anchor="t">
              <a:noAutofit/>
            </a:bodyPr>
            <a:lstStyle/>
            <a:p>
              <a:pPr>
                <a:lnSpc>
                  <a:spcPct val="90000"/>
                </a:lnSpc>
              </a:pPr>
              <a:r>
                <a:rPr lang="fr-FR" sz="1600" noProof="0" dirty="0">
                  <a:solidFill>
                    <a:srgbClr val="1F3A63"/>
                  </a:solidFill>
                  <a:latin typeface="Calibri" pitchFamily="34" charset="0"/>
                  <a:ea typeface="Calibri" pitchFamily="34" charset="-122"/>
                  <a:cs typeface="Calibri" pitchFamily="34" charset="-120"/>
                </a:rPr>
                <a:t>Petite excroissance bénigne dans un canal. Cause fréquente d’écoulement mamelonnaire par un seul canal, parfois sanglant. Évalué et généralement retiré, à la fois pour traiter l’écoulement et pour confirmer le diagnostic sur tissu.</a:t>
              </a:r>
              <a:br>
                <a:rPr lang="fr-FR" sz="1600" dirty="0">
                  <a:solidFill>
                    <a:srgbClr val="1F3A63"/>
                  </a:solidFill>
                  <a:latin typeface="Calibri" pitchFamily="34" charset="0"/>
                  <a:ea typeface="Calibri" pitchFamily="34" charset="-122"/>
                  <a:cs typeface="Calibri" pitchFamily="34" charset="-120"/>
                </a:rPr>
              </a:br>
              <a:endParaRPr lang="fr-FR" sz="1600" dirty="0"/>
            </a:p>
            <a:p>
              <a:pPr marL="0" indent="0">
                <a:lnSpc>
                  <a:spcPct val="90000"/>
                </a:lnSpc>
                <a:buNone/>
              </a:pPr>
              <a:endParaRPr lang="fr-FR" sz="1600" noProof="0" dirty="0"/>
            </a:p>
          </p:txBody>
        </p:sp>
        <p:pic>
          <p:nvPicPr>
            <p:cNvPr id="26" name="Imagen 25">
              <a:extLst>
                <a:ext uri="{FF2B5EF4-FFF2-40B4-BE49-F238E27FC236}">
                  <a16:creationId xmlns:a16="http://schemas.microsoft.com/office/drawing/2014/main" id="{60276543-656B-5FA4-9DD9-51C13AE6EDE0}"/>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6539387" y="3429000"/>
              <a:ext cx="4705523" cy="1731444"/>
            </a:xfrm>
            <a:prstGeom prst="rect">
              <a:avLst/>
            </a:prstGeom>
          </p:spPr>
        </p:pic>
      </p:grpSp>
      <p:grpSp>
        <p:nvGrpSpPr>
          <p:cNvPr id="3" name="Grupo 2">
            <a:extLst>
              <a:ext uri="{FF2B5EF4-FFF2-40B4-BE49-F238E27FC236}">
                <a16:creationId xmlns:a16="http://schemas.microsoft.com/office/drawing/2014/main" id="{59B1FEA8-F9C8-76D7-1E98-30BDC9068B2D}"/>
              </a:ext>
            </a:extLst>
          </p:cNvPr>
          <p:cNvGrpSpPr/>
          <p:nvPr/>
        </p:nvGrpSpPr>
        <p:grpSpPr>
          <a:xfrm>
            <a:off x="548640" y="1239160"/>
            <a:ext cx="5332502" cy="4621993"/>
            <a:chOff x="548640" y="1239160"/>
            <a:chExt cx="5332502" cy="4621993"/>
          </a:xfrm>
        </p:grpSpPr>
        <p:sp>
          <p:nvSpPr>
            <p:cNvPr id="17" name="Shape 15">
              <a:extLst>
                <a:ext uri="{FF2B5EF4-FFF2-40B4-BE49-F238E27FC236}">
                  <a16:creationId xmlns:a16="http://schemas.microsoft.com/office/drawing/2014/main" id="{E59CD0CE-F352-F141-0340-72DC40D8E600}"/>
                </a:ext>
              </a:extLst>
            </p:cNvPr>
            <p:cNvSpPr/>
            <p:nvPr/>
          </p:nvSpPr>
          <p:spPr>
            <a:xfrm>
              <a:off x="548640" y="1239160"/>
              <a:ext cx="5332502" cy="4621993"/>
            </a:xfrm>
            <a:prstGeom prst="roundRect">
              <a:avLst>
                <a:gd name="adj" fmla="val 3023"/>
              </a:avLst>
            </a:prstGeom>
            <a:solidFill>
              <a:srgbClr val="F4F8FC"/>
            </a:solidFill>
            <a:ln w="12700">
              <a:solidFill>
                <a:srgbClr val="C8D8EC"/>
              </a:solidFill>
              <a:prstDash val="solid"/>
            </a:ln>
          </p:spPr>
          <p:txBody>
            <a:bodyPr/>
            <a:lstStyle/>
            <a:p>
              <a:endParaRPr lang="fr-FR" noProof="0" dirty="0"/>
            </a:p>
          </p:txBody>
        </p:sp>
        <p:sp>
          <p:nvSpPr>
            <p:cNvPr id="18" name="Text 16">
              <a:extLst>
                <a:ext uri="{FF2B5EF4-FFF2-40B4-BE49-F238E27FC236}">
                  <a16:creationId xmlns:a16="http://schemas.microsoft.com/office/drawing/2014/main" id="{FDB2CD78-9CCA-6B18-4637-80FD46D3113B}"/>
                </a:ext>
              </a:extLst>
            </p:cNvPr>
            <p:cNvSpPr txBox="1"/>
            <p:nvPr/>
          </p:nvSpPr>
          <p:spPr>
            <a:xfrm>
              <a:off x="713231" y="1330601"/>
              <a:ext cx="4834869" cy="292608"/>
            </a:xfrm>
            <a:prstGeom prst="rect">
              <a:avLst/>
            </a:prstGeom>
            <a:noFill/>
            <a:ln/>
          </p:spPr>
          <p:txBody>
            <a:bodyPr wrap="square" lIns="0" tIns="0" rIns="0" bIns="0" rtlCol="0" anchor="t">
              <a:noAutofit/>
            </a:bodyPr>
            <a:lstStyle/>
            <a:p>
              <a:r>
                <a:rPr lang="fr-FR" sz="1600" b="1" noProof="0" dirty="0">
                  <a:solidFill>
                    <a:srgbClr val="12315B"/>
                  </a:solidFill>
                  <a:latin typeface="Calibri" pitchFamily="34" charset="0"/>
                  <a:ea typeface="Calibri" pitchFamily="34" charset="-122"/>
                  <a:cs typeface="Calibri" pitchFamily="34" charset="-120"/>
                </a:rPr>
                <a:t>Ectasie canalaire et modifications </a:t>
              </a:r>
              <a:r>
                <a:rPr lang="fr-FR" sz="1600" b="1" noProof="0" dirty="0" err="1">
                  <a:solidFill>
                    <a:srgbClr val="12315B"/>
                  </a:solidFill>
                  <a:latin typeface="Calibri" pitchFamily="34" charset="0"/>
                  <a:ea typeface="Calibri" pitchFamily="34" charset="-122"/>
                  <a:cs typeface="Calibri" pitchFamily="34" charset="-120"/>
                </a:rPr>
                <a:t>péricanalaires</a:t>
              </a:r>
              <a:endParaRPr lang="fr-FR" sz="1600" noProof="0" dirty="0"/>
            </a:p>
          </p:txBody>
        </p:sp>
        <p:sp>
          <p:nvSpPr>
            <p:cNvPr id="19" name="Text 17">
              <a:extLst>
                <a:ext uri="{FF2B5EF4-FFF2-40B4-BE49-F238E27FC236}">
                  <a16:creationId xmlns:a16="http://schemas.microsoft.com/office/drawing/2014/main" id="{A05AAB74-CC5D-F110-C0A3-1E29D3563153}"/>
                </a:ext>
              </a:extLst>
            </p:cNvPr>
            <p:cNvSpPr txBox="1"/>
            <p:nvPr/>
          </p:nvSpPr>
          <p:spPr>
            <a:xfrm>
              <a:off x="713231" y="1728889"/>
              <a:ext cx="4834869" cy="1330452"/>
            </a:xfrm>
            <a:prstGeom prst="rect">
              <a:avLst/>
            </a:prstGeom>
            <a:noFill/>
            <a:ln/>
          </p:spPr>
          <p:txBody>
            <a:bodyPr wrap="square" lIns="0" tIns="0" rIns="0" bIns="0" rtlCol="0" anchor="t">
              <a:noAutofit/>
            </a:bodyPr>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Canaux dilatés sous l’aréole, parfois avec écoulement épais, sensibilité ou rétraction du mamelon, généralement autour de la ménopause.</a:t>
              </a:r>
            </a:p>
            <a:p>
              <a:pPr marL="0" indent="0">
                <a:lnSpc>
                  <a:spcPct val="90000"/>
                </a:lnSpc>
                <a:buNone/>
              </a:pPr>
              <a:r>
                <a:rPr lang="fr-FR" sz="1600" dirty="0">
                  <a:solidFill>
                    <a:schemeClr val="accent1">
                      <a:lumMod val="50000"/>
                    </a:schemeClr>
                  </a:solidFill>
                </a:rPr>
                <a:t>Prise en charge conservatrice : réassurance, antalgiques, compresses chaudes et arrêt du tabac si pertinent.</a:t>
              </a:r>
            </a:p>
            <a:p>
              <a:pPr marL="0" indent="0">
                <a:lnSpc>
                  <a:spcPct val="90000"/>
                </a:lnSpc>
                <a:buNone/>
              </a:pPr>
              <a:endParaRPr lang="fr-FR" sz="1600" noProof="0" dirty="0"/>
            </a:p>
          </p:txBody>
        </p:sp>
        <p:pic>
          <p:nvPicPr>
            <p:cNvPr id="28" name="Imagen 27">
              <a:extLst>
                <a:ext uri="{FF2B5EF4-FFF2-40B4-BE49-F238E27FC236}">
                  <a16:creationId xmlns:a16="http://schemas.microsoft.com/office/drawing/2014/main" id="{95BF432C-067C-7D31-AE3B-1A096AD332A0}"/>
                </a:ext>
              </a:extLst>
            </p:cNvPr>
            <p:cNvPicPr>
              <a:picLocks noChangeAspect="1"/>
            </p:cNvPicPr>
            <p:nvPr/>
          </p:nvPicPr>
          <p:blipFill>
            <a:blip r:embed="rId4"/>
            <a:stretch>
              <a:fillRect/>
            </a:stretch>
          </p:blipFill>
          <p:spPr>
            <a:xfrm>
              <a:off x="752987" y="3278453"/>
              <a:ext cx="4834869" cy="2390869"/>
            </a:xfrm>
            <a:prstGeom prst="rect">
              <a:avLst/>
            </a:prstGeom>
          </p:spPr>
        </p:pic>
      </p:grpSp>
    </p:spTree>
    <p:extLst>
      <p:ext uri="{BB962C8B-B14F-4D97-AF65-F5344CB8AC3E}">
        <p14:creationId xmlns:p14="http://schemas.microsoft.com/office/powerpoint/2010/main" val="17085439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Lésions présentant un risque accru</a:t>
            </a:r>
            <a:endParaRPr lang="fr-FR" sz="3000" noProof="0" dirty="0"/>
          </a:p>
        </p:txBody>
      </p:sp>
      <p:grpSp>
        <p:nvGrpSpPr>
          <p:cNvPr id="27" name="Grupo 26">
            <a:extLst>
              <a:ext uri="{FF2B5EF4-FFF2-40B4-BE49-F238E27FC236}">
                <a16:creationId xmlns:a16="http://schemas.microsoft.com/office/drawing/2014/main" id="{4325B258-59E5-A22F-DA02-3545B569EEF2}"/>
              </a:ext>
            </a:extLst>
          </p:cNvPr>
          <p:cNvGrpSpPr/>
          <p:nvPr/>
        </p:nvGrpSpPr>
        <p:grpSpPr>
          <a:xfrm>
            <a:off x="8115605" y="1371599"/>
            <a:ext cx="3527450" cy="4389121"/>
            <a:chOff x="8115605" y="1371599"/>
            <a:chExt cx="3527450" cy="4389121"/>
          </a:xfrm>
        </p:grpSpPr>
        <p:sp>
          <p:nvSpPr>
            <p:cNvPr id="11" name="Shape 9"/>
            <p:cNvSpPr/>
            <p:nvPr/>
          </p:nvSpPr>
          <p:spPr>
            <a:xfrm>
              <a:off x="8115605" y="1371599"/>
              <a:ext cx="3527450" cy="4389121"/>
            </a:xfrm>
            <a:prstGeom prst="roundRect">
              <a:avLst>
                <a:gd name="adj" fmla="val 2553"/>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Carcinome canalaire in situ</a:t>
              </a:r>
              <a:endParaRPr lang="fr-FR" sz="1700" noProof="0" dirty="0"/>
            </a:p>
          </p:txBody>
        </p:sp>
        <p:sp>
          <p:nvSpPr>
            <p:cNvPr id="13" name="Text 11"/>
            <p:cNvSpPr txBox="1"/>
            <p:nvPr/>
          </p:nvSpPr>
          <p:spPr>
            <a:xfrm>
              <a:off x="8280197" y="1801368"/>
              <a:ext cx="3198266" cy="1664208"/>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Véritable lésion maligne non invasive, confinée au canal. Elle est traitée, généralement par chirurgie et parfois par radiothérapie ou hormonothérapie.</a:t>
              </a:r>
              <a:endParaRPr lang="fr-FR" sz="1800" noProof="0" dirty="0"/>
            </a:p>
          </p:txBody>
        </p:sp>
        <p:pic>
          <p:nvPicPr>
            <p:cNvPr id="25" name="Imagen 24">
              <a:extLst>
                <a:ext uri="{FF2B5EF4-FFF2-40B4-BE49-F238E27FC236}">
                  <a16:creationId xmlns:a16="http://schemas.microsoft.com/office/drawing/2014/main" id="{242D3A17-0085-A241-DABF-C2C8ACA243D5}"/>
                </a:ext>
              </a:extLst>
            </p:cNvPr>
            <p:cNvPicPr>
              <a:picLocks noChangeAspect="1"/>
            </p:cNvPicPr>
            <p:nvPr/>
          </p:nvPicPr>
          <p:blipFill>
            <a:blip r:embed="rId3"/>
            <a:srcRect/>
            <a:stretch>
              <a:fillRect/>
            </a:stretch>
          </p:blipFill>
          <p:spPr>
            <a:xfrm>
              <a:off x="8280197" y="3428999"/>
              <a:ext cx="3198266" cy="2132177"/>
            </a:xfrm>
            <a:prstGeom prst="rect">
              <a:avLst/>
            </a:prstGeom>
          </p:spPr>
        </p:pic>
      </p:grpSp>
      <p:grpSp>
        <p:nvGrpSpPr>
          <p:cNvPr id="21" name="Grupo 20">
            <a:extLst>
              <a:ext uri="{FF2B5EF4-FFF2-40B4-BE49-F238E27FC236}">
                <a16:creationId xmlns:a16="http://schemas.microsoft.com/office/drawing/2014/main" id="{7C18B1D2-0506-AF15-8232-068947889B37}"/>
              </a:ext>
            </a:extLst>
          </p:cNvPr>
          <p:cNvGrpSpPr/>
          <p:nvPr/>
        </p:nvGrpSpPr>
        <p:grpSpPr>
          <a:xfrm>
            <a:off x="548640" y="1371600"/>
            <a:ext cx="3527450" cy="4389122"/>
            <a:chOff x="548640" y="1371600"/>
            <a:chExt cx="3527450" cy="4389122"/>
          </a:xfrm>
        </p:grpSpPr>
        <p:sp>
          <p:nvSpPr>
            <p:cNvPr id="5" name="Shape 3"/>
            <p:cNvSpPr/>
            <p:nvPr/>
          </p:nvSpPr>
          <p:spPr>
            <a:xfrm>
              <a:off x="548640" y="1371600"/>
              <a:ext cx="3527450" cy="4389122"/>
            </a:xfrm>
            <a:prstGeom prst="roundRect">
              <a:avLst>
                <a:gd name="adj" fmla="val 2553"/>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normAutofit fontScale="98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Hyperplasie canalaire atypique</a:t>
              </a:r>
              <a:endParaRPr lang="fr-FR" sz="1700" noProof="0" dirty="0"/>
            </a:p>
          </p:txBody>
        </p:sp>
        <p:sp>
          <p:nvSpPr>
            <p:cNvPr id="7" name="Text 5"/>
            <p:cNvSpPr txBox="1"/>
            <p:nvPr/>
          </p:nvSpPr>
          <p:spPr>
            <a:xfrm>
              <a:off x="713232" y="1801368"/>
              <a:ext cx="3198266" cy="1664208"/>
            </a:xfrm>
            <a:prstGeom prst="rect">
              <a:avLst/>
            </a:prstGeom>
            <a:noFill/>
            <a:ln/>
          </p:spPr>
          <p:txBody>
            <a:bodyPr wrap="square" lIns="0" tIns="0" rIns="0" bIns="0" rtlCol="0" anchor="t">
              <a:normAutofit fontScale="93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Cellules anormales dans un canal, sans atteindre les critères du carcinome in situ. Ce n’est pas un cancer, mais cela signale un risque futur accru dans les deux seins.</a:t>
              </a:r>
              <a:endParaRPr lang="fr-FR" sz="1800" noProof="0" dirty="0"/>
            </a:p>
          </p:txBody>
        </p:sp>
      </p:grpSp>
      <p:grpSp>
        <p:nvGrpSpPr>
          <p:cNvPr id="26" name="Grupo 25">
            <a:extLst>
              <a:ext uri="{FF2B5EF4-FFF2-40B4-BE49-F238E27FC236}">
                <a16:creationId xmlns:a16="http://schemas.microsoft.com/office/drawing/2014/main" id="{A4C1C5D5-8D15-9ADC-562C-E70B99C5CA57}"/>
              </a:ext>
            </a:extLst>
          </p:cNvPr>
          <p:cNvGrpSpPr/>
          <p:nvPr/>
        </p:nvGrpSpPr>
        <p:grpSpPr>
          <a:xfrm>
            <a:off x="4332122" y="1371599"/>
            <a:ext cx="3527450" cy="4389121"/>
            <a:chOff x="4332122" y="1371599"/>
            <a:chExt cx="3527450" cy="4389121"/>
          </a:xfrm>
        </p:grpSpPr>
        <p:sp>
          <p:nvSpPr>
            <p:cNvPr id="8" name="Shape 6"/>
            <p:cNvSpPr/>
            <p:nvPr/>
          </p:nvSpPr>
          <p:spPr>
            <a:xfrm>
              <a:off x="4332122" y="1371599"/>
              <a:ext cx="3527450" cy="4389121"/>
            </a:xfrm>
            <a:prstGeom prst="roundRect">
              <a:avLst>
                <a:gd name="adj" fmla="val 2553"/>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Carcinome lobulaire in situ</a:t>
              </a:r>
              <a:endParaRPr lang="fr-FR" sz="1700" noProof="0" dirty="0"/>
            </a:p>
          </p:txBody>
        </p:sp>
        <p:sp>
          <p:nvSpPr>
            <p:cNvPr id="10" name="Text 8"/>
            <p:cNvSpPr txBox="1"/>
            <p:nvPr/>
          </p:nvSpPr>
          <p:spPr>
            <a:xfrm>
              <a:off x="4496714" y="1801368"/>
              <a:ext cx="3198266" cy="1664208"/>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Malgré son nom, il est traité comme un marqueur de risque plutôt que comme un cancer à retirer. Il signale un risque futur accru dans les deux seins.</a:t>
              </a:r>
              <a:endParaRPr lang="fr-FR" sz="1800" noProof="0" dirty="0"/>
            </a:p>
          </p:txBody>
        </p:sp>
      </p:grpSp>
      <p:pic>
        <p:nvPicPr>
          <p:cNvPr id="32" name="Imagen 31">
            <a:extLst>
              <a:ext uri="{FF2B5EF4-FFF2-40B4-BE49-F238E27FC236}">
                <a16:creationId xmlns:a16="http://schemas.microsoft.com/office/drawing/2014/main" id="{C49F070A-6278-5708-106C-8A3EE6ABFAE2}"/>
              </a:ext>
            </a:extLst>
          </p:cNvPr>
          <p:cNvPicPr>
            <a:picLocks noChangeAspect="1"/>
          </p:cNvPicPr>
          <p:nvPr/>
        </p:nvPicPr>
        <p:blipFill>
          <a:blip r:embed="rId4"/>
          <a:stretch>
            <a:fillRect/>
          </a:stretch>
        </p:blipFill>
        <p:spPr>
          <a:xfrm>
            <a:off x="741740" y="3333037"/>
            <a:ext cx="3200400" cy="2324100"/>
          </a:xfrm>
          <a:prstGeom prst="rect">
            <a:avLst/>
          </a:prstGeom>
        </p:spPr>
      </p:pic>
      <p:pic>
        <p:nvPicPr>
          <p:cNvPr id="37" name="Imagen 36">
            <a:extLst>
              <a:ext uri="{FF2B5EF4-FFF2-40B4-BE49-F238E27FC236}">
                <a16:creationId xmlns:a16="http://schemas.microsoft.com/office/drawing/2014/main" id="{26DCEDF1-C4E5-828F-B2B7-70BA931B27C8}"/>
              </a:ext>
            </a:extLst>
          </p:cNvPr>
          <p:cNvPicPr>
            <a:picLocks noChangeAspect="1"/>
          </p:cNvPicPr>
          <p:nvPr/>
        </p:nvPicPr>
        <p:blipFill>
          <a:blip r:embed="rId5"/>
          <a:stretch>
            <a:fillRect/>
          </a:stretch>
        </p:blipFill>
        <p:spPr>
          <a:xfrm>
            <a:off x="4495647" y="3333037"/>
            <a:ext cx="3200400" cy="23368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3951E0-703D-5BD7-F8D0-EB686B844B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076ED4A-8B78-8028-4933-AC40AEE8A49C}"/>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4" name="Text 2">
            <a:extLst>
              <a:ext uri="{FF2B5EF4-FFF2-40B4-BE49-F238E27FC236}">
                <a16:creationId xmlns:a16="http://schemas.microsoft.com/office/drawing/2014/main" id="{71966C85-F862-EDFC-BD07-9F7A3D751BDF}"/>
              </a:ext>
            </a:extLst>
          </p:cNvPr>
          <p:cNvSpPr txBox="1"/>
          <p:nvPr/>
        </p:nvSpPr>
        <p:spPr>
          <a:xfrm>
            <a:off x="548640" y="566928"/>
            <a:ext cx="11094415" cy="566928"/>
          </a:xfrm>
          <a:prstGeom prst="rect">
            <a:avLst/>
          </a:prstGeom>
          <a:noFill/>
          <a:ln/>
        </p:spPr>
        <p:txBody>
          <a:bodyPr wrap="square" lIns="0" tIns="0" rIns="0" bIns="0" rtlCol="0" anchor="t">
            <a:normAutofit/>
          </a:bodyPr>
          <a:lstStyle/>
          <a:p>
            <a:pPr marL="0" indent="0">
              <a:buNone/>
            </a:pPr>
            <a:r>
              <a:rPr lang="fr-FR" sz="3000" b="1" dirty="0">
                <a:solidFill>
                  <a:srgbClr val="12315B"/>
                </a:solidFill>
                <a:latin typeface="Calibri" pitchFamily="34" charset="0"/>
                <a:ea typeface="Calibri" pitchFamily="34" charset="-122"/>
                <a:cs typeface="Calibri" pitchFamily="34" charset="-120"/>
              </a:rPr>
              <a:t>Comment informer sur les lésions associées à un risque accru</a:t>
            </a:r>
            <a:endParaRPr lang="fr-FR" sz="3000" noProof="0" dirty="0"/>
          </a:p>
        </p:txBody>
      </p:sp>
      <p:pic>
        <p:nvPicPr>
          <p:cNvPr id="3" name="Imagen 2">
            <a:extLst>
              <a:ext uri="{FF2B5EF4-FFF2-40B4-BE49-F238E27FC236}">
                <a16:creationId xmlns:a16="http://schemas.microsoft.com/office/drawing/2014/main" id="{8034F700-4D35-E7D0-65B5-94AD9EDD8067}"/>
              </a:ext>
            </a:extLst>
          </p:cNvPr>
          <p:cNvPicPr>
            <a:picLocks noChangeAspect="1"/>
          </p:cNvPicPr>
          <p:nvPr/>
        </p:nvPicPr>
        <p:blipFill>
          <a:blip r:embed="rId3"/>
          <a:stretch>
            <a:fillRect/>
          </a:stretch>
        </p:blipFill>
        <p:spPr>
          <a:xfrm>
            <a:off x="1147118" y="1046822"/>
            <a:ext cx="9183131" cy="5629110"/>
          </a:xfrm>
          <a:prstGeom prst="rect">
            <a:avLst/>
          </a:prstGeom>
        </p:spPr>
      </p:pic>
    </p:spTree>
    <p:extLst>
      <p:ext uri="{BB962C8B-B14F-4D97-AF65-F5344CB8AC3E}">
        <p14:creationId xmlns:p14="http://schemas.microsoft.com/office/powerpoint/2010/main" val="15971772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Autofit/>
          </a:bodyPr>
          <a:lstStyle/>
          <a:p>
            <a:pPr marL="0" indent="0">
              <a:buNone/>
            </a:pPr>
            <a:r>
              <a:rPr lang="fr-FR" sz="2760" b="1" noProof="0" dirty="0">
                <a:solidFill>
                  <a:srgbClr val="12315B"/>
                </a:solidFill>
                <a:latin typeface="Calibri" pitchFamily="34" charset="0"/>
                <a:ea typeface="Calibri" pitchFamily="34" charset="-122"/>
                <a:cs typeface="Calibri" pitchFamily="34" charset="-120"/>
              </a:rPr>
              <a:t>Facteurs de risque</a:t>
            </a:r>
            <a:endParaRPr lang="fr-FR" sz="2760" noProof="0" dirty="0"/>
          </a:p>
        </p:txBody>
      </p:sp>
      <p:sp>
        <p:nvSpPr>
          <p:cNvPr id="15" name="Text 13"/>
          <p:cNvSpPr txBox="1"/>
          <p:nvPr/>
        </p:nvSpPr>
        <p:spPr>
          <a:xfrm>
            <a:off x="548640" y="5912251"/>
            <a:ext cx="11094415" cy="493776"/>
          </a:xfrm>
          <a:prstGeom prst="rect">
            <a:avLst/>
          </a:prstGeom>
          <a:noFill/>
          <a:ln/>
        </p:spPr>
        <p:txBody>
          <a:bodyPr wrap="square" lIns="0" tIns="0" rIns="0" bIns="0" rtlCol="0" anchor="ctr">
            <a:normAutofit fontScale="96000"/>
          </a:bodyPr>
          <a:lstStyle/>
          <a:p>
            <a:pPr marL="0" indent="0">
              <a:lnSpc>
                <a:spcPct val="95000"/>
              </a:lnSpc>
              <a:buNone/>
            </a:pPr>
            <a:r>
              <a:rPr lang="fr-FR" sz="1400" i="1" noProof="0" dirty="0">
                <a:solidFill>
                  <a:srgbClr val="0B1F3F"/>
                </a:solidFill>
                <a:latin typeface="Calibri" pitchFamily="34" charset="0"/>
                <a:ea typeface="Calibri" pitchFamily="34" charset="-122"/>
                <a:cs typeface="Calibri" pitchFamily="34" charset="-120"/>
              </a:rPr>
              <a:t>Les facteurs de risque aident à décider chez qui abaisser le seuil d’évaluation et approfondir l’anamnèse. Ils ne posent aucun diagnostic. Beaucoup de personnes atteintes d’un cancer du sein n’ont aucun facteur de risque identifiable en dehors de l’âge et du sexe, et personne ne doit être tenu responsable de son diagnostic.</a:t>
            </a:r>
            <a:endParaRPr lang="fr-FR" sz="1400" i="1" noProof="0" dirty="0"/>
          </a:p>
        </p:txBody>
      </p:sp>
      <p:pic>
        <p:nvPicPr>
          <p:cNvPr id="5" name="Imagen 4">
            <a:extLst>
              <a:ext uri="{FF2B5EF4-FFF2-40B4-BE49-F238E27FC236}">
                <a16:creationId xmlns:a16="http://schemas.microsoft.com/office/drawing/2014/main" id="{E6FB4FED-798A-7409-B301-45A74FBCCA1C}"/>
              </a:ext>
            </a:extLst>
          </p:cNvPr>
          <p:cNvPicPr>
            <a:picLocks noChangeAspect="1"/>
          </p:cNvPicPr>
          <p:nvPr/>
        </p:nvPicPr>
        <p:blipFill>
          <a:blip r:embed="rId3"/>
          <a:stretch>
            <a:fillRect/>
          </a:stretch>
        </p:blipFill>
        <p:spPr>
          <a:xfrm>
            <a:off x="1621972" y="1000613"/>
            <a:ext cx="8580120" cy="491008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17197"/>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Antécédents familiaux et risque héréditaire</a:t>
            </a:r>
            <a:endParaRPr lang="fr-FR" sz="3000" noProof="0" dirty="0"/>
          </a:p>
        </p:txBody>
      </p:sp>
      <p:sp>
        <p:nvSpPr>
          <p:cNvPr id="5" name="Shape 3"/>
          <p:cNvSpPr/>
          <p:nvPr/>
        </p:nvSpPr>
        <p:spPr>
          <a:xfrm>
            <a:off x="548640" y="1110340"/>
            <a:ext cx="11094414" cy="745893"/>
          </a:xfrm>
          <a:prstGeom prst="roundRect">
            <a:avLst>
              <a:gd name="adj" fmla="val 2844"/>
            </a:avLst>
          </a:prstGeom>
          <a:solidFill>
            <a:srgbClr val="F4F8FC"/>
          </a:solidFill>
          <a:ln w="12700">
            <a:solidFill>
              <a:srgbClr val="C8D8EC"/>
            </a:solidFill>
            <a:prstDash val="solid"/>
          </a:ln>
        </p:spPr>
        <p:txBody>
          <a:bodyPr/>
          <a:lstStyle/>
          <a:p>
            <a:endParaRPr lang="fr-FR" sz="1400" noProof="0" dirty="0"/>
          </a:p>
        </p:txBody>
      </p:sp>
      <p:sp>
        <p:nvSpPr>
          <p:cNvPr id="6" name="Text 4"/>
          <p:cNvSpPr txBox="1"/>
          <p:nvPr/>
        </p:nvSpPr>
        <p:spPr>
          <a:xfrm>
            <a:off x="713232" y="1136465"/>
            <a:ext cx="10059076" cy="292608"/>
          </a:xfrm>
          <a:prstGeom prst="rect">
            <a:avLst/>
          </a:prstGeom>
          <a:noFill/>
          <a:ln/>
        </p:spPr>
        <p:txBody>
          <a:bodyPr wrap="square" lIns="0" tIns="0" rIns="0" bIns="0" rtlCol="0" anchor="t">
            <a:noAutofit/>
          </a:bodyPr>
          <a:lstStyle/>
          <a:p>
            <a:pPr marL="0" indent="0">
              <a:buNone/>
            </a:pPr>
            <a:r>
              <a:rPr lang="fr-FR" sz="1400" b="1" noProof="0" dirty="0">
                <a:solidFill>
                  <a:srgbClr val="12315B"/>
                </a:solidFill>
                <a:latin typeface="Calibri" pitchFamily="34" charset="0"/>
                <a:ea typeface="Calibri" pitchFamily="34" charset="-122"/>
                <a:cs typeface="Calibri" pitchFamily="34" charset="-120"/>
              </a:rPr>
              <a:t>Que demander</a:t>
            </a:r>
            <a:endParaRPr lang="fr-FR" sz="1400" noProof="0" dirty="0"/>
          </a:p>
        </p:txBody>
      </p:sp>
      <p:sp>
        <p:nvSpPr>
          <p:cNvPr id="7" name="Text 5"/>
          <p:cNvSpPr txBox="1"/>
          <p:nvPr/>
        </p:nvSpPr>
        <p:spPr>
          <a:xfrm>
            <a:off x="713231" y="1409478"/>
            <a:ext cx="10765232" cy="602202"/>
          </a:xfrm>
          <a:prstGeom prst="rect">
            <a:avLst/>
          </a:prstGeom>
          <a:noFill/>
          <a:ln/>
        </p:spPr>
        <p:txBody>
          <a:bodyPr wrap="square" lIns="0" tIns="0" rIns="0" bIns="0" rtlCol="0" anchor="t">
            <a:noAutofit/>
          </a:bodyPr>
          <a:lstStyle/>
          <a:p>
            <a:pPr marL="0" indent="0">
              <a:lnSpc>
                <a:spcPct val="90000"/>
              </a:lnSpc>
              <a:buNone/>
            </a:pPr>
            <a:r>
              <a:rPr lang="fr-FR" sz="1400" noProof="0" dirty="0">
                <a:solidFill>
                  <a:srgbClr val="1F3A63"/>
                </a:solidFill>
                <a:latin typeface="Calibri" pitchFamily="34" charset="0"/>
                <a:ea typeface="Calibri" pitchFamily="34" charset="-122"/>
                <a:cs typeface="Calibri" pitchFamily="34" charset="-120"/>
              </a:rPr>
              <a:t>Renseignez-vous sur les cancers du sein, de l'ovaire, de la prostate et du pancréas chez les parents, frères et sœurs, enfants et grands-parents, ainsi que sur l'âge auquel chacun est survenu.</a:t>
            </a:r>
            <a:endParaRPr lang="fr-FR" sz="1400" noProof="0" dirty="0"/>
          </a:p>
        </p:txBody>
      </p:sp>
      <p:sp>
        <p:nvSpPr>
          <p:cNvPr id="8" name="Shape 6"/>
          <p:cNvSpPr/>
          <p:nvPr/>
        </p:nvSpPr>
        <p:spPr>
          <a:xfrm>
            <a:off x="562660" y="1928077"/>
            <a:ext cx="11080394" cy="741966"/>
          </a:xfrm>
          <a:prstGeom prst="roundRect">
            <a:avLst>
              <a:gd name="adj" fmla="val 2844"/>
            </a:avLst>
          </a:prstGeom>
          <a:solidFill>
            <a:srgbClr val="F4F8FC"/>
          </a:solidFill>
          <a:ln w="12700">
            <a:solidFill>
              <a:srgbClr val="C8D8EC"/>
            </a:solidFill>
            <a:prstDash val="solid"/>
          </a:ln>
        </p:spPr>
        <p:txBody>
          <a:bodyPr/>
          <a:lstStyle/>
          <a:p>
            <a:endParaRPr lang="fr-FR" sz="1400" noProof="0" dirty="0"/>
          </a:p>
        </p:txBody>
      </p:sp>
      <p:sp>
        <p:nvSpPr>
          <p:cNvPr id="9" name="Text 7"/>
          <p:cNvSpPr txBox="1"/>
          <p:nvPr/>
        </p:nvSpPr>
        <p:spPr>
          <a:xfrm>
            <a:off x="727252" y="1954201"/>
            <a:ext cx="10046364" cy="292608"/>
          </a:xfrm>
          <a:prstGeom prst="rect">
            <a:avLst/>
          </a:prstGeom>
          <a:noFill/>
          <a:ln/>
        </p:spPr>
        <p:txBody>
          <a:bodyPr wrap="square" lIns="0" tIns="0" rIns="0" bIns="0" rtlCol="0" anchor="t">
            <a:noAutofit/>
          </a:bodyPr>
          <a:lstStyle/>
          <a:p>
            <a:pPr marL="0" indent="0">
              <a:buNone/>
            </a:pPr>
            <a:r>
              <a:rPr lang="fr-FR" sz="1400" b="1" noProof="0" dirty="0">
                <a:solidFill>
                  <a:srgbClr val="12315B"/>
                </a:solidFill>
                <a:latin typeface="Calibri" pitchFamily="34" charset="0"/>
                <a:ea typeface="Calibri" pitchFamily="34" charset="-122"/>
                <a:cs typeface="Calibri" pitchFamily="34" charset="-120"/>
              </a:rPr>
              <a:t>Situations évocatrices</a:t>
            </a:r>
            <a:endParaRPr lang="fr-FR" sz="1400" noProof="0" dirty="0"/>
          </a:p>
        </p:txBody>
      </p:sp>
      <p:sp>
        <p:nvSpPr>
          <p:cNvPr id="10" name="Text 8"/>
          <p:cNvSpPr txBox="1"/>
          <p:nvPr/>
        </p:nvSpPr>
        <p:spPr>
          <a:xfrm>
            <a:off x="727252" y="2227214"/>
            <a:ext cx="10765232" cy="535575"/>
          </a:xfrm>
          <a:prstGeom prst="rect">
            <a:avLst/>
          </a:prstGeom>
          <a:noFill/>
          <a:ln/>
        </p:spPr>
        <p:txBody>
          <a:bodyPr wrap="square" lIns="0" tIns="0" rIns="0" bIns="0" rtlCol="0" anchor="t">
            <a:noAutofit/>
          </a:bodyPr>
          <a:lstStyle/>
          <a:p>
            <a:pPr marL="0" indent="0">
              <a:lnSpc>
                <a:spcPct val="90000"/>
              </a:lnSpc>
              <a:buNone/>
            </a:pPr>
            <a:r>
              <a:rPr lang="fr-FR" sz="1400" noProof="0" dirty="0">
                <a:solidFill>
                  <a:srgbClr val="1F3A63"/>
                </a:solidFill>
                <a:latin typeface="Calibri" pitchFamily="34" charset="0"/>
                <a:ea typeface="Calibri" pitchFamily="34" charset="-122"/>
                <a:cs typeface="Calibri" pitchFamily="34" charset="-120"/>
              </a:rPr>
              <a:t>Cancer du sein à un jeune âge, cancers du sein et de l’ovaire dans une même famille, cancer du sein chez un homme, cancer des deux seins, ou plusieurs proches atteints.</a:t>
            </a:r>
            <a:endParaRPr lang="fr-FR" sz="1400" noProof="0" dirty="0"/>
          </a:p>
        </p:txBody>
      </p:sp>
      <p:sp>
        <p:nvSpPr>
          <p:cNvPr id="11" name="Shape 9"/>
          <p:cNvSpPr/>
          <p:nvPr/>
        </p:nvSpPr>
        <p:spPr>
          <a:xfrm>
            <a:off x="548639" y="2749725"/>
            <a:ext cx="11094414" cy="735441"/>
          </a:xfrm>
          <a:prstGeom prst="roundRect">
            <a:avLst>
              <a:gd name="adj" fmla="val 2844"/>
            </a:avLst>
          </a:prstGeom>
          <a:solidFill>
            <a:srgbClr val="F4F8FC"/>
          </a:solidFill>
          <a:ln w="12700">
            <a:solidFill>
              <a:srgbClr val="C8D8EC"/>
            </a:solidFill>
            <a:prstDash val="solid"/>
          </a:ln>
        </p:spPr>
        <p:txBody>
          <a:bodyPr/>
          <a:lstStyle/>
          <a:p>
            <a:endParaRPr lang="fr-FR" sz="1400" noProof="0" dirty="0"/>
          </a:p>
        </p:txBody>
      </p:sp>
      <p:sp>
        <p:nvSpPr>
          <p:cNvPr id="12" name="Text 10"/>
          <p:cNvSpPr txBox="1"/>
          <p:nvPr/>
        </p:nvSpPr>
        <p:spPr>
          <a:xfrm>
            <a:off x="713231" y="2775850"/>
            <a:ext cx="10059076" cy="292608"/>
          </a:xfrm>
          <a:prstGeom prst="rect">
            <a:avLst/>
          </a:prstGeom>
          <a:noFill/>
          <a:ln/>
        </p:spPr>
        <p:txBody>
          <a:bodyPr wrap="square" lIns="0" tIns="0" rIns="0" bIns="0" rtlCol="0" anchor="t">
            <a:noAutofit/>
          </a:bodyPr>
          <a:lstStyle/>
          <a:p>
            <a:pPr marL="0" indent="0">
              <a:buNone/>
            </a:pPr>
            <a:r>
              <a:rPr lang="fr-FR" sz="1400" b="1" noProof="0" dirty="0">
                <a:solidFill>
                  <a:srgbClr val="12315B"/>
                </a:solidFill>
                <a:latin typeface="Calibri" pitchFamily="34" charset="0"/>
                <a:ea typeface="Calibri" pitchFamily="34" charset="-122"/>
                <a:cs typeface="Calibri" pitchFamily="34" charset="-120"/>
              </a:rPr>
              <a:t>BRCA1 et BRCA2</a:t>
            </a:r>
            <a:endParaRPr lang="fr-FR" sz="1400" noProof="0" dirty="0"/>
          </a:p>
        </p:txBody>
      </p:sp>
      <p:sp>
        <p:nvSpPr>
          <p:cNvPr id="13" name="Text 11"/>
          <p:cNvSpPr txBox="1"/>
          <p:nvPr/>
        </p:nvSpPr>
        <p:spPr>
          <a:xfrm>
            <a:off x="713231" y="3048863"/>
            <a:ext cx="10765232" cy="534272"/>
          </a:xfrm>
          <a:prstGeom prst="rect">
            <a:avLst/>
          </a:prstGeom>
          <a:noFill/>
          <a:ln/>
        </p:spPr>
        <p:txBody>
          <a:bodyPr wrap="square" lIns="0" tIns="0" rIns="0" bIns="0" rtlCol="0" anchor="t">
            <a:noAutofit/>
          </a:bodyPr>
          <a:lstStyle/>
          <a:p>
            <a:pPr marL="0" indent="0">
              <a:lnSpc>
                <a:spcPct val="90000"/>
              </a:lnSpc>
              <a:buNone/>
            </a:pPr>
            <a:r>
              <a:rPr lang="fr-FR" sz="1400" noProof="0" dirty="0">
                <a:solidFill>
                  <a:srgbClr val="1F3A63"/>
                </a:solidFill>
                <a:latin typeface="Calibri" pitchFamily="34" charset="0"/>
                <a:ea typeface="Calibri" pitchFamily="34" charset="-122"/>
                <a:cs typeface="Calibri" pitchFamily="34" charset="-120"/>
              </a:rPr>
              <a:t>Les variants pathogènes héréditaires dans ces gènes augmentent considérablement le risque de cancer du sein et de l'ovaire. Ils expliquent une minorité de tous les cancers du sein.</a:t>
            </a:r>
            <a:endParaRPr lang="fr-FR" sz="1400" noProof="0" dirty="0"/>
          </a:p>
        </p:txBody>
      </p:sp>
      <p:sp>
        <p:nvSpPr>
          <p:cNvPr id="14" name="Shape 12"/>
          <p:cNvSpPr/>
          <p:nvPr/>
        </p:nvSpPr>
        <p:spPr>
          <a:xfrm>
            <a:off x="548637" y="5195096"/>
            <a:ext cx="11094413" cy="807287"/>
          </a:xfrm>
          <a:prstGeom prst="roundRect">
            <a:avLst>
              <a:gd name="adj" fmla="val 2844"/>
            </a:avLst>
          </a:prstGeom>
          <a:solidFill>
            <a:srgbClr val="F4F8FC"/>
          </a:solidFill>
          <a:ln w="12700">
            <a:solidFill>
              <a:srgbClr val="C8D8EC"/>
            </a:solidFill>
            <a:prstDash val="solid"/>
          </a:ln>
        </p:spPr>
        <p:txBody>
          <a:bodyPr/>
          <a:lstStyle/>
          <a:p>
            <a:endParaRPr lang="fr-FR" sz="1600" noProof="0" dirty="0"/>
          </a:p>
        </p:txBody>
      </p:sp>
      <p:sp>
        <p:nvSpPr>
          <p:cNvPr id="15" name="Text 13"/>
          <p:cNvSpPr txBox="1"/>
          <p:nvPr/>
        </p:nvSpPr>
        <p:spPr>
          <a:xfrm>
            <a:off x="713229" y="5208158"/>
            <a:ext cx="10059075" cy="292608"/>
          </a:xfrm>
          <a:prstGeom prst="rect">
            <a:avLst/>
          </a:prstGeom>
          <a:noFill/>
          <a:ln/>
        </p:spPr>
        <p:txBody>
          <a:bodyPr wrap="square" lIns="0" tIns="0" rIns="0" bIns="0" rtlCol="0" anchor="t">
            <a:normAutofit fontScale="96000"/>
          </a:bodyPr>
          <a:lstStyle/>
          <a:p>
            <a:pPr marL="0" indent="0">
              <a:buNone/>
            </a:pPr>
            <a:r>
              <a:rPr lang="fr-FR" sz="1400" b="1" noProof="0" dirty="0">
                <a:solidFill>
                  <a:srgbClr val="12315B"/>
                </a:solidFill>
                <a:latin typeface="Calibri" pitchFamily="34" charset="0"/>
                <a:ea typeface="Calibri" pitchFamily="34" charset="-122"/>
                <a:cs typeface="Calibri" pitchFamily="34" charset="-120"/>
              </a:rPr>
              <a:t>La plupart des cancers ne sont pas héréditaires</a:t>
            </a:r>
            <a:endParaRPr lang="fr-FR" sz="1400" noProof="0" dirty="0"/>
          </a:p>
        </p:txBody>
      </p:sp>
      <p:sp>
        <p:nvSpPr>
          <p:cNvPr id="16" name="Text 14"/>
          <p:cNvSpPr txBox="1"/>
          <p:nvPr/>
        </p:nvSpPr>
        <p:spPr>
          <a:xfrm>
            <a:off x="713229" y="5546486"/>
            <a:ext cx="10765231" cy="434341"/>
          </a:xfrm>
          <a:prstGeom prst="rect">
            <a:avLst/>
          </a:prstGeom>
          <a:noFill/>
          <a:ln/>
        </p:spPr>
        <p:txBody>
          <a:bodyPr wrap="square" lIns="0" tIns="0" rIns="0" bIns="0" rtlCol="0" anchor="t">
            <a:noAutofit/>
          </a:bodyPr>
          <a:lstStyle/>
          <a:p>
            <a:pPr marL="0" indent="0">
              <a:lnSpc>
                <a:spcPct val="90000"/>
              </a:lnSpc>
              <a:buNone/>
            </a:pPr>
            <a:r>
              <a:rPr lang="fr-FR" sz="1400" noProof="0" dirty="0">
                <a:solidFill>
                  <a:srgbClr val="1F3A63"/>
                </a:solidFill>
                <a:latin typeface="Calibri" pitchFamily="34" charset="0"/>
                <a:ea typeface="Calibri" pitchFamily="34" charset="-122"/>
                <a:cs typeface="Calibri" pitchFamily="34" charset="-120"/>
              </a:rPr>
              <a:t>La majorité des personnes atteintes d’un cancer du sein n’ont pas d’antécédents familiaux marqués. L’absence d’antécédents familiaux ne rend jamais un changement mammaire moins digne d’être évalué.</a:t>
            </a:r>
            <a:endParaRPr lang="fr-FR" sz="1400" noProof="0" dirty="0"/>
          </a:p>
        </p:txBody>
      </p:sp>
      <p:sp>
        <p:nvSpPr>
          <p:cNvPr id="17" name="Shape 15"/>
          <p:cNvSpPr/>
          <p:nvPr/>
        </p:nvSpPr>
        <p:spPr>
          <a:xfrm>
            <a:off x="548639" y="3556363"/>
            <a:ext cx="11094414" cy="782465"/>
          </a:xfrm>
          <a:prstGeom prst="roundRect">
            <a:avLst>
              <a:gd name="adj" fmla="val 2844"/>
            </a:avLst>
          </a:prstGeom>
          <a:solidFill>
            <a:srgbClr val="F4F8FC"/>
          </a:solidFill>
          <a:ln w="12700">
            <a:solidFill>
              <a:srgbClr val="C8D8EC"/>
            </a:solidFill>
            <a:prstDash val="solid"/>
          </a:ln>
        </p:spPr>
        <p:txBody>
          <a:bodyPr/>
          <a:lstStyle/>
          <a:p>
            <a:endParaRPr lang="fr-FR" sz="1400" noProof="0" dirty="0"/>
          </a:p>
        </p:txBody>
      </p:sp>
      <p:sp>
        <p:nvSpPr>
          <p:cNvPr id="18" name="Text 16"/>
          <p:cNvSpPr txBox="1"/>
          <p:nvPr/>
        </p:nvSpPr>
        <p:spPr>
          <a:xfrm>
            <a:off x="713231" y="3582488"/>
            <a:ext cx="10059076" cy="292608"/>
          </a:xfrm>
          <a:prstGeom prst="rect">
            <a:avLst/>
          </a:prstGeom>
          <a:noFill/>
          <a:ln/>
        </p:spPr>
        <p:txBody>
          <a:bodyPr wrap="square" lIns="0" tIns="0" rIns="0" bIns="0" rtlCol="0" anchor="t">
            <a:noAutofit/>
          </a:bodyPr>
          <a:lstStyle/>
          <a:p>
            <a:pPr marL="0" indent="0">
              <a:buNone/>
            </a:pPr>
            <a:r>
              <a:rPr lang="fr-FR" sz="1400" b="1" noProof="0" dirty="0">
                <a:solidFill>
                  <a:srgbClr val="12315B"/>
                </a:solidFill>
                <a:latin typeface="Calibri" pitchFamily="34" charset="0"/>
                <a:ea typeface="Calibri" pitchFamily="34" charset="-122"/>
                <a:cs typeface="Calibri" pitchFamily="34" charset="-120"/>
              </a:rPr>
              <a:t>Votre rôle</a:t>
            </a:r>
            <a:endParaRPr lang="fr-FR" sz="1400" noProof="0" dirty="0"/>
          </a:p>
        </p:txBody>
      </p:sp>
      <p:sp>
        <p:nvSpPr>
          <p:cNvPr id="19" name="Text 17"/>
          <p:cNvSpPr txBox="1"/>
          <p:nvPr/>
        </p:nvSpPr>
        <p:spPr>
          <a:xfrm>
            <a:off x="713231" y="3868564"/>
            <a:ext cx="10765232" cy="480051"/>
          </a:xfrm>
          <a:prstGeom prst="rect">
            <a:avLst/>
          </a:prstGeom>
          <a:noFill/>
          <a:ln/>
        </p:spPr>
        <p:txBody>
          <a:bodyPr wrap="square" lIns="0" tIns="0" rIns="0" bIns="0" rtlCol="0" anchor="t">
            <a:noAutofit/>
          </a:bodyPr>
          <a:lstStyle/>
          <a:p>
            <a:pPr marL="0" indent="0">
              <a:lnSpc>
                <a:spcPct val="90000"/>
              </a:lnSpc>
              <a:buNone/>
            </a:pPr>
            <a:r>
              <a:rPr lang="fr-FR" sz="1400" noProof="0" dirty="0">
                <a:solidFill>
                  <a:srgbClr val="1F3A63"/>
                </a:solidFill>
                <a:latin typeface="Calibri" pitchFamily="34" charset="0"/>
                <a:ea typeface="Calibri" pitchFamily="34" charset="-122"/>
                <a:cs typeface="Calibri" pitchFamily="34" charset="-120"/>
              </a:rPr>
              <a:t>Recueillez les antécédents familiaux, notez-les, expliquez qu’un tableau familial peut justifier une évaluation spécialisée, et orientez. Vous n’avez pas à diagnostiquer un syndrome.</a:t>
            </a:r>
            <a:endParaRPr lang="fr-FR" sz="1400" noProof="0" dirty="0"/>
          </a:p>
        </p:txBody>
      </p:sp>
      <p:sp>
        <p:nvSpPr>
          <p:cNvPr id="20" name="Shape 18"/>
          <p:cNvSpPr/>
          <p:nvPr/>
        </p:nvSpPr>
        <p:spPr>
          <a:xfrm>
            <a:off x="548638" y="4419812"/>
            <a:ext cx="11094413" cy="704747"/>
          </a:xfrm>
          <a:prstGeom prst="roundRect">
            <a:avLst>
              <a:gd name="adj" fmla="val 2844"/>
            </a:avLst>
          </a:prstGeom>
          <a:solidFill>
            <a:srgbClr val="F4F8FC"/>
          </a:solidFill>
          <a:ln w="12700">
            <a:solidFill>
              <a:srgbClr val="C8D8EC"/>
            </a:solidFill>
            <a:prstDash val="solid"/>
          </a:ln>
        </p:spPr>
        <p:txBody>
          <a:bodyPr/>
          <a:lstStyle/>
          <a:p>
            <a:endParaRPr lang="fr-FR" sz="1400" noProof="0" dirty="0"/>
          </a:p>
        </p:txBody>
      </p:sp>
      <p:sp>
        <p:nvSpPr>
          <p:cNvPr id="21" name="Text 19"/>
          <p:cNvSpPr txBox="1"/>
          <p:nvPr/>
        </p:nvSpPr>
        <p:spPr>
          <a:xfrm>
            <a:off x="713230" y="4445937"/>
            <a:ext cx="10059075" cy="292608"/>
          </a:xfrm>
          <a:prstGeom prst="rect">
            <a:avLst/>
          </a:prstGeom>
          <a:noFill/>
          <a:ln/>
        </p:spPr>
        <p:txBody>
          <a:bodyPr wrap="square" lIns="0" tIns="0" rIns="0" bIns="0" rtlCol="0" anchor="t">
            <a:noAutofit/>
          </a:bodyPr>
          <a:lstStyle/>
          <a:p>
            <a:pPr marL="0" indent="0">
              <a:buNone/>
            </a:pPr>
            <a:r>
              <a:rPr lang="fr-FR" sz="1400" b="1" noProof="0" dirty="0">
                <a:solidFill>
                  <a:srgbClr val="12315B"/>
                </a:solidFill>
                <a:latin typeface="Calibri" pitchFamily="34" charset="0"/>
                <a:ea typeface="Calibri" pitchFamily="34" charset="-122"/>
                <a:cs typeface="Calibri" pitchFamily="34" charset="-120"/>
              </a:rPr>
              <a:t>Ne pas alarmer</a:t>
            </a:r>
            <a:endParaRPr lang="fr-FR" sz="1400" noProof="0" dirty="0"/>
          </a:p>
        </p:txBody>
      </p:sp>
      <p:sp>
        <p:nvSpPr>
          <p:cNvPr id="22" name="Text 20"/>
          <p:cNvSpPr txBox="1"/>
          <p:nvPr/>
        </p:nvSpPr>
        <p:spPr>
          <a:xfrm>
            <a:off x="713230" y="4692824"/>
            <a:ext cx="10765233" cy="448056"/>
          </a:xfrm>
          <a:prstGeom prst="rect">
            <a:avLst/>
          </a:prstGeom>
          <a:noFill/>
          <a:ln/>
        </p:spPr>
        <p:txBody>
          <a:bodyPr wrap="square" lIns="0" tIns="0" rIns="0" bIns="0" rtlCol="0" anchor="t">
            <a:noAutofit/>
          </a:bodyPr>
          <a:lstStyle/>
          <a:p>
            <a:pPr marL="0" indent="0">
              <a:lnSpc>
                <a:spcPct val="90000"/>
              </a:lnSpc>
              <a:buNone/>
            </a:pPr>
            <a:r>
              <a:rPr lang="fr-FR" sz="1400" noProof="0" dirty="0">
                <a:solidFill>
                  <a:srgbClr val="1F3A63"/>
                </a:solidFill>
                <a:latin typeface="Calibri" pitchFamily="34" charset="0"/>
                <a:ea typeface="Calibri" pitchFamily="34" charset="-122"/>
                <a:cs typeface="Calibri" pitchFamily="34" charset="-120"/>
              </a:rPr>
              <a:t>Des antécédents familiaux sont une raison d’évaluer, pas un diagnostic. Dites ce qui est connu et quelle est la prochaine étape, sans prédire l’issue.</a:t>
            </a:r>
            <a:endParaRPr lang="fr-FR" sz="1400" noProof="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Modifications mammaires qui nécessitent une évaluation</a:t>
            </a:r>
            <a:endParaRPr lang="fr-FR" sz="3000" noProof="0" dirty="0"/>
          </a:p>
        </p:txBody>
      </p:sp>
      <p:sp>
        <p:nvSpPr>
          <p:cNvPr id="24" name="Text 22"/>
          <p:cNvSpPr txBox="1"/>
          <p:nvPr/>
        </p:nvSpPr>
        <p:spPr>
          <a:xfrm>
            <a:off x="713232" y="5995854"/>
            <a:ext cx="10765231" cy="370985"/>
          </a:xfrm>
          <a:prstGeom prst="rect">
            <a:avLst/>
          </a:prstGeom>
          <a:noFill/>
          <a:ln/>
        </p:spPr>
        <p:txBody>
          <a:bodyPr wrap="square" lIns="0" tIns="0" rIns="0" bIns="0" rtlCol="0" anchor="ctr">
            <a:noAutofit/>
          </a:bodyPr>
          <a:lstStyle/>
          <a:p>
            <a:pPr marL="0" indent="0">
              <a:lnSpc>
                <a:spcPct val="95000"/>
              </a:lnSpc>
              <a:buNone/>
            </a:pPr>
            <a:r>
              <a:rPr lang="fr-FR" sz="781" i="1" noProof="0" dirty="0">
                <a:solidFill>
                  <a:srgbClr val="0B1F3F"/>
                </a:solidFill>
                <a:latin typeface="Calibri" pitchFamily="34" charset="0"/>
                <a:ea typeface="Calibri" pitchFamily="34" charset="-122"/>
                <a:cs typeface="Calibri" pitchFamily="34" charset="-120"/>
              </a:rPr>
              <a:t>La plupart des boules du sein sont bénignes, et la douleur seule n’est pas la présentation typique d’un cancer du sein. Ce qui compte, c’est qu’un changement soit nouveau pour cette personne, persistant et inexpliqué. Demandez depuis quand il est présent, s’il a évolué et s’il varie avec le cycle menstruel.</a:t>
            </a:r>
            <a:endParaRPr lang="fr-FR" sz="781" i="1" noProof="0" dirty="0"/>
          </a:p>
        </p:txBody>
      </p:sp>
      <p:grpSp>
        <p:nvGrpSpPr>
          <p:cNvPr id="31" name="Grupo 30">
            <a:extLst>
              <a:ext uri="{FF2B5EF4-FFF2-40B4-BE49-F238E27FC236}">
                <a16:creationId xmlns:a16="http://schemas.microsoft.com/office/drawing/2014/main" id="{95EBB0F2-96F3-4231-6B6A-9F1BB23527F1}"/>
              </a:ext>
            </a:extLst>
          </p:cNvPr>
          <p:cNvGrpSpPr/>
          <p:nvPr/>
        </p:nvGrpSpPr>
        <p:grpSpPr>
          <a:xfrm>
            <a:off x="548640" y="3419856"/>
            <a:ext cx="3527450" cy="2288616"/>
            <a:chOff x="548640" y="3419856"/>
            <a:chExt cx="3527450" cy="2288616"/>
          </a:xfrm>
        </p:grpSpPr>
        <p:sp>
          <p:nvSpPr>
            <p:cNvPr id="14" name="Shape 12"/>
            <p:cNvSpPr/>
            <p:nvPr/>
          </p:nvSpPr>
          <p:spPr>
            <a:xfrm>
              <a:off x="548640" y="3419856"/>
              <a:ext cx="3527450" cy="2288616"/>
            </a:xfrm>
            <a:prstGeom prst="roundRect">
              <a:avLst>
                <a:gd name="adj" fmla="val 3061"/>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51129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Modifications du mamelon</a:t>
              </a:r>
              <a:endParaRPr lang="fr-FR" sz="1700" noProof="0" dirty="0"/>
            </a:p>
          </p:txBody>
        </p:sp>
        <p:sp>
          <p:nvSpPr>
            <p:cNvPr id="16" name="Text 14"/>
            <p:cNvSpPr txBox="1"/>
            <p:nvPr/>
          </p:nvSpPr>
          <p:spPr>
            <a:xfrm>
              <a:off x="713232" y="3849623"/>
              <a:ext cx="1703397" cy="1649839"/>
            </a:xfrm>
            <a:prstGeom prst="rect">
              <a:avLst/>
            </a:prstGeom>
            <a:noFill/>
            <a:ln/>
          </p:spPr>
          <p:txBody>
            <a:bodyPr wrap="square" lIns="0" tIns="0" rIns="0" bIns="0" rtlCol="0" anchor="t">
              <a:noAutofit/>
            </a:bodyPr>
            <a:lstStyle/>
            <a:p>
              <a:pPr marL="0" indent="0">
                <a:lnSpc>
                  <a:spcPct val="90000"/>
                </a:lnSpc>
                <a:buNone/>
              </a:pPr>
              <a:r>
                <a:rPr lang="fr-FR" sz="1500" noProof="0" dirty="0">
                  <a:solidFill>
                    <a:srgbClr val="1F3A63"/>
                  </a:solidFill>
                  <a:latin typeface="Calibri" pitchFamily="34" charset="0"/>
                  <a:ea typeface="Calibri" pitchFamily="34" charset="-122"/>
                  <a:cs typeface="Calibri" pitchFamily="34" charset="-120"/>
                </a:rPr>
                <a:t>Inversion ou rétraction récente, déformation, ou lésion persistante squameuse ou ulcérée du mamelon et de l’aréole.</a:t>
              </a:r>
              <a:endParaRPr lang="fr-FR" sz="1500" noProof="0" dirty="0"/>
            </a:p>
          </p:txBody>
        </p:sp>
        <p:pic>
          <p:nvPicPr>
            <p:cNvPr id="23" name="Imagen 22">
              <a:extLst>
                <a:ext uri="{FF2B5EF4-FFF2-40B4-BE49-F238E27FC236}">
                  <a16:creationId xmlns:a16="http://schemas.microsoft.com/office/drawing/2014/main" id="{55D8F5A3-FF97-0B1E-1152-F692BE2C8AFD}"/>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2447325" y="4022712"/>
              <a:ext cx="1557169" cy="1307592"/>
            </a:xfrm>
            <a:prstGeom prst="rect">
              <a:avLst/>
            </a:prstGeom>
          </p:spPr>
        </p:pic>
      </p:grpSp>
      <p:grpSp>
        <p:nvGrpSpPr>
          <p:cNvPr id="27" name="Grupo 26">
            <a:extLst>
              <a:ext uri="{FF2B5EF4-FFF2-40B4-BE49-F238E27FC236}">
                <a16:creationId xmlns:a16="http://schemas.microsoft.com/office/drawing/2014/main" id="{FC6ADA2A-9C45-20BC-1703-2048FE1BB435}"/>
              </a:ext>
            </a:extLst>
          </p:cNvPr>
          <p:cNvGrpSpPr/>
          <p:nvPr/>
        </p:nvGrpSpPr>
        <p:grpSpPr>
          <a:xfrm>
            <a:off x="4332122" y="1149528"/>
            <a:ext cx="3527450" cy="2116185"/>
            <a:chOff x="4332122" y="1149528"/>
            <a:chExt cx="3527450" cy="2116185"/>
          </a:xfrm>
        </p:grpSpPr>
        <p:sp>
          <p:nvSpPr>
            <p:cNvPr id="8" name="Shape 6"/>
            <p:cNvSpPr/>
            <p:nvPr/>
          </p:nvSpPr>
          <p:spPr>
            <a:xfrm>
              <a:off x="4332122" y="1149528"/>
              <a:ext cx="3527450" cy="2116185"/>
            </a:xfrm>
            <a:prstGeom prst="roundRect">
              <a:avLst>
                <a:gd name="adj" fmla="val 3061"/>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240969"/>
              <a:ext cx="3198266" cy="292608"/>
            </a:xfrm>
            <a:prstGeom prst="rect">
              <a:avLst/>
            </a:prstGeom>
            <a:noFill/>
            <a:ln/>
          </p:spPr>
          <p:txBody>
            <a:bodyPr wrap="square" lIns="0" tIns="0" rIns="0" bIns="0" rtlCol="0" anchor="t">
              <a:noAutofit/>
            </a:bodyPr>
            <a:lstStyle/>
            <a:p>
              <a:pPr marL="0" indent="0">
                <a:buNone/>
              </a:pPr>
              <a:r>
                <a:rPr lang="fr-FR" sz="1600" b="1" noProof="0" dirty="0">
                  <a:solidFill>
                    <a:srgbClr val="12315B"/>
                  </a:solidFill>
                  <a:latin typeface="Calibri" pitchFamily="34" charset="0"/>
                  <a:ea typeface="Calibri" pitchFamily="34" charset="-122"/>
                  <a:cs typeface="Calibri" pitchFamily="34" charset="-120"/>
                </a:rPr>
                <a:t>Changement de taille ou de forme</a:t>
              </a:r>
              <a:endParaRPr lang="fr-FR" sz="1600" noProof="0" dirty="0"/>
            </a:p>
          </p:txBody>
        </p:sp>
        <p:sp>
          <p:nvSpPr>
            <p:cNvPr id="10" name="Text 8"/>
            <p:cNvSpPr txBox="1"/>
            <p:nvPr/>
          </p:nvSpPr>
          <p:spPr>
            <a:xfrm>
              <a:off x="4496714" y="1579296"/>
              <a:ext cx="1599286" cy="1541995"/>
            </a:xfrm>
            <a:prstGeom prst="rect">
              <a:avLst/>
            </a:prstGeom>
            <a:noFill/>
            <a:ln/>
          </p:spPr>
          <p:txBody>
            <a:bodyPr wrap="square" lIns="0" tIns="0" rIns="0" bIns="0" rtlCol="0" anchor="t">
              <a:noAutofit/>
            </a:bodyPr>
            <a:lstStyle/>
            <a:p>
              <a:pPr marL="0" indent="0">
                <a:lnSpc>
                  <a:spcPct val="90000"/>
                </a:lnSpc>
                <a:buNone/>
              </a:pPr>
              <a:r>
                <a:rPr lang="fr-FR" sz="1500" noProof="0" dirty="0">
                  <a:solidFill>
                    <a:srgbClr val="1F3A63"/>
                  </a:solidFill>
                  <a:latin typeface="Calibri" pitchFamily="34" charset="0"/>
                  <a:ea typeface="Calibri" pitchFamily="34" charset="-122"/>
                  <a:cs typeface="Calibri" pitchFamily="34" charset="-120"/>
                </a:rPr>
                <a:t>Nouvelle asymétrie, changement de contour, ou zone du sein qui semble attirée vers l’intérieur.</a:t>
              </a:r>
              <a:endParaRPr lang="fr-FR" sz="1500" noProof="0" dirty="0"/>
            </a:p>
          </p:txBody>
        </p:sp>
        <p:pic>
          <p:nvPicPr>
            <p:cNvPr id="26" name="Imagen 25">
              <a:extLst>
                <a:ext uri="{FF2B5EF4-FFF2-40B4-BE49-F238E27FC236}">
                  <a16:creationId xmlns:a16="http://schemas.microsoft.com/office/drawing/2014/main" id="{7BE2088B-7920-C32D-8FB6-37944E7B18E2}"/>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6212126" y="1558518"/>
              <a:ext cx="1482854" cy="1541996"/>
            </a:xfrm>
            <a:prstGeom prst="rect">
              <a:avLst/>
            </a:prstGeom>
          </p:spPr>
        </p:pic>
      </p:grpSp>
      <p:grpSp>
        <p:nvGrpSpPr>
          <p:cNvPr id="25" name="Grupo 24">
            <a:extLst>
              <a:ext uri="{FF2B5EF4-FFF2-40B4-BE49-F238E27FC236}">
                <a16:creationId xmlns:a16="http://schemas.microsoft.com/office/drawing/2014/main" id="{02B64ABD-F99F-7BB9-5F0E-8E6600D7B9B2}"/>
              </a:ext>
            </a:extLst>
          </p:cNvPr>
          <p:cNvGrpSpPr/>
          <p:nvPr/>
        </p:nvGrpSpPr>
        <p:grpSpPr>
          <a:xfrm>
            <a:off x="548640" y="1149528"/>
            <a:ext cx="3527450" cy="2116185"/>
            <a:chOff x="548640" y="1149528"/>
            <a:chExt cx="3527450" cy="2116185"/>
          </a:xfrm>
        </p:grpSpPr>
        <p:sp>
          <p:nvSpPr>
            <p:cNvPr id="5" name="Shape 3"/>
            <p:cNvSpPr/>
            <p:nvPr/>
          </p:nvSpPr>
          <p:spPr>
            <a:xfrm>
              <a:off x="548640" y="1149528"/>
              <a:ext cx="3527450" cy="2116185"/>
            </a:xfrm>
            <a:prstGeom prst="roundRect">
              <a:avLst>
                <a:gd name="adj" fmla="val 3061"/>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240969"/>
              <a:ext cx="3198266" cy="292608"/>
            </a:xfrm>
            <a:prstGeom prst="rect">
              <a:avLst/>
            </a:prstGeom>
            <a:noFill/>
            <a:ln/>
          </p:spPr>
          <p:txBody>
            <a:bodyPr wrap="square" lIns="0" tIns="0" rIns="0" bIns="0" rtlCol="0" anchor="t">
              <a:noAutofit/>
            </a:bodyPr>
            <a:lstStyle/>
            <a:p>
              <a:pPr marL="0" indent="0">
                <a:buNone/>
              </a:pPr>
              <a:r>
                <a:rPr lang="fr-FR" sz="1600" b="1" noProof="0" dirty="0">
                  <a:solidFill>
                    <a:srgbClr val="12315B"/>
                  </a:solidFill>
                  <a:latin typeface="Calibri" pitchFamily="34" charset="0"/>
                  <a:ea typeface="Calibri" pitchFamily="34" charset="-122"/>
                  <a:cs typeface="Calibri" pitchFamily="34" charset="-120"/>
                </a:rPr>
                <a:t>Une nouvelle boule ou un épaississement</a:t>
              </a:r>
              <a:endParaRPr lang="fr-FR" sz="1600" noProof="0" dirty="0"/>
            </a:p>
          </p:txBody>
        </p:sp>
        <p:sp>
          <p:nvSpPr>
            <p:cNvPr id="7" name="Text 5"/>
            <p:cNvSpPr txBox="1"/>
            <p:nvPr/>
          </p:nvSpPr>
          <p:spPr>
            <a:xfrm>
              <a:off x="663158" y="1813699"/>
              <a:ext cx="1929036" cy="1307592"/>
            </a:xfrm>
            <a:prstGeom prst="rect">
              <a:avLst/>
            </a:prstGeom>
            <a:noFill/>
            <a:ln/>
          </p:spPr>
          <p:txBody>
            <a:bodyPr wrap="square" lIns="0" tIns="0" rIns="0" bIns="0" rtlCol="0" anchor="t">
              <a:normAutofit fontScale="98000"/>
            </a:bodyPr>
            <a:lstStyle/>
            <a:p>
              <a:pPr marL="0" indent="0">
                <a:lnSpc>
                  <a:spcPct val="90000"/>
                </a:lnSpc>
                <a:buNone/>
              </a:pPr>
              <a:r>
                <a:rPr lang="fr-FR" sz="1500" noProof="0" dirty="0">
                  <a:solidFill>
                    <a:srgbClr val="1F3A63"/>
                  </a:solidFill>
                  <a:latin typeface="Calibri" pitchFamily="34" charset="0"/>
                  <a:ea typeface="Calibri" pitchFamily="34" charset="-122"/>
                  <a:cs typeface="Calibri" pitchFamily="34" charset="-120"/>
                </a:rPr>
                <a:t>Dans le sein ou dans l’aisselle. Persistante et souvent indolore. La douleur ne confirme ni n’exclut rien.</a:t>
              </a:r>
              <a:endParaRPr lang="fr-FR" sz="1500" noProof="0" dirty="0"/>
            </a:p>
          </p:txBody>
        </p:sp>
        <p:pic>
          <p:nvPicPr>
            <p:cNvPr id="34" name="Imagen 33">
              <a:extLst>
                <a:ext uri="{FF2B5EF4-FFF2-40B4-BE49-F238E27FC236}">
                  <a16:creationId xmlns:a16="http://schemas.microsoft.com/office/drawing/2014/main" id="{6012D7B0-75AC-359D-5F6D-273549BD8C8B}"/>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2617612" y="1685843"/>
              <a:ext cx="1386882" cy="1307592"/>
            </a:xfrm>
            <a:prstGeom prst="rect">
              <a:avLst/>
            </a:prstGeom>
          </p:spPr>
        </p:pic>
      </p:grpSp>
      <p:grpSp>
        <p:nvGrpSpPr>
          <p:cNvPr id="28" name="Grupo 27">
            <a:extLst>
              <a:ext uri="{FF2B5EF4-FFF2-40B4-BE49-F238E27FC236}">
                <a16:creationId xmlns:a16="http://schemas.microsoft.com/office/drawing/2014/main" id="{B64CCBCF-D5D3-B997-06D4-0165B4F40D26}"/>
              </a:ext>
            </a:extLst>
          </p:cNvPr>
          <p:cNvGrpSpPr/>
          <p:nvPr/>
        </p:nvGrpSpPr>
        <p:grpSpPr>
          <a:xfrm>
            <a:off x="8115605" y="1149528"/>
            <a:ext cx="3527450" cy="2116185"/>
            <a:chOff x="8115605" y="1149528"/>
            <a:chExt cx="3527450" cy="2116185"/>
          </a:xfrm>
        </p:grpSpPr>
        <p:sp>
          <p:nvSpPr>
            <p:cNvPr id="11" name="Shape 9"/>
            <p:cNvSpPr/>
            <p:nvPr/>
          </p:nvSpPr>
          <p:spPr>
            <a:xfrm>
              <a:off x="8115605" y="1149528"/>
              <a:ext cx="3527450" cy="2116185"/>
            </a:xfrm>
            <a:prstGeom prst="roundRect">
              <a:avLst>
                <a:gd name="adj" fmla="val 3061"/>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240969"/>
              <a:ext cx="3198266" cy="292608"/>
            </a:xfrm>
            <a:prstGeom prst="rect">
              <a:avLst/>
            </a:prstGeom>
            <a:noFill/>
            <a:ln/>
          </p:spPr>
          <p:txBody>
            <a:bodyPr wrap="square" lIns="0" tIns="0" rIns="0" bIns="0" rtlCol="0" anchor="t"/>
            <a:lstStyle/>
            <a:p>
              <a:pPr marL="0" indent="0">
                <a:buNone/>
              </a:pPr>
              <a:r>
                <a:rPr lang="fr-FR" sz="1600" b="1" noProof="0" dirty="0">
                  <a:solidFill>
                    <a:srgbClr val="12315B"/>
                  </a:solidFill>
                  <a:latin typeface="Calibri" pitchFamily="34" charset="0"/>
                  <a:ea typeface="Calibri" pitchFamily="34" charset="-122"/>
                  <a:cs typeface="Calibri" pitchFamily="34" charset="-120"/>
                </a:rPr>
                <a:t>Modifications de la peau</a:t>
              </a:r>
              <a:endParaRPr lang="fr-FR" sz="1600" noProof="0" dirty="0"/>
            </a:p>
          </p:txBody>
        </p:sp>
        <p:sp>
          <p:nvSpPr>
            <p:cNvPr id="13" name="Text 11"/>
            <p:cNvSpPr txBox="1"/>
            <p:nvPr/>
          </p:nvSpPr>
          <p:spPr>
            <a:xfrm>
              <a:off x="8280197" y="1579297"/>
              <a:ext cx="1981403" cy="1414138"/>
            </a:xfrm>
            <a:prstGeom prst="rect">
              <a:avLst/>
            </a:prstGeom>
            <a:noFill/>
            <a:ln/>
          </p:spPr>
          <p:txBody>
            <a:bodyPr wrap="square" lIns="0" tIns="0" rIns="0" bIns="0" rtlCol="0" anchor="t">
              <a:noAutofit/>
            </a:bodyPr>
            <a:lstStyle/>
            <a:p>
              <a:pPr marL="0" indent="0">
                <a:lnSpc>
                  <a:spcPct val="90000"/>
                </a:lnSpc>
                <a:buNone/>
              </a:pPr>
              <a:r>
                <a:rPr lang="fr-FR" sz="1500" noProof="0" dirty="0">
                  <a:solidFill>
                    <a:srgbClr val="1F3A63"/>
                  </a:solidFill>
                  <a:latin typeface="Calibri" pitchFamily="34" charset="0"/>
                  <a:ea typeface="Calibri" pitchFamily="34" charset="-122"/>
                  <a:cs typeface="Calibri" pitchFamily="34" charset="-120"/>
                </a:rPr>
                <a:t>Fossette, adhérence, rétraction, épaississement, ou aspect de peau d’orange.</a:t>
              </a:r>
              <a:endParaRPr lang="fr-FR" sz="1500" noProof="0" dirty="0"/>
            </a:p>
          </p:txBody>
        </p:sp>
        <p:grpSp>
          <p:nvGrpSpPr>
            <p:cNvPr id="35" name="Grupo 34">
              <a:extLst>
                <a:ext uri="{FF2B5EF4-FFF2-40B4-BE49-F238E27FC236}">
                  <a16:creationId xmlns:a16="http://schemas.microsoft.com/office/drawing/2014/main" id="{45EBACAA-F52A-7322-5CEF-B8206682F14B}"/>
                </a:ext>
              </a:extLst>
            </p:cNvPr>
            <p:cNvGrpSpPr/>
            <p:nvPr/>
          </p:nvGrpSpPr>
          <p:grpSpPr>
            <a:xfrm>
              <a:off x="10317054" y="1551864"/>
              <a:ext cx="1268394" cy="1396867"/>
              <a:chOff x="10298766" y="1606728"/>
              <a:chExt cx="1268394" cy="1396867"/>
            </a:xfrm>
          </p:grpSpPr>
          <p:pic>
            <p:nvPicPr>
              <p:cNvPr id="36" name="Imagen 35">
                <a:extLst>
                  <a:ext uri="{FF2B5EF4-FFF2-40B4-BE49-F238E27FC236}">
                    <a16:creationId xmlns:a16="http://schemas.microsoft.com/office/drawing/2014/main" id="{96F61A24-5D65-CE63-0FFA-01B4AAD54F28}"/>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10298766" y="1606728"/>
                <a:ext cx="1228128" cy="698607"/>
              </a:xfrm>
              <a:prstGeom prst="rect">
                <a:avLst/>
              </a:prstGeom>
            </p:spPr>
          </p:pic>
          <p:pic>
            <p:nvPicPr>
              <p:cNvPr id="37" name="Imagen 36">
                <a:extLst>
                  <a:ext uri="{FF2B5EF4-FFF2-40B4-BE49-F238E27FC236}">
                    <a16:creationId xmlns:a16="http://schemas.microsoft.com/office/drawing/2014/main" id="{F787FF7F-3B3B-45F7-2356-FAE3FCA8A927}"/>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10298766" y="2287385"/>
                <a:ext cx="1268394" cy="716210"/>
              </a:xfrm>
              <a:prstGeom prst="rect">
                <a:avLst/>
              </a:prstGeom>
            </p:spPr>
          </p:pic>
        </p:grpSp>
      </p:grpSp>
      <p:grpSp>
        <p:nvGrpSpPr>
          <p:cNvPr id="30" name="Grupo 29">
            <a:extLst>
              <a:ext uri="{FF2B5EF4-FFF2-40B4-BE49-F238E27FC236}">
                <a16:creationId xmlns:a16="http://schemas.microsoft.com/office/drawing/2014/main" id="{6EE7CB3C-A21E-86A9-A16B-485D9873BE00}"/>
              </a:ext>
            </a:extLst>
          </p:cNvPr>
          <p:cNvGrpSpPr/>
          <p:nvPr/>
        </p:nvGrpSpPr>
        <p:grpSpPr>
          <a:xfrm>
            <a:off x="4332122" y="3419856"/>
            <a:ext cx="3527450" cy="2288616"/>
            <a:chOff x="4332122" y="3419856"/>
            <a:chExt cx="3527450" cy="2288616"/>
          </a:xfrm>
        </p:grpSpPr>
        <p:sp>
          <p:nvSpPr>
            <p:cNvPr id="17" name="Shape 15"/>
            <p:cNvSpPr/>
            <p:nvPr/>
          </p:nvSpPr>
          <p:spPr>
            <a:xfrm>
              <a:off x="4332122" y="3419856"/>
              <a:ext cx="3527450" cy="2288616"/>
            </a:xfrm>
            <a:prstGeom prst="roundRect">
              <a:avLst>
                <a:gd name="adj" fmla="val 3061"/>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51129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Écoulement du mamelon</a:t>
              </a:r>
              <a:endParaRPr lang="fr-FR" sz="1700" noProof="0" dirty="0"/>
            </a:p>
          </p:txBody>
        </p:sp>
        <p:sp>
          <p:nvSpPr>
            <p:cNvPr id="19" name="Text 17"/>
            <p:cNvSpPr txBox="1"/>
            <p:nvPr/>
          </p:nvSpPr>
          <p:spPr>
            <a:xfrm>
              <a:off x="4496714" y="3849624"/>
              <a:ext cx="1599286" cy="1649838"/>
            </a:xfrm>
            <a:prstGeom prst="rect">
              <a:avLst/>
            </a:prstGeom>
            <a:noFill/>
            <a:ln/>
          </p:spPr>
          <p:txBody>
            <a:bodyPr wrap="square" lIns="0" tIns="0" rIns="0" bIns="0" rtlCol="0" anchor="t">
              <a:noAutofit/>
            </a:bodyPr>
            <a:lstStyle/>
            <a:p>
              <a:pPr marL="0" indent="0">
                <a:lnSpc>
                  <a:spcPct val="90000"/>
                </a:lnSpc>
                <a:buNone/>
              </a:pPr>
              <a:r>
                <a:rPr lang="fr-FR" sz="1500" noProof="0" dirty="0">
                  <a:solidFill>
                    <a:srgbClr val="1F3A63"/>
                  </a:solidFill>
                  <a:latin typeface="Calibri" pitchFamily="34" charset="0"/>
                  <a:ea typeface="Calibri" pitchFamily="34" charset="-122"/>
                  <a:cs typeface="Calibri" pitchFamily="34" charset="-120"/>
                </a:rPr>
                <a:t>Écoulement spontané, surtout par un seul canal, et surtout s’il est sanglant.</a:t>
              </a:r>
              <a:endParaRPr lang="fr-FR" sz="1500" noProof="0" dirty="0"/>
            </a:p>
          </p:txBody>
        </p:sp>
        <p:pic>
          <p:nvPicPr>
            <p:cNvPr id="38" name="Imagen 37">
              <a:extLst>
                <a:ext uri="{FF2B5EF4-FFF2-40B4-BE49-F238E27FC236}">
                  <a16:creationId xmlns:a16="http://schemas.microsoft.com/office/drawing/2014/main" id="{18C52D5D-AD2A-0738-BC53-D79E455507E2}"/>
                </a:ext>
              </a:extLst>
            </p:cNvPr>
            <p:cNvPicPr>
              <a:picLocks noChangeAspect="1"/>
            </p:cNvPicPr>
            <p:nvPr/>
          </p:nvPicPr>
          <p:blipFill>
            <a:blip r:embed="rId8" cstate="hqprint">
              <a:extLst>
                <a:ext uri="{28A0092B-C50C-407E-A947-70E740481C1C}">
                  <a14:useLocalDpi xmlns:a14="http://schemas.microsoft.com/office/drawing/2010/main"/>
                </a:ext>
              </a:extLst>
            </a:blip>
            <a:srcRect/>
            <a:stretch>
              <a:fillRect/>
            </a:stretch>
          </p:blipFill>
          <p:spPr>
            <a:xfrm>
              <a:off x="6159758" y="3953526"/>
              <a:ext cx="1575037" cy="1345956"/>
            </a:xfrm>
            <a:prstGeom prst="rect">
              <a:avLst/>
            </a:prstGeom>
          </p:spPr>
        </p:pic>
      </p:grpSp>
      <p:grpSp>
        <p:nvGrpSpPr>
          <p:cNvPr id="29" name="Grupo 28">
            <a:extLst>
              <a:ext uri="{FF2B5EF4-FFF2-40B4-BE49-F238E27FC236}">
                <a16:creationId xmlns:a16="http://schemas.microsoft.com/office/drawing/2014/main" id="{02FCB805-C665-C883-255C-198D1129F2B7}"/>
              </a:ext>
            </a:extLst>
          </p:cNvPr>
          <p:cNvGrpSpPr/>
          <p:nvPr/>
        </p:nvGrpSpPr>
        <p:grpSpPr>
          <a:xfrm>
            <a:off x="8115605" y="3419856"/>
            <a:ext cx="3527450" cy="2288616"/>
            <a:chOff x="8115605" y="3419856"/>
            <a:chExt cx="3527450" cy="2288616"/>
          </a:xfrm>
        </p:grpSpPr>
        <p:sp>
          <p:nvSpPr>
            <p:cNvPr id="20" name="Shape 18"/>
            <p:cNvSpPr/>
            <p:nvPr/>
          </p:nvSpPr>
          <p:spPr>
            <a:xfrm>
              <a:off x="8115605" y="3419856"/>
              <a:ext cx="3527450" cy="2288616"/>
            </a:xfrm>
            <a:prstGeom prst="roundRect">
              <a:avLst>
                <a:gd name="adj" fmla="val 3061"/>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51129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Signes axillaires</a:t>
              </a:r>
              <a:endParaRPr lang="fr-FR" sz="1700" noProof="0" dirty="0"/>
            </a:p>
          </p:txBody>
        </p:sp>
        <p:sp>
          <p:nvSpPr>
            <p:cNvPr id="22" name="Text 20"/>
            <p:cNvSpPr txBox="1"/>
            <p:nvPr/>
          </p:nvSpPr>
          <p:spPr>
            <a:xfrm>
              <a:off x="8280197" y="3849624"/>
              <a:ext cx="1569197" cy="1649838"/>
            </a:xfrm>
            <a:prstGeom prst="rect">
              <a:avLst/>
            </a:prstGeom>
            <a:noFill/>
            <a:ln/>
          </p:spPr>
          <p:txBody>
            <a:bodyPr wrap="square" lIns="0" tIns="0" rIns="0" bIns="0" rtlCol="0" anchor="t">
              <a:noAutofit/>
            </a:bodyPr>
            <a:lstStyle/>
            <a:p>
              <a:pPr marL="0" indent="0">
                <a:lnSpc>
                  <a:spcPct val="90000"/>
                </a:lnSpc>
                <a:buNone/>
              </a:pPr>
              <a:r>
                <a:rPr lang="fr-FR" sz="1500" noProof="0" dirty="0">
                  <a:solidFill>
                    <a:srgbClr val="1F3A63"/>
                  </a:solidFill>
                  <a:latin typeface="Calibri" pitchFamily="34" charset="0"/>
                  <a:ea typeface="Calibri" pitchFamily="34" charset="-122"/>
                  <a:cs typeface="Calibri" pitchFamily="34" charset="-120"/>
                </a:rPr>
                <a:t>Une boule ou un gonflement persistant dans l’aisselle, ou au-dessus ou en dessous de la clavicule.</a:t>
              </a:r>
              <a:endParaRPr lang="fr-FR" sz="1500" noProof="0" dirty="0"/>
            </a:p>
          </p:txBody>
        </p:sp>
      </p:grpSp>
      <p:pic>
        <p:nvPicPr>
          <p:cNvPr id="32" name="Imagen 31">
            <a:extLst>
              <a:ext uri="{FF2B5EF4-FFF2-40B4-BE49-F238E27FC236}">
                <a16:creationId xmlns:a16="http://schemas.microsoft.com/office/drawing/2014/main" id="{44C26D15-43C2-A433-3F18-876A40449590}"/>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9615246" y="4040605"/>
            <a:ext cx="1911286" cy="1037004"/>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Signes qui imposent d’agir sans délai</a:t>
            </a:r>
            <a:endParaRPr lang="fr-FR" sz="3000" noProof="0" dirty="0"/>
          </a:p>
        </p:txBody>
      </p:sp>
      <p:sp>
        <p:nvSpPr>
          <p:cNvPr id="5" name="Shape 3"/>
          <p:cNvSpPr/>
          <p:nvPr/>
        </p:nvSpPr>
        <p:spPr>
          <a:xfrm>
            <a:off x="548640" y="1325880"/>
            <a:ext cx="3527450" cy="4572000"/>
          </a:xfrm>
          <a:prstGeom prst="roundRect">
            <a:avLst>
              <a:gd name="adj" fmla="val 1555"/>
            </a:avLst>
          </a:prstGeom>
          <a:solidFill>
            <a:srgbClr val="FBECEA"/>
          </a:solidFill>
          <a:ln w="12700">
            <a:solidFill>
              <a:srgbClr val="E7B6B0"/>
            </a:solidFill>
            <a:prstDash val="solid"/>
          </a:ln>
        </p:spPr>
        <p:txBody>
          <a:bodyPr/>
          <a:lstStyle/>
          <a:p>
            <a:endParaRPr lang="fr-FR" noProof="0" dirty="0"/>
          </a:p>
        </p:txBody>
      </p:sp>
      <p:sp>
        <p:nvSpPr>
          <p:cNvPr id="6" name="Text 4"/>
          <p:cNvSpPr txBox="1"/>
          <p:nvPr/>
        </p:nvSpPr>
        <p:spPr>
          <a:xfrm>
            <a:off x="713232" y="1453896"/>
            <a:ext cx="3198266" cy="384048"/>
          </a:xfrm>
          <a:prstGeom prst="rect">
            <a:avLst/>
          </a:prstGeom>
          <a:noFill/>
          <a:ln/>
        </p:spPr>
        <p:txBody>
          <a:bodyPr wrap="square" lIns="0" tIns="0" rIns="0" bIns="0" rtlCol="0" anchor="t"/>
          <a:lstStyle/>
          <a:p>
            <a:r>
              <a:rPr lang="fr-FR" b="1" dirty="0">
                <a:solidFill>
                  <a:srgbClr val="A32319"/>
                </a:solidFill>
                <a:latin typeface="Calibri" pitchFamily="34" charset="0"/>
                <a:ea typeface="Calibri" pitchFamily="34" charset="-122"/>
                <a:cs typeface="Calibri" pitchFamily="34" charset="-120"/>
              </a:rPr>
              <a:t>🔴 Urgent </a:t>
            </a:r>
            <a:r>
              <a:rPr lang="fr-FR" sz="1800" b="1" noProof="0" dirty="0">
                <a:solidFill>
                  <a:srgbClr val="A32319"/>
                </a:solidFill>
                <a:latin typeface="Calibri" pitchFamily="34" charset="0"/>
                <a:ea typeface="Calibri" pitchFamily="34" charset="-122"/>
                <a:cs typeface="Calibri" pitchFamily="34" charset="-120"/>
              </a:rPr>
              <a:t>: sous 24 heures</a:t>
            </a:r>
            <a:endParaRPr lang="fr-FR" sz="1800" noProof="0" dirty="0"/>
          </a:p>
        </p:txBody>
      </p:sp>
      <p:sp>
        <p:nvSpPr>
          <p:cNvPr id="7" name="Text 5"/>
          <p:cNvSpPr txBox="1"/>
          <p:nvPr/>
        </p:nvSpPr>
        <p:spPr>
          <a:xfrm>
            <a:off x="713232" y="1892808"/>
            <a:ext cx="3198266" cy="3858768"/>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445" noProof="0" dirty="0">
                <a:solidFill>
                  <a:srgbClr val="0B1F3F"/>
                </a:solidFill>
                <a:latin typeface="Calibri" pitchFamily="34" charset="0"/>
                <a:ea typeface="Calibri" pitchFamily="34" charset="-122"/>
                <a:cs typeface="Calibri" pitchFamily="34" charset="-120"/>
              </a:rPr>
              <a:t>Une masse du sein qui grossit rapidement</a:t>
            </a:r>
            <a:endParaRPr lang="fr-FR" sz="1445" noProof="0" dirty="0"/>
          </a:p>
          <a:p>
            <a:pPr marL="342900" indent="-342900">
              <a:lnSpc>
                <a:spcPct val="95000"/>
              </a:lnSpc>
              <a:spcAft>
                <a:spcPts val="600"/>
              </a:spcAft>
              <a:buSzPct val="100000"/>
              <a:buChar char="•"/>
            </a:pPr>
            <a:r>
              <a:rPr lang="fr-FR" sz="1445" noProof="0" dirty="0">
                <a:solidFill>
                  <a:srgbClr val="0B1F3F"/>
                </a:solidFill>
                <a:latin typeface="Calibri" pitchFamily="34" charset="0"/>
                <a:ea typeface="Calibri" pitchFamily="34" charset="-122"/>
                <a:cs typeface="Calibri" pitchFamily="34" charset="-120"/>
              </a:rPr>
              <a:t>Gonflement, rougeur et épaississement de la peau du sein d’apparition rapide, qui ne régressent pas comme prévu sous traitement de l’infection</a:t>
            </a:r>
            <a:endParaRPr lang="fr-FR" sz="1445" noProof="0" dirty="0"/>
          </a:p>
          <a:p>
            <a:pPr marL="342900" indent="-342900">
              <a:lnSpc>
                <a:spcPct val="95000"/>
              </a:lnSpc>
              <a:spcAft>
                <a:spcPts val="600"/>
              </a:spcAft>
              <a:buSzPct val="100000"/>
              <a:buChar char="•"/>
            </a:pPr>
            <a:r>
              <a:rPr lang="fr-FR" sz="1445" noProof="0" dirty="0">
                <a:solidFill>
                  <a:srgbClr val="0B1F3F"/>
                </a:solidFill>
                <a:latin typeface="Calibri" pitchFamily="34" charset="0"/>
                <a:ea typeface="Calibri" pitchFamily="34" charset="-122"/>
                <a:cs typeface="Calibri" pitchFamily="34" charset="-120"/>
              </a:rPr>
              <a:t>Une masse mammaire fixe ou ulcérée</a:t>
            </a:r>
            <a:endParaRPr lang="fr-FR" sz="1445" noProof="0" dirty="0"/>
          </a:p>
          <a:p>
            <a:pPr marL="342900" indent="-342900">
              <a:lnSpc>
                <a:spcPct val="95000"/>
              </a:lnSpc>
              <a:spcAft>
                <a:spcPts val="600"/>
              </a:spcAft>
              <a:buSzPct val="100000"/>
              <a:buChar char="•"/>
            </a:pPr>
            <a:r>
              <a:rPr lang="fr-FR" sz="1445" noProof="0" dirty="0">
                <a:solidFill>
                  <a:srgbClr val="0B1F3F"/>
                </a:solidFill>
                <a:latin typeface="Calibri" pitchFamily="34" charset="0"/>
                <a:ea typeface="Calibri" pitchFamily="34" charset="-122"/>
                <a:cs typeface="Calibri" pitchFamily="34" charset="-120"/>
              </a:rPr>
              <a:t>Une lésion persistante du mamelon, squameuse ou ulcérée</a:t>
            </a:r>
            <a:endParaRPr lang="fr-FR" sz="1445" noProof="0" dirty="0"/>
          </a:p>
          <a:p>
            <a:pPr marL="342900" indent="-342900">
              <a:lnSpc>
                <a:spcPct val="95000"/>
              </a:lnSpc>
              <a:spcAft>
                <a:spcPts val="600"/>
              </a:spcAft>
              <a:buSzPct val="100000"/>
              <a:buChar char="•"/>
            </a:pPr>
            <a:r>
              <a:rPr lang="fr-FR" sz="1445" noProof="0" dirty="0">
                <a:solidFill>
                  <a:srgbClr val="0B1F3F"/>
                </a:solidFill>
                <a:latin typeface="Calibri" pitchFamily="34" charset="0"/>
                <a:ea typeface="Calibri" pitchFamily="34" charset="-122"/>
                <a:cs typeface="Calibri" pitchFamily="34" charset="-120"/>
              </a:rPr>
              <a:t>Un ganglion axillaire ou </a:t>
            </a:r>
            <a:r>
              <a:rPr lang="fr-FR" sz="1445" noProof="0" dirty="0" err="1">
                <a:solidFill>
                  <a:srgbClr val="0B1F3F"/>
                </a:solidFill>
                <a:latin typeface="Calibri" pitchFamily="34" charset="0"/>
                <a:ea typeface="Calibri" pitchFamily="34" charset="-122"/>
                <a:cs typeface="Calibri" pitchFamily="34" charset="-120"/>
              </a:rPr>
              <a:t>sus-claviculaire</a:t>
            </a:r>
            <a:r>
              <a:rPr lang="fr-FR" sz="1445" noProof="0" dirty="0">
                <a:solidFill>
                  <a:srgbClr val="0B1F3F"/>
                </a:solidFill>
                <a:latin typeface="Calibri" pitchFamily="34" charset="0"/>
                <a:ea typeface="Calibri" pitchFamily="34" charset="-122"/>
                <a:cs typeface="Calibri" pitchFamily="34" charset="-120"/>
              </a:rPr>
              <a:t> fixé ou qui grossit</a:t>
            </a:r>
            <a:endParaRPr lang="fr-FR" sz="1445" noProof="0" dirty="0"/>
          </a:p>
          <a:p>
            <a:pPr marL="342900" indent="-342900">
              <a:lnSpc>
                <a:spcPct val="95000"/>
              </a:lnSpc>
              <a:spcAft>
                <a:spcPts val="600"/>
              </a:spcAft>
              <a:buSzPct val="100000"/>
              <a:buChar char="•"/>
            </a:pPr>
            <a:r>
              <a:rPr lang="fr-FR" sz="1445" noProof="0" dirty="0">
                <a:solidFill>
                  <a:srgbClr val="0B1F3F"/>
                </a:solidFill>
                <a:latin typeface="Calibri" pitchFamily="34" charset="0"/>
                <a:ea typeface="Calibri" pitchFamily="34" charset="-122"/>
                <a:cs typeface="Calibri" pitchFamily="34" charset="-120"/>
              </a:rPr>
              <a:t>Toute anomalie du sein associée à de nouvelles douleurs osseuses, un essoufflement, un ictère ou des symptômes neurologiques</a:t>
            </a:r>
            <a:endParaRPr lang="fr-FR" sz="1445" noProof="0" dirty="0"/>
          </a:p>
        </p:txBody>
      </p:sp>
      <p:sp>
        <p:nvSpPr>
          <p:cNvPr id="8" name="Shape 6"/>
          <p:cNvSpPr/>
          <p:nvPr/>
        </p:nvSpPr>
        <p:spPr>
          <a:xfrm>
            <a:off x="4332122" y="1325880"/>
            <a:ext cx="3527450" cy="4572000"/>
          </a:xfrm>
          <a:prstGeom prst="roundRect">
            <a:avLst>
              <a:gd name="adj" fmla="val 1555"/>
            </a:avLst>
          </a:prstGeom>
          <a:solidFill>
            <a:srgbClr val="FDF1E0"/>
          </a:solidFill>
          <a:ln w="12700">
            <a:solidFill>
              <a:srgbClr val="EFD3AA"/>
            </a:solidFill>
            <a:prstDash val="solid"/>
          </a:ln>
        </p:spPr>
        <p:txBody>
          <a:bodyPr/>
          <a:lstStyle/>
          <a:p>
            <a:endParaRPr lang="fr-FR" noProof="0" dirty="0"/>
          </a:p>
        </p:txBody>
      </p:sp>
      <p:sp>
        <p:nvSpPr>
          <p:cNvPr id="9" name="Text 7"/>
          <p:cNvSpPr txBox="1"/>
          <p:nvPr/>
        </p:nvSpPr>
        <p:spPr>
          <a:xfrm>
            <a:off x="4496714" y="1453896"/>
            <a:ext cx="3198266" cy="384048"/>
          </a:xfrm>
          <a:prstGeom prst="rect">
            <a:avLst/>
          </a:prstGeom>
          <a:noFill/>
          <a:ln/>
        </p:spPr>
        <p:txBody>
          <a:bodyPr wrap="square" lIns="0" tIns="0" rIns="0" bIns="0" rtlCol="0" anchor="t"/>
          <a:lstStyle/>
          <a:p>
            <a:r>
              <a:rPr lang="fr-FR" b="1" dirty="0">
                <a:solidFill>
                  <a:srgbClr val="C9761A"/>
                </a:solidFill>
                <a:latin typeface="Calibri" pitchFamily="34" charset="0"/>
                <a:ea typeface="Calibri" pitchFamily="34" charset="-122"/>
                <a:cs typeface="Calibri" pitchFamily="34" charset="-120"/>
              </a:rPr>
              <a:t>🟠 Orientez </a:t>
            </a:r>
            <a:r>
              <a:rPr lang="fr-FR" sz="1800" b="1" noProof="0" dirty="0">
                <a:solidFill>
                  <a:srgbClr val="C9761A"/>
                </a:solidFill>
                <a:latin typeface="Calibri" pitchFamily="34" charset="0"/>
                <a:ea typeface="Calibri" pitchFamily="34" charset="-122"/>
                <a:cs typeface="Calibri" pitchFamily="34" charset="-120"/>
              </a:rPr>
              <a:t>rapidement</a:t>
            </a:r>
            <a:endParaRPr lang="fr-FR" sz="1800" noProof="0" dirty="0"/>
          </a:p>
        </p:txBody>
      </p:sp>
      <p:sp>
        <p:nvSpPr>
          <p:cNvPr id="10" name="Text 8"/>
          <p:cNvSpPr txBox="1"/>
          <p:nvPr/>
        </p:nvSpPr>
        <p:spPr>
          <a:xfrm>
            <a:off x="4496714" y="1892808"/>
            <a:ext cx="3198266" cy="3858768"/>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Toute nouvelle boule distincte du sein qui persiste</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Épaississement focal persistant ou changement de contour du sein</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Rétraction ou déformation récente du mamelon</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Écoulement mamelonnaire spontané par un seul canal, ou sanglant</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Une nouvelle masse mammaire chez un homme</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Un changement mammaire persistant pendant la grossesse ou l’allaitement, qui doit être évalué et non attribué à l’allaitement</a:t>
            </a:r>
            <a:endParaRPr lang="fr-FR" sz="1534" noProof="0" dirty="0"/>
          </a:p>
        </p:txBody>
      </p:sp>
      <p:sp>
        <p:nvSpPr>
          <p:cNvPr id="11" name="Shape 9"/>
          <p:cNvSpPr/>
          <p:nvPr/>
        </p:nvSpPr>
        <p:spPr>
          <a:xfrm>
            <a:off x="8115605" y="1325880"/>
            <a:ext cx="3527450" cy="4572000"/>
          </a:xfrm>
          <a:prstGeom prst="roundRect">
            <a:avLst>
              <a:gd name="adj" fmla="val 155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453896"/>
            <a:ext cx="3198266" cy="384048"/>
          </a:xfrm>
          <a:prstGeom prst="rect">
            <a:avLst/>
          </a:prstGeom>
          <a:noFill/>
          <a:ln/>
        </p:spPr>
        <p:txBody>
          <a:bodyPr wrap="square" lIns="0" tIns="0" rIns="0" bIns="0" rtlCol="0" anchor="t"/>
          <a:lstStyle/>
          <a:p>
            <a:r>
              <a:rPr lang="fr-FR" b="1" dirty="0">
                <a:solidFill>
                  <a:srgbClr val="12315B"/>
                </a:solidFill>
                <a:latin typeface="Calibri" pitchFamily="34" charset="0"/>
                <a:ea typeface="Calibri" pitchFamily="34" charset="-122"/>
                <a:cs typeface="Calibri" pitchFamily="34" charset="-120"/>
              </a:rPr>
              <a:t>🔵 Évaluer</a:t>
            </a:r>
            <a:r>
              <a:rPr lang="fr-FR" sz="1800" b="1" noProof="0" dirty="0">
                <a:solidFill>
                  <a:srgbClr val="12315B"/>
                </a:solidFill>
                <a:latin typeface="Calibri" pitchFamily="34" charset="0"/>
                <a:ea typeface="Calibri" pitchFamily="34" charset="-122"/>
                <a:cs typeface="Calibri" pitchFamily="34" charset="-120"/>
              </a:rPr>
              <a:t>, puis décider</a:t>
            </a:r>
            <a:endParaRPr lang="fr-FR" sz="1800" noProof="0" dirty="0"/>
          </a:p>
        </p:txBody>
      </p:sp>
      <p:sp>
        <p:nvSpPr>
          <p:cNvPr id="13" name="Text 11"/>
          <p:cNvSpPr txBox="1"/>
          <p:nvPr/>
        </p:nvSpPr>
        <p:spPr>
          <a:xfrm>
            <a:off x="8280197"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Douleur cyclique des deux seins avec examen normal</a:t>
            </a:r>
            <a:endParaRPr lang="fr-FR" sz="1600" noProof="0" dirty="0"/>
          </a:p>
          <a:p>
            <a:pPr marL="342900" indent="-342900">
              <a:lnSpc>
                <a:spcPct val="95000"/>
              </a:lnSpc>
              <a:spcAft>
                <a:spcPts val="600"/>
              </a:spcAft>
              <a:buSzPct val="100000"/>
              <a:buChar char="•"/>
            </a:pPr>
            <a:r>
              <a:rPr lang="fr-FR" sz="1600" noProof="0" dirty="0" err="1">
                <a:solidFill>
                  <a:srgbClr val="0B1F3F"/>
                </a:solidFill>
                <a:latin typeface="Calibri" pitchFamily="34" charset="0"/>
                <a:ea typeface="Calibri" pitchFamily="34" charset="-122"/>
                <a:cs typeface="Calibri" pitchFamily="34" charset="-120"/>
              </a:rPr>
              <a:t>Nodularité</a:t>
            </a:r>
            <a:r>
              <a:rPr lang="fr-FR" sz="1600" noProof="0" dirty="0">
                <a:solidFill>
                  <a:srgbClr val="0B1F3F"/>
                </a:solidFill>
                <a:latin typeface="Calibri" pitchFamily="34" charset="0"/>
                <a:ea typeface="Calibri" pitchFamily="34" charset="-122"/>
                <a:cs typeface="Calibri" pitchFamily="34" charset="-120"/>
              </a:rPr>
              <a:t> ancienne, inchangée et déjà évaluée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Écoulement laiteux des deux seins, qui oriente vers une autre démarche diagnostique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Toute situation de cette colonne qui évolue, persiste ou devient localisée passe dans la colonne « Orientez rapidement »</a:t>
            </a:r>
            <a:endParaRPr lang="fr-FR" sz="1600" noProof="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4" name="Text 2"/>
          <p:cNvSpPr txBox="1"/>
          <p:nvPr/>
        </p:nvSpPr>
        <p:spPr>
          <a:xfrm>
            <a:off x="548638" y="530352"/>
            <a:ext cx="11094415" cy="566928"/>
          </a:xfrm>
          <a:prstGeom prst="rect">
            <a:avLst/>
          </a:prstGeom>
          <a:noFill/>
          <a:ln/>
        </p:spPr>
        <p:txBody>
          <a:bodyPr wrap="square" lIns="0" tIns="0" rIns="0" bIns="0" rtlCol="0" anchor="t">
            <a:noAutofit/>
          </a:bodyPr>
          <a:lstStyle/>
          <a:p>
            <a:pPr marL="0" indent="0">
              <a:buNone/>
            </a:pPr>
            <a:r>
              <a:rPr lang="fr-FR" sz="2640" b="1" noProof="0" dirty="0">
                <a:solidFill>
                  <a:srgbClr val="12315B"/>
                </a:solidFill>
                <a:latin typeface="Calibri" pitchFamily="34" charset="0"/>
                <a:ea typeface="Calibri" pitchFamily="34" charset="-122"/>
                <a:cs typeface="Calibri" pitchFamily="34" charset="-120"/>
              </a:rPr>
              <a:t>Sensibilisation mammaire</a:t>
            </a:r>
            <a:endParaRPr lang="fr-FR" sz="2640" noProof="0" dirty="0"/>
          </a:p>
        </p:txBody>
      </p:sp>
      <p:pic>
        <p:nvPicPr>
          <p:cNvPr id="8" name="Imagen 7">
            <a:extLst>
              <a:ext uri="{FF2B5EF4-FFF2-40B4-BE49-F238E27FC236}">
                <a16:creationId xmlns:a16="http://schemas.microsoft.com/office/drawing/2014/main" id="{CE5A1906-EBCA-E7AB-5A93-4A7704E7EC53}"/>
              </a:ext>
            </a:extLst>
          </p:cNvPr>
          <p:cNvPicPr>
            <a:picLocks noChangeAspect="1"/>
          </p:cNvPicPr>
          <p:nvPr/>
        </p:nvPicPr>
        <p:blipFill>
          <a:blip r:embed="rId3"/>
          <a:stretch>
            <a:fillRect/>
          </a:stretch>
        </p:blipFill>
        <p:spPr>
          <a:xfrm>
            <a:off x="500510" y="980573"/>
            <a:ext cx="11094414" cy="5547207"/>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rmAutofit/>
          </a:bodyPr>
          <a:lstStyle/>
          <a:p>
            <a:pPr marL="0" indent="0">
              <a:buNone/>
            </a:pPr>
            <a:r>
              <a:rPr lang="fr-FR" sz="3000" b="1" noProof="0" dirty="0">
                <a:solidFill>
                  <a:srgbClr val="12315B"/>
                </a:solidFill>
                <a:latin typeface="Calibri" pitchFamily="34" charset="0"/>
                <a:ea typeface="Calibri" pitchFamily="34" charset="-122"/>
                <a:cs typeface="Calibri" pitchFamily="34" charset="-120"/>
              </a:rPr>
              <a:t>Enseigner l’auto-examen des seins en consultation</a:t>
            </a:r>
            <a:endParaRPr lang="fr-FR" sz="3000" noProof="0" dirty="0"/>
          </a:p>
        </p:txBody>
      </p:sp>
      <p:sp>
        <p:nvSpPr>
          <p:cNvPr id="5" name="Shape 3"/>
          <p:cNvSpPr/>
          <p:nvPr/>
        </p:nvSpPr>
        <p:spPr>
          <a:xfrm>
            <a:off x="548640" y="1325880"/>
            <a:ext cx="11094415" cy="733183"/>
          </a:xfrm>
          <a:prstGeom prst="roundRect">
            <a:avLst>
              <a:gd name="adj" fmla="val 6236"/>
            </a:avLst>
          </a:prstGeom>
          <a:solidFill>
            <a:srgbClr val="F4F8FC"/>
          </a:solidFill>
          <a:ln w="12700">
            <a:solidFill>
              <a:srgbClr val="C8D8EC"/>
            </a:solidFill>
            <a:prstDash val="solid"/>
          </a:ln>
        </p:spPr>
        <p:txBody>
          <a:bodyPr/>
          <a:lstStyle/>
          <a:p>
            <a:endParaRPr lang="fr-FR" noProof="0" dirty="0"/>
          </a:p>
        </p:txBody>
      </p:sp>
      <p:sp>
        <p:nvSpPr>
          <p:cNvPr id="6" name="Shape 4"/>
          <p:cNvSpPr/>
          <p:nvPr/>
        </p:nvSpPr>
        <p:spPr>
          <a:xfrm>
            <a:off x="694944" y="1435608"/>
            <a:ext cx="932688" cy="513727"/>
          </a:xfrm>
          <a:prstGeom prst="roundRect">
            <a:avLst>
              <a:gd name="adj" fmla="val 8900"/>
            </a:avLst>
          </a:prstGeom>
          <a:solidFill>
            <a:srgbClr val="12315B"/>
          </a:solidFill>
          <a:ln/>
        </p:spPr>
        <p:txBody>
          <a:bodyPr/>
          <a:lstStyle/>
          <a:p>
            <a:endParaRPr lang="fr-FR" noProof="0" dirty="0"/>
          </a:p>
        </p:txBody>
      </p:sp>
      <p:sp>
        <p:nvSpPr>
          <p:cNvPr id="7" name="Text 5"/>
          <p:cNvSpPr txBox="1"/>
          <p:nvPr/>
        </p:nvSpPr>
        <p:spPr>
          <a:xfrm>
            <a:off x="694944" y="1435608"/>
            <a:ext cx="932688" cy="513727"/>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Dire</a:t>
            </a:r>
            <a:endParaRPr lang="fr-FR" sz="1400" noProof="0" dirty="0"/>
          </a:p>
        </p:txBody>
      </p:sp>
      <p:sp>
        <p:nvSpPr>
          <p:cNvPr id="8" name="Text 6"/>
          <p:cNvSpPr txBox="1"/>
          <p:nvPr/>
        </p:nvSpPr>
        <p:spPr>
          <a:xfrm>
            <a:off x="1783080" y="1399032"/>
            <a:ext cx="9677095" cy="586879"/>
          </a:xfrm>
          <a:prstGeom prst="rect">
            <a:avLst/>
          </a:prstGeom>
          <a:noFill/>
          <a:ln/>
        </p:spPr>
        <p:txBody>
          <a:bodyPr wrap="square" lIns="0" tIns="0" rIns="0" bIns="0" rtlCol="0" anchor="ctr">
            <a:normAutofit fontScale="95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Connaître ce qui est normal pour elle : </a:t>
            </a:r>
            <a:r>
              <a:rPr lang="fr-FR" sz="1800" noProof="0" dirty="0">
                <a:solidFill>
                  <a:srgbClr val="0B1F3F"/>
                </a:solidFill>
                <a:latin typeface="Calibri" pitchFamily="34" charset="0"/>
                <a:ea typeface="Calibri" pitchFamily="34" charset="-122"/>
                <a:cs typeface="Calibri" pitchFamily="34" charset="-120"/>
              </a:rPr>
              <a:t>les seins diffèrent d’une personne à l’autre et changent au cours du cycle, pendant la grossesse et après la ménopause.</a:t>
            </a:r>
            <a:endParaRPr lang="fr-FR" sz="1800" noProof="0" dirty="0"/>
          </a:p>
        </p:txBody>
      </p:sp>
      <p:sp>
        <p:nvSpPr>
          <p:cNvPr id="9" name="Shape 7"/>
          <p:cNvSpPr/>
          <p:nvPr/>
        </p:nvSpPr>
        <p:spPr>
          <a:xfrm>
            <a:off x="548640" y="2205367"/>
            <a:ext cx="11094415" cy="1099774"/>
          </a:xfrm>
          <a:prstGeom prst="roundRect">
            <a:avLst>
              <a:gd name="adj" fmla="val 4157"/>
            </a:avLst>
          </a:prstGeom>
          <a:solidFill>
            <a:srgbClr val="F4F8FC"/>
          </a:solidFill>
          <a:ln w="12700">
            <a:solidFill>
              <a:srgbClr val="C8D8EC"/>
            </a:solidFill>
            <a:prstDash val="solid"/>
          </a:ln>
        </p:spPr>
        <p:txBody>
          <a:bodyPr/>
          <a:lstStyle/>
          <a:p>
            <a:endParaRPr lang="fr-FR" noProof="0" dirty="0"/>
          </a:p>
        </p:txBody>
      </p:sp>
      <p:sp>
        <p:nvSpPr>
          <p:cNvPr id="10" name="Shape 8"/>
          <p:cNvSpPr/>
          <p:nvPr/>
        </p:nvSpPr>
        <p:spPr>
          <a:xfrm>
            <a:off x="694944" y="2315095"/>
            <a:ext cx="932688" cy="880318"/>
          </a:xfrm>
          <a:prstGeom prst="roundRect">
            <a:avLst>
              <a:gd name="adj" fmla="val 5194"/>
            </a:avLst>
          </a:prstGeom>
          <a:solidFill>
            <a:srgbClr val="12315B"/>
          </a:solidFill>
          <a:ln/>
        </p:spPr>
        <p:txBody>
          <a:bodyPr/>
          <a:lstStyle/>
          <a:p>
            <a:endParaRPr lang="fr-FR" noProof="0" dirty="0"/>
          </a:p>
        </p:txBody>
      </p:sp>
      <p:sp>
        <p:nvSpPr>
          <p:cNvPr id="11" name="Text 9"/>
          <p:cNvSpPr txBox="1"/>
          <p:nvPr/>
        </p:nvSpPr>
        <p:spPr>
          <a:xfrm>
            <a:off x="694944" y="2315095"/>
            <a:ext cx="932688" cy="880318"/>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Montrer</a:t>
            </a:r>
            <a:endParaRPr lang="fr-FR" sz="1400" noProof="0" dirty="0"/>
          </a:p>
        </p:txBody>
      </p:sp>
      <p:sp>
        <p:nvSpPr>
          <p:cNvPr id="12" name="Text 10"/>
          <p:cNvSpPr txBox="1"/>
          <p:nvPr/>
        </p:nvSpPr>
        <p:spPr>
          <a:xfrm>
            <a:off x="1783080" y="2278519"/>
            <a:ext cx="9677095" cy="953470"/>
          </a:xfrm>
          <a:prstGeom prst="rect">
            <a:avLst/>
          </a:prstGeom>
          <a:noFill/>
          <a:ln/>
        </p:spPr>
        <p:txBody>
          <a:bodyPr wrap="square" lIns="0" tIns="0" rIns="0" bIns="0" rtlCol="0" anchor="ctr">
            <a:normAutofit fontScale="95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Observer et palper, une fois par mois : </a:t>
            </a:r>
            <a:r>
              <a:rPr lang="fr-FR" sz="1800" noProof="0" dirty="0">
                <a:solidFill>
                  <a:srgbClr val="0B1F3F"/>
                </a:solidFill>
                <a:latin typeface="Calibri" pitchFamily="34" charset="0"/>
                <a:ea typeface="Calibri" pitchFamily="34" charset="-122"/>
                <a:cs typeface="Calibri" pitchFamily="34" charset="-120"/>
              </a:rPr>
              <a:t>dès 25 ans, enseignez l’auto-examen mensuel : se regarder dans un miroir, puis palper tout le sein et l’aisselle, debout puis allongée. Les deux écrans suivants montrent les étapes.</a:t>
            </a:r>
            <a:endParaRPr lang="fr-FR" sz="1800" noProof="0" dirty="0"/>
          </a:p>
        </p:txBody>
      </p:sp>
      <p:sp>
        <p:nvSpPr>
          <p:cNvPr id="13" name="Shape 11"/>
          <p:cNvSpPr/>
          <p:nvPr/>
        </p:nvSpPr>
        <p:spPr>
          <a:xfrm>
            <a:off x="548640" y="3451444"/>
            <a:ext cx="11094415" cy="733183"/>
          </a:xfrm>
          <a:prstGeom prst="roundRect">
            <a:avLst>
              <a:gd name="adj" fmla="val 6236"/>
            </a:avLst>
          </a:prstGeom>
          <a:solidFill>
            <a:srgbClr val="F4F8FC"/>
          </a:solidFill>
          <a:ln w="12700">
            <a:solidFill>
              <a:srgbClr val="C8D8EC"/>
            </a:solidFill>
            <a:prstDash val="solid"/>
          </a:ln>
        </p:spPr>
        <p:txBody>
          <a:bodyPr/>
          <a:lstStyle/>
          <a:p>
            <a:endParaRPr lang="fr-FR" noProof="0" dirty="0"/>
          </a:p>
        </p:txBody>
      </p:sp>
      <p:sp>
        <p:nvSpPr>
          <p:cNvPr id="14" name="Shape 12"/>
          <p:cNvSpPr/>
          <p:nvPr/>
        </p:nvSpPr>
        <p:spPr>
          <a:xfrm>
            <a:off x="694944" y="3561172"/>
            <a:ext cx="932688" cy="513727"/>
          </a:xfrm>
          <a:prstGeom prst="roundRect">
            <a:avLst>
              <a:gd name="adj" fmla="val 8900"/>
            </a:avLst>
          </a:prstGeom>
          <a:solidFill>
            <a:srgbClr val="12315B"/>
          </a:solidFill>
          <a:ln/>
        </p:spPr>
        <p:txBody>
          <a:bodyPr/>
          <a:lstStyle/>
          <a:p>
            <a:endParaRPr lang="fr-FR" noProof="0" dirty="0"/>
          </a:p>
        </p:txBody>
      </p:sp>
      <p:sp>
        <p:nvSpPr>
          <p:cNvPr id="15" name="Text 13"/>
          <p:cNvSpPr txBox="1"/>
          <p:nvPr/>
        </p:nvSpPr>
        <p:spPr>
          <a:xfrm>
            <a:off x="694944" y="3561172"/>
            <a:ext cx="932688" cy="513727"/>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Nommer</a:t>
            </a:r>
            <a:endParaRPr lang="fr-FR" sz="1400" noProof="0" dirty="0"/>
          </a:p>
        </p:txBody>
      </p:sp>
      <p:sp>
        <p:nvSpPr>
          <p:cNvPr id="16" name="Text 14"/>
          <p:cNvSpPr txBox="1"/>
          <p:nvPr/>
        </p:nvSpPr>
        <p:spPr>
          <a:xfrm>
            <a:off x="1783080" y="3524596"/>
            <a:ext cx="9677095" cy="586879"/>
          </a:xfrm>
          <a:prstGeom prst="rect">
            <a:avLst/>
          </a:prstGeom>
          <a:noFill/>
          <a:ln/>
        </p:spPr>
        <p:txBody>
          <a:bodyPr wrap="square" lIns="0" tIns="0" rIns="0" bIns="0" rtlCol="0" anchor="ctr">
            <a:normAutofit fontScale="95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Les changements à signaler : </a:t>
            </a:r>
            <a:r>
              <a:rPr lang="fr-FR" sz="1800" noProof="0" dirty="0">
                <a:solidFill>
                  <a:srgbClr val="12315B"/>
                </a:solidFill>
                <a:latin typeface="Calibri" pitchFamily="34" charset="0"/>
                <a:ea typeface="Calibri" pitchFamily="34" charset="-122"/>
                <a:cs typeface="Calibri" pitchFamily="34" charset="-120"/>
              </a:rPr>
              <a:t>une nouvelle boule ou une zone épaissie, un changement de taille ou de forme, une fossette de la peau, un mamelon qui se rétracte ou change, un écoulement, ou une boule dans l’aisselle.</a:t>
            </a:r>
            <a:endParaRPr lang="fr-FR" sz="1800" noProof="0" dirty="0"/>
          </a:p>
        </p:txBody>
      </p:sp>
      <p:sp>
        <p:nvSpPr>
          <p:cNvPr id="17" name="Shape 15"/>
          <p:cNvSpPr/>
          <p:nvPr/>
        </p:nvSpPr>
        <p:spPr>
          <a:xfrm>
            <a:off x="548640" y="4330931"/>
            <a:ext cx="11094415" cy="733183"/>
          </a:xfrm>
          <a:prstGeom prst="roundRect">
            <a:avLst>
              <a:gd name="adj" fmla="val 6236"/>
            </a:avLst>
          </a:prstGeom>
          <a:solidFill>
            <a:srgbClr val="F4F8FC"/>
          </a:solidFill>
          <a:ln w="12700">
            <a:solidFill>
              <a:srgbClr val="C8D8EC"/>
            </a:solidFill>
            <a:prstDash val="solid"/>
          </a:ln>
        </p:spPr>
        <p:txBody>
          <a:bodyPr/>
          <a:lstStyle/>
          <a:p>
            <a:endParaRPr lang="fr-FR" noProof="0" dirty="0"/>
          </a:p>
        </p:txBody>
      </p:sp>
      <p:sp>
        <p:nvSpPr>
          <p:cNvPr id="18" name="Shape 16"/>
          <p:cNvSpPr/>
          <p:nvPr/>
        </p:nvSpPr>
        <p:spPr>
          <a:xfrm>
            <a:off x="694944" y="4440659"/>
            <a:ext cx="932688" cy="513727"/>
          </a:xfrm>
          <a:prstGeom prst="roundRect">
            <a:avLst>
              <a:gd name="adj" fmla="val 8900"/>
            </a:avLst>
          </a:prstGeom>
          <a:solidFill>
            <a:srgbClr val="12315B"/>
          </a:solidFill>
          <a:ln/>
        </p:spPr>
        <p:txBody>
          <a:bodyPr/>
          <a:lstStyle/>
          <a:p>
            <a:endParaRPr lang="fr-FR" noProof="0" dirty="0"/>
          </a:p>
        </p:txBody>
      </p:sp>
      <p:sp>
        <p:nvSpPr>
          <p:cNvPr id="19" name="Text 17"/>
          <p:cNvSpPr txBox="1"/>
          <p:nvPr/>
        </p:nvSpPr>
        <p:spPr>
          <a:xfrm>
            <a:off x="694944" y="4440659"/>
            <a:ext cx="932688" cy="513727"/>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Convenir</a:t>
            </a:r>
            <a:endParaRPr lang="fr-FR" sz="1400" noProof="0" dirty="0"/>
          </a:p>
        </p:txBody>
      </p:sp>
      <p:sp>
        <p:nvSpPr>
          <p:cNvPr id="20" name="Text 18"/>
          <p:cNvSpPr txBox="1"/>
          <p:nvPr/>
        </p:nvSpPr>
        <p:spPr>
          <a:xfrm>
            <a:off x="1783080" y="4404083"/>
            <a:ext cx="9677095" cy="586879"/>
          </a:xfrm>
          <a:prstGeom prst="rect">
            <a:avLst/>
          </a:prstGeom>
          <a:noFill/>
          <a:ln/>
        </p:spPr>
        <p:txBody>
          <a:bodyPr wrap="square" lIns="0" tIns="0" rIns="0" bIns="0" rtlCol="0" anchor="ctr">
            <a:normAutofit fontScale="95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Que faire si elle découvre quelque chose : </a:t>
            </a:r>
            <a:r>
              <a:rPr lang="fr-FR" sz="1800" noProof="0" dirty="0">
                <a:solidFill>
                  <a:srgbClr val="0B1F3F"/>
                </a:solidFill>
                <a:latin typeface="Calibri" pitchFamily="34" charset="0"/>
                <a:ea typeface="Calibri" pitchFamily="34" charset="-122"/>
                <a:cs typeface="Calibri" pitchFamily="34" charset="-120"/>
              </a:rPr>
              <a:t>venir au centre de santé sans attendre que le changement disparaisse et sans attendre la douleur. Nommez l’établissement.</a:t>
            </a:r>
            <a:endParaRPr lang="fr-FR" sz="1800" noProof="0" dirty="0"/>
          </a:p>
        </p:txBody>
      </p:sp>
      <p:sp>
        <p:nvSpPr>
          <p:cNvPr id="21" name="Shape 19"/>
          <p:cNvSpPr/>
          <p:nvPr/>
        </p:nvSpPr>
        <p:spPr>
          <a:xfrm>
            <a:off x="548640" y="5210417"/>
            <a:ext cx="11094415" cy="733183"/>
          </a:xfrm>
          <a:prstGeom prst="roundRect">
            <a:avLst>
              <a:gd name="adj" fmla="val 6236"/>
            </a:avLst>
          </a:prstGeom>
          <a:solidFill>
            <a:srgbClr val="F4F8FC"/>
          </a:solidFill>
          <a:ln w="12700">
            <a:solidFill>
              <a:srgbClr val="C8D8EC"/>
            </a:solidFill>
            <a:prstDash val="solid"/>
          </a:ln>
        </p:spPr>
        <p:txBody>
          <a:bodyPr/>
          <a:lstStyle/>
          <a:p>
            <a:endParaRPr lang="fr-FR" noProof="0" dirty="0"/>
          </a:p>
        </p:txBody>
      </p:sp>
      <p:sp>
        <p:nvSpPr>
          <p:cNvPr id="22" name="Shape 20"/>
          <p:cNvSpPr/>
          <p:nvPr/>
        </p:nvSpPr>
        <p:spPr>
          <a:xfrm>
            <a:off x="694944" y="5320145"/>
            <a:ext cx="932688" cy="513727"/>
          </a:xfrm>
          <a:prstGeom prst="roundRect">
            <a:avLst>
              <a:gd name="adj" fmla="val 8900"/>
            </a:avLst>
          </a:prstGeom>
          <a:solidFill>
            <a:srgbClr val="12315B"/>
          </a:solidFill>
          <a:ln/>
        </p:spPr>
        <p:txBody>
          <a:bodyPr/>
          <a:lstStyle/>
          <a:p>
            <a:endParaRPr lang="fr-FR" noProof="0" dirty="0"/>
          </a:p>
        </p:txBody>
      </p:sp>
      <p:sp>
        <p:nvSpPr>
          <p:cNvPr id="23" name="Text 21"/>
          <p:cNvSpPr txBox="1"/>
          <p:nvPr/>
        </p:nvSpPr>
        <p:spPr>
          <a:xfrm>
            <a:off x="694944" y="5320145"/>
            <a:ext cx="932688" cy="513727"/>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Conclure</a:t>
            </a:r>
            <a:endParaRPr lang="fr-FR" sz="1400" noProof="0" dirty="0"/>
          </a:p>
        </p:txBody>
      </p:sp>
      <p:sp>
        <p:nvSpPr>
          <p:cNvPr id="24" name="Text 22"/>
          <p:cNvSpPr txBox="1"/>
          <p:nvPr/>
        </p:nvSpPr>
        <p:spPr>
          <a:xfrm>
            <a:off x="1783080" y="5283569"/>
            <a:ext cx="9677095" cy="586879"/>
          </a:xfrm>
          <a:prstGeom prst="rect">
            <a:avLst/>
          </a:prstGeom>
          <a:noFill/>
          <a:ln/>
        </p:spPr>
        <p:txBody>
          <a:bodyPr wrap="square" lIns="0" tIns="0" rIns="0" bIns="0" rtlCol="0" anchor="ctr">
            <a:normAutofit fontScale="95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Lever la culpabilité et la peur : </a:t>
            </a:r>
            <a:r>
              <a:rPr lang="fr-FR" sz="1800" noProof="0" dirty="0">
                <a:solidFill>
                  <a:srgbClr val="0B1F3F"/>
                </a:solidFill>
                <a:latin typeface="Calibri" pitchFamily="34" charset="0"/>
                <a:ea typeface="Calibri" pitchFamily="34" charset="-122"/>
                <a:cs typeface="Calibri" pitchFamily="34" charset="-120"/>
              </a:rPr>
              <a:t>la plupart des changements ne sont pas un cancer, se faire examiner est normal et confidentiel, et trouver quelque chose n’est pas de sa faute.</a:t>
            </a:r>
            <a:endParaRPr lang="fr-FR" sz="1800" noProof="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 136"/>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137" name="Text 137"/>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Auto-examen des seins (1 sur 2) : observer</a:t>
            </a:r>
            <a:endParaRPr lang="fr-FR" sz="1800" dirty="0"/>
          </a:p>
        </p:txBody>
      </p:sp>
      <p:sp>
        <p:nvSpPr>
          <p:cNvPr id="138" name="Text 138"/>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123" name="Text 123"/>
          <p:cNvSpPr txBox="1"/>
          <p:nvPr/>
        </p:nvSpPr>
        <p:spPr>
          <a:xfrm>
            <a:off x="548640" y="1215000"/>
            <a:ext cx="11094415" cy="420000"/>
          </a:xfrm>
          <a:prstGeom prst="rect">
            <a:avLst/>
          </a:prstGeom>
          <a:noFill/>
          <a:ln/>
        </p:spPr>
        <p:txBody>
          <a:bodyPr wrap="square" lIns="0" tIns="0" rIns="0" bIns="0" rtlCol="0" anchor="t"/>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À enseigner dès 25 ans, une fois par mois. Elle se tient devant un miroir, torse nu.</a:t>
            </a:r>
            <a:endParaRPr lang="fr-FR" sz="1800" dirty="0"/>
          </a:p>
        </p:txBody>
      </p:sp>
      <p:sp>
        <p:nvSpPr>
          <p:cNvPr id="124" name="Shape 124"/>
          <p:cNvSpPr/>
          <p:nvPr/>
        </p:nvSpPr>
        <p:spPr>
          <a:xfrm>
            <a:off x="548640" y="1720000"/>
            <a:ext cx="6650000" cy="106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25" name="Shape 125"/>
          <p:cNvSpPr/>
          <p:nvPr/>
        </p:nvSpPr>
        <p:spPr>
          <a:xfrm>
            <a:off x="678640" y="1870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1</a:t>
            </a:r>
            <a:endParaRPr lang="fr-FR" sz="1800" dirty="0"/>
          </a:p>
        </p:txBody>
      </p:sp>
      <p:sp>
        <p:nvSpPr>
          <p:cNvPr id="126" name="Text 126"/>
          <p:cNvSpPr txBox="1"/>
          <p:nvPr/>
        </p:nvSpPr>
        <p:spPr>
          <a:xfrm>
            <a:off x="1268640" y="1820000"/>
            <a:ext cx="5800000" cy="89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Bras le long du corps : </a:t>
            </a:r>
            <a:r>
              <a:rPr lang="fr-FR" sz="1800" dirty="0">
                <a:solidFill>
                  <a:srgbClr val="0B1F3F"/>
                </a:solidFill>
                <a:latin typeface="Calibri" pitchFamily="34" charset="0"/>
                <a:ea typeface="Calibri" pitchFamily="34" charset="-122"/>
                <a:cs typeface="Calibri" pitchFamily="34" charset="-120"/>
              </a:rPr>
              <a:t>Observer les deux seins : changement de taille ou de forme, plissement, fossette, desquamation de la peau ou écoulement du mamelon.</a:t>
            </a:r>
            <a:endParaRPr lang="fr-FR" sz="1800" dirty="0"/>
          </a:p>
        </p:txBody>
      </p:sp>
      <p:sp>
        <p:nvSpPr>
          <p:cNvPr id="127" name="Shape 127"/>
          <p:cNvSpPr/>
          <p:nvPr/>
        </p:nvSpPr>
        <p:spPr>
          <a:xfrm>
            <a:off x="548640" y="2890000"/>
            <a:ext cx="6650000" cy="106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28" name="Shape 128"/>
          <p:cNvSpPr/>
          <p:nvPr/>
        </p:nvSpPr>
        <p:spPr>
          <a:xfrm>
            <a:off x="678640" y="3040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2</a:t>
            </a:r>
            <a:endParaRPr lang="fr-FR" sz="1800" dirty="0"/>
          </a:p>
        </p:txBody>
      </p:sp>
      <p:sp>
        <p:nvSpPr>
          <p:cNvPr id="129" name="Text 129"/>
          <p:cNvSpPr txBox="1"/>
          <p:nvPr/>
        </p:nvSpPr>
        <p:spPr>
          <a:xfrm>
            <a:off x="1268640" y="2990000"/>
            <a:ext cx="5800000" cy="89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Mains derrière la tête : </a:t>
            </a:r>
            <a:r>
              <a:rPr lang="fr-FR" sz="1800" dirty="0">
                <a:solidFill>
                  <a:srgbClr val="0B1F3F"/>
                </a:solidFill>
                <a:latin typeface="Calibri" pitchFamily="34" charset="0"/>
                <a:ea typeface="Calibri" pitchFamily="34" charset="-122"/>
                <a:cs typeface="Calibri" pitchFamily="34" charset="-120"/>
              </a:rPr>
              <a:t>Joindre les mains derrière la tête et pousser vers l’avant. Rechercher un changement de forme ou de contour.</a:t>
            </a:r>
            <a:endParaRPr lang="fr-FR" sz="1800" dirty="0"/>
          </a:p>
        </p:txBody>
      </p:sp>
      <p:sp>
        <p:nvSpPr>
          <p:cNvPr id="130" name="Shape 130"/>
          <p:cNvSpPr/>
          <p:nvPr/>
        </p:nvSpPr>
        <p:spPr>
          <a:xfrm>
            <a:off x="548640" y="4060000"/>
            <a:ext cx="6650000" cy="106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31" name="Shape 131"/>
          <p:cNvSpPr/>
          <p:nvPr/>
        </p:nvSpPr>
        <p:spPr>
          <a:xfrm>
            <a:off x="678640" y="4210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3</a:t>
            </a:r>
            <a:endParaRPr lang="fr-FR" sz="1800" dirty="0"/>
          </a:p>
        </p:txBody>
      </p:sp>
      <p:sp>
        <p:nvSpPr>
          <p:cNvPr id="132" name="Text 132"/>
          <p:cNvSpPr txBox="1"/>
          <p:nvPr/>
        </p:nvSpPr>
        <p:spPr>
          <a:xfrm>
            <a:off x="1268640" y="4160000"/>
            <a:ext cx="5800000" cy="89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Mains sur les hanches : </a:t>
            </a:r>
            <a:r>
              <a:rPr lang="fr-FR" sz="1800" dirty="0">
                <a:solidFill>
                  <a:srgbClr val="0B1F3F"/>
                </a:solidFill>
                <a:latin typeface="Calibri" pitchFamily="34" charset="0"/>
                <a:ea typeface="Calibri" pitchFamily="34" charset="-122"/>
                <a:cs typeface="Calibri" pitchFamily="34" charset="-120"/>
              </a:rPr>
              <a:t>Appuyer fermement les mains sur les hanches et se pencher vers le miroir, épaules et coudes vers l’avant. Observer à nouveau.</a:t>
            </a:r>
            <a:endParaRPr lang="fr-FR" sz="1800" dirty="0"/>
          </a:p>
        </p:txBody>
      </p:sp>
      <p:sp>
        <p:nvSpPr>
          <p:cNvPr id="133" name="Shape 133"/>
          <p:cNvSpPr/>
          <p:nvPr/>
        </p:nvSpPr>
        <p:spPr>
          <a:xfrm>
            <a:off x="548640" y="5320000"/>
            <a:ext cx="11094415" cy="82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fr-FR" dirty="0"/>
          </a:p>
        </p:txBody>
      </p:sp>
      <p:sp>
        <p:nvSpPr>
          <p:cNvPr id="134" name="Text 134"/>
          <p:cNvSpPr txBox="1"/>
          <p:nvPr/>
        </p:nvSpPr>
        <p:spPr>
          <a:xfrm>
            <a:off x="713232" y="5370000"/>
            <a:ext cx="10765231" cy="720000"/>
          </a:xfrm>
          <a:prstGeom prst="rect">
            <a:avLst/>
          </a:prstGeom>
          <a:noFill/>
          <a:ln/>
        </p:spPr>
        <p:txBody>
          <a:bodyPr wrap="square" lIns="0" tIns="0" rIns="0" bIns="0" rtlCol="0" anchor="ctr"/>
          <a:lstStyle/>
          <a:p>
            <a:pPr marL="0" indent="0" algn="l">
              <a:lnSpc>
                <a:spcPct val="95000"/>
              </a:lnSpc>
              <a:buNone/>
            </a:pPr>
            <a:r>
              <a:rPr lang="fr-FR" sz="1800" dirty="0">
                <a:solidFill>
                  <a:srgbClr val="0B1F3F"/>
                </a:solidFill>
                <a:latin typeface="Calibri" pitchFamily="34" charset="0"/>
                <a:ea typeface="Calibri" pitchFamily="34" charset="-122"/>
                <a:cs typeface="Calibri" pitchFamily="34" charset="-120"/>
              </a:rPr>
              <a:t>💡 Les étapes 2 et 3 contractent les muscles pectoraux, ce qui rend un changement de contour du sein plus visible.</a:t>
            </a:r>
            <a:endParaRPr lang="fr-FR" sz="1800" dirty="0"/>
          </a:p>
        </p:txBody>
      </p:sp>
      <p:pic>
        <p:nvPicPr>
          <p:cNvPr id="2" name="Imagen 1">
            <a:extLst>
              <a:ext uri="{FF2B5EF4-FFF2-40B4-BE49-F238E27FC236}">
                <a16:creationId xmlns:a16="http://schemas.microsoft.com/office/drawing/2014/main" id="{F7AF1AB9-30FA-09CC-9ED1-F00C90B0747A}"/>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7541584" y="1685000"/>
            <a:ext cx="3719316" cy="3547784"/>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ext 151"/>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152" name="Text 152"/>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Auto-examen des seins (2 sur 2) : palper</a:t>
            </a:r>
            <a:endParaRPr lang="fr-FR" sz="1800" dirty="0"/>
          </a:p>
        </p:txBody>
      </p:sp>
      <p:sp>
        <p:nvSpPr>
          <p:cNvPr id="153" name="Text 153"/>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139" name="Shape 139"/>
          <p:cNvSpPr/>
          <p:nvPr/>
        </p:nvSpPr>
        <p:spPr>
          <a:xfrm>
            <a:off x="548640" y="1215000"/>
            <a:ext cx="6650000" cy="12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40" name="Shape 140"/>
          <p:cNvSpPr/>
          <p:nvPr/>
        </p:nvSpPr>
        <p:spPr>
          <a:xfrm>
            <a:off x="678640" y="1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4</a:t>
            </a:r>
            <a:endParaRPr lang="fr-FR" sz="1800" dirty="0"/>
          </a:p>
        </p:txBody>
      </p:sp>
      <p:sp>
        <p:nvSpPr>
          <p:cNvPr id="141" name="Text 141"/>
          <p:cNvSpPr txBox="1"/>
          <p:nvPr/>
        </p:nvSpPr>
        <p:spPr>
          <a:xfrm>
            <a:off x="1268640" y="1315000"/>
            <a:ext cx="5800000" cy="10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Lever un bras : </a:t>
            </a:r>
            <a:r>
              <a:rPr lang="fr-FR" sz="1800" dirty="0">
                <a:solidFill>
                  <a:srgbClr val="0B1F3F"/>
                </a:solidFill>
                <a:latin typeface="Calibri" pitchFamily="34" charset="0"/>
                <a:ea typeface="Calibri" pitchFamily="34" charset="-122"/>
                <a:cs typeface="Calibri" pitchFamily="34" charset="-120"/>
              </a:rPr>
              <a:t>Lever le bras gauche. Avec 3 ou 4 doigts de la main droite, appuyer à plat en petits cercles, du bord externe vers le mamelon, sur tout le sein et l’aisselle. Refaire à droite.</a:t>
            </a:r>
            <a:endParaRPr lang="fr-FR" sz="1800" dirty="0"/>
          </a:p>
        </p:txBody>
      </p:sp>
      <p:sp>
        <p:nvSpPr>
          <p:cNvPr id="142" name="Shape 142"/>
          <p:cNvSpPr/>
          <p:nvPr/>
        </p:nvSpPr>
        <p:spPr>
          <a:xfrm>
            <a:off x="548640" y="2575000"/>
            <a:ext cx="6650000" cy="12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43" name="Shape 143"/>
          <p:cNvSpPr/>
          <p:nvPr/>
        </p:nvSpPr>
        <p:spPr>
          <a:xfrm>
            <a:off x="678640" y="272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5</a:t>
            </a:r>
            <a:endParaRPr lang="fr-FR" sz="1800" dirty="0"/>
          </a:p>
        </p:txBody>
      </p:sp>
      <p:sp>
        <p:nvSpPr>
          <p:cNvPr id="144" name="Text 144"/>
          <p:cNvSpPr txBox="1"/>
          <p:nvPr/>
        </p:nvSpPr>
        <p:spPr>
          <a:xfrm>
            <a:off x="1268640" y="2675000"/>
            <a:ext cx="5800000" cy="10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Vérifier les mamelons : </a:t>
            </a:r>
            <a:r>
              <a:rPr lang="fr-FR" sz="1800" dirty="0">
                <a:solidFill>
                  <a:srgbClr val="0B1F3F"/>
                </a:solidFill>
                <a:latin typeface="Calibri" pitchFamily="34" charset="0"/>
                <a:ea typeface="Calibri" pitchFamily="34" charset="-122"/>
                <a:cs typeface="Calibri" pitchFamily="34" charset="-120"/>
              </a:rPr>
              <a:t>Presser doucement chaque mamelon et rechercher un écoulement.</a:t>
            </a:r>
            <a:endParaRPr lang="fr-FR" sz="1800" dirty="0"/>
          </a:p>
        </p:txBody>
      </p:sp>
      <p:sp>
        <p:nvSpPr>
          <p:cNvPr id="145" name="Shape 145"/>
          <p:cNvSpPr/>
          <p:nvPr/>
        </p:nvSpPr>
        <p:spPr>
          <a:xfrm>
            <a:off x="548640" y="3935000"/>
            <a:ext cx="6650000" cy="12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46" name="Shape 146"/>
          <p:cNvSpPr/>
          <p:nvPr/>
        </p:nvSpPr>
        <p:spPr>
          <a:xfrm>
            <a:off x="678640" y="408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6</a:t>
            </a:r>
            <a:endParaRPr lang="fr-FR" sz="1800" dirty="0"/>
          </a:p>
        </p:txBody>
      </p:sp>
      <p:sp>
        <p:nvSpPr>
          <p:cNvPr id="147" name="Text 147"/>
          <p:cNvSpPr txBox="1"/>
          <p:nvPr/>
        </p:nvSpPr>
        <p:spPr>
          <a:xfrm>
            <a:off x="1268640" y="4035000"/>
            <a:ext cx="5800000" cy="10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Refaire en position couchée : </a:t>
            </a:r>
            <a:r>
              <a:rPr lang="fr-FR" sz="1800" dirty="0">
                <a:solidFill>
                  <a:srgbClr val="0B1F3F"/>
                </a:solidFill>
                <a:latin typeface="Calibri" pitchFamily="34" charset="0"/>
                <a:ea typeface="Calibri" pitchFamily="34" charset="-122"/>
                <a:cs typeface="Calibri" pitchFamily="34" charset="-120"/>
              </a:rPr>
              <a:t>Allongée, un bras derrière la tête, un petit coussin ou un linge plié sous l’épaule. Refaire les étapes 4 et 5 pour chaque sein.</a:t>
            </a:r>
            <a:endParaRPr lang="fr-FR" sz="1800" dirty="0"/>
          </a:p>
        </p:txBody>
      </p:sp>
      <p:sp>
        <p:nvSpPr>
          <p:cNvPr id="148" name="Shape 148"/>
          <p:cNvSpPr/>
          <p:nvPr/>
        </p:nvSpPr>
        <p:spPr>
          <a:xfrm>
            <a:off x="548640" y="5320000"/>
            <a:ext cx="11094415" cy="820000"/>
          </a:xfrm>
          <a:prstGeom prst="roundRect">
            <a:avLst>
              <a:gd name="adj" fmla="val 6000"/>
            </a:avLst>
          </a:prstGeom>
          <a:solidFill>
            <a:srgbClr val="EAF5EF"/>
          </a:solidFill>
          <a:ln w="12700">
            <a:solidFill>
              <a:srgbClr val="8FC4A9"/>
            </a:solidFill>
            <a:prstDash val="solid"/>
          </a:ln>
        </p:spPr>
        <p:txBody>
          <a:bodyPr wrap="square" lIns="91440" tIns="45720" rIns="91440" bIns="45720" rtlCol="0" anchor="ctr"/>
          <a:lstStyle/>
          <a:p>
            <a:endParaRPr lang="fr-FR" dirty="0"/>
          </a:p>
        </p:txBody>
      </p:sp>
      <p:sp>
        <p:nvSpPr>
          <p:cNvPr id="149" name="Text 149"/>
          <p:cNvSpPr txBox="1"/>
          <p:nvPr/>
        </p:nvSpPr>
        <p:spPr>
          <a:xfrm>
            <a:off x="713232" y="5370000"/>
            <a:ext cx="10765231" cy="720000"/>
          </a:xfrm>
          <a:prstGeom prst="rect">
            <a:avLst/>
          </a:prstGeom>
          <a:noFill/>
          <a:ln/>
        </p:spPr>
        <p:txBody>
          <a:bodyPr wrap="square" lIns="0" tIns="0" rIns="0" bIns="0" rtlCol="0" anchor="ctr"/>
          <a:lstStyle/>
          <a:p>
            <a:pPr>
              <a:lnSpc>
                <a:spcPct val="95000"/>
              </a:lnSpc>
            </a:pPr>
            <a:r>
              <a:rPr lang="fr-FR" b="1" dirty="0">
                <a:solidFill>
                  <a:srgbClr val="1B6E4A"/>
                </a:solidFill>
                <a:latin typeface="Calibri" pitchFamily="34" charset="0"/>
                <a:ea typeface="Calibri" pitchFamily="34" charset="-122"/>
                <a:cs typeface="Calibri" pitchFamily="34" charset="-120"/>
              </a:rPr>
              <a:t>⚠️ </a:t>
            </a:r>
            <a:r>
              <a:rPr lang="fr-FR" sz="1800" b="1" dirty="0">
                <a:solidFill>
                  <a:srgbClr val="1B6E4A"/>
                </a:solidFill>
                <a:latin typeface="Calibri" pitchFamily="34" charset="0"/>
                <a:ea typeface="Calibri" pitchFamily="34" charset="-122"/>
                <a:cs typeface="Calibri" pitchFamily="34" charset="-120"/>
              </a:rPr>
              <a:t>Toute nouvelle boule, tout changement de taille, de peau ou du mamelon, ou tout écoulement : venir rapidement au centre de santé, sans attendre la douleur.</a:t>
            </a:r>
            <a:endParaRPr lang="fr-FR" sz="1800" dirty="0"/>
          </a:p>
        </p:txBody>
      </p:sp>
      <p:pic>
        <p:nvPicPr>
          <p:cNvPr id="2" name="Imagen 1">
            <a:extLst>
              <a:ext uri="{FF2B5EF4-FFF2-40B4-BE49-F238E27FC236}">
                <a16:creationId xmlns:a16="http://schemas.microsoft.com/office/drawing/2014/main" id="{7209CC4A-9C17-4C39-D3E8-764526F23C33}"/>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7353692" y="1236592"/>
            <a:ext cx="4184720" cy="401215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Examen clinique du sein : les étapes en un coup d’œil</a:t>
            </a:r>
            <a:endParaRPr lang="fr-FR" sz="3000" noProof="0" dirty="0"/>
          </a:p>
        </p:txBody>
      </p:sp>
      <p:sp>
        <p:nvSpPr>
          <p:cNvPr id="5" name="Shape 3"/>
          <p:cNvSpPr/>
          <p:nvPr/>
        </p:nvSpPr>
        <p:spPr>
          <a:xfrm>
            <a:off x="548640" y="1280160"/>
            <a:ext cx="11094415" cy="688848"/>
          </a:xfrm>
          <a:prstGeom prst="roundRect">
            <a:avLst>
              <a:gd name="adj" fmla="val 6637"/>
            </a:avLst>
          </a:prstGeom>
          <a:solidFill>
            <a:srgbClr val="F4F8FC"/>
          </a:solidFill>
          <a:ln w="12700">
            <a:solidFill>
              <a:srgbClr val="C8D8EC"/>
            </a:solidFill>
            <a:prstDash val="solid"/>
          </a:ln>
        </p:spPr>
        <p:txBody>
          <a:bodyPr/>
          <a:lstStyle/>
          <a:p>
            <a:endParaRPr lang="fr-FR" noProof="0" dirty="0"/>
          </a:p>
        </p:txBody>
      </p:sp>
      <p:sp>
        <p:nvSpPr>
          <p:cNvPr id="6" name="Shape 4"/>
          <p:cNvSpPr/>
          <p:nvPr/>
        </p:nvSpPr>
        <p:spPr>
          <a:xfrm>
            <a:off x="694944" y="1389888"/>
            <a:ext cx="932688" cy="469392"/>
          </a:xfrm>
          <a:prstGeom prst="roundRect">
            <a:avLst>
              <a:gd name="adj" fmla="val 9740"/>
            </a:avLst>
          </a:prstGeom>
          <a:solidFill>
            <a:srgbClr val="12315B"/>
          </a:solidFill>
          <a:ln/>
        </p:spPr>
        <p:txBody>
          <a:bodyPr/>
          <a:lstStyle/>
          <a:p>
            <a:endParaRPr lang="fr-FR" noProof="0" dirty="0"/>
          </a:p>
        </p:txBody>
      </p:sp>
      <p:sp>
        <p:nvSpPr>
          <p:cNvPr id="7" name="Text 5"/>
          <p:cNvSpPr txBox="1"/>
          <p:nvPr/>
        </p:nvSpPr>
        <p:spPr>
          <a:xfrm>
            <a:off x="694944" y="1389888"/>
            <a:ext cx="932688" cy="469392"/>
          </a:xfrm>
          <a:prstGeom prst="rect">
            <a:avLst/>
          </a:prstGeom>
          <a:noFill/>
          <a:ln/>
        </p:spPr>
        <p:txBody>
          <a:bodyPr wrap="square" lIns="0" tIns="0" rIns="0" bIns="0" rtlCol="0" anchor="ctr">
            <a:noAutofit/>
          </a:bodyPr>
          <a:lstStyle/>
          <a:p>
            <a:pPr marL="0" indent="0" algn="ctr">
              <a:buNone/>
            </a:pPr>
            <a:r>
              <a:rPr lang="fr-FR" sz="1218" b="1" noProof="0" dirty="0">
                <a:solidFill>
                  <a:srgbClr val="FFFFFF"/>
                </a:solidFill>
                <a:latin typeface="Calibri" pitchFamily="34" charset="0"/>
                <a:ea typeface="Calibri" pitchFamily="34" charset="-122"/>
                <a:cs typeface="Calibri" pitchFamily="34" charset="-120"/>
              </a:rPr>
              <a:t>Préparer</a:t>
            </a:r>
            <a:endParaRPr lang="fr-FR" sz="1218" noProof="0" dirty="0"/>
          </a:p>
        </p:txBody>
      </p:sp>
      <p:sp>
        <p:nvSpPr>
          <p:cNvPr id="8" name="Text 6"/>
          <p:cNvSpPr txBox="1"/>
          <p:nvPr/>
        </p:nvSpPr>
        <p:spPr>
          <a:xfrm>
            <a:off x="1783080" y="1353312"/>
            <a:ext cx="9677095" cy="542544"/>
          </a:xfrm>
          <a:prstGeom prst="rect">
            <a:avLst/>
          </a:prstGeom>
          <a:noFill/>
          <a:ln/>
        </p:spPr>
        <p:txBody>
          <a:bodyPr wrap="square" lIns="0" tIns="0" rIns="0" bIns="0" rtlCol="0" anchor="ctr">
            <a:normAutofit fontScale="96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Consentement, intimité, accompagnant : expliquez ce que vous ferez, obtenez le consentement, utilisez une pièce privée, proposez un accompagnant, et ne découvrez que le temps nécessaire.</a:t>
            </a:r>
            <a:endParaRPr lang="fr-FR" sz="1800" noProof="0" dirty="0"/>
          </a:p>
        </p:txBody>
      </p:sp>
      <p:sp>
        <p:nvSpPr>
          <p:cNvPr id="9" name="Shape 7"/>
          <p:cNvSpPr/>
          <p:nvPr/>
        </p:nvSpPr>
        <p:spPr>
          <a:xfrm>
            <a:off x="548640" y="2115312"/>
            <a:ext cx="11094415" cy="688848"/>
          </a:xfrm>
          <a:prstGeom prst="roundRect">
            <a:avLst>
              <a:gd name="adj" fmla="val 6637"/>
            </a:avLst>
          </a:prstGeom>
          <a:solidFill>
            <a:srgbClr val="F4F8FC"/>
          </a:solidFill>
          <a:ln w="12700">
            <a:solidFill>
              <a:srgbClr val="C8D8EC"/>
            </a:solidFill>
            <a:prstDash val="solid"/>
          </a:ln>
        </p:spPr>
        <p:txBody>
          <a:bodyPr/>
          <a:lstStyle/>
          <a:p>
            <a:endParaRPr lang="fr-FR" noProof="0" dirty="0"/>
          </a:p>
        </p:txBody>
      </p:sp>
      <p:sp>
        <p:nvSpPr>
          <p:cNvPr id="10" name="Shape 8"/>
          <p:cNvSpPr/>
          <p:nvPr/>
        </p:nvSpPr>
        <p:spPr>
          <a:xfrm>
            <a:off x="694944" y="2225040"/>
            <a:ext cx="932688" cy="469392"/>
          </a:xfrm>
          <a:prstGeom prst="roundRect">
            <a:avLst>
              <a:gd name="adj" fmla="val 9740"/>
            </a:avLst>
          </a:prstGeom>
          <a:solidFill>
            <a:srgbClr val="12315B"/>
          </a:solidFill>
          <a:ln/>
        </p:spPr>
        <p:txBody>
          <a:bodyPr/>
          <a:lstStyle/>
          <a:p>
            <a:endParaRPr lang="fr-FR" noProof="0" dirty="0"/>
          </a:p>
        </p:txBody>
      </p:sp>
      <p:sp>
        <p:nvSpPr>
          <p:cNvPr id="11" name="Text 9"/>
          <p:cNvSpPr txBox="1"/>
          <p:nvPr/>
        </p:nvSpPr>
        <p:spPr>
          <a:xfrm>
            <a:off x="694944" y="2225040"/>
            <a:ext cx="932688" cy="469392"/>
          </a:xfrm>
          <a:prstGeom prst="rect">
            <a:avLst/>
          </a:prstGeom>
          <a:noFill/>
          <a:ln/>
        </p:spPr>
        <p:txBody>
          <a:bodyPr wrap="square" lIns="0" tIns="0" rIns="0" bIns="0" rtlCol="0" anchor="ctr">
            <a:noAutofit/>
          </a:bodyPr>
          <a:lstStyle/>
          <a:p>
            <a:pPr marL="0" indent="0" algn="ctr">
              <a:buNone/>
            </a:pPr>
            <a:r>
              <a:rPr lang="fr-FR" sz="1218" b="1" noProof="0" dirty="0">
                <a:solidFill>
                  <a:srgbClr val="FFFFFF"/>
                </a:solidFill>
                <a:latin typeface="Calibri" pitchFamily="34" charset="0"/>
                <a:ea typeface="Calibri" pitchFamily="34" charset="-122"/>
                <a:cs typeface="Calibri" pitchFamily="34" charset="-120"/>
              </a:rPr>
              <a:t>Inspecter</a:t>
            </a:r>
            <a:endParaRPr lang="fr-FR" sz="1218" noProof="0" dirty="0"/>
          </a:p>
        </p:txBody>
      </p:sp>
      <p:sp>
        <p:nvSpPr>
          <p:cNvPr id="12" name="Text 10"/>
          <p:cNvSpPr txBox="1"/>
          <p:nvPr/>
        </p:nvSpPr>
        <p:spPr>
          <a:xfrm>
            <a:off x="1783080" y="2188464"/>
            <a:ext cx="9677095" cy="542544"/>
          </a:xfrm>
          <a:prstGeom prst="rect">
            <a:avLst/>
          </a:prstGeom>
          <a:noFill/>
          <a:ln/>
        </p:spPr>
        <p:txBody>
          <a:bodyPr wrap="square" lIns="0" tIns="0" rIns="0" bIns="0" rtlCol="0" anchor="ctr">
            <a:normAutofit fontScale="96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Assise, en trois positions : </a:t>
            </a:r>
            <a:r>
              <a:rPr lang="fr-FR" sz="1800" noProof="0" dirty="0">
                <a:solidFill>
                  <a:srgbClr val="0B1F3F"/>
                </a:solidFill>
                <a:latin typeface="Calibri" pitchFamily="34" charset="0"/>
                <a:ea typeface="Calibri" pitchFamily="34" charset="-122"/>
                <a:cs typeface="Calibri" pitchFamily="34" charset="-120"/>
              </a:rPr>
              <a:t>bras détendus, mains appuyées sur les hanches, puis bras levés. Comparez taille, forme, peau et mamelons des deux côtés.</a:t>
            </a:r>
            <a:endParaRPr lang="fr-FR" sz="1800" noProof="0" dirty="0"/>
          </a:p>
        </p:txBody>
      </p:sp>
      <p:sp>
        <p:nvSpPr>
          <p:cNvPr id="13" name="Shape 11"/>
          <p:cNvSpPr/>
          <p:nvPr/>
        </p:nvSpPr>
        <p:spPr>
          <a:xfrm>
            <a:off x="548640" y="2950464"/>
            <a:ext cx="11094415" cy="688848"/>
          </a:xfrm>
          <a:prstGeom prst="roundRect">
            <a:avLst>
              <a:gd name="adj" fmla="val 6637"/>
            </a:avLst>
          </a:prstGeom>
          <a:solidFill>
            <a:srgbClr val="F4F8FC"/>
          </a:solidFill>
          <a:ln w="12700">
            <a:solidFill>
              <a:srgbClr val="C8D8EC"/>
            </a:solidFill>
            <a:prstDash val="solid"/>
          </a:ln>
        </p:spPr>
        <p:txBody>
          <a:bodyPr/>
          <a:lstStyle/>
          <a:p>
            <a:endParaRPr lang="fr-FR" noProof="0" dirty="0"/>
          </a:p>
        </p:txBody>
      </p:sp>
      <p:sp>
        <p:nvSpPr>
          <p:cNvPr id="14" name="Shape 12"/>
          <p:cNvSpPr/>
          <p:nvPr/>
        </p:nvSpPr>
        <p:spPr>
          <a:xfrm>
            <a:off x="694944" y="3060192"/>
            <a:ext cx="932688" cy="469392"/>
          </a:xfrm>
          <a:prstGeom prst="roundRect">
            <a:avLst>
              <a:gd name="adj" fmla="val 9740"/>
            </a:avLst>
          </a:prstGeom>
          <a:solidFill>
            <a:srgbClr val="12315B"/>
          </a:solidFill>
          <a:ln/>
        </p:spPr>
        <p:txBody>
          <a:bodyPr/>
          <a:lstStyle/>
          <a:p>
            <a:endParaRPr lang="fr-FR" noProof="0" dirty="0"/>
          </a:p>
        </p:txBody>
      </p:sp>
      <p:sp>
        <p:nvSpPr>
          <p:cNvPr id="15" name="Text 13"/>
          <p:cNvSpPr txBox="1"/>
          <p:nvPr/>
        </p:nvSpPr>
        <p:spPr>
          <a:xfrm>
            <a:off x="694944" y="3060192"/>
            <a:ext cx="932688" cy="469392"/>
          </a:xfrm>
          <a:prstGeom prst="rect">
            <a:avLst/>
          </a:prstGeom>
          <a:noFill/>
          <a:ln/>
        </p:spPr>
        <p:txBody>
          <a:bodyPr wrap="square" lIns="0" tIns="0" rIns="0" bIns="0" rtlCol="0" anchor="ctr">
            <a:noAutofit/>
          </a:bodyPr>
          <a:lstStyle/>
          <a:p>
            <a:pPr marL="0" indent="0" algn="ctr">
              <a:buNone/>
            </a:pPr>
            <a:r>
              <a:rPr lang="fr-FR" sz="1218" b="1" noProof="0" dirty="0">
                <a:solidFill>
                  <a:srgbClr val="FFFFFF"/>
                </a:solidFill>
                <a:latin typeface="Calibri" pitchFamily="34" charset="0"/>
                <a:ea typeface="Calibri" pitchFamily="34" charset="-122"/>
                <a:cs typeface="Calibri" pitchFamily="34" charset="-120"/>
              </a:rPr>
              <a:t>Ganglions</a:t>
            </a:r>
            <a:endParaRPr lang="fr-FR" sz="1218" noProof="0" dirty="0"/>
          </a:p>
        </p:txBody>
      </p:sp>
      <p:sp>
        <p:nvSpPr>
          <p:cNvPr id="16" name="Text 14"/>
          <p:cNvSpPr txBox="1"/>
          <p:nvPr/>
        </p:nvSpPr>
        <p:spPr>
          <a:xfrm>
            <a:off x="1783080" y="3023616"/>
            <a:ext cx="9677095" cy="542544"/>
          </a:xfrm>
          <a:prstGeom prst="rect">
            <a:avLst/>
          </a:prstGeom>
          <a:noFill/>
          <a:ln/>
        </p:spPr>
        <p:txBody>
          <a:bodyPr wrap="square" lIns="0" tIns="0" rIns="0" bIns="0" rtlCol="0" anchor="ctr">
            <a:normAutofit fontScale="96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Assise, des deux côtés : </a:t>
            </a:r>
            <a:r>
              <a:rPr lang="fr-FR" sz="1800" noProof="0" dirty="0">
                <a:solidFill>
                  <a:srgbClr val="0B1F3F"/>
                </a:solidFill>
                <a:latin typeface="Calibri" pitchFamily="34" charset="0"/>
                <a:ea typeface="Calibri" pitchFamily="34" charset="-122"/>
                <a:cs typeface="Calibri" pitchFamily="34" charset="-120"/>
              </a:rPr>
              <a:t>ganglions cervicaux, </a:t>
            </a:r>
            <a:r>
              <a:rPr lang="fr-FR" sz="1800" noProof="0" dirty="0" err="1">
                <a:solidFill>
                  <a:srgbClr val="0B1F3F"/>
                </a:solidFill>
                <a:latin typeface="Calibri" pitchFamily="34" charset="0"/>
                <a:ea typeface="Calibri" pitchFamily="34" charset="-122"/>
                <a:cs typeface="Calibri" pitchFamily="34" charset="-120"/>
              </a:rPr>
              <a:t>sus-claviculaires</a:t>
            </a:r>
            <a:r>
              <a:rPr lang="fr-FR" sz="1800" noProof="0" dirty="0">
                <a:solidFill>
                  <a:srgbClr val="0B1F3F"/>
                </a:solidFill>
                <a:latin typeface="Calibri" pitchFamily="34" charset="0"/>
                <a:ea typeface="Calibri" pitchFamily="34" charset="-122"/>
                <a:cs typeface="Calibri" pitchFamily="34" charset="-120"/>
              </a:rPr>
              <a:t>, sous-claviculaires et axillaires, son bras reposant sur votre épaule.</a:t>
            </a:r>
            <a:endParaRPr lang="fr-FR" sz="1800" noProof="0" dirty="0"/>
          </a:p>
        </p:txBody>
      </p:sp>
      <p:sp>
        <p:nvSpPr>
          <p:cNvPr id="17" name="Shape 15"/>
          <p:cNvSpPr/>
          <p:nvPr/>
        </p:nvSpPr>
        <p:spPr>
          <a:xfrm>
            <a:off x="548640" y="3785616"/>
            <a:ext cx="11094415" cy="688848"/>
          </a:xfrm>
          <a:prstGeom prst="roundRect">
            <a:avLst>
              <a:gd name="adj" fmla="val 6637"/>
            </a:avLst>
          </a:prstGeom>
          <a:solidFill>
            <a:srgbClr val="F4F8FC"/>
          </a:solidFill>
          <a:ln w="12700">
            <a:solidFill>
              <a:srgbClr val="C8D8EC"/>
            </a:solidFill>
            <a:prstDash val="solid"/>
          </a:ln>
        </p:spPr>
        <p:txBody>
          <a:bodyPr/>
          <a:lstStyle/>
          <a:p>
            <a:endParaRPr lang="fr-FR" noProof="0" dirty="0"/>
          </a:p>
        </p:txBody>
      </p:sp>
      <p:sp>
        <p:nvSpPr>
          <p:cNvPr id="18" name="Shape 16"/>
          <p:cNvSpPr/>
          <p:nvPr/>
        </p:nvSpPr>
        <p:spPr>
          <a:xfrm>
            <a:off x="694944" y="3895344"/>
            <a:ext cx="932688" cy="469392"/>
          </a:xfrm>
          <a:prstGeom prst="roundRect">
            <a:avLst>
              <a:gd name="adj" fmla="val 9740"/>
            </a:avLst>
          </a:prstGeom>
          <a:solidFill>
            <a:srgbClr val="12315B"/>
          </a:solidFill>
          <a:ln/>
        </p:spPr>
        <p:txBody>
          <a:bodyPr/>
          <a:lstStyle/>
          <a:p>
            <a:endParaRPr lang="fr-FR" noProof="0" dirty="0"/>
          </a:p>
        </p:txBody>
      </p:sp>
      <p:sp>
        <p:nvSpPr>
          <p:cNvPr id="19" name="Text 17"/>
          <p:cNvSpPr txBox="1"/>
          <p:nvPr/>
        </p:nvSpPr>
        <p:spPr>
          <a:xfrm>
            <a:off x="694944" y="3895344"/>
            <a:ext cx="932688" cy="469392"/>
          </a:xfrm>
          <a:prstGeom prst="rect">
            <a:avLst/>
          </a:prstGeom>
          <a:noFill/>
          <a:ln/>
        </p:spPr>
        <p:txBody>
          <a:bodyPr wrap="square" lIns="0" tIns="0" rIns="0" bIns="0" rtlCol="0" anchor="ctr">
            <a:noAutofit/>
          </a:bodyPr>
          <a:lstStyle/>
          <a:p>
            <a:pPr marL="0" indent="0" algn="ctr">
              <a:buNone/>
            </a:pPr>
            <a:r>
              <a:rPr lang="fr-FR" sz="1218" b="1" noProof="0" dirty="0">
                <a:solidFill>
                  <a:srgbClr val="FFFFFF"/>
                </a:solidFill>
                <a:latin typeface="Calibri" pitchFamily="34" charset="0"/>
                <a:ea typeface="Calibri" pitchFamily="34" charset="-122"/>
                <a:cs typeface="Calibri" pitchFamily="34" charset="-120"/>
              </a:rPr>
              <a:t>Palper</a:t>
            </a:r>
            <a:endParaRPr lang="fr-FR" sz="1218" noProof="0" dirty="0"/>
          </a:p>
        </p:txBody>
      </p:sp>
      <p:sp>
        <p:nvSpPr>
          <p:cNvPr id="20" name="Text 18"/>
          <p:cNvSpPr txBox="1"/>
          <p:nvPr/>
        </p:nvSpPr>
        <p:spPr>
          <a:xfrm>
            <a:off x="1783080" y="3858768"/>
            <a:ext cx="9677095" cy="542544"/>
          </a:xfrm>
          <a:prstGeom prst="rect">
            <a:avLst/>
          </a:prstGeom>
          <a:noFill/>
          <a:ln/>
        </p:spPr>
        <p:txBody>
          <a:bodyPr wrap="square" lIns="0" tIns="0" rIns="0" bIns="0" rtlCol="0" anchor="ctr">
            <a:normAutofit fontScale="96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Allongée, bras au-dessus de la tête : </a:t>
            </a:r>
            <a:r>
              <a:rPr lang="fr-FR" sz="1800" noProof="0" dirty="0">
                <a:solidFill>
                  <a:srgbClr val="0B1F3F"/>
                </a:solidFill>
                <a:latin typeface="Calibri" pitchFamily="34" charset="0"/>
                <a:ea typeface="Calibri" pitchFamily="34" charset="-122"/>
                <a:cs typeface="Calibri" pitchFamily="34" charset="-120"/>
              </a:rPr>
              <a:t>pulpe de trois doigts, petits cercles, trois niveaux de pression, en bandes verticales sur tout le sein et le prolongement axillaire.</a:t>
            </a:r>
            <a:endParaRPr lang="fr-FR" sz="1800" noProof="0" dirty="0"/>
          </a:p>
        </p:txBody>
      </p:sp>
      <p:sp>
        <p:nvSpPr>
          <p:cNvPr id="21" name="Shape 19"/>
          <p:cNvSpPr/>
          <p:nvPr/>
        </p:nvSpPr>
        <p:spPr>
          <a:xfrm>
            <a:off x="548640" y="4620768"/>
            <a:ext cx="11094415" cy="688848"/>
          </a:xfrm>
          <a:prstGeom prst="roundRect">
            <a:avLst>
              <a:gd name="adj" fmla="val 6637"/>
            </a:avLst>
          </a:prstGeom>
          <a:solidFill>
            <a:srgbClr val="F4F8FC"/>
          </a:solidFill>
          <a:ln w="12700">
            <a:solidFill>
              <a:srgbClr val="C8D8EC"/>
            </a:solidFill>
            <a:prstDash val="solid"/>
          </a:ln>
        </p:spPr>
        <p:txBody>
          <a:bodyPr/>
          <a:lstStyle/>
          <a:p>
            <a:endParaRPr lang="fr-FR" noProof="0" dirty="0"/>
          </a:p>
        </p:txBody>
      </p:sp>
      <p:sp>
        <p:nvSpPr>
          <p:cNvPr id="22" name="Shape 20"/>
          <p:cNvSpPr/>
          <p:nvPr/>
        </p:nvSpPr>
        <p:spPr>
          <a:xfrm>
            <a:off x="694944" y="4730496"/>
            <a:ext cx="932688" cy="469392"/>
          </a:xfrm>
          <a:prstGeom prst="roundRect">
            <a:avLst>
              <a:gd name="adj" fmla="val 9740"/>
            </a:avLst>
          </a:prstGeom>
          <a:solidFill>
            <a:srgbClr val="12315B"/>
          </a:solidFill>
          <a:ln/>
        </p:spPr>
        <p:txBody>
          <a:bodyPr/>
          <a:lstStyle/>
          <a:p>
            <a:endParaRPr lang="fr-FR" noProof="0" dirty="0"/>
          </a:p>
        </p:txBody>
      </p:sp>
      <p:sp>
        <p:nvSpPr>
          <p:cNvPr id="23" name="Text 21"/>
          <p:cNvSpPr txBox="1"/>
          <p:nvPr/>
        </p:nvSpPr>
        <p:spPr>
          <a:xfrm>
            <a:off x="694944" y="4730496"/>
            <a:ext cx="932688" cy="469392"/>
          </a:xfrm>
          <a:prstGeom prst="rect">
            <a:avLst/>
          </a:prstGeom>
          <a:noFill/>
          <a:ln/>
        </p:spPr>
        <p:txBody>
          <a:bodyPr wrap="square" lIns="0" tIns="0" rIns="0" bIns="0" rtlCol="0" anchor="ctr">
            <a:noAutofit/>
          </a:bodyPr>
          <a:lstStyle/>
          <a:p>
            <a:pPr marL="0" indent="0" algn="ctr">
              <a:buNone/>
            </a:pPr>
            <a:r>
              <a:rPr lang="fr-FR" sz="1218" b="1" noProof="0" dirty="0">
                <a:solidFill>
                  <a:srgbClr val="FFFFFF"/>
                </a:solidFill>
                <a:latin typeface="Calibri" pitchFamily="34" charset="0"/>
                <a:ea typeface="Calibri" pitchFamily="34" charset="-122"/>
                <a:cs typeface="Calibri" pitchFamily="34" charset="-120"/>
              </a:rPr>
              <a:t>Décrire</a:t>
            </a:r>
            <a:endParaRPr lang="fr-FR" sz="1218" noProof="0" dirty="0"/>
          </a:p>
        </p:txBody>
      </p:sp>
      <p:sp>
        <p:nvSpPr>
          <p:cNvPr id="24" name="Text 22"/>
          <p:cNvSpPr txBox="1"/>
          <p:nvPr/>
        </p:nvSpPr>
        <p:spPr>
          <a:xfrm>
            <a:off x="1783080" y="4693920"/>
            <a:ext cx="9677095" cy="542544"/>
          </a:xfrm>
          <a:prstGeom prst="rect">
            <a:avLst/>
          </a:prstGeom>
          <a:noFill/>
          <a:ln/>
        </p:spPr>
        <p:txBody>
          <a:bodyPr wrap="square" lIns="0" tIns="0" rIns="0" bIns="0" rtlCol="0" anchor="ctr">
            <a:normAutofit fontScale="96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Toute constatation : </a:t>
            </a:r>
            <a:r>
              <a:rPr lang="fr-FR" sz="1800" noProof="0" dirty="0">
                <a:solidFill>
                  <a:srgbClr val="0B1F3F"/>
                </a:solidFill>
                <a:latin typeface="Calibri" pitchFamily="34" charset="0"/>
                <a:ea typeface="Calibri" pitchFamily="34" charset="-122"/>
                <a:cs typeface="Calibri" pitchFamily="34" charset="-120"/>
              </a:rPr>
              <a:t>côté, heure et distance au mamelon, taille, forme, consistance, contours, mobilité et sensibilité.</a:t>
            </a:r>
            <a:endParaRPr lang="fr-FR" sz="1800" noProof="0" dirty="0"/>
          </a:p>
        </p:txBody>
      </p:sp>
      <p:sp>
        <p:nvSpPr>
          <p:cNvPr id="25" name="Shape 23"/>
          <p:cNvSpPr/>
          <p:nvPr/>
        </p:nvSpPr>
        <p:spPr>
          <a:xfrm>
            <a:off x="548640" y="5455920"/>
            <a:ext cx="11094415" cy="688848"/>
          </a:xfrm>
          <a:prstGeom prst="roundRect">
            <a:avLst>
              <a:gd name="adj" fmla="val 6637"/>
            </a:avLst>
          </a:prstGeom>
          <a:solidFill>
            <a:srgbClr val="F4F8FC"/>
          </a:solidFill>
          <a:ln w="12700">
            <a:solidFill>
              <a:srgbClr val="C8D8EC"/>
            </a:solidFill>
            <a:prstDash val="solid"/>
          </a:ln>
        </p:spPr>
        <p:txBody>
          <a:bodyPr/>
          <a:lstStyle/>
          <a:p>
            <a:endParaRPr lang="fr-FR" noProof="0" dirty="0"/>
          </a:p>
        </p:txBody>
      </p:sp>
      <p:sp>
        <p:nvSpPr>
          <p:cNvPr id="26" name="Shape 24"/>
          <p:cNvSpPr/>
          <p:nvPr/>
        </p:nvSpPr>
        <p:spPr>
          <a:xfrm>
            <a:off x="694944" y="5565648"/>
            <a:ext cx="932688" cy="469392"/>
          </a:xfrm>
          <a:prstGeom prst="roundRect">
            <a:avLst>
              <a:gd name="adj" fmla="val 9740"/>
            </a:avLst>
          </a:prstGeom>
          <a:solidFill>
            <a:srgbClr val="12315B"/>
          </a:solidFill>
          <a:ln/>
        </p:spPr>
        <p:txBody>
          <a:bodyPr/>
          <a:lstStyle/>
          <a:p>
            <a:endParaRPr lang="fr-FR" noProof="0" dirty="0"/>
          </a:p>
        </p:txBody>
      </p:sp>
      <p:sp>
        <p:nvSpPr>
          <p:cNvPr id="27" name="Text 25"/>
          <p:cNvSpPr txBox="1"/>
          <p:nvPr/>
        </p:nvSpPr>
        <p:spPr>
          <a:xfrm>
            <a:off x="694944" y="5565648"/>
            <a:ext cx="932688" cy="469392"/>
          </a:xfrm>
          <a:prstGeom prst="rect">
            <a:avLst/>
          </a:prstGeom>
          <a:noFill/>
          <a:ln/>
        </p:spPr>
        <p:txBody>
          <a:bodyPr wrap="square" lIns="0" tIns="0" rIns="0" bIns="0" rtlCol="0" anchor="ctr">
            <a:noAutofit/>
          </a:bodyPr>
          <a:lstStyle/>
          <a:p>
            <a:pPr marL="0" indent="0" algn="ctr">
              <a:buNone/>
            </a:pPr>
            <a:r>
              <a:rPr lang="fr-FR" sz="1218" b="1" noProof="0" dirty="0">
                <a:solidFill>
                  <a:srgbClr val="FFFFFF"/>
                </a:solidFill>
                <a:latin typeface="Calibri" pitchFamily="34" charset="0"/>
                <a:ea typeface="Calibri" pitchFamily="34" charset="-122"/>
                <a:cs typeface="Calibri" pitchFamily="34" charset="-120"/>
              </a:rPr>
              <a:t>Consigner</a:t>
            </a:r>
            <a:endParaRPr lang="fr-FR" sz="1218" noProof="0" dirty="0"/>
          </a:p>
        </p:txBody>
      </p:sp>
      <p:sp>
        <p:nvSpPr>
          <p:cNvPr id="28" name="Text 26"/>
          <p:cNvSpPr txBox="1"/>
          <p:nvPr/>
        </p:nvSpPr>
        <p:spPr>
          <a:xfrm>
            <a:off x="1783080" y="5529072"/>
            <a:ext cx="9677095" cy="542544"/>
          </a:xfrm>
          <a:prstGeom prst="rect">
            <a:avLst/>
          </a:prstGeom>
          <a:noFill/>
          <a:ln/>
        </p:spPr>
        <p:txBody>
          <a:bodyPr wrap="square" lIns="0" tIns="0" rIns="0" bIns="0" rtlCol="0" anchor="ctr">
            <a:normAutofit fontScale="965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Constatations et suite : </a:t>
            </a:r>
            <a:r>
              <a:rPr lang="fr-FR" sz="1800" noProof="0" dirty="0">
                <a:solidFill>
                  <a:srgbClr val="0B1F3F"/>
                </a:solidFill>
                <a:latin typeface="Calibri" pitchFamily="34" charset="0"/>
                <a:ea typeface="Calibri" pitchFamily="34" charset="-122"/>
                <a:cs typeface="Calibri" pitchFamily="34" charset="-120"/>
              </a:rPr>
              <a:t>notez ce que vous avez trouvé, y compris un examen normal, et l’action prise, puis expliquez la suite.</a:t>
            </a:r>
            <a:endParaRPr lang="fr-FR" sz="1800" noProof="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 16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169" name="Text 16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Avant d’examiner : six questions à poser</a:t>
            </a:r>
            <a:endParaRPr lang="fr-FR" sz="1800" dirty="0"/>
          </a:p>
        </p:txBody>
      </p:sp>
      <p:sp>
        <p:nvSpPr>
          <p:cNvPr id="170" name="Text 17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154" name="Shape 154"/>
          <p:cNvSpPr/>
          <p:nvPr/>
        </p:nvSpPr>
        <p:spPr>
          <a:xfrm>
            <a:off x="548640"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55" name="Text 155"/>
          <p:cNvSpPr txBox="1"/>
          <p:nvPr/>
        </p:nvSpPr>
        <p:spPr>
          <a:xfrm>
            <a:off x="713232"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Depuis quand ?</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Quand a-t-elle remarqué le changement, et a-t-il évolué depuis ?</a:t>
            </a:r>
            <a:endParaRPr lang="fr-FR" sz="1800" dirty="0"/>
          </a:p>
        </p:txBody>
      </p:sp>
      <p:sp>
        <p:nvSpPr>
          <p:cNvPr id="156" name="Shape 156"/>
          <p:cNvSpPr/>
          <p:nvPr/>
        </p:nvSpPr>
        <p:spPr>
          <a:xfrm>
            <a:off x="4332122"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57" name="Text 157"/>
          <p:cNvSpPr txBox="1"/>
          <p:nvPr/>
        </p:nvSpPr>
        <p:spPr>
          <a:xfrm>
            <a:off x="4496714"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Autres symptômes ?</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Douleur, écoulement du mamelon, changement de la peau, fièvre ou boule dans l’aisselle ?</a:t>
            </a:r>
            <a:endParaRPr lang="fr-FR" sz="1800" dirty="0"/>
          </a:p>
        </p:txBody>
      </p:sp>
      <p:sp>
        <p:nvSpPr>
          <p:cNvPr id="158" name="Shape 158"/>
          <p:cNvSpPr/>
          <p:nvPr/>
        </p:nvSpPr>
        <p:spPr>
          <a:xfrm>
            <a:off x="8115604"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59" name="Text 159"/>
          <p:cNvSpPr txBox="1"/>
          <p:nvPr/>
        </p:nvSpPr>
        <p:spPr>
          <a:xfrm>
            <a:off x="8280196"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Enceinte ou allaitante ?</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Et le changement varie-t-il avec le cycle menstruel ?</a:t>
            </a:r>
            <a:endParaRPr lang="fr-FR" sz="1800" dirty="0"/>
          </a:p>
        </p:txBody>
      </p:sp>
      <p:sp>
        <p:nvSpPr>
          <p:cNvPr id="160" name="Shape 160"/>
          <p:cNvSpPr/>
          <p:nvPr/>
        </p:nvSpPr>
        <p:spPr>
          <a:xfrm>
            <a:off x="548640"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61" name="Text 161"/>
          <p:cNvSpPr txBox="1"/>
          <p:nvPr/>
        </p:nvSpPr>
        <p:spPr>
          <a:xfrm>
            <a:off x="713232"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Problèmes mammaires antérieurs ?</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Est-ce déjà arrivé, ou a-t-elle été traitée pour ce problème ou un autre ?</a:t>
            </a:r>
            <a:endParaRPr lang="fr-FR" sz="1800" dirty="0"/>
          </a:p>
        </p:txBody>
      </p:sp>
      <p:sp>
        <p:nvSpPr>
          <p:cNvPr id="162" name="Shape 162"/>
          <p:cNvSpPr/>
          <p:nvPr/>
        </p:nvSpPr>
        <p:spPr>
          <a:xfrm>
            <a:off x="4332122"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63" name="Text 163"/>
          <p:cNvSpPr txBox="1"/>
          <p:nvPr/>
        </p:nvSpPr>
        <p:spPr>
          <a:xfrm>
            <a:off x="4496714"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Cancer du sein antérieur ?</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A-t-elle déjà été traitée pour un cancer du sein ?</a:t>
            </a:r>
            <a:endParaRPr lang="fr-FR" sz="1800" dirty="0"/>
          </a:p>
        </p:txBody>
      </p:sp>
      <p:sp>
        <p:nvSpPr>
          <p:cNvPr id="164" name="Shape 164"/>
          <p:cNvSpPr/>
          <p:nvPr/>
        </p:nvSpPr>
        <p:spPr>
          <a:xfrm>
            <a:off x="8115604"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65" name="Text 165"/>
          <p:cNvSpPr txBox="1"/>
          <p:nvPr/>
        </p:nvSpPr>
        <p:spPr>
          <a:xfrm>
            <a:off x="8280196"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Antécédents familiaux ?</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Cancer du sein ou de l’ovaire chez des proches, et à quel âge ?</a:t>
            </a:r>
            <a:endParaRPr lang="fr-FR" sz="1800" dirty="0"/>
          </a:p>
        </p:txBody>
      </p:sp>
      <p:sp>
        <p:nvSpPr>
          <p:cNvPr id="166" name="Shape 166"/>
          <p:cNvSpPr/>
          <p:nvPr/>
        </p:nvSpPr>
        <p:spPr>
          <a:xfrm>
            <a:off x="548640" y="5140000"/>
            <a:ext cx="11094415" cy="100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fr-FR" dirty="0"/>
          </a:p>
        </p:txBody>
      </p:sp>
      <p:sp>
        <p:nvSpPr>
          <p:cNvPr id="167" name="Text 167"/>
          <p:cNvSpPr txBox="1"/>
          <p:nvPr/>
        </p:nvSpPr>
        <p:spPr>
          <a:xfrm>
            <a:off x="713232" y="5190000"/>
            <a:ext cx="10765231" cy="900000"/>
          </a:xfrm>
          <a:prstGeom prst="rect">
            <a:avLst/>
          </a:prstGeom>
          <a:noFill/>
          <a:ln/>
        </p:spPr>
        <p:txBody>
          <a:bodyPr wrap="square" lIns="0" tIns="0" rIns="0" bIns="0" rtlCol="0" anchor="ctr"/>
          <a:lstStyle/>
          <a:p>
            <a:pPr marL="0" indent="0" algn="l">
              <a:lnSpc>
                <a:spcPct val="95000"/>
              </a:lnSpc>
              <a:buNone/>
            </a:pPr>
            <a:r>
              <a:rPr lang="fr-FR" sz="1800" dirty="0">
                <a:solidFill>
                  <a:srgbClr val="0B1F3F"/>
                </a:solidFill>
                <a:latin typeface="Calibri" pitchFamily="34" charset="0"/>
                <a:ea typeface="Calibri" pitchFamily="34" charset="-122"/>
                <a:cs typeface="Calibri" pitchFamily="34" charset="-120"/>
              </a:rPr>
              <a:t>📋 Notez la date à laquelle elle a remarqué le changement et la date de la consultation. Ensemble, elles mesurent le retard au diagnostic.</a:t>
            </a:r>
            <a:endParaRPr lang="fr-FR"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 17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179" name="Text 17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Connaître le terrain : limites et quadrants</a:t>
            </a:r>
            <a:endParaRPr lang="fr-FR" sz="1800" dirty="0"/>
          </a:p>
        </p:txBody>
      </p:sp>
      <p:sp>
        <p:nvSpPr>
          <p:cNvPr id="180" name="Text 18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171" name="Shape 171"/>
          <p:cNvSpPr/>
          <p:nvPr/>
        </p:nvSpPr>
        <p:spPr>
          <a:xfrm>
            <a:off x="548640" y="1215000"/>
            <a:ext cx="6650000" cy="17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72" name="Text 172"/>
          <p:cNvSpPr txBox="1"/>
          <p:nvPr/>
        </p:nvSpPr>
        <p:spPr>
          <a:xfrm>
            <a:off x="713232" y="1333872"/>
            <a:ext cx="6320816" cy="149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Limites du sein</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En haut : la clavicule.  En bas : le sillon sous-mammaire.</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En dedans : le milieu du sternum.  En dehors : la ligne axillaire moyenne.</a:t>
            </a:r>
            <a:endParaRPr lang="fr-FR" sz="1800" dirty="0"/>
          </a:p>
        </p:txBody>
      </p:sp>
      <p:sp>
        <p:nvSpPr>
          <p:cNvPr id="173" name="Shape 173"/>
          <p:cNvSpPr/>
          <p:nvPr/>
        </p:nvSpPr>
        <p:spPr>
          <a:xfrm>
            <a:off x="548640" y="3035000"/>
            <a:ext cx="6650000" cy="13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74" name="Text 174"/>
          <p:cNvSpPr txBox="1"/>
          <p:nvPr/>
        </p:nvSpPr>
        <p:spPr>
          <a:xfrm>
            <a:off x="713232" y="3153872"/>
            <a:ext cx="6320816" cy="109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Le prolongement axillaire</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Le tissu mammaire remonte dans l’aisselle. Incluez-le à chaque examen.</a:t>
            </a:r>
            <a:endParaRPr lang="fr-FR" sz="1800" dirty="0"/>
          </a:p>
        </p:txBody>
      </p:sp>
      <p:sp>
        <p:nvSpPr>
          <p:cNvPr id="175" name="Shape 175"/>
          <p:cNvSpPr/>
          <p:nvPr/>
        </p:nvSpPr>
        <p:spPr>
          <a:xfrm>
            <a:off x="548640" y="4455000"/>
            <a:ext cx="6650000" cy="17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76" name="Text 176"/>
          <p:cNvSpPr txBox="1"/>
          <p:nvPr/>
        </p:nvSpPr>
        <p:spPr>
          <a:xfrm>
            <a:off x="713232" y="4573872"/>
            <a:ext cx="6320816" cy="149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Six zones à nommer</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Quadrants </a:t>
            </a:r>
            <a:r>
              <a:rPr lang="fr-FR" sz="1800" dirty="0" err="1">
                <a:solidFill>
                  <a:srgbClr val="0B1F3F"/>
                </a:solidFill>
                <a:latin typeface="Calibri" pitchFamily="34" charset="0"/>
                <a:ea typeface="Calibri" pitchFamily="34" charset="-122"/>
                <a:cs typeface="Calibri" pitchFamily="34" charset="-120"/>
              </a:rPr>
              <a:t>supéro</a:t>
            </a:r>
            <a:r>
              <a:rPr lang="fr-FR" sz="1800" dirty="0">
                <a:solidFill>
                  <a:srgbClr val="0B1F3F"/>
                </a:solidFill>
                <a:latin typeface="Calibri" pitchFamily="34" charset="0"/>
                <a:ea typeface="Calibri" pitchFamily="34" charset="-122"/>
                <a:cs typeface="Calibri" pitchFamily="34" charset="-120"/>
              </a:rPr>
              <a:t>-externe, </a:t>
            </a:r>
            <a:r>
              <a:rPr lang="fr-FR" sz="1800" dirty="0" err="1">
                <a:solidFill>
                  <a:srgbClr val="0B1F3F"/>
                </a:solidFill>
                <a:latin typeface="Calibri" pitchFamily="34" charset="0"/>
                <a:ea typeface="Calibri" pitchFamily="34" charset="-122"/>
                <a:cs typeface="Calibri" pitchFamily="34" charset="-120"/>
              </a:rPr>
              <a:t>supéro</a:t>
            </a:r>
            <a:r>
              <a:rPr lang="fr-FR" sz="1800" dirty="0">
                <a:solidFill>
                  <a:srgbClr val="0B1F3F"/>
                </a:solidFill>
                <a:latin typeface="Calibri" pitchFamily="34" charset="0"/>
                <a:ea typeface="Calibri" pitchFamily="34" charset="-122"/>
                <a:cs typeface="Calibri" pitchFamily="34" charset="-120"/>
              </a:rPr>
              <a:t>-interne, </a:t>
            </a:r>
            <a:r>
              <a:rPr lang="fr-FR" sz="1800" dirty="0" err="1">
                <a:solidFill>
                  <a:srgbClr val="0B1F3F"/>
                </a:solidFill>
                <a:latin typeface="Calibri" pitchFamily="34" charset="0"/>
                <a:ea typeface="Calibri" pitchFamily="34" charset="-122"/>
                <a:cs typeface="Calibri" pitchFamily="34" charset="-120"/>
              </a:rPr>
              <a:t>inféro</a:t>
            </a:r>
            <a:r>
              <a:rPr lang="fr-FR" sz="1800" dirty="0">
                <a:solidFill>
                  <a:srgbClr val="0B1F3F"/>
                </a:solidFill>
                <a:latin typeface="Calibri" pitchFamily="34" charset="0"/>
                <a:ea typeface="Calibri" pitchFamily="34" charset="-122"/>
                <a:cs typeface="Calibri" pitchFamily="34" charset="-120"/>
              </a:rPr>
              <a:t>-interne et </a:t>
            </a:r>
            <a:r>
              <a:rPr lang="fr-FR" sz="1800" dirty="0" err="1">
                <a:solidFill>
                  <a:srgbClr val="0B1F3F"/>
                </a:solidFill>
                <a:latin typeface="Calibri" pitchFamily="34" charset="0"/>
                <a:ea typeface="Calibri" pitchFamily="34" charset="-122"/>
                <a:cs typeface="Calibri" pitchFamily="34" charset="-120"/>
              </a:rPr>
              <a:t>inféro</a:t>
            </a:r>
            <a:r>
              <a:rPr lang="fr-FR" sz="1800" dirty="0">
                <a:solidFill>
                  <a:srgbClr val="0B1F3F"/>
                </a:solidFill>
                <a:latin typeface="Calibri" pitchFamily="34" charset="0"/>
                <a:ea typeface="Calibri" pitchFamily="34" charset="-122"/>
                <a:cs typeface="Calibri" pitchFamily="34" charset="-120"/>
              </a:rPr>
              <a:t>-externe ; le mamelon et l’aréole ; le prolongement axillaire.</a:t>
            </a:r>
            <a:endParaRPr lang="fr-FR" sz="1800" dirty="0"/>
          </a:p>
        </p:txBody>
      </p:sp>
      <p:pic>
        <p:nvPicPr>
          <p:cNvPr id="4" name="Imagen 3">
            <a:extLst>
              <a:ext uri="{FF2B5EF4-FFF2-40B4-BE49-F238E27FC236}">
                <a16:creationId xmlns:a16="http://schemas.microsoft.com/office/drawing/2014/main" id="{542297D6-5716-3EA4-15F5-F04DA529B2CC}"/>
              </a:ext>
            </a:extLst>
          </p:cNvPr>
          <p:cNvPicPr>
            <a:picLocks noChangeAspect="1"/>
          </p:cNvPicPr>
          <p:nvPr/>
        </p:nvPicPr>
        <p:blipFill>
          <a:blip r:embed="rId2"/>
          <a:stretch>
            <a:fillRect/>
          </a:stretch>
        </p:blipFill>
        <p:spPr>
          <a:xfrm>
            <a:off x="7420408" y="1144872"/>
            <a:ext cx="4359807" cy="5086441"/>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 191"/>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192" name="Text 192"/>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Décrire la localisation : le cadran horaire</a:t>
            </a:r>
            <a:endParaRPr lang="fr-FR" sz="1800" dirty="0"/>
          </a:p>
        </p:txBody>
      </p:sp>
      <p:sp>
        <p:nvSpPr>
          <p:cNvPr id="193" name="Text 193"/>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181" name="Text 181"/>
          <p:cNvSpPr txBox="1"/>
          <p:nvPr/>
        </p:nvSpPr>
        <p:spPr>
          <a:xfrm>
            <a:off x="548640" y="1215000"/>
            <a:ext cx="11094415" cy="700000"/>
          </a:xfrm>
          <a:prstGeom prst="rect">
            <a:avLst/>
          </a:prstGeom>
          <a:noFill/>
          <a:ln/>
        </p:spPr>
        <p:txBody>
          <a:bodyPr wrap="square" lIns="0" tIns="0" rIns="0" bIns="0" rtlCol="0" anchor="t"/>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Imaginez un cadran d’horloge sur chaque sein lorsque vous êtes face à la personne : 12 h en haut, le mamelon au centre. Pour consigner vos constatations, indiquez le côté, la position horaire et la distance par rapport au mamelon, en centimètres.</a:t>
            </a:r>
            <a:endParaRPr lang="fr-FR" sz="1800" dirty="0"/>
          </a:p>
        </p:txBody>
      </p:sp>
      <p:sp>
        <p:nvSpPr>
          <p:cNvPr id="183" name="Shape 183"/>
          <p:cNvSpPr/>
          <p:nvPr/>
        </p:nvSpPr>
        <p:spPr>
          <a:xfrm>
            <a:off x="5948640" y="2020000"/>
            <a:ext cx="5694415" cy="1250000"/>
          </a:xfrm>
          <a:prstGeom prst="roundRect">
            <a:avLst>
              <a:gd name="adj" fmla="val 3500"/>
            </a:avLst>
          </a:prstGeom>
          <a:solidFill>
            <a:srgbClr val="FFF7E6"/>
          </a:solidFill>
          <a:ln w="12700">
            <a:solidFill>
              <a:srgbClr val="EFD3AA"/>
            </a:solidFill>
            <a:prstDash val="solid"/>
          </a:ln>
        </p:spPr>
        <p:txBody>
          <a:bodyPr wrap="square" lIns="91440" tIns="45720" rIns="91440" bIns="45720" rtlCol="0" anchor="ctr"/>
          <a:lstStyle/>
          <a:p>
            <a:endParaRPr lang="fr-FR" dirty="0"/>
          </a:p>
        </p:txBody>
      </p:sp>
      <p:sp>
        <p:nvSpPr>
          <p:cNvPr id="184" name="Text 184"/>
          <p:cNvSpPr txBox="1"/>
          <p:nvPr/>
        </p:nvSpPr>
        <p:spPr>
          <a:xfrm>
            <a:off x="6113232" y="2138872"/>
            <a:ext cx="5365231" cy="104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 </a:t>
            </a:r>
            <a:r>
              <a:rPr lang="fr-FR" b="1" dirty="0">
                <a:solidFill>
                  <a:srgbClr val="12315B"/>
                </a:solidFill>
                <a:latin typeface="Calibri" pitchFamily="34" charset="0"/>
                <a:ea typeface="Calibri" pitchFamily="34" charset="-122"/>
                <a:cs typeface="Calibri" pitchFamily="34" charset="-120"/>
              </a:rPr>
              <a:t>Exemples</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Observez l’image. Repérez l’emplacement de la masse A et de la masse B.</a:t>
            </a:r>
            <a:endParaRPr lang="fr-FR" sz="1800" dirty="0"/>
          </a:p>
        </p:txBody>
      </p:sp>
      <p:sp>
        <p:nvSpPr>
          <p:cNvPr id="185" name="Shape 185"/>
          <p:cNvSpPr/>
          <p:nvPr/>
        </p:nvSpPr>
        <p:spPr>
          <a:xfrm>
            <a:off x="5948640" y="3370000"/>
            <a:ext cx="2787207" cy="150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fr-FR" dirty="0"/>
          </a:p>
        </p:txBody>
      </p:sp>
      <p:sp>
        <p:nvSpPr>
          <p:cNvPr id="186" name="Text 186"/>
          <p:cNvSpPr txBox="1"/>
          <p:nvPr/>
        </p:nvSpPr>
        <p:spPr>
          <a:xfrm>
            <a:off x="6113232" y="3488872"/>
            <a:ext cx="2458023" cy="129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B6E4A"/>
                </a:solidFill>
                <a:latin typeface="Calibri" pitchFamily="34" charset="0"/>
                <a:ea typeface="Calibri" pitchFamily="34" charset="-122"/>
                <a:cs typeface="Calibri" pitchFamily="34" charset="-120"/>
              </a:rPr>
              <a:t>Masse A</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Sein droit, 10 h, à 3 cm du mamelon. Quadrant </a:t>
            </a:r>
            <a:r>
              <a:rPr lang="fr-FR" sz="1800" dirty="0" err="1">
                <a:solidFill>
                  <a:srgbClr val="0B1F3F"/>
                </a:solidFill>
                <a:latin typeface="Calibri" pitchFamily="34" charset="0"/>
                <a:ea typeface="Calibri" pitchFamily="34" charset="-122"/>
                <a:cs typeface="Calibri" pitchFamily="34" charset="-120"/>
              </a:rPr>
              <a:t>supéro</a:t>
            </a:r>
            <a:r>
              <a:rPr lang="fr-FR" sz="1800" dirty="0">
                <a:solidFill>
                  <a:srgbClr val="0B1F3F"/>
                </a:solidFill>
                <a:latin typeface="Calibri" pitchFamily="34" charset="0"/>
                <a:ea typeface="Calibri" pitchFamily="34" charset="-122"/>
                <a:cs typeface="Calibri" pitchFamily="34" charset="-120"/>
              </a:rPr>
              <a:t>-externe.</a:t>
            </a:r>
            <a:endParaRPr lang="fr-FR" sz="1800" dirty="0"/>
          </a:p>
        </p:txBody>
      </p:sp>
      <p:sp>
        <p:nvSpPr>
          <p:cNvPr id="187" name="Shape 187"/>
          <p:cNvSpPr/>
          <p:nvPr/>
        </p:nvSpPr>
        <p:spPr>
          <a:xfrm>
            <a:off x="8855847" y="3370000"/>
            <a:ext cx="2787207" cy="150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fr-FR" dirty="0"/>
          </a:p>
        </p:txBody>
      </p:sp>
      <p:sp>
        <p:nvSpPr>
          <p:cNvPr id="188" name="Text 188"/>
          <p:cNvSpPr txBox="1"/>
          <p:nvPr/>
        </p:nvSpPr>
        <p:spPr>
          <a:xfrm>
            <a:off x="9020439" y="3488872"/>
            <a:ext cx="2458023" cy="1290000"/>
          </a:xfrm>
          <a:prstGeom prst="rect">
            <a:avLst/>
          </a:prstGeom>
          <a:noFill/>
          <a:ln/>
        </p:spPr>
        <p:txBody>
          <a:bodyPr wrap="square" lIns="0" tIns="0" rIns="0" bIns="0" rtlCol="0" anchor="t"/>
          <a:lstStyle/>
          <a:p>
            <a:pPr marL="0" indent="0" algn="l">
              <a:lnSpc>
                <a:spcPct val="95000"/>
              </a:lnSpc>
              <a:spcAft>
                <a:spcPts val="400"/>
              </a:spcAft>
              <a:buNone/>
            </a:pPr>
            <a:r>
              <a:rPr lang="fr-FR" b="1" dirty="0">
                <a:solidFill>
                  <a:srgbClr val="1B6E4A"/>
                </a:solidFill>
                <a:latin typeface="Calibri" pitchFamily="34" charset="0"/>
                <a:ea typeface="Calibri" pitchFamily="34" charset="-122"/>
                <a:cs typeface="Calibri" pitchFamily="34" charset="-120"/>
              </a:rPr>
              <a:t>M</a:t>
            </a:r>
            <a:r>
              <a:rPr lang="fr-FR" sz="1800" b="1" dirty="0">
                <a:solidFill>
                  <a:srgbClr val="1B6E4A"/>
                </a:solidFill>
                <a:latin typeface="Calibri" pitchFamily="34" charset="0"/>
                <a:ea typeface="Calibri" pitchFamily="34" charset="-122"/>
                <a:cs typeface="Calibri" pitchFamily="34" charset="-120"/>
              </a:rPr>
              <a:t>asse B</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Sein gauche, 7 h, à 4 cm du mamelon. Quadrant </a:t>
            </a:r>
            <a:r>
              <a:rPr lang="fr-FR" sz="1800" dirty="0" err="1">
                <a:solidFill>
                  <a:srgbClr val="0B1F3F"/>
                </a:solidFill>
                <a:latin typeface="Calibri" pitchFamily="34" charset="0"/>
                <a:ea typeface="Calibri" pitchFamily="34" charset="-122"/>
                <a:cs typeface="Calibri" pitchFamily="34" charset="-120"/>
              </a:rPr>
              <a:t>inféro</a:t>
            </a:r>
            <a:r>
              <a:rPr lang="fr-FR" sz="1800" dirty="0">
                <a:solidFill>
                  <a:srgbClr val="0B1F3F"/>
                </a:solidFill>
                <a:latin typeface="Calibri" pitchFamily="34" charset="0"/>
                <a:ea typeface="Calibri" pitchFamily="34" charset="-122"/>
                <a:cs typeface="Calibri" pitchFamily="34" charset="-120"/>
              </a:rPr>
              <a:t>-interne.</a:t>
            </a:r>
            <a:endParaRPr lang="fr-FR" sz="1800" dirty="0"/>
          </a:p>
        </p:txBody>
      </p:sp>
      <p:sp>
        <p:nvSpPr>
          <p:cNvPr id="189" name="Shape 189"/>
          <p:cNvSpPr/>
          <p:nvPr/>
        </p:nvSpPr>
        <p:spPr>
          <a:xfrm>
            <a:off x="5948640" y="4970000"/>
            <a:ext cx="5694415" cy="12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90" name="Text 190"/>
          <p:cNvSpPr txBox="1"/>
          <p:nvPr/>
        </p:nvSpPr>
        <p:spPr>
          <a:xfrm>
            <a:off x="6113232" y="5088872"/>
            <a:ext cx="5365231" cy="990000"/>
          </a:xfrm>
          <a:prstGeom prst="rect">
            <a:avLst/>
          </a:prstGeom>
          <a:noFill/>
          <a:ln/>
        </p:spPr>
        <p:txBody>
          <a:bodyPr wrap="square" lIns="0" tIns="0" rIns="0" bIns="0" rtlCol="0" anchor="t"/>
          <a:lstStyle/>
          <a:p>
            <a:pPr marL="0" indent="0" algn="l">
              <a:lnSpc>
                <a:spcPct val="95000"/>
              </a:lnSpc>
              <a:spcAft>
                <a:spcPts val="300"/>
              </a:spcAft>
              <a:buNone/>
            </a:pPr>
            <a:r>
              <a:rPr lang="fr-FR" sz="1600" dirty="0">
                <a:solidFill>
                  <a:srgbClr val="0B1F3F"/>
                </a:solidFill>
                <a:latin typeface="Calibri" pitchFamily="34" charset="0"/>
                <a:ea typeface="Calibri" pitchFamily="34" charset="-122"/>
                <a:cs typeface="Calibri" pitchFamily="34" charset="-120"/>
              </a:rPr>
              <a:t>Face à la personne, une même heure correspond à un quadrant différent de chaque côté. L’heure et la distance permettent au clinicien suivant de retrouver le même endroit.</a:t>
            </a:r>
            <a:endParaRPr lang="fr-FR" sz="1600" dirty="0"/>
          </a:p>
        </p:txBody>
      </p:sp>
      <p:pic>
        <p:nvPicPr>
          <p:cNvPr id="3" name="Imagen 2">
            <a:extLst>
              <a:ext uri="{FF2B5EF4-FFF2-40B4-BE49-F238E27FC236}">
                <a16:creationId xmlns:a16="http://schemas.microsoft.com/office/drawing/2014/main" id="{D800D5C7-A04E-D808-1613-1FFBE455B30D}"/>
              </a:ext>
            </a:extLst>
          </p:cNvPr>
          <p:cNvPicPr>
            <a:picLocks noChangeAspect="1"/>
          </p:cNvPicPr>
          <p:nvPr/>
        </p:nvPicPr>
        <p:blipFill>
          <a:blip r:embed="rId2"/>
          <a:stretch>
            <a:fillRect/>
          </a:stretch>
        </p:blipFill>
        <p:spPr>
          <a:xfrm>
            <a:off x="501113" y="2571813"/>
            <a:ext cx="5365231" cy="3012059"/>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Text 20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209" name="Text 20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Étape 1 : préparer la personne</a:t>
            </a:r>
            <a:endParaRPr lang="fr-FR" sz="1800" dirty="0"/>
          </a:p>
        </p:txBody>
      </p:sp>
      <p:sp>
        <p:nvSpPr>
          <p:cNvPr id="210" name="Text 21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194" name="Shape 194"/>
          <p:cNvSpPr/>
          <p:nvPr/>
        </p:nvSpPr>
        <p:spPr>
          <a:xfrm>
            <a:off x="548640" y="1215000"/>
            <a:ext cx="11094415" cy="90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95" name="Shape 195"/>
          <p:cNvSpPr/>
          <p:nvPr/>
        </p:nvSpPr>
        <p:spPr>
          <a:xfrm>
            <a:off x="678640" y="1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1</a:t>
            </a:r>
            <a:endParaRPr lang="fr-FR" sz="1800" dirty="0"/>
          </a:p>
        </p:txBody>
      </p:sp>
      <p:sp>
        <p:nvSpPr>
          <p:cNvPr id="196" name="Text 196"/>
          <p:cNvSpPr txBox="1"/>
          <p:nvPr/>
        </p:nvSpPr>
        <p:spPr>
          <a:xfrm>
            <a:off x="1268640" y="1315000"/>
            <a:ext cx="10244415" cy="73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Bienveillance et respect : </a:t>
            </a:r>
            <a:r>
              <a:rPr lang="fr-FR" sz="1800" dirty="0">
                <a:solidFill>
                  <a:srgbClr val="0B1F3F"/>
                </a:solidFill>
                <a:latin typeface="Calibri" pitchFamily="34" charset="0"/>
                <a:ea typeface="Calibri" pitchFamily="34" charset="-122"/>
                <a:cs typeface="Calibri" pitchFamily="34" charset="-120"/>
              </a:rPr>
              <a:t>Accueillez-la, expliquez l’intérêt de l’examen et son déroulement, et demandez-lui si elle a des questions.</a:t>
            </a:r>
            <a:endParaRPr lang="fr-FR" sz="1800" dirty="0"/>
          </a:p>
        </p:txBody>
      </p:sp>
      <p:sp>
        <p:nvSpPr>
          <p:cNvPr id="197" name="Shape 197"/>
          <p:cNvSpPr/>
          <p:nvPr/>
        </p:nvSpPr>
        <p:spPr>
          <a:xfrm>
            <a:off x="548640" y="2215000"/>
            <a:ext cx="11094415" cy="90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198" name="Shape 198"/>
          <p:cNvSpPr/>
          <p:nvPr/>
        </p:nvSpPr>
        <p:spPr>
          <a:xfrm>
            <a:off x="678640" y="2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2</a:t>
            </a:r>
            <a:endParaRPr lang="fr-FR" sz="1800" dirty="0"/>
          </a:p>
        </p:txBody>
      </p:sp>
      <p:sp>
        <p:nvSpPr>
          <p:cNvPr id="199" name="Text 199"/>
          <p:cNvSpPr txBox="1"/>
          <p:nvPr/>
        </p:nvSpPr>
        <p:spPr>
          <a:xfrm>
            <a:off x="1268640" y="2315000"/>
            <a:ext cx="10244415" cy="73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Intimité : </a:t>
            </a:r>
            <a:r>
              <a:rPr lang="fr-FR" sz="1800" dirty="0">
                <a:solidFill>
                  <a:srgbClr val="0B1F3F"/>
                </a:solidFill>
                <a:latin typeface="Calibri" pitchFamily="34" charset="0"/>
                <a:ea typeface="Calibri" pitchFamily="34" charset="-122"/>
                <a:cs typeface="Calibri" pitchFamily="34" charset="-120"/>
              </a:rPr>
              <a:t>Utilisez une pièce privée, fermez la porte ou le rideau et proposez un accompagnant. Proposez une soignante si elle le préfère.</a:t>
            </a:r>
            <a:endParaRPr lang="fr-FR" sz="1800" dirty="0"/>
          </a:p>
        </p:txBody>
      </p:sp>
      <p:sp>
        <p:nvSpPr>
          <p:cNvPr id="200" name="Shape 200"/>
          <p:cNvSpPr/>
          <p:nvPr/>
        </p:nvSpPr>
        <p:spPr>
          <a:xfrm>
            <a:off x="548640" y="3215000"/>
            <a:ext cx="11094415" cy="90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01" name="Shape 201"/>
          <p:cNvSpPr/>
          <p:nvPr/>
        </p:nvSpPr>
        <p:spPr>
          <a:xfrm>
            <a:off x="678640" y="3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3</a:t>
            </a:r>
            <a:endParaRPr lang="fr-FR" sz="1800" dirty="0"/>
          </a:p>
        </p:txBody>
      </p:sp>
      <p:sp>
        <p:nvSpPr>
          <p:cNvPr id="202" name="Text 202"/>
          <p:cNvSpPr txBox="1"/>
          <p:nvPr/>
        </p:nvSpPr>
        <p:spPr>
          <a:xfrm>
            <a:off x="1268640" y="3315000"/>
            <a:ext cx="10244415" cy="73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Consentement : </a:t>
            </a:r>
            <a:r>
              <a:rPr lang="fr-FR" sz="1800" dirty="0">
                <a:solidFill>
                  <a:srgbClr val="0B1F3F"/>
                </a:solidFill>
                <a:latin typeface="Calibri" pitchFamily="34" charset="0"/>
                <a:ea typeface="Calibri" pitchFamily="34" charset="-122"/>
                <a:cs typeface="Calibri" pitchFamily="34" charset="-120"/>
              </a:rPr>
              <a:t>Demandez son accord avant de commencer et dites-lui qu’elle peut vous demander d’arrêter à tout moment.</a:t>
            </a:r>
            <a:endParaRPr lang="fr-FR" sz="1800" dirty="0"/>
          </a:p>
        </p:txBody>
      </p:sp>
      <p:sp>
        <p:nvSpPr>
          <p:cNvPr id="203" name="Shape 203"/>
          <p:cNvSpPr/>
          <p:nvPr/>
        </p:nvSpPr>
        <p:spPr>
          <a:xfrm>
            <a:off x="548640" y="4215000"/>
            <a:ext cx="11094415" cy="90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04" name="Shape 204"/>
          <p:cNvSpPr/>
          <p:nvPr/>
        </p:nvSpPr>
        <p:spPr>
          <a:xfrm>
            <a:off x="678640" y="4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4</a:t>
            </a:r>
            <a:endParaRPr lang="fr-FR" sz="1800" dirty="0"/>
          </a:p>
        </p:txBody>
      </p:sp>
      <p:sp>
        <p:nvSpPr>
          <p:cNvPr id="205" name="Text 205"/>
          <p:cNvSpPr txBox="1"/>
          <p:nvPr/>
        </p:nvSpPr>
        <p:spPr>
          <a:xfrm>
            <a:off x="1268640" y="4315000"/>
            <a:ext cx="10244415" cy="73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Déroulement : </a:t>
            </a:r>
            <a:r>
              <a:rPr lang="fr-FR" sz="1800" dirty="0">
                <a:solidFill>
                  <a:srgbClr val="0B1F3F"/>
                </a:solidFill>
                <a:latin typeface="Calibri" pitchFamily="34" charset="0"/>
                <a:ea typeface="Calibri" pitchFamily="34" charset="-122"/>
                <a:cs typeface="Calibri" pitchFamily="34" charset="-120"/>
              </a:rPr>
              <a:t>Vous examinerez les deux seins et les deux aisselles, d’abord assise puis allongée. Cela prend quelques minutes.</a:t>
            </a:r>
            <a:endParaRPr lang="fr-FR" sz="1800" dirty="0"/>
          </a:p>
        </p:txBody>
      </p:sp>
      <p:sp>
        <p:nvSpPr>
          <p:cNvPr id="206" name="Shape 206"/>
          <p:cNvSpPr/>
          <p:nvPr/>
        </p:nvSpPr>
        <p:spPr>
          <a:xfrm>
            <a:off x="548640" y="5300000"/>
            <a:ext cx="11094415" cy="85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fr-FR" dirty="0"/>
          </a:p>
        </p:txBody>
      </p:sp>
      <p:sp>
        <p:nvSpPr>
          <p:cNvPr id="207" name="Text 207"/>
          <p:cNvSpPr txBox="1"/>
          <p:nvPr/>
        </p:nvSpPr>
        <p:spPr>
          <a:xfrm>
            <a:off x="713232" y="5350000"/>
            <a:ext cx="10765231" cy="750000"/>
          </a:xfrm>
          <a:prstGeom prst="rect">
            <a:avLst/>
          </a:prstGeom>
          <a:noFill/>
          <a:ln/>
        </p:spPr>
        <p:txBody>
          <a:bodyPr wrap="square" lIns="0" tIns="0" rIns="0" bIns="0" rtlCol="0" anchor="ctr"/>
          <a:lstStyle/>
          <a:p>
            <a:pPr marL="0" indent="0" algn="l">
              <a:lnSpc>
                <a:spcPct val="95000"/>
              </a:lnSpc>
              <a:buNone/>
            </a:pPr>
            <a:r>
              <a:rPr lang="fr-FR" sz="1800" dirty="0">
                <a:solidFill>
                  <a:srgbClr val="0B1F3F"/>
                </a:solidFill>
                <a:latin typeface="Calibri" pitchFamily="34" charset="0"/>
                <a:ea typeface="Calibri" pitchFamily="34" charset="-122"/>
                <a:cs typeface="Calibri" pitchFamily="34" charset="-120"/>
              </a:rPr>
              <a:t>💬 Elle ne se découvre que lorsque c’est nécessaire. Couvrez-la d’un linge entre les étapes.</a:t>
            </a:r>
            <a:endParaRPr lang="fr-FR" sz="1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ext 21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219" name="Text 21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Étape 2 : observer, personne assise</a:t>
            </a:r>
            <a:endParaRPr lang="fr-FR" sz="1800" dirty="0"/>
          </a:p>
        </p:txBody>
      </p:sp>
      <p:sp>
        <p:nvSpPr>
          <p:cNvPr id="220" name="Text 22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211" name="Shape 211"/>
          <p:cNvSpPr/>
          <p:nvPr/>
        </p:nvSpPr>
        <p:spPr>
          <a:xfrm>
            <a:off x="548640" y="1215000"/>
            <a:ext cx="6650000" cy="20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12" name="Text 212"/>
          <p:cNvSpPr txBox="1"/>
          <p:nvPr/>
        </p:nvSpPr>
        <p:spPr>
          <a:xfrm>
            <a:off x="713232" y="1333872"/>
            <a:ext cx="6320816" cy="179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Trois positions</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1. </a:t>
            </a:r>
            <a:r>
              <a:rPr lang="fr-FR" sz="1800" dirty="0">
                <a:solidFill>
                  <a:srgbClr val="0B1F3F"/>
                </a:solidFill>
                <a:latin typeface="Calibri" pitchFamily="34" charset="0"/>
                <a:ea typeface="Calibri" pitchFamily="34" charset="-122"/>
                <a:cs typeface="Calibri" pitchFamily="34" charset="-120"/>
              </a:rPr>
              <a:t>Bras détendus le long du corps.</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2. </a:t>
            </a:r>
            <a:r>
              <a:rPr lang="fr-FR" sz="1800" dirty="0">
                <a:solidFill>
                  <a:srgbClr val="0B1F3F"/>
                </a:solidFill>
                <a:latin typeface="Calibri" pitchFamily="34" charset="0"/>
                <a:ea typeface="Calibri" pitchFamily="34" charset="-122"/>
                <a:cs typeface="Calibri" pitchFamily="34" charset="-120"/>
              </a:rPr>
              <a:t>Mains appuyées fermement sur les hanches.</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3. </a:t>
            </a:r>
            <a:r>
              <a:rPr lang="fr-FR" sz="1800" dirty="0">
                <a:solidFill>
                  <a:srgbClr val="0B1F3F"/>
                </a:solidFill>
                <a:latin typeface="Calibri" pitchFamily="34" charset="0"/>
                <a:ea typeface="Calibri" pitchFamily="34" charset="-122"/>
                <a:cs typeface="Calibri" pitchFamily="34" charset="-120"/>
              </a:rPr>
              <a:t>Bras levés, mains jointes au-dessus de la tête.</a:t>
            </a:r>
            <a:endParaRPr lang="fr-FR" sz="1800" dirty="0"/>
          </a:p>
        </p:txBody>
      </p:sp>
      <p:sp>
        <p:nvSpPr>
          <p:cNvPr id="213" name="Shape 213"/>
          <p:cNvSpPr/>
          <p:nvPr/>
        </p:nvSpPr>
        <p:spPr>
          <a:xfrm>
            <a:off x="548640" y="3335000"/>
            <a:ext cx="6650000" cy="18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14" name="Text 214"/>
          <p:cNvSpPr txBox="1"/>
          <p:nvPr/>
        </p:nvSpPr>
        <p:spPr>
          <a:xfrm>
            <a:off x="713232" y="3453872"/>
            <a:ext cx="6320816" cy="159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Comparer les deux côtés</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Taille, forme et symétrie.  Peau : couleur, fossette, plissement, rougeur, épaississement, peau d’orange, ulcération. </a:t>
            </a:r>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Mamelon : rétraction récente, desquamation, écoulement.</a:t>
            </a:r>
            <a:endParaRPr lang="fr-FR" sz="1800" dirty="0"/>
          </a:p>
        </p:txBody>
      </p:sp>
      <p:sp>
        <p:nvSpPr>
          <p:cNvPr id="215" name="Shape 215"/>
          <p:cNvSpPr/>
          <p:nvPr/>
        </p:nvSpPr>
        <p:spPr>
          <a:xfrm>
            <a:off x="548640" y="5255000"/>
            <a:ext cx="11094415" cy="90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16" name="Text 216"/>
          <p:cNvSpPr txBox="1"/>
          <p:nvPr/>
        </p:nvSpPr>
        <p:spPr>
          <a:xfrm>
            <a:off x="713232" y="5305000"/>
            <a:ext cx="10765231" cy="80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 Objectif : </a:t>
            </a:r>
            <a:r>
              <a:rPr lang="fr-FR" sz="1800" dirty="0">
                <a:solidFill>
                  <a:srgbClr val="0B1F3F"/>
                </a:solidFill>
                <a:latin typeface="Calibri" pitchFamily="34" charset="0"/>
                <a:ea typeface="Calibri" pitchFamily="34" charset="-122"/>
                <a:cs typeface="Calibri" pitchFamily="34" charset="-120"/>
              </a:rPr>
              <a:t>repérer toute anomalie visible ou asymétrie.</a:t>
            </a:r>
            <a:endParaRPr lang="fr-FR" sz="1800" dirty="0"/>
          </a:p>
        </p:txBody>
      </p:sp>
      <p:pic>
        <p:nvPicPr>
          <p:cNvPr id="2" name="Imagen 1">
            <a:extLst>
              <a:ext uri="{FF2B5EF4-FFF2-40B4-BE49-F238E27FC236}">
                <a16:creationId xmlns:a16="http://schemas.microsoft.com/office/drawing/2014/main" id="{426AFD45-B510-9F21-14BA-31BE49A85548}"/>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7198640" y="1829932"/>
            <a:ext cx="4705489" cy="2848748"/>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Text 22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229" name="Text 22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Étape 3 : palper les ganglions, personne assise</a:t>
            </a:r>
            <a:endParaRPr lang="fr-FR" sz="1800" dirty="0"/>
          </a:p>
        </p:txBody>
      </p:sp>
      <p:sp>
        <p:nvSpPr>
          <p:cNvPr id="230" name="Text 23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221" name="Shape 221"/>
          <p:cNvSpPr/>
          <p:nvPr/>
        </p:nvSpPr>
        <p:spPr>
          <a:xfrm>
            <a:off x="548640" y="1215000"/>
            <a:ext cx="6650000" cy="22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22" name="Text 222"/>
          <p:cNvSpPr txBox="1"/>
          <p:nvPr/>
        </p:nvSpPr>
        <p:spPr>
          <a:xfrm>
            <a:off x="713232" y="1333872"/>
            <a:ext cx="6320816" cy="204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Où palper, des deux côtés</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Cou : </a:t>
            </a:r>
            <a:r>
              <a:rPr lang="fr-FR" sz="1800" dirty="0">
                <a:solidFill>
                  <a:srgbClr val="0B1F3F"/>
                </a:solidFill>
                <a:latin typeface="Calibri" pitchFamily="34" charset="0"/>
                <a:ea typeface="Calibri" pitchFamily="34" charset="-122"/>
                <a:cs typeface="Calibri" pitchFamily="34" charset="-120"/>
              </a:rPr>
              <a:t>ganglions cervicaux.</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Clavicule : </a:t>
            </a:r>
            <a:r>
              <a:rPr lang="fr-FR" sz="1800" dirty="0">
                <a:solidFill>
                  <a:srgbClr val="0B1F3F"/>
                </a:solidFill>
                <a:latin typeface="Calibri" pitchFamily="34" charset="0"/>
                <a:ea typeface="Calibri" pitchFamily="34" charset="-122"/>
                <a:cs typeface="Calibri" pitchFamily="34" charset="-120"/>
              </a:rPr>
              <a:t>ganglions sus- et sous-claviculaires.</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Aisselle : </a:t>
            </a:r>
            <a:r>
              <a:rPr lang="fr-FR" sz="1800" dirty="0">
                <a:solidFill>
                  <a:srgbClr val="0B1F3F"/>
                </a:solidFill>
                <a:latin typeface="Calibri" pitchFamily="34" charset="0"/>
                <a:ea typeface="Calibri" pitchFamily="34" charset="-122"/>
                <a:cs typeface="Calibri" pitchFamily="34" charset="-120"/>
              </a:rPr>
              <a:t>posez son bras sur votre épaule ou soutenez-le au coude pour relâcher les muscles. Palpez haut dans l’aisselle et le long de ses parois.</a:t>
            </a:r>
            <a:endParaRPr lang="fr-FR" sz="1800" dirty="0"/>
          </a:p>
        </p:txBody>
      </p:sp>
      <p:sp>
        <p:nvSpPr>
          <p:cNvPr id="223" name="Shape 223"/>
          <p:cNvSpPr/>
          <p:nvPr/>
        </p:nvSpPr>
        <p:spPr>
          <a:xfrm>
            <a:off x="548640" y="3585000"/>
            <a:ext cx="6650000" cy="15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24" name="Text 224"/>
          <p:cNvSpPr txBox="1"/>
          <p:nvPr/>
        </p:nvSpPr>
        <p:spPr>
          <a:xfrm>
            <a:off x="713232" y="3703872"/>
            <a:ext cx="6320816" cy="134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Pour tout ganglion, notez</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Taille, consistance, sensibilité, et s’il est mobile ou fixé.</a:t>
            </a:r>
            <a:endParaRPr lang="fr-FR" sz="1800" dirty="0"/>
          </a:p>
        </p:txBody>
      </p:sp>
      <p:sp>
        <p:nvSpPr>
          <p:cNvPr id="225" name="Shape 225"/>
          <p:cNvSpPr/>
          <p:nvPr/>
        </p:nvSpPr>
        <p:spPr>
          <a:xfrm>
            <a:off x="548640" y="5255000"/>
            <a:ext cx="11094415" cy="90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26" name="Text 226"/>
          <p:cNvSpPr txBox="1"/>
          <p:nvPr/>
        </p:nvSpPr>
        <p:spPr>
          <a:xfrm>
            <a:off x="713232" y="5305000"/>
            <a:ext cx="10765231" cy="80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 Objectif : </a:t>
            </a:r>
            <a:r>
              <a:rPr lang="fr-FR" sz="1800" dirty="0">
                <a:solidFill>
                  <a:srgbClr val="0B1F3F"/>
                </a:solidFill>
                <a:latin typeface="Calibri" pitchFamily="34" charset="0"/>
                <a:ea typeface="Calibri" pitchFamily="34" charset="-122"/>
                <a:cs typeface="Calibri" pitchFamily="34" charset="-120"/>
              </a:rPr>
              <a:t>repérer les ganglions augmentés de volume. Un ganglion dur, fixé ou qui grossit impose une orientation urgente.</a:t>
            </a:r>
            <a:endParaRPr lang="fr-FR" sz="1800" dirty="0"/>
          </a:p>
        </p:txBody>
      </p:sp>
      <p:pic>
        <p:nvPicPr>
          <p:cNvPr id="2" name="Imagen 1">
            <a:extLst>
              <a:ext uri="{FF2B5EF4-FFF2-40B4-BE49-F238E27FC236}">
                <a16:creationId xmlns:a16="http://schemas.microsoft.com/office/drawing/2014/main" id="{39060C9B-00C1-B5AE-989D-885632A3FFB7}"/>
              </a:ext>
            </a:extLst>
          </p:cNvPr>
          <p:cNvPicPr>
            <a:picLocks noChangeAspect="1"/>
          </p:cNvPicPr>
          <p:nvPr/>
        </p:nvPicPr>
        <p:blipFill>
          <a:blip r:embed="rId2"/>
          <a:stretch>
            <a:fillRect/>
          </a:stretch>
        </p:blipFill>
        <p:spPr>
          <a:xfrm>
            <a:off x="7320560" y="1210400"/>
            <a:ext cx="4279823" cy="396043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Text 243"/>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244" name="Text 244"/>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Étape 4 : palper le sein, personne allongée</a:t>
            </a:r>
            <a:endParaRPr lang="fr-FR" sz="1800" dirty="0"/>
          </a:p>
        </p:txBody>
      </p:sp>
      <p:sp>
        <p:nvSpPr>
          <p:cNvPr id="245" name="Text 245"/>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231" name="Shape 231"/>
          <p:cNvSpPr/>
          <p:nvPr/>
        </p:nvSpPr>
        <p:spPr>
          <a:xfrm>
            <a:off x="548640" y="121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32" name="Shape 232"/>
          <p:cNvSpPr/>
          <p:nvPr/>
        </p:nvSpPr>
        <p:spPr>
          <a:xfrm>
            <a:off x="678640" y="1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1</a:t>
            </a:r>
            <a:endParaRPr lang="fr-FR" sz="1800" dirty="0"/>
          </a:p>
        </p:txBody>
      </p:sp>
      <p:sp>
        <p:nvSpPr>
          <p:cNvPr id="233" name="Text 233"/>
          <p:cNvSpPr txBox="1"/>
          <p:nvPr/>
        </p:nvSpPr>
        <p:spPr>
          <a:xfrm>
            <a:off x="1268640" y="1315000"/>
            <a:ext cx="5800000" cy="9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Position : </a:t>
            </a:r>
            <a:r>
              <a:rPr lang="fr-FR" sz="1800" dirty="0">
                <a:solidFill>
                  <a:srgbClr val="0B1F3F"/>
                </a:solidFill>
                <a:latin typeface="Calibri" pitchFamily="34" charset="0"/>
                <a:ea typeface="Calibri" pitchFamily="34" charset="-122"/>
                <a:cs typeface="Calibri" pitchFamily="34" charset="-120"/>
              </a:rPr>
              <a:t>Elle est allongée, le bras du côté examiné levé au-dessus de la tête. Le sein s’étale ainsi sur la paroi thoracique.</a:t>
            </a:r>
            <a:endParaRPr lang="fr-FR" sz="1800" dirty="0"/>
          </a:p>
        </p:txBody>
      </p:sp>
      <p:sp>
        <p:nvSpPr>
          <p:cNvPr id="234" name="Shape 234"/>
          <p:cNvSpPr/>
          <p:nvPr/>
        </p:nvSpPr>
        <p:spPr>
          <a:xfrm>
            <a:off x="548640" y="247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35" name="Shape 235"/>
          <p:cNvSpPr/>
          <p:nvPr/>
        </p:nvSpPr>
        <p:spPr>
          <a:xfrm>
            <a:off x="678640" y="262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2</a:t>
            </a:r>
            <a:endParaRPr lang="fr-FR" sz="1800" dirty="0"/>
          </a:p>
        </p:txBody>
      </p:sp>
      <p:sp>
        <p:nvSpPr>
          <p:cNvPr id="236" name="Text 236"/>
          <p:cNvSpPr txBox="1"/>
          <p:nvPr/>
        </p:nvSpPr>
        <p:spPr>
          <a:xfrm>
            <a:off x="1268640" y="2575000"/>
            <a:ext cx="5800000" cy="9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Doigts : </a:t>
            </a:r>
            <a:r>
              <a:rPr lang="fr-FR" sz="1800" dirty="0">
                <a:solidFill>
                  <a:srgbClr val="0B1F3F"/>
                </a:solidFill>
                <a:latin typeface="Calibri" pitchFamily="34" charset="0"/>
                <a:ea typeface="Calibri" pitchFamily="34" charset="-122"/>
                <a:cs typeface="Calibri" pitchFamily="34" charset="-120"/>
              </a:rPr>
              <a:t>Utilisez la pulpe des trois doigts du milieu, pas le bout. Gardez-les en contact avec la peau.</a:t>
            </a:r>
            <a:endParaRPr lang="fr-FR" sz="1800" dirty="0"/>
          </a:p>
        </p:txBody>
      </p:sp>
      <p:sp>
        <p:nvSpPr>
          <p:cNvPr id="237" name="Shape 237"/>
          <p:cNvSpPr/>
          <p:nvPr/>
        </p:nvSpPr>
        <p:spPr>
          <a:xfrm>
            <a:off x="548640" y="373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38" name="Shape 238"/>
          <p:cNvSpPr/>
          <p:nvPr/>
        </p:nvSpPr>
        <p:spPr>
          <a:xfrm>
            <a:off x="678640" y="388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3</a:t>
            </a:r>
            <a:endParaRPr lang="fr-FR" sz="1800" dirty="0"/>
          </a:p>
        </p:txBody>
      </p:sp>
      <p:sp>
        <p:nvSpPr>
          <p:cNvPr id="239" name="Text 239"/>
          <p:cNvSpPr txBox="1"/>
          <p:nvPr/>
        </p:nvSpPr>
        <p:spPr>
          <a:xfrm>
            <a:off x="1268640" y="3835000"/>
            <a:ext cx="5800000" cy="9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Pression : </a:t>
            </a:r>
            <a:r>
              <a:rPr lang="fr-FR" sz="1800" dirty="0">
                <a:solidFill>
                  <a:srgbClr val="0B1F3F"/>
                </a:solidFill>
                <a:latin typeface="Calibri" pitchFamily="34" charset="0"/>
                <a:ea typeface="Calibri" pitchFamily="34" charset="-122"/>
                <a:cs typeface="Calibri" pitchFamily="34" charset="-120"/>
              </a:rPr>
              <a:t>À chaque endroit, faites de petits cercles à trois niveaux de pression : légère, moyenne, puis profonde.</a:t>
            </a:r>
            <a:endParaRPr lang="fr-FR" sz="1800" dirty="0"/>
          </a:p>
        </p:txBody>
      </p:sp>
      <p:sp>
        <p:nvSpPr>
          <p:cNvPr id="240" name="Shape 240"/>
          <p:cNvSpPr/>
          <p:nvPr/>
        </p:nvSpPr>
        <p:spPr>
          <a:xfrm>
            <a:off x="548640" y="5130000"/>
            <a:ext cx="11094415" cy="102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41" name="Text 241"/>
          <p:cNvSpPr txBox="1"/>
          <p:nvPr/>
        </p:nvSpPr>
        <p:spPr>
          <a:xfrm>
            <a:off x="713232" y="5180000"/>
            <a:ext cx="10765231" cy="92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 Objectif : </a:t>
            </a:r>
            <a:r>
              <a:rPr lang="fr-FR" sz="1800" dirty="0">
                <a:solidFill>
                  <a:srgbClr val="0B1F3F"/>
                </a:solidFill>
                <a:latin typeface="Calibri" pitchFamily="34" charset="0"/>
                <a:ea typeface="Calibri" pitchFamily="34" charset="-122"/>
                <a:cs typeface="Calibri" pitchFamily="34" charset="-120"/>
              </a:rPr>
              <a:t>repérer toute masse anormale, tout épaississement, toute sensibilité ou tout écoulement du mamelon.</a:t>
            </a:r>
            <a:endParaRPr lang="fr-FR" sz="1800" dirty="0"/>
          </a:p>
        </p:txBody>
      </p:sp>
      <p:pic>
        <p:nvPicPr>
          <p:cNvPr id="3" name="Imagen 2">
            <a:extLst>
              <a:ext uri="{FF2B5EF4-FFF2-40B4-BE49-F238E27FC236}">
                <a16:creationId xmlns:a16="http://schemas.microsoft.com/office/drawing/2014/main" id="{40A23442-C924-7E81-45D0-A8EC5BD6BF6F}"/>
              </a:ext>
            </a:extLst>
          </p:cNvPr>
          <p:cNvPicPr>
            <a:picLocks noChangeAspect="1"/>
          </p:cNvPicPr>
          <p:nvPr/>
        </p:nvPicPr>
        <p:blipFill>
          <a:blip r:embed="rId2"/>
          <a:stretch>
            <a:fillRect/>
          </a:stretch>
        </p:blipFill>
        <p:spPr>
          <a:xfrm>
            <a:off x="7328639" y="1151392"/>
            <a:ext cx="4314415" cy="3856107"/>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Text 25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259" name="Text 25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Étape 4 (suite) : couvrir tout le sein</a:t>
            </a:r>
            <a:endParaRPr lang="fr-FR" sz="1800" dirty="0"/>
          </a:p>
        </p:txBody>
      </p:sp>
      <p:sp>
        <p:nvSpPr>
          <p:cNvPr id="260" name="Text 26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246" name="Shape 246"/>
          <p:cNvSpPr/>
          <p:nvPr/>
        </p:nvSpPr>
        <p:spPr>
          <a:xfrm>
            <a:off x="548640" y="121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47" name="Shape 247"/>
          <p:cNvSpPr/>
          <p:nvPr/>
        </p:nvSpPr>
        <p:spPr>
          <a:xfrm>
            <a:off x="678640" y="1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4</a:t>
            </a:r>
            <a:endParaRPr lang="fr-FR" sz="1800" dirty="0"/>
          </a:p>
        </p:txBody>
      </p:sp>
      <p:sp>
        <p:nvSpPr>
          <p:cNvPr id="248" name="Text 248"/>
          <p:cNvSpPr txBox="1"/>
          <p:nvPr/>
        </p:nvSpPr>
        <p:spPr>
          <a:xfrm>
            <a:off x="1268640" y="1315000"/>
            <a:ext cx="5800000" cy="9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Trajet : </a:t>
            </a:r>
            <a:r>
              <a:rPr lang="fr-FR" sz="1800" dirty="0">
                <a:solidFill>
                  <a:srgbClr val="0B1F3F"/>
                </a:solidFill>
                <a:latin typeface="Calibri" pitchFamily="34" charset="0"/>
                <a:ea typeface="Calibri" pitchFamily="34" charset="-122"/>
                <a:cs typeface="Calibri" pitchFamily="34" charset="-120"/>
              </a:rPr>
              <a:t>Progressez en bandes verticales, de haut en bas, de l’aisselle au milieu du sternum, et de la clavicule jusque sous le sillon sous-mammaire.</a:t>
            </a:r>
            <a:endParaRPr lang="fr-FR" sz="1800" dirty="0"/>
          </a:p>
        </p:txBody>
      </p:sp>
      <p:sp>
        <p:nvSpPr>
          <p:cNvPr id="249" name="Shape 249"/>
          <p:cNvSpPr/>
          <p:nvPr/>
        </p:nvSpPr>
        <p:spPr>
          <a:xfrm>
            <a:off x="548640" y="247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50" name="Shape 250"/>
          <p:cNvSpPr/>
          <p:nvPr/>
        </p:nvSpPr>
        <p:spPr>
          <a:xfrm>
            <a:off x="678640" y="262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5</a:t>
            </a:r>
            <a:endParaRPr lang="fr-FR" sz="1800" dirty="0"/>
          </a:p>
        </p:txBody>
      </p:sp>
      <p:sp>
        <p:nvSpPr>
          <p:cNvPr id="251" name="Text 251"/>
          <p:cNvSpPr txBox="1"/>
          <p:nvPr/>
        </p:nvSpPr>
        <p:spPr>
          <a:xfrm>
            <a:off x="1268640" y="2575000"/>
            <a:ext cx="5800000" cy="9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À ne pas oublier : </a:t>
            </a:r>
            <a:r>
              <a:rPr lang="fr-FR" sz="1800" dirty="0">
                <a:solidFill>
                  <a:srgbClr val="0B1F3F"/>
                </a:solidFill>
                <a:latin typeface="Calibri" pitchFamily="34" charset="0"/>
                <a:ea typeface="Calibri" pitchFamily="34" charset="-122"/>
                <a:cs typeface="Calibri" pitchFamily="34" charset="-120"/>
              </a:rPr>
              <a:t>Le prolongement axillaire, la zone sous le mamelon et l’aréole, et le sillon sous-mammaire.</a:t>
            </a:r>
            <a:endParaRPr lang="fr-FR" sz="1800" dirty="0"/>
          </a:p>
        </p:txBody>
      </p:sp>
      <p:sp>
        <p:nvSpPr>
          <p:cNvPr id="252" name="Shape 252"/>
          <p:cNvSpPr/>
          <p:nvPr/>
        </p:nvSpPr>
        <p:spPr>
          <a:xfrm>
            <a:off x="548640" y="373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53" name="Shape 253"/>
          <p:cNvSpPr/>
          <p:nvPr/>
        </p:nvSpPr>
        <p:spPr>
          <a:xfrm>
            <a:off x="678640" y="388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fr-FR" sz="1800" b="1" dirty="0">
                <a:solidFill>
                  <a:srgbClr val="FFFFFF"/>
                </a:solidFill>
                <a:latin typeface="Calibri" pitchFamily="34" charset="0"/>
                <a:ea typeface="Calibri" pitchFamily="34" charset="-122"/>
                <a:cs typeface="Calibri" pitchFamily="34" charset="-120"/>
              </a:rPr>
              <a:t>6</a:t>
            </a:r>
            <a:endParaRPr lang="fr-FR" sz="1800" dirty="0"/>
          </a:p>
        </p:txBody>
      </p:sp>
      <p:sp>
        <p:nvSpPr>
          <p:cNvPr id="254" name="Text 254"/>
          <p:cNvSpPr txBox="1"/>
          <p:nvPr/>
        </p:nvSpPr>
        <p:spPr>
          <a:xfrm>
            <a:off x="1268640" y="3835000"/>
            <a:ext cx="5800000" cy="980000"/>
          </a:xfrm>
          <a:prstGeom prst="rect">
            <a:avLst/>
          </a:prstGeom>
          <a:noFill/>
          <a:ln/>
        </p:spPr>
        <p:txBody>
          <a:bodyPr wrap="square" lIns="0" tIns="0" rIns="0" bIns="0" rtlCol="0" anchor="ctr"/>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Prenez votre temps : </a:t>
            </a:r>
            <a:r>
              <a:rPr lang="fr-FR" sz="1800" dirty="0">
                <a:solidFill>
                  <a:srgbClr val="0B1F3F"/>
                </a:solidFill>
                <a:latin typeface="Calibri" pitchFamily="34" charset="0"/>
                <a:ea typeface="Calibri" pitchFamily="34" charset="-122"/>
                <a:cs typeface="Calibri" pitchFamily="34" charset="-120"/>
              </a:rPr>
              <a:t>Environ 2 à 3 minutes par sein. Examinez ensuite l’autre côté de la même façon.</a:t>
            </a:r>
            <a:endParaRPr lang="fr-FR" sz="1800" dirty="0"/>
          </a:p>
        </p:txBody>
      </p:sp>
      <p:sp>
        <p:nvSpPr>
          <p:cNvPr id="255" name="Shape 255"/>
          <p:cNvSpPr/>
          <p:nvPr/>
        </p:nvSpPr>
        <p:spPr>
          <a:xfrm>
            <a:off x="548640" y="5130000"/>
            <a:ext cx="11094415" cy="102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fr-FR" dirty="0"/>
          </a:p>
        </p:txBody>
      </p:sp>
      <p:sp>
        <p:nvSpPr>
          <p:cNvPr id="256" name="Text 256"/>
          <p:cNvSpPr txBox="1"/>
          <p:nvPr/>
        </p:nvSpPr>
        <p:spPr>
          <a:xfrm>
            <a:off x="713232" y="5180000"/>
            <a:ext cx="10765231" cy="920000"/>
          </a:xfrm>
          <a:prstGeom prst="rect">
            <a:avLst/>
          </a:prstGeom>
          <a:noFill/>
          <a:ln/>
        </p:spPr>
        <p:txBody>
          <a:bodyPr wrap="square" lIns="0" tIns="0" rIns="0" bIns="0" rtlCol="0" anchor="ctr"/>
          <a:lstStyle/>
          <a:p>
            <a:pPr marL="0" indent="0" algn="l">
              <a:lnSpc>
                <a:spcPct val="95000"/>
              </a:lnSpc>
              <a:buNone/>
            </a:pPr>
            <a:r>
              <a:rPr lang="fr-FR" sz="1800" dirty="0">
                <a:solidFill>
                  <a:srgbClr val="0B1F3F"/>
                </a:solidFill>
                <a:latin typeface="Calibri" pitchFamily="34" charset="0"/>
                <a:ea typeface="Calibri" pitchFamily="34" charset="-122"/>
                <a:cs typeface="Calibri" pitchFamily="34" charset="-120"/>
              </a:rPr>
              <a:t>💡 Palpez à plat avec la pulpe des doigts. Pincer le tissu entre le pouce et les doigts peut faire croire à une boule.</a:t>
            </a:r>
            <a:endParaRPr lang="fr-FR" sz="1800" dirty="0"/>
          </a:p>
        </p:txBody>
      </p:sp>
      <p:pic>
        <p:nvPicPr>
          <p:cNvPr id="2" name="Imagen 1">
            <a:extLst>
              <a:ext uri="{FF2B5EF4-FFF2-40B4-BE49-F238E27FC236}">
                <a16:creationId xmlns:a16="http://schemas.microsoft.com/office/drawing/2014/main" id="{6865679D-7B7E-BB87-FD80-19E7A5E7B048}"/>
              </a:ext>
            </a:extLst>
          </p:cNvPr>
          <p:cNvPicPr>
            <a:picLocks noChangeAspect="1"/>
          </p:cNvPicPr>
          <p:nvPr/>
        </p:nvPicPr>
        <p:blipFill>
          <a:blip r:embed="rId2"/>
          <a:stretch>
            <a:fillRect/>
          </a:stretch>
        </p:blipFill>
        <p:spPr>
          <a:xfrm>
            <a:off x="7198639" y="1076375"/>
            <a:ext cx="4444415" cy="3965036"/>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Text 275"/>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276" name="Text 276"/>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Changements normaux du sein au cours de la vie</a:t>
            </a:r>
            <a:endParaRPr lang="fr-FR" sz="1800" dirty="0"/>
          </a:p>
        </p:txBody>
      </p:sp>
      <p:sp>
        <p:nvSpPr>
          <p:cNvPr id="277" name="Text 277"/>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261" name="Shape 261"/>
          <p:cNvSpPr/>
          <p:nvPr/>
        </p:nvSpPr>
        <p:spPr>
          <a:xfrm>
            <a:off x="548640"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62" name="Text 262"/>
          <p:cNvSpPr txBox="1"/>
          <p:nvPr/>
        </p:nvSpPr>
        <p:spPr>
          <a:xfrm>
            <a:off x="713232"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Puberté</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Les canaux se développent et se ramifient, les lobules se forment. Les seins sont denses.</a:t>
            </a:r>
            <a:endParaRPr lang="fr-FR" sz="1800" dirty="0"/>
          </a:p>
        </p:txBody>
      </p:sp>
      <p:sp>
        <p:nvSpPr>
          <p:cNvPr id="263" name="Shape 263"/>
          <p:cNvSpPr/>
          <p:nvPr/>
        </p:nvSpPr>
        <p:spPr>
          <a:xfrm>
            <a:off x="4332122"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64" name="Text 264"/>
          <p:cNvSpPr txBox="1"/>
          <p:nvPr/>
        </p:nvSpPr>
        <p:spPr>
          <a:xfrm>
            <a:off x="4496714"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Cycle menstruel</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Avant les règles, les seins peuvent être plus gonflés, sensibles et nodulaires. L’examen est plus facile la semaine après les règles.</a:t>
            </a:r>
            <a:endParaRPr lang="fr-FR" sz="1800" dirty="0"/>
          </a:p>
        </p:txBody>
      </p:sp>
      <p:sp>
        <p:nvSpPr>
          <p:cNvPr id="265" name="Shape 265"/>
          <p:cNvSpPr/>
          <p:nvPr/>
        </p:nvSpPr>
        <p:spPr>
          <a:xfrm>
            <a:off x="8115604"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66" name="Text 266"/>
          <p:cNvSpPr txBox="1"/>
          <p:nvPr/>
        </p:nvSpPr>
        <p:spPr>
          <a:xfrm>
            <a:off x="8280196"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Grossesse</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Les seins grossissent, peuvent être sensibles et sécréter un peu de lait.</a:t>
            </a:r>
            <a:endParaRPr lang="fr-FR" sz="1800" dirty="0"/>
          </a:p>
        </p:txBody>
      </p:sp>
      <p:sp>
        <p:nvSpPr>
          <p:cNvPr id="267" name="Shape 267"/>
          <p:cNvSpPr/>
          <p:nvPr/>
        </p:nvSpPr>
        <p:spPr>
          <a:xfrm>
            <a:off x="548640"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68" name="Text 268"/>
          <p:cNvSpPr txBox="1"/>
          <p:nvPr/>
        </p:nvSpPr>
        <p:spPr>
          <a:xfrm>
            <a:off x="713232"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Allaitement</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Canaux et lobules sont pleinement développés. Les seins sont pleins et denses.</a:t>
            </a:r>
            <a:endParaRPr lang="fr-FR" sz="1800" dirty="0"/>
          </a:p>
        </p:txBody>
      </p:sp>
      <p:sp>
        <p:nvSpPr>
          <p:cNvPr id="269" name="Shape 269"/>
          <p:cNvSpPr/>
          <p:nvPr/>
        </p:nvSpPr>
        <p:spPr>
          <a:xfrm>
            <a:off x="4332122"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70" name="Text 270"/>
          <p:cNvSpPr txBox="1"/>
          <p:nvPr/>
        </p:nvSpPr>
        <p:spPr>
          <a:xfrm>
            <a:off x="4496714"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Après la ménopause</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Les lobules diminuent. Les seins deviennent plus souples et moins denses : une boule se palpe plus facilement.</a:t>
            </a:r>
            <a:endParaRPr lang="fr-FR" sz="1800" dirty="0"/>
          </a:p>
        </p:txBody>
      </p:sp>
      <p:sp>
        <p:nvSpPr>
          <p:cNvPr id="271" name="Shape 271"/>
          <p:cNvSpPr/>
          <p:nvPr/>
        </p:nvSpPr>
        <p:spPr>
          <a:xfrm>
            <a:off x="8115604"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72" name="Text 272"/>
          <p:cNvSpPr txBox="1"/>
          <p:nvPr/>
        </p:nvSpPr>
        <p:spPr>
          <a:xfrm>
            <a:off x="8280196"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Toujours</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Une </a:t>
            </a:r>
            <a:r>
              <a:rPr lang="fr-FR" sz="1800" dirty="0" err="1">
                <a:solidFill>
                  <a:srgbClr val="0B1F3F"/>
                </a:solidFill>
                <a:latin typeface="Calibri" pitchFamily="34" charset="0"/>
                <a:ea typeface="Calibri" pitchFamily="34" charset="-122"/>
                <a:cs typeface="Calibri" pitchFamily="34" charset="-120"/>
              </a:rPr>
              <a:t>nodularité</a:t>
            </a:r>
            <a:r>
              <a:rPr lang="fr-FR" sz="1800" dirty="0">
                <a:solidFill>
                  <a:srgbClr val="0B1F3F"/>
                </a:solidFill>
                <a:latin typeface="Calibri" pitchFamily="34" charset="0"/>
                <a:ea typeface="Calibri" pitchFamily="34" charset="-122"/>
                <a:cs typeface="Calibri" pitchFamily="34" charset="-120"/>
              </a:rPr>
              <a:t> fine et souple des deux côtés est normale. Un bourrelet plus ferme le long du sillon sous-mammaire est normal.</a:t>
            </a:r>
            <a:endParaRPr lang="fr-FR" sz="1800" dirty="0"/>
          </a:p>
        </p:txBody>
      </p:sp>
      <p:sp>
        <p:nvSpPr>
          <p:cNvPr id="273" name="Shape 273"/>
          <p:cNvSpPr/>
          <p:nvPr/>
        </p:nvSpPr>
        <p:spPr>
          <a:xfrm>
            <a:off x="548640" y="5140000"/>
            <a:ext cx="11094415" cy="100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fr-FR" dirty="0"/>
          </a:p>
        </p:txBody>
      </p:sp>
      <p:sp>
        <p:nvSpPr>
          <p:cNvPr id="274" name="Text 274"/>
          <p:cNvSpPr txBox="1"/>
          <p:nvPr/>
        </p:nvSpPr>
        <p:spPr>
          <a:xfrm>
            <a:off x="713232" y="5190000"/>
            <a:ext cx="10765231" cy="900000"/>
          </a:xfrm>
          <a:prstGeom prst="rect">
            <a:avLst/>
          </a:prstGeom>
          <a:noFill/>
          <a:ln/>
        </p:spPr>
        <p:txBody>
          <a:bodyPr wrap="square" lIns="0" tIns="0" rIns="0" bIns="0" rtlCol="0" anchor="ctr"/>
          <a:lstStyle/>
          <a:p>
            <a:pPr marL="0" indent="0" algn="l">
              <a:lnSpc>
                <a:spcPct val="95000"/>
              </a:lnSpc>
              <a:buNone/>
            </a:pPr>
            <a:r>
              <a:rPr lang="fr-FR" sz="1800" b="1" dirty="0">
                <a:solidFill>
                  <a:srgbClr val="C9761A"/>
                </a:solidFill>
                <a:latin typeface="Calibri" pitchFamily="34" charset="0"/>
                <a:ea typeface="Calibri" pitchFamily="34" charset="-122"/>
                <a:cs typeface="Calibri" pitchFamily="34" charset="-120"/>
              </a:rPr>
              <a:t>⚠️ Un changement nouveau, persistant et différent de l’autre côté doit être évalué, à tout âge et à toute étape de la vie.</a:t>
            </a:r>
            <a:endParaRPr lang="fr-FR" sz="1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Text 284"/>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285" name="Text 285"/>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Étape 5 : décrire et noter vos constatations</a:t>
            </a:r>
            <a:endParaRPr lang="fr-FR" sz="1800" dirty="0"/>
          </a:p>
        </p:txBody>
      </p:sp>
      <p:sp>
        <p:nvSpPr>
          <p:cNvPr id="286" name="Text 286"/>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278" name="Shape 278"/>
          <p:cNvSpPr/>
          <p:nvPr/>
        </p:nvSpPr>
        <p:spPr>
          <a:xfrm>
            <a:off x="548640" y="1215000"/>
            <a:ext cx="5450000" cy="36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79" name="Text 279"/>
          <p:cNvSpPr txBox="1"/>
          <p:nvPr/>
        </p:nvSpPr>
        <p:spPr>
          <a:xfrm>
            <a:off x="713232" y="1333872"/>
            <a:ext cx="5120816" cy="344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Pour toute masse, notez</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Localisation : </a:t>
            </a:r>
            <a:r>
              <a:rPr lang="fr-FR" sz="1800" dirty="0">
                <a:solidFill>
                  <a:srgbClr val="0B1F3F"/>
                </a:solidFill>
                <a:latin typeface="Calibri" pitchFamily="34" charset="0"/>
                <a:ea typeface="Calibri" pitchFamily="34" charset="-122"/>
                <a:cs typeface="Calibri" pitchFamily="34" charset="-120"/>
              </a:rPr>
              <a:t>côté, heure, distance au mamelon.</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Taille : </a:t>
            </a:r>
            <a:r>
              <a:rPr lang="fr-FR" sz="1800" dirty="0">
                <a:solidFill>
                  <a:srgbClr val="0B1F3F"/>
                </a:solidFill>
                <a:latin typeface="Calibri" pitchFamily="34" charset="0"/>
                <a:ea typeface="Calibri" pitchFamily="34" charset="-122"/>
                <a:cs typeface="Calibri" pitchFamily="34" charset="-120"/>
              </a:rPr>
              <a:t>en centimètres.</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Forme et contours : </a:t>
            </a:r>
            <a:r>
              <a:rPr lang="fr-FR" sz="1800" dirty="0">
                <a:solidFill>
                  <a:srgbClr val="0B1F3F"/>
                </a:solidFill>
                <a:latin typeface="Calibri" pitchFamily="34" charset="0"/>
                <a:ea typeface="Calibri" pitchFamily="34" charset="-122"/>
                <a:cs typeface="Calibri" pitchFamily="34" charset="-120"/>
              </a:rPr>
              <a:t>réguliers ou irréguliers.</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Consistance : </a:t>
            </a:r>
            <a:r>
              <a:rPr lang="fr-FR" sz="1800" dirty="0">
                <a:solidFill>
                  <a:srgbClr val="0B1F3F"/>
                </a:solidFill>
                <a:latin typeface="Calibri" pitchFamily="34" charset="0"/>
                <a:ea typeface="Calibri" pitchFamily="34" charset="-122"/>
                <a:cs typeface="Calibri" pitchFamily="34" charset="-120"/>
              </a:rPr>
              <a:t>molle, ferme ou dure.</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Mobilité : </a:t>
            </a:r>
            <a:r>
              <a:rPr lang="fr-FR" sz="1800" dirty="0">
                <a:solidFill>
                  <a:srgbClr val="0B1F3F"/>
                </a:solidFill>
                <a:latin typeface="Calibri" pitchFamily="34" charset="0"/>
                <a:ea typeface="Calibri" pitchFamily="34" charset="-122"/>
                <a:cs typeface="Calibri" pitchFamily="34" charset="-120"/>
              </a:rPr>
              <a:t>mobile, ou fixée à la peau ou au plan profond.</a:t>
            </a:r>
            <a:endParaRPr lang="fr-FR" sz="1800" dirty="0"/>
          </a:p>
          <a:p>
            <a:pPr marL="0" indent="0" algn="l">
              <a:lnSpc>
                <a:spcPct val="95000"/>
              </a:lnSpc>
              <a:spcAft>
                <a:spcPts val="300"/>
              </a:spcAft>
              <a:buNone/>
            </a:pPr>
            <a:r>
              <a:rPr lang="fr-FR" sz="1800" b="1" dirty="0">
                <a:solidFill>
                  <a:srgbClr val="12315B"/>
                </a:solidFill>
                <a:latin typeface="Calibri" pitchFamily="34" charset="0"/>
                <a:ea typeface="Calibri" pitchFamily="34" charset="-122"/>
                <a:cs typeface="Calibri" pitchFamily="34" charset="-120"/>
              </a:rPr>
              <a:t>Aussi : </a:t>
            </a:r>
            <a:r>
              <a:rPr lang="fr-FR" sz="1800" dirty="0">
                <a:solidFill>
                  <a:srgbClr val="0B1F3F"/>
                </a:solidFill>
                <a:latin typeface="Calibri" pitchFamily="34" charset="0"/>
                <a:ea typeface="Calibri" pitchFamily="34" charset="-122"/>
                <a:cs typeface="Calibri" pitchFamily="34" charset="-120"/>
              </a:rPr>
              <a:t>sensibilité, peau, mamelon, ganglions.</a:t>
            </a:r>
            <a:endParaRPr lang="fr-FR" sz="1800" dirty="0"/>
          </a:p>
        </p:txBody>
      </p:sp>
      <p:sp>
        <p:nvSpPr>
          <p:cNvPr id="280" name="Shape 280"/>
          <p:cNvSpPr/>
          <p:nvPr/>
        </p:nvSpPr>
        <p:spPr>
          <a:xfrm>
            <a:off x="6148640" y="1215000"/>
            <a:ext cx="5494415" cy="3650000"/>
          </a:xfrm>
          <a:prstGeom prst="roundRect">
            <a:avLst>
              <a:gd name="adj" fmla="val 3500"/>
            </a:avLst>
          </a:prstGeom>
          <a:solidFill>
            <a:srgbClr val="FFF7E6"/>
          </a:solidFill>
          <a:ln w="12700">
            <a:solidFill>
              <a:srgbClr val="EFD3AA"/>
            </a:solidFill>
            <a:prstDash val="solid"/>
          </a:ln>
        </p:spPr>
        <p:txBody>
          <a:bodyPr wrap="square" lIns="91440" tIns="45720" rIns="91440" bIns="45720" rtlCol="0" anchor="ctr"/>
          <a:lstStyle/>
          <a:p>
            <a:endParaRPr lang="fr-FR" dirty="0"/>
          </a:p>
        </p:txBody>
      </p:sp>
      <p:sp>
        <p:nvSpPr>
          <p:cNvPr id="281" name="Text 281"/>
          <p:cNvSpPr txBox="1"/>
          <p:nvPr/>
        </p:nvSpPr>
        <p:spPr>
          <a:xfrm>
            <a:off x="6313232" y="1333872"/>
            <a:ext cx="5165231" cy="3440000"/>
          </a:xfrm>
          <a:prstGeom prst="rect">
            <a:avLst/>
          </a:prstGeom>
          <a:noFill/>
          <a:ln/>
        </p:spPr>
        <p:txBody>
          <a:bodyPr wrap="square" lIns="0" tIns="0" rIns="0" bIns="0" rtlCol="0" anchor="t"/>
          <a:lstStyle/>
          <a:p>
            <a:pPr marL="0" indent="0" algn="l">
              <a:lnSpc>
                <a:spcPct val="95000"/>
              </a:lnSpc>
              <a:spcAft>
                <a:spcPts val="400"/>
              </a:spcAft>
              <a:buNone/>
            </a:pPr>
            <a:r>
              <a:rPr lang="fr-FR" sz="1800" b="1" dirty="0">
                <a:solidFill>
                  <a:srgbClr val="12315B"/>
                </a:solidFill>
                <a:latin typeface="Calibri" pitchFamily="34" charset="0"/>
                <a:ea typeface="Calibri" pitchFamily="34" charset="-122"/>
                <a:cs typeface="Calibri" pitchFamily="34" charset="-120"/>
              </a:rPr>
              <a:t>Exemple de bonne note</a:t>
            </a:r>
            <a:endParaRPr lang="fr-FR" sz="1800" dirty="0"/>
          </a:p>
          <a:p>
            <a:pPr marL="0" indent="0" algn="l">
              <a:lnSpc>
                <a:spcPct val="95000"/>
              </a:lnSpc>
              <a:spcAft>
                <a:spcPts val="300"/>
              </a:spcAft>
              <a:buNone/>
            </a:pPr>
            <a:r>
              <a:rPr lang="fr-FR" sz="1800" dirty="0">
                <a:solidFill>
                  <a:srgbClr val="0B1F3F"/>
                </a:solidFill>
                <a:latin typeface="Calibri" pitchFamily="34" charset="0"/>
                <a:ea typeface="Calibri" pitchFamily="34" charset="-122"/>
                <a:cs typeface="Calibri" pitchFamily="34" charset="-120"/>
              </a:rPr>
              <a:t>Sein gauche, 2 h, à 4 cm du mamelon : masse de 2 cm, ferme, irrégulière, fixée à la peau, avec fossette cutanée en regard. Pas de ganglion axillaire ni </a:t>
            </a:r>
            <a:r>
              <a:rPr lang="fr-FR" sz="1800" dirty="0" err="1">
                <a:solidFill>
                  <a:srgbClr val="0B1F3F"/>
                </a:solidFill>
                <a:latin typeface="Calibri" pitchFamily="34" charset="0"/>
                <a:ea typeface="Calibri" pitchFamily="34" charset="-122"/>
                <a:cs typeface="Calibri" pitchFamily="34" charset="-120"/>
              </a:rPr>
              <a:t>sus-claviculaire</a:t>
            </a:r>
            <a:r>
              <a:rPr lang="fr-FR" sz="1800" dirty="0">
                <a:solidFill>
                  <a:srgbClr val="0B1F3F"/>
                </a:solidFill>
                <a:latin typeface="Calibri" pitchFamily="34" charset="0"/>
                <a:ea typeface="Calibri" pitchFamily="34" charset="-122"/>
                <a:cs typeface="Calibri" pitchFamily="34" charset="-120"/>
              </a:rPr>
              <a:t> palpé. Sein droit normal.</a:t>
            </a:r>
            <a:endParaRPr lang="fr-FR" sz="1800" dirty="0"/>
          </a:p>
        </p:txBody>
      </p:sp>
      <p:sp>
        <p:nvSpPr>
          <p:cNvPr id="282" name="Shape 282"/>
          <p:cNvSpPr/>
          <p:nvPr/>
        </p:nvSpPr>
        <p:spPr>
          <a:xfrm>
            <a:off x="548640" y="5000000"/>
            <a:ext cx="11094415" cy="115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283" name="Text 283"/>
          <p:cNvSpPr txBox="1"/>
          <p:nvPr/>
        </p:nvSpPr>
        <p:spPr>
          <a:xfrm>
            <a:off x="713232" y="5050000"/>
            <a:ext cx="10765231" cy="1050000"/>
          </a:xfrm>
          <a:prstGeom prst="rect">
            <a:avLst/>
          </a:prstGeom>
          <a:noFill/>
          <a:ln/>
        </p:spPr>
        <p:txBody>
          <a:bodyPr wrap="square" lIns="0" tIns="0" rIns="0" bIns="0" rtlCol="0" anchor="ctr"/>
          <a:lstStyle/>
          <a:p>
            <a:pPr marL="0" indent="0" algn="l">
              <a:lnSpc>
                <a:spcPct val="95000"/>
              </a:lnSpc>
              <a:buNone/>
            </a:pPr>
            <a:r>
              <a:rPr lang="fr-FR" sz="1800" dirty="0">
                <a:solidFill>
                  <a:srgbClr val="0B1F3F"/>
                </a:solidFill>
                <a:latin typeface="Calibri" pitchFamily="34" charset="0"/>
                <a:ea typeface="Calibri" pitchFamily="34" charset="-122"/>
                <a:cs typeface="Calibri" pitchFamily="34" charset="-120"/>
              </a:rPr>
              <a:t>📋 Notez aussi un examen normal. Cette référence écrite montrera plus tard si quelque chose est nouveau.</a:t>
            </a:r>
            <a:endParaRPr lang="fr-FR"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ext 304"/>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305" name="Text 305"/>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Au centre de santé : plainte mammaire, femme non allaitante</a:t>
            </a:r>
            <a:endParaRPr lang="fr-FR" sz="1800" dirty="0"/>
          </a:p>
        </p:txBody>
      </p:sp>
      <p:sp>
        <p:nvSpPr>
          <p:cNvPr id="306" name="Text 306"/>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302" name="Shape 302"/>
          <p:cNvSpPr/>
          <p:nvPr/>
        </p:nvSpPr>
        <p:spPr>
          <a:xfrm>
            <a:off x="548639" y="5788804"/>
            <a:ext cx="11455101" cy="609315"/>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fr-FR" dirty="0"/>
          </a:p>
        </p:txBody>
      </p:sp>
      <p:sp>
        <p:nvSpPr>
          <p:cNvPr id="303" name="Text 303"/>
          <p:cNvSpPr txBox="1"/>
          <p:nvPr/>
        </p:nvSpPr>
        <p:spPr>
          <a:xfrm>
            <a:off x="708639" y="5791192"/>
            <a:ext cx="10934415" cy="566928"/>
          </a:xfrm>
          <a:prstGeom prst="rect">
            <a:avLst/>
          </a:prstGeom>
          <a:noFill/>
          <a:ln/>
        </p:spPr>
        <p:txBody>
          <a:bodyPr wrap="square" lIns="0" tIns="0" rIns="0" bIns="0" rtlCol="0" anchor="ctr"/>
          <a:lstStyle/>
          <a:p>
            <a:pPr marL="0" indent="0" algn="l">
              <a:lnSpc>
                <a:spcPct val="95000"/>
              </a:lnSpc>
              <a:buNone/>
            </a:pPr>
            <a:r>
              <a:rPr lang="fr-FR" sz="1700" b="1" dirty="0">
                <a:solidFill>
                  <a:srgbClr val="C9761A"/>
                </a:solidFill>
                <a:latin typeface="Calibri" pitchFamily="34" charset="0"/>
                <a:ea typeface="Calibri" pitchFamily="34" charset="-122"/>
                <a:cs typeface="Calibri" pitchFamily="34" charset="-120"/>
              </a:rPr>
              <a:t>⏱️ Dans quel délai : </a:t>
            </a:r>
            <a:r>
              <a:rPr lang="fr-FR" sz="1700" dirty="0">
                <a:solidFill>
                  <a:srgbClr val="0B1F3F"/>
                </a:solidFill>
                <a:latin typeface="Calibri" pitchFamily="34" charset="0"/>
                <a:ea typeface="Calibri" pitchFamily="34" charset="-122"/>
                <a:cs typeface="Calibri" pitchFamily="34" charset="-120"/>
              </a:rPr>
              <a:t>Utilisez les listes urgente et rapide. L’orientation urgente se fait dans les 24 heures. Expliquez la raison et notez la constatation et la destination.</a:t>
            </a:r>
            <a:endParaRPr lang="fr-FR" sz="1700" dirty="0"/>
          </a:p>
        </p:txBody>
      </p:sp>
      <p:pic>
        <p:nvPicPr>
          <p:cNvPr id="2" name="Imagen 1">
            <a:extLst>
              <a:ext uri="{FF2B5EF4-FFF2-40B4-BE49-F238E27FC236}">
                <a16:creationId xmlns:a16="http://schemas.microsoft.com/office/drawing/2014/main" id="{C39872CA-135A-EBF7-FE97-15CDB75B660B}"/>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2396066" y="1010702"/>
            <a:ext cx="7628466" cy="4728052"/>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ext 32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329" name="Text 32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Au centre de santé : plainte mammaire pendant l’allaitement</a:t>
            </a:r>
            <a:endParaRPr lang="fr-FR" sz="1800" dirty="0"/>
          </a:p>
        </p:txBody>
      </p:sp>
      <p:sp>
        <p:nvSpPr>
          <p:cNvPr id="330" name="Text 33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326" name="Shape 326"/>
          <p:cNvSpPr/>
          <p:nvPr/>
        </p:nvSpPr>
        <p:spPr>
          <a:xfrm>
            <a:off x="548640" y="5313404"/>
            <a:ext cx="11094415" cy="886595"/>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327" name="Text 327"/>
          <p:cNvSpPr txBox="1"/>
          <p:nvPr/>
        </p:nvSpPr>
        <p:spPr>
          <a:xfrm>
            <a:off x="713232" y="5352064"/>
            <a:ext cx="10765231" cy="797936"/>
          </a:xfrm>
          <a:prstGeom prst="rect">
            <a:avLst/>
          </a:prstGeom>
          <a:noFill/>
          <a:ln/>
        </p:spPr>
        <p:txBody>
          <a:bodyPr wrap="square" lIns="0" tIns="0" rIns="0" bIns="0" rtlCol="0" anchor="ctr"/>
          <a:lstStyle/>
          <a:p>
            <a:pPr marL="0" indent="0" algn="l">
              <a:lnSpc>
                <a:spcPct val="95000"/>
              </a:lnSpc>
              <a:buNone/>
            </a:pPr>
            <a:r>
              <a:rPr lang="fr-FR" sz="1700" b="1" dirty="0">
                <a:solidFill>
                  <a:srgbClr val="12315B"/>
                </a:solidFill>
                <a:latin typeface="Calibri" pitchFamily="34" charset="0"/>
                <a:ea typeface="Calibri" pitchFamily="34" charset="-122"/>
                <a:cs typeface="Calibri" pitchFamily="34" charset="-120"/>
              </a:rPr>
              <a:t>⏱️ Revoir chaque femme traitée au centre de santé dans 14 jours. </a:t>
            </a:r>
            <a:r>
              <a:rPr lang="fr-FR" sz="1700" dirty="0">
                <a:solidFill>
                  <a:srgbClr val="0B1F3F"/>
                </a:solidFill>
                <a:latin typeface="Calibri" pitchFamily="34" charset="0"/>
                <a:ea typeface="Calibri" pitchFamily="34" charset="-122"/>
                <a:cs typeface="Calibri" pitchFamily="34" charset="-120"/>
              </a:rPr>
              <a:t>Guérison : fin du suivi. Pas de guérison ou aggravation : orienter vers l’hôpital de district, car un cancer inflammatoire du sein peut ressembler à une mastite.</a:t>
            </a:r>
            <a:endParaRPr lang="fr-FR" sz="1800" dirty="0"/>
          </a:p>
        </p:txBody>
      </p:sp>
      <p:pic>
        <p:nvPicPr>
          <p:cNvPr id="2" name="Imagen 1">
            <a:extLst>
              <a:ext uri="{FF2B5EF4-FFF2-40B4-BE49-F238E27FC236}">
                <a16:creationId xmlns:a16="http://schemas.microsoft.com/office/drawing/2014/main" id="{03936C50-73DB-CCA9-A0E5-AE24F4B6AA2F}"/>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464574" y="1094199"/>
            <a:ext cx="9237287" cy="4065212"/>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Text 345"/>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346" name="Text 346"/>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Que feriez-vous ensuite ? (1 sur 2)</a:t>
            </a:r>
            <a:endParaRPr lang="fr-FR" sz="1800" dirty="0"/>
          </a:p>
        </p:txBody>
      </p:sp>
      <p:sp>
        <p:nvSpPr>
          <p:cNvPr id="347" name="Text 347"/>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331" name="Shape 331"/>
          <p:cNvSpPr/>
          <p:nvPr/>
        </p:nvSpPr>
        <p:spPr>
          <a:xfrm>
            <a:off x="548640" y="11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332" name="Text 332"/>
          <p:cNvSpPr txBox="1"/>
          <p:nvPr/>
        </p:nvSpPr>
        <p:spPr>
          <a:xfrm>
            <a:off x="713232" y="1270000"/>
            <a:ext cx="10765231" cy="700000"/>
          </a:xfrm>
          <a:prstGeom prst="rect">
            <a:avLst/>
          </a:prstGeom>
          <a:noFill/>
          <a:ln/>
        </p:spPr>
        <p:txBody>
          <a:bodyPr wrap="square" lIns="0" tIns="0" rIns="0" bIns="0" rtlCol="0" anchor="t"/>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 Béatrice </a:t>
            </a:r>
            <a:r>
              <a:rPr lang="fr-FR" sz="1800" b="1" dirty="0" err="1">
                <a:solidFill>
                  <a:srgbClr val="12315B"/>
                </a:solidFill>
                <a:latin typeface="Calibri" pitchFamily="34" charset="0"/>
                <a:ea typeface="Calibri" pitchFamily="34" charset="-122"/>
                <a:cs typeface="Calibri" pitchFamily="34" charset="-120"/>
              </a:rPr>
              <a:t>Mukamana</a:t>
            </a:r>
            <a:r>
              <a:rPr lang="fr-FR" sz="1800" b="1" dirty="0">
                <a:solidFill>
                  <a:srgbClr val="12315B"/>
                </a:solidFill>
                <a:latin typeface="Calibri" pitchFamily="34" charset="0"/>
                <a:ea typeface="Calibri" pitchFamily="34" charset="-122"/>
                <a:cs typeface="Calibri" pitchFamily="34" charset="-120"/>
              </a:rPr>
              <a:t>, 45 ans : </a:t>
            </a:r>
            <a:r>
              <a:rPr lang="fr-FR" sz="1800" dirty="0">
                <a:solidFill>
                  <a:srgbClr val="0B1F3F"/>
                </a:solidFill>
                <a:latin typeface="Calibri" pitchFamily="34" charset="0"/>
                <a:ea typeface="Calibri" pitchFamily="34" charset="-122"/>
                <a:cs typeface="Calibri" pitchFamily="34" charset="-120"/>
              </a:rPr>
              <a:t>Non allaitante. Boule du sein gauche depuis un mois. À l’examen : fossette cutanée à 2 h, au-dessus d’une masse ferme de 2 cm fixée à la peau. Pas de ganglion.</a:t>
            </a:r>
            <a:endParaRPr lang="fr-FR" sz="1800" dirty="0"/>
          </a:p>
        </p:txBody>
      </p:sp>
      <p:sp>
        <p:nvSpPr>
          <p:cNvPr id="333" name="Text 333"/>
          <p:cNvSpPr txBox="1"/>
          <p:nvPr/>
        </p:nvSpPr>
        <p:spPr>
          <a:xfrm>
            <a:off x="713232" y="198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A. Rassurer et revoir dans 14 jours</a:t>
            </a:r>
            <a:endParaRPr lang="fr-FR" sz="1800" dirty="0"/>
          </a:p>
        </p:txBody>
      </p:sp>
      <p:sp>
        <p:nvSpPr>
          <p:cNvPr id="334" name="Text 334"/>
          <p:cNvSpPr txBox="1"/>
          <p:nvPr/>
        </p:nvSpPr>
        <p:spPr>
          <a:xfrm>
            <a:off x="6095847" y="198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B. Antibiotiques puis contrôle</a:t>
            </a:r>
            <a:endParaRPr lang="fr-FR" sz="1800" dirty="0"/>
          </a:p>
        </p:txBody>
      </p:sp>
      <p:sp>
        <p:nvSpPr>
          <p:cNvPr id="335" name="Text 335"/>
          <p:cNvSpPr txBox="1"/>
          <p:nvPr/>
        </p:nvSpPr>
        <p:spPr>
          <a:xfrm>
            <a:off x="713232" y="2360000"/>
            <a:ext cx="5322615" cy="360000"/>
          </a:xfrm>
          <a:prstGeom prst="rect">
            <a:avLst/>
          </a:prstGeom>
          <a:noFill/>
          <a:ln/>
        </p:spPr>
        <p:txBody>
          <a:bodyPr wrap="square" lIns="0" tIns="0" rIns="0" bIns="0" rtlCol="0" anchor="ctr"/>
          <a:lstStyle/>
          <a:p>
            <a:pPr marL="0" indent="0" algn="l">
              <a:lnSpc>
                <a:spcPct val="95000"/>
              </a:lnSpc>
              <a:buNone/>
            </a:pPr>
            <a:r>
              <a:rPr lang="fr-FR" sz="1800" b="1" dirty="0">
                <a:solidFill>
                  <a:srgbClr val="1B6E4A"/>
                </a:solidFill>
                <a:latin typeface="Calibri" pitchFamily="34" charset="0"/>
                <a:ea typeface="Calibri" pitchFamily="34" charset="-122"/>
                <a:cs typeface="Calibri" pitchFamily="34" charset="-120"/>
              </a:rPr>
              <a:t>C. Orienter à l’hôpital de district sous 24 h</a:t>
            </a:r>
            <a:endParaRPr lang="fr-FR" sz="1800" dirty="0"/>
          </a:p>
        </p:txBody>
      </p:sp>
      <p:sp>
        <p:nvSpPr>
          <p:cNvPr id="336" name="Text 336"/>
          <p:cNvSpPr txBox="1"/>
          <p:nvPr/>
        </p:nvSpPr>
        <p:spPr>
          <a:xfrm>
            <a:off x="6095847" y="236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D. Prévoir son prochain contrôle de routine</a:t>
            </a:r>
            <a:endParaRPr lang="fr-FR" sz="1800" dirty="0"/>
          </a:p>
        </p:txBody>
      </p:sp>
      <p:sp>
        <p:nvSpPr>
          <p:cNvPr id="337" name="Text 337"/>
          <p:cNvSpPr txBox="1"/>
          <p:nvPr/>
        </p:nvSpPr>
        <p:spPr>
          <a:xfrm>
            <a:off x="713232" y="2800000"/>
            <a:ext cx="10765231" cy="800000"/>
          </a:xfrm>
          <a:prstGeom prst="rect">
            <a:avLst/>
          </a:prstGeom>
          <a:noFill/>
          <a:ln/>
        </p:spPr>
        <p:txBody>
          <a:bodyPr wrap="square" lIns="0" tIns="0" rIns="0" bIns="0" rtlCol="0" anchor="t"/>
          <a:lstStyle/>
          <a:p>
            <a:pPr marL="0" indent="0" algn="l">
              <a:lnSpc>
                <a:spcPct val="95000"/>
              </a:lnSpc>
              <a:buNone/>
            </a:pPr>
            <a:r>
              <a:rPr lang="fr-FR" sz="1600" b="1" dirty="0">
                <a:solidFill>
                  <a:srgbClr val="1B6E4A"/>
                </a:solidFill>
                <a:latin typeface="Calibri" pitchFamily="34" charset="0"/>
                <a:ea typeface="Calibri" pitchFamily="34" charset="-122"/>
                <a:cs typeface="Calibri" pitchFamily="34" charset="-120"/>
              </a:rPr>
              <a:t>Correct : C. </a:t>
            </a:r>
            <a:r>
              <a:rPr lang="fr-FR" sz="1600" dirty="0">
                <a:solidFill>
                  <a:srgbClr val="0B1F3F"/>
                </a:solidFill>
                <a:latin typeface="Calibri" pitchFamily="34" charset="0"/>
                <a:ea typeface="Calibri" pitchFamily="34" charset="-122"/>
                <a:cs typeface="Calibri" pitchFamily="34" charset="-120"/>
              </a:rPr>
              <a:t>Une masse fixée avec fossette cutanée figure sur la liste urgente. Orientez sous 24 heures, expliquez que les examens diront ce qu’est cette boule, et notez : sein gauche, 2 h.</a:t>
            </a:r>
            <a:endParaRPr lang="fr-FR" sz="1600" dirty="0"/>
          </a:p>
        </p:txBody>
      </p:sp>
      <p:sp>
        <p:nvSpPr>
          <p:cNvPr id="338" name="Shape 338"/>
          <p:cNvSpPr/>
          <p:nvPr/>
        </p:nvSpPr>
        <p:spPr>
          <a:xfrm>
            <a:off x="548640" y="37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339" name="Text 339"/>
          <p:cNvSpPr txBox="1"/>
          <p:nvPr/>
        </p:nvSpPr>
        <p:spPr>
          <a:xfrm>
            <a:off x="713232" y="3870000"/>
            <a:ext cx="10765231" cy="700000"/>
          </a:xfrm>
          <a:prstGeom prst="rect">
            <a:avLst/>
          </a:prstGeom>
          <a:noFill/>
          <a:ln/>
        </p:spPr>
        <p:txBody>
          <a:bodyPr wrap="square" lIns="0" tIns="0" rIns="0" bIns="0" rtlCol="0" anchor="t"/>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 Claudine Uwimana, 27 ans : </a:t>
            </a:r>
            <a:r>
              <a:rPr lang="fr-FR" sz="1800" dirty="0">
                <a:solidFill>
                  <a:srgbClr val="0B1F3F"/>
                </a:solidFill>
                <a:latin typeface="Calibri" pitchFamily="34" charset="0"/>
                <a:ea typeface="Calibri" pitchFamily="34" charset="-122"/>
                <a:cs typeface="Calibri" pitchFamily="34" charset="-120"/>
              </a:rPr>
              <a:t>Allaite un bébé de 3 mois. Depuis deux jours, sein droit rouge, chaud et douloureux, avec fièvre. Aucune masse palpée.</a:t>
            </a:r>
            <a:endParaRPr lang="fr-FR" sz="1800" dirty="0"/>
          </a:p>
        </p:txBody>
      </p:sp>
      <p:sp>
        <p:nvSpPr>
          <p:cNvPr id="340" name="Text 340"/>
          <p:cNvSpPr txBox="1"/>
          <p:nvPr/>
        </p:nvSpPr>
        <p:spPr>
          <a:xfrm>
            <a:off x="713232" y="458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A. Lui dire d’arrêter l’allaitement</a:t>
            </a:r>
            <a:endParaRPr lang="fr-FR" sz="1800" dirty="0"/>
          </a:p>
        </p:txBody>
      </p:sp>
      <p:sp>
        <p:nvSpPr>
          <p:cNvPr id="341" name="Text 341"/>
          <p:cNvSpPr txBox="1"/>
          <p:nvPr/>
        </p:nvSpPr>
        <p:spPr>
          <a:xfrm>
            <a:off x="6095847" y="4580000"/>
            <a:ext cx="5322615" cy="360000"/>
          </a:xfrm>
          <a:prstGeom prst="rect">
            <a:avLst/>
          </a:prstGeom>
          <a:noFill/>
          <a:ln/>
        </p:spPr>
        <p:txBody>
          <a:bodyPr wrap="square" lIns="0" tIns="0" rIns="0" bIns="0" rtlCol="0" anchor="ctr"/>
          <a:lstStyle/>
          <a:p>
            <a:pPr marL="0" indent="0" algn="l">
              <a:lnSpc>
                <a:spcPct val="95000"/>
              </a:lnSpc>
              <a:buNone/>
            </a:pPr>
            <a:r>
              <a:rPr lang="fr-FR" sz="1800" b="1" dirty="0">
                <a:solidFill>
                  <a:srgbClr val="1B6E4A"/>
                </a:solidFill>
                <a:latin typeface="Calibri" pitchFamily="34" charset="0"/>
                <a:ea typeface="Calibri" pitchFamily="34" charset="-122"/>
                <a:cs typeface="Calibri" pitchFamily="34" charset="-120"/>
              </a:rPr>
              <a:t>B. Allaiter ; traiter la mastite ; revoir à 14 j</a:t>
            </a:r>
            <a:endParaRPr lang="fr-FR" sz="1800" dirty="0"/>
          </a:p>
        </p:txBody>
      </p:sp>
      <p:sp>
        <p:nvSpPr>
          <p:cNvPr id="342" name="Text 342"/>
          <p:cNvSpPr txBox="1"/>
          <p:nvPr/>
        </p:nvSpPr>
        <p:spPr>
          <a:xfrm>
            <a:off x="713232" y="496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C. Orienter en urgence pour drainage</a:t>
            </a:r>
            <a:endParaRPr lang="fr-FR" sz="1800" dirty="0"/>
          </a:p>
        </p:txBody>
      </p:sp>
      <p:sp>
        <p:nvSpPr>
          <p:cNvPr id="343" name="Text 343"/>
          <p:cNvSpPr txBox="1"/>
          <p:nvPr/>
        </p:nvSpPr>
        <p:spPr>
          <a:xfrm>
            <a:off x="6095847" y="496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D. Aucun traitement ; revoir dans 3 mois</a:t>
            </a:r>
            <a:endParaRPr lang="fr-FR" sz="1800" dirty="0"/>
          </a:p>
        </p:txBody>
      </p:sp>
      <p:sp>
        <p:nvSpPr>
          <p:cNvPr id="344" name="Text 344"/>
          <p:cNvSpPr txBox="1"/>
          <p:nvPr/>
        </p:nvSpPr>
        <p:spPr>
          <a:xfrm>
            <a:off x="713232" y="5400000"/>
            <a:ext cx="10765231" cy="800000"/>
          </a:xfrm>
          <a:prstGeom prst="rect">
            <a:avLst/>
          </a:prstGeom>
          <a:noFill/>
          <a:ln/>
        </p:spPr>
        <p:txBody>
          <a:bodyPr wrap="square" lIns="0" tIns="0" rIns="0" bIns="0" rtlCol="0" anchor="t"/>
          <a:lstStyle/>
          <a:p>
            <a:pPr marL="0" indent="0" algn="l">
              <a:lnSpc>
                <a:spcPct val="95000"/>
              </a:lnSpc>
              <a:buNone/>
            </a:pPr>
            <a:r>
              <a:rPr lang="fr-FR" sz="1600" b="1" dirty="0">
                <a:solidFill>
                  <a:srgbClr val="1B6E4A"/>
                </a:solidFill>
                <a:latin typeface="Calibri" pitchFamily="34" charset="0"/>
                <a:ea typeface="Calibri" pitchFamily="34" charset="-122"/>
                <a:cs typeface="Calibri" pitchFamily="34" charset="-120"/>
              </a:rPr>
              <a:t>Correct : B. </a:t>
            </a:r>
            <a:r>
              <a:rPr lang="fr-FR" sz="1600" dirty="0">
                <a:solidFill>
                  <a:srgbClr val="0B1F3F"/>
                </a:solidFill>
                <a:latin typeface="Calibri" pitchFamily="34" charset="0"/>
                <a:ea typeface="Calibri" pitchFamily="34" charset="-122"/>
                <a:cs typeface="Calibri" pitchFamily="34" charset="-120"/>
              </a:rPr>
              <a:t>Mastite sans masse. L’allaitement continue et favorise le drainage. Sans guérison au contrôle, ou si une masse apparaît, orientez vers l’hôpital de district.</a:t>
            </a:r>
            <a:endParaRPr lang="fr-FR"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Text 362"/>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363" name="Text 363"/>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Que feriez-vous ensuite ? (2 sur 2)</a:t>
            </a:r>
            <a:endParaRPr lang="fr-FR" sz="1800" dirty="0"/>
          </a:p>
        </p:txBody>
      </p:sp>
      <p:sp>
        <p:nvSpPr>
          <p:cNvPr id="364" name="Text 364"/>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348" name="Shape 348"/>
          <p:cNvSpPr/>
          <p:nvPr/>
        </p:nvSpPr>
        <p:spPr>
          <a:xfrm>
            <a:off x="548640" y="11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349" name="Text 349"/>
          <p:cNvSpPr txBox="1"/>
          <p:nvPr/>
        </p:nvSpPr>
        <p:spPr>
          <a:xfrm>
            <a:off x="713232" y="1270000"/>
            <a:ext cx="10765231" cy="700000"/>
          </a:xfrm>
          <a:prstGeom prst="rect">
            <a:avLst/>
          </a:prstGeom>
          <a:noFill/>
          <a:ln/>
        </p:spPr>
        <p:txBody>
          <a:bodyPr wrap="square" lIns="0" tIns="0" rIns="0" bIns="0" rtlCol="0" anchor="t"/>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 Josiane </a:t>
            </a:r>
            <a:r>
              <a:rPr lang="fr-FR" sz="1800" b="1" dirty="0" err="1">
                <a:solidFill>
                  <a:srgbClr val="12315B"/>
                </a:solidFill>
                <a:latin typeface="Calibri" pitchFamily="34" charset="0"/>
                <a:ea typeface="Calibri" pitchFamily="34" charset="-122"/>
                <a:cs typeface="Calibri" pitchFamily="34" charset="-120"/>
              </a:rPr>
              <a:t>Ingabire</a:t>
            </a:r>
            <a:r>
              <a:rPr lang="fr-FR" sz="1800" b="1" dirty="0">
                <a:solidFill>
                  <a:srgbClr val="12315B"/>
                </a:solidFill>
                <a:latin typeface="Calibri" pitchFamily="34" charset="0"/>
                <a:ea typeface="Calibri" pitchFamily="34" charset="-122"/>
                <a:cs typeface="Calibri" pitchFamily="34" charset="-120"/>
              </a:rPr>
              <a:t>, 34 ans : </a:t>
            </a:r>
            <a:r>
              <a:rPr lang="fr-FR" sz="1800" dirty="0">
                <a:solidFill>
                  <a:srgbClr val="0B1F3F"/>
                </a:solidFill>
                <a:latin typeface="Calibri" pitchFamily="34" charset="0"/>
                <a:ea typeface="Calibri" pitchFamily="34" charset="-122"/>
                <a:cs typeface="Calibri" pitchFamily="34" charset="-120"/>
              </a:rPr>
              <a:t>Non allaitante. Les deux seins sont sensibles la semaine avant les règles. L’examen des seins et des aisselles est normal.</a:t>
            </a:r>
            <a:endParaRPr lang="fr-FR" sz="1800" dirty="0"/>
          </a:p>
        </p:txBody>
      </p:sp>
      <p:sp>
        <p:nvSpPr>
          <p:cNvPr id="350" name="Text 350"/>
          <p:cNvSpPr txBox="1"/>
          <p:nvPr/>
        </p:nvSpPr>
        <p:spPr>
          <a:xfrm>
            <a:off x="713232" y="198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A. Orienter en urgence</a:t>
            </a:r>
            <a:endParaRPr lang="fr-FR" sz="1800" dirty="0"/>
          </a:p>
        </p:txBody>
      </p:sp>
      <p:sp>
        <p:nvSpPr>
          <p:cNvPr id="351" name="Text 351"/>
          <p:cNvSpPr txBox="1"/>
          <p:nvPr/>
        </p:nvSpPr>
        <p:spPr>
          <a:xfrm>
            <a:off x="6095847" y="1980000"/>
            <a:ext cx="5322615" cy="360000"/>
          </a:xfrm>
          <a:prstGeom prst="rect">
            <a:avLst/>
          </a:prstGeom>
          <a:noFill/>
          <a:ln/>
        </p:spPr>
        <p:txBody>
          <a:bodyPr wrap="square" lIns="0" tIns="0" rIns="0" bIns="0" rtlCol="0" anchor="ctr"/>
          <a:lstStyle/>
          <a:p>
            <a:pPr marL="0" indent="0" algn="l">
              <a:lnSpc>
                <a:spcPct val="95000"/>
              </a:lnSpc>
              <a:buNone/>
            </a:pPr>
            <a:r>
              <a:rPr lang="fr-FR" sz="1800" b="1" dirty="0">
                <a:solidFill>
                  <a:srgbClr val="1B6E4A"/>
                </a:solidFill>
                <a:latin typeface="Calibri" pitchFamily="34" charset="0"/>
                <a:ea typeface="Calibri" pitchFamily="34" charset="-122"/>
                <a:cs typeface="Calibri" pitchFamily="34" charset="-120"/>
              </a:rPr>
              <a:t>B. Traiter ; revoir dans 14 jours</a:t>
            </a:r>
            <a:endParaRPr lang="fr-FR" sz="1800" dirty="0"/>
          </a:p>
        </p:txBody>
      </p:sp>
      <p:sp>
        <p:nvSpPr>
          <p:cNvPr id="352" name="Text 352"/>
          <p:cNvSpPr txBox="1"/>
          <p:nvPr/>
        </p:nvSpPr>
        <p:spPr>
          <a:xfrm>
            <a:off x="713232" y="236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C. Commencer des antibiotiques</a:t>
            </a:r>
            <a:endParaRPr lang="fr-FR" sz="1800" dirty="0"/>
          </a:p>
        </p:txBody>
      </p:sp>
      <p:sp>
        <p:nvSpPr>
          <p:cNvPr id="353" name="Text 353"/>
          <p:cNvSpPr txBox="1"/>
          <p:nvPr/>
        </p:nvSpPr>
        <p:spPr>
          <a:xfrm>
            <a:off x="6095847" y="236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D. Dire que la douleur exclut un cancer</a:t>
            </a:r>
            <a:endParaRPr lang="fr-FR" sz="1800" dirty="0"/>
          </a:p>
        </p:txBody>
      </p:sp>
      <p:sp>
        <p:nvSpPr>
          <p:cNvPr id="354" name="Text 354"/>
          <p:cNvSpPr txBox="1"/>
          <p:nvPr/>
        </p:nvSpPr>
        <p:spPr>
          <a:xfrm>
            <a:off x="713232" y="2800000"/>
            <a:ext cx="10765231" cy="800000"/>
          </a:xfrm>
          <a:prstGeom prst="rect">
            <a:avLst/>
          </a:prstGeom>
          <a:noFill/>
          <a:ln/>
        </p:spPr>
        <p:txBody>
          <a:bodyPr wrap="square" lIns="0" tIns="0" rIns="0" bIns="0" rtlCol="0" anchor="t"/>
          <a:lstStyle/>
          <a:p>
            <a:pPr marL="0" indent="0" algn="l">
              <a:lnSpc>
                <a:spcPct val="95000"/>
              </a:lnSpc>
              <a:buNone/>
            </a:pPr>
            <a:r>
              <a:rPr lang="fr-FR" sz="1600" b="1" dirty="0">
                <a:solidFill>
                  <a:srgbClr val="1B6E4A"/>
                </a:solidFill>
                <a:latin typeface="Calibri" pitchFamily="34" charset="0"/>
                <a:ea typeface="Calibri" pitchFamily="34" charset="-122"/>
                <a:cs typeface="Calibri" pitchFamily="34" charset="-120"/>
              </a:rPr>
              <a:t>Correct : B. </a:t>
            </a:r>
            <a:r>
              <a:rPr lang="fr-FR" sz="1600" dirty="0">
                <a:solidFill>
                  <a:srgbClr val="0B1F3F"/>
                </a:solidFill>
                <a:latin typeface="Calibri" pitchFamily="34" charset="0"/>
                <a:ea typeface="Calibri" pitchFamily="34" charset="-122"/>
                <a:cs typeface="Calibri" pitchFamily="34" charset="-120"/>
              </a:rPr>
              <a:t>Une douleur cyclique des deux seins avec examen normal ne justifie pas d’orientation. Si elle persiste, s’aggrave ou si un signe apparaît, orientez. La douleur seule ne confirme ni n’exclut un cancer.</a:t>
            </a:r>
            <a:endParaRPr lang="fr-FR" sz="1600" dirty="0"/>
          </a:p>
        </p:txBody>
      </p:sp>
      <p:sp>
        <p:nvSpPr>
          <p:cNvPr id="355" name="Shape 355"/>
          <p:cNvSpPr/>
          <p:nvPr/>
        </p:nvSpPr>
        <p:spPr>
          <a:xfrm>
            <a:off x="548640" y="37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356" name="Text 356"/>
          <p:cNvSpPr txBox="1"/>
          <p:nvPr/>
        </p:nvSpPr>
        <p:spPr>
          <a:xfrm>
            <a:off x="713232" y="3870000"/>
            <a:ext cx="10765231" cy="700000"/>
          </a:xfrm>
          <a:prstGeom prst="rect">
            <a:avLst/>
          </a:prstGeom>
          <a:noFill/>
          <a:ln/>
        </p:spPr>
        <p:txBody>
          <a:bodyPr wrap="square" lIns="0" tIns="0" rIns="0" bIns="0" rtlCol="0" anchor="t"/>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 Aline </a:t>
            </a:r>
            <a:r>
              <a:rPr lang="fr-FR" sz="1800" b="1" dirty="0" err="1">
                <a:solidFill>
                  <a:srgbClr val="12315B"/>
                </a:solidFill>
                <a:latin typeface="Calibri" pitchFamily="34" charset="0"/>
                <a:ea typeface="Calibri" pitchFamily="34" charset="-122"/>
                <a:cs typeface="Calibri" pitchFamily="34" charset="-120"/>
              </a:rPr>
              <a:t>Mukeshimana</a:t>
            </a:r>
            <a:r>
              <a:rPr lang="fr-FR" sz="1800" b="1" dirty="0">
                <a:solidFill>
                  <a:srgbClr val="12315B"/>
                </a:solidFill>
                <a:latin typeface="Calibri" pitchFamily="34" charset="0"/>
                <a:ea typeface="Calibri" pitchFamily="34" charset="-122"/>
                <a:cs typeface="Calibri" pitchFamily="34" charset="-120"/>
              </a:rPr>
              <a:t>, 30 ans : </a:t>
            </a:r>
            <a:r>
              <a:rPr lang="fr-FR" sz="1800" dirty="0">
                <a:solidFill>
                  <a:srgbClr val="0B1F3F"/>
                </a:solidFill>
                <a:latin typeface="Calibri" pitchFamily="34" charset="0"/>
                <a:ea typeface="Calibri" pitchFamily="34" charset="-122"/>
                <a:cs typeface="Calibri" pitchFamily="34" charset="-120"/>
              </a:rPr>
              <a:t>Allaitante. Fièvre et sein gauche rouge et douloureux, avec une boule de 3 cm, souple, sensible, qui semble remplie de liquide.</a:t>
            </a:r>
            <a:endParaRPr lang="fr-FR" sz="1800" dirty="0"/>
          </a:p>
        </p:txBody>
      </p:sp>
      <p:sp>
        <p:nvSpPr>
          <p:cNvPr id="357" name="Text 357"/>
          <p:cNvSpPr txBox="1"/>
          <p:nvPr/>
        </p:nvSpPr>
        <p:spPr>
          <a:xfrm>
            <a:off x="713232" y="458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A. Arrêter l’allaitement ; antibiotiques seuls</a:t>
            </a:r>
            <a:endParaRPr lang="fr-FR" sz="1800" dirty="0"/>
          </a:p>
        </p:txBody>
      </p:sp>
      <p:sp>
        <p:nvSpPr>
          <p:cNvPr id="358" name="Text 358"/>
          <p:cNvSpPr txBox="1"/>
          <p:nvPr/>
        </p:nvSpPr>
        <p:spPr>
          <a:xfrm>
            <a:off x="6095847" y="4580000"/>
            <a:ext cx="5322615" cy="360000"/>
          </a:xfrm>
          <a:prstGeom prst="rect">
            <a:avLst/>
          </a:prstGeom>
          <a:noFill/>
          <a:ln/>
        </p:spPr>
        <p:txBody>
          <a:bodyPr wrap="square" lIns="0" tIns="0" rIns="0" bIns="0" rtlCol="0" anchor="ctr"/>
          <a:lstStyle/>
          <a:p>
            <a:pPr marL="0" indent="0" algn="l">
              <a:lnSpc>
                <a:spcPct val="95000"/>
              </a:lnSpc>
              <a:buNone/>
            </a:pPr>
            <a:r>
              <a:rPr lang="fr-FR" sz="1800" b="1" dirty="0">
                <a:solidFill>
                  <a:srgbClr val="1B6E4A"/>
                </a:solidFill>
                <a:latin typeface="Calibri" pitchFamily="34" charset="0"/>
                <a:ea typeface="Calibri" pitchFamily="34" charset="-122"/>
                <a:cs typeface="Calibri" pitchFamily="34" charset="-120"/>
              </a:rPr>
              <a:t>B. Allaiter ; orienter en urgence pour drainage</a:t>
            </a:r>
            <a:endParaRPr lang="fr-FR" sz="1800" dirty="0"/>
          </a:p>
        </p:txBody>
      </p:sp>
      <p:sp>
        <p:nvSpPr>
          <p:cNvPr id="359" name="Text 359"/>
          <p:cNvSpPr txBox="1"/>
          <p:nvPr/>
        </p:nvSpPr>
        <p:spPr>
          <a:xfrm>
            <a:off x="713232" y="496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C. Revoir dans 14 jours</a:t>
            </a:r>
            <a:endParaRPr lang="fr-FR" sz="1800" dirty="0"/>
          </a:p>
        </p:txBody>
      </p:sp>
      <p:sp>
        <p:nvSpPr>
          <p:cNvPr id="360" name="Text 360"/>
          <p:cNvSpPr txBox="1"/>
          <p:nvPr/>
        </p:nvSpPr>
        <p:spPr>
          <a:xfrm>
            <a:off x="6095847" y="4960000"/>
            <a:ext cx="5322615" cy="36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D. Masser fermement la boule</a:t>
            </a:r>
            <a:endParaRPr lang="fr-FR" sz="1800" dirty="0"/>
          </a:p>
        </p:txBody>
      </p:sp>
      <p:sp>
        <p:nvSpPr>
          <p:cNvPr id="361" name="Text 361"/>
          <p:cNvSpPr txBox="1"/>
          <p:nvPr/>
        </p:nvSpPr>
        <p:spPr>
          <a:xfrm>
            <a:off x="713232" y="5400000"/>
            <a:ext cx="10765231" cy="800000"/>
          </a:xfrm>
          <a:prstGeom prst="rect">
            <a:avLst/>
          </a:prstGeom>
          <a:noFill/>
          <a:ln/>
        </p:spPr>
        <p:txBody>
          <a:bodyPr wrap="square" lIns="0" tIns="0" rIns="0" bIns="0" rtlCol="0" anchor="t"/>
          <a:lstStyle/>
          <a:p>
            <a:pPr marL="0" indent="0" algn="l">
              <a:lnSpc>
                <a:spcPct val="95000"/>
              </a:lnSpc>
              <a:buNone/>
            </a:pPr>
            <a:r>
              <a:rPr lang="fr-FR" sz="1600" b="1" dirty="0">
                <a:solidFill>
                  <a:srgbClr val="1B6E4A"/>
                </a:solidFill>
                <a:latin typeface="Calibri" pitchFamily="34" charset="0"/>
                <a:ea typeface="Calibri" pitchFamily="34" charset="-122"/>
                <a:cs typeface="Calibri" pitchFamily="34" charset="-120"/>
              </a:rPr>
              <a:t>Correct : B. </a:t>
            </a:r>
            <a:r>
              <a:rPr lang="fr-FR" sz="1600" dirty="0">
                <a:solidFill>
                  <a:srgbClr val="0B1F3F"/>
                </a:solidFill>
                <a:latin typeface="Calibri" pitchFamily="34" charset="0"/>
                <a:ea typeface="Calibri" pitchFamily="34" charset="-122"/>
                <a:cs typeface="Calibri" pitchFamily="34" charset="-120"/>
              </a:rPr>
              <a:t>Une boule sensible remplie de liquide avec des signes d’infection évoque un abcès. Il faut le drainer, ce que les antibiotiques seuls ne permettent pas. L’allaitement peut en général continuer.</a:t>
            </a:r>
            <a:endParaRPr lang="fr-FR"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rmAutofit/>
          </a:bodyPr>
          <a:lstStyle/>
          <a:p>
            <a:pPr marL="0" indent="0">
              <a:buNone/>
            </a:pPr>
            <a:r>
              <a:rPr lang="fr-FR" sz="3000" b="1" noProof="0" dirty="0">
                <a:solidFill>
                  <a:srgbClr val="12315B"/>
                </a:solidFill>
                <a:latin typeface="Calibri" pitchFamily="34" charset="0"/>
                <a:ea typeface="Calibri" pitchFamily="34" charset="-122"/>
                <a:cs typeface="Calibri" pitchFamily="34" charset="-120"/>
              </a:rPr>
              <a:t>Ce que l’examen clinique du sein peut et ne peut pas faire</a:t>
            </a:r>
            <a:endParaRPr lang="fr-FR" sz="3000" noProof="0" dirty="0"/>
          </a:p>
        </p:txBody>
      </p:sp>
      <p:pic>
        <p:nvPicPr>
          <p:cNvPr id="5" name="Imagen 4">
            <a:extLst>
              <a:ext uri="{FF2B5EF4-FFF2-40B4-BE49-F238E27FC236}">
                <a16:creationId xmlns:a16="http://schemas.microsoft.com/office/drawing/2014/main" id="{677A5BFF-E12C-DE49-C887-80E9A2B2FE28}"/>
              </a:ext>
            </a:extLst>
          </p:cNvPr>
          <p:cNvPicPr>
            <a:picLocks noChangeAspect="1"/>
          </p:cNvPicPr>
          <p:nvPr/>
        </p:nvPicPr>
        <p:blipFill>
          <a:blip r:embed="rId3"/>
          <a:stretch>
            <a:fillRect/>
          </a:stretch>
        </p:blipFill>
        <p:spPr>
          <a:xfrm>
            <a:off x="714631" y="947355"/>
            <a:ext cx="9652687" cy="5482633"/>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Mammographie</a:t>
            </a:r>
            <a:endParaRPr lang="fr-FR" sz="3000" noProof="0" dirty="0"/>
          </a:p>
        </p:txBody>
      </p:sp>
      <p:pic>
        <p:nvPicPr>
          <p:cNvPr id="3" name="Imagen 2">
            <a:extLst>
              <a:ext uri="{FF2B5EF4-FFF2-40B4-BE49-F238E27FC236}">
                <a16:creationId xmlns:a16="http://schemas.microsoft.com/office/drawing/2014/main" id="{1BFB2FA3-ACB8-50B8-787C-2BE59AE8AABC}"/>
              </a:ext>
            </a:extLst>
          </p:cNvPr>
          <p:cNvPicPr>
            <a:picLocks noChangeAspect="1"/>
          </p:cNvPicPr>
          <p:nvPr/>
        </p:nvPicPr>
        <p:blipFill>
          <a:blip r:embed="rId3"/>
          <a:stretch>
            <a:fillRect/>
          </a:stretch>
        </p:blipFill>
        <p:spPr>
          <a:xfrm>
            <a:off x="944055" y="1041179"/>
            <a:ext cx="10028745" cy="5689384"/>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CF2156E-77DB-E8AB-F9DA-D0C80CC766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04AAF6-FB1B-30C5-CE79-B64B66B49A7E}"/>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4" name="Text 2">
            <a:extLst>
              <a:ext uri="{FF2B5EF4-FFF2-40B4-BE49-F238E27FC236}">
                <a16:creationId xmlns:a16="http://schemas.microsoft.com/office/drawing/2014/main" id="{3B2F5CF1-BF45-BB2C-9CF7-18B6E34C1F8B}"/>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Échographie et imagerie par résonance magnétique</a:t>
            </a:r>
            <a:endParaRPr lang="fr-FR" sz="3000" noProof="0" dirty="0"/>
          </a:p>
        </p:txBody>
      </p:sp>
      <p:pic>
        <p:nvPicPr>
          <p:cNvPr id="5" name="Imagen 4">
            <a:extLst>
              <a:ext uri="{FF2B5EF4-FFF2-40B4-BE49-F238E27FC236}">
                <a16:creationId xmlns:a16="http://schemas.microsoft.com/office/drawing/2014/main" id="{2DCA7652-8E83-A552-6A24-63597A5925C7}"/>
              </a:ext>
            </a:extLst>
          </p:cNvPr>
          <p:cNvPicPr>
            <a:picLocks noChangeAspect="1"/>
          </p:cNvPicPr>
          <p:nvPr/>
        </p:nvPicPr>
        <p:blipFill>
          <a:blip r:embed="rId3"/>
          <a:stretch>
            <a:fillRect/>
          </a:stretch>
        </p:blipFill>
        <p:spPr>
          <a:xfrm>
            <a:off x="783417" y="1026839"/>
            <a:ext cx="10041101" cy="5663902"/>
          </a:xfrm>
          <a:prstGeom prst="rect">
            <a:avLst/>
          </a:prstGeom>
        </p:spPr>
      </p:pic>
    </p:spTree>
    <p:extLst>
      <p:ext uri="{BB962C8B-B14F-4D97-AF65-F5344CB8AC3E}">
        <p14:creationId xmlns:p14="http://schemas.microsoft.com/office/powerpoint/2010/main" val="9523384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Dépistage du cancer du sein au Rwanda : qui et comment</a:t>
            </a:r>
            <a:endParaRPr lang="fr-FR" sz="3000" noProof="0" dirty="0"/>
          </a:p>
        </p:txBody>
      </p:sp>
      <p:sp>
        <p:nvSpPr>
          <p:cNvPr id="5" name="Shape 3"/>
          <p:cNvSpPr/>
          <p:nvPr/>
        </p:nvSpPr>
        <p:spPr>
          <a:xfrm>
            <a:off x="548639" y="1371600"/>
            <a:ext cx="11094415" cy="4407408"/>
          </a:xfrm>
          <a:prstGeom prst="roundRect">
            <a:avLst>
              <a:gd name="adj" fmla="val 1364"/>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463040"/>
            <a:ext cx="5157216" cy="292608"/>
          </a:xfrm>
          <a:prstGeom prst="rect">
            <a:avLst/>
          </a:prstGeom>
          <a:noFill/>
          <a:ln/>
        </p:spPr>
        <p:txBody>
          <a:bodyPr wrap="square" lIns="0" tIns="0" rIns="0" bIns="0" rtlCol="0" anchor="t">
            <a:normAutofit fontScale="77500" lnSpcReduction="20000"/>
          </a:bodyPr>
          <a:lstStyle/>
          <a:p>
            <a:pPr marL="0" indent="0">
              <a:buNone/>
            </a:pPr>
            <a:r>
              <a:rPr lang="fr-FR" sz="2000" b="1" noProof="0" dirty="0">
                <a:solidFill>
                  <a:srgbClr val="12315B"/>
                </a:solidFill>
                <a:latin typeface="Calibri" pitchFamily="34" charset="0"/>
                <a:ea typeface="Calibri" pitchFamily="34" charset="-122"/>
                <a:cs typeface="Calibri" pitchFamily="34" charset="-120"/>
              </a:rPr>
              <a:t>Détection précoce du cancer du sein au Rwanda, selon l’âge :</a:t>
            </a:r>
            <a:endParaRPr lang="fr-FR" sz="2000" noProof="0" dirty="0"/>
          </a:p>
        </p:txBody>
      </p:sp>
      <p:sp>
        <p:nvSpPr>
          <p:cNvPr id="7" name="Text 5"/>
          <p:cNvSpPr txBox="1"/>
          <p:nvPr/>
        </p:nvSpPr>
        <p:spPr>
          <a:xfrm>
            <a:off x="768096" y="2194560"/>
            <a:ext cx="5084064" cy="3291840"/>
          </a:xfrm>
          <a:prstGeom prst="rect">
            <a:avLst/>
          </a:prstGeom>
          <a:noFill/>
          <a:ln/>
        </p:spPr>
        <p:txBody>
          <a:bodyPr wrap="square" lIns="0" tIns="0" rIns="0" bIns="0" rtlCol="0" anchor="t"/>
          <a:lstStyle/>
          <a:p>
            <a:pPr marL="342900" indent="-342900">
              <a:lnSpc>
                <a:spcPct val="95000"/>
              </a:lnSpc>
              <a:spcAft>
                <a:spcPts val="800"/>
              </a:spcAft>
              <a:buSzPct val="100000"/>
              <a:buChar char="•"/>
            </a:pPr>
            <a:r>
              <a:rPr lang="fr-FR" b="1" noProof="0" dirty="0">
                <a:solidFill>
                  <a:schemeClr val="accent1">
                    <a:lumMod val="50000"/>
                  </a:schemeClr>
                </a:solidFill>
                <a:latin typeface="Calibri" pitchFamily="34" charset="0"/>
                <a:ea typeface="Calibri" pitchFamily="34" charset="-122"/>
                <a:cs typeface="Calibri" pitchFamily="34" charset="-120"/>
              </a:rPr>
              <a:t>25 à 29 ans : </a:t>
            </a:r>
            <a:r>
              <a:rPr lang="fr-FR" noProof="0" dirty="0">
                <a:solidFill>
                  <a:schemeClr val="accent1">
                    <a:lumMod val="50000"/>
                  </a:schemeClr>
                </a:solidFill>
                <a:latin typeface="Calibri" pitchFamily="34" charset="0"/>
                <a:ea typeface="Calibri" pitchFamily="34" charset="-122"/>
                <a:cs typeface="Calibri" pitchFamily="34" charset="-120"/>
              </a:rPr>
              <a:t>auto-examen mensuel des seins, enseigné au centre de santé</a:t>
            </a:r>
          </a:p>
          <a:p>
            <a:pPr marL="342900" indent="-342900">
              <a:lnSpc>
                <a:spcPct val="95000"/>
              </a:lnSpc>
              <a:spcAft>
                <a:spcPts val="800"/>
              </a:spcAft>
              <a:buSzPct val="100000"/>
              <a:buChar char="•"/>
            </a:pPr>
            <a:r>
              <a:rPr lang="fr-FR" b="1" noProof="0" dirty="0">
                <a:solidFill>
                  <a:schemeClr val="accent1">
                    <a:lumMod val="50000"/>
                  </a:schemeClr>
                </a:solidFill>
                <a:latin typeface="Calibri" pitchFamily="34" charset="0"/>
                <a:ea typeface="Calibri" pitchFamily="34" charset="-122"/>
                <a:cs typeface="Calibri" pitchFamily="34" charset="-120"/>
              </a:rPr>
              <a:t>30 ans et plus : </a:t>
            </a:r>
            <a:r>
              <a:rPr lang="fr-FR" noProof="0" dirty="0">
                <a:solidFill>
                  <a:schemeClr val="accent1">
                    <a:lumMod val="50000"/>
                  </a:schemeClr>
                </a:solidFill>
                <a:latin typeface="Calibri" pitchFamily="34" charset="0"/>
                <a:ea typeface="Calibri" pitchFamily="34" charset="-122"/>
                <a:cs typeface="Calibri" pitchFamily="34" charset="-120"/>
              </a:rPr>
              <a:t>examen clinique du sein (CBE) annuel au centre de santé</a:t>
            </a:r>
          </a:p>
          <a:p>
            <a:pPr marL="342900" indent="-342900">
              <a:lnSpc>
                <a:spcPct val="95000"/>
              </a:lnSpc>
              <a:spcAft>
                <a:spcPts val="800"/>
              </a:spcAft>
              <a:buSzPct val="100000"/>
              <a:buChar char="•"/>
            </a:pPr>
            <a:r>
              <a:rPr lang="fr-FR" b="1" noProof="0" dirty="0">
                <a:solidFill>
                  <a:schemeClr val="accent1">
                    <a:lumMod val="50000"/>
                  </a:schemeClr>
                </a:solidFill>
                <a:latin typeface="Calibri" pitchFamily="34" charset="0"/>
                <a:ea typeface="Calibri" pitchFamily="34" charset="-122"/>
                <a:cs typeface="Calibri" pitchFamily="34" charset="-120"/>
              </a:rPr>
              <a:t>40 ans et plus : </a:t>
            </a:r>
            <a:r>
              <a:rPr lang="fr-FR" noProof="0" dirty="0">
                <a:solidFill>
                  <a:schemeClr val="accent1">
                    <a:lumMod val="50000"/>
                  </a:schemeClr>
                </a:solidFill>
                <a:latin typeface="Calibri" pitchFamily="34" charset="0"/>
                <a:ea typeface="Calibri" pitchFamily="34" charset="-122"/>
                <a:cs typeface="Calibri" pitchFamily="34" charset="-120"/>
              </a:rPr>
              <a:t>CBE annuel et mammographie là où elle est disponible. Sinon, poursuivre le CBE annuel</a:t>
            </a:r>
          </a:p>
          <a:p>
            <a:pPr marL="342900" indent="-342900">
              <a:lnSpc>
                <a:spcPct val="95000"/>
              </a:lnSpc>
              <a:spcAft>
                <a:spcPts val="800"/>
              </a:spcAft>
              <a:buSzPct val="100000"/>
              <a:buChar char="•"/>
            </a:pPr>
            <a:r>
              <a:rPr lang="fr-FR" b="1" noProof="0" dirty="0">
                <a:solidFill>
                  <a:schemeClr val="accent1">
                    <a:lumMod val="50000"/>
                  </a:schemeClr>
                </a:solidFill>
                <a:latin typeface="Calibri" pitchFamily="34" charset="0"/>
                <a:ea typeface="Calibri" pitchFamily="34" charset="-122"/>
                <a:cs typeface="Calibri" pitchFamily="34" charset="-120"/>
              </a:rPr>
              <a:t>À tout âge, en cas de symptôme ou de changement mammaire : </a:t>
            </a:r>
            <a:r>
              <a:rPr lang="fr-FR" noProof="0" dirty="0">
                <a:solidFill>
                  <a:schemeClr val="accent1">
                    <a:lumMod val="50000"/>
                  </a:schemeClr>
                </a:solidFill>
                <a:latin typeface="Calibri" pitchFamily="34" charset="0"/>
                <a:ea typeface="Calibri" pitchFamily="34" charset="-122"/>
                <a:cs typeface="Calibri" pitchFamily="34" charset="-120"/>
              </a:rPr>
              <a:t>évaluation diagnostique et orientation vers l’hôpital. Ne pas attendre le dépistage de routine.</a:t>
            </a:r>
          </a:p>
        </p:txBody>
      </p:sp>
      <p:sp>
        <p:nvSpPr>
          <p:cNvPr id="12" name="Text 10"/>
          <p:cNvSpPr txBox="1"/>
          <p:nvPr/>
        </p:nvSpPr>
        <p:spPr>
          <a:xfrm>
            <a:off x="689001" y="5864841"/>
            <a:ext cx="10954053" cy="561213"/>
          </a:xfrm>
          <a:prstGeom prst="rect">
            <a:avLst/>
          </a:prstGeom>
          <a:noFill/>
          <a:ln/>
        </p:spPr>
        <p:txBody>
          <a:bodyPr wrap="square" lIns="0" tIns="0" rIns="0" bIns="0" rtlCol="0" anchor="ctr">
            <a:normAutofit fontScale="96500"/>
          </a:bodyPr>
          <a:lstStyle/>
          <a:p>
            <a:pPr marL="0" indent="0">
              <a:lnSpc>
                <a:spcPct val="95000"/>
              </a:lnSpc>
              <a:buNone/>
            </a:pPr>
            <a:r>
              <a:rPr lang="fr-FR" sz="1600" i="1" noProof="0" dirty="0">
                <a:solidFill>
                  <a:schemeClr val="accent1">
                    <a:lumMod val="50000"/>
                  </a:schemeClr>
                </a:solidFill>
              </a:rPr>
              <a:t>Cette approche reflète les orientations nationales du Rwanda et s’aligne sur l’Initiative mondiale de l’OMS contre le cancer du sein.</a:t>
            </a:r>
          </a:p>
        </p:txBody>
      </p:sp>
      <p:pic>
        <p:nvPicPr>
          <p:cNvPr id="13" name="Imagen 12">
            <a:extLst>
              <a:ext uri="{FF2B5EF4-FFF2-40B4-BE49-F238E27FC236}">
                <a16:creationId xmlns:a16="http://schemas.microsoft.com/office/drawing/2014/main" id="{7DCD1D7F-E8D7-117B-EE8D-2E70ADBFFB49}"/>
              </a:ext>
            </a:extLst>
          </p:cNvPr>
          <p:cNvPicPr>
            <a:picLocks noChangeAspect="1"/>
          </p:cNvPicPr>
          <p:nvPr/>
        </p:nvPicPr>
        <p:blipFill>
          <a:blip r:embed="rId3"/>
          <a:stretch>
            <a:fillRect/>
          </a:stretch>
        </p:blipFill>
        <p:spPr>
          <a:xfrm>
            <a:off x="6071617" y="1609345"/>
            <a:ext cx="5404104" cy="3602736"/>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A3BDE8-5629-9BA2-8595-B6704C6225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D45938-39A1-45E5-63DD-2B7ACF7CBC1D}"/>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a:extLst>
              <a:ext uri="{FF2B5EF4-FFF2-40B4-BE49-F238E27FC236}">
                <a16:creationId xmlns:a16="http://schemas.microsoft.com/office/drawing/2014/main" id="{7FA08C79-149E-57A1-3393-F5A12FBED2B5}"/>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38879890-E959-7085-CADF-0D408D447B87}"/>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Programmes de dépistage : Rwanda</a:t>
            </a:r>
            <a:endParaRPr lang="fr-FR" sz="3000" noProof="0" dirty="0"/>
          </a:p>
        </p:txBody>
      </p:sp>
      <p:sp>
        <p:nvSpPr>
          <p:cNvPr id="8" name="Shape 6">
            <a:extLst>
              <a:ext uri="{FF2B5EF4-FFF2-40B4-BE49-F238E27FC236}">
                <a16:creationId xmlns:a16="http://schemas.microsoft.com/office/drawing/2014/main" id="{66AC0C98-324C-6FB6-1457-9406A0CD5676}"/>
              </a:ext>
            </a:extLst>
          </p:cNvPr>
          <p:cNvSpPr/>
          <p:nvPr/>
        </p:nvSpPr>
        <p:spPr>
          <a:xfrm>
            <a:off x="559491" y="1133856"/>
            <a:ext cx="11083564" cy="4046144"/>
          </a:xfrm>
          <a:prstGeom prst="roundRect">
            <a:avLst>
              <a:gd name="adj" fmla="val 1364"/>
            </a:avLst>
          </a:prstGeom>
          <a:solidFill>
            <a:srgbClr val="F4F8FC"/>
          </a:solidFill>
          <a:ln w="12700">
            <a:solidFill>
              <a:srgbClr val="C8D8EC"/>
            </a:solidFill>
            <a:prstDash val="solid"/>
          </a:ln>
        </p:spPr>
        <p:txBody>
          <a:bodyPr/>
          <a:lstStyle/>
          <a:p>
            <a:endParaRPr lang="fr-FR" noProof="0" dirty="0"/>
          </a:p>
        </p:txBody>
      </p:sp>
      <p:sp>
        <p:nvSpPr>
          <p:cNvPr id="9" name="Text 7">
            <a:extLst>
              <a:ext uri="{FF2B5EF4-FFF2-40B4-BE49-F238E27FC236}">
                <a16:creationId xmlns:a16="http://schemas.microsoft.com/office/drawing/2014/main" id="{A23E786D-7427-4071-1251-B9CA73C4F1C9}"/>
              </a:ext>
            </a:extLst>
          </p:cNvPr>
          <p:cNvSpPr txBox="1"/>
          <p:nvPr/>
        </p:nvSpPr>
        <p:spPr>
          <a:xfrm>
            <a:off x="724083" y="1261566"/>
            <a:ext cx="5004511" cy="292608"/>
          </a:xfrm>
          <a:prstGeom prst="rect">
            <a:avLst/>
          </a:prstGeom>
          <a:noFill/>
          <a:ln/>
        </p:spPr>
        <p:txBody>
          <a:bodyPr wrap="square" lIns="0" tIns="0" rIns="0" bIns="0" rtlCol="0" anchor="t">
            <a:normAutofit fontScale="55000" lnSpcReduction="20000"/>
          </a:bodyPr>
          <a:lstStyle/>
          <a:p>
            <a:pPr marL="0" indent="0">
              <a:buNone/>
            </a:pPr>
            <a:r>
              <a:rPr lang="fr-FR" sz="2000" b="1" noProof="0" dirty="0">
                <a:solidFill>
                  <a:srgbClr val="12315B"/>
                </a:solidFill>
                <a:latin typeface="Calibri" pitchFamily="34" charset="0"/>
                <a:ea typeface="Calibri" pitchFamily="34" charset="-122"/>
                <a:cs typeface="Calibri" pitchFamily="34" charset="-120"/>
              </a:rPr>
              <a:t>Le programme de dépistage du cancer du sein au Rwanda est en cours de développement</a:t>
            </a:r>
            <a:endParaRPr lang="fr-FR" sz="2000" noProof="0" dirty="0"/>
          </a:p>
        </p:txBody>
      </p:sp>
      <p:sp>
        <p:nvSpPr>
          <p:cNvPr id="10" name="Text 8">
            <a:extLst>
              <a:ext uri="{FF2B5EF4-FFF2-40B4-BE49-F238E27FC236}">
                <a16:creationId xmlns:a16="http://schemas.microsoft.com/office/drawing/2014/main" id="{5451FC25-ADC5-AE26-022C-CF50425607F1}"/>
              </a:ext>
            </a:extLst>
          </p:cNvPr>
          <p:cNvSpPr txBox="1"/>
          <p:nvPr/>
        </p:nvSpPr>
        <p:spPr>
          <a:xfrm>
            <a:off x="724083" y="1989963"/>
            <a:ext cx="5004511" cy="3350000"/>
          </a:xfrm>
          <a:prstGeom prst="rect">
            <a:avLst/>
          </a:prstGeom>
          <a:noFill/>
          <a:ln/>
        </p:spPr>
        <p:txBody>
          <a:bodyPr wrap="square" lIns="0" tIns="0" rIns="0" bIns="0" rtlCol="0" anchor="t">
            <a:noAutofit/>
          </a:bodyPr>
          <a:lstStyle/>
          <a:p>
            <a:pPr marL="0" indent="0">
              <a:lnSpc>
                <a:spcPct val="90000"/>
              </a:lnSpc>
              <a:buNone/>
            </a:pPr>
            <a:r>
              <a:rPr lang="fr-FR" sz="1504" noProof="0" dirty="0">
                <a:solidFill>
                  <a:srgbClr val="1F3A63"/>
                </a:solidFill>
                <a:latin typeface="Calibri" pitchFamily="34" charset="0"/>
                <a:ea typeface="Calibri" pitchFamily="34" charset="-122"/>
                <a:cs typeface="Calibri" pitchFamily="34" charset="-120"/>
              </a:rPr>
              <a:t>Le Plan national de lutte contre le cancer 2025 à 2029 décrit un dépistage opportuniste du cancer du sein plutôt qu’un programme organisé de mammographie en population. L’examen clinique du sein est la méthode utilisée, proposée dans les centres de santé en parallèle des activités de dépistage du cancer du col de l’utérus, et la mammographie n’est disponible que dans un petit nombre d’établissements.</a:t>
            </a:r>
            <a:endParaRPr lang="fr-FR" sz="1504" noProof="0" dirty="0"/>
          </a:p>
          <a:p>
            <a:pPr marL="0" indent="0">
              <a:lnSpc>
                <a:spcPct val="90000"/>
              </a:lnSpc>
              <a:buNone/>
            </a:pPr>
            <a:endParaRPr lang="fr-FR" sz="1504" noProof="0" dirty="0"/>
          </a:p>
          <a:p>
            <a:pPr marL="0" indent="0">
              <a:lnSpc>
                <a:spcPct val="90000"/>
              </a:lnSpc>
              <a:buNone/>
            </a:pPr>
            <a:r>
              <a:rPr lang="fr-FR" sz="1504" noProof="0" dirty="0">
                <a:solidFill>
                  <a:srgbClr val="1F3A63"/>
                </a:solidFill>
                <a:latin typeface="Calibri" pitchFamily="34" charset="0"/>
                <a:ea typeface="Calibri" pitchFamily="34" charset="-122"/>
                <a:cs typeface="Calibri" pitchFamily="34" charset="-120"/>
              </a:rPr>
              <a:t>Les cibles du Rwanda suivent l’Initiative mondiale de l’OMS contre le cancer du sein : au moins 60 % des cancers invasifs diagnostiqués au stade I ou II, un diagnostic dans les 60 jours suivant la première consultation, et au moins 80 % des patientes terminant le traitement recommandé.</a:t>
            </a:r>
            <a:endParaRPr lang="fr-FR" sz="1504" noProof="0" dirty="0"/>
          </a:p>
        </p:txBody>
      </p:sp>
      <p:pic>
        <p:nvPicPr>
          <p:cNvPr id="5" name="Imagen 4">
            <a:extLst>
              <a:ext uri="{FF2B5EF4-FFF2-40B4-BE49-F238E27FC236}">
                <a16:creationId xmlns:a16="http://schemas.microsoft.com/office/drawing/2014/main" id="{B6FE45AD-157A-8760-17D2-C6E1875839A0}"/>
              </a:ext>
            </a:extLst>
          </p:cNvPr>
          <p:cNvPicPr>
            <a:picLocks noChangeAspect="1"/>
          </p:cNvPicPr>
          <p:nvPr/>
        </p:nvPicPr>
        <p:blipFill>
          <a:blip r:embed="rId3"/>
          <a:stretch>
            <a:fillRect/>
          </a:stretch>
        </p:blipFill>
        <p:spPr>
          <a:xfrm>
            <a:off x="5728594" y="1316154"/>
            <a:ext cx="5749869" cy="3825759"/>
          </a:xfrm>
          <a:prstGeom prst="rect">
            <a:avLst/>
          </a:prstGeom>
        </p:spPr>
      </p:pic>
      <p:sp>
        <p:nvSpPr>
          <p:cNvPr id="383" name="Shape 383"/>
          <p:cNvSpPr/>
          <p:nvPr/>
        </p:nvSpPr>
        <p:spPr>
          <a:xfrm>
            <a:off x="548640" y="5260000"/>
            <a:ext cx="11094415" cy="1050000"/>
          </a:xfrm>
          <a:prstGeom prst="roundRect">
            <a:avLst>
              <a:gd name="adj" fmla="val 6000"/>
            </a:avLst>
          </a:prstGeom>
          <a:solidFill>
            <a:srgbClr val="EAF5EF"/>
          </a:solidFill>
          <a:ln w="12700">
            <a:solidFill>
              <a:srgbClr val="8FC4A9"/>
            </a:solidFill>
            <a:prstDash val="solid"/>
          </a:ln>
        </p:spPr>
        <p:txBody>
          <a:bodyPr wrap="square" lIns="91440" tIns="45720" rIns="91440" bIns="45720" rtlCol="0" anchor="ctr"/>
          <a:lstStyle/>
          <a:p>
            <a:endParaRPr lang="fr-FR" dirty="0"/>
          </a:p>
        </p:txBody>
      </p:sp>
      <p:sp>
        <p:nvSpPr>
          <p:cNvPr id="384" name="Text 384"/>
          <p:cNvSpPr txBox="1"/>
          <p:nvPr/>
        </p:nvSpPr>
        <p:spPr>
          <a:xfrm>
            <a:off x="713232" y="5300000"/>
            <a:ext cx="10765231" cy="980000"/>
          </a:xfrm>
          <a:prstGeom prst="rect">
            <a:avLst/>
          </a:prstGeom>
          <a:noFill/>
          <a:ln/>
        </p:spPr>
        <p:txBody>
          <a:bodyPr wrap="square" lIns="0" tIns="0" rIns="0" bIns="0" rtlCol="0" anchor="ctr"/>
          <a:lstStyle/>
          <a:p>
            <a:pPr marL="0" indent="0" algn="l">
              <a:lnSpc>
                <a:spcPct val="95000"/>
              </a:lnSpc>
              <a:buNone/>
            </a:pPr>
            <a:r>
              <a:rPr lang="fr-FR" sz="1600" b="1" dirty="0">
                <a:solidFill>
                  <a:srgbClr val="1B6E4A"/>
                </a:solidFill>
                <a:latin typeface="Calibri" pitchFamily="34" charset="0"/>
                <a:ea typeface="Calibri" pitchFamily="34" charset="-122"/>
                <a:cs typeface="Calibri" pitchFamily="34" charset="-120"/>
              </a:rPr>
              <a:t>✅ Approche du Rwanda : </a:t>
            </a:r>
            <a:r>
              <a:rPr lang="fr-FR" sz="1600" dirty="0">
                <a:solidFill>
                  <a:srgbClr val="0B1F3F"/>
                </a:solidFill>
                <a:latin typeface="Calibri" pitchFamily="34" charset="0"/>
                <a:ea typeface="Calibri" pitchFamily="34" charset="-122"/>
                <a:cs typeface="Calibri" pitchFamily="34" charset="-120"/>
              </a:rPr>
              <a:t>Femmes de 30 ans et plus ; examen clinique du sein chaque année ; mammographie dès 40 ans là où elle est disponible, sinon poursuite du CBE annuel. </a:t>
            </a:r>
            <a:r>
              <a:rPr lang="fr-FR" sz="1600" b="1" dirty="0">
                <a:solidFill>
                  <a:srgbClr val="1B6E4A"/>
                </a:solidFill>
                <a:latin typeface="Calibri" pitchFamily="34" charset="0"/>
                <a:ea typeface="Calibri" pitchFamily="34" charset="-122"/>
                <a:cs typeface="Calibri" pitchFamily="34" charset="-120"/>
              </a:rPr>
              <a:t>Orientation : </a:t>
            </a:r>
            <a:r>
              <a:rPr lang="fr-FR" sz="1600" dirty="0">
                <a:solidFill>
                  <a:srgbClr val="0B1F3F"/>
                </a:solidFill>
                <a:latin typeface="Calibri" pitchFamily="34" charset="0"/>
                <a:ea typeface="Calibri" pitchFamily="34" charset="-122"/>
                <a:cs typeface="Calibri" pitchFamily="34" charset="-120"/>
              </a:rPr>
              <a:t>toute femme ayant un examen mammaire anormal, comme une boule, ou tout symptôme évocateur d’un cancer du sein, est orientée vers l’hôpital.</a:t>
            </a:r>
            <a:endParaRPr lang="fr-FR" sz="1600" dirty="0"/>
          </a:p>
        </p:txBody>
      </p:sp>
    </p:spTree>
    <p:extLst>
      <p:ext uri="{BB962C8B-B14F-4D97-AF65-F5344CB8AC3E}">
        <p14:creationId xmlns:p14="http://schemas.microsoft.com/office/powerpoint/2010/main" val="25958983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Bénéfices et limites du dépistage</a:t>
            </a:r>
            <a:endParaRPr lang="fr-FR" sz="3000" noProof="0" dirty="0"/>
          </a:p>
        </p:txBody>
      </p:sp>
      <p:sp>
        <p:nvSpPr>
          <p:cNvPr id="5" name="Shape 3"/>
          <p:cNvSpPr/>
          <p:nvPr/>
        </p:nvSpPr>
        <p:spPr>
          <a:xfrm>
            <a:off x="548640" y="1371600"/>
            <a:ext cx="3527450" cy="1746312"/>
          </a:xfrm>
          <a:prstGeom prst="roundRect">
            <a:avLst>
              <a:gd name="adj" fmla="val 3142"/>
            </a:avLst>
          </a:prstGeom>
          <a:solidFill>
            <a:srgbClr val="EAF5EF"/>
          </a:solidFill>
          <a:ln w="12700">
            <a:solidFill>
              <a:srgbClr val="8FC4A9"/>
            </a:solidFill>
            <a:prstDash val="solid"/>
          </a:ln>
        </p:spPr>
        <p:txBody>
          <a:bodyPr/>
          <a:lstStyle/>
          <a:p>
            <a:endParaRPr lang="fr-FR"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lstStyle/>
          <a:p>
            <a:r>
              <a:rPr lang="fr-FR" sz="1700" b="1" dirty="0">
                <a:solidFill>
                  <a:srgbClr val="1B6E4A"/>
                </a:solidFill>
                <a:latin typeface="Calibri" pitchFamily="34" charset="0"/>
                <a:ea typeface="Calibri" pitchFamily="34" charset="-122"/>
                <a:cs typeface="Calibri" pitchFamily="34" charset="-120"/>
              </a:rPr>
              <a:t>🟢 Détection </a:t>
            </a:r>
            <a:r>
              <a:rPr lang="fr-FR" sz="1700" b="1" noProof="0" dirty="0">
                <a:solidFill>
                  <a:srgbClr val="1B6E4A"/>
                </a:solidFill>
                <a:latin typeface="Calibri" pitchFamily="34" charset="0"/>
                <a:ea typeface="Calibri" pitchFamily="34" charset="-122"/>
                <a:cs typeface="Calibri" pitchFamily="34" charset="-120"/>
              </a:rPr>
              <a:t>précoce</a:t>
            </a:r>
            <a:endParaRPr lang="fr-FR" sz="1700" noProof="0" dirty="0"/>
          </a:p>
        </p:txBody>
      </p:sp>
      <p:sp>
        <p:nvSpPr>
          <p:cNvPr id="7" name="Text 5"/>
          <p:cNvSpPr txBox="1"/>
          <p:nvPr/>
        </p:nvSpPr>
        <p:spPr>
          <a:xfrm>
            <a:off x="713232" y="1801368"/>
            <a:ext cx="3198266" cy="1261680"/>
          </a:xfrm>
          <a:prstGeom prst="rect">
            <a:avLst/>
          </a:prstGeom>
          <a:noFill/>
          <a:ln/>
        </p:spPr>
        <p:txBody>
          <a:bodyPr wrap="square" lIns="0" tIns="0" rIns="0" bIns="0" rtlCol="0" anchor="t">
            <a:normAutofit fontScale="99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Un cancer découvert avant d’être palpable est plus souvent petit et sans atteinte ganglionnaire, ce qui élargit les options de traitement.</a:t>
            </a:r>
            <a:endParaRPr lang="fr-FR" sz="1800" noProof="0" dirty="0"/>
          </a:p>
        </p:txBody>
      </p:sp>
      <p:sp>
        <p:nvSpPr>
          <p:cNvPr id="8" name="Shape 6"/>
          <p:cNvSpPr/>
          <p:nvPr/>
        </p:nvSpPr>
        <p:spPr>
          <a:xfrm>
            <a:off x="4332122" y="1371600"/>
            <a:ext cx="3527450" cy="1746312"/>
          </a:xfrm>
          <a:prstGeom prst="roundRect">
            <a:avLst>
              <a:gd name="adj" fmla="val 3142"/>
            </a:avLst>
          </a:prstGeom>
          <a:solidFill>
            <a:srgbClr val="EAF5EF"/>
          </a:solidFill>
          <a:ln w="12700">
            <a:solidFill>
              <a:srgbClr val="8FC4A9"/>
            </a:solidFill>
            <a:prstDash val="solid"/>
          </a:ln>
        </p:spPr>
        <p:txBody>
          <a:bodyPr/>
          <a:lstStyle/>
          <a:p>
            <a:endParaRPr lang="fr-FR"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r>
              <a:rPr lang="fr-FR" sz="1700" b="1" dirty="0">
                <a:solidFill>
                  <a:srgbClr val="1B6E4A"/>
                </a:solidFill>
                <a:latin typeface="Calibri" pitchFamily="34" charset="0"/>
                <a:ea typeface="Calibri" pitchFamily="34" charset="-122"/>
                <a:cs typeface="Calibri" pitchFamily="34" charset="-120"/>
              </a:rPr>
              <a:t>🟢 Moins </a:t>
            </a:r>
            <a:r>
              <a:rPr lang="fr-FR" sz="1700" b="1" noProof="0" dirty="0">
                <a:solidFill>
                  <a:srgbClr val="1B6E4A"/>
                </a:solidFill>
                <a:latin typeface="Calibri" pitchFamily="34" charset="0"/>
                <a:ea typeface="Calibri" pitchFamily="34" charset="-122"/>
                <a:cs typeface="Calibri" pitchFamily="34" charset="-120"/>
              </a:rPr>
              <a:t>de décès</a:t>
            </a:r>
            <a:endParaRPr lang="fr-FR" sz="1700" noProof="0" dirty="0"/>
          </a:p>
        </p:txBody>
      </p:sp>
      <p:sp>
        <p:nvSpPr>
          <p:cNvPr id="10" name="Text 8"/>
          <p:cNvSpPr txBox="1"/>
          <p:nvPr/>
        </p:nvSpPr>
        <p:spPr>
          <a:xfrm>
            <a:off x="4496714" y="1801368"/>
            <a:ext cx="3198266" cy="1261680"/>
          </a:xfrm>
          <a:prstGeom prst="rect">
            <a:avLst/>
          </a:prstGeom>
          <a:noFill/>
          <a:ln/>
        </p:spPr>
        <p:txBody>
          <a:bodyPr wrap="square" lIns="0" tIns="0" rIns="0" bIns="0" rtlCol="0" anchor="t">
            <a:normAutofit fontScale="99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Des programmes efficaces réduisent la mortalité par cancer du sein.</a:t>
            </a:r>
            <a:endParaRPr lang="fr-FR" sz="1800" noProof="0" dirty="0"/>
          </a:p>
        </p:txBody>
      </p:sp>
      <p:sp>
        <p:nvSpPr>
          <p:cNvPr id="11" name="Shape 9"/>
          <p:cNvSpPr/>
          <p:nvPr/>
        </p:nvSpPr>
        <p:spPr>
          <a:xfrm>
            <a:off x="8115605" y="1371600"/>
            <a:ext cx="3527450" cy="1746312"/>
          </a:xfrm>
          <a:prstGeom prst="roundRect">
            <a:avLst>
              <a:gd name="adj" fmla="val 3142"/>
            </a:avLst>
          </a:prstGeom>
          <a:solidFill>
            <a:srgbClr val="EAF5EF"/>
          </a:solidFill>
          <a:ln w="12700">
            <a:solidFill>
              <a:srgbClr val="8FC4A9"/>
            </a:solidFill>
            <a:prstDash val="solid"/>
          </a:ln>
        </p:spPr>
        <p:txBody>
          <a:bodyPr/>
          <a:lstStyle/>
          <a:p>
            <a:endParaRPr lang="fr-FR"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r>
              <a:rPr lang="fr-FR" sz="1700" b="1" dirty="0">
                <a:solidFill>
                  <a:srgbClr val="1B6E4A"/>
                </a:solidFill>
                <a:latin typeface="Calibri" pitchFamily="34" charset="0"/>
                <a:ea typeface="Calibri" pitchFamily="34" charset="-122"/>
                <a:cs typeface="Calibri" pitchFamily="34" charset="-120"/>
              </a:rPr>
              <a:t>🟢 Traitement </a:t>
            </a:r>
            <a:r>
              <a:rPr lang="fr-FR" sz="1700" b="1" noProof="0" dirty="0">
                <a:solidFill>
                  <a:srgbClr val="1B6E4A"/>
                </a:solidFill>
                <a:latin typeface="Calibri" pitchFamily="34" charset="0"/>
                <a:ea typeface="Calibri" pitchFamily="34" charset="-122"/>
                <a:cs typeface="Calibri" pitchFamily="34" charset="-120"/>
              </a:rPr>
              <a:t>moins agressif</a:t>
            </a:r>
            <a:endParaRPr lang="fr-FR" sz="1700" noProof="0" dirty="0"/>
          </a:p>
        </p:txBody>
      </p:sp>
      <p:sp>
        <p:nvSpPr>
          <p:cNvPr id="13" name="Text 11"/>
          <p:cNvSpPr txBox="1"/>
          <p:nvPr/>
        </p:nvSpPr>
        <p:spPr>
          <a:xfrm>
            <a:off x="8280197" y="1801368"/>
            <a:ext cx="3198266" cy="1261680"/>
          </a:xfrm>
          <a:prstGeom prst="rect">
            <a:avLst/>
          </a:prstGeom>
          <a:noFill/>
          <a:ln/>
        </p:spPr>
        <p:txBody>
          <a:bodyPr wrap="square" lIns="0" tIns="0" rIns="0" bIns="0" rtlCol="0" anchor="t">
            <a:normAutofit fontScale="99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Les petites tumeurs découvertes tôt se prêtent plus souvent à une chirurgie conservatrice du sein.</a:t>
            </a:r>
            <a:endParaRPr lang="fr-FR" sz="1800" noProof="0" dirty="0"/>
          </a:p>
        </p:txBody>
      </p:sp>
      <p:sp>
        <p:nvSpPr>
          <p:cNvPr id="14" name="Shape 12"/>
          <p:cNvSpPr/>
          <p:nvPr/>
        </p:nvSpPr>
        <p:spPr>
          <a:xfrm>
            <a:off x="548640" y="3373944"/>
            <a:ext cx="3527450" cy="2066736"/>
          </a:xfrm>
          <a:prstGeom prst="roundRect">
            <a:avLst>
              <a:gd name="adj" fmla="val 2655"/>
            </a:avLst>
          </a:prstGeom>
          <a:solidFill>
            <a:srgbClr val="FDF1E0"/>
          </a:solidFill>
          <a:ln w="12700">
            <a:solidFill>
              <a:srgbClr val="EFD3AA"/>
            </a:solidFill>
            <a:prstDash val="solid"/>
          </a:ln>
        </p:spPr>
        <p:txBody>
          <a:bodyPr/>
          <a:lstStyle/>
          <a:p>
            <a:endParaRPr lang="fr-FR" noProof="0" dirty="0"/>
          </a:p>
        </p:txBody>
      </p:sp>
      <p:sp>
        <p:nvSpPr>
          <p:cNvPr id="15" name="Text 13"/>
          <p:cNvSpPr txBox="1"/>
          <p:nvPr/>
        </p:nvSpPr>
        <p:spPr>
          <a:xfrm>
            <a:off x="713232" y="3465384"/>
            <a:ext cx="3198266" cy="292608"/>
          </a:xfrm>
          <a:prstGeom prst="rect">
            <a:avLst/>
          </a:prstGeom>
          <a:noFill/>
          <a:ln/>
        </p:spPr>
        <p:txBody>
          <a:bodyPr wrap="square" lIns="0" tIns="0" rIns="0" bIns="0" rtlCol="0" anchor="t"/>
          <a:lstStyle/>
          <a:p>
            <a:r>
              <a:rPr lang="fr-FR" sz="1700" b="1" dirty="0">
                <a:solidFill>
                  <a:srgbClr val="C9761A"/>
                </a:solidFill>
                <a:latin typeface="Calibri" pitchFamily="34" charset="0"/>
                <a:ea typeface="Calibri" pitchFamily="34" charset="-122"/>
                <a:cs typeface="Calibri" pitchFamily="34" charset="-120"/>
              </a:rPr>
              <a:t>🟠 Faux </a:t>
            </a:r>
            <a:r>
              <a:rPr lang="fr-FR" sz="1700" b="1" noProof="0" dirty="0">
                <a:solidFill>
                  <a:srgbClr val="C9761A"/>
                </a:solidFill>
                <a:latin typeface="Calibri" pitchFamily="34" charset="0"/>
                <a:ea typeface="Calibri" pitchFamily="34" charset="-122"/>
                <a:cs typeface="Calibri" pitchFamily="34" charset="-120"/>
              </a:rPr>
              <a:t>positifs</a:t>
            </a:r>
            <a:endParaRPr lang="fr-FR" sz="1700" noProof="0" dirty="0"/>
          </a:p>
        </p:txBody>
      </p:sp>
      <p:sp>
        <p:nvSpPr>
          <p:cNvPr id="16" name="Text 14"/>
          <p:cNvSpPr txBox="1"/>
          <p:nvPr/>
        </p:nvSpPr>
        <p:spPr>
          <a:xfrm>
            <a:off x="713232" y="3803712"/>
            <a:ext cx="3198266" cy="1582104"/>
          </a:xfrm>
          <a:prstGeom prst="rect">
            <a:avLst/>
          </a:prstGeom>
          <a:noFill/>
          <a:ln/>
        </p:spPr>
        <p:txBody>
          <a:bodyPr wrap="square" lIns="0" tIns="0" rIns="0" bIns="0" rtlCol="0" anchor="t">
            <a:normAutofit/>
          </a:bodyPr>
          <a:lstStyle/>
          <a:p>
            <a:pPr marL="0" indent="0">
              <a:lnSpc>
                <a:spcPct val="90000"/>
              </a:lnSpc>
              <a:buNone/>
            </a:pPr>
            <a:r>
              <a:rPr lang="fr-FR" sz="1746" noProof="0" dirty="0">
                <a:solidFill>
                  <a:srgbClr val="1F3A63"/>
                </a:solidFill>
                <a:latin typeface="Calibri" pitchFamily="34" charset="0"/>
                <a:ea typeface="Calibri" pitchFamily="34" charset="-122"/>
                <a:cs typeface="Calibri" pitchFamily="34" charset="-120"/>
              </a:rPr>
              <a:t>Beaucoup de personnes ayant un résultat de dépistage anormal n’ont pas de cancer, mais toutes passent par des examens complémentaires et l’anxiété qui les accompagne.</a:t>
            </a:r>
            <a:endParaRPr lang="fr-FR" sz="1746" noProof="0" dirty="0"/>
          </a:p>
        </p:txBody>
      </p:sp>
      <p:sp>
        <p:nvSpPr>
          <p:cNvPr id="17" name="Shape 15"/>
          <p:cNvSpPr/>
          <p:nvPr/>
        </p:nvSpPr>
        <p:spPr>
          <a:xfrm>
            <a:off x="4332122" y="3373944"/>
            <a:ext cx="3527450" cy="2066736"/>
          </a:xfrm>
          <a:prstGeom prst="roundRect">
            <a:avLst>
              <a:gd name="adj" fmla="val 2655"/>
            </a:avLst>
          </a:prstGeom>
          <a:solidFill>
            <a:srgbClr val="FDF1E0"/>
          </a:solidFill>
          <a:ln w="12700">
            <a:solidFill>
              <a:srgbClr val="EFD3AA"/>
            </a:solidFill>
            <a:prstDash val="solid"/>
          </a:ln>
        </p:spPr>
        <p:txBody>
          <a:bodyPr/>
          <a:lstStyle/>
          <a:p>
            <a:endParaRPr lang="fr-FR" noProof="0" dirty="0"/>
          </a:p>
        </p:txBody>
      </p:sp>
      <p:sp>
        <p:nvSpPr>
          <p:cNvPr id="18" name="Text 16"/>
          <p:cNvSpPr txBox="1"/>
          <p:nvPr/>
        </p:nvSpPr>
        <p:spPr>
          <a:xfrm>
            <a:off x="4496714" y="3465384"/>
            <a:ext cx="3198266" cy="292608"/>
          </a:xfrm>
          <a:prstGeom prst="rect">
            <a:avLst/>
          </a:prstGeom>
          <a:noFill/>
          <a:ln/>
        </p:spPr>
        <p:txBody>
          <a:bodyPr wrap="square" lIns="0" tIns="0" rIns="0" bIns="0" rtlCol="0" anchor="t"/>
          <a:lstStyle/>
          <a:p>
            <a:r>
              <a:rPr lang="fr-FR" sz="1700" b="1" dirty="0">
                <a:solidFill>
                  <a:srgbClr val="C9761A"/>
                </a:solidFill>
                <a:latin typeface="Calibri" pitchFamily="34" charset="0"/>
                <a:ea typeface="Calibri" pitchFamily="34" charset="-122"/>
                <a:cs typeface="Calibri" pitchFamily="34" charset="-120"/>
              </a:rPr>
              <a:t>🟠 Faux </a:t>
            </a:r>
            <a:r>
              <a:rPr lang="fr-FR" sz="1700" b="1" noProof="0" dirty="0">
                <a:solidFill>
                  <a:srgbClr val="C9761A"/>
                </a:solidFill>
                <a:latin typeface="Calibri" pitchFamily="34" charset="0"/>
                <a:ea typeface="Calibri" pitchFamily="34" charset="-122"/>
                <a:cs typeface="Calibri" pitchFamily="34" charset="-120"/>
              </a:rPr>
              <a:t>négatifs</a:t>
            </a:r>
            <a:endParaRPr lang="fr-FR" sz="1700" noProof="0" dirty="0"/>
          </a:p>
        </p:txBody>
      </p:sp>
      <p:sp>
        <p:nvSpPr>
          <p:cNvPr id="19" name="Text 17"/>
          <p:cNvSpPr txBox="1"/>
          <p:nvPr/>
        </p:nvSpPr>
        <p:spPr>
          <a:xfrm>
            <a:off x="4496714" y="3803712"/>
            <a:ext cx="3198266" cy="1582104"/>
          </a:xfrm>
          <a:prstGeom prst="rect">
            <a:avLst/>
          </a:prstGeom>
          <a:noFill/>
          <a:ln/>
        </p:spPr>
        <p:txBody>
          <a:bodyPr wrap="square" lIns="0" tIns="0" rIns="0" bIns="0" rtlCol="0" anchor="t">
            <a:normAutofit fontScale="99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Un résultat normal peut faussement rassurer. Un changement qui apparaît plus tard doit tout de même être évalué.</a:t>
            </a:r>
            <a:endParaRPr lang="fr-FR" sz="1800" noProof="0" dirty="0"/>
          </a:p>
        </p:txBody>
      </p:sp>
      <p:sp>
        <p:nvSpPr>
          <p:cNvPr id="20" name="Shape 18"/>
          <p:cNvSpPr/>
          <p:nvPr/>
        </p:nvSpPr>
        <p:spPr>
          <a:xfrm>
            <a:off x="8115605" y="3373944"/>
            <a:ext cx="3527450" cy="2066736"/>
          </a:xfrm>
          <a:prstGeom prst="roundRect">
            <a:avLst>
              <a:gd name="adj" fmla="val 2655"/>
            </a:avLst>
          </a:prstGeom>
          <a:solidFill>
            <a:srgbClr val="FDF1E0"/>
          </a:solidFill>
          <a:ln w="12700">
            <a:solidFill>
              <a:srgbClr val="EFD3AA"/>
            </a:solidFill>
            <a:prstDash val="solid"/>
          </a:ln>
        </p:spPr>
        <p:txBody>
          <a:bodyPr/>
          <a:lstStyle/>
          <a:p>
            <a:endParaRPr lang="fr-FR" noProof="0" dirty="0"/>
          </a:p>
        </p:txBody>
      </p:sp>
      <p:sp>
        <p:nvSpPr>
          <p:cNvPr id="21" name="Text 19"/>
          <p:cNvSpPr txBox="1"/>
          <p:nvPr/>
        </p:nvSpPr>
        <p:spPr>
          <a:xfrm>
            <a:off x="8280197" y="3465384"/>
            <a:ext cx="3198266" cy="292608"/>
          </a:xfrm>
          <a:prstGeom prst="rect">
            <a:avLst/>
          </a:prstGeom>
          <a:noFill/>
          <a:ln/>
        </p:spPr>
        <p:txBody>
          <a:bodyPr wrap="square" lIns="0" tIns="0" rIns="0" bIns="0" rtlCol="0" anchor="t"/>
          <a:lstStyle/>
          <a:p>
            <a:r>
              <a:rPr lang="fr-FR" sz="1700" b="1" dirty="0">
                <a:solidFill>
                  <a:srgbClr val="C9761A"/>
                </a:solidFill>
                <a:latin typeface="Calibri" pitchFamily="34" charset="0"/>
                <a:ea typeface="Calibri" pitchFamily="34" charset="-122"/>
                <a:cs typeface="Calibri" pitchFamily="34" charset="-120"/>
              </a:rPr>
              <a:t>🟠 Surdiagnostic </a:t>
            </a:r>
            <a:r>
              <a:rPr lang="fr-FR" sz="1700" b="1" noProof="0" dirty="0">
                <a:solidFill>
                  <a:srgbClr val="C9761A"/>
                </a:solidFill>
                <a:latin typeface="Calibri" pitchFamily="34" charset="0"/>
                <a:ea typeface="Calibri" pitchFamily="34" charset="-122"/>
                <a:cs typeface="Calibri" pitchFamily="34" charset="-120"/>
              </a:rPr>
              <a:t>et fardeau</a:t>
            </a:r>
            <a:endParaRPr lang="fr-FR" sz="1700" noProof="0" dirty="0"/>
          </a:p>
        </p:txBody>
      </p:sp>
      <p:sp>
        <p:nvSpPr>
          <p:cNvPr id="22" name="Text 20"/>
          <p:cNvSpPr txBox="1"/>
          <p:nvPr/>
        </p:nvSpPr>
        <p:spPr>
          <a:xfrm>
            <a:off x="8280197" y="3803712"/>
            <a:ext cx="3198266" cy="1582104"/>
          </a:xfrm>
          <a:prstGeom prst="rect">
            <a:avLst/>
          </a:prstGeom>
          <a:noFill/>
          <a:ln/>
        </p:spPr>
        <p:txBody>
          <a:bodyPr wrap="square" lIns="0" tIns="0" rIns="0" bIns="0" rtlCol="0" anchor="t">
            <a:normAutofit/>
          </a:bodyPr>
          <a:lstStyle/>
          <a:p>
            <a:pPr marL="0" indent="0">
              <a:lnSpc>
                <a:spcPct val="90000"/>
              </a:lnSpc>
              <a:buNone/>
            </a:pPr>
            <a:r>
              <a:rPr lang="fr-FR" sz="1746" noProof="0" dirty="0">
                <a:solidFill>
                  <a:srgbClr val="1F3A63"/>
                </a:solidFill>
                <a:latin typeface="Calibri" pitchFamily="34" charset="0"/>
                <a:ea typeface="Calibri" pitchFamily="34" charset="-122"/>
                <a:cs typeface="Calibri" pitchFamily="34" charset="-120"/>
              </a:rPr>
              <a:t>Certaines lésions dépistées n’auraient jamais causé de tort, et les déplacements, les coûts et le temps d’absence au travail sont réels. Présentez les bénéfices et les limites de façon neutre.</a:t>
            </a:r>
            <a:endParaRPr lang="fr-FR" sz="1746" noProof="0" dirty="0"/>
          </a:p>
        </p:txBody>
      </p:sp>
      <p:sp>
        <p:nvSpPr>
          <p:cNvPr id="23" name="Shape 21"/>
          <p:cNvSpPr/>
          <p:nvPr/>
        </p:nvSpPr>
        <p:spPr>
          <a:xfrm>
            <a:off x="548640" y="5577840"/>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24" name="Text 22"/>
          <p:cNvSpPr txBox="1"/>
          <p:nvPr/>
        </p:nvSpPr>
        <p:spPr>
          <a:xfrm>
            <a:off x="713232" y="5650992"/>
            <a:ext cx="10765231" cy="420624"/>
          </a:xfrm>
          <a:prstGeom prst="rect">
            <a:avLst/>
          </a:prstGeom>
          <a:noFill/>
          <a:ln/>
        </p:spPr>
        <p:txBody>
          <a:bodyPr wrap="square" lIns="0" tIns="0" rIns="0" bIns="0" rtlCol="0" anchor="ct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Le dépistage n’apporte un bénéfice que si tout le parcours fonctionne. Un résultat anormal jamais suivi d’imagerie, de biopsie et de traitement ne produit que de l’anxiété.</a:t>
            </a:r>
            <a:endParaRPr lang="fr-FR" sz="1300" noProof="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rmAutofit/>
          </a:bodyPr>
          <a:lstStyle/>
          <a:p>
            <a:pPr marL="0" indent="0">
              <a:buNone/>
            </a:pPr>
            <a:r>
              <a:rPr lang="fr-FR" sz="3000" b="1" noProof="0" dirty="0">
                <a:solidFill>
                  <a:srgbClr val="12315B"/>
                </a:solidFill>
                <a:latin typeface="Calibri" pitchFamily="34" charset="0"/>
                <a:ea typeface="Calibri" pitchFamily="34" charset="-122"/>
                <a:cs typeface="Calibri" pitchFamily="34" charset="-120"/>
              </a:rPr>
              <a:t>Après un résultat de dépistage ou d’examen anormal</a:t>
            </a:r>
            <a:endParaRPr lang="fr-FR" sz="3000" noProof="0" dirty="0"/>
          </a:p>
        </p:txBody>
      </p:sp>
      <p:sp>
        <p:nvSpPr>
          <p:cNvPr id="5" name="Shape 3"/>
          <p:cNvSpPr/>
          <p:nvPr/>
        </p:nvSpPr>
        <p:spPr>
          <a:xfrm>
            <a:off x="548640" y="1325880"/>
            <a:ext cx="11094415" cy="751637"/>
          </a:xfrm>
          <a:prstGeom prst="roundRect">
            <a:avLst>
              <a:gd name="adj" fmla="val 6083"/>
            </a:avLst>
          </a:prstGeom>
          <a:solidFill>
            <a:srgbClr val="F4F8FC"/>
          </a:solidFill>
          <a:ln w="12700">
            <a:solidFill>
              <a:srgbClr val="C8D8EC"/>
            </a:solidFill>
            <a:prstDash val="solid"/>
          </a:ln>
        </p:spPr>
        <p:txBody>
          <a:bodyPr/>
          <a:lstStyle/>
          <a:p>
            <a:endParaRPr lang="fr-FR" noProof="0" dirty="0"/>
          </a:p>
        </p:txBody>
      </p:sp>
      <p:sp>
        <p:nvSpPr>
          <p:cNvPr id="6" name="Shape 4"/>
          <p:cNvSpPr/>
          <p:nvPr/>
        </p:nvSpPr>
        <p:spPr>
          <a:xfrm>
            <a:off x="694944" y="1435608"/>
            <a:ext cx="932688" cy="532181"/>
          </a:xfrm>
          <a:prstGeom prst="roundRect">
            <a:avLst>
              <a:gd name="adj" fmla="val 8591"/>
            </a:avLst>
          </a:prstGeom>
          <a:solidFill>
            <a:srgbClr val="12315B"/>
          </a:solidFill>
          <a:ln/>
        </p:spPr>
        <p:txBody>
          <a:bodyPr/>
          <a:lstStyle/>
          <a:p>
            <a:endParaRPr lang="fr-FR" noProof="0" dirty="0"/>
          </a:p>
        </p:txBody>
      </p:sp>
      <p:sp>
        <p:nvSpPr>
          <p:cNvPr id="7" name="Text 5"/>
          <p:cNvSpPr txBox="1"/>
          <p:nvPr/>
        </p:nvSpPr>
        <p:spPr>
          <a:xfrm>
            <a:off x="694944" y="1435608"/>
            <a:ext cx="932688" cy="532181"/>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Étape 1</a:t>
            </a:r>
            <a:endParaRPr lang="fr-FR" sz="1400" noProof="0" dirty="0"/>
          </a:p>
        </p:txBody>
      </p:sp>
      <p:sp>
        <p:nvSpPr>
          <p:cNvPr id="8" name="Text 6"/>
          <p:cNvSpPr txBox="1"/>
          <p:nvPr/>
        </p:nvSpPr>
        <p:spPr>
          <a:xfrm>
            <a:off x="1783080" y="1399032"/>
            <a:ext cx="9677095" cy="605333"/>
          </a:xfrm>
          <a:prstGeom prst="rect">
            <a:avLst/>
          </a:prstGeom>
          <a:noFill/>
          <a:ln/>
        </p:spPr>
        <p:txBody>
          <a:bodyPr wrap="square" lIns="0" tIns="0" rIns="0" bIns="0" rtlCol="0" anchor="ctr">
            <a:normAutofit fontScale="960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Dire ce que ce n’est pas : dites clairement que cela ne signifie pas qu’un cancer a été trouvé, et qu’un autre examen est nécessaire pour savoir ce qu’est ce changement.</a:t>
            </a:r>
            <a:endParaRPr lang="fr-FR" sz="1800" noProof="0" dirty="0"/>
          </a:p>
        </p:txBody>
      </p:sp>
      <p:sp>
        <p:nvSpPr>
          <p:cNvPr id="9" name="Shape 7"/>
          <p:cNvSpPr/>
          <p:nvPr/>
        </p:nvSpPr>
        <p:spPr>
          <a:xfrm>
            <a:off x="548640" y="2223821"/>
            <a:ext cx="11094415" cy="751637"/>
          </a:xfrm>
          <a:prstGeom prst="roundRect">
            <a:avLst>
              <a:gd name="adj" fmla="val 6083"/>
            </a:avLst>
          </a:prstGeom>
          <a:solidFill>
            <a:srgbClr val="F4F8FC"/>
          </a:solidFill>
          <a:ln w="12700">
            <a:solidFill>
              <a:srgbClr val="C8D8EC"/>
            </a:solidFill>
            <a:prstDash val="solid"/>
          </a:ln>
        </p:spPr>
        <p:txBody>
          <a:bodyPr/>
          <a:lstStyle/>
          <a:p>
            <a:endParaRPr lang="fr-FR" noProof="0" dirty="0"/>
          </a:p>
        </p:txBody>
      </p:sp>
      <p:sp>
        <p:nvSpPr>
          <p:cNvPr id="10" name="Shape 8"/>
          <p:cNvSpPr/>
          <p:nvPr/>
        </p:nvSpPr>
        <p:spPr>
          <a:xfrm>
            <a:off x="694944" y="2333549"/>
            <a:ext cx="932688" cy="532181"/>
          </a:xfrm>
          <a:prstGeom prst="roundRect">
            <a:avLst>
              <a:gd name="adj" fmla="val 8591"/>
            </a:avLst>
          </a:prstGeom>
          <a:solidFill>
            <a:srgbClr val="12315B"/>
          </a:solidFill>
          <a:ln/>
        </p:spPr>
        <p:txBody>
          <a:bodyPr/>
          <a:lstStyle/>
          <a:p>
            <a:endParaRPr lang="fr-FR" noProof="0" dirty="0"/>
          </a:p>
        </p:txBody>
      </p:sp>
      <p:sp>
        <p:nvSpPr>
          <p:cNvPr id="11" name="Text 9"/>
          <p:cNvSpPr txBox="1"/>
          <p:nvPr/>
        </p:nvSpPr>
        <p:spPr>
          <a:xfrm>
            <a:off x="694944" y="2333549"/>
            <a:ext cx="932688" cy="532181"/>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Étape 2</a:t>
            </a:r>
            <a:endParaRPr lang="fr-FR" sz="1400" noProof="0" dirty="0"/>
          </a:p>
        </p:txBody>
      </p:sp>
      <p:sp>
        <p:nvSpPr>
          <p:cNvPr id="12" name="Text 10"/>
          <p:cNvSpPr txBox="1"/>
          <p:nvPr/>
        </p:nvSpPr>
        <p:spPr>
          <a:xfrm>
            <a:off x="1783080" y="2296973"/>
            <a:ext cx="9677095" cy="605333"/>
          </a:xfrm>
          <a:prstGeom prst="rect">
            <a:avLst/>
          </a:prstGeom>
          <a:noFill/>
          <a:ln/>
        </p:spPr>
        <p:txBody>
          <a:bodyPr wrap="square" lIns="0" tIns="0" rIns="0" bIns="0" rtlCol="0" anchor="ctr">
            <a:normAutofit fontScale="960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Expliquer l’examen suivant : expliquez qu’une imagerie du sein est nécessaire et qu’un petit prélèvement de tissu peut être fait, ce que chacun implique, et le délai approximatif.</a:t>
            </a:r>
            <a:endParaRPr lang="fr-FR" sz="1800" noProof="0" dirty="0"/>
          </a:p>
        </p:txBody>
      </p:sp>
      <p:sp>
        <p:nvSpPr>
          <p:cNvPr id="13" name="Shape 11"/>
          <p:cNvSpPr/>
          <p:nvPr/>
        </p:nvSpPr>
        <p:spPr>
          <a:xfrm>
            <a:off x="548640" y="3121762"/>
            <a:ext cx="11094415" cy="751637"/>
          </a:xfrm>
          <a:prstGeom prst="roundRect">
            <a:avLst>
              <a:gd name="adj" fmla="val 6083"/>
            </a:avLst>
          </a:prstGeom>
          <a:solidFill>
            <a:srgbClr val="F4F8FC"/>
          </a:solidFill>
          <a:ln w="12700">
            <a:solidFill>
              <a:srgbClr val="C8D8EC"/>
            </a:solidFill>
            <a:prstDash val="solid"/>
          </a:ln>
        </p:spPr>
        <p:txBody>
          <a:bodyPr/>
          <a:lstStyle/>
          <a:p>
            <a:endParaRPr lang="fr-FR" noProof="0" dirty="0"/>
          </a:p>
        </p:txBody>
      </p:sp>
      <p:sp>
        <p:nvSpPr>
          <p:cNvPr id="14" name="Shape 12"/>
          <p:cNvSpPr/>
          <p:nvPr/>
        </p:nvSpPr>
        <p:spPr>
          <a:xfrm>
            <a:off x="694944" y="3231490"/>
            <a:ext cx="932688" cy="532181"/>
          </a:xfrm>
          <a:prstGeom prst="roundRect">
            <a:avLst>
              <a:gd name="adj" fmla="val 8591"/>
            </a:avLst>
          </a:prstGeom>
          <a:solidFill>
            <a:srgbClr val="12315B"/>
          </a:solidFill>
          <a:ln/>
        </p:spPr>
        <p:txBody>
          <a:bodyPr/>
          <a:lstStyle/>
          <a:p>
            <a:endParaRPr lang="fr-FR" noProof="0" dirty="0"/>
          </a:p>
        </p:txBody>
      </p:sp>
      <p:sp>
        <p:nvSpPr>
          <p:cNvPr id="15" name="Text 13"/>
          <p:cNvSpPr txBox="1"/>
          <p:nvPr/>
        </p:nvSpPr>
        <p:spPr>
          <a:xfrm>
            <a:off x="694944" y="3231490"/>
            <a:ext cx="932688" cy="532181"/>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Étape 3</a:t>
            </a:r>
            <a:endParaRPr lang="fr-FR" sz="1400" noProof="0" dirty="0"/>
          </a:p>
        </p:txBody>
      </p:sp>
      <p:sp>
        <p:nvSpPr>
          <p:cNvPr id="16" name="Text 14"/>
          <p:cNvSpPr txBox="1"/>
          <p:nvPr/>
        </p:nvSpPr>
        <p:spPr>
          <a:xfrm>
            <a:off x="1783080" y="3194914"/>
            <a:ext cx="9677095" cy="605333"/>
          </a:xfrm>
          <a:prstGeom prst="rect">
            <a:avLst/>
          </a:prstGeom>
          <a:noFill/>
          <a:ln/>
        </p:spPr>
        <p:txBody>
          <a:bodyPr wrap="square" lIns="0" tIns="0" rIns="0" bIns="0" rtlCol="0" anchor="ctr">
            <a:normAutofit fontScale="960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Organiser : faites vous-même l’orientation, nommez l’établissement, et notez où et quand elle aura lieu. Ne laissez pas la personne s’en charger seule.</a:t>
            </a:r>
            <a:endParaRPr lang="fr-FR" sz="1800" noProof="0" dirty="0"/>
          </a:p>
        </p:txBody>
      </p:sp>
      <p:sp>
        <p:nvSpPr>
          <p:cNvPr id="17" name="Shape 15"/>
          <p:cNvSpPr/>
          <p:nvPr/>
        </p:nvSpPr>
        <p:spPr>
          <a:xfrm>
            <a:off x="548640" y="4019702"/>
            <a:ext cx="11094415" cy="751637"/>
          </a:xfrm>
          <a:prstGeom prst="roundRect">
            <a:avLst>
              <a:gd name="adj" fmla="val 6083"/>
            </a:avLst>
          </a:prstGeom>
          <a:solidFill>
            <a:srgbClr val="F4F8FC"/>
          </a:solidFill>
          <a:ln w="12700">
            <a:solidFill>
              <a:srgbClr val="C8D8EC"/>
            </a:solidFill>
            <a:prstDash val="solid"/>
          </a:ln>
        </p:spPr>
        <p:txBody>
          <a:bodyPr/>
          <a:lstStyle/>
          <a:p>
            <a:endParaRPr lang="fr-FR" noProof="0" dirty="0"/>
          </a:p>
        </p:txBody>
      </p:sp>
      <p:sp>
        <p:nvSpPr>
          <p:cNvPr id="18" name="Shape 16"/>
          <p:cNvSpPr/>
          <p:nvPr/>
        </p:nvSpPr>
        <p:spPr>
          <a:xfrm>
            <a:off x="694944" y="4129430"/>
            <a:ext cx="932688" cy="532181"/>
          </a:xfrm>
          <a:prstGeom prst="roundRect">
            <a:avLst>
              <a:gd name="adj" fmla="val 8591"/>
            </a:avLst>
          </a:prstGeom>
          <a:solidFill>
            <a:srgbClr val="12315B"/>
          </a:solidFill>
          <a:ln/>
        </p:spPr>
        <p:txBody>
          <a:bodyPr/>
          <a:lstStyle/>
          <a:p>
            <a:endParaRPr lang="fr-FR" noProof="0" dirty="0"/>
          </a:p>
        </p:txBody>
      </p:sp>
      <p:sp>
        <p:nvSpPr>
          <p:cNvPr id="19" name="Text 17"/>
          <p:cNvSpPr txBox="1"/>
          <p:nvPr/>
        </p:nvSpPr>
        <p:spPr>
          <a:xfrm>
            <a:off x="694944" y="4129430"/>
            <a:ext cx="932688" cy="532181"/>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Étape 4</a:t>
            </a:r>
            <a:endParaRPr lang="fr-FR" sz="1400" noProof="0" dirty="0"/>
          </a:p>
        </p:txBody>
      </p:sp>
      <p:sp>
        <p:nvSpPr>
          <p:cNvPr id="20" name="Text 18"/>
          <p:cNvSpPr txBox="1"/>
          <p:nvPr/>
        </p:nvSpPr>
        <p:spPr>
          <a:xfrm>
            <a:off x="1783080" y="4092854"/>
            <a:ext cx="9677095" cy="605333"/>
          </a:xfrm>
          <a:prstGeom prst="rect">
            <a:avLst/>
          </a:prstGeom>
          <a:noFill/>
          <a:ln/>
        </p:spPr>
        <p:txBody>
          <a:bodyPr wrap="square" lIns="0" tIns="0" rIns="0" bIns="0" rtlCol="0" anchor="ctr">
            <a:normAutofit fontScale="960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Lever les obstacles : demandez ce qu’il en est du transport, du coût, de l’absence au travail, de la garde des enfants et de qui peut l’accompagner, et aidez à trouver des solutions.</a:t>
            </a:r>
            <a:endParaRPr lang="fr-FR" sz="1800" noProof="0" dirty="0"/>
          </a:p>
        </p:txBody>
      </p:sp>
      <p:sp>
        <p:nvSpPr>
          <p:cNvPr id="21" name="Shape 19"/>
          <p:cNvSpPr/>
          <p:nvPr/>
        </p:nvSpPr>
        <p:spPr>
          <a:xfrm>
            <a:off x="548640" y="4917643"/>
            <a:ext cx="11094415" cy="751637"/>
          </a:xfrm>
          <a:prstGeom prst="roundRect">
            <a:avLst>
              <a:gd name="adj" fmla="val 6083"/>
            </a:avLst>
          </a:prstGeom>
          <a:solidFill>
            <a:srgbClr val="F4F8FC"/>
          </a:solidFill>
          <a:ln w="12700">
            <a:solidFill>
              <a:srgbClr val="C8D8EC"/>
            </a:solidFill>
            <a:prstDash val="solid"/>
          </a:ln>
        </p:spPr>
        <p:txBody>
          <a:bodyPr/>
          <a:lstStyle/>
          <a:p>
            <a:endParaRPr lang="fr-FR" noProof="0" dirty="0"/>
          </a:p>
        </p:txBody>
      </p:sp>
      <p:sp>
        <p:nvSpPr>
          <p:cNvPr id="22" name="Shape 20"/>
          <p:cNvSpPr/>
          <p:nvPr/>
        </p:nvSpPr>
        <p:spPr>
          <a:xfrm>
            <a:off x="694944" y="5027371"/>
            <a:ext cx="932688" cy="532181"/>
          </a:xfrm>
          <a:prstGeom prst="roundRect">
            <a:avLst>
              <a:gd name="adj" fmla="val 8591"/>
            </a:avLst>
          </a:prstGeom>
          <a:solidFill>
            <a:srgbClr val="12315B"/>
          </a:solidFill>
          <a:ln/>
        </p:spPr>
        <p:txBody>
          <a:bodyPr/>
          <a:lstStyle/>
          <a:p>
            <a:endParaRPr lang="fr-FR" noProof="0" dirty="0"/>
          </a:p>
        </p:txBody>
      </p:sp>
      <p:sp>
        <p:nvSpPr>
          <p:cNvPr id="23" name="Text 21"/>
          <p:cNvSpPr txBox="1"/>
          <p:nvPr/>
        </p:nvSpPr>
        <p:spPr>
          <a:xfrm>
            <a:off x="694944" y="5027371"/>
            <a:ext cx="932688" cy="532181"/>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Étape 5</a:t>
            </a:r>
            <a:endParaRPr lang="fr-FR" sz="1400" noProof="0" dirty="0"/>
          </a:p>
        </p:txBody>
      </p:sp>
      <p:sp>
        <p:nvSpPr>
          <p:cNvPr id="24" name="Text 22"/>
          <p:cNvSpPr txBox="1"/>
          <p:nvPr/>
        </p:nvSpPr>
        <p:spPr>
          <a:xfrm>
            <a:off x="1783080" y="4990795"/>
            <a:ext cx="9677095" cy="605333"/>
          </a:xfrm>
          <a:prstGeom prst="rect">
            <a:avLst/>
          </a:prstGeom>
          <a:noFill/>
          <a:ln/>
        </p:spPr>
        <p:txBody>
          <a:bodyPr wrap="square" lIns="0" tIns="0" rIns="0" bIns="0" rtlCol="0" anchor="ctr">
            <a:normAutofit fontScale="96000"/>
          </a:bodyPr>
          <a:lstStyle/>
          <a:p>
            <a:pPr marL="0" indent="0">
              <a:lnSpc>
                <a:spcPct val="95000"/>
              </a:lnSpc>
              <a:buNone/>
            </a:pPr>
            <a:r>
              <a:rPr lang="fr-FR" sz="1800" b="1" noProof="0" dirty="0">
                <a:solidFill>
                  <a:srgbClr val="12315B"/>
                </a:solidFill>
                <a:latin typeface="Calibri" pitchFamily="34" charset="0"/>
                <a:ea typeface="Calibri" pitchFamily="34" charset="-122"/>
                <a:cs typeface="Calibri" pitchFamily="34" charset="-120"/>
              </a:rPr>
              <a:t>Boucler la boucle : convenez de la façon dont le résultat sera vérifié, et relancez activement la personne si elle ne se présente pas.</a:t>
            </a:r>
            <a:endParaRPr lang="fr-FR" sz="1800" noProof="0" dirty="0"/>
          </a:p>
        </p:txBody>
      </p:sp>
      <p:sp>
        <p:nvSpPr>
          <p:cNvPr id="25" name="Shape 23"/>
          <p:cNvSpPr/>
          <p:nvPr/>
        </p:nvSpPr>
        <p:spPr>
          <a:xfrm>
            <a:off x="548640" y="5779008"/>
            <a:ext cx="11094415" cy="502920"/>
          </a:xfrm>
          <a:prstGeom prst="roundRect">
            <a:avLst>
              <a:gd name="adj" fmla="val 9091"/>
            </a:avLst>
          </a:prstGeom>
          <a:solidFill>
            <a:srgbClr val="FDF1E0"/>
          </a:solidFill>
          <a:ln w="12700">
            <a:solidFill>
              <a:srgbClr val="EFD3AA"/>
            </a:solidFill>
            <a:prstDash val="solid"/>
          </a:ln>
        </p:spPr>
        <p:txBody>
          <a:bodyPr/>
          <a:lstStyle/>
          <a:p>
            <a:endParaRPr lang="fr-FR" noProof="0" dirty="0"/>
          </a:p>
        </p:txBody>
      </p:sp>
      <p:sp>
        <p:nvSpPr>
          <p:cNvPr id="26" name="Text 24"/>
          <p:cNvSpPr txBox="1"/>
          <p:nvPr/>
        </p:nvSpPr>
        <p:spPr>
          <a:xfrm>
            <a:off x="713232" y="5852160"/>
            <a:ext cx="10765231" cy="356616"/>
          </a:xfrm>
          <a:prstGeom prst="rect">
            <a:avLst/>
          </a:prstGeom>
          <a:noFill/>
          <a:ln/>
        </p:spPr>
        <p:txBody>
          <a:bodyPr wrap="square" lIns="0" tIns="0" rIns="0" bIns="0" rtlCol="0" anchor="ctr">
            <a:normAutofit fontScale="98500" lnSpcReduction="10000"/>
          </a:bodyP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En présence d’un changement mammaire, l’évaluation a lieu quel que soit le résultat d’un dépistage. Un examen antérieur normal ne l’emporte jamais sur un nouveau symptôme.</a:t>
            </a:r>
            <a:endParaRPr lang="fr-FR" sz="1300" noProof="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Application au cas d’Immaculée</a:t>
            </a:r>
            <a:endParaRPr lang="fr-FR"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fr-FR"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noAutofit/>
          </a:bodyPr>
          <a:lstStyle/>
          <a:p>
            <a:pPr marL="0" indent="0">
              <a:lnSpc>
                <a:spcPct val="92000"/>
              </a:lnSpc>
              <a:buNone/>
            </a:pPr>
            <a:r>
              <a:rPr lang="fr-FR" sz="1552" b="1" noProof="0" dirty="0">
                <a:solidFill>
                  <a:srgbClr val="C9761A"/>
                </a:solidFill>
                <a:latin typeface="Calibri" pitchFamily="34" charset="0"/>
                <a:ea typeface="Calibri" pitchFamily="34" charset="-122"/>
                <a:cs typeface="Calibri" pitchFamily="34" charset="-120"/>
              </a:rPr>
              <a:t>Scénario </a:t>
            </a:r>
            <a:r>
              <a:rPr lang="fr-FR" sz="1552" noProof="0" dirty="0">
                <a:solidFill>
                  <a:srgbClr val="0B1F3F"/>
                </a:solidFill>
                <a:latin typeface="Calibri" pitchFamily="34" charset="0"/>
                <a:ea typeface="Calibri" pitchFamily="34" charset="-122"/>
                <a:cs typeface="Calibri" pitchFamily="34" charset="-120"/>
              </a:rPr>
              <a:t>Immaculée demande si elle pourrait simplement revenir pour le contrôle des seins proposé par le centre de santé lors du prochain passage de l’équipe de dépistage du col.</a:t>
            </a:r>
            <a:endParaRPr lang="fr-FR" sz="1552"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fr-FR" sz="1900" b="1" noProof="0" dirty="0">
                <a:solidFill>
                  <a:srgbClr val="12315B"/>
                </a:solidFill>
                <a:latin typeface="Calibri" pitchFamily="34" charset="0"/>
                <a:ea typeface="Calibri" pitchFamily="34" charset="-122"/>
                <a:cs typeface="Calibri" pitchFamily="34" charset="-120"/>
              </a:rPr>
              <a:t>Quelle est la réponse la plus appropriée ?</a:t>
            </a:r>
            <a:endParaRPr lang="fr-FR" sz="1900" noProof="0" dirty="0"/>
          </a:p>
        </p:txBody>
      </p:sp>
      <p:sp>
        <p:nvSpPr>
          <p:cNvPr id="8" name="Shape 6"/>
          <p:cNvSpPr/>
          <p:nvPr/>
        </p:nvSpPr>
        <p:spPr>
          <a:xfrm>
            <a:off x="548640" y="2816352"/>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9" name="Text 7"/>
          <p:cNvSpPr txBox="1"/>
          <p:nvPr/>
        </p:nvSpPr>
        <p:spPr>
          <a:xfrm>
            <a:off x="713232" y="2871216"/>
            <a:ext cx="7260336" cy="356616"/>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Accepter, et inscrire son nom sur la liste du prochain passage</a:t>
            </a:r>
            <a:endParaRPr lang="fr-FR" sz="1800" noProof="0" dirty="0"/>
          </a:p>
        </p:txBody>
      </p:sp>
      <p:sp>
        <p:nvSpPr>
          <p:cNvPr id="10" name="Shape 8"/>
          <p:cNvSpPr/>
          <p:nvPr/>
        </p:nvSpPr>
        <p:spPr>
          <a:xfrm>
            <a:off x="548640" y="3374136"/>
            <a:ext cx="7589520" cy="713232"/>
          </a:xfrm>
          <a:prstGeom prst="roundRect">
            <a:avLst>
              <a:gd name="adj" fmla="val 6410"/>
            </a:avLst>
          </a:prstGeom>
          <a:solidFill>
            <a:srgbClr val="EAF5EF"/>
          </a:solidFill>
          <a:ln w="19050">
            <a:solidFill>
              <a:srgbClr val="8FC4A9"/>
            </a:solidFill>
            <a:prstDash val="solid"/>
          </a:ln>
        </p:spPr>
        <p:txBody>
          <a:bodyPr/>
          <a:lstStyle/>
          <a:p>
            <a:endParaRPr lang="fr-FR" noProof="0" dirty="0"/>
          </a:p>
        </p:txBody>
      </p:sp>
      <p:sp>
        <p:nvSpPr>
          <p:cNvPr id="11" name="Text 9"/>
          <p:cNvSpPr txBox="1"/>
          <p:nvPr/>
        </p:nvSpPr>
        <p:spPr>
          <a:xfrm>
            <a:off x="713232" y="3429000"/>
            <a:ext cx="7260336" cy="603504"/>
          </a:xfrm>
          <a:prstGeom prst="rect">
            <a:avLst/>
          </a:prstGeom>
          <a:noFill/>
          <a:ln/>
        </p:spPr>
        <p:txBody>
          <a:bodyPr wrap="square" lIns="0" tIns="0" rIns="0" bIns="0" rtlCol="0" anchor="ct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Expliquer que, comme elle a déjà une boule, son sein doit être évalué maintenant, et organiser l’orientation ✓</a:t>
            </a:r>
            <a:endParaRPr lang="fr-FR" sz="1800" noProof="0" dirty="0"/>
          </a:p>
        </p:txBody>
      </p:sp>
      <p:sp>
        <p:nvSpPr>
          <p:cNvPr id="12" name="Shape 10"/>
          <p:cNvSpPr/>
          <p:nvPr/>
        </p:nvSpPr>
        <p:spPr>
          <a:xfrm>
            <a:off x="548640" y="4178808"/>
            <a:ext cx="7589520" cy="713232"/>
          </a:xfrm>
          <a:prstGeom prst="roundRect">
            <a:avLst>
              <a:gd name="adj" fmla="val 6410"/>
            </a:avLst>
          </a:prstGeom>
          <a:solidFill>
            <a:srgbClr val="FFFFFF"/>
          </a:solidFill>
          <a:ln w="12700">
            <a:solidFill>
              <a:srgbClr val="C8D8EC"/>
            </a:solidFill>
            <a:prstDash val="solid"/>
          </a:ln>
        </p:spPr>
        <p:txBody>
          <a:bodyPr/>
          <a:lstStyle/>
          <a:p>
            <a:endParaRPr lang="fr-FR" noProof="0" dirty="0"/>
          </a:p>
        </p:txBody>
      </p:sp>
      <p:sp>
        <p:nvSpPr>
          <p:cNvPr id="13" name="Text 11"/>
          <p:cNvSpPr txBox="1"/>
          <p:nvPr/>
        </p:nvSpPr>
        <p:spPr>
          <a:xfrm>
            <a:off x="713232" y="4233672"/>
            <a:ext cx="7260336" cy="603504"/>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rassurer : une boule indolore à son âge est presque toujours sans gravité</a:t>
            </a:r>
            <a:endParaRPr lang="fr-FR" sz="1800" noProof="0" dirty="0"/>
          </a:p>
        </p:txBody>
      </p:sp>
      <p:sp>
        <p:nvSpPr>
          <p:cNvPr id="14" name="Shape 12"/>
          <p:cNvSpPr/>
          <p:nvPr/>
        </p:nvSpPr>
        <p:spPr>
          <a:xfrm>
            <a:off x="548640" y="4983480"/>
            <a:ext cx="7589520" cy="713232"/>
          </a:xfrm>
          <a:prstGeom prst="roundRect">
            <a:avLst>
              <a:gd name="adj" fmla="val 6410"/>
            </a:avLst>
          </a:prstGeom>
          <a:solidFill>
            <a:srgbClr val="FFFFFF"/>
          </a:solidFill>
          <a:ln w="12700">
            <a:solidFill>
              <a:srgbClr val="C8D8EC"/>
            </a:solidFill>
            <a:prstDash val="solid"/>
          </a:ln>
        </p:spPr>
        <p:txBody>
          <a:bodyPr/>
          <a:lstStyle/>
          <a:p>
            <a:endParaRPr lang="fr-FR" noProof="0" dirty="0"/>
          </a:p>
        </p:txBody>
      </p:sp>
      <p:sp>
        <p:nvSpPr>
          <p:cNvPr id="15" name="Text 13"/>
          <p:cNvSpPr txBox="1"/>
          <p:nvPr/>
        </p:nvSpPr>
        <p:spPr>
          <a:xfrm>
            <a:off x="713232" y="5038344"/>
            <a:ext cx="7260336" cy="603504"/>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Lui conseiller de surveiller encore trois mois et de revenir si elle grossit</a:t>
            </a:r>
            <a:endParaRPr lang="fr-FR"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fr-FR"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fr-FR" sz="1800" b="1" noProof="0" dirty="0">
                <a:solidFill>
                  <a:srgbClr val="1B6E4A"/>
                </a:solidFill>
                <a:latin typeface="Calibri" pitchFamily="34" charset="0"/>
                <a:ea typeface="Calibri" pitchFamily="34" charset="-122"/>
                <a:cs typeface="Calibri" pitchFamily="34" charset="-120"/>
              </a:rPr>
              <a:t>Bonne réponse : B</a:t>
            </a:r>
            <a:endParaRPr lang="fr-FR"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normAutofit fontScale="99000"/>
          </a:bodyP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Immaculée a une boule persistante du sein qui, selon elle, a grossi en cinq mois. C’est une situation symptomatique : elle a besoin d’une évaluation diagnostique maintenant, pas d’un dépistage plus tard. L’absence de douleur et l’absence d’antécédents familiaux ne rendent pas la situation moins inquiétante. Expliquez clairement la raison de l’orientation, sans affirmer qu’elle a un cancer.</a:t>
            </a:r>
            <a:endParaRPr lang="fr-FR" sz="1800" noProof="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(1 sur 4)</a:t>
            </a:r>
            <a:endParaRPr lang="fr-FR" sz="3000" noProof="0" dirty="0"/>
          </a:p>
        </p:txBody>
      </p:sp>
      <p:sp>
        <p:nvSpPr>
          <p:cNvPr id="5" name="Shape 3"/>
          <p:cNvSpPr/>
          <p:nvPr/>
        </p:nvSpPr>
        <p:spPr>
          <a:xfrm>
            <a:off x="548640" y="1832915"/>
            <a:ext cx="11094415" cy="1652321"/>
          </a:xfrm>
          <a:prstGeom prst="roundRect">
            <a:avLst>
              <a:gd name="adj" fmla="val 3320"/>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942643"/>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 Le dépistage s'applique à :</a:t>
            </a:r>
            <a:endParaRPr lang="fr-FR" sz="1800" noProof="0" dirty="0"/>
          </a:p>
        </p:txBody>
      </p:sp>
      <p:sp>
        <p:nvSpPr>
          <p:cNvPr id="7" name="Text 5"/>
          <p:cNvSpPr txBox="1"/>
          <p:nvPr/>
        </p:nvSpPr>
        <p:spPr>
          <a:xfrm>
            <a:off x="731520" y="2363267"/>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Aux personnes ayant une boule dans le sein</a:t>
            </a:r>
            <a:endParaRPr lang="fr-FR" sz="1800" noProof="0" dirty="0"/>
          </a:p>
        </p:txBody>
      </p:sp>
      <p:sp>
        <p:nvSpPr>
          <p:cNvPr id="8" name="Text 6"/>
          <p:cNvSpPr txBox="1"/>
          <p:nvPr/>
        </p:nvSpPr>
        <p:spPr>
          <a:xfrm>
            <a:off x="6210148" y="2363267"/>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Aux personnes en attente d’une opération</a:t>
            </a:r>
            <a:endParaRPr lang="fr-FR" sz="1800" noProof="0" dirty="0"/>
          </a:p>
        </p:txBody>
      </p:sp>
      <p:sp>
        <p:nvSpPr>
          <p:cNvPr id="9" name="Text 7"/>
          <p:cNvSpPr txBox="1"/>
          <p:nvPr/>
        </p:nvSpPr>
        <p:spPr>
          <a:xfrm>
            <a:off x="731520" y="2738171"/>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Aux personnes déjà diagnostiquées</a:t>
            </a:r>
            <a:endParaRPr lang="fr-FR" sz="1800" noProof="0" dirty="0"/>
          </a:p>
        </p:txBody>
      </p:sp>
      <p:sp>
        <p:nvSpPr>
          <p:cNvPr id="10" name="Text 8"/>
          <p:cNvSpPr txBox="1"/>
          <p:nvPr/>
        </p:nvSpPr>
        <p:spPr>
          <a:xfrm>
            <a:off x="6210148" y="2738171"/>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D. Aux personnes sans aucun symptôme mammaire</a:t>
            </a:r>
            <a:endParaRPr lang="fr-FR" sz="1800" noProof="0" dirty="0"/>
          </a:p>
        </p:txBody>
      </p:sp>
      <p:sp>
        <p:nvSpPr>
          <p:cNvPr id="11" name="Text 9"/>
          <p:cNvSpPr txBox="1"/>
          <p:nvPr/>
        </p:nvSpPr>
        <p:spPr>
          <a:xfrm>
            <a:off x="731520" y="3167939"/>
            <a:ext cx="10728655" cy="244145"/>
          </a:xfrm>
          <a:prstGeom prst="rect">
            <a:avLst/>
          </a:prstGeom>
          <a:noFill/>
          <a:ln/>
        </p:spPr>
        <p:txBody>
          <a:bodyPr wrap="square" lIns="0" tIns="0" rIns="0" bIns="0" rtlCol="0" anchor="t">
            <a:normAutofit fontScale="80000" lnSpcReduction="100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D. </a:t>
            </a:r>
            <a:r>
              <a:rPr lang="fr-FR" sz="1350" noProof="0" dirty="0">
                <a:solidFill>
                  <a:srgbClr val="0B1F3F"/>
                </a:solidFill>
                <a:latin typeface="Calibri" pitchFamily="34" charset="0"/>
                <a:ea typeface="Calibri" pitchFamily="34" charset="-122"/>
                <a:cs typeface="Calibri" pitchFamily="34" charset="-120"/>
              </a:rPr>
              <a:t>Le dépistage est la détection précoce chez des personnes sans symptôme. Une personne présentant un changement mammaire a besoin d’une évaluation diagnostique.</a:t>
            </a:r>
            <a:endParaRPr lang="fr-FR" sz="1350" noProof="0" dirty="0"/>
          </a:p>
        </p:txBody>
      </p:sp>
      <p:sp>
        <p:nvSpPr>
          <p:cNvPr id="12" name="Shape 10"/>
          <p:cNvSpPr/>
          <p:nvPr/>
        </p:nvSpPr>
        <p:spPr>
          <a:xfrm>
            <a:off x="548640" y="3686404"/>
            <a:ext cx="11094415" cy="233680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796132"/>
            <a:ext cx="10728655" cy="384048"/>
          </a:xfrm>
          <a:prstGeom prst="rect">
            <a:avLst/>
          </a:prstGeom>
          <a:noFill/>
          <a:ln/>
        </p:spPr>
        <p:txBody>
          <a:bodyPr wrap="square" lIns="0" tIns="0" rIns="0" bIns="0" rtlCol="0" anchor="t">
            <a:normAutofit fontScale="83500" lnSpcReduction="200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Q2. Une femme de 52 ans a passé une mammographie de dépistage anormale et se sent parfaitement bien. La bonne étape suivante est :</a:t>
            </a:r>
            <a:endParaRPr lang="fr-FR" sz="1800" noProof="0" dirty="0"/>
          </a:p>
        </p:txBody>
      </p:sp>
      <p:sp>
        <p:nvSpPr>
          <p:cNvPr id="14" name="Text 12"/>
          <p:cNvSpPr txBox="1"/>
          <p:nvPr/>
        </p:nvSpPr>
        <p:spPr>
          <a:xfrm>
            <a:off x="731520" y="4216756"/>
            <a:ext cx="5250028" cy="566928"/>
          </a:xfrm>
          <a:prstGeom prst="rect">
            <a:avLst/>
          </a:prstGeom>
          <a:noFill/>
          <a:ln/>
        </p:spPr>
        <p:txBody>
          <a:bodyPr wrap="square" lIns="0" tIns="0" rIns="0" bIns="0" rtlCol="0" anchor="t">
            <a:normAutofit fontScale="91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Organiser une évaluation mammaire supplémentaire et expliquer que le cancer n'est pas confirmé</a:t>
            </a:r>
            <a:endParaRPr lang="fr-FR" sz="1800" noProof="0" dirty="0"/>
          </a:p>
        </p:txBody>
      </p:sp>
      <p:sp>
        <p:nvSpPr>
          <p:cNvPr id="15" name="Text 13"/>
          <p:cNvSpPr txBox="1"/>
          <p:nvPr/>
        </p:nvSpPr>
        <p:spPr>
          <a:xfrm>
            <a:off x="6210148" y="4216756"/>
            <a:ext cx="5250028" cy="566928"/>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Lui dire qu’elle a un cancer du sein</a:t>
            </a:r>
            <a:endParaRPr lang="fr-FR" sz="1800" noProof="0" dirty="0"/>
          </a:p>
        </p:txBody>
      </p:sp>
      <p:sp>
        <p:nvSpPr>
          <p:cNvPr id="16" name="Text 14"/>
          <p:cNvSpPr txBox="1"/>
          <p:nvPr/>
        </p:nvSpPr>
        <p:spPr>
          <a:xfrm>
            <a:off x="731520" y="5092700"/>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Refaire la mammographie dans deux ans</a:t>
            </a:r>
            <a:endParaRPr lang="fr-FR" sz="1800" noProof="0" dirty="0"/>
          </a:p>
        </p:txBody>
      </p:sp>
      <p:sp>
        <p:nvSpPr>
          <p:cNvPr id="17" name="Text 15"/>
          <p:cNvSpPr txBox="1"/>
          <p:nvPr/>
        </p:nvSpPr>
        <p:spPr>
          <a:xfrm>
            <a:off x="6210148" y="5092700"/>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Ne rien faire car elle n’a aucun symptôme</a:t>
            </a:r>
            <a:endParaRPr lang="fr-FR" sz="1800" noProof="0" dirty="0"/>
          </a:p>
        </p:txBody>
      </p:sp>
      <p:sp>
        <p:nvSpPr>
          <p:cNvPr id="18" name="Text 16"/>
          <p:cNvSpPr txBox="1"/>
          <p:nvPr/>
        </p:nvSpPr>
        <p:spPr>
          <a:xfrm>
            <a:off x="731520" y="5511800"/>
            <a:ext cx="10728655" cy="433426"/>
          </a:xfrm>
          <a:prstGeom prst="rect">
            <a:avLst/>
          </a:prstGeom>
          <a:noFill/>
          <a:ln/>
        </p:spPr>
        <p:txBody>
          <a:bodyPr wrap="square" lIns="0" tIns="0" rIns="0" bIns="0" rtlCol="0" anchor="t">
            <a:normAutofit fontScale="950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Une mammographie anormale signifie qu’un élément doit être évalué davantage. Elle entraîne une imagerie complémentaire et, si indiqué, un diagnostic sur tissu. Ce n’est pas un diagnostic en soi.</a:t>
            </a:r>
            <a:endParaRPr lang="fr-FR" sz="1350" noProof="0" dirty="0"/>
          </a:p>
        </p:txBody>
      </p:sp>
    </p:spTree>
    <p:extLst>
      <p:ext uri="{BB962C8B-B14F-4D97-AF65-F5344CB8AC3E}">
        <p14:creationId xmlns:p14="http://schemas.microsoft.com/office/powerpoint/2010/main" val="14798243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(2 sur 4)</a:t>
            </a:r>
            <a:endParaRPr lang="fr-FR" sz="3000" noProof="0" dirty="0"/>
          </a:p>
        </p:txBody>
      </p:sp>
      <p:sp>
        <p:nvSpPr>
          <p:cNvPr id="5" name="Shape 3"/>
          <p:cNvSpPr/>
          <p:nvPr/>
        </p:nvSpPr>
        <p:spPr>
          <a:xfrm>
            <a:off x="548640" y="1491386"/>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normAutofit fontScale="910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Q3. Une femme de 35 ans présente une boule lisse, ferme et mobile de 2 cm, remarquée il y a deux mois. Vous devez :</a:t>
            </a:r>
            <a:endParaRPr lang="fr-FR" sz="1800" noProof="0" dirty="0"/>
          </a:p>
        </p:txBody>
      </p:sp>
      <p:sp>
        <p:nvSpPr>
          <p:cNvPr id="7" name="Text 5"/>
          <p:cNvSpPr txBox="1"/>
          <p:nvPr/>
        </p:nvSpPr>
        <p:spPr>
          <a:xfrm>
            <a:off x="731520" y="2021738"/>
            <a:ext cx="5250028" cy="813816"/>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Lui dire que c’est un fibroadénome et ne rien faire de plus</a:t>
            </a:r>
            <a:endParaRPr lang="fr-FR" sz="1800" noProof="0" dirty="0"/>
          </a:p>
        </p:txBody>
      </p:sp>
      <p:sp>
        <p:nvSpPr>
          <p:cNvPr id="8" name="Text 6"/>
          <p:cNvSpPr txBox="1"/>
          <p:nvPr/>
        </p:nvSpPr>
        <p:spPr>
          <a:xfrm>
            <a:off x="6210148" y="2021738"/>
            <a:ext cx="5250028" cy="813816"/>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L’orienter pour évaluation, car l’impression clinique d’une boule bénigne doit encore être confirmée</a:t>
            </a:r>
            <a:endParaRPr lang="fr-FR"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Prescrire des antibiotiques</a:t>
            </a:r>
            <a:endParaRPr lang="fr-FR"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Conseiller une mammographie de dépistage</a:t>
            </a:r>
            <a:endParaRPr lang="fr-FR"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normAutofit fontScale="950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La description évoque un fibroadénome, mais l’impression clinique seule ne le confirme pas. Toute nouvelle boule distincte est évaluée. La plupart se révèlent bénignes, et c’est précisément pour cela que l’évaluation peut être proposée sans alarmer.</a:t>
            </a:r>
            <a:endParaRPr lang="fr-FR" sz="1350" noProof="0" dirty="0"/>
          </a:p>
        </p:txBody>
      </p:sp>
      <p:sp>
        <p:nvSpPr>
          <p:cNvPr id="12" name="Shape 10"/>
          <p:cNvSpPr/>
          <p:nvPr/>
        </p:nvSpPr>
        <p:spPr>
          <a:xfrm>
            <a:off x="548640" y="4027932"/>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Q4. Quelle affirmation sur la douleur mammaire est correcte ?</a:t>
            </a:r>
            <a:endParaRPr lang="fr-FR" sz="1800" noProof="0" dirty="0"/>
          </a:p>
        </p:txBody>
      </p:sp>
      <p:sp>
        <p:nvSpPr>
          <p:cNvPr id="14" name="Text 12"/>
          <p:cNvSpPr txBox="1"/>
          <p:nvPr/>
        </p:nvSpPr>
        <p:spPr>
          <a:xfrm>
            <a:off x="731520" y="4558284"/>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Une boule douloureuse est toujours bénigne</a:t>
            </a:r>
            <a:endParaRPr lang="fr-FR" sz="1800" noProof="0" dirty="0"/>
          </a:p>
        </p:txBody>
      </p:sp>
      <p:sp>
        <p:nvSpPr>
          <p:cNvPr id="15" name="Text 13"/>
          <p:cNvSpPr txBox="1"/>
          <p:nvPr/>
        </p:nvSpPr>
        <p:spPr>
          <a:xfrm>
            <a:off x="6210148" y="4558284"/>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Une boule indolore peut être ignorée</a:t>
            </a:r>
            <a:endParaRPr lang="fr-FR" sz="1800" noProof="0" dirty="0"/>
          </a:p>
        </p:txBody>
      </p:sp>
      <p:sp>
        <p:nvSpPr>
          <p:cNvPr id="16" name="Text 14"/>
          <p:cNvSpPr txBox="1"/>
          <p:nvPr/>
        </p:nvSpPr>
        <p:spPr>
          <a:xfrm>
            <a:off x="731520" y="4933188"/>
            <a:ext cx="5250028" cy="566928"/>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Les caractéristiques de la douleur seules ne confirment ni n'excluent le cancer du sein</a:t>
            </a:r>
            <a:endParaRPr lang="fr-FR" sz="1800" noProof="0" dirty="0"/>
          </a:p>
        </p:txBody>
      </p:sp>
      <p:sp>
        <p:nvSpPr>
          <p:cNvPr id="17" name="Text 15"/>
          <p:cNvSpPr txBox="1"/>
          <p:nvPr/>
        </p:nvSpPr>
        <p:spPr>
          <a:xfrm>
            <a:off x="6210148" y="4933188"/>
            <a:ext cx="5250028" cy="566928"/>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 cancer est la cause habituelle de douleurs mammaires cycliques</a:t>
            </a:r>
            <a:endParaRPr lang="fr-FR"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C. </a:t>
            </a:r>
            <a:r>
              <a:rPr lang="fr-FR" sz="1350" noProof="0" dirty="0">
                <a:solidFill>
                  <a:srgbClr val="0B1F3F"/>
                </a:solidFill>
                <a:latin typeface="Calibri" pitchFamily="34" charset="0"/>
                <a:ea typeface="Calibri" pitchFamily="34" charset="-122"/>
                <a:cs typeface="Calibri" pitchFamily="34" charset="-120"/>
              </a:rPr>
              <a:t>La douleur est un mauvais critère. La plupart des cancers du sein sont indolores, et la douleur n’exclut pas un cancer. Évaluez l’ensemble du tableau clinique plutôt que de vous fier à la douleur.</a:t>
            </a:r>
            <a:endParaRPr lang="fr-FR" sz="1350" noProof="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(3 sur 4)</a:t>
            </a:r>
            <a:endParaRPr lang="fr-FR" sz="3000" noProof="0" dirty="0"/>
          </a:p>
        </p:txBody>
      </p:sp>
      <p:sp>
        <p:nvSpPr>
          <p:cNvPr id="5" name="Shape 3"/>
          <p:cNvSpPr/>
          <p:nvPr/>
        </p:nvSpPr>
        <p:spPr>
          <a:xfrm>
            <a:off x="548640" y="1244498"/>
            <a:ext cx="11094415" cy="2582266"/>
          </a:xfrm>
          <a:prstGeom prst="roundRect">
            <a:avLst>
              <a:gd name="adj" fmla="val 212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354226"/>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Q5. Sans cancer du sein dans sa famille, une femme se croit à l’abri. Que lui répondre ?</a:t>
            </a:r>
            <a:endParaRPr lang="fr-FR" sz="1800" noProof="0" dirty="0"/>
          </a:p>
        </p:txBody>
      </p:sp>
      <p:sp>
        <p:nvSpPr>
          <p:cNvPr id="7" name="Text 5"/>
          <p:cNvSpPr txBox="1"/>
          <p:nvPr/>
        </p:nvSpPr>
        <p:spPr>
          <a:xfrm>
            <a:off x="731520" y="1774850"/>
            <a:ext cx="5250028" cy="813816"/>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La plupart des personnes qui développent un cancer du sein n'ont pas d'antécédents familiaux, donc son changement nécessite encore une évaluation</a:t>
            </a:r>
            <a:endParaRPr lang="fr-FR" sz="1800" noProof="0" dirty="0"/>
          </a:p>
        </p:txBody>
      </p:sp>
      <p:sp>
        <p:nvSpPr>
          <p:cNvPr id="8" name="Text 6"/>
          <p:cNvSpPr txBox="1"/>
          <p:nvPr/>
        </p:nvSpPr>
        <p:spPr>
          <a:xfrm>
            <a:off x="6210148" y="1774850"/>
            <a:ext cx="5250028" cy="813816"/>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Elle a raison et n’a pas besoin d’évaluation</a:t>
            </a:r>
            <a:endParaRPr lang="fr-FR" sz="1800" noProof="0" dirty="0"/>
          </a:p>
        </p:txBody>
      </p:sp>
      <p:sp>
        <p:nvSpPr>
          <p:cNvPr id="9" name="Text 7"/>
          <p:cNvSpPr txBox="1"/>
          <p:nvPr/>
        </p:nvSpPr>
        <p:spPr>
          <a:xfrm>
            <a:off x="731520" y="2643530"/>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Les antécédents familiaux sont le seul facteur de risque qui compte</a:t>
            </a:r>
            <a:endParaRPr lang="fr-FR" sz="1800" noProof="0" dirty="0"/>
          </a:p>
        </p:txBody>
      </p:sp>
      <p:sp>
        <p:nvSpPr>
          <p:cNvPr id="10" name="Text 8"/>
          <p:cNvSpPr txBox="1"/>
          <p:nvPr/>
        </p:nvSpPr>
        <p:spPr>
          <a:xfrm>
            <a:off x="6210148" y="2643530"/>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Elle ne doit être dépistée que si une parente est atteinte</a:t>
            </a:r>
            <a:endParaRPr lang="fr-FR"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Les antécédents familiaux augmentent le risque, mais leur absence n’exclut rien. La majorité des personnes atteintes d’un cancer du sein n’ont pas d’antécédents familiaux marqués.</a:t>
            </a:r>
            <a:endParaRPr lang="fr-FR" sz="1350" noProof="0" dirty="0"/>
          </a:p>
        </p:txBody>
      </p:sp>
      <p:sp>
        <p:nvSpPr>
          <p:cNvPr id="12" name="Shape 10"/>
          <p:cNvSpPr/>
          <p:nvPr/>
        </p:nvSpPr>
        <p:spPr>
          <a:xfrm>
            <a:off x="548640" y="4027932"/>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Q6. Une femme qui allaite a un sein rouge et gonflé malgré un traitement complet. Vous devez :</a:t>
            </a:r>
            <a:endParaRPr lang="fr-FR" sz="1800" noProof="0" dirty="0"/>
          </a:p>
        </p:txBody>
      </p:sp>
      <p:sp>
        <p:nvSpPr>
          <p:cNvPr id="14" name="Text 12"/>
          <p:cNvSpPr txBox="1"/>
          <p:nvPr/>
        </p:nvSpPr>
        <p:spPr>
          <a:xfrm>
            <a:off x="731520" y="455828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Répéter le même antibiotique et revoir dans un mois</a:t>
            </a:r>
            <a:endParaRPr lang="fr-FR" sz="1800" noProof="0" dirty="0"/>
          </a:p>
        </p:txBody>
      </p:sp>
      <p:sp>
        <p:nvSpPr>
          <p:cNvPr id="15" name="Text 13"/>
          <p:cNvSpPr txBox="1"/>
          <p:nvPr/>
        </p:nvSpPr>
        <p:spPr>
          <a:xfrm>
            <a:off x="6210148" y="4558284"/>
            <a:ext cx="5250028" cy="566928"/>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Lui conseiller d’arrêter l’allaitement, sans autre mesure</a:t>
            </a:r>
            <a:endParaRPr lang="fr-FR" sz="1800" noProof="0" dirty="0"/>
          </a:p>
        </p:txBody>
      </p:sp>
      <p:sp>
        <p:nvSpPr>
          <p:cNvPr id="16" name="Text 14"/>
          <p:cNvSpPr txBox="1"/>
          <p:nvPr/>
        </p:nvSpPr>
        <p:spPr>
          <a:xfrm>
            <a:off x="731520" y="518007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Réévaluer et orienter, car le cancer inflammatoire du sein peut se manifester ainsi</a:t>
            </a:r>
            <a:endParaRPr lang="fr-FR" sz="1800" noProof="0" dirty="0"/>
          </a:p>
        </p:txBody>
      </p:sp>
      <p:sp>
        <p:nvSpPr>
          <p:cNvPr id="17" name="Text 15"/>
          <p:cNvSpPr txBox="1"/>
          <p:nvPr/>
        </p:nvSpPr>
        <p:spPr>
          <a:xfrm>
            <a:off x="6210148" y="518007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 rassurer : ce ne peut pas être un cancer pendant l’allaitement</a:t>
            </a:r>
            <a:endParaRPr lang="fr-FR" sz="1800" noProof="0" dirty="0"/>
          </a:p>
        </p:txBody>
      </p:sp>
      <p:sp>
        <p:nvSpPr>
          <p:cNvPr id="18" name="Text 16"/>
          <p:cNvSpPr txBox="1"/>
          <p:nvPr/>
        </p:nvSpPr>
        <p:spPr>
          <a:xfrm>
            <a:off x="731520" y="5856732"/>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C. </a:t>
            </a:r>
            <a:r>
              <a:rPr lang="fr-FR" sz="1350" noProof="0" dirty="0">
                <a:solidFill>
                  <a:srgbClr val="0B1F3F"/>
                </a:solidFill>
                <a:latin typeface="Calibri" pitchFamily="34" charset="0"/>
                <a:ea typeface="Calibri" pitchFamily="34" charset="-122"/>
                <a:cs typeface="Calibri" pitchFamily="34" charset="-120"/>
              </a:rPr>
              <a:t>La mastite est bien plus fréquente, mais des changements inflammatoires qui ne régressent pas doivent être évalués. La grossesse et l’allaitement n’excluent pas un cancer du sein.</a:t>
            </a:r>
            <a:endParaRPr lang="fr-FR" sz="1350" noProof="0" dirty="0"/>
          </a:p>
        </p:txBody>
      </p:sp>
    </p:spTree>
    <p:extLst>
      <p:ext uri="{BB962C8B-B14F-4D97-AF65-F5344CB8AC3E}">
        <p14:creationId xmlns:p14="http://schemas.microsoft.com/office/powerpoint/2010/main" val="180074164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Text 379"/>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fr-FR" sz="1100" b="1" dirty="0">
                <a:solidFill>
                  <a:srgbClr val="5B7699"/>
                </a:solidFill>
                <a:latin typeface="Calibri" pitchFamily="34" charset="0"/>
                <a:ea typeface="Calibri" pitchFamily="34" charset="-122"/>
                <a:cs typeface="Calibri" pitchFamily="34" charset="-120"/>
              </a:rPr>
              <a:t>S E S S I O N   2</a:t>
            </a:r>
            <a:endParaRPr lang="fr-FR" sz="1800" dirty="0"/>
          </a:p>
        </p:txBody>
      </p:sp>
      <p:sp>
        <p:nvSpPr>
          <p:cNvPr id="380" name="Text 380"/>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fr-FR" sz="3000" b="1" dirty="0">
                <a:solidFill>
                  <a:srgbClr val="12315B"/>
                </a:solidFill>
                <a:latin typeface="Calibri" pitchFamily="34" charset="0"/>
                <a:ea typeface="Calibri" pitchFamily="34" charset="-122"/>
                <a:cs typeface="Calibri" pitchFamily="34" charset="-120"/>
              </a:rPr>
              <a:t>Test de connaissances (4 sur 4)</a:t>
            </a:r>
            <a:endParaRPr lang="fr-FR" sz="1800" dirty="0"/>
          </a:p>
        </p:txBody>
      </p:sp>
      <p:sp>
        <p:nvSpPr>
          <p:cNvPr id="381" name="Text 381"/>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fr-FR" sz="100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800" dirty="0"/>
          </a:p>
        </p:txBody>
      </p:sp>
      <p:sp>
        <p:nvSpPr>
          <p:cNvPr id="365" name="Shape 365"/>
          <p:cNvSpPr/>
          <p:nvPr/>
        </p:nvSpPr>
        <p:spPr>
          <a:xfrm>
            <a:off x="548640" y="11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366" name="Text 366"/>
          <p:cNvSpPr txBox="1"/>
          <p:nvPr/>
        </p:nvSpPr>
        <p:spPr>
          <a:xfrm>
            <a:off x="731520" y="1280000"/>
            <a:ext cx="10728655" cy="620000"/>
          </a:xfrm>
          <a:prstGeom prst="rect">
            <a:avLst/>
          </a:prstGeom>
          <a:noFill/>
          <a:ln/>
        </p:spPr>
        <p:txBody>
          <a:bodyPr wrap="square" lIns="0" tIns="0" rIns="0" bIns="0" rtlCol="0" anchor="t"/>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Q7. Quelle technique de palpation est la plus fiable ?</a:t>
            </a:r>
            <a:endParaRPr lang="fr-FR" sz="1800" dirty="0"/>
          </a:p>
        </p:txBody>
      </p:sp>
      <p:sp>
        <p:nvSpPr>
          <p:cNvPr id="367" name="Text 367"/>
          <p:cNvSpPr txBox="1"/>
          <p:nvPr/>
        </p:nvSpPr>
        <p:spPr>
          <a:xfrm>
            <a:off x="731520" y="1940000"/>
            <a:ext cx="5284327" cy="54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A. Le bout des doigts, une pression par quadrant</a:t>
            </a:r>
            <a:endParaRPr lang="fr-FR" sz="1800" dirty="0"/>
          </a:p>
        </p:txBody>
      </p:sp>
      <p:sp>
        <p:nvSpPr>
          <p:cNvPr id="368" name="Text 368"/>
          <p:cNvSpPr txBox="1"/>
          <p:nvPr/>
        </p:nvSpPr>
        <p:spPr>
          <a:xfrm>
            <a:off x="6095847" y="1940000"/>
            <a:ext cx="5284327" cy="54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B. Pincer le tissu entre le pouce et les doigts</a:t>
            </a:r>
            <a:endParaRPr lang="fr-FR" sz="1800" dirty="0"/>
          </a:p>
        </p:txBody>
      </p:sp>
      <p:sp>
        <p:nvSpPr>
          <p:cNvPr id="369" name="Text 369"/>
          <p:cNvSpPr txBox="1"/>
          <p:nvPr/>
        </p:nvSpPr>
        <p:spPr>
          <a:xfrm>
            <a:off x="731520" y="2500000"/>
            <a:ext cx="5284327" cy="54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C. Seulement là où la personne signale une boule</a:t>
            </a:r>
            <a:endParaRPr lang="fr-FR" sz="1800" dirty="0"/>
          </a:p>
        </p:txBody>
      </p:sp>
      <p:sp>
        <p:nvSpPr>
          <p:cNvPr id="370" name="Text 370"/>
          <p:cNvSpPr txBox="1"/>
          <p:nvPr/>
        </p:nvSpPr>
        <p:spPr>
          <a:xfrm>
            <a:off x="6095847" y="2500000"/>
            <a:ext cx="5284327" cy="540000"/>
          </a:xfrm>
          <a:prstGeom prst="rect">
            <a:avLst/>
          </a:prstGeom>
          <a:noFill/>
          <a:ln/>
        </p:spPr>
        <p:txBody>
          <a:bodyPr wrap="square" lIns="0" tIns="0" rIns="0" bIns="0" rtlCol="0" anchor="ctr"/>
          <a:lstStyle/>
          <a:p>
            <a:pPr marL="0" indent="0" algn="l">
              <a:lnSpc>
                <a:spcPct val="95000"/>
              </a:lnSpc>
              <a:buNone/>
            </a:pPr>
            <a:r>
              <a:rPr lang="fr-FR" sz="1800" b="1" dirty="0">
                <a:solidFill>
                  <a:srgbClr val="1B6E4A"/>
                </a:solidFill>
                <a:latin typeface="Calibri" pitchFamily="34" charset="0"/>
                <a:ea typeface="Calibri" pitchFamily="34" charset="-122"/>
                <a:cs typeface="Calibri" pitchFamily="34" charset="-120"/>
              </a:rPr>
              <a:t>D. Pulpe de trois doigts, petits cercles, trois pressions, bandes verticales</a:t>
            </a:r>
            <a:endParaRPr lang="fr-FR" sz="1800" dirty="0"/>
          </a:p>
        </p:txBody>
      </p:sp>
      <p:sp>
        <p:nvSpPr>
          <p:cNvPr id="371" name="Text 371"/>
          <p:cNvSpPr txBox="1"/>
          <p:nvPr/>
        </p:nvSpPr>
        <p:spPr>
          <a:xfrm>
            <a:off x="731520" y="3080000"/>
            <a:ext cx="10728655" cy="530000"/>
          </a:xfrm>
          <a:prstGeom prst="rect">
            <a:avLst/>
          </a:prstGeom>
          <a:noFill/>
          <a:ln/>
        </p:spPr>
        <p:txBody>
          <a:bodyPr wrap="square" lIns="0" tIns="0" rIns="0" bIns="0" rtlCol="0" anchor="t"/>
          <a:lstStyle/>
          <a:p>
            <a:pPr marL="0" indent="0" algn="l">
              <a:lnSpc>
                <a:spcPct val="95000"/>
              </a:lnSpc>
              <a:buNone/>
            </a:pPr>
            <a:r>
              <a:rPr lang="fr-FR" sz="1600" b="1" dirty="0">
                <a:solidFill>
                  <a:srgbClr val="1B6E4A"/>
                </a:solidFill>
                <a:latin typeface="Calibri" pitchFamily="34" charset="0"/>
                <a:ea typeface="Calibri" pitchFamily="34" charset="-122"/>
                <a:cs typeface="Calibri" pitchFamily="34" charset="-120"/>
              </a:rPr>
              <a:t>Correct : D. </a:t>
            </a:r>
            <a:r>
              <a:rPr lang="fr-FR" sz="1600" dirty="0">
                <a:solidFill>
                  <a:srgbClr val="0B1F3F"/>
                </a:solidFill>
                <a:latin typeface="Calibri" pitchFamily="34" charset="0"/>
                <a:ea typeface="Calibri" pitchFamily="34" charset="-122"/>
                <a:cs typeface="Calibri" pitchFamily="34" charset="-120"/>
              </a:rPr>
              <a:t>Un trajet fixe à trois profondeurs couvre tout le sein, prolongement axillaire compris, sans rien oublier. Pincer le tissu peut faire croire à une boule.</a:t>
            </a:r>
            <a:endParaRPr lang="fr-FR" sz="1600" dirty="0"/>
          </a:p>
        </p:txBody>
      </p:sp>
      <p:sp>
        <p:nvSpPr>
          <p:cNvPr id="372" name="Shape 372"/>
          <p:cNvSpPr/>
          <p:nvPr/>
        </p:nvSpPr>
        <p:spPr>
          <a:xfrm>
            <a:off x="548640" y="37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fr-FR" dirty="0"/>
          </a:p>
        </p:txBody>
      </p:sp>
      <p:sp>
        <p:nvSpPr>
          <p:cNvPr id="373" name="Text 373"/>
          <p:cNvSpPr txBox="1"/>
          <p:nvPr/>
        </p:nvSpPr>
        <p:spPr>
          <a:xfrm>
            <a:off x="731520" y="3880000"/>
            <a:ext cx="10728655" cy="620000"/>
          </a:xfrm>
          <a:prstGeom prst="rect">
            <a:avLst/>
          </a:prstGeom>
          <a:noFill/>
          <a:ln/>
        </p:spPr>
        <p:txBody>
          <a:bodyPr wrap="square" lIns="0" tIns="0" rIns="0" bIns="0" rtlCol="0" anchor="t"/>
          <a:lstStyle/>
          <a:p>
            <a:pPr marL="0" indent="0" algn="l">
              <a:lnSpc>
                <a:spcPct val="95000"/>
              </a:lnSpc>
              <a:buNone/>
            </a:pPr>
            <a:r>
              <a:rPr lang="fr-FR" sz="1800" b="1" dirty="0">
                <a:solidFill>
                  <a:srgbClr val="12315B"/>
                </a:solidFill>
                <a:latin typeface="Calibri" pitchFamily="34" charset="0"/>
                <a:ea typeface="Calibri" pitchFamily="34" charset="-122"/>
                <a:cs typeface="Calibri" pitchFamily="34" charset="-120"/>
              </a:rPr>
              <a:t>Q8. Une femme de 32 ans sans symptôme mammaire demande quel contrôle faire. Vous conseillez :</a:t>
            </a:r>
            <a:endParaRPr lang="fr-FR" sz="1800" dirty="0"/>
          </a:p>
        </p:txBody>
      </p:sp>
      <p:sp>
        <p:nvSpPr>
          <p:cNvPr id="374" name="Text 374"/>
          <p:cNvSpPr txBox="1"/>
          <p:nvPr/>
        </p:nvSpPr>
        <p:spPr>
          <a:xfrm>
            <a:off x="731520" y="4540000"/>
            <a:ext cx="5284327" cy="54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A. Une mammographie chaque année dès maintenant</a:t>
            </a:r>
            <a:endParaRPr lang="fr-FR" sz="1800" dirty="0"/>
          </a:p>
        </p:txBody>
      </p:sp>
      <p:sp>
        <p:nvSpPr>
          <p:cNvPr id="375" name="Text 375"/>
          <p:cNvSpPr txBox="1"/>
          <p:nvPr/>
        </p:nvSpPr>
        <p:spPr>
          <a:xfrm>
            <a:off x="6095847" y="4540000"/>
            <a:ext cx="5284327" cy="540000"/>
          </a:xfrm>
          <a:prstGeom prst="rect">
            <a:avLst/>
          </a:prstGeom>
          <a:noFill/>
          <a:ln/>
        </p:spPr>
        <p:txBody>
          <a:bodyPr wrap="square" lIns="0" tIns="0" rIns="0" bIns="0" rtlCol="0" anchor="ctr"/>
          <a:lstStyle/>
          <a:p>
            <a:pPr marL="0" indent="0" algn="l">
              <a:lnSpc>
                <a:spcPct val="95000"/>
              </a:lnSpc>
              <a:buNone/>
            </a:pPr>
            <a:r>
              <a:rPr lang="fr-FR" sz="1800" b="1" dirty="0">
                <a:solidFill>
                  <a:srgbClr val="1B6E4A"/>
                </a:solidFill>
                <a:latin typeface="Calibri" pitchFamily="34" charset="0"/>
                <a:ea typeface="Calibri" pitchFamily="34" charset="-122"/>
                <a:cs typeface="Calibri" pitchFamily="34" charset="-120"/>
              </a:rPr>
              <a:t>B. Un examen clinique du sein annuel au centre de santé</a:t>
            </a:r>
            <a:endParaRPr lang="fr-FR" sz="1800" dirty="0"/>
          </a:p>
        </p:txBody>
      </p:sp>
      <p:sp>
        <p:nvSpPr>
          <p:cNvPr id="376" name="Text 376"/>
          <p:cNvSpPr txBox="1"/>
          <p:nvPr/>
        </p:nvSpPr>
        <p:spPr>
          <a:xfrm>
            <a:off x="731520" y="5100000"/>
            <a:ext cx="5284327" cy="54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C. Aucun contrôle avant 50 ans</a:t>
            </a:r>
            <a:endParaRPr lang="fr-FR" sz="1800" dirty="0"/>
          </a:p>
        </p:txBody>
      </p:sp>
      <p:sp>
        <p:nvSpPr>
          <p:cNvPr id="377" name="Text 377"/>
          <p:cNvSpPr txBox="1"/>
          <p:nvPr/>
        </p:nvSpPr>
        <p:spPr>
          <a:xfrm>
            <a:off x="6095847" y="5100000"/>
            <a:ext cx="5284327" cy="540000"/>
          </a:xfrm>
          <a:prstGeom prst="rect">
            <a:avLst/>
          </a:prstGeom>
          <a:noFill/>
          <a:ln/>
        </p:spPr>
        <p:txBody>
          <a:bodyPr wrap="square" lIns="0" tIns="0" rIns="0" bIns="0" rtlCol="0" anchor="ctr"/>
          <a:lstStyle/>
          <a:p>
            <a:pPr marL="0" indent="0" algn="l">
              <a:lnSpc>
                <a:spcPct val="95000"/>
              </a:lnSpc>
              <a:buNone/>
            </a:pPr>
            <a:r>
              <a:rPr lang="fr-FR" sz="1800" dirty="0">
                <a:solidFill>
                  <a:srgbClr val="1F3A63"/>
                </a:solidFill>
                <a:latin typeface="Calibri" pitchFamily="34" charset="0"/>
                <a:ea typeface="Calibri" pitchFamily="34" charset="-122"/>
                <a:cs typeface="Calibri" pitchFamily="34" charset="-120"/>
              </a:rPr>
              <a:t>D. L’auto-examen seul, sans contrôle clinique</a:t>
            </a:r>
            <a:endParaRPr lang="fr-FR" sz="1800" dirty="0"/>
          </a:p>
        </p:txBody>
      </p:sp>
      <p:sp>
        <p:nvSpPr>
          <p:cNvPr id="378" name="Text 378"/>
          <p:cNvSpPr txBox="1"/>
          <p:nvPr/>
        </p:nvSpPr>
        <p:spPr>
          <a:xfrm>
            <a:off x="731520" y="5680000"/>
            <a:ext cx="10728655" cy="530000"/>
          </a:xfrm>
          <a:prstGeom prst="rect">
            <a:avLst/>
          </a:prstGeom>
          <a:noFill/>
          <a:ln/>
        </p:spPr>
        <p:txBody>
          <a:bodyPr wrap="square" lIns="0" tIns="0" rIns="0" bIns="0" rtlCol="0" anchor="t"/>
          <a:lstStyle/>
          <a:p>
            <a:pPr marL="0" indent="0" algn="l">
              <a:lnSpc>
                <a:spcPct val="95000"/>
              </a:lnSpc>
              <a:buNone/>
            </a:pPr>
            <a:r>
              <a:rPr lang="fr-FR" sz="1600" b="1" dirty="0">
                <a:solidFill>
                  <a:srgbClr val="1B6E4A"/>
                </a:solidFill>
                <a:latin typeface="Calibri" pitchFamily="34" charset="0"/>
                <a:ea typeface="Calibri" pitchFamily="34" charset="-122"/>
                <a:cs typeface="Calibri" pitchFamily="34" charset="-120"/>
              </a:rPr>
              <a:t>Correct : B. </a:t>
            </a:r>
            <a:r>
              <a:rPr lang="fr-FR" sz="1600" dirty="0">
                <a:solidFill>
                  <a:srgbClr val="0B1F3F"/>
                </a:solidFill>
                <a:latin typeface="Calibri" pitchFamily="34" charset="0"/>
                <a:ea typeface="Calibri" pitchFamily="34" charset="-122"/>
                <a:cs typeface="Calibri" pitchFamily="34" charset="-120"/>
              </a:rPr>
              <a:t>Au Rwanda, l’examen clinique du sein annuel commence à 30 ans, et la mammographie s’y ajoute dès 40 ans là où elle est disponible. Tout changement mammaire est évalué sans attendre, à tout âge.</a:t>
            </a:r>
            <a:endParaRPr lang="fr-FR" sz="1600" dirty="0"/>
          </a:p>
        </p:txBody>
      </p:sp>
    </p:spTree>
    <p:extLst>
      <p:ext uri="{BB962C8B-B14F-4D97-AF65-F5344CB8AC3E}">
        <p14:creationId xmlns:p14="http://schemas.microsoft.com/office/powerpoint/2010/main" val="13519288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2</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Réflexion sur la session</a:t>
            </a:r>
            <a:endParaRPr lang="fr-FR"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noAutofit/>
          </a:bodyPr>
          <a:lstStyle/>
          <a:p>
            <a:pPr marL="0" indent="0">
              <a:lnSpc>
                <a:spcPct val="95000"/>
              </a:lnSpc>
              <a:buNone/>
            </a:pPr>
            <a:r>
              <a:rPr lang="fr-FR" sz="1409" i="1" noProof="0" dirty="0">
                <a:solidFill>
                  <a:srgbClr val="5B7699"/>
                </a:solidFill>
                <a:latin typeface="Calibri" pitchFamily="34" charset="0"/>
                <a:ea typeface="Calibri" pitchFamily="34" charset="-122"/>
                <a:cs typeface="Calibri" pitchFamily="34" charset="-120"/>
              </a:rPr>
              <a:t>Saisissez votre réponse dans la zone de texte. Il n'y a pas de réponse unique correcte. Ces questions ne sont pas notées et servent à votre propre pratique et à la discussion.</a:t>
            </a:r>
            <a:endParaRPr lang="fr-FR" sz="1409"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fr-FR"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1</a:t>
            </a:r>
            <a:endParaRPr lang="fr-FR"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Comment expliqueriez-vous une mammographie anormale à une patiente sans lui dire qu'elle a un cancer, et sans minimiser le résultat ?</a:t>
            </a:r>
            <a:endParaRPr lang="fr-FR"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fr-FR"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2</a:t>
            </a:r>
            <a:endParaRPr lang="fr-FR"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Quel changement mammaire est le plus souvent considéré comme anodin dans votre contexte, et qu’est-ce qui pourrait changer cela ?</a:t>
            </a:r>
            <a:endParaRPr lang="fr-FR"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fr-FR"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3</a:t>
            </a:r>
            <a:endParaRPr lang="fr-FR"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Quel obstacle empêche le plus souvent une personne de votre contexte de se rendre à l’évaluation mammaire pour laquelle elle a été orientée, et que pourriez-vous faire ?</a:t>
            </a:r>
            <a:endParaRPr lang="fr-FR" sz="1800" noProof="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67">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noAutofit/>
          </a:bodyPr>
          <a:lstStyle/>
          <a:p>
            <a:pPr marL="0" indent="0">
              <a:buNone/>
            </a:pPr>
            <a:r>
              <a:rPr lang="fr-FR" sz="10455" b="1" noProof="0" dirty="0">
                <a:solidFill>
                  <a:srgbClr val="2C5C99"/>
                </a:solidFill>
                <a:latin typeface="Calibri" pitchFamily="34" charset="0"/>
                <a:ea typeface="Calibri" pitchFamily="34" charset="-122"/>
                <a:cs typeface="Calibri" pitchFamily="34" charset="-120"/>
              </a:rPr>
              <a:t>3</a:t>
            </a:r>
            <a:endParaRPr lang="fr-FR" sz="10455"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fr-FR" sz="1600" b="1" noProof="0" dirty="0">
                <a:solidFill>
                  <a:srgbClr val="9FC2E8"/>
                </a:solidFill>
                <a:latin typeface="Calibri" pitchFamily="34" charset="0"/>
                <a:ea typeface="Calibri" pitchFamily="34" charset="-122"/>
                <a:cs typeface="Calibri" pitchFamily="34" charset="-120"/>
              </a:rPr>
              <a:t>S e s s i o n 3</a:t>
            </a:r>
            <a:endParaRPr lang="fr-FR"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fr-FR" sz="4000" b="1" noProof="0" dirty="0">
                <a:solidFill>
                  <a:srgbClr val="FFFFFF"/>
                </a:solidFill>
                <a:latin typeface="Calibri" pitchFamily="34" charset="0"/>
                <a:ea typeface="Calibri" pitchFamily="34" charset="-122"/>
                <a:cs typeface="Calibri" pitchFamily="34" charset="-120"/>
              </a:rPr>
              <a:t>Orientation et accompagnement</a:t>
            </a:r>
            <a:endParaRPr lang="fr-FR"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fr-FR" sz="1800" noProof="0" dirty="0">
                <a:solidFill>
                  <a:srgbClr val="CFE0F4"/>
                </a:solidFill>
                <a:latin typeface="Calibri" pitchFamily="34" charset="0"/>
                <a:ea typeface="Calibri" pitchFamily="34" charset="-122"/>
                <a:cs typeface="Calibri" pitchFamily="34" charset="-120"/>
              </a:rPr>
              <a:t>Transformez une découverte inquiétante en la bonne étape suivante : orientez avec le bon degré d’urgence, consignez ce dont le registre a besoin, et accompagnez avec soin face à la peur, à la chirurgie et à l’image corporelle.</a:t>
            </a:r>
            <a:endParaRPr lang="fr-FR"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fr-FR" sz="1000" noProof="0" dirty="0">
                <a:solidFill>
                  <a:srgbClr val="7FA6D4"/>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Objectifs d'apprentissage</a:t>
            </a:r>
            <a:endParaRPr lang="fr-FR"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Décrire</a:t>
            </a:r>
            <a:endParaRPr lang="fr-FR"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Décrire les niveaux du système d’orientation rwandais et les lieux où se fait l’évaluation mammaire.</a:t>
            </a:r>
            <a:endParaRPr lang="fr-FR"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Décider</a:t>
            </a:r>
            <a:endParaRPr lang="fr-FR"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Décider si une présentation mammaire nécessite une orientation de routine, rapide ou urgente.</a:t>
            </a:r>
            <a:endParaRPr lang="fr-FR"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Consigner</a:t>
            </a:r>
            <a:endParaRPr lang="fr-FR"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Consigner les informations dont le registre national du cancer a besoin dès le premier contact.</a:t>
            </a:r>
            <a:endParaRPr lang="fr-FR"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Accompagner</a:t>
            </a:r>
            <a:endParaRPr lang="fr-FR"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Expliquer clairement un résultat anormal et ce qui va se passer ensuite.</a:t>
            </a:r>
            <a:endParaRPr lang="fr-FR"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Soutenir</a:t>
            </a:r>
            <a:endParaRPr lang="fr-FR"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Apporter un soutien psychologique de base, notamment face à la peur de la chirurgie et à l’image corporelle.</a:t>
            </a:r>
            <a:endParaRPr lang="fr-FR"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Suivi</a:t>
            </a:r>
            <a:endParaRPr lang="fr-FR"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Favoriser la présence aux rendez-vous et relancer lorsqu’une personne ne s’y présente pas.</a:t>
            </a:r>
            <a:endParaRPr lang="fr-FR" sz="1800" noProof="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Le parcours d’orientation</a:t>
            </a:r>
            <a:endParaRPr lang="fr-FR" sz="3000" noProof="0" dirty="0"/>
          </a:p>
        </p:txBody>
      </p:sp>
      <p:pic>
        <p:nvPicPr>
          <p:cNvPr id="5" name="Imagen 4">
            <a:extLst>
              <a:ext uri="{FF2B5EF4-FFF2-40B4-BE49-F238E27FC236}">
                <a16:creationId xmlns:a16="http://schemas.microsoft.com/office/drawing/2014/main" id="{D4E7CA7A-DDAC-3F41-2E02-641A6F760860}"/>
              </a:ext>
            </a:extLst>
          </p:cNvPr>
          <p:cNvPicPr>
            <a:picLocks noChangeAspect="1"/>
          </p:cNvPicPr>
          <p:nvPr/>
        </p:nvPicPr>
        <p:blipFill>
          <a:blip r:embed="rId3"/>
          <a:stretch>
            <a:fillRect/>
          </a:stretch>
        </p:blipFill>
        <p:spPr>
          <a:xfrm>
            <a:off x="1688946" y="1013673"/>
            <a:ext cx="9029853" cy="5406763"/>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Avec quelle urgence orienter</a:t>
            </a:r>
            <a:endParaRPr lang="fr-FR" sz="3000" noProof="0" dirty="0"/>
          </a:p>
        </p:txBody>
      </p:sp>
      <p:sp>
        <p:nvSpPr>
          <p:cNvPr id="5" name="Shape 3"/>
          <p:cNvSpPr/>
          <p:nvPr/>
        </p:nvSpPr>
        <p:spPr>
          <a:xfrm>
            <a:off x="548640" y="1325880"/>
            <a:ext cx="3527450" cy="4251960"/>
          </a:xfrm>
          <a:prstGeom prst="roundRect">
            <a:avLst>
              <a:gd name="adj" fmla="val 1555"/>
            </a:avLst>
          </a:prstGeom>
          <a:solidFill>
            <a:srgbClr val="FBECEA"/>
          </a:solidFill>
          <a:ln w="12700">
            <a:solidFill>
              <a:srgbClr val="E7B6B0"/>
            </a:solidFill>
            <a:prstDash val="solid"/>
          </a:ln>
        </p:spPr>
        <p:txBody>
          <a:bodyPr/>
          <a:lstStyle/>
          <a:p>
            <a:endParaRPr lang="fr-FR" noProof="0" dirty="0"/>
          </a:p>
        </p:txBody>
      </p:sp>
      <p:sp>
        <p:nvSpPr>
          <p:cNvPr id="6" name="Text 4"/>
          <p:cNvSpPr txBox="1"/>
          <p:nvPr/>
        </p:nvSpPr>
        <p:spPr>
          <a:xfrm>
            <a:off x="713232" y="1453896"/>
            <a:ext cx="3198266" cy="384048"/>
          </a:xfrm>
          <a:prstGeom prst="rect">
            <a:avLst/>
          </a:prstGeom>
          <a:noFill/>
          <a:ln/>
        </p:spPr>
        <p:txBody>
          <a:bodyPr wrap="square" lIns="0" tIns="0" rIns="0" bIns="0" rtlCol="0" anchor="t">
            <a:normAutofit fontScale="93000"/>
          </a:bodyPr>
          <a:lstStyle/>
          <a:p>
            <a:r>
              <a:rPr lang="fr-FR" b="1" dirty="0">
                <a:solidFill>
                  <a:srgbClr val="A32319"/>
                </a:solidFill>
                <a:latin typeface="Calibri" pitchFamily="34" charset="0"/>
                <a:ea typeface="Calibri" pitchFamily="34" charset="-122"/>
                <a:cs typeface="Calibri" pitchFamily="34" charset="-120"/>
              </a:rPr>
              <a:t>🔴 Urgent </a:t>
            </a:r>
            <a:r>
              <a:rPr lang="fr-FR" sz="1800" b="1" noProof="0" dirty="0">
                <a:solidFill>
                  <a:srgbClr val="A32319"/>
                </a:solidFill>
                <a:latin typeface="Calibri" pitchFamily="34" charset="0"/>
                <a:ea typeface="Calibri" pitchFamily="34" charset="-122"/>
                <a:cs typeface="Calibri" pitchFamily="34" charset="-120"/>
              </a:rPr>
              <a:t>: sous 24 heures</a:t>
            </a:r>
            <a:endParaRPr lang="fr-FR" sz="1800" noProof="0" dirty="0"/>
          </a:p>
        </p:txBody>
      </p:sp>
      <p:sp>
        <p:nvSpPr>
          <p:cNvPr id="7" name="Text 5"/>
          <p:cNvSpPr txBox="1"/>
          <p:nvPr/>
        </p:nvSpPr>
        <p:spPr>
          <a:xfrm>
            <a:off x="713232" y="1892808"/>
            <a:ext cx="3198266" cy="3538728"/>
          </a:xfrm>
          <a:prstGeom prst="rect">
            <a:avLst/>
          </a:prstGeom>
          <a:noFill/>
          <a:ln/>
        </p:spPr>
        <p:txBody>
          <a:bodyPr wrap="square" lIns="0" tIns="0" rIns="0" bIns="0" rtlCol="0" anchor="t">
            <a:normAutofit fontScale="99500" lnSpcReduction="10000"/>
          </a:bodyPr>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Suspicion de cancer inflammatoire du sein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Une masse du sein fixée ou ulcérée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Une masse qui grossit rapidement</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Une lésion persistante du mamelon, squameuse ou ulcérée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 ganglion axillaire ou </a:t>
            </a:r>
            <a:r>
              <a:rPr lang="fr-FR" sz="1600" noProof="0" dirty="0" err="1">
                <a:solidFill>
                  <a:srgbClr val="0B1F3F"/>
                </a:solidFill>
                <a:latin typeface="Calibri" pitchFamily="34" charset="0"/>
                <a:ea typeface="Calibri" pitchFamily="34" charset="-122"/>
                <a:cs typeface="Calibri" pitchFamily="34" charset="-120"/>
              </a:rPr>
              <a:t>sus-claviculaire</a:t>
            </a:r>
            <a:r>
              <a:rPr lang="fr-FR" sz="1600" noProof="0" dirty="0">
                <a:solidFill>
                  <a:srgbClr val="0B1F3F"/>
                </a:solidFill>
                <a:latin typeface="Calibri" pitchFamily="34" charset="0"/>
                <a:ea typeface="Calibri" pitchFamily="34" charset="-122"/>
                <a:cs typeface="Calibri" pitchFamily="34" charset="-120"/>
              </a:rPr>
              <a:t> fixé ou qui grossit</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Toute anomalie du sein avec de nouvelles douleurs osseuses, un essoufflement, un ictère ou de nouveaux symptômes neurologiques</a:t>
            </a:r>
            <a:endParaRPr lang="fr-FR" sz="1600" noProof="0" dirty="0"/>
          </a:p>
        </p:txBody>
      </p:sp>
      <p:sp>
        <p:nvSpPr>
          <p:cNvPr id="8" name="Shape 6"/>
          <p:cNvSpPr/>
          <p:nvPr/>
        </p:nvSpPr>
        <p:spPr>
          <a:xfrm>
            <a:off x="4332122" y="1325880"/>
            <a:ext cx="3527450" cy="4251960"/>
          </a:xfrm>
          <a:prstGeom prst="roundRect">
            <a:avLst>
              <a:gd name="adj" fmla="val 1555"/>
            </a:avLst>
          </a:prstGeom>
          <a:solidFill>
            <a:srgbClr val="FDF1E0"/>
          </a:solidFill>
          <a:ln w="12700">
            <a:solidFill>
              <a:srgbClr val="EFD3AA"/>
            </a:solidFill>
            <a:prstDash val="solid"/>
          </a:ln>
        </p:spPr>
        <p:txBody>
          <a:bodyPr/>
          <a:lstStyle/>
          <a:p>
            <a:endParaRPr lang="fr-FR" noProof="0" dirty="0"/>
          </a:p>
        </p:txBody>
      </p:sp>
      <p:sp>
        <p:nvSpPr>
          <p:cNvPr id="9" name="Text 7"/>
          <p:cNvSpPr txBox="1"/>
          <p:nvPr/>
        </p:nvSpPr>
        <p:spPr>
          <a:xfrm>
            <a:off x="4496714" y="1453896"/>
            <a:ext cx="3198266" cy="384048"/>
          </a:xfrm>
          <a:prstGeom prst="rect">
            <a:avLst/>
          </a:prstGeom>
          <a:noFill/>
          <a:ln/>
        </p:spPr>
        <p:txBody>
          <a:bodyPr wrap="square" lIns="0" tIns="0" rIns="0" bIns="0" rtlCol="0" anchor="t">
            <a:normAutofit fontScale="85500"/>
          </a:bodyPr>
          <a:lstStyle/>
          <a:p>
            <a:r>
              <a:rPr lang="fr-FR" b="1" dirty="0">
                <a:solidFill>
                  <a:srgbClr val="C9761A"/>
                </a:solidFill>
                <a:latin typeface="Calibri" pitchFamily="34" charset="0"/>
                <a:ea typeface="Calibri" pitchFamily="34" charset="-122"/>
                <a:cs typeface="Calibri" pitchFamily="34" charset="-120"/>
              </a:rPr>
              <a:t>🟠 Rapide </a:t>
            </a:r>
            <a:r>
              <a:rPr lang="fr-FR" sz="1800" b="1" noProof="0" dirty="0">
                <a:solidFill>
                  <a:srgbClr val="C9761A"/>
                </a:solidFill>
                <a:latin typeface="Calibri" pitchFamily="34" charset="0"/>
                <a:ea typeface="Calibri" pitchFamily="34" charset="-122"/>
                <a:cs typeface="Calibri" pitchFamily="34" charset="-120"/>
              </a:rPr>
              <a:t>: ne pas attendre pour voir</a:t>
            </a:r>
            <a:endParaRPr lang="fr-FR" sz="1800" noProof="0" dirty="0"/>
          </a:p>
        </p:txBody>
      </p:sp>
      <p:sp>
        <p:nvSpPr>
          <p:cNvPr id="10" name="Text 8"/>
          <p:cNvSpPr txBox="1"/>
          <p:nvPr/>
        </p:nvSpPr>
        <p:spPr>
          <a:xfrm>
            <a:off x="4496714" y="1892808"/>
            <a:ext cx="3198266" cy="3538728"/>
          </a:xfrm>
          <a:prstGeom prst="rect">
            <a:avLst/>
          </a:prstGeom>
          <a:noFill/>
          <a:ln/>
        </p:spPr>
        <p:txBody>
          <a:bodyPr wrap="square" lIns="0" tIns="0" rIns="0" bIns="0" rtlCol="0" anchor="t">
            <a:normAutofit fontScale="92000" lnSpcReduction="10000"/>
          </a:bodyPr>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Toute nouvelle boule distincte du sein qui persiste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Épaississement focal persistant ou changement de contour du sein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Rétraction ou déformation récente du mamelon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Écoulement mamelonnaire spontané par un seul canal, ou sanglant</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 résultat anormal de dépistage ou d’imagerie nécessitant un bilan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Une nouvelle masse mammaire chez un homme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 changement mammaire persistant pendant la grossesse ou l'allaitement</a:t>
            </a:r>
            <a:endParaRPr lang="fr-FR" sz="1600" noProof="0" dirty="0"/>
          </a:p>
        </p:txBody>
      </p:sp>
      <p:sp>
        <p:nvSpPr>
          <p:cNvPr id="11" name="Shape 9"/>
          <p:cNvSpPr/>
          <p:nvPr/>
        </p:nvSpPr>
        <p:spPr>
          <a:xfrm>
            <a:off x="8115605" y="1325880"/>
            <a:ext cx="3527450" cy="4251960"/>
          </a:xfrm>
          <a:prstGeom prst="roundRect">
            <a:avLst>
              <a:gd name="adj" fmla="val 1555"/>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453896"/>
            <a:ext cx="3198266" cy="384048"/>
          </a:xfrm>
          <a:prstGeom prst="rect">
            <a:avLst/>
          </a:prstGeom>
          <a:noFill/>
          <a:ln/>
        </p:spPr>
        <p:txBody>
          <a:bodyPr wrap="square" lIns="0" tIns="0" rIns="0" bIns="0" rtlCol="0" anchor="t">
            <a:normAutofit fontScale="93000"/>
          </a:bodyPr>
          <a:lstStyle/>
          <a:p>
            <a:r>
              <a:rPr lang="fr-FR" b="1" dirty="0">
                <a:solidFill>
                  <a:srgbClr val="12315B"/>
                </a:solidFill>
                <a:latin typeface="Calibri" pitchFamily="34" charset="0"/>
                <a:ea typeface="Calibri" pitchFamily="34" charset="-122"/>
                <a:cs typeface="Calibri" pitchFamily="34" charset="-120"/>
              </a:rPr>
              <a:t>🔵 Avis </a:t>
            </a:r>
            <a:r>
              <a:rPr lang="fr-FR" sz="1800" b="1" noProof="0" dirty="0">
                <a:solidFill>
                  <a:srgbClr val="12315B"/>
                </a:solidFill>
                <a:latin typeface="Calibri" pitchFamily="34" charset="0"/>
                <a:ea typeface="Calibri" pitchFamily="34" charset="-122"/>
                <a:cs typeface="Calibri" pitchFamily="34" charset="-120"/>
              </a:rPr>
              <a:t>spécialisé de routine</a:t>
            </a:r>
            <a:endParaRPr lang="fr-FR" sz="1800" noProof="0" dirty="0"/>
          </a:p>
        </p:txBody>
      </p:sp>
      <p:sp>
        <p:nvSpPr>
          <p:cNvPr id="13" name="Text 11"/>
          <p:cNvSpPr txBox="1"/>
          <p:nvPr/>
        </p:nvSpPr>
        <p:spPr>
          <a:xfrm>
            <a:off x="8280197" y="1892808"/>
            <a:ext cx="3198266" cy="3538728"/>
          </a:xfrm>
          <a:prstGeom prst="rect">
            <a:avLst/>
          </a:prstGeom>
          <a:noFill/>
          <a:ln/>
        </p:spPr>
        <p:txBody>
          <a:bodyPr wrap="square" lIns="0" tIns="0" rIns="0" bIns="0" rtlCol="0" anchor="t">
            <a:normAutofit fontScale="99500"/>
          </a:bodyPr>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Des antécédents familiaux importants chez une personne sans symptôme mammaire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Une affection bénigne déjà évaluée qui doit être revue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Suivi d'une lésion à risque connue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Toute situation de cette colonne qui évolue, grossit ou devient localisée passe dans la colonne précédente</a:t>
            </a:r>
            <a:endParaRPr lang="fr-FR" sz="1600" noProof="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Autofit/>
          </a:bodyPr>
          <a:lstStyle/>
          <a:p>
            <a:pPr marL="0" indent="0">
              <a:buNone/>
            </a:pPr>
            <a:r>
              <a:rPr lang="fr-FR" sz="1163" b="1" kern="0" spc="200" noProof="0" dirty="0">
                <a:solidFill>
                  <a:srgbClr val="1F4E96"/>
                </a:solidFill>
                <a:latin typeface="Calibri" pitchFamily="34" charset="0"/>
                <a:ea typeface="Calibri" pitchFamily="34" charset="-122"/>
                <a:cs typeface="Calibri" pitchFamily="34" charset="-120"/>
              </a:rPr>
              <a:t>SESSION 3</a:t>
            </a:r>
            <a:endParaRPr lang="fr-FR" sz="1163"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FR" sz="3400" b="1" noProof="0" dirty="0">
                <a:solidFill>
                  <a:srgbClr val="0E2E5C"/>
                </a:solidFill>
                <a:latin typeface="Cambria" pitchFamily="34" charset="0"/>
                <a:ea typeface="Cambria" pitchFamily="34" charset="-122"/>
                <a:cs typeface="Cambria" pitchFamily="34" charset="-120"/>
              </a:rPr>
              <a:t>Que noter au premier contact</a:t>
            </a:r>
            <a:endParaRPr lang="fr-FR"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FR" sz="1000" noProof="0" dirty="0">
                <a:solidFill>
                  <a:srgbClr val="5B7195"/>
                </a:solidFill>
                <a:latin typeface="Calibri" pitchFamily="34" charset="0"/>
                <a:ea typeface="Calibri" pitchFamily="34" charset="-122"/>
                <a:cs typeface="Calibri" pitchFamily="34" charset="-120"/>
              </a:rPr>
              <a:t>Cancer du sein | Professionnels de santé de première ligne | Centre biomédical du Rwanda</a:t>
            </a:r>
            <a:endParaRPr lang="fr-FR" sz="1000" noProof="0" dirty="0"/>
          </a:p>
        </p:txBody>
      </p:sp>
      <p:sp>
        <p:nvSpPr>
          <p:cNvPr id="23" name="Text 21"/>
          <p:cNvSpPr/>
          <p:nvPr/>
        </p:nvSpPr>
        <p:spPr>
          <a:xfrm>
            <a:off x="548640" y="6085332"/>
            <a:ext cx="11094415" cy="411480"/>
          </a:xfrm>
          <a:prstGeom prst="rect">
            <a:avLst/>
          </a:prstGeom>
          <a:noFill/>
          <a:ln/>
        </p:spPr>
        <p:txBody>
          <a:bodyPr wrap="square" rtlCol="0" anchor="ctr">
            <a:noAutofit/>
          </a:bodyPr>
          <a:lstStyle/>
          <a:p>
            <a:pPr marL="0" indent="0">
              <a:buNone/>
            </a:pPr>
            <a:r>
              <a:rPr lang="fr-FR" sz="961" b="1" i="1" noProof="0" dirty="0">
                <a:solidFill>
                  <a:schemeClr val="bg2">
                    <a:lumMod val="50000"/>
                  </a:schemeClr>
                </a:solidFill>
                <a:latin typeface="Calibri" pitchFamily="34" charset="0"/>
                <a:ea typeface="Calibri" pitchFamily="34" charset="-122"/>
                <a:cs typeface="Calibri" pitchFamily="34" charset="-120"/>
              </a:rPr>
              <a:t>Remarque : </a:t>
            </a:r>
            <a:r>
              <a:rPr lang="fr-FR" sz="961" i="1" noProof="0" dirty="0">
                <a:solidFill>
                  <a:schemeClr val="bg2">
                    <a:lumMod val="50000"/>
                  </a:schemeClr>
                </a:solidFill>
                <a:latin typeface="Calibri" pitchFamily="34" charset="0"/>
                <a:ea typeface="Calibri" pitchFamily="34" charset="-122"/>
                <a:cs typeface="Calibri" pitchFamily="34" charset="-120"/>
              </a:rPr>
              <a:t>en l’absence d’examens de routine, votre jugement clinique constitue la donnée. Une fiche remplie dès la première suspicion puis mise à jour est bien plus utile qu’un formulaire vide en attente d’un examen de confirmation.</a:t>
            </a:r>
            <a:endParaRPr lang="fr-FR" sz="961" noProof="0" dirty="0">
              <a:solidFill>
                <a:schemeClr val="bg2">
                  <a:lumMod val="50000"/>
                </a:schemeClr>
              </a:solidFill>
            </a:endParaRPr>
          </a:p>
        </p:txBody>
      </p:sp>
      <p:pic>
        <p:nvPicPr>
          <p:cNvPr id="5" name="Imagen 4">
            <a:extLst>
              <a:ext uri="{FF2B5EF4-FFF2-40B4-BE49-F238E27FC236}">
                <a16:creationId xmlns:a16="http://schemas.microsoft.com/office/drawing/2014/main" id="{0587FCE5-CFC1-5B2C-C907-E760CDE3C2D8}"/>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450383" y="1103210"/>
            <a:ext cx="8267054" cy="4947615"/>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Accompagnement</a:t>
            </a:r>
            <a:endParaRPr lang="fr-FR" sz="3000" noProof="0" dirty="0"/>
          </a:p>
        </p:txBody>
      </p:sp>
      <p:sp>
        <p:nvSpPr>
          <p:cNvPr id="23" name="Shape 21"/>
          <p:cNvSpPr/>
          <p:nvPr/>
        </p:nvSpPr>
        <p:spPr>
          <a:xfrm>
            <a:off x="548640" y="5789872"/>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24" name="Text 22"/>
          <p:cNvSpPr txBox="1"/>
          <p:nvPr/>
        </p:nvSpPr>
        <p:spPr>
          <a:xfrm>
            <a:off x="713232" y="5863024"/>
            <a:ext cx="10765231" cy="420624"/>
          </a:xfrm>
          <a:prstGeom prst="rect">
            <a:avLst/>
          </a:prstGeom>
          <a:noFill/>
          <a:ln/>
        </p:spPr>
        <p:txBody>
          <a:bodyPr wrap="square" lIns="0" tIns="0" rIns="0" bIns="0" rtlCol="0" anchor="ctr">
            <a:normAutofit fontScale="95000"/>
          </a:bodyP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Avant que la personne ne quitte la salle : nommez l’établissement, remettez l’orientation par écrit, expliquez ce qui s’y passera, demandez ce qui pourrait l’empêcher d’y aller, et notez la date. Une orientation sur laquelle la personne ne peut pas agir n’est pas une orientation.</a:t>
            </a:r>
            <a:endParaRPr lang="fr-FR" sz="1300" noProof="0" dirty="0"/>
          </a:p>
        </p:txBody>
      </p:sp>
      <p:pic>
        <p:nvPicPr>
          <p:cNvPr id="6" name="Imagen 5">
            <a:extLst>
              <a:ext uri="{FF2B5EF4-FFF2-40B4-BE49-F238E27FC236}">
                <a16:creationId xmlns:a16="http://schemas.microsoft.com/office/drawing/2014/main" id="{86E0620F-98EA-0745-A535-7E8EFAC061D4}"/>
              </a:ext>
            </a:extLst>
          </p:cNvPr>
          <p:cNvPicPr>
            <a:picLocks noChangeAspect="1"/>
          </p:cNvPicPr>
          <p:nvPr/>
        </p:nvPicPr>
        <p:blipFill>
          <a:blip r:embed="rId3"/>
          <a:stretch>
            <a:fillRect/>
          </a:stretch>
        </p:blipFill>
        <p:spPr>
          <a:xfrm>
            <a:off x="1491342" y="999588"/>
            <a:ext cx="8906691" cy="4717132"/>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Autofit/>
          </a:bodyPr>
          <a:lstStyle/>
          <a:p>
            <a:pPr marL="0" indent="0">
              <a:buNone/>
            </a:pPr>
            <a:r>
              <a:rPr lang="fr-FR" sz="2820" b="1" noProof="0" dirty="0">
                <a:solidFill>
                  <a:srgbClr val="12315B"/>
                </a:solidFill>
                <a:latin typeface="Calibri" pitchFamily="34" charset="0"/>
                <a:ea typeface="Calibri" pitchFamily="34" charset="-122"/>
                <a:cs typeface="Calibri" pitchFamily="34" charset="-120"/>
              </a:rPr>
              <a:t>Soutien psychologique et communication sensible</a:t>
            </a:r>
            <a:endParaRPr lang="fr-FR" sz="2820" noProof="0" dirty="0"/>
          </a:p>
        </p:txBody>
      </p:sp>
      <p:sp>
        <p:nvSpPr>
          <p:cNvPr id="23" name="Shape 21"/>
          <p:cNvSpPr/>
          <p:nvPr/>
        </p:nvSpPr>
        <p:spPr>
          <a:xfrm>
            <a:off x="548640" y="5703968"/>
            <a:ext cx="11094415" cy="658368"/>
          </a:xfrm>
          <a:prstGeom prst="roundRect">
            <a:avLst>
              <a:gd name="adj" fmla="val 6944"/>
            </a:avLst>
          </a:prstGeom>
          <a:solidFill>
            <a:srgbClr val="FDF1E0"/>
          </a:solidFill>
          <a:ln w="12700">
            <a:solidFill>
              <a:srgbClr val="EFD3AA"/>
            </a:solidFill>
            <a:prstDash val="solid"/>
          </a:ln>
        </p:spPr>
        <p:txBody>
          <a:bodyPr/>
          <a:lstStyle/>
          <a:p>
            <a:endParaRPr lang="fr-FR" noProof="0" dirty="0"/>
          </a:p>
        </p:txBody>
      </p:sp>
      <p:sp>
        <p:nvSpPr>
          <p:cNvPr id="24" name="Text 22"/>
          <p:cNvSpPr txBox="1"/>
          <p:nvPr/>
        </p:nvSpPr>
        <p:spPr>
          <a:xfrm>
            <a:off x="713232" y="5777120"/>
            <a:ext cx="10765231" cy="512064"/>
          </a:xfrm>
          <a:prstGeom prst="rect">
            <a:avLst/>
          </a:prstGeom>
          <a:noFill/>
          <a:ln/>
        </p:spPr>
        <p:txBody>
          <a:bodyPr wrap="square" lIns="0" tIns="0" rIns="0" bIns="0" rtlCol="0" anchor="ctr">
            <a:normAutofit fontScale="93000"/>
          </a:bodyP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Corrigez explicitement l’idée reçue sur la biopsie chaque fois que vous la rencontrez. Une biopsie prélève un petit échantillon pour que l’anatomopathologie détermine s’il y a un cancer et de quel type. Elle ne propage pas le cancer, et la refuser ne fait que retarder la réponse.</a:t>
            </a:r>
            <a:endParaRPr lang="fr-FR" sz="1300" noProof="0" dirty="0"/>
          </a:p>
        </p:txBody>
      </p:sp>
      <p:pic>
        <p:nvPicPr>
          <p:cNvPr id="5" name="Imagen 4">
            <a:extLst>
              <a:ext uri="{FF2B5EF4-FFF2-40B4-BE49-F238E27FC236}">
                <a16:creationId xmlns:a16="http://schemas.microsoft.com/office/drawing/2014/main" id="{F016B2E4-83D1-1F63-AF79-35ED2C35D4E9}"/>
              </a:ext>
            </a:extLst>
          </p:cNvPr>
          <p:cNvPicPr>
            <a:picLocks noChangeAspect="1"/>
          </p:cNvPicPr>
          <p:nvPr/>
        </p:nvPicPr>
        <p:blipFill>
          <a:blip r:embed="rId3"/>
          <a:stretch>
            <a:fillRect/>
          </a:stretch>
        </p:blipFill>
        <p:spPr>
          <a:xfrm>
            <a:off x="1729353" y="1039766"/>
            <a:ext cx="7895094" cy="4663524"/>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La suite de l’histoire d’Immaculée</a:t>
            </a:r>
            <a:endParaRPr lang="fr-FR" sz="3000" noProof="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Mise en application</a:t>
            </a:r>
            <a:endParaRPr lang="fr-FR"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fr-FR"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lstStyle/>
          <a:p>
            <a:pPr marL="0" indent="0">
              <a:lnSpc>
                <a:spcPct val="92000"/>
              </a:lnSpc>
              <a:buNone/>
            </a:pPr>
            <a:r>
              <a:rPr lang="fr-FR" sz="1600" b="1" noProof="0" dirty="0">
                <a:solidFill>
                  <a:srgbClr val="C9761A"/>
                </a:solidFill>
                <a:latin typeface="Calibri" pitchFamily="34" charset="0"/>
                <a:ea typeface="Calibri" pitchFamily="34" charset="-122"/>
                <a:cs typeface="Calibri" pitchFamily="34" charset="-120"/>
              </a:rPr>
              <a:t>Scénario </a:t>
            </a:r>
            <a:r>
              <a:rPr lang="fr-FR" sz="1600" noProof="0" dirty="0">
                <a:solidFill>
                  <a:srgbClr val="0B1F3F"/>
                </a:solidFill>
                <a:latin typeface="Calibri" pitchFamily="34" charset="0"/>
                <a:ea typeface="Calibri" pitchFamily="34" charset="-122"/>
                <a:cs typeface="Calibri" pitchFamily="34" charset="-120"/>
              </a:rPr>
              <a:t>Immaculée demande si l’hôpital va simplement lui enlever le sein, et dit que si c’est le cas, elle préfère ne pas y aller.</a:t>
            </a:r>
            <a:endParaRPr lang="fr-FR" sz="1600"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fr-FR" sz="1900" b="1" noProof="0" dirty="0">
                <a:solidFill>
                  <a:srgbClr val="12315B"/>
                </a:solidFill>
                <a:latin typeface="Calibri" pitchFamily="34" charset="0"/>
                <a:ea typeface="Calibri" pitchFamily="34" charset="-122"/>
                <a:cs typeface="Calibri" pitchFamily="34" charset="-120"/>
              </a:rPr>
              <a:t>Quelle est la réponse la plus utile ?</a:t>
            </a:r>
            <a:endParaRPr lang="fr-FR" sz="1900" noProof="0" dirty="0"/>
          </a:p>
        </p:txBody>
      </p:sp>
      <p:sp>
        <p:nvSpPr>
          <p:cNvPr id="8" name="Shape 6"/>
          <p:cNvSpPr/>
          <p:nvPr/>
        </p:nvSpPr>
        <p:spPr>
          <a:xfrm>
            <a:off x="548640" y="2816352"/>
            <a:ext cx="7589520" cy="713232"/>
          </a:xfrm>
          <a:prstGeom prst="roundRect">
            <a:avLst>
              <a:gd name="adj" fmla="val 6410"/>
            </a:avLst>
          </a:prstGeom>
          <a:solidFill>
            <a:srgbClr val="FFFFFF"/>
          </a:solidFill>
          <a:ln w="12700">
            <a:solidFill>
              <a:srgbClr val="C8D8EC"/>
            </a:solidFill>
            <a:prstDash val="solid"/>
          </a:ln>
        </p:spPr>
        <p:txBody>
          <a:bodyPr/>
          <a:lstStyle/>
          <a:p>
            <a:endParaRPr lang="fr-FR" noProof="0" dirty="0"/>
          </a:p>
        </p:txBody>
      </p:sp>
      <p:sp>
        <p:nvSpPr>
          <p:cNvPr id="9" name="Text 7"/>
          <p:cNvSpPr txBox="1"/>
          <p:nvPr/>
        </p:nvSpPr>
        <p:spPr>
          <a:xfrm>
            <a:off x="713232" y="2871216"/>
            <a:ext cx="7260336" cy="603504"/>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Lui dire que le sein devra probablement être enlevé, et qu’elle doit s’y préparer</a:t>
            </a:r>
            <a:endParaRPr lang="fr-FR" sz="1800" noProof="0" dirty="0"/>
          </a:p>
        </p:txBody>
      </p:sp>
      <p:sp>
        <p:nvSpPr>
          <p:cNvPr id="10" name="Shape 8"/>
          <p:cNvSpPr/>
          <p:nvPr/>
        </p:nvSpPr>
        <p:spPr>
          <a:xfrm>
            <a:off x="548640" y="3621024"/>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11" name="Text 9"/>
          <p:cNvSpPr txBox="1"/>
          <p:nvPr/>
        </p:nvSpPr>
        <p:spPr>
          <a:xfrm>
            <a:off x="713232" y="3675888"/>
            <a:ext cx="7260336" cy="356616"/>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Lui promettre que le sein sera conservé</a:t>
            </a:r>
            <a:endParaRPr lang="fr-FR" sz="1800" noProof="0" dirty="0"/>
          </a:p>
        </p:txBody>
      </p:sp>
      <p:sp>
        <p:nvSpPr>
          <p:cNvPr id="12" name="Shape 10"/>
          <p:cNvSpPr/>
          <p:nvPr/>
        </p:nvSpPr>
        <p:spPr>
          <a:xfrm>
            <a:off x="548640" y="4178808"/>
            <a:ext cx="7589520" cy="960120"/>
          </a:xfrm>
          <a:prstGeom prst="roundRect">
            <a:avLst>
              <a:gd name="adj" fmla="val 4762"/>
            </a:avLst>
          </a:prstGeom>
          <a:solidFill>
            <a:srgbClr val="EAF5EF"/>
          </a:solidFill>
          <a:ln w="19050">
            <a:solidFill>
              <a:srgbClr val="8FC4A9"/>
            </a:solidFill>
            <a:prstDash val="solid"/>
          </a:ln>
        </p:spPr>
        <p:txBody>
          <a:bodyPr/>
          <a:lstStyle/>
          <a:p>
            <a:endParaRPr lang="fr-FR" noProof="0" dirty="0"/>
          </a:p>
        </p:txBody>
      </p:sp>
      <p:sp>
        <p:nvSpPr>
          <p:cNvPr id="13" name="Text 11"/>
          <p:cNvSpPr txBox="1"/>
          <p:nvPr/>
        </p:nvSpPr>
        <p:spPr>
          <a:xfrm>
            <a:off x="713232" y="4233672"/>
            <a:ext cx="7260336" cy="850392"/>
          </a:xfrm>
          <a:prstGeom prst="rect">
            <a:avLst/>
          </a:prstGeom>
          <a:noFill/>
          <a:ln/>
        </p:spPr>
        <p:txBody>
          <a:bodyPr wrap="square" lIns="0" tIns="0" rIns="0" bIns="0" rtlCol="0" anchor="ct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Expliquer que l’opération dépend des résultats des examens, que beaucoup de personnes gardent leur sein, et chercher avec elle des solutions aux obstacles pratiques ✓</a:t>
            </a:r>
            <a:endParaRPr lang="fr-FR" sz="1800" noProof="0" dirty="0"/>
          </a:p>
        </p:txBody>
      </p:sp>
      <p:sp>
        <p:nvSpPr>
          <p:cNvPr id="14" name="Shape 12"/>
          <p:cNvSpPr/>
          <p:nvPr/>
        </p:nvSpPr>
        <p:spPr>
          <a:xfrm>
            <a:off x="548640" y="5230368"/>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15" name="Text 13"/>
          <p:cNvSpPr txBox="1"/>
          <p:nvPr/>
        </p:nvSpPr>
        <p:spPr>
          <a:xfrm>
            <a:off x="713232" y="5285232"/>
            <a:ext cx="7260336" cy="356616"/>
          </a:xfrm>
          <a:prstGeom prst="rect">
            <a:avLst/>
          </a:prstGeom>
          <a:noFill/>
          <a:ln/>
        </p:spPr>
        <p:txBody>
          <a:bodyPr wrap="square" lIns="0" tIns="0" rIns="0" bIns="0" rtlCol="0" anchor="ctr">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Lui remettre la lettre d’orientation et terminer la consultation</a:t>
            </a:r>
            <a:endParaRPr lang="fr-FR"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fr-FR"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fr-FR" sz="1800" b="1" noProof="0" dirty="0">
                <a:solidFill>
                  <a:srgbClr val="1B6E4A"/>
                </a:solidFill>
                <a:latin typeface="Calibri" pitchFamily="34" charset="0"/>
                <a:ea typeface="Calibri" pitchFamily="34" charset="-122"/>
                <a:cs typeface="Calibri" pitchFamily="34" charset="-120"/>
              </a:rPr>
              <a:t>Bonne réponse : C</a:t>
            </a:r>
            <a:endParaRPr lang="fr-FR"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normAutofit fontScale="96500"/>
          </a:bodyP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Répondez directement et honnêtement à cette peur. L’opération dépend de la taille et de l’étendue de la tumeur, du volume du sein, du stade, de l’accès à la radiothérapie et de ses préférences, et la chirurgie conservatrice est possible pour beaucoup de personnes. Ne promettez pas ce que vous ne pouvez pas garantir. Occupez-vous ensuite des jours de marché, du trajet et de qui elle souhaite informer, car ce sont eux qui décideront si elle s’y rend.</a:t>
            </a:r>
            <a:endParaRPr lang="fr-FR" sz="1800" noProof="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(1 sur 3)</a:t>
            </a:r>
            <a:endParaRPr lang="fr-FR" sz="3000" noProof="0" dirty="0"/>
          </a:p>
        </p:txBody>
      </p:sp>
      <p:sp>
        <p:nvSpPr>
          <p:cNvPr id="5" name="Shape 3"/>
          <p:cNvSpPr/>
          <p:nvPr/>
        </p:nvSpPr>
        <p:spPr>
          <a:xfrm>
            <a:off x="548640" y="1367942"/>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47767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 Un résultat anormal d’imagerie mammaire doit être expliqué à la patiente comme :</a:t>
            </a:r>
            <a:endParaRPr lang="fr-FR" sz="1800" noProof="0" dirty="0"/>
          </a:p>
        </p:txBody>
      </p:sp>
      <p:sp>
        <p:nvSpPr>
          <p:cNvPr id="7" name="Text 5"/>
          <p:cNvSpPr txBox="1"/>
          <p:nvPr/>
        </p:nvSpPr>
        <p:spPr>
          <a:xfrm>
            <a:off x="731520" y="189829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Une anomalie qui signifie que le sein doit être évalué davantage</a:t>
            </a:r>
            <a:endParaRPr lang="fr-FR" sz="1800" noProof="0" dirty="0"/>
          </a:p>
        </p:txBody>
      </p:sp>
      <p:sp>
        <p:nvSpPr>
          <p:cNvPr id="8" name="Text 6"/>
          <p:cNvSpPr txBox="1"/>
          <p:nvPr/>
        </p:nvSpPr>
        <p:spPr>
          <a:xfrm>
            <a:off x="6210148" y="189829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Un cancer confirmé</a:t>
            </a:r>
            <a:endParaRPr lang="fr-FR" sz="1800" noProof="0" dirty="0"/>
          </a:p>
        </p:txBody>
      </p:sp>
      <p:sp>
        <p:nvSpPr>
          <p:cNvPr id="9" name="Text 7"/>
          <p:cNvSpPr txBox="1"/>
          <p:nvPr/>
        </p:nvSpPr>
        <p:spPr>
          <a:xfrm>
            <a:off x="731520" y="252008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Un résultat normal</a:t>
            </a:r>
            <a:endParaRPr lang="fr-FR" sz="1800" noProof="0" dirty="0"/>
          </a:p>
        </p:txBody>
      </p:sp>
      <p:sp>
        <p:nvSpPr>
          <p:cNvPr id="10" name="Text 8"/>
          <p:cNvSpPr txBox="1"/>
          <p:nvPr/>
        </p:nvSpPr>
        <p:spPr>
          <a:xfrm>
            <a:off x="6210148" y="252008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Une raison d’arrêter les examens</a:t>
            </a:r>
            <a:endParaRPr lang="fr-FR" sz="1800" noProof="0" dirty="0"/>
          </a:p>
        </p:txBody>
      </p:sp>
      <p:sp>
        <p:nvSpPr>
          <p:cNvPr id="11" name="Text 9"/>
          <p:cNvSpPr txBox="1"/>
          <p:nvPr/>
        </p:nvSpPr>
        <p:spPr>
          <a:xfrm>
            <a:off x="731520" y="2949854"/>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L’imagerie augmente ou diminue la suspicion et décrit l’étendue. Elle entraîne une évaluation complémentaire et, si indiqué, un prélèvement de tissu. Elle ne confirme pas le diagnostic.</a:t>
            </a:r>
            <a:endParaRPr lang="fr-FR" sz="1350" noProof="0" dirty="0"/>
          </a:p>
        </p:txBody>
      </p:sp>
      <p:sp>
        <p:nvSpPr>
          <p:cNvPr id="12" name="Shape 10"/>
          <p:cNvSpPr/>
          <p:nvPr/>
        </p:nvSpPr>
        <p:spPr>
          <a:xfrm>
            <a:off x="548640" y="3657600"/>
            <a:ext cx="11094415" cy="2582266"/>
          </a:xfrm>
          <a:prstGeom prst="roundRect">
            <a:avLst>
              <a:gd name="adj" fmla="val 2125"/>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767328"/>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Q2. Quelle présentation nécessite une orientation urgente plutôt qu'une orientation de routine ?</a:t>
            </a:r>
            <a:endParaRPr lang="fr-FR" sz="1800" noProof="0" dirty="0"/>
          </a:p>
        </p:txBody>
      </p:sp>
      <p:sp>
        <p:nvSpPr>
          <p:cNvPr id="14" name="Text 12"/>
          <p:cNvSpPr txBox="1"/>
          <p:nvPr/>
        </p:nvSpPr>
        <p:spPr>
          <a:xfrm>
            <a:off x="731520" y="4187952"/>
            <a:ext cx="5250028" cy="813816"/>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Des antécédents familiaux importants chez une femme sans symptôme</a:t>
            </a:r>
            <a:endParaRPr lang="fr-FR" sz="1800" noProof="0" dirty="0"/>
          </a:p>
        </p:txBody>
      </p:sp>
      <p:sp>
        <p:nvSpPr>
          <p:cNvPr id="15" name="Text 13"/>
          <p:cNvSpPr txBox="1"/>
          <p:nvPr/>
        </p:nvSpPr>
        <p:spPr>
          <a:xfrm>
            <a:off x="6210148" y="4187952"/>
            <a:ext cx="5250028" cy="813816"/>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Un sein devenu rouge, gonflé et épaissi en trois semaines, qui ne s’est pas amélioré sous traitement</a:t>
            </a:r>
            <a:endParaRPr lang="fr-FR" sz="1800" noProof="0" dirty="0"/>
          </a:p>
        </p:txBody>
      </p:sp>
      <p:sp>
        <p:nvSpPr>
          <p:cNvPr id="16" name="Text 14"/>
          <p:cNvSpPr txBox="1"/>
          <p:nvPr/>
        </p:nvSpPr>
        <p:spPr>
          <a:xfrm>
            <a:off x="731520" y="5056632"/>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Une sensibilité cyclique des deux seins avec examen normal</a:t>
            </a:r>
            <a:endParaRPr lang="fr-FR" sz="1800" noProof="0" dirty="0"/>
          </a:p>
        </p:txBody>
      </p:sp>
      <p:sp>
        <p:nvSpPr>
          <p:cNvPr id="17" name="Text 15"/>
          <p:cNvSpPr txBox="1"/>
          <p:nvPr/>
        </p:nvSpPr>
        <p:spPr>
          <a:xfrm>
            <a:off x="6210148" y="5056632"/>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Une </a:t>
            </a:r>
            <a:r>
              <a:rPr lang="fr-FR" sz="1800" noProof="0" dirty="0" err="1">
                <a:solidFill>
                  <a:srgbClr val="1F3A63"/>
                </a:solidFill>
                <a:latin typeface="Calibri" pitchFamily="34" charset="0"/>
                <a:ea typeface="Calibri" pitchFamily="34" charset="-122"/>
                <a:cs typeface="Calibri" pitchFamily="34" charset="-120"/>
              </a:rPr>
              <a:t>nodularité</a:t>
            </a:r>
            <a:r>
              <a:rPr lang="fr-FR" sz="1800" noProof="0" dirty="0">
                <a:solidFill>
                  <a:srgbClr val="1F3A63"/>
                </a:solidFill>
                <a:latin typeface="Calibri" pitchFamily="34" charset="0"/>
                <a:ea typeface="Calibri" pitchFamily="34" charset="-122"/>
                <a:cs typeface="Calibri" pitchFamily="34" charset="-120"/>
              </a:rPr>
              <a:t> ancienne, inchangée et déjà évaluée</a:t>
            </a:r>
            <a:endParaRPr lang="fr-FR" sz="1800" noProof="0" dirty="0"/>
          </a:p>
        </p:txBody>
      </p:sp>
      <p:sp>
        <p:nvSpPr>
          <p:cNvPr id="18" name="Text 16"/>
          <p:cNvSpPr txBox="1"/>
          <p:nvPr/>
        </p:nvSpPr>
        <p:spPr>
          <a:xfrm>
            <a:off x="731520" y="5733288"/>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Ce tableau évoque un cancer inflammatoire du sein, qui impose une orientation urgente, sous 24 heures. Les autres relèvent d’un examen de routine ou planifié.</a:t>
            </a:r>
            <a:endParaRPr lang="fr-FR" sz="1350" noProof="0" dirty="0"/>
          </a:p>
        </p:txBody>
      </p:sp>
    </p:spTree>
    <p:extLst>
      <p:ext uri="{BB962C8B-B14F-4D97-AF65-F5344CB8AC3E}">
        <p14:creationId xmlns:p14="http://schemas.microsoft.com/office/powerpoint/2010/main" val="2476519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(2 sur 3)</a:t>
            </a:r>
            <a:endParaRPr lang="fr-FR" sz="3000" noProof="0" dirty="0"/>
          </a:p>
        </p:txBody>
      </p:sp>
      <p:sp>
        <p:nvSpPr>
          <p:cNvPr id="5" name="Shape 3"/>
          <p:cNvSpPr/>
          <p:nvPr/>
        </p:nvSpPr>
        <p:spPr>
          <a:xfrm>
            <a:off x="548640" y="1586027"/>
            <a:ext cx="11094415" cy="2342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695755"/>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Q3. Les deux éléments les plus utiles à consigner au premier contact sont :</a:t>
            </a:r>
            <a:endParaRPr lang="fr-FR" sz="1800" noProof="0" dirty="0"/>
          </a:p>
        </p:txBody>
      </p:sp>
      <p:sp>
        <p:nvSpPr>
          <p:cNvPr id="7" name="Text 5"/>
          <p:cNvSpPr txBox="1"/>
          <p:nvPr/>
        </p:nvSpPr>
        <p:spPr>
          <a:xfrm>
            <a:off x="731520" y="2116379"/>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Le stade et le grade suspectés</a:t>
            </a:r>
            <a:endParaRPr lang="fr-FR" sz="1800" noProof="0" dirty="0"/>
          </a:p>
        </p:txBody>
      </p:sp>
      <p:sp>
        <p:nvSpPr>
          <p:cNvPr id="8" name="Text 6"/>
          <p:cNvSpPr txBox="1"/>
          <p:nvPr/>
        </p:nvSpPr>
        <p:spPr>
          <a:xfrm>
            <a:off x="6210148" y="2116379"/>
            <a:ext cx="5250028" cy="566928"/>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Le nom du clinicien qui oriente</a:t>
            </a:r>
            <a:endParaRPr lang="fr-FR" sz="1800" noProof="0" dirty="0"/>
          </a:p>
        </p:txBody>
      </p:sp>
      <p:sp>
        <p:nvSpPr>
          <p:cNvPr id="9" name="Text 7"/>
          <p:cNvSpPr txBox="1"/>
          <p:nvPr/>
        </p:nvSpPr>
        <p:spPr>
          <a:xfrm>
            <a:off x="731520" y="2738171"/>
            <a:ext cx="5250028" cy="57150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profession et l'état civil de la personne</a:t>
            </a:r>
            <a:endParaRPr lang="fr-FR" sz="1800" noProof="0" dirty="0"/>
          </a:p>
        </p:txBody>
      </p:sp>
      <p:sp>
        <p:nvSpPr>
          <p:cNvPr id="10" name="Text 8"/>
          <p:cNvSpPr txBox="1"/>
          <p:nvPr/>
        </p:nvSpPr>
        <p:spPr>
          <a:xfrm>
            <a:off x="6210148" y="2738171"/>
            <a:ext cx="5250028" cy="571500"/>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D. La date à laquelle le changement a été remarqué pour la première fois et la date de cette consultation</a:t>
            </a:r>
            <a:endParaRPr lang="fr-FR" sz="1800" noProof="0" dirty="0"/>
          </a:p>
        </p:txBody>
      </p:sp>
      <p:sp>
        <p:nvSpPr>
          <p:cNvPr id="11" name="Text 9"/>
          <p:cNvSpPr txBox="1"/>
          <p:nvPr/>
        </p:nvSpPr>
        <p:spPr>
          <a:xfrm>
            <a:off x="731520" y="3421939"/>
            <a:ext cx="10728655" cy="433426"/>
          </a:xfrm>
          <a:prstGeom prst="rect">
            <a:avLst/>
          </a:prstGeom>
          <a:noFill/>
          <a:ln/>
        </p:spPr>
        <p:txBody>
          <a:bodyPr wrap="square" lIns="0" tIns="0" rIns="0" bIns="0" rtlCol="0" anchor="t">
            <a:normAutofit fontScale="935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D. </a:t>
            </a:r>
            <a:r>
              <a:rPr lang="fr-FR" sz="1350" noProof="0" dirty="0">
                <a:solidFill>
                  <a:srgbClr val="0B1F3F"/>
                </a:solidFill>
                <a:latin typeface="Calibri" pitchFamily="34" charset="0"/>
                <a:ea typeface="Calibri" pitchFamily="34" charset="-122"/>
                <a:cs typeface="Calibri" pitchFamily="34" charset="-120"/>
              </a:rPr>
              <a:t>Ensemble, ces deux dates mesurent le délai diagnostique, l’indicateur clé dans un contexte sans programme de dépistage organisé.</a:t>
            </a:r>
            <a:endParaRPr lang="fr-FR" sz="1350" noProof="0" dirty="0"/>
          </a:p>
        </p:txBody>
      </p:sp>
      <p:sp>
        <p:nvSpPr>
          <p:cNvPr id="12" name="Shape 10"/>
          <p:cNvSpPr/>
          <p:nvPr/>
        </p:nvSpPr>
        <p:spPr>
          <a:xfrm>
            <a:off x="548640" y="4129684"/>
            <a:ext cx="11094415" cy="2146097"/>
          </a:xfrm>
          <a:prstGeom prst="roundRect">
            <a:avLst>
              <a:gd name="adj" fmla="val 2556"/>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23941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Q4. Un bon accompagnement avant l’orientation :</a:t>
            </a:r>
            <a:endParaRPr lang="fr-FR" sz="1800" noProof="0" dirty="0"/>
          </a:p>
        </p:txBody>
      </p:sp>
      <p:sp>
        <p:nvSpPr>
          <p:cNvPr id="14" name="Text 12"/>
          <p:cNvSpPr txBox="1"/>
          <p:nvPr/>
        </p:nvSpPr>
        <p:spPr>
          <a:xfrm>
            <a:off x="731520" y="466003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Promet que ce n’est pas un cancer</a:t>
            </a:r>
            <a:endParaRPr lang="fr-FR" sz="1800" noProof="0" dirty="0"/>
          </a:p>
        </p:txBody>
      </p:sp>
      <p:sp>
        <p:nvSpPr>
          <p:cNvPr id="15" name="Text 13"/>
          <p:cNvSpPr txBox="1"/>
          <p:nvPr/>
        </p:nvSpPr>
        <p:spPr>
          <a:xfrm>
            <a:off x="6210148" y="466003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Cache la raison de l’orientation pour éviter l’inquiétude</a:t>
            </a:r>
            <a:endParaRPr lang="fr-FR" sz="1800" noProof="0" dirty="0"/>
          </a:p>
        </p:txBody>
      </p:sp>
      <p:sp>
        <p:nvSpPr>
          <p:cNvPr id="16" name="Text 14"/>
          <p:cNvSpPr txBox="1"/>
          <p:nvPr/>
        </p:nvSpPr>
        <p:spPr>
          <a:xfrm>
            <a:off x="731520" y="5281828"/>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Explique honnêtement l’étape suivante et laisse place aux questions</a:t>
            </a:r>
            <a:endParaRPr lang="fr-FR" sz="1800" noProof="0" dirty="0"/>
          </a:p>
        </p:txBody>
      </p:sp>
      <p:sp>
        <p:nvSpPr>
          <p:cNvPr id="17" name="Text 15"/>
          <p:cNvSpPr txBox="1"/>
          <p:nvPr/>
        </p:nvSpPr>
        <p:spPr>
          <a:xfrm>
            <a:off x="6210148" y="5281828"/>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Laisse à la personne le soin de prendre rendez-vous</a:t>
            </a:r>
            <a:endParaRPr lang="fr-FR" sz="1800" noProof="0" dirty="0"/>
          </a:p>
        </p:txBody>
      </p:sp>
      <p:sp>
        <p:nvSpPr>
          <p:cNvPr id="18" name="Text 16"/>
          <p:cNvSpPr txBox="1"/>
          <p:nvPr/>
        </p:nvSpPr>
        <p:spPr>
          <a:xfrm>
            <a:off x="731520" y="5958484"/>
            <a:ext cx="10728655" cy="244145"/>
          </a:xfrm>
          <a:prstGeom prst="rect">
            <a:avLst/>
          </a:prstGeom>
          <a:noFill/>
          <a:ln/>
        </p:spPr>
        <p:txBody>
          <a:bodyPr wrap="square" lIns="0" tIns="0" rIns="0" bIns="0" rtlCol="0" anchor="t">
            <a:normAutofit fontScale="860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C. </a:t>
            </a:r>
            <a:r>
              <a:rPr lang="fr-FR" sz="1350" b="0" noProof="0" dirty="0">
                <a:solidFill>
                  <a:srgbClr val="0B1F3F"/>
                </a:solidFill>
                <a:latin typeface="Calibri" pitchFamily="34" charset="0"/>
                <a:ea typeface="Calibri" pitchFamily="34" charset="-122"/>
                <a:cs typeface="Calibri" pitchFamily="34" charset="-120"/>
              </a:rPr>
              <a:t>Expliquez avec respect, laissez place aux questions, corrigez les idées reçues et organisez vous-même l’orientation plutôt que de la laisser à la personne.</a:t>
            </a:r>
            <a:endParaRPr lang="fr-FR" sz="1350" noProof="0" dirty="0"/>
          </a:p>
        </p:txBody>
      </p:sp>
    </p:spTree>
    <p:extLst>
      <p:ext uri="{BB962C8B-B14F-4D97-AF65-F5344CB8AC3E}">
        <p14:creationId xmlns:p14="http://schemas.microsoft.com/office/powerpoint/2010/main" val="4184585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(3 sur 3)</a:t>
            </a:r>
            <a:endParaRPr lang="fr-FR" sz="3000" noProof="0" dirty="0"/>
          </a:p>
        </p:txBody>
      </p:sp>
      <p:sp>
        <p:nvSpPr>
          <p:cNvPr id="5" name="Shape 3"/>
          <p:cNvSpPr/>
          <p:nvPr/>
        </p:nvSpPr>
        <p:spPr>
          <a:xfrm>
            <a:off x="548640" y="1491386"/>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Q5. Une femme refuse la biopsie : elle croit que couper la boule propagera le cancer. Vous devez :</a:t>
            </a:r>
            <a:endParaRPr lang="fr-FR" sz="1800" noProof="0" dirty="0"/>
          </a:p>
        </p:txBody>
      </p:sp>
      <p:sp>
        <p:nvSpPr>
          <p:cNvPr id="7" name="Text 5"/>
          <p:cNvSpPr txBox="1"/>
          <p:nvPr/>
        </p:nvSpPr>
        <p:spPr>
          <a:xfrm>
            <a:off x="731520" y="2021738"/>
            <a:ext cx="5250028" cy="813816"/>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Expliquer qu'une biopsie prélève un petit échantillon afin que le tissu puisse être examiné, et qu'elle ne provoque pas la propagation du cancer</a:t>
            </a:r>
            <a:endParaRPr lang="fr-FR" sz="1800" noProof="0" dirty="0"/>
          </a:p>
        </p:txBody>
      </p:sp>
      <p:sp>
        <p:nvSpPr>
          <p:cNvPr id="8" name="Text 6"/>
          <p:cNvSpPr txBox="1"/>
          <p:nvPr/>
        </p:nvSpPr>
        <p:spPr>
          <a:xfrm>
            <a:off x="6210148" y="2021738"/>
            <a:ext cx="5250028" cy="813816"/>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Accepter sa décision sans en parler</a:t>
            </a:r>
            <a:endParaRPr lang="fr-FR"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Lui dire que cette croyance est ridicule</a:t>
            </a:r>
            <a:endParaRPr lang="fr-FR"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L’orienter sans aborder cette croyance</a:t>
            </a:r>
            <a:endParaRPr lang="fr-FR"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Corrigez l’idée reçue directement et avec respect. Cette croyance est l’une des raisons les plus fréquentes de refus du seul examen qui apporte une réponse.</a:t>
            </a:r>
            <a:endParaRPr lang="fr-FR" sz="1350" noProof="0" dirty="0"/>
          </a:p>
        </p:txBody>
      </p:sp>
      <p:sp>
        <p:nvSpPr>
          <p:cNvPr id="12" name="Shape 10"/>
          <p:cNvSpPr/>
          <p:nvPr/>
        </p:nvSpPr>
        <p:spPr>
          <a:xfrm>
            <a:off x="548640" y="4027932"/>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Q6. Une femme orientée pour une évaluation mammaire ne s’y est pas rendue après six semaines. Vous devez :</a:t>
            </a:r>
            <a:endParaRPr lang="fr-FR" sz="1800" noProof="0" dirty="0"/>
          </a:p>
        </p:txBody>
      </p:sp>
      <p:sp>
        <p:nvSpPr>
          <p:cNvPr id="14" name="Text 12"/>
          <p:cNvSpPr txBox="1"/>
          <p:nvPr/>
        </p:nvSpPr>
        <p:spPr>
          <a:xfrm>
            <a:off x="731520" y="455828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Considérer qu’elle a choisi de ne pas y aller</a:t>
            </a:r>
            <a:endParaRPr lang="fr-FR" sz="1800" noProof="0" dirty="0"/>
          </a:p>
        </p:txBody>
      </p:sp>
      <p:sp>
        <p:nvSpPr>
          <p:cNvPr id="15" name="Text 13"/>
          <p:cNvSpPr txBox="1"/>
          <p:nvPr/>
        </p:nvSpPr>
        <p:spPr>
          <a:xfrm>
            <a:off x="6210148" y="455828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La contacter, comprendre ce qui l’en a empêchée, et reprogrammer</a:t>
            </a:r>
            <a:endParaRPr lang="fr-FR" sz="1800" noProof="0" dirty="0"/>
          </a:p>
        </p:txBody>
      </p:sp>
      <p:sp>
        <p:nvSpPr>
          <p:cNvPr id="16" name="Text 14"/>
          <p:cNvSpPr txBox="1"/>
          <p:nvPr/>
        </p:nvSpPr>
        <p:spPr>
          <a:xfrm>
            <a:off x="731520" y="518007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retirer du registre</a:t>
            </a:r>
            <a:endParaRPr lang="fr-FR" sz="1800" noProof="0" dirty="0"/>
          </a:p>
        </p:txBody>
      </p:sp>
      <p:sp>
        <p:nvSpPr>
          <p:cNvPr id="17" name="Text 15"/>
          <p:cNvSpPr txBox="1"/>
          <p:nvPr/>
        </p:nvSpPr>
        <p:spPr>
          <a:xfrm>
            <a:off x="6210148" y="518007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Attendre qu’elle revienne d’elle-même</a:t>
            </a:r>
            <a:endParaRPr lang="fr-FR"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b="0" noProof="0" dirty="0">
                <a:solidFill>
                  <a:srgbClr val="0B1F3F"/>
                </a:solidFill>
                <a:latin typeface="Calibri" pitchFamily="34" charset="0"/>
                <a:ea typeface="Calibri" pitchFamily="34" charset="-122"/>
                <a:cs typeface="Calibri" pitchFamily="34" charset="-120"/>
              </a:rPr>
              <a:t>Les perdues de vue sont l’une des plus grandes failles du parcours, et la raison est généralement pratique plutôt qu’un refus de soins.</a:t>
            </a:r>
            <a:endParaRPr lang="fr-FR" sz="1350" noProof="0" dirty="0"/>
          </a:p>
        </p:txBody>
      </p:sp>
    </p:spTree>
    <p:extLst>
      <p:ext uri="{BB962C8B-B14F-4D97-AF65-F5344CB8AC3E}">
        <p14:creationId xmlns:p14="http://schemas.microsoft.com/office/powerpoint/2010/main" val="18267575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3</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Réflexion sur la session</a:t>
            </a:r>
            <a:endParaRPr lang="fr-FR"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noAutofit/>
          </a:bodyPr>
          <a:lstStyle/>
          <a:p>
            <a:pPr marL="0" indent="0">
              <a:lnSpc>
                <a:spcPct val="95000"/>
              </a:lnSpc>
              <a:buNone/>
            </a:pPr>
            <a:r>
              <a:rPr lang="fr-FR" sz="1409" i="1" noProof="0" dirty="0">
                <a:solidFill>
                  <a:srgbClr val="5B7699"/>
                </a:solidFill>
                <a:latin typeface="Calibri" pitchFamily="34" charset="0"/>
                <a:ea typeface="Calibri" pitchFamily="34" charset="-122"/>
                <a:cs typeface="Calibri" pitchFamily="34" charset="-120"/>
              </a:rPr>
              <a:t>Saisissez votre réponse dans la zone de texte. Il n'y a pas de réponse unique correcte. Ces questions ne sont pas notées et servent à votre propre pratique et à la discussion.</a:t>
            </a:r>
            <a:endParaRPr lang="fr-FR" sz="1409"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fr-FR"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1</a:t>
            </a:r>
            <a:endParaRPr lang="fr-FR"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Comment expliqueriez-vous à une patiente inquiète que vous l’orientez, sans dire ni laisser entendre qu’elle a un cancer ?</a:t>
            </a:r>
            <a:endParaRPr lang="fr-FR"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fr-FR"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2</a:t>
            </a:r>
            <a:endParaRPr lang="fr-FR"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Comment répondriez-vous à quelqu'un qui dit qu'elle préférerait ne pas savoir, parce que le traitement signifie perdre son sein ?</a:t>
            </a:r>
            <a:endParaRPr lang="fr-FR"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fr-FR"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3</a:t>
            </a:r>
            <a:endParaRPr lang="fr-FR"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Que pourriez-vous changer dans votre façon d’orienter, pour que davantage de personnes se rendent réellement au rendez-vous ?</a:t>
            </a:r>
            <a:endParaRPr lang="fr-FR" sz="1800" noProof="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80">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noAutofit/>
          </a:bodyPr>
          <a:lstStyle/>
          <a:p>
            <a:pPr marL="0" indent="0">
              <a:buNone/>
            </a:pPr>
            <a:r>
              <a:rPr lang="fr-FR" sz="10455" b="1" noProof="0" dirty="0">
                <a:solidFill>
                  <a:srgbClr val="2C5C99"/>
                </a:solidFill>
                <a:latin typeface="Calibri" pitchFamily="34" charset="0"/>
                <a:ea typeface="Calibri" pitchFamily="34" charset="-122"/>
                <a:cs typeface="Calibri" pitchFamily="34" charset="-120"/>
              </a:rPr>
              <a:t>4</a:t>
            </a:r>
            <a:endParaRPr lang="fr-FR" sz="10455"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fr-FR" sz="1600" b="1" noProof="0" dirty="0">
                <a:solidFill>
                  <a:srgbClr val="9FC2E8"/>
                </a:solidFill>
                <a:latin typeface="Calibri" pitchFamily="34" charset="0"/>
                <a:ea typeface="Calibri" pitchFamily="34" charset="-122"/>
                <a:cs typeface="Calibri" pitchFamily="34" charset="-120"/>
              </a:rPr>
              <a:t>S e s s i o n 4</a:t>
            </a:r>
            <a:endParaRPr lang="fr-FR"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fr-FR" sz="4000" b="1" noProof="0" dirty="0">
                <a:solidFill>
                  <a:srgbClr val="FFFFFF"/>
                </a:solidFill>
                <a:latin typeface="Calibri" pitchFamily="34" charset="0"/>
                <a:ea typeface="Calibri" pitchFamily="34" charset="-122"/>
                <a:cs typeface="Calibri" pitchFamily="34" charset="-120"/>
              </a:rPr>
              <a:t>Diagnostic et traitement</a:t>
            </a:r>
            <a:endParaRPr lang="fr-FR"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fr-FR" sz="1800" noProof="0" dirty="0">
                <a:solidFill>
                  <a:srgbClr val="CFE0F4"/>
                </a:solidFill>
                <a:latin typeface="Calibri" pitchFamily="34" charset="0"/>
                <a:ea typeface="Calibri" pitchFamily="34" charset="-122"/>
                <a:cs typeface="Calibri" pitchFamily="34" charset="-120"/>
              </a:rPr>
              <a:t>Comprenez ce qui se passe après l’orientation : comment le diagnostic est confirmé, ce que signifient les résultats des récepteurs, et à quoi sert réellement chaque traitement.</a:t>
            </a:r>
            <a:endParaRPr lang="fr-FR"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fr-FR" sz="1000" noProof="0" dirty="0">
                <a:solidFill>
                  <a:srgbClr val="7FA6D4"/>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Objectifs d'apprentissage</a:t>
            </a:r>
            <a:endParaRPr lang="fr-FR" sz="3000" noProof="0" dirty="0"/>
          </a:p>
        </p:txBody>
      </p:sp>
      <p:sp>
        <p:nvSpPr>
          <p:cNvPr id="5" name="Shape 3"/>
          <p:cNvSpPr/>
          <p:nvPr/>
        </p:nvSpPr>
        <p:spPr>
          <a:xfrm>
            <a:off x="548640" y="1417320"/>
            <a:ext cx="3527450" cy="1960557"/>
          </a:xfrm>
          <a:prstGeom prst="roundRect">
            <a:avLst>
              <a:gd name="adj" fmla="val 2798"/>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Décrire le parcours</a:t>
            </a:r>
            <a:endParaRPr lang="fr-FR" sz="1700" noProof="0" dirty="0"/>
          </a:p>
        </p:txBody>
      </p:sp>
      <p:sp>
        <p:nvSpPr>
          <p:cNvPr id="7" name="Text 5"/>
          <p:cNvSpPr txBox="1"/>
          <p:nvPr/>
        </p:nvSpPr>
        <p:spPr>
          <a:xfrm>
            <a:off x="713232" y="1847088"/>
            <a:ext cx="3198266" cy="1475925"/>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Décrire le parcours diagnostique, de la première évaluation au diagnostic confirmé.</a:t>
            </a:r>
            <a:endParaRPr lang="fr-FR" sz="1800" noProof="0" dirty="0"/>
          </a:p>
        </p:txBody>
      </p:sp>
      <p:sp>
        <p:nvSpPr>
          <p:cNvPr id="8" name="Shape 6"/>
          <p:cNvSpPr/>
          <p:nvPr/>
        </p:nvSpPr>
        <p:spPr>
          <a:xfrm>
            <a:off x="4332122" y="1417320"/>
            <a:ext cx="3527450" cy="1960557"/>
          </a:xfrm>
          <a:prstGeom prst="roundRect">
            <a:avLst>
              <a:gd name="adj" fmla="val 2798"/>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Expliquer</a:t>
            </a:r>
            <a:endParaRPr lang="fr-FR" sz="1700" noProof="0" dirty="0"/>
          </a:p>
        </p:txBody>
      </p:sp>
      <p:sp>
        <p:nvSpPr>
          <p:cNvPr id="10" name="Text 8"/>
          <p:cNvSpPr txBox="1"/>
          <p:nvPr/>
        </p:nvSpPr>
        <p:spPr>
          <a:xfrm>
            <a:off x="4496714" y="1847088"/>
            <a:ext cx="3198266" cy="1475925"/>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Expliquer le rôle et les limites de l’examen clinique, des analyses de laboratoire et de l’imagerie.</a:t>
            </a:r>
            <a:endParaRPr lang="fr-FR" sz="1800" noProof="0" dirty="0"/>
          </a:p>
        </p:txBody>
      </p:sp>
      <p:sp>
        <p:nvSpPr>
          <p:cNvPr id="11" name="Shape 9"/>
          <p:cNvSpPr/>
          <p:nvPr/>
        </p:nvSpPr>
        <p:spPr>
          <a:xfrm>
            <a:off x="8115605" y="1417320"/>
            <a:ext cx="3527450" cy="1960557"/>
          </a:xfrm>
          <a:prstGeom prst="roundRect">
            <a:avLst>
              <a:gd name="adj" fmla="val 2798"/>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Décrire</a:t>
            </a:r>
            <a:endParaRPr lang="fr-FR" sz="1700" noProof="0" dirty="0"/>
          </a:p>
        </p:txBody>
      </p:sp>
      <p:sp>
        <p:nvSpPr>
          <p:cNvPr id="13" name="Text 11"/>
          <p:cNvSpPr txBox="1"/>
          <p:nvPr/>
        </p:nvSpPr>
        <p:spPr>
          <a:xfrm>
            <a:off x="8280197" y="1847088"/>
            <a:ext cx="3198266" cy="1475925"/>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Décrire la biopsie et l’anatomopathologie assez bien pour y préparer une patiente.</a:t>
            </a:r>
            <a:endParaRPr lang="fr-FR" sz="1800" noProof="0" dirty="0"/>
          </a:p>
        </p:txBody>
      </p:sp>
      <p:sp>
        <p:nvSpPr>
          <p:cNvPr id="14" name="Shape 12"/>
          <p:cNvSpPr/>
          <p:nvPr/>
        </p:nvSpPr>
        <p:spPr>
          <a:xfrm>
            <a:off x="548640" y="3633909"/>
            <a:ext cx="3527450" cy="2401131"/>
          </a:xfrm>
          <a:prstGeom prst="roundRect">
            <a:avLst>
              <a:gd name="adj" fmla="val 2285"/>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725349"/>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Interpréter</a:t>
            </a:r>
            <a:endParaRPr lang="fr-FR" sz="1700" noProof="0" dirty="0"/>
          </a:p>
        </p:txBody>
      </p:sp>
      <p:sp>
        <p:nvSpPr>
          <p:cNvPr id="16" name="Text 14"/>
          <p:cNvSpPr txBox="1"/>
          <p:nvPr/>
        </p:nvSpPr>
        <p:spPr>
          <a:xfrm>
            <a:off x="713232" y="4063677"/>
            <a:ext cx="3198266" cy="1916499"/>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Interpréter ce que signifient les résultats ER, PR et HER2 pour la planification du traitement.</a:t>
            </a:r>
            <a:endParaRPr lang="fr-FR" sz="1800" noProof="0" dirty="0"/>
          </a:p>
        </p:txBody>
      </p:sp>
      <p:sp>
        <p:nvSpPr>
          <p:cNvPr id="17" name="Shape 15"/>
          <p:cNvSpPr/>
          <p:nvPr/>
        </p:nvSpPr>
        <p:spPr>
          <a:xfrm>
            <a:off x="4332122" y="3633909"/>
            <a:ext cx="3527450" cy="2401131"/>
          </a:xfrm>
          <a:prstGeom prst="roundRect">
            <a:avLst>
              <a:gd name="adj" fmla="val 2285"/>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725349"/>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Résumer</a:t>
            </a:r>
            <a:endParaRPr lang="fr-FR" sz="1700" noProof="0" dirty="0"/>
          </a:p>
        </p:txBody>
      </p:sp>
      <p:sp>
        <p:nvSpPr>
          <p:cNvPr id="19" name="Text 17"/>
          <p:cNvSpPr txBox="1"/>
          <p:nvPr/>
        </p:nvSpPr>
        <p:spPr>
          <a:xfrm>
            <a:off x="4496714" y="4063677"/>
            <a:ext cx="3198266" cy="1916499"/>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Résumer chaque traitement, ce qu’il fait, et s’il agit localement ou dans tout l’organisme.</a:t>
            </a:r>
            <a:endParaRPr lang="fr-FR" sz="1800" noProof="0" dirty="0"/>
          </a:p>
        </p:txBody>
      </p:sp>
      <p:sp>
        <p:nvSpPr>
          <p:cNvPr id="20" name="Shape 18"/>
          <p:cNvSpPr/>
          <p:nvPr/>
        </p:nvSpPr>
        <p:spPr>
          <a:xfrm>
            <a:off x="8115605" y="3633909"/>
            <a:ext cx="3527450" cy="2401131"/>
          </a:xfrm>
          <a:prstGeom prst="roundRect">
            <a:avLst>
              <a:gd name="adj" fmla="val 2285"/>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725349"/>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Corriger</a:t>
            </a:r>
            <a:endParaRPr lang="fr-FR" sz="1700" noProof="0" dirty="0"/>
          </a:p>
        </p:txBody>
      </p:sp>
      <p:sp>
        <p:nvSpPr>
          <p:cNvPr id="22" name="Text 20"/>
          <p:cNvSpPr txBox="1"/>
          <p:nvPr/>
        </p:nvSpPr>
        <p:spPr>
          <a:xfrm>
            <a:off x="8280197" y="4063677"/>
            <a:ext cx="3198266" cy="1916499"/>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Corriger les idées reçues qui retardent le plus souvent la prise en charge du cancer du sein.</a:t>
            </a:r>
            <a:endParaRPr lang="fr-FR" sz="1800" noProof="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Le parcours diagnostique</a:t>
            </a:r>
            <a:endParaRPr lang="fr-FR" sz="3000" noProof="0" dirty="0"/>
          </a:p>
        </p:txBody>
      </p:sp>
      <p:pic>
        <p:nvPicPr>
          <p:cNvPr id="6" name="Imagen 5">
            <a:extLst>
              <a:ext uri="{FF2B5EF4-FFF2-40B4-BE49-F238E27FC236}">
                <a16:creationId xmlns:a16="http://schemas.microsoft.com/office/drawing/2014/main" id="{02926CD9-1BAC-8532-797F-C9F9E9DDEA06}"/>
              </a:ext>
            </a:extLst>
          </p:cNvPr>
          <p:cNvPicPr>
            <a:picLocks noChangeAspect="1"/>
          </p:cNvPicPr>
          <p:nvPr/>
        </p:nvPicPr>
        <p:blipFill>
          <a:blip r:embed="rId3"/>
          <a:stretch>
            <a:fillRect/>
          </a:stretch>
        </p:blipFill>
        <p:spPr>
          <a:xfrm>
            <a:off x="641086" y="1133856"/>
            <a:ext cx="10909522" cy="5680994"/>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Anamnèse : que demander</a:t>
            </a:r>
            <a:endParaRPr lang="fr-FR" sz="3000" noProof="0" dirty="0"/>
          </a:p>
        </p:txBody>
      </p:sp>
      <p:sp>
        <p:nvSpPr>
          <p:cNvPr id="5" name="Shape 3"/>
          <p:cNvSpPr/>
          <p:nvPr/>
        </p:nvSpPr>
        <p:spPr>
          <a:xfrm>
            <a:off x="548640" y="1371600"/>
            <a:ext cx="3527450" cy="1906524"/>
          </a:xfrm>
          <a:prstGeom prst="roundRect">
            <a:avLst>
              <a:gd name="adj" fmla="val 2878"/>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normAutofit fontScale="95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Le changement lui-même</a:t>
            </a:r>
            <a:endParaRPr lang="fr-FR" sz="1700" noProof="0" dirty="0"/>
          </a:p>
        </p:txBody>
      </p:sp>
      <p:sp>
        <p:nvSpPr>
          <p:cNvPr id="7" name="Text 5"/>
          <p:cNvSpPr txBox="1"/>
          <p:nvPr/>
        </p:nvSpPr>
        <p:spPr>
          <a:xfrm>
            <a:off x="713232" y="1801368"/>
            <a:ext cx="3198266" cy="1421892"/>
          </a:xfrm>
          <a:prstGeom prst="rect">
            <a:avLst/>
          </a:prstGeom>
          <a:noFill/>
          <a:ln/>
        </p:spPr>
        <p:txBody>
          <a:bodyPr wrap="square" lIns="0" tIns="0" rIns="0" bIns="0" rtlCol="0" anchor="t">
            <a:normAutofit fontScale="96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Quand il a été remarqué, comment il a évolué depuis, s’il varie avec le cycle menstruel, et s’il est douloureux.</a:t>
            </a:r>
            <a:endParaRPr lang="fr-FR" sz="1800" noProof="0" dirty="0"/>
          </a:p>
        </p:txBody>
      </p:sp>
      <p:sp>
        <p:nvSpPr>
          <p:cNvPr id="8" name="Shape 6"/>
          <p:cNvSpPr/>
          <p:nvPr/>
        </p:nvSpPr>
        <p:spPr>
          <a:xfrm>
            <a:off x="4332122" y="1371600"/>
            <a:ext cx="3527450" cy="1906524"/>
          </a:xfrm>
          <a:prstGeom prst="roundRect">
            <a:avLst>
              <a:gd name="adj" fmla="val 2878"/>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normAutofit fontScale="95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Signes associés</a:t>
            </a:r>
            <a:endParaRPr lang="fr-FR" sz="1700" noProof="0" dirty="0"/>
          </a:p>
        </p:txBody>
      </p:sp>
      <p:sp>
        <p:nvSpPr>
          <p:cNvPr id="10" name="Text 8"/>
          <p:cNvSpPr txBox="1"/>
          <p:nvPr/>
        </p:nvSpPr>
        <p:spPr>
          <a:xfrm>
            <a:off x="4496714" y="1801368"/>
            <a:ext cx="3198266" cy="1421892"/>
          </a:xfrm>
          <a:prstGeom prst="rect">
            <a:avLst/>
          </a:prstGeom>
          <a:noFill/>
          <a:ln/>
        </p:spPr>
        <p:txBody>
          <a:bodyPr wrap="square" lIns="0" tIns="0" rIns="0" bIns="0" rtlCol="0" anchor="t">
            <a:normAutofit fontScale="96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Écoulement du mamelon : spontané, par un seul canal ou sanglant. Modifications de la peau. Gonflement axillaire.</a:t>
            </a:r>
            <a:endParaRPr lang="fr-FR" sz="1800" noProof="0" dirty="0"/>
          </a:p>
        </p:txBody>
      </p:sp>
      <p:sp>
        <p:nvSpPr>
          <p:cNvPr id="11" name="Shape 9"/>
          <p:cNvSpPr/>
          <p:nvPr/>
        </p:nvSpPr>
        <p:spPr>
          <a:xfrm>
            <a:off x="8115605" y="1371600"/>
            <a:ext cx="3527450" cy="1906524"/>
          </a:xfrm>
          <a:prstGeom prst="roundRect">
            <a:avLst>
              <a:gd name="adj" fmla="val 2878"/>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normAutofit fontScale="95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Antécédents mammaires</a:t>
            </a:r>
            <a:endParaRPr lang="fr-FR" sz="1700" noProof="0" dirty="0"/>
          </a:p>
        </p:txBody>
      </p:sp>
      <p:sp>
        <p:nvSpPr>
          <p:cNvPr id="13" name="Text 11"/>
          <p:cNvSpPr txBox="1"/>
          <p:nvPr/>
        </p:nvSpPr>
        <p:spPr>
          <a:xfrm>
            <a:off x="8280197" y="1801368"/>
            <a:ext cx="3198266" cy="1421892"/>
          </a:xfrm>
          <a:prstGeom prst="rect">
            <a:avLst/>
          </a:prstGeom>
          <a:noFill/>
          <a:ln/>
        </p:spPr>
        <p:txBody>
          <a:bodyPr wrap="square" lIns="0" tIns="0" rIns="0" bIns="0" rtlCol="0" anchor="t">
            <a:normAutofit/>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Boules du sein antérieures, biopsies ou chirurgies mammaires antérieures, imageries mammaires antérieures, et tout antécédent de cancer du sein.</a:t>
            </a:r>
            <a:endParaRPr lang="fr-FR" sz="1800" noProof="0" dirty="0"/>
          </a:p>
        </p:txBody>
      </p:sp>
      <p:sp>
        <p:nvSpPr>
          <p:cNvPr id="14" name="Shape 12"/>
          <p:cNvSpPr/>
          <p:nvPr/>
        </p:nvSpPr>
        <p:spPr>
          <a:xfrm>
            <a:off x="548640" y="3534156"/>
            <a:ext cx="3527450" cy="1906524"/>
          </a:xfrm>
          <a:prstGeom prst="roundRect">
            <a:avLst>
              <a:gd name="adj" fmla="val 2878"/>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625596"/>
            <a:ext cx="3198266" cy="292608"/>
          </a:xfrm>
          <a:prstGeom prst="rect">
            <a:avLst/>
          </a:prstGeom>
          <a:noFill/>
          <a:ln/>
        </p:spPr>
        <p:txBody>
          <a:bodyPr wrap="square" lIns="0" tIns="0" rIns="0" bIns="0" rtlCol="0" anchor="t">
            <a:normAutofit fontScale="88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Antécédents reproductifs et hormonaux</a:t>
            </a:r>
            <a:endParaRPr lang="fr-FR" sz="1700" noProof="0" dirty="0"/>
          </a:p>
        </p:txBody>
      </p:sp>
      <p:sp>
        <p:nvSpPr>
          <p:cNvPr id="16" name="Text 14"/>
          <p:cNvSpPr txBox="1"/>
          <p:nvPr/>
        </p:nvSpPr>
        <p:spPr>
          <a:xfrm>
            <a:off x="713232" y="3963924"/>
            <a:ext cx="3198266" cy="142189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Âge des premières règles, grossesses et âge à chacune, allaitement, statut ménopausique et prise de médicaments hormonaux.</a:t>
            </a:r>
            <a:endParaRPr lang="fr-FR" sz="1800" noProof="0" dirty="0"/>
          </a:p>
        </p:txBody>
      </p:sp>
      <p:sp>
        <p:nvSpPr>
          <p:cNvPr id="17" name="Shape 15"/>
          <p:cNvSpPr/>
          <p:nvPr/>
        </p:nvSpPr>
        <p:spPr>
          <a:xfrm>
            <a:off x="4332122" y="3534156"/>
            <a:ext cx="3527450" cy="1906524"/>
          </a:xfrm>
          <a:prstGeom prst="roundRect">
            <a:avLst>
              <a:gd name="adj" fmla="val 2878"/>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625596"/>
            <a:ext cx="3198266" cy="292608"/>
          </a:xfrm>
          <a:prstGeom prst="rect">
            <a:avLst/>
          </a:prstGeom>
          <a:noFill/>
          <a:ln/>
        </p:spPr>
        <p:txBody>
          <a:bodyPr wrap="square" lIns="0" tIns="0" rIns="0" bIns="0" rtlCol="0" anchor="t">
            <a:normAutofit fontScale="95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Antécédents familiaux</a:t>
            </a:r>
            <a:endParaRPr lang="fr-FR" sz="1700" noProof="0" dirty="0"/>
          </a:p>
        </p:txBody>
      </p:sp>
      <p:sp>
        <p:nvSpPr>
          <p:cNvPr id="19" name="Text 17"/>
          <p:cNvSpPr txBox="1"/>
          <p:nvPr/>
        </p:nvSpPr>
        <p:spPr>
          <a:xfrm>
            <a:off x="4496714" y="3963924"/>
            <a:ext cx="3198266" cy="1421892"/>
          </a:xfrm>
          <a:prstGeom prst="rect">
            <a:avLst/>
          </a:prstGeom>
          <a:noFill/>
          <a:ln/>
        </p:spPr>
        <p:txBody>
          <a:bodyPr wrap="square" lIns="0" tIns="0" rIns="0" bIns="0" rtlCol="0" anchor="t">
            <a:normAutofit fontScale="96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Cancers du sein, de l’ovaire, de la prostate et du pancréas chez les proches, des deux côtés de la famille, et âge à chaque diagnostic.</a:t>
            </a:r>
            <a:endParaRPr lang="fr-FR" sz="1800" noProof="0" dirty="0"/>
          </a:p>
        </p:txBody>
      </p:sp>
      <p:sp>
        <p:nvSpPr>
          <p:cNvPr id="20" name="Shape 18"/>
          <p:cNvSpPr/>
          <p:nvPr/>
        </p:nvSpPr>
        <p:spPr>
          <a:xfrm>
            <a:off x="8115605" y="3534156"/>
            <a:ext cx="3527450" cy="1906524"/>
          </a:xfrm>
          <a:prstGeom prst="roundRect">
            <a:avLst>
              <a:gd name="adj" fmla="val 2878"/>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625596"/>
            <a:ext cx="3198266" cy="292608"/>
          </a:xfrm>
          <a:prstGeom prst="rect">
            <a:avLst/>
          </a:prstGeom>
          <a:noFill/>
          <a:ln/>
        </p:spPr>
        <p:txBody>
          <a:bodyPr wrap="square" lIns="0" tIns="0" rIns="0" bIns="0" rtlCol="0" anchor="t">
            <a:normAutofit fontScale="95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Évaluation générale</a:t>
            </a:r>
            <a:endParaRPr lang="fr-FR" sz="1700" noProof="0" dirty="0"/>
          </a:p>
        </p:txBody>
      </p:sp>
      <p:sp>
        <p:nvSpPr>
          <p:cNvPr id="22" name="Text 20"/>
          <p:cNvSpPr txBox="1"/>
          <p:nvPr/>
        </p:nvSpPr>
        <p:spPr>
          <a:xfrm>
            <a:off x="8280197" y="3963924"/>
            <a:ext cx="3198266" cy="1421892"/>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Perte de poids, douleurs osseuses, essoufflement ou autres symptômes qui modifieraient l’urgence de l’orientation.</a:t>
            </a:r>
            <a:endParaRPr lang="fr-FR" sz="1800" noProof="0" dirty="0"/>
          </a:p>
        </p:txBody>
      </p:sp>
      <p:sp>
        <p:nvSpPr>
          <p:cNvPr id="23" name="Shape 21"/>
          <p:cNvSpPr/>
          <p:nvPr/>
        </p:nvSpPr>
        <p:spPr>
          <a:xfrm>
            <a:off x="548640" y="5577840"/>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24" name="Text 22"/>
          <p:cNvSpPr txBox="1"/>
          <p:nvPr/>
        </p:nvSpPr>
        <p:spPr>
          <a:xfrm>
            <a:off x="713232" y="5650992"/>
            <a:ext cx="10765231" cy="420624"/>
          </a:xfrm>
          <a:prstGeom prst="rect">
            <a:avLst/>
          </a:prstGeom>
          <a:noFill/>
          <a:ln/>
        </p:spPr>
        <p:txBody>
          <a:bodyPr wrap="square" lIns="0" tIns="0" rIns="0" bIns="0" rtlCol="0" anchor="ct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Demandez ce qui est nécessaire pour décider, et rien de plus. Ne recueillez pas de détails intimes qui ne changeront pas la conduite, et notez l’anamnèse de façon utilisable par l’établissement qui reçoit la personne.</a:t>
            </a:r>
            <a:endParaRPr lang="fr-FR" sz="1300" noProof="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Examen physique : ce que signifient les constatations</a:t>
            </a:r>
            <a:endParaRPr lang="fr-FR" sz="3000" noProof="0" dirty="0"/>
          </a:p>
        </p:txBody>
      </p:sp>
      <p:sp>
        <p:nvSpPr>
          <p:cNvPr id="5" name="Shape 3"/>
          <p:cNvSpPr/>
          <p:nvPr/>
        </p:nvSpPr>
        <p:spPr>
          <a:xfrm>
            <a:off x="548640" y="1213940"/>
            <a:ext cx="3520440" cy="4160520"/>
          </a:xfrm>
          <a:prstGeom prst="roundRect">
            <a:avLst>
              <a:gd name="adj" fmla="val 1558"/>
            </a:avLst>
          </a:prstGeom>
          <a:solidFill>
            <a:srgbClr val="FCC1B8"/>
          </a:solidFill>
          <a:ln w="12700">
            <a:solidFill>
              <a:srgbClr val="C8D8EC"/>
            </a:solidFill>
            <a:prstDash val="solid"/>
          </a:ln>
        </p:spPr>
        <p:txBody>
          <a:bodyPr/>
          <a:lstStyle/>
          <a:p>
            <a:endParaRPr lang="fr-FR" noProof="0" dirty="0"/>
          </a:p>
        </p:txBody>
      </p:sp>
      <p:sp>
        <p:nvSpPr>
          <p:cNvPr id="6" name="Text 4"/>
          <p:cNvSpPr txBox="1"/>
          <p:nvPr/>
        </p:nvSpPr>
        <p:spPr>
          <a:xfrm>
            <a:off x="713232" y="1305380"/>
            <a:ext cx="3191256" cy="292608"/>
          </a:xfrm>
          <a:prstGeom prst="rect">
            <a:avLst/>
          </a:prstGeom>
          <a:noFill/>
          <a:ln/>
        </p:spPr>
        <p:txBody>
          <a:bodyPr wrap="square" lIns="0" tIns="0" rIns="0" bIns="0" rtlCol="0" anchor="t">
            <a:normAutofit fontScale="93000"/>
          </a:bodyPr>
          <a:lstStyle/>
          <a:p>
            <a:r>
              <a:rPr lang="fr-FR" sz="1700" b="1" dirty="0">
                <a:solidFill>
                  <a:srgbClr val="C00000"/>
                </a:solidFill>
                <a:latin typeface="Calibri" pitchFamily="34" charset="0"/>
                <a:ea typeface="Calibri" pitchFamily="34" charset="-122"/>
                <a:cs typeface="Calibri" pitchFamily="34" charset="-120"/>
              </a:rPr>
              <a:t>🔴 Constatations </a:t>
            </a:r>
            <a:r>
              <a:rPr lang="fr-FR" sz="1700" b="1" noProof="0" dirty="0">
                <a:solidFill>
                  <a:srgbClr val="C00000"/>
                </a:solidFill>
                <a:latin typeface="Calibri" pitchFamily="34" charset="0"/>
                <a:ea typeface="Calibri" pitchFamily="34" charset="-122"/>
                <a:cs typeface="Calibri" pitchFamily="34" charset="-120"/>
              </a:rPr>
              <a:t>inquiétantes</a:t>
            </a:r>
            <a:endParaRPr lang="fr-FR" sz="1700" noProof="0" dirty="0">
              <a:solidFill>
                <a:srgbClr val="C00000"/>
              </a:solidFill>
            </a:endParaRPr>
          </a:p>
        </p:txBody>
      </p:sp>
      <p:sp>
        <p:nvSpPr>
          <p:cNvPr id="7" name="Text 5"/>
          <p:cNvSpPr txBox="1"/>
          <p:nvPr/>
        </p:nvSpPr>
        <p:spPr>
          <a:xfrm>
            <a:off x="713232" y="1671140"/>
            <a:ext cx="3191256" cy="3611880"/>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Une masse dure ou ferme aux contours irréguliers</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Une masse fixée à la peau ou à la paroi thoracique</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Fossette, adhérence ou épaississement de la peau</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Aspect en peau d'orange</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Rétraction ou déformation récente du mamelon</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Une lésion du mamelon squameuse ou ulcérée</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Un ganglion axillaire dur, fixé ou en amas</a:t>
            </a:r>
            <a:endParaRPr lang="fr-FR" sz="1534" noProof="0" dirty="0"/>
          </a:p>
        </p:txBody>
      </p:sp>
      <p:sp>
        <p:nvSpPr>
          <p:cNvPr id="8" name="Shape 6"/>
          <p:cNvSpPr/>
          <p:nvPr/>
        </p:nvSpPr>
        <p:spPr>
          <a:xfrm>
            <a:off x="4334256" y="1213940"/>
            <a:ext cx="3520440" cy="4160520"/>
          </a:xfrm>
          <a:prstGeom prst="roundRect">
            <a:avLst>
              <a:gd name="adj" fmla="val 1558"/>
            </a:avLst>
          </a:prstGeom>
          <a:solidFill>
            <a:schemeClr val="accent6">
              <a:lumMod val="20000"/>
              <a:lumOff val="80000"/>
            </a:schemeClr>
          </a:solidFill>
          <a:ln w="12700">
            <a:solidFill>
              <a:srgbClr val="C8D8EC"/>
            </a:solidFill>
            <a:prstDash val="solid"/>
          </a:ln>
        </p:spPr>
        <p:txBody>
          <a:bodyPr/>
          <a:lstStyle/>
          <a:p>
            <a:endParaRPr lang="fr-FR" noProof="0" dirty="0"/>
          </a:p>
        </p:txBody>
      </p:sp>
      <p:sp>
        <p:nvSpPr>
          <p:cNvPr id="9" name="Text 7"/>
          <p:cNvSpPr txBox="1"/>
          <p:nvPr/>
        </p:nvSpPr>
        <p:spPr>
          <a:xfrm>
            <a:off x="4498848" y="1305380"/>
            <a:ext cx="3191256" cy="292608"/>
          </a:xfrm>
          <a:prstGeom prst="rect">
            <a:avLst/>
          </a:prstGeom>
          <a:noFill/>
          <a:ln/>
        </p:spPr>
        <p:txBody>
          <a:bodyPr wrap="square" lIns="0" tIns="0" rIns="0" bIns="0" rtlCol="0" anchor="t">
            <a:normAutofit fontScale="85500"/>
          </a:bodyPr>
          <a:lstStyle/>
          <a:p>
            <a:r>
              <a:rPr lang="fr-FR" sz="1700" b="1" dirty="0">
                <a:solidFill>
                  <a:srgbClr val="00B050"/>
                </a:solidFill>
                <a:latin typeface="Calibri" pitchFamily="34" charset="0"/>
                <a:ea typeface="Calibri" pitchFamily="34" charset="-122"/>
                <a:cs typeface="Calibri" pitchFamily="34" charset="-120"/>
              </a:rPr>
              <a:t>🟢 Constatations </a:t>
            </a:r>
            <a:r>
              <a:rPr lang="fr-FR" sz="1700" b="1" noProof="0" dirty="0">
                <a:solidFill>
                  <a:srgbClr val="00B050"/>
                </a:solidFill>
                <a:latin typeface="Calibri" pitchFamily="34" charset="0"/>
                <a:ea typeface="Calibri" pitchFamily="34" charset="-122"/>
                <a:cs typeface="Calibri" pitchFamily="34" charset="-120"/>
              </a:rPr>
              <a:t>plus souvent bénignes</a:t>
            </a:r>
            <a:endParaRPr lang="fr-FR" sz="1700" noProof="0" dirty="0">
              <a:solidFill>
                <a:srgbClr val="00B050"/>
              </a:solidFill>
            </a:endParaRPr>
          </a:p>
        </p:txBody>
      </p:sp>
      <p:sp>
        <p:nvSpPr>
          <p:cNvPr id="10" name="Text 8"/>
          <p:cNvSpPr txBox="1"/>
          <p:nvPr/>
        </p:nvSpPr>
        <p:spPr>
          <a:xfrm>
            <a:off x="4498848" y="1671140"/>
            <a:ext cx="3191256" cy="3611880"/>
          </a:xfrm>
          <a:prstGeom prst="rect">
            <a:avLst/>
          </a:prstGeom>
          <a:noFill/>
          <a:ln/>
        </p:spPr>
        <p:txBody>
          <a:bodyPr wrap="square" lIns="0" tIns="0" rIns="0" bIns="0" rtlCol="0" anchor="t">
            <a:normAutofit fontScale="97000"/>
          </a:bodyPr>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Une boule lisse, bien limitée et mobile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Une </a:t>
            </a:r>
            <a:r>
              <a:rPr lang="fr-FR" sz="1600" noProof="0" dirty="0" err="1">
                <a:solidFill>
                  <a:srgbClr val="0B1F3F"/>
                </a:solidFill>
                <a:latin typeface="Calibri" pitchFamily="34" charset="0"/>
                <a:ea typeface="Calibri" pitchFamily="34" charset="-122"/>
                <a:cs typeface="Calibri" pitchFamily="34" charset="-120"/>
              </a:rPr>
              <a:t>nodularité</a:t>
            </a:r>
            <a:r>
              <a:rPr lang="fr-FR" sz="1600" noProof="0" dirty="0">
                <a:solidFill>
                  <a:srgbClr val="0B1F3F"/>
                </a:solidFill>
                <a:latin typeface="Calibri" pitchFamily="34" charset="0"/>
                <a:ea typeface="Calibri" pitchFamily="34" charset="-122"/>
                <a:cs typeface="Calibri" pitchFamily="34" charset="-120"/>
              </a:rPr>
              <a:t> diffuse des deux seins</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Sensibilité qui varie selon le cycle menstruel</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Une tuméfaction molle et fluctuante apparue rapidement</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 mamelon ombiliqué de longue date et inchangé</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 ganglion axillaire souple, mobile et sensible, avec une cause locale</a:t>
            </a:r>
            <a:endParaRPr lang="fr-FR" sz="1600" noProof="0" dirty="0"/>
          </a:p>
        </p:txBody>
      </p:sp>
      <p:sp>
        <p:nvSpPr>
          <p:cNvPr id="11" name="Shape 9"/>
          <p:cNvSpPr/>
          <p:nvPr/>
        </p:nvSpPr>
        <p:spPr>
          <a:xfrm>
            <a:off x="8119872" y="1213940"/>
            <a:ext cx="3523183" cy="4160520"/>
          </a:xfrm>
          <a:prstGeom prst="roundRect">
            <a:avLst>
              <a:gd name="adj" fmla="val 1557"/>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4464" y="1305380"/>
            <a:ext cx="3193999" cy="292608"/>
          </a:xfrm>
          <a:prstGeom prst="rect">
            <a:avLst/>
          </a:prstGeom>
          <a:noFill/>
          <a:ln/>
        </p:spPr>
        <p:txBody>
          <a:bodyPr wrap="square" lIns="0" tIns="0" rIns="0" bIns="0" rtlCol="0" anchor="t">
            <a:normAutofit fontScale="93000"/>
          </a:bodyPr>
          <a:lstStyle/>
          <a:p>
            <a:r>
              <a:rPr lang="fr-FR" sz="1700" b="1" dirty="0">
                <a:solidFill>
                  <a:srgbClr val="12315B"/>
                </a:solidFill>
                <a:latin typeface="Calibri" pitchFamily="34" charset="0"/>
                <a:ea typeface="Calibri" pitchFamily="34" charset="-122"/>
                <a:cs typeface="Calibri" pitchFamily="34" charset="-120"/>
              </a:rPr>
              <a:t>❌ Ce </a:t>
            </a:r>
            <a:r>
              <a:rPr lang="fr-FR" sz="1700" b="1" noProof="0" dirty="0">
                <a:solidFill>
                  <a:srgbClr val="12315B"/>
                </a:solidFill>
                <a:latin typeface="Calibri" pitchFamily="34" charset="0"/>
                <a:ea typeface="Calibri" pitchFamily="34" charset="-122"/>
                <a:cs typeface="Calibri" pitchFamily="34" charset="-120"/>
              </a:rPr>
              <a:t>que l'examen ne peut pas faire</a:t>
            </a:r>
            <a:endParaRPr lang="fr-FR" sz="1700" noProof="0" dirty="0"/>
          </a:p>
        </p:txBody>
      </p:sp>
      <p:sp>
        <p:nvSpPr>
          <p:cNvPr id="13" name="Text 11"/>
          <p:cNvSpPr txBox="1"/>
          <p:nvPr/>
        </p:nvSpPr>
        <p:spPr>
          <a:xfrm>
            <a:off x="8284464" y="1671140"/>
            <a:ext cx="3193999" cy="3611880"/>
          </a:xfrm>
          <a:prstGeom prst="rect">
            <a:avLst/>
          </a:prstGeom>
          <a:noFill/>
          <a:ln/>
        </p:spPr>
        <p:txBody>
          <a:bodyPr wrap="square" lIns="0" tIns="0" rIns="0" bIns="0" rtlCol="0" anchor="t">
            <a:normAutofit fontScale="97000"/>
          </a:bodyPr>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Il ne peut pas confirmer le cancer du sein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Il ne peut pas exclure le cancer du sein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 examen normal chez une personne signalant un changement persistant ne met pas fin à l'évaluation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Son but est de décrire précisément la constatation et de décider de l’étape suivante</a:t>
            </a:r>
            <a:endParaRPr lang="fr-FR" sz="1600" noProof="0" dirty="0"/>
          </a:p>
        </p:txBody>
      </p:sp>
      <p:sp>
        <p:nvSpPr>
          <p:cNvPr id="14" name="Shape 12"/>
          <p:cNvSpPr/>
          <p:nvPr/>
        </p:nvSpPr>
        <p:spPr>
          <a:xfrm>
            <a:off x="548640" y="5669280"/>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15" name="Text 13"/>
          <p:cNvSpPr txBox="1"/>
          <p:nvPr/>
        </p:nvSpPr>
        <p:spPr>
          <a:xfrm>
            <a:off x="713232" y="5742432"/>
            <a:ext cx="10765231" cy="420624"/>
          </a:xfrm>
          <a:prstGeom prst="rect">
            <a:avLst/>
          </a:prstGeom>
          <a:noFill/>
          <a:ln/>
        </p:spPr>
        <p:txBody>
          <a:bodyPr wrap="square" lIns="0" tIns="0" rIns="0" bIns="0" rtlCol="0" anchor="ct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Notez le côté, le quadrant ou la position horaire, la distance au mamelon et la taille en centimètres. Le prochain soignant s’appuiera sur cette description pour savoir si quelque chose a changé.</a:t>
            </a:r>
            <a:endParaRPr lang="fr-FR" sz="1300" noProof="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Autofit/>
          </a:bodyPr>
          <a:lstStyle/>
          <a:p>
            <a:pPr marL="0" indent="0">
              <a:buNone/>
            </a:pPr>
            <a:r>
              <a:rPr lang="fr-FR" sz="2520" b="1" noProof="0" dirty="0">
                <a:solidFill>
                  <a:srgbClr val="12315B"/>
                </a:solidFill>
                <a:latin typeface="Calibri" pitchFamily="34" charset="0"/>
                <a:ea typeface="Calibri" pitchFamily="34" charset="-122"/>
                <a:cs typeface="Calibri" pitchFamily="34" charset="-120"/>
              </a:rPr>
              <a:t>Examens</a:t>
            </a:r>
            <a:endParaRPr lang="fr-FR" sz="2520" noProof="0" dirty="0"/>
          </a:p>
        </p:txBody>
      </p:sp>
      <p:pic>
        <p:nvPicPr>
          <p:cNvPr id="6" name="Imagen 5">
            <a:extLst>
              <a:ext uri="{FF2B5EF4-FFF2-40B4-BE49-F238E27FC236}">
                <a16:creationId xmlns:a16="http://schemas.microsoft.com/office/drawing/2014/main" id="{20570D52-B397-1E77-517C-57C246CED285}"/>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548640" y="1133856"/>
            <a:ext cx="11277464" cy="4983753"/>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Anatomopathologie et recherche de biomarqueurs</a:t>
            </a:r>
            <a:endParaRPr lang="fr-FR" sz="3000" noProof="0" dirty="0"/>
          </a:p>
        </p:txBody>
      </p:sp>
      <p:pic>
        <p:nvPicPr>
          <p:cNvPr id="6" name="Imagen 5">
            <a:extLst>
              <a:ext uri="{FF2B5EF4-FFF2-40B4-BE49-F238E27FC236}">
                <a16:creationId xmlns:a16="http://schemas.microsoft.com/office/drawing/2014/main" id="{37A20CEE-173D-A01E-394F-1D56D73BB6D8}"/>
              </a:ext>
            </a:extLst>
          </p:cNvPr>
          <p:cNvPicPr>
            <a:picLocks noChangeAspect="1"/>
          </p:cNvPicPr>
          <p:nvPr/>
        </p:nvPicPr>
        <p:blipFill>
          <a:blip r:embed="rId3"/>
          <a:stretch>
            <a:fillRect/>
          </a:stretch>
        </p:blipFill>
        <p:spPr>
          <a:xfrm>
            <a:off x="433250" y="1170432"/>
            <a:ext cx="11549743" cy="4998417"/>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r>
              <a:rPr lang="fr-FR" sz="3200" b="1" dirty="0">
                <a:solidFill>
                  <a:schemeClr val="accent1">
                    <a:lumMod val="50000"/>
                  </a:schemeClr>
                </a:solidFill>
              </a:rPr>
              <a:t>Quelle est la prochaine étape?</a:t>
            </a:r>
            <a:endParaRPr lang="fr-FR" sz="3200" dirty="0">
              <a:solidFill>
                <a:schemeClr val="accent1">
                  <a:lumMod val="50000"/>
                </a:schemeClr>
              </a:solidFill>
            </a:endParaRPr>
          </a:p>
        </p:txBody>
      </p:sp>
      <p:sp>
        <p:nvSpPr>
          <p:cNvPr id="5" name="Text 3"/>
          <p:cNvSpPr txBox="1"/>
          <p:nvPr/>
        </p:nvSpPr>
        <p:spPr>
          <a:xfrm>
            <a:off x="548640" y="1207008"/>
            <a:ext cx="11094415" cy="320040"/>
          </a:xfrm>
          <a:prstGeom prst="rect">
            <a:avLst/>
          </a:prstGeom>
          <a:noFill/>
          <a:ln/>
        </p:spPr>
        <p:txBody>
          <a:bodyPr wrap="square" lIns="0" tIns="0" rIns="0" bIns="0" rtlCol="0" anchor="ctr"/>
          <a:lstStyle/>
          <a:p>
            <a:r>
              <a:rPr lang="fr-FR" sz="1600" i="1" dirty="0">
                <a:solidFill>
                  <a:schemeClr val="accent1">
                    <a:lumMod val="50000"/>
                  </a:schemeClr>
                </a:solidFill>
              </a:rPr>
              <a:t>Associez le résultat à l’étape suivante.</a:t>
            </a:r>
            <a:endParaRPr lang="fr-FR" sz="1600" dirty="0">
              <a:solidFill>
                <a:schemeClr val="accent1">
                  <a:lumMod val="50000"/>
                </a:schemeClr>
              </a:solidFill>
            </a:endParaRPr>
          </a:p>
        </p:txBody>
      </p:sp>
      <p:sp>
        <p:nvSpPr>
          <p:cNvPr id="6" name="Shape 4"/>
          <p:cNvSpPr/>
          <p:nvPr/>
        </p:nvSpPr>
        <p:spPr>
          <a:xfrm>
            <a:off x="548640" y="1627632"/>
            <a:ext cx="5029200" cy="620268"/>
          </a:xfrm>
          <a:prstGeom prst="roundRect">
            <a:avLst>
              <a:gd name="adj" fmla="val 7371"/>
            </a:avLst>
          </a:prstGeom>
          <a:solidFill>
            <a:srgbClr val="F4F8FC"/>
          </a:solidFill>
          <a:ln w="12700">
            <a:solidFill>
              <a:srgbClr val="C8D8EC"/>
            </a:solidFill>
            <a:prstDash val="solid"/>
          </a:ln>
        </p:spPr>
        <p:txBody>
          <a:bodyPr/>
          <a:lstStyle/>
          <a:p>
            <a:endParaRPr lang="fr-FR" noProof="0" dirty="0"/>
          </a:p>
        </p:txBody>
      </p:sp>
      <p:sp>
        <p:nvSpPr>
          <p:cNvPr id="7" name="Text 5"/>
          <p:cNvSpPr txBox="1"/>
          <p:nvPr/>
        </p:nvSpPr>
        <p:spPr>
          <a:xfrm>
            <a:off x="694944" y="1664208"/>
            <a:ext cx="4736592" cy="547116"/>
          </a:xfrm>
          <a:prstGeom prst="rect">
            <a:avLst/>
          </a:prstGeom>
          <a:noFill/>
          <a:ln/>
        </p:spPr>
        <p:txBody>
          <a:bodyPr wrap="square" lIns="0" tIns="0" rIns="0" bIns="0" rtlCol="0" anchor="ctr">
            <a:normAutofit/>
          </a:bodyPr>
          <a:lstStyle/>
          <a:p>
            <a:pPr marL="0" indent="0">
              <a:lnSpc>
                <a:spcPct val="90000"/>
              </a:lnSpc>
              <a:buNone/>
            </a:pPr>
            <a:r>
              <a:rPr lang="fr-FR" sz="1649" noProof="0" dirty="0">
                <a:solidFill>
                  <a:srgbClr val="0B1F3F"/>
                </a:solidFill>
                <a:latin typeface="Calibri" pitchFamily="34" charset="0"/>
                <a:ea typeface="Calibri" pitchFamily="34" charset="-122"/>
                <a:cs typeface="Calibri" pitchFamily="34" charset="-120"/>
              </a:rPr>
              <a:t>Une femme de 50 ans en bonne santé, sans symptôme mammaire, qui s’informe sur les contrôles du sein</a:t>
            </a:r>
            <a:endParaRPr lang="fr-FR" sz="1649" noProof="0" dirty="0"/>
          </a:p>
        </p:txBody>
      </p:sp>
      <p:sp>
        <p:nvSpPr>
          <p:cNvPr id="8" name="Text 6"/>
          <p:cNvSpPr txBox="1"/>
          <p:nvPr/>
        </p:nvSpPr>
        <p:spPr>
          <a:xfrm>
            <a:off x="5577840" y="1627632"/>
            <a:ext cx="457200" cy="620268"/>
          </a:xfrm>
          <a:prstGeom prst="rect">
            <a:avLst/>
          </a:prstGeom>
          <a:noFill/>
          <a:ln/>
        </p:spPr>
        <p:txBody>
          <a:bodyPr wrap="square" lIns="0" tIns="0" rIns="0" bIns="0" rtlCol="0" anchor="ctr"/>
          <a:lstStyle/>
          <a:p>
            <a:pPr marL="0" indent="0" algn="ctr">
              <a:buNone/>
            </a:pPr>
            <a:r>
              <a:rPr lang="fr-FR" sz="2000" b="1" noProof="0" dirty="0">
                <a:solidFill>
                  <a:srgbClr val="C9761A"/>
                </a:solidFill>
                <a:latin typeface="Calibri" pitchFamily="34" charset="0"/>
                <a:ea typeface="Calibri" pitchFamily="34" charset="-122"/>
                <a:cs typeface="Calibri" pitchFamily="34" charset="-120"/>
              </a:rPr>
              <a:t>→</a:t>
            </a:r>
            <a:endParaRPr lang="fr-FR" sz="2000" noProof="0" dirty="0"/>
          </a:p>
        </p:txBody>
      </p:sp>
      <p:sp>
        <p:nvSpPr>
          <p:cNvPr id="9" name="Shape 7"/>
          <p:cNvSpPr/>
          <p:nvPr/>
        </p:nvSpPr>
        <p:spPr>
          <a:xfrm>
            <a:off x="6035040" y="1627632"/>
            <a:ext cx="5608015" cy="620268"/>
          </a:xfrm>
          <a:prstGeom prst="roundRect">
            <a:avLst>
              <a:gd name="adj" fmla="val 7371"/>
            </a:avLst>
          </a:prstGeom>
          <a:solidFill>
            <a:srgbClr val="EAF5EF"/>
          </a:solidFill>
          <a:ln w="12700">
            <a:solidFill>
              <a:srgbClr val="8FC4A9"/>
            </a:solidFill>
            <a:prstDash val="solid"/>
          </a:ln>
        </p:spPr>
        <p:txBody>
          <a:bodyPr/>
          <a:lstStyle/>
          <a:p>
            <a:endParaRPr lang="fr-FR" noProof="0" dirty="0"/>
          </a:p>
        </p:txBody>
      </p:sp>
      <p:sp>
        <p:nvSpPr>
          <p:cNvPr id="10" name="Text 8"/>
          <p:cNvSpPr txBox="1"/>
          <p:nvPr/>
        </p:nvSpPr>
        <p:spPr>
          <a:xfrm>
            <a:off x="6181344" y="1664208"/>
            <a:ext cx="5315407" cy="547116"/>
          </a:xfrm>
          <a:prstGeom prst="rect">
            <a:avLst/>
          </a:prstGeom>
          <a:noFill/>
          <a:ln/>
        </p:spPr>
        <p:txBody>
          <a:bodyPr wrap="square" lIns="0" tIns="0" rIns="0" bIns="0" rtlCol="0" anchor="ctr">
            <a:normAutofit/>
          </a:bodyPr>
          <a:lstStyle/>
          <a:p>
            <a:pPr marL="0" indent="0">
              <a:lnSpc>
                <a:spcPct val="90000"/>
              </a:lnSpc>
              <a:buNone/>
            </a:pPr>
            <a:r>
              <a:rPr lang="fr-FR" sz="1632" noProof="0" dirty="0">
                <a:solidFill>
                  <a:srgbClr val="0B1F3F"/>
                </a:solidFill>
                <a:latin typeface="Calibri" pitchFamily="34" charset="0"/>
                <a:ea typeface="Calibri" pitchFamily="34" charset="-122"/>
                <a:cs typeface="Calibri" pitchFamily="34" charset="-120"/>
              </a:rPr>
              <a:t>Une discussion équilibrée sur ce que la détection précoce peut et ne peut pas faire, et sur la façon de repérer un changement</a:t>
            </a:r>
            <a:endParaRPr lang="fr-FR" sz="1632" noProof="0" dirty="0"/>
          </a:p>
        </p:txBody>
      </p:sp>
      <p:sp>
        <p:nvSpPr>
          <p:cNvPr id="11" name="Shape 9"/>
          <p:cNvSpPr/>
          <p:nvPr/>
        </p:nvSpPr>
        <p:spPr>
          <a:xfrm>
            <a:off x="548640" y="2375916"/>
            <a:ext cx="5029200" cy="620268"/>
          </a:xfrm>
          <a:prstGeom prst="roundRect">
            <a:avLst>
              <a:gd name="adj" fmla="val 7371"/>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694944" y="2412492"/>
            <a:ext cx="4736592" cy="547116"/>
          </a:xfrm>
          <a:prstGeom prst="rect">
            <a:avLst/>
          </a:prstGeom>
          <a:noFill/>
          <a:ln/>
        </p:spPr>
        <p:txBody>
          <a:bodyPr wrap="square" lIns="0" tIns="0" rIns="0" bIns="0" rtlCol="0" anchor="ctr">
            <a:noAutofit/>
          </a:bodyPr>
          <a:lstStyle/>
          <a:p>
            <a:pPr marL="0" indent="0">
              <a:lnSpc>
                <a:spcPct val="90000"/>
              </a:lnSpc>
              <a:buNone/>
            </a:pPr>
            <a:r>
              <a:rPr lang="fr-FR" sz="1649" noProof="0" dirty="0">
                <a:solidFill>
                  <a:srgbClr val="0B1F3F"/>
                </a:solidFill>
                <a:latin typeface="Calibri" pitchFamily="34" charset="0"/>
                <a:ea typeface="Calibri" pitchFamily="34" charset="-122"/>
                <a:cs typeface="Calibri" pitchFamily="34" charset="-120"/>
              </a:rPr>
              <a:t>Une nouvelle boule distincte du sein, présente depuis cinq mois</a:t>
            </a:r>
            <a:endParaRPr lang="fr-FR" sz="1649" noProof="0" dirty="0"/>
          </a:p>
        </p:txBody>
      </p:sp>
      <p:sp>
        <p:nvSpPr>
          <p:cNvPr id="13" name="Text 11"/>
          <p:cNvSpPr txBox="1"/>
          <p:nvPr/>
        </p:nvSpPr>
        <p:spPr>
          <a:xfrm>
            <a:off x="5577840" y="2375916"/>
            <a:ext cx="457200" cy="620268"/>
          </a:xfrm>
          <a:prstGeom prst="rect">
            <a:avLst/>
          </a:prstGeom>
          <a:noFill/>
          <a:ln/>
        </p:spPr>
        <p:txBody>
          <a:bodyPr wrap="square" lIns="0" tIns="0" rIns="0" bIns="0" rtlCol="0" anchor="ctr"/>
          <a:lstStyle/>
          <a:p>
            <a:pPr marL="0" indent="0" algn="ctr">
              <a:buNone/>
            </a:pPr>
            <a:r>
              <a:rPr lang="fr-FR" sz="2000" b="1" noProof="0" dirty="0">
                <a:solidFill>
                  <a:srgbClr val="C9761A"/>
                </a:solidFill>
                <a:latin typeface="Calibri" pitchFamily="34" charset="0"/>
                <a:ea typeface="Calibri" pitchFamily="34" charset="-122"/>
                <a:cs typeface="Calibri" pitchFamily="34" charset="-120"/>
              </a:rPr>
              <a:t>→</a:t>
            </a:r>
            <a:endParaRPr lang="fr-FR" sz="2000" noProof="0" dirty="0"/>
          </a:p>
        </p:txBody>
      </p:sp>
      <p:sp>
        <p:nvSpPr>
          <p:cNvPr id="14" name="Shape 12"/>
          <p:cNvSpPr/>
          <p:nvPr/>
        </p:nvSpPr>
        <p:spPr>
          <a:xfrm>
            <a:off x="6035040" y="2375916"/>
            <a:ext cx="5608015" cy="620268"/>
          </a:xfrm>
          <a:prstGeom prst="roundRect">
            <a:avLst>
              <a:gd name="adj" fmla="val 7371"/>
            </a:avLst>
          </a:prstGeom>
          <a:solidFill>
            <a:srgbClr val="EAF5EF"/>
          </a:solidFill>
          <a:ln w="12700">
            <a:solidFill>
              <a:srgbClr val="8FC4A9"/>
            </a:solidFill>
            <a:prstDash val="solid"/>
          </a:ln>
        </p:spPr>
        <p:txBody>
          <a:bodyPr/>
          <a:lstStyle/>
          <a:p>
            <a:endParaRPr lang="fr-FR" noProof="0" dirty="0"/>
          </a:p>
        </p:txBody>
      </p:sp>
      <p:sp>
        <p:nvSpPr>
          <p:cNvPr id="15" name="Text 13"/>
          <p:cNvSpPr txBox="1"/>
          <p:nvPr/>
        </p:nvSpPr>
        <p:spPr>
          <a:xfrm>
            <a:off x="6181344" y="2412492"/>
            <a:ext cx="5315407" cy="547116"/>
          </a:xfrm>
          <a:prstGeom prst="rect">
            <a:avLst/>
          </a:prstGeom>
          <a:noFill/>
          <a:ln/>
        </p:spPr>
        <p:txBody>
          <a:bodyPr wrap="square" lIns="0" tIns="0" rIns="0" bIns="0" rtlCol="0" anchor="ctr">
            <a:noAutofit/>
          </a:bodyPr>
          <a:lstStyle/>
          <a:p>
            <a:pPr marL="0" indent="0">
              <a:lnSpc>
                <a:spcPct val="90000"/>
              </a:lnSpc>
              <a:buNone/>
            </a:pPr>
            <a:r>
              <a:rPr lang="fr-FR" sz="1632" noProof="0" dirty="0">
                <a:solidFill>
                  <a:srgbClr val="0B1F3F"/>
                </a:solidFill>
                <a:latin typeface="Calibri" pitchFamily="34" charset="0"/>
                <a:ea typeface="Calibri" pitchFamily="34" charset="-122"/>
                <a:cs typeface="Calibri" pitchFamily="34" charset="-120"/>
              </a:rPr>
              <a:t>Orientation rapide pour examen clinique, imagerie et diagnostic sur tissu</a:t>
            </a:r>
            <a:endParaRPr lang="fr-FR" sz="1632" noProof="0" dirty="0"/>
          </a:p>
        </p:txBody>
      </p:sp>
      <p:sp>
        <p:nvSpPr>
          <p:cNvPr id="16" name="Shape 14"/>
          <p:cNvSpPr/>
          <p:nvPr/>
        </p:nvSpPr>
        <p:spPr>
          <a:xfrm>
            <a:off x="548640" y="3124200"/>
            <a:ext cx="5029200" cy="620268"/>
          </a:xfrm>
          <a:prstGeom prst="roundRect">
            <a:avLst>
              <a:gd name="adj" fmla="val 7371"/>
            </a:avLst>
          </a:prstGeom>
          <a:solidFill>
            <a:srgbClr val="F4F8FC"/>
          </a:solidFill>
          <a:ln w="12700">
            <a:solidFill>
              <a:srgbClr val="C8D8EC"/>
            </a:solidFill>
            <a:prstDash val="solid"/>
          </a:ln>
        </p:spPr>
        <p:txBody>
          <a:bodyPr/>
          <a:lstStyle/>
          <a:p>
            <a:endParaRPr lang="fr-FR" noProof="0" dirty="0"/>
          </a:p>
        </p:txBody>
      </p:sp>
      <p:sp>
        <p:nvSpPr>
          <p:cNvPr id="17" name="Text 15"/>
          <p:cNvSpPr txBox="1"/>
          <p:nvPr/>
        </p:nvSpPr>
        <p:spPr>
          <a:xfrm>
            <a:off x="694944" y="3160776"/>
            <a:ext cx="4736592" cy="547116"/>
          </a:xfrm>
          <a:prstGeom prst="rect">
            <a:avLst/>
          </a:prstGeom>
          <a:noFill/>
          <a:ln/>
        </p:spPr>
        <p:txBody>
          <a:bodyPr wrap="square" lIns="0" tIns="0" rIns="0" bIns="0" rtlCol="0" anchor="ctr">
            <a:noAutofit/>
          </a:bodyPr>
          <a:lstStyle/>
          <a:p>
            <a:pPr marL="0" indent="0">
              <a:lnSpc>
                <a:spcPct val="90000"/>
              </a:lnSpc>
              <a:buNone/>
            </a:pPr>
            <a:r>
              <a:rPr lang="fr-FR" sz="1649" noProof="0" dirty="0">
                <a:solidFill>
                  <a:srgbClr val="0B1F3F"/>
                </a:solidFill>
                <a:latin typeface="Calibri" pitchFamily="34" charset="0"/>
                <a:ea typeface="Calibri" pitchFamily="34" charset="-122"/>
                <a:cs typeface="Calibri" pitchFamily="34" charset="-120"/>
              </a:rPr>
              <a:t>Un sein rouge, gonflé et épaissi qui ne s’est pas amélioré sous traitement</a:t>
            </a:r>
            <a:endParaRPr lang="fr-FR" sz="1649" noProof="0" dirty="0"/>
          </a:p>
        </p:txBody>
      </p:sp>
      <p:sp>
        <p:nvSpPr>
          <p:cNvPr id="18" name="Text 16"/>
          <p:cNvSpPr txBox="1"/>
          <p:nvPr/>
        </p:nvSpPr>
        <p:spPr>
          <a:xfrm>
            <a:off x="5577840" y="3124200"/>
            <a:ext cx="457200" cy="620268"/>
          </a:xfrm>
          <a:prstGeom prst="rect">
            <a:avLst/>
          </a:prstGeom>
          <a:noFill/>
          <a:ln/>
        </p:spPr>
        <p:txBody>
          <a:bodyPr wrap="square" lIns="0" tIns="0" rIns="0" bIns="0" rtlCol="0" anchor="ctr"/>
          <a:lstStyle/>
          <a:p>
            <a:pPr marL="0" indent="0" algn="ctr">
              <a:buNone/>
            </a:pPr>
            <a:r>
              <a:rPr lang="fr-FR" sz="2000" b="1" noProof="0" dirty="0">
                <a:solidFill>
                  <a:srgbClr val="C9761A"/>
                </a:solidFill>
                <a:latin typeface="Calibri" pitchFamily="34" charset="0"/>
                <a:ea typeface="Calibri" pitchFamily="34" charset="-122"/>
                <a:cs typeface="Calibri" pitchFamily="34" charset="-120"/>
              </a:rPr>
              <a:t>→</a:t>
            </a:r>
            <a:endParaRPr lang="fr-FR" sz="2000" noProof="0" dirty="0"/>
          </a:p>
        </p:txBody>
      </p:sp>
      <p:sp>
        <p:nvSpPr>
          <p:cNvPr id="19" name="Shape 17"/>
          <p:cNvSpPr/>
          <p:nvPr/>
        </p:nvSpPr>
        <p:spPr>
          <a:xfrm>
            <a:off x="6035040" y="3124200"/>
            <a:ext cx="5608015" cy="620268"/>
          </a:xfrm>
          <a:prstGeom prst="roundRect">
            <a:avLst>
              <a:gd name="adj" fmla="val 7371"/>
            </a:avLst>
          </a:prstGeom>
          <a:solidFill>
            <a:srgbClr val="EAF5EF"/>
          </a:solidFill>
          <a:ln w="12700">
            <a:solidFill>
              <a:srgbClr val="8FC4A9"/>
            </a:solidFill>
            <a:prstDash val="solid"/>
          </a:ln>
        </p:spPr>
        <p:txBody>
          <a:bodyPr/>
          <a:lstStyle/>
          <a:p>
            <a:endParaRPr lang="fr-FR" noProof="0" dirty="0"/>
          </a:p>
        </p:txBody>
      </p:sp>
      <p:sp>
        <p:nvSpPr>
          <p:cNvPr id="20" name="Text 18"/>
          <p:cNvSpPr txBox="1"/>
          <p:nvPr/>
        </p:nvSpPr>
        <p:spPr>
          <a:xfrm>
            <a:off x="6181344" y="3160776"/>
            <a:ext cx="5315407" cy="547116"/>
          </a:xfrm>
          <a:prstGeom prst="rect">
            <a:avLst/>
          </a:prstGeom>
          <a:noFill/>
          <a:ln/>
        </p:spPr>
        <p:txBody>
          <a:bodyPr wrap="square" lIns="0" tIns="0" rIns="0" bIns="0" rtlCol="0" anchor="ctr">
            <a:noAutofit/>
          </a:bodyPr>
          <a:lstStyle/>
          <a:p>
            <a:pPr marL="0" indent="0">
              <a:lnSpc>
                <a:spcPct val="90000"/>
              </a:lnSpc>
              <a:buNone/>
            </a:pPr>
            <a:r>
              <a:rPr lang="fr-FR" sz="1632" noProof="0" dirty="0">
                <a:solidFill>
                  <a:srgbClr val="0B1F3F"/>
                </a:solidFill>
                <a:latin typeface="Calibri" pitchFamily="34" charset="0"/>
                <a:ea typeface="Calibri" pitchFamily="34" charset="-122"/>
                <a:cs typeface="Calibri" pitchFamily="34" charset="-120"/>
              </a:rPr>
              <a:t>Orientation urgente pour suspicion de cancer inflammatoire du sein</a:t>
            </a:r>
            <a:endParaRPr lang="fr-FR" sz="1632" noProof="0" dirty="0"/>
          </a:p>
        </p:txBody>
      </p:sp>
      <p:sp>
        <p:nvSpPr>
          <p:cNvPr id="21" name="Shape 19"/>
          <p:cNvSpPr/>
          <p:nvPr/>
        </p:nvSpPr>
        <p:spPr>
          <a:xfrm>
            <a:off x="548640" y="3872484"/>
            <a:ext cx="5029200" cy="620268"/>
          </a:xfrm>
          <a:prstGeom prst="roundRect">
            <a:avLst>
              <a:gd name="adj" fmla="val 7371"/>
            </a:avLst>
          </a:prstGeom>
          <a:solidFill>
            <a:srgbClr val="F4F8FC"/>
          </a:solidFill>
          <a:ln w="12700">
            <a:solidFill>
              <a:srgbClr val="C8D8EC"/>
            </a:solidFill>
            <a:prstDash val="solid"/>
          </a:ln>
        </p:spPr>
        <p:txBody>
          <a:bodyPr/>
          <a:lstStyle/>
          <a:p>
            <a:endParaRPr lang="fr-FR" noProof="0" dirty="0"/>
          </a:p>
        </p:txBody>
      </p:sp>
      <p:sp>
        <p:nvSpPr>
          <p:cNvPr id="22" name="Text 20"/>
          <p:cNvSpPr txBox="1"/>
          <p:nvPr/>
        </p:nvSpPr>
        <p:spPr>
          <a:xfrm>
            <a:off x="694944" y="3909060"/>
            <a:ext cx="4736592" cy="547116"/>
          </a:xfrm>
          <a:prstGeom prst="rect">
            <a:avLst/>
          </a:prstGeom>
          <a:noFill/>
          <a:ln/>
        </p:spPr>
        <p:txBody>
          <a:bodyPr wrap="square" lIns="0" tIns="0" rIns="0" bIns="0" rtlCol="0" anchor="ctr">
            <a:noAutofit/>
          </a:bodyPr>
          <a:lstStyle/>
          <a:p>
            <a:pPr marL="0" indent="0">
              <a:lnSpc>
                <a:spcPct val="90000"/>
              </a:lnSpc>
              <a:buNone/>
            </a:pPr>
            <a:r>
              <a:rPr lang="fr-FR" sz="1649" noProof="0" dirty="0">
                <a:solidFill>
                  <a:srgbClr val="0B1F3F"/>
                </a:solidFill>
                <a:latin typeface="Calibri" pitchFamily="34" charset="0"/>
                <a:ea typeface="Calibri" pitchFamily="34" charset="-122"/>
                <a:cs typeface="Calibri" pitchFamily="34" charset="-120"/>
              </a:rPr>
              <a:t>Une mammographie anormale chez une personne sans symptôme</a:t>
            </a:r>
            <a:endParaRPr lang="fr-FR" sz="1649" noProof="0" dirty="0"/>
          </a:p>
        </p:txBody>
      </p:sp>
      <p:sp>
        <p:nvSpPr>
          <p:cNvPr id="23" name="Text 21"/>
          <p:cNvSpPr txBox="1"/>
          <p:nvPr/>
        </p:nvSpPr>
        <p:spPr>
          <a:xfrm>
            <a:off x="5577840" y="3872484"/>
            <a:ext cx="457200" cy="620268"/>
          </a:xfrm>
          <a:prstGeom prst="rect">
            <a:avLst/>
          </a:prstGeom>
          <a:noFill/>
          <a:ln/>
        </p:spPr>
        <p:txBody>
          <a:bodyPr wrap="square" lIns="0" tIns="0" rIns="0" bIns="0" rtlCol="0" anchor="ctr"/>
          <a:lstStyle/>
          <a:p>
            <a:pPr marL="0" indent="0" algn="ctr">
              <a:buNone/>
            </a:pPr>
            <a:r>
              <a:rPr lang="fr-FR" sz="2000" b="1" noProof="0" dirty="0">
                <a:solidFill>
                  <a:srgbClr val="C9761A"/>
                </a:solidFill>
                <a:latin typeface="Calibri" pitchFamily="34" charset="0"/>
                <a:ea typeface="Calibri" pitchFamily="34" charset="-122"/>
                <a:cs typeface="Calibri" pitchFamily="34" charset="-120"/>
              </a:rPr>
              <a:t>→</a:t>
            </a:r>
            <a:endParaRPr lang="fr-FR" sz="2000" noProof="0" dirty="0"/>
          </a:p>
        </p:txBody>
      </p:sp>
      <p:sp>
        <p:nvSpPr>
          <p:cNvPr id="24" name="Shape 22"/>
          <p:cNvSpPr/>
          <p:nvPr/>
        </p:nvSpPr>
        <p:spPr>
          <a:xfrm>
            <a:off x="6035040" y="3872484"/>
            <a:ext cx="5608015" cy="620268"/>
          </a:xfrm>
          <a:prstGeom prst="roundRect">
            <a:avLst>
              <a:gd name="adj" fmla="val 7371"/>
            </a:avLst>
          </a:prstGeom>
          <a:solidFill>
            <a:srgbClr val="EAF5EF"/>
          </a:solidFill>
          <a:ln w="12700">
            <a:solidFill>
              <a:srgbClr val="8FC4A9"/>
            </a:solidFill>
            <a:prstDash val="solid"/>
          </a:ln>
        </p:spPr>
        <p:txBody>
          <a:bodyPr/>
          <a:lstStyle/>
          <a:p>
            <a:endParaRPr lang="fr-FR" noProof="0" dirty="0"/>
          </a:p>
        </p:txBody>
      </p:sp>
      <p:sp>
        <p:nvSpPr>
          <p:cNvPr id="25" name="Text 23"/>
          <p:cNvSpPr txBox="1"/>
          <p:nvPr/>
        </p:nvSpPr>
        <p:spPr>
          <a:xfrm>
            <a:off x="6181344" y="3909060"/>
            <a:ext cx="5315407" cy="547116"/>
          </a:xfrm>
          <a:prstGeom prst="rect">
            <a:avLst/>
          </a:prstGeom>
          <a:noFill/>
          <a:ln/>
        </p:spPr>
        <p:txBody>
          <a:bodyPr wrap="square" lIns="0" tIns="0" rIns="0" bIns="0" rtlCol="0" anchor="ctr">
            <a:normAutofit/>
          </a:bodyPr>
          <a:lstStyle/>
          <a:p>
            <a:pPr marL="0" indent="0">
              <a:lnSpc>
                <a:spcPct val="90000"/>
              </a:lnSpc>
              <a:buNone/>
            </a:pPr>
            <a:r>
              <a:rPr lang="fr-FR" sz="1632" noProof="0" dirty="0">
                <a:solidFill>
                  <a:srgbClr val="0B1F3F"/>
                </a:solidFill>
                <a:latin typeface="Calibri" pitchFamily="34" charset="0"/>
                <a:ea typeface="Calibri" pitchFamily="34" charset="-122"/>
                <a:cs typeface="Calibri" pitchFamily="34" charset="-120"/>
              </a:rPr>
              <a:t>Évaluation mammaire complémentaire, en expliquant clairement que le cancer n’est pas confirmé</a:t>
            </a:r>
            <a:endParaRPr lang="fr-FR" sz="1632" noProof="0" dirty="0"/>
          </a:p>
        </p:txBody>
      </p:sp>
      <p:sp>
        <p:nvSpPr>
          <p:cNvPr id="26" name="Shape 24"/>
          <p:cNvSpPr/>
          <p:nvPr/>
        </p:nvSpPr>
        <p:spPr>
          <a:xfrm>
            <a:off x="548640" y="4620768"/>
            <a:ext cx="5029200" cy="620268"/>
          </a:xfrm>
          <a:prstGeom prst="roundRect">
            <a:avLst>
              <a:gd name="adj" fmla="val 7371"/>
            </a:avLst>
          </a:prstGeom>
          <a:solidFill>
            <a:srgbClr val="F4F8FC"/>
          </a:solidFill>
          <a:ln w="12700">
            <a:solidFill>
              <a:srgbClr val="C8D8EC"/>
            </a:solidFill>
            <a:prstDash val="solid"/>
          </a:ln>
        </p:spPr>
        <p:txBody>
          <a:bodyPr/>
          <a:lstStyle/>
          <a:p>
            <a:endParaRPr lang="fr-FR" noProof="0" dirty="0"/>
          </a:p>
        </p:txBody>
      </p:sp>
      <p:sp>
        <p:nvSpPr>
          <p:cNvPr id="27" name="Text 25"/>
          <p:cNvSpPr txBox="1"/>
          <p:nvPr/>
        </p:nvSpPr>
        <p:spPr>
          <a:xfrm>
            <a:off x="694944" y="4657344"/>
            <a:ext cx="4736592" cy="547116"/>
          </a:xfrm>
          <a:prstGeom prst="rect">
            <a:avLst/>
          </a:prstGeom>
          <a:noFill/>
          <a:ln/>
        </p:spPr>
        <p:txBody>
          <a:bodyPr wrap="square" lIns="0" tIns="0" rIns="0" bIns="0" rtlCol="0" anchor="ctr">
            <a:noAutofit/>
          </a:bodyPr>
          <a:lstStyle/>
          <a:p>
            <a:pPr marL="0" indent="0">
              <a:lnSpc>
                <a:spcPct val="90000"/>
              </a:lnSpc>
              <a:buNone/>
            </a:pPr>
            <a:r>
              <a:rPr lang="fr-FR" sz="1649" noProof="0" dirty="0">
                <a:solidFill>
                  <a:srgbClr val="0B1F3F"/>
                </a:solidFill>
                <a:latin typeface="Calibri" pitchFamily="34" charset="0"/>
                <a:ea typeface="Calibri" pitchFamily="34" charset="-122"/>
                <a:cs typeface="Calibri" pitchFamily="34" charset="-120"/>
              </a:rPr>
              <a:t>Un cancer du sein invasif confirmé, ER positif et HER2 négatif</a:t>
            </a:r>
            <a:endParaRPr lang="fr-FR" sz="1649" noProof="0" dirty="0"/>
          </a:p>
        </p:txBody>
      </p:sp>
      <p:sp>
        <p:nvSpPr>
          <p:cNvPr id="28" name="Text 26"/>
          <p:cNvSpPr txBox="1"/>
          <p:nvPr/>
        </p:nvSpPr>
        <p:spPr>
          <a:xfrm>
            <a:off x="5577840" y="4620768"/>
            <a:ext cx="457200" cy="620268"/>
          </a:xfrm>
          <a:prstGeom prst="rect">
            <a:avLst/>
          </a:prstGeom>
          <a:noFill/>
          <a:ln/>
        </p:spPr>
        <p:txBody>
          <a:bodyPr wrap="square" lIns="0" tIns="0" rIns="0" bIns="0" rtlCol="0" anchor="ctr"/>
          <a:lstStyle/>
          <a:p>
            <a:pPr marL="0" indent="0" algn="ctr">
              <a:buNone/>
            </a:pPr>
            <a:r>
              <a:rPr lang="fr-FR" sz="2000" b="1" noProof="0" dirty="0">
                <a:solidFill>
                  <a:srgbClr val="C9761A"/>
                </a:solidFill>
                <a:latin typeface="Calibri" pitchFamily="34" charset="0"/>
                <a:ea typeface="Calibri" pitchFamily="34" charset="-122"/>
                <a:cs typeface="Calibri" pitchFamily="34" charset="-120"/>
              </a:rPr>
              <a:t>→</a:t>
            </a:r>
            <a:endParaRPr lang="fr-FR" sz="2000" noProof="0" dirty="0"/>
          </a:p>
        </p:txBody>
      </p:sp>
      <p:sp>
        <p:nvSpPr>
          <p:cNvPr id="29" name="Shape 27"/>
          <p:cNvSpPr/>
          <p:nvPr/>
        </p:nvSpPr>
        <p:spPr>
          <a:xfrm>
            <a:off x="6035040" y="4620768"/>
            <a:ext cx="5608015" cy="620268"/>
          </a:xfrm>
          <a:prstGeom prst="roundRect">
            <a:avLst>
              <a:gd name="adj" fmla="val 7371"/>
            </a:avLst>
          </a:prstGeom>
          <a:solidFill>
            <a:srgbClr val="EAF5EF"/>
          </a:solidFill>
          <a:ln w="12700">
            <a:solidFill>
              <a:srgbClr val="8FC4A9"/>
            </a:solidFill>
            <a:prstDash val="solid"/>
          </a:ln>
        </p:spPr>
        <p:txBody>
          <a:bodyPr/>
          <a:lstStyle/>
          <a:p>
            <a:endParaRPr lang="fr-FR" noProof="0" dirty="0"/>
          </a:p>
        </p:txBody>
      </p:sp>
      <p:sp>
        <p:nvSpPr>
          <p:cNvPr id="30" name="Text 28"/>
          <p:cNvSpPr txBox="1"/>
          <p:nvPr/>
        </p:nvSpPr>
        <p:spPr>
          <a:xfrm>
            <a:off x="6181344" y="4657344"/>
            <a:ext cx="5315407" cy="547116"/>
          </a:xfrm>
          <a:prstGeom prst="rect">
            <a:avLst/>
          </a:prstGeom>
          <a:noFill/>
          <a:ln/>
        </p:spPr>
        <p:txBody>
          <a:bodyPr wrap="square" lIns="0" tIns="0" rIns="0" bIns="0" rtlCol="0" anchor="ctr">
            <a:noAutofit/>
          </a:bodyPr>
          <a:lstStyle/>
          <a:p>
            <a:pPr marL="0" indent="0">
              <a:lnSpc>
                <a:spcPct val="90000"/>
              </a:lnSpc>
              <a:buNone/>
            </a:pPr>
            <a:r>
              <a:rPr lang="fr-FR" sz="1632" noProof="0" dirty="0">
                <a:solidFill>
                  <a:srgbClr val="0B1F3F"/>
                </a:solidFill>
                <a:latin typeface="Calibri" pitchFamily="34" charset="0"/>
                <a:ea typeface="Calibri" pitchFamily="34" charset="-122"/>
                <a:cs typeface="Calibri" pitchFamily="34" charset="-120"/>
              </a:rPr>
              <a:t>Planification spécialisée du traitement, qui comprendra probablement une hormonothérapie</a:t>
            </a:r>
            <a:endParaRPr lang="fr-FR" sz="1632" noProof="0" dirty="0"/>
          </a:p>
        </p:txBody>
      </p:sp>
      <p:sp>
        <p:nvSpPr>
          <p:cNvPr id="31" name="Shape 29"/>
          <p:cNvSpPr/>
          <p:nvPr/>
        </p:nvSpPr>
        <p:spPr>
          <a:xfrm>
            <a:off x="548640" y="5369052"/>
            <a:ext cx="5029200" cy="620268"/>
          </a:xfrm>
          <a:prstGeom prst="roundRect">
            <a:avLst>
              <a:gd name="adj" fmla="val 7371"/>
            </a:avLst>
          </a:prstGeom>
          <a:solidFill>
            <a:srgbClr val="F4F8FC"/>
          </a:solidFill>
          <a:ln w="12700">
            <a:solidFill>
              <a:srgbClr val="C8D8EC"/>
            </a:solidFill>
            <a:prstDash val="solid"/>
          </a:ln>
        </p:spPr>
        <p:txBody>
          <a:bodyPr/>
          <a:lstStyle/>
          <a:p>
            <a:endParaRPr lang="fr-FR" noProof="0" dirty="0"/>
          </a:p>
        </p:txBody>
      </p:sp>
      <p:sp>
        <p:nvSpPr>
          <p:cNvPr id="32" name="Text 30"/>
          <p:cNvSpPr txBox="1"/>
          <p:nvPr/>
        </p:nvSpPr>
        <p:spPr>
          <a:xfrm>
            <a:off x="694944" y="5405628"/>
            <a:ext cx="4736592" cy="547116"/>
          </a:xfrm>
          <a:prstGeom prst="rect">
            <a:avLst/>
          </a:prstGeom>
          <a:noFill/>
          <a:ln/>
        </p:spPr>
        <p:txBody>
          <a:bodyPr wrap="square" lIns="0" tIns="0" rIns="0" bIns="0" rtlCol="0" anchor="ctr">
            <a:normAutofit/>
          </a:bodyPr>
          <a:lstStyle/>
          <a:p>
            <a:pPr marL="0" indent="0">
              <a:lnSpc>
                <a:spcPct val="90000"/>
              </a:lnSpc>
              <a:buNone/>
            </a:pPr>
            <a:r>
              <a:rPr lang="fr-FR" sz="1649" noProof="0" dirty="0">
                <a:solidFill>
                  <a:srgbClr val="0B1F3F"/>
                </a:solidFill>
                <a:latin typeface="Calibri" pitchFamily="34" charset="0"/>
                <a:ea typeface="Calibri" pitchFamily="34" charset="-122"/>
                <a:cs typeface="Calibri" pitchFamily="34" charset="-120"/>
              </a:rPr>
              <a:t>Nouvelle douleur osseuse persistante chez une personne traitée pour un cancer du sein il y a deux ans</a:t>
            </a:r>
            <a:endParaRPr lang="fr-FR" sz="1649" noProof="0" dirty="0"/>
          </a:p>
        </p:txBody>
      </p:sp>
      <p:sp>
        <p:nvSpPr>
          <p:cNvPr id="33" name="Text 31"/>
          <p:cNvSpPr txBox="1"/>
          <p:nvPr/>
        </p:nvSpPr>
        <p:spPr>
          <a:xfrm>
            <a:off x="5577840" y="5369052"/>
            <a:ext cx="457200" cy="620268"/>
          </a:xfrm>
          <a:prstGeom prst="rect">
            <a:avLst/>
          </a:prstGeom>
          <a:noFill/>
          <a:ln/>
        </p:spPr>
        <p:txBody>
          <a:bodyPr wrap="square" lIns="0" tIns="0" rIns="0" bIns="0" rtlCol="0" anchor="ctr"/>
          <a:lstStyle/>
          <a:p>
            <a:pPr marL="0" indent="0" algn="ctr">
              <a:buNone/>
            </a:pPr>
            <a:r>
              <a:rPr lang="fr-FR" sz="2000" b="1" noProof="0" dirty="0">
                <a:solidFill>
                  <a:srgbClr val="C9761A"/>
                </a:solidFill>
                <a:latin typeface="Calibri" pitchFamily="34" charset="0"/>
                <a:ea typeface="Calibri" pitchFamily="34" charset="-122"/>
                <a:cs typeface="Calibri" pitchFamily="34" charset="-120"/>
              </a:rPr>
              <a:t>→</a:t>
            </a:r>
            <a:endParaRPr lang="fr-FR" sz="2000" noProof="0" dirty="0"/>
          </a:p>
        </p:txBody>
      </p:sp>
      <p:sp>
        <p:nvSpPr>
          <p:cNvPr id="34" name="Shape 32"/>
          <p:cNvSpPr/>
          <p:nvPr/>
        </p:nvSpPr>
        <p:spPr>
          <a:xfrm>
            <a:off x="6035040" y="5369052"/>
            <a:ext cx="5608015" cy="620268"/>
          </a:xfrm>
          <a:prstGeom prst="roundRect">
            <a:avLst>
              <a:gd name="adj" fmla="val 7371"/>
            </a:avLst>
          </a:prstGeom>
          <a:solidFill>
            <a:srgbClr val="EAF5EF"/>
          </a:solidFill>
          <a:ln w="12700">
            <a:solidFill>
              <a:srgbClr val="8FC4A9"/>
            </a:solidFill>
            <a:prstDash val="solid"/>
          </a:ln>
        </p:spPr>
        <p:txBody>
          <a:bodyPr/>
          <a:lstStyle/>
          <a:p>
            <a:endParaRPr lang="fr-FR" noProof="0" dirty="0"/>
          </a:p>
        </p:txBody>
      </p:sp>
      <p:sp>
        <p:nvSpPr>
          <p:cNvPr id="35" name="Text 33"/>
          <p:cNvSpPr txBox="1"/>
          <p:nvPr/>
        </p:nvSpPr>
        <p:spPr>
          <a:xfrm>
            <a:off x="6181344" y="5405628"/>
            <a:ext cx="5315407" cy="547116"/>
          </a:xfrm>
          <a:prstGeom prst="rect">
            <a:avLst/>
          </a:prstGeom>
          <a:noFill/>
          <a:ln/>
        </p:spPr>
        <p:txBody>
          <a:bodyPr wrap="square" lIns="0" tIns="0" rIns="0" bIns="0" rtlCol="0" anchor="ctr">
            <a:noAutofit/>
          </a:bodyPr>
          <a:lstStyle/>
          <a:p>
            <a:pPr marL="0" indent="0">
              <a:lnSpc>
                <a:spcPct val="90000"/>
              </a:lnSpc>
              <a:buNone/>
            </a:pPr>
            <a:r>
              <a:rPr lang="fr-FR" sz="1632" noProof="0" dirty="0">
                <a:solidFill>
                  <a:srgbClr val="0B1F3F"/>
                </a:solidFill>
                <a:latin typeface="Calibri" pitchFamily="34" charset="0"/>
                <a:ea typeface="Calibri" pitchFamily="34" charset="-122"/>
                <a:cs typeface="Calibri" pitchFamily="34" charset="-120"/>
              </a:rPr>
              <a:t>Évaluation d’une possible récidive plutôt que simple réassurance</a:t>
            </a:r>
            <a:endParaRPr lang="fr-FR" sz="1632" noProof="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Traitement : Chirurgie</a:t>
            </a:r>
            <a:endParaRPr lang="fr-FR" sz="3000" noProof="0" dirty="0"/>
          </a:p>
        </p:txBody>
      </p:sp>
      <p:grpSp>
        <p:nvGrpSpPr>
          <p:cNvPr id="13" name="Grupo 12">
            <a:extLst>
              <a:ext uri="{FF2B5EF4-FFF2-40B4-BE49-F238E27FC236}">
                <a16:creationId xmlns:a16="http://schemas.microsoft.com/office/drawing/2014/main" id="{44632076-6728-E8CE-FE9F-0B71CE6BD4BF}"/>
              </a:ext>
            </a:extLst>
          </p:cNvPr>
          <p:cNvGrpSpPr/>
          <p:nvPr/>
        </p:nvGrpSpPr>
        <p:grpSpPr>
          <a:xfrm>
            <a:off x="6217920" y="1371599"/>
            <a:ext cx="5425135" cy="4775199"/>
            <a:chOff x="6217920" y="1371599"/>
            <a:chExt cx="5425135" cy="4775199"/>
          </a:xfrm>
        </p:grpSpPr>
        <p:sp>
          <p:nvSpPr>
            <p:cNvPr id="8" name="Shape 6"/>
            <p:cNvSpPr/>
            <p:nvPr/>
          </p:nvSpPr>
          <p:spPr>
            <a:xfrm>
              <a:off x="6217920" y="1371599"/>
              <a:ext cx="5425135" cy="4775199"/>
            </a:xfrm>
            <a:prstGeom prst="roundRect">
              <a:avLst>
                <a:gd name="adj" fmla="val 2308"/>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6382512" y="1463040"/>
              <a:ext cx="5095951"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Mastectomie</a:t>
              </a:r>
              <a:endParaRPr lang="fr-FR" sz="1700" noProof="0" dirty="0"/>
            </a:p>
          </p:txBody>
        </p:sp>
        <p:sp>
          <p:nvSpPr>
            <p:cNvPr id="10" name="Text 8"/>
            <p:cNvSpPr txBox="1"/>
            <p:nvPr/>
          </p:nvSpPr>
          <p:spPr>
            <a:xfrm>
              <a:off x="6382512" y="1801368"/>
              <a:ext cx="5095951" cy="1892808"/>
            </a:xfrm>
            <a:prstGeom prst="rect">
              <a:avLst/>
            </a:prstGeom>
            <a:noFill/>
            <a:ln/>
          </p:spPr>
          <p:txBody>
            <a:bodyPr wrap="square" lIns="0" tIns="0" rIns="0" bIns="0" rtlCol="0" anchor="t">
              <a:noAutofit/>
            </a:bodyPr>
            <a:lstStyle/>
            <a:p>
              <a:pPr marL="0" indent="0">
                <a:lnSpc>
                  <a:spcPct val="90000"/>
                </a:lnSpc>
                <a:buNone/>
              </a:pPr>
              <a:r>
                <a:rPr lang="fr-FR" sz="1656" noProof="0" dirty="0">
                  <a:solidFill>
                    <a:srgbClr val="1F3A63"/>
                  </a:solidFill>
                  <a:latin typeface="Calibri" pitchFamily="34" charset="0"/>
                  <a:ea typeface="Calibri" pitchFamily="34" charset="-122"/>
                  <a:cs typeface="Calibri" pitchFamily="34" charset="-120"/>
                </a:rPr>
                <a:t>La totalité ou la majeure partie du tissu mammaire est retirée. Elle peut être choisie en raison de la taille de la tumeur par rapport au sein, de plusieurs tumeurs, d’une radiothérapie antérieure ou de la préférence de la personne. Ce n’est pas forcément le signe d’une maladie plus avancée.</a:t>
              </a:r>
              <a:endParaRPr lang="fr-FR" sz="1656" noProof="0" dirty="0"/>
            </a:p>
          </p:txBody>
        </p:sp>
      </p:grpSp>
      <p:grpSp>
        <p:nvGrpSpPr>
          <p:cNvPr id="12" name="Grupo 11">
            <a:extLst>
              <a:ext uri="{FF2B5EF4-FFF2-40B4-BE49-F238E27FC236}">
                <a16:creationId xmlns:a16="http://schemas.microsoft.com/office/drawing/2014/main" id="{9B3E1018-2723-15A6-8E94-D088AF938D96}"/>
              </a:ext>
            </a:extLst>
          </p:cNvPr>
          <p:cNvGrpSpPr/>
          <p:nvPr/>
        </p:nvGrpSpPr>
        <p:grpSpPr>
          <a:xfrm>
            <a:off x="548640" y="1371600"/>
            <a:ext cx="5394960" cy="4775200"/>
            <a:chOff x="548640" y="1371600"/>
            <a:chExt cx="5394960" cy="4775200"/>
          </a:xfrm>
        </p:grpSpPr>
        <p:sp>
          <p:nvSpPr>
            <p:cNvPr id="5" name="Shape 3"/>
            <p:cNvSpPr/>
            <p:nvPr/>
          </p:nvSpPr>
          <p:spPr>
            <a:xfrm>
              <a:off x="548640" y="1371600"/>
              <a:ext cx="5394960" cy="4775200"/>
            </a:xfrm>
            <a:prstGeom prst="roundRect">
              <a:avLst>
                <a:gd name="adj" fmla="val 2308"/>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463040"/>
              <a:ext cx="506577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Chirurgie conservatrice du sein</a:t>
              </a:r>
              <a:endParaRPr lang="fr-FR" sz="1700" noProof="0" dirty="0"/>
            </a:p>
          </p:txBody>
        </p:sp>
        <p:sp>
          <p:nvSpPr>
            <p:cNvPr id="7" name="Text 5"/>
            <p:cNvSpPr txBox="1"/>
            <p:nvPr/>
          </p:nvSpPr>
          <p:spPr>
            <a:xfrm>
              <a:off x="713232" y="1801368"/>
              <a:ext cx="5065776" cy="1892808"/>
            </a:xfrm>
            <a:prstGeom prst="rect">
              <a:avLst/>
            </a:prstGeom>
            <a:noFill/>
            <a:ln/>
          </p:spPr>
          <p:txBody>
            <a:bodyPr wrap="square" lIns="0" tIns="0" rIns="0" bIns="0" rtlCol="0" anchor="t"/>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La tumeur est retirée avec une marge de tissu sain et une grande partie du sein est conservée. Une radiothérapie suit généralement, ce qui suppose qu’elle soit accessible. Elle convient à beaucoup de patientes, mais pas à toutes.</a:t>
              </a:r>
              <a:endParaRPr lang="fr-FR" sz="1800" noProof="0" dirty="0"/>
            </a:p>
          </p:txBody>
        </p:sp>
      </p:grpSp>
      <p:pic>
        <p:nvPicPr>
          <p:cNvPr id="14" name="Imagen 13">
            <a:extLst>
              <a:ext uri="{FF2B5EF4-FFF2-40B4-BE49-F238E27FC236}">
                <a16:creationId xmlns:a16="http://schemas.microsoft.com/office/drawing/2014/main" id="{ABC9D35C-3374-D8E9-4283-705919B9C99D}"/>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25589" y="3408242"/>
            <a:ext cx="5031956" cy="2237614"/>
          </a:xfrm>
          <a:prstGeom prst="rect">
            <a:avLst/>
          </a:prstGeom>
        </p:spPr>
      </p:pic>
      <p:pic>
        <p:nvPicPr>
          <p:cNvPr id="15" name="Imagen 14">
            <a:extLst>
              <a:ext uri="{FF2B5EF4-FFF2-40B4-BE49-F238E27FC236}">
                <a16:creationId xmlns:a16="http://schemas.microsoft.com/office/drawing/2014/main" id="{DEB229FC-34F1-C4A1-6C16-7F3927015E82}"/>
              </a:ext>
            </a:extLst>
          </p:cNvPr>
          <p:cNvPicPr>
            <a:picLocks noChangeAspect="1"/>
          </p:cNvPicPr>
          <p:nvPr/>
        </p:nvPicPr>
        <p:blipFill>
          <a:blip r:embed="rId4"/>
          <a:stretch>
            <a:fillRect/>
          </a:stretch>
        </p:blipFill>
        <p:spPr>
          <a:xfrm>
            <a:off x="6382512" y="3429000"/>
            <a:ext cx="5095951" cy="2545102"/>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0E51CE-8E74-BBBA-967E-793F43CFBE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65859E-27FA-54D3-61B8-EE31C3D63770}"/>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a:extLst>
              <a:ext uri="{FF2B5EF4-FFF2-40B4-BE49-F238E27FC236}">
                <a16:creationId xmlns:a16="http://schemas.microsoft.com/office/drawing/2014/main" id="{85D728C7-2DA9-4404-15AB-E65F731E5BD7}"/>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E6B58A70-9CEE-D65B-7F3C-DBEAE9A5C16E}"/>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Traitement : Chirurgie</a:t>
            </a:r>
            <a:endParaRPr lang="fr-FR" sz="3000" noProof="0" dirty="0"/>
          </a:p>
        </p:txBody>
      </p:sp>
      <p:sp>
        <p:nvSpPr>
          <p:cNvPr id="11" name="Shape 9">
            <a:extLst>
              <a:ext uri="{FF2B5EF4-FFF2-40B4-BE49-F238E27FC236}">
                <a16:creationId xmlns:a16="http://schemas.microsoft.com/office/drawing/2014/main" id="{CD8169DD-E1BE-9372-8F61-6618C87309E1}"/>
              </a:ext>
            </a:extLst>
          </p:cNvPr>
          <p:cNvSpPr/>
          <p:nvPr/>
        </p:nvSpPr>
        <p:spPr>
          <a:xfrm>
            <a:off x="548640" y="1222592"/>
            <a:ext cx="3527450" cy="1920240"/>
          </a:xfrm>
          <a:prstGeom prst="roundRect">
            <a:avLst>
              <a:gd name="adj" fmla="val 2857"/>
            </a:avLst>
          </a:prstGeom>
          <a:solidFill>
            <a:srgbClr val="F4F8FC"/>
          </a:solidFill>
          <a:ln w="12700">
            <a:solidFill>
              <a:srgbClr val="C8D8EC"/>
            </a:solidFill>
            <a:prstDash val="solid"/>
          </a:ln>
        </p:spPr>
        <p:txBody>
          <a:bodyPr/>
          <a:lstStyle/>
          <a:p>
            <a:endParaRPr lang="fr-FR" noProof="0" dirty="0"/>
          </a:p>
        </p:txBody>
      </p:sp>
      <p:sp>
        <p:nvSpPr>
          <p:cNvPr id="12" name="Text 10">
            <a:extLst>
              <a:ext uri="{FF2B5EF4-FFF2-40B4-BE49-F238E27FC236}">
                <a16:creationId xmlns:a16="http://schemas.microsoft.com/office/drawing/2014/main" id="{048B5DB4-1551-432A-A898-54D6720CC172}"/>
              </a:ext>
            </a:extLst>
          </p:cNvPr>
          <p:cNvSpPr txBox="1"/>
          <p:nvPr/>
        </p:nvSpPr>
        <p:spPr>
          <a:xfrm>
            <a:off x="713232" y="1314032"/>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De quoi dépend le choix</a:t>
            </a:r>
            <a:endParaRPr lang="fr-FR" sz="1700" noProof="0" dirty="0"/>
          </a:p>
        </p:txBody>
      </p:sp>
      <p:sp>
        <p:nvSpPr>
          <p:cNvPr id="13" name="Text 11">
            <a:extLst>
              <a:ext uri="{FF2B5EF4-FFF2-40B4-BE49-F238E27FC236}">
                <a16:creationId xmlns:a16="http://schemas.microsoft.com/office/drawing/2014/main" id="{EDC596F3-B82B-EE62-F4B9-80ADB6F87D0F}"/>
              </a:ext>
            </a:extLst>
          </p:cNvPr>
          <p:cNvSpPr txBox="1"/>
          <p:nvPr/>
        </p:nvSpPr>
        <p:spPr>
          <a:xfrm>
            <a:off x="713232" y="1652360"/>
            <a:ext cx="3198266" cy="1435608"/>
          </a:xfrm>
          <a:prstGeom prst="rect">
            <a:avLst/>
          </a:prstGeom>
          <a:noFill/>
          <a:ln/>
        </p:spPr>
        <p:txBody>
          <a:bodyPr wrap="square" lIns="0" tIns="0" rIns="0" bIns="0" rtlCol="0" anchor="t">
            <a:normAutofit fontScale="99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La taille et l’étendue de la tumeur, le volume du sein, le stade, l’accès à la radiothérapie, l’état de santé de la personne et, surtout, ses préférences.</a:t>
            </a:r>
            <a:endParaRPr lang="fr-FR" sz="1800" noProof="0" dirty="0"/>
          </a:p>
        </p:txBody>
      </p:sp>
      <p:sp>
        <p:nvSpPr>
          <p:cNvPr id="14" name="Shape 12">
            <a:extLst>
              <a:ext uri="{FF2B5EF4-FFF2-40B4-BE49-F238E27FC236}">
                <a16:creationId xmlns:a16="http://schemas.microsoft.com/office/drawing/2014/main" id="{46B9D5F2-3694-1024-181F-36DDB971F8E6}"/>
              </a:ext>
            </a:extLst>
          </p:cNvPr>
          <p:cNvSpPr/>
          <p:nvPr/>
        </p:nvSpPr>
        <p:spPr>
          <a:xfrm>
            <a:off x="4332122" y="1222592"/>
            <a:ext cx="3527450" cy="1920240"/>
          </a:xfrm>
          <a:prstGeom prst="roundRect">
            <a:avLst>
              <a:gd name="adj" fmla="val 2857"/>
            </a:avLst>
          </a:prstGeom>
          <a:solidFill>
            <a:srgbClr val="F4F8FC"/>
          </a:solidFill>
          <a:ln w="12700">
            <a:solidFill>
              <a:srgbClr val="C8D8EC"/>
            </a:solidFill>
            <a:prstDash val="solid"/>
          </a:ln>
        </p:spPr>
        <p:txBody>
          <a:bodyPr/>
          <a:lstStyle/>
          <a:p>
            <a:endParaRPr lang="fr-FR" noProof="0" dirty="0"/>
          </a:p>
        </p:txBody>
      </p:sp>
      <p:sp>
        <p:nvSpPr>
          <p:cNvPr id="15" name="Text 13">
            <a:extLst>
              <a:ext uri="{FF2B5EF4-FFF2-40B4-BE49-F238E27FC236}">
                <a16:creationId xmlns:a16="http://schemas.microsoft.com/office/drawing/2014/main" id="{15BF9DA2-B32A-06C8-38AB-3C9C42E69B83}"/>
              </a:ext>
            </a:extLst>
          </p:cNvPr>
          <p:cNvSpPr txBox="1"/>
          <p:nvPr/>
        </p:nvSpPr>
        <p:spPr>
          <a:xfrm>
            <a:off x="4496714" y="1314032"/>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Reconstruction</a:t>
            </a:r>
            <a:endParaRPr lang="fr-FR" sz="1700" noProof="0" dirty="0"/>
          </a:p>
        </p:txBody>
      </p:sp>
      <p:sp>
        <p:nvSpPr>
          <p:cNvPr id="16" name="Text 14">
            <a:extLst>
              <a:ext uri="{FF2B5EF4-FFF2-40B4-BE49-F238E27FC236}">
                <a16:creationId xmlns:a16="http://schemas.microsoft.com/office/drawing/2014/main" id="{0F8FABB0-5DDA-A1E4-9885-FC8E05BD9602}"/>
              </a:ext>
            </a:extLst>
          </p:cNvPr>
          <p:cNvSpPr txBox="1"/>
          <p:nvPr/>
        </p:nvSpPr>
        <p:spPr>
          <a:xfrm>
            <a:off x="4496714" y="1652360"/>
            <a:ext cx="3198266" cy="1435608"/>
          </a:xfrm>
          <a:prstGeom prst="rect">
            <a:avLst/>
          </a:prstGeom>
          <a:noFill/>
          <a:ln/>
        </p:spPr>
        <p:txBody>
          <a:bodyPr wrap="square" lIns="0" tIns="0" rIns="0" bIns="0" rtlCol="0" anchor="t">
            <a:normAutofit fontScale="99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Une reconstruction peut être envisagée dans certains contextes et pour certaines patientes. Ne la promettez pas sans avoir vérifié ce qui est disponible.</a:t>
            </a:r>
            <a:endParaRPr lang="fr-FR" sz="1800" noProof="0" dirty="0"/>
          </a:p>
        </p:txBody>
      </p:sp>
      <p:sp>
        <p:nvSpPr>
          <p:cNvPr id="17" name="Shape 15">
            <a:extLst>
              <a:ext uri="{FF2B5EF4-FFF2-40B4-BE49-F238E27FC236}">
                <a16:creationId xmlns:a16="http://schemas.microsoft.com/office/drawing/2014/main" id="{0BB78F74-1019-DC28-7569-3F11D045D0A8}"/>
              </a:ext>
            </a:extLst>
          </p:cNvPr>
          <p:cNvSpPr/>
          <p:nvPr/>
        </p:nvSpPr>
        <p:spPr>
          <a:xfrm>
            <a:off x="8115605" y="1222592"/>
            <a:ext cx="3527450" cy="1920240"/>
          </a:xfrm>
          <a:prstGeom prst="roundRect">
            <a:avLst>
              <a:gd name="adj" fmla="val 2857"/>
            </a:avLst>
          </a:prstGeom>
          <a:solidFill>
            <a:srgbClr val="F4F8FC"/>
          </a:solidFill>
          <a:ln w="12700">
            <a:solidFill>
              <a:srgbClr val="C8D8EC"/>
            </a:solidFill>
            <a:prstDash val="solid"/>
          </a:ln>
        </p:spPr>
        <p:txBody>
          <a:bodyPr/>
          <a:lstStyle/>
          <a:p>
            <a:endParaRPr lang="fr-FR" noProof="0" dirty="0"/>
          </a:p>
        </p:txBody>
      </p:sp>
      <p:sp>
        <p:nvSpPr>
          <p:cNvPr id="18" name="Text 16">
            <a:extLst>
              <a:ext uri="{FF2B5EF4-FFF2-40B4-BE49-F238E27FC236}">
                <a16:creationId xmlns:a16="http://schemas.microsoft.com/office/drawing/2014/main" id="{13236808-97F1-AC3E-1D40-D7EB4FE4DD7F}"/>
              </a:ext>
            </a:extLst>
          </p:cNvPr>
          <p:cNvSpPr txBox="1"/>
          <p:nvPr/>
        </p:nvSpPr>
        <p:spPr>
          <a:xfrm>
            <a:off x="8280197" y="1314032"/>
            <a:ext cx="319826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Ce qu’il faut dire tôt</a:t>
            </a:r>
            <a:endParaRPr lang="fr-FR" sz="1700" noProof="0" dirty="0"/>
          </a:p>
        </p:txBody>
      </p:sp>
      <p:sp>
        <p:nvSpPr>
          <p:cNvPr id="19" name="Text 17">
            <a:extLst>
              <a:ext uri="{FF2B5EF4-FFF2-40B4-BE49-F238E27FC236}">
                <a16:creationId xmlns:a16="http://schemas.microsoft.com/office/drawing/2014/main" id="{25EC1F32-CE54-E9AE-632F-B6C350EE17AA}"/>
              </a:ext>
            </a:extLst>
          </p:cNvPr>
          <p:cNvSpPr txBox="1"/>
          <p:nvPr/>
        </p:nvSpPr>
        <p:spPr>
          <a:xfrm>
            <a:off x="8280197" y="1652360"/>
            <a:ext cx="3198266" cy="1435608"/>
          </a:xfrm>
          <a:prstGeom prst="rect">
            <a:avLst/>
          </a:prstGeom>
          <a:noFill/>
          <a:ln/>
        </p:spPr>
        <p:txBody>
          <a:bodyPr wrap="square" lIns="0" tIns="0" rIns="0" bIns="0" rtlCol="0" anchor="t">
            <a:normAutofit fontScale="99000" lnSpcReduction="10000"/>
          </a:bodyPr>
          <a:lstStyle/>
          <a:p>
            <a:pPr marL="0" indent="0">
              <a:lnSpc>
                <a:spcPct val="90000"/>
              </a:lnSpc>
              <a:buNone/>
            </a:pPr>
            <a:r>
              <a:rPr lang="fr-FR" sz="1800" noProof="0" dirty="0">
                <a:solidFill>
                  <a:srgbClr val="1F3A63"/>
                </a:solidFill>
                <a:latin typeface="Calibri" pitchFamily="34" charset="0"/>
                <a:ea typeface="Calibri" pitchFamily="34" charset="-122"/>
                <a:cs typeface="Calibri" pitchFamily="34" charset="-120"/>
              </a:rPr>
              <a:t>Dites clairement que la mastectomie n’est pas nécessaire pour tout le monde. Cette seule phrase lève l’un des plus grands obstacles à la venue en consultation.</a:t>
            </a:r>
            <a:endParaRPr lang="fr-FR" sz="1800" noProof="0" dirty="0"/>
          </a:p>
        </p:txBody>
      </p:sp>
      <p:pic>
        <p:nvPicPr>
          <p:cNvPr id="5" name="Imagen 4">
            <a:extLst>
              <a:ext uri="{FF2B5EF4-FFF2-40B4-BE49-F238E27FC236}">
                <a16:creationId xmlns:a16="http://schemas.microsoft.com/office/drawing/2014/main" id="{44FE6862-84D3-78C7-70A6-94078018E15B}"/>
              </a:ext>
            </a:extLst>
          </p:cNvPr>
          <p:cNvPicPr>
            <a:picLocks noChangeAspect="1"/>
          </p:cNvPicPr>
          <p:nvPr/>
        </p:nvPicPr>
        <p:blipFill>
          <a:blip r:embed="rId3"/>
          <a:stretch>
            <a:fillRect/>
          </a:stretch>
        </p:blipFill>
        <p:spPr>
          <a:xfrm>
            <a:off x="678070" y="3249609"/>
            <a:ext cx="3181065" cy="2385799"/>
          </a:xfrm>
          <a:prstGeom prst="rect">
            <a:avLst/>
          </a:prstGeom>
        </p:spPr>
      </p:pic>
      <p:pic>
        <p:nvPicPr>
          <p:cNvPr id="6" name="Imagen 5">
            <a:extLst>
              <a:ext uri="{FF2B5EF4-FFF2-40B4-BE49-F238E27FC236}">
                <a16:creationId xmlns:a16="http://schemas.microsoft.com/office/drawing/2014/main" id="{34F0FD91-DC48-380B-1C93-FA50A1F5FB45}"/>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332123" y="3249609"/>
            <a:ext cx="3527450" cy="2209654"/>
          </a:xfrm>
          <a:prstGeom prst="rect">
            <a:avLst/>
          </a:prstGeom>
        </p:spPr>
      </p:pic>
      <p:pic>
        <p:nvPicPr>
          <p:cNvPr id="7" name="Imagen 6">
            <a:extLst>
              <a:ext uri="{FF2B5EF4-FFF2-40B4-BE49-F238E27FC236}">
                <a16:creationId xmlns:a16="http://schemas.microsoft.com/office/drawing/2014/main" id="{C81F6EB6-E76B-57C0-DD17-73E7AEC04114}"/>
              </a:ext>
            </a:extLst>
          </p:cNvPr>
          <p:cNvPicPr>
            <a:picLocks noChangeAspect="1"/>
          </p:cNvPicPr>
          <p:nvPr/>
        </p:nvPicPr>
        <p:blipFill>
          <a:blip r:embed="rId5"/>
          <a:stretch>
            <a:fillRect/>
          </a:stretch>
        </p:blipFill>
        <p:spPr>
          <a:xfrm>
            <a:off x="8280197" y="3249609"/>
            <a:ext cx="3198266" cy="2398700"/>
          </a:xfrm>
          <a:prstGeom prst="rect">
            <a:avLst/>
          </a:prstGeom>
        </p:spPr>
      </p:pic>
    </p:spTree>
    <p:extLst>
      <p:ext uri="{BB962C8B-B14F-4D97-AF65-F5344CB8AC3E}">
        <p14:creationId xmlns:p14="http://schemas.microsoft.com/office/powerpoint/2010/main" val="206901339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Prise en charge de l’aisselle</a:t>
            </a:r>
            <a:endParaRPr lang="fr-FR" sz="3000" noProof="0" dirty="0"/>
          </a:p>
        </p:txBody>
      </p:sp>
      <p:sp>
        <p:nvSpPr>
          <p:cNvPr id="5" name="Shape 3"/>
          <p:cNvSpPr/>
          <p:nvPr/>
        </p:nvSpPr>
        <p:spPr>
          <a:xfrm>
            <a:off x="548639" y="1371600"/>
            <a:ext cx="11094415" cy="4261104"/>
          </a:xfrm>
          <a:prstGeom prst="roundRect">
            <a:avLst>
              <a:gd name="adj" fmla="val 2844"/>
            </a:avLst>
          </a:prstGeom>
          <a:solidFill>
            <a:srgbClr val="F4F8FC"/>
          </a:solidFill>
          <a:ln w="12700">
            <a:solidFill>
              <a:srgbClr val="C8D8EC"/>
            </a:solidFill>
            <a:prstDash val="solid"/>
          </a:ln>
        </p:spPr>
        <p:txBody>
          <a:bodyPr/>
          <a:lstStyle/>
          <a:p>
            <a:endParaRPr lang="fr-FR" noProof="0" dirty="0"/>
          </a:p>
        </p:txBody>
      </p:sp>
      <p:sp>
        <p:nvSpPr>
          <p:cNvPr id="7" name="Text 5"/>
          <p:cNvSpPr txBox="1"/>
          <p:nvPr/>
        </p:nvSpPr>
        <p:spPr>
          <a:xfrm>
            <a:off x="831766" y="1615102"/>
            <a:ext cx="5264234" cy="1444752"/>
          </a:xfrm>
          <a:prstGeom prst="rect">
            <a:avLst/>
          </a:prstGeom>
          <a:noFill/>
          <a:ln/>
        </p:spPr>
        <p:txBody>
          <a:bodyPr wrap="square" lIns="0" tIns="0" rIns="0" bIns="0" rtlCol="0" anchor="t">
            <a:noAutofit/>
          </a:bodyPr>
          <a:lstStyle/>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Évaluer les ganglions axillaires : </a:t>
            </a:r>
            <a:r>
              <a:rPr lang="fr-FR" noProof="0" dirty="0">
                <a:solidFill>
                  <a:srgbClr val="1F3A63"/>
                </a:solidFill>
                <a:latin typeface="Calibri" pitchFamily="34" charset="0"/>
                <a:ea typeface="Calibri" pitchFamily="34" charset="-122"/>
                <a:cs typeface="Calibri" pitchFamily="34" charset="-120"/>
              </a:rPr>
              <a:t>l’atteinte ganglionnaire indique jusqu’où le cancer s’est propagé et guide le traitement.</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Technique du ganglion sentinelle : </a:t>
            </a:r>
            <a:r>
              <a:rPr lang="fr-FR" noProof="0" dirty="0">
                <a:solidFill>
                  <a:srgbClr val="1F3A63"/>
                </a:solidFill>
                <a:latin typeface="Calibri" pitchFamily="34" charset="0"/>
                <a:ea typeface="Calibri" pitchFamily="34" charset="-122"/>
                <a:cs typeface="Calibri" pitchFamily="34" charset="-120"/>
              </a:rPr>
              <a:t>retrait du ou des premiers ganglions de drainage ; s’ils sont indemnes, un curage plus étendu peut être évité.</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Curage axillaire : </a:t>
            </a:r>
            <a:r>
              <a:rPr lang="fr-FR" noProof="0" dirty="0">
                <a:solidFill>
                  <a:srgbClr val="1F3A63"/>
                </a:solidFill>
                <a:latin typeface="Calibri" pitchFamily="34" charset="0"/>
                <a:ea typeface="Calibri" pitchFamily="34" charset="-122"/>
                <a:cs typeface="Calibri" pitchFamily="34" charset="-120"/>
              </a:rPr>
              <a:t>retrait d’un groupe plus important de ganglions lorsque c’est indiqué.</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Éviter une chirurgie inutile : </a:t>
            </a:r>
            <a:r>
              <a:rPr lang="fr-FR" noProof="0" dirty="0">
                <a:solidFill>
                  <a:srgbClr val="1F3A63"/>
                </a:solidFill>
                <a:latin typeface="Calibri" pitchFamily="34" charset="0"/>
                <a:ea typeface="Calibri" pitchFamily="34" charset="-122"/>
                <a:cs typeface="Calibri" pitchFamily="34" charset="-120"/>
              </a:rPr>
              <a:t>un retrait plus étendu des ganglions augmente le risque de lymphœdème.</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Après le traitement : </a:t>
            </a:r>
            <a:r>
              <a:rPr lang="fr-FR" noProof="0" dirty="0">
                <a:solidFill>
                  <a:srgbClr val="1F3A63"/>
                </a:solidFill>
                <a:latin typeface="Calibri" pitchFamily="34" charset="0"/>
                <a:ea typeface="Calibri" pitchFamily="34" charset="-122"/>
                <a:cs typeface="Calibri" pitchFamily="34" charset="-120"/>
              </a:rPr>
              <a:t>la chirurgie axillaire ou la radiothérapie peuvent perturber le drainage lymphatique.</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Dites à la patiente de signaler : </a:t>
            </a:r>
            <a:r>
              <a:rPr lang="fr-FR" noProof="0" dirty="0">
                <a:solidFill>
                  <a:srgbClr val="1F3A63"/>
                </a:solidFill>
                <a:latin typeface="Calibri" pitchFamily="34" charset="0"/>
                <a:ea typeface="Calibri" pitchFamily="34" charset="-122"/>
                <a:cs typeface="Calibri" pitchFamily="34" charset="-120"/>
              </a:rPr>
              <a:t>un nouveau gonflement, une lourdeur ou une tension du bras.</a:t>
            </a:r>
          </a:p>
        </p:txBody>
      </p:sp>
      <p:pic>
        <p:nvPicPr>
          <p:cNvPr id="25" name="Imagen 24">
            <a:extLst>
              <a:ext uri="{FF2B5EF4-FFF2-40B4-BE49-F238E27FC236}">
                <a16:creationId xmlns:a16="http://schemas.microsoft.com/office/drawing/2014/main" id="{8FFEEBA3-66E6-4CAF-4108-98B49811DB19}"/>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6163578" y="1615102"/>
            <a:ext cx="5148003" cy="3871298"/>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r>
              <a:rPr lang="fr-FR" sz="3000" b="1" dirty="0">
                <a:solidFill>
                  <a:srgbClr val="12315B"/>
                </a:solidFill>
                <a:latin typeface="Calibri" pitchFamily="34" charset="0"/>
                <a:ea typeface="Calibri" pitchFamily="34" charset="-122"/>
                <a:cs typeface="Calibri" pitchFamily="34" charset="-120"/>
              </a:rPr>
              <a:t>Traitement : Radiothérapie</a:t>
            </a:r>
            <a:endParaRPr lang="fr-FR" sz="3000" noProof="0" dirty="0"/>
          </a:p>
        </p:txBody>
      </p:sp>
      <p:sp>
        <p:nvSpPr>
          <p:cNvPr id="5" name="Shape 3"/>
          <p:cNvSpPr/>
          <p:nvPr/>
        </p:nvSpPr>
        <p:spPr>
          <a:xfrm>
            <a:off x="548640" y="1371600"/>
            <a:ext cx="11094414" cy="4160520"/>
          </a:xfrm>
          <a:prstGeom prst="roundRect">
            <a:avLst>
              <a:gd name="adj" fmla="val 131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463040"/>
            <a:ext cx="506577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Radiothérapie</a:t>
            </a:r>
            <a:endParaRPr lang="fr-FR" sz="1700" noProof="0" dirty="0"/>
          </a:p>
        </p:txBody>
      </p:sp>
      <p:sp>
        <p:nvSpPr>
          <p:cNvPr id="7" name="Text 5"/>
          <p:cNvSpPr txBox="1"/>
          <p:nvPr/>
        </p:nvSpPr>
        <p:spPr>
          <a:xfrm>
            <a:off x="713232" y="1828800"/>
            <a:ext cx="5065776" cy="3611880"/>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Les rayonnements ionisants endommagent l’ADN des cellules cancéreuses, qui ne peuvent plus se diviser ni survivre</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Elle agit localement ou </a:t>
            </a:r>
            <a:r>
              <a:rPr lang="fr-FR" sz="1552" noProof="0" dirty="0" err="1">
                <a:solidFill>
                  <a:srgbClr val="0B1F3F"/>
                </a:solidFill>
                <a:latin typeface="Calibri" pitchFamily="34" charset="0"/>
                <a:ea typeface="Calibri" pitchFamily="34" charset="-122"/>
                <a:cs typeface="Calibri" pitchFamily="34" charset="-120"/>
              </a:rPr>
              <a:t>locorégionalement</a:t>
            </a:r>
            <a:r>
              <a:rPr lang="fr-FR" sz="1552" noProof="0" dirty="0">
                <a:solidFill>
                  <a:srgbClr val="0B1F3F"/>
                </a:solidFill>
                <a:latin typeface="Calibri" pitchFamily="34" charset="0"/>
                <a:ea typeface="Calibri" pitchFamily="34" charset="-122"/>
                <a:cs typeface="Calibri" pitchFamily="34" charset="-120"/>
              </a:rPr>
              <a:t>, uniquement là où elle est dirigée</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Généralement délivrée après une chirurgie conservatrice du sein</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Délivrée après une mastectomie chez certaines patientes, par exemple en cas de tumeur volumineuse ou de ganglions atteints</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Utilisée aussi pour soulager des symptômes, par exemple des métastases osseuses douloureuses</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Effets fréquents : fatigue et réaction de la peau dans la zone traitée, qui régressent généralement après le traitement</a:t>
            </a:r>
            <a:endParaRPr lang="fr-FR" sz="1552" noProof="0" dirty="0"/>
          </a:p>
        </p:txBody>
      </p:sp>
      <p:sp>
        <p:nvSpPr>
          <p:cNvPr id="11" name="Shape 9"/>
          <p:cNvSpPr/>
          <p:nvPr/>
        </p:nvSpPr>
        <p:spPr>
          <a:xfrm>
            <a:off x="548640" y="5669280"/>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12" name="Text 10"/>
          <p:cNvSpPr txBox="1"/>
          <p:nvPr/>
        </p:nvSpPr>
        <p:spPr>
          <a:xfrm>
            <a:off x="713232" y="5742432"/>
            <a:ext cx="10765231" cy="420624"/>
          </a:xfrm>
          <a:prstGeom prst="rect">
            <a:avLst/>
          </a:prstGeom>
          <a:noFill/>
          <a:ln/>
        </p:spPr>
        <p:txBody>
          <a:bodyPr wrap="square" lIns="0" tIns="0" rIns="0" bIns="0" rtlCol="0" anchor="ct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Le Rwanda Cancer Centre à Kigali est le seul centre de radiothérapie du pays : la radiothérapie implique donc des déplacements et du temps loin de chez soi. Abordez ce point au moment de l’orientation plutôt qu’au moment du traitement.</a:t>
            </a:r>
            <a:endParaRPr lang="fr-FR" sz="1300" noProof="0" dirty="0"/>
          </a:p>
        </p:txBody>
      </p:sp>
      <p:grpSp>
        <p:nvGrpSpPr>
          <p:cNvPr id="17" name="Grupo 16">
            <a:extLst>
              <a:ext uri="{FF2B5EF4-FFF2-40B4-BE49-F238E27FC236}">
                <a16:creationId xmlns:a16="http://schemas.microsoft.com/office/drawing/2014/main" id="{DE9C3B31-496F-5D0D-721D-824290BE75C5}"/>
              </a:ext>
            </a:extLst>
          </p:cNvPr>
          <p:cNvGrpSpPr/>
          <p:nvPr/>
        </p:nvGrpSpPr>
        <p:grpSpPr>
          <a:xfrm>
            <a:off x="6806031" y="1546860"/>
            <a:ext cx="3810000" cy="3810000"/>
            <a:chOff x="6806031" y="1546860"/>
            <a:chExt cx="3810000" cy="3810000"/>
          </a:xfrm>
        </p:grpSpPr>
        <p:pic>
          <p:nvPicPr>
            <p:cNvPr id="13" name="Imagen 12">
              <a:extLst>
                <a:ext uri="{FF2B5EF4-FFF2-40B4-BE49-F238E27FC236}">
                  <a16:creationId xmlns:a16="http://schemas.microsoft.com/office/drawing/2014/main" id="{BD047B32-B219-4E54-9F21-DAD2D5D5D759}"/>
                </a:ext>
              </a:extLst>
            </p:cNvPr>
            <p:cNvPicPr>
              <a:picLocks noChangeAspect="1"/>
            </p:cNvPicPr>
            <p:nvPr/>
          </p:nvPicPr>
          <p:blipFill>
            <a:blip r:embed="rId3"/>
            <a:stretch>
              <a:fillRect/>
            </a:stretch>
          </p:blipFill>
          <p:spPr>
            <a:xfrm>
              <a:off x="6806031" y="1546860"/>
              <a:ext cx="3810000" cy="3810000"/>
            </a:xfrm>
            <a:prstGeom prst="rect">
              <a:avLst/>
            </a:prstGeom>
          </p:spPr>
        </p:pic>
        <p:pic>
          <p:nvPicPr>
            <p:cNvPr id="15" name="Imagen 14">
              <a:extLst>
                <a:ext uri="{FF2B5EF4-FFF2-40B4-BE49-F238E27FC236}">
                  <a16:creationId xmlns:a16="http://schemas.microsoft.com/office/drawing/2014/main" id="{1FB93542-9E1C-F46C-95F6-D916A9E83707}"/>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7111776" y="4645606"/>
              <a:ext cx="232731" cy="260502"/>
            </a:xfrm>
            <a:prstGeom prst="ellipse">
              <a:avLst/>
            </a:prstGeom>
          </p:spPr>
        </p:pic>
        <p:pic>
          <p:nvPicPr>
            <p:cNvPr id="16" name="Imagen 15">
              <a:extLst>
                <a:ext uri="{FF2B5EF4-FFF2-40B4-BE49-F238E27FC236}">
                  <a16:creationId xmlns:a16="http://schemas.microsoft.com/office/drawing/2014/main" id="{A7C33F54-1C2C-8097-A6C1-9F29E4F249C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8078930" y="4645606"/>
              <a:ext cx="232731" cy="260502"/>
            </a:xfrm>
            <a:prstGeom prst="ellipse">
              <a:avLst/>
            </a:prstGeom>
          </p:spPr>
        </p:pic>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F3A2676-D448-FD46-674F-8B80CC6D6D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9E9BCD-AF25-7F09-FECD-AD55728B60D8}"/>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a:extLst>
              <a:ext uri="{FF2B5EF4-FFF2-40B4-BE49-F238E27FC236}">
                <a16:creationId xmlns:a16="http://schemas.microsoft.com/office/drawing/2014/main" id="{51434F83-64D0-10F8-EA20-FD2C1134EF48}"/>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C6831267-366A-3A9C-1C04-5DBA06CFAE47}"/>
              </a:ext>
            </a:extLst>
          </p:cNvPr>
          <p:cNvSpPr txBox="1"/>
          <p:nvPr/>
        </p:nvSpPr>
        <p:spPr>
          <a:xfrm>
            <a:off x="548640" y="566928"/>
            <a:ext cx="11094415" cy="566928"/>
          </a:xfrm>
          <a:prstGeom prst="rect">
            <a:avLst/>
          </a:prstGeom>
          <a:noFill/>
          <a:ln/>
        </p:spPr>
        <p:txBody>
          <a:bodyPr wrap="square" lIns="0" tIns="0" rIns="0" bIns="0" rtlCol="0" anchor="t"/>
          <a:lstStyle/>
          <a:p>
            <a:r>
              <a:rPr lang="fr-FR" sz="3000" b="1" dirty="0">
                <a:solidFill>
                  <a:srgbClr val="12315B"/>
                </a:solidFill>
                <a:latin typeface="Calibri" pitchFamily="34" charset="0"/>
                <a:ea typeface="Calibri" pitchFamily="34" charset="-122"/>
                <a:cs typeface="Calibri" pitchFamily="34" charset="-120"/>
              </a:rPr>
              <a:t>Traitement : hormonothérapie</a:t>
            </a:r>
            <a:endParaRPr lang="fr-FR" sz="3000" noProof="0" dirty="0"/>
          </a:p>
        </p:txBody>
      </p:sp>
      <p:sp>
        <p:nvSpPr>
          <p:cNvPr id="8" name="Shape 6">
            <a:extLst>
              <a:ext uri="{FF2B5EF4-FFF2-40B4-BE49-F238E27FC236}">
                <a16:creationId xmlns:a16="http://schemas.microsoft.com/office/drawing/2014/main" id="{8C292874-E3A1-AA0F-B3D8-4144E518B8BF}"/>
              </a:ext>
            </a:extLst>
          </p:cNvPr>
          <p:cNvSpPr/>
          <p:nvPr/>
        </p:nvSpPr>
        <p:spPr>
          <a:xfrm>
            <a:off x="548640" y="1371600"/>
            <a:ext cx="11094415" cy="4160520"/>
          </a:xfrm>
          <a:prstGeom prst="roundRect">
            <a:avLst>
              <a:gd name="adj" fmla="val 1319"/>
            </a:avLst>
          </a:prstGeom>
          <a:solidFill>
            <a:srgbClr val="F4F8FC"/>
          </a:solidFill>
          <a:ln w="12700">
            <a:solidFill>
              <a:srgbClr val="C8D8EC"/>
            </a:solidFill>
            <a:prstDash val="solid"/>
          </a:ln>
        </p:spPr>
        <p:txBody>
          <a:bodyPr/>
          <a:lstStyle/>
          <a:p>
            <a:endParaRPr lang="fr-FR" noProof="0" dirty="0"/>
          </a:p>
        </p:txBody>
      </p:sp>
      <p:sp>
        <p:nvSpPr>
          <p:cNvPr id="9" name="Text 7">
            <a:extLst>
              <a:ext uri="{FF2B5EF4-FFF2-40B4-BE49-F238E27FC236}">
                <a16:creationId xmlns:a16="http://schemas.microsoft.com/office/drawing/2014/main" id="{225298FC-D770-0D5A-465B-1443F39C44C1}"/>
              </a:ext>
            </a:extLst>
          </p:cNvPr>
          <p:cNvSpPr txBox="1"/>
          <p:nvPr/>
        </p:nvSpPr>
        <p:spPr>
          <a:xfrm>
            <a:off x="811449" y="1463040"/>
            <a:ext cx="5095951"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Hormonothérapie</a:t>
            </a:r>
            <a:endParaRPr lang="fr-FR" sz="1700" noProof="0" dirty="0"/>
          </a:p>
        </p:txBody>
      </p:sp>
      <p:sp>
        <p:nvSpPr>
          <p:cNvPr id="10" name="Text 8">
            <a:extLst>
              <a:ext uri="{FF2B5EF4-FFF2-40B4-BE49-F238E27FC236}">
                <a16:creationId xmlns:a16="http://schemas.microsoft.com/office/drawing/2014/main" id="{CF3749BD-D181-2407-66D3-734CD31C0CED}"/>
              </a:ext>
            </a:extLst>
          </p:cNvPr>
          <p:cNvSpPr txBox="1"/>
          <p:nvPr/>
        </p:nvSpPr>
        <p:spPr>
          <a:xfrm>
            <a:off x="811449" y="1828800"/>
            <a:ext cx="5095951" cy="3611880"/>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431" noProof="0" dirty="0">
                <a:solidFill>
                  <a:srgbClr val="0B1F3F"/>
                </a:solidFill>
                <a:latin typeface="Calibri" pitchFamily="34" charset="0"/>
                <a:ea typeface="Calibri" pitchFamily="34" charset="-122"/>
                <a:cs typeface="Calibri" pitchFamily="34" charset="-120"/>
              </a:rPr>
              <a:t>Utilisée lorsque la tumeur exprime des récepteurs aux œstrogènes et/ou à la progestérone (ER+ et/ou PR+).</a:t>
            </a:r>
          </a:p>
          <a:p>
            <a:pPr marL="342900" indent="-342900">
              <a:lnSpc>
                <a:spcPct val="95000"/>
              </a:lnSpc>
              <a:spcAft>
                <a:spcPts val="600"/>
              </a:spcAft>
              <a:buSzPct val="100000"/>
              <a:buChar char="•"/>
            </a:pPr>
            <a:r>
              <a:rPr lang="fr-FR" sz="1431" noProof="0" dirty="0">
                <a:solidFill>
                  <a:srgbClr val="0B1F3F"/>
                </a:solidFill>
                <a:latin typeface="Calibri" pitchFamily="34" charset="0"/>
                <a:ea typeface="Calibri" pitchFamily="34" charset="-122"/>
                <a:cs typeface="Calibri" pitchFamily="34" charset="-120"/>
              </a:rPr>
              <a:t>Elle réduit ou bloque la stimulation hormonale des cellules cancéreuses ER+ et/ou PR+.</a:t>
            </a:r>
          </a:p>
          <a:p>
            <a:pPr marL="342900" indent="-342900">
              <a:lnSpc>
                <a:spcPct val="95000"/>
              </a:lnSpc>
              <a:spcAft>
                <a:spcPts val="600"/>
              </a:spcAft>
              <a:buSzPct val="100000"/>
              <a:buChar char="•"/>
            </a:pPr>
            <a:r>
              <a:rPr lang="fr-FR" sz="1431" noProof="0" dirty="0">
                <a:solidFill>
                  <a:srgbClr val="0B1F3F"/>
                </a:solidFill>
                <a:latin typeface="Calibri" pitchFamily="34" charset="0"/>
                <a:ea typeface="Calibri" pitchFamily="34" charset="-122"/>
                <a:cs typeface="Calibri" pitchFamily="34" charset="-120"/>
              </a:rPr>
              <a:t>Certains médicaments bloquent le récepteur aux œstrogènes ; d’autres réduisent la production d’œstrogènes après la ménopause.</a:t>
            </a:r>
          </a:p>
          <a:p>
            <a:pPr marL="342900" indent="-342900">
              <a:lnSpc>
                <a:spcPct val="95000"/>
              </a:lnSpc>
              <a:spcAft>
                <a:spcPts val="600"/>
              </a:spcAft>
              <a:buSzPct val="100000"/>
              <a:buChar char="•"/>
            </a:pPr>
            <a:r>
              <a:rPr lang="fr-FR" sz="1431" noProof="0" dirty="0">
                <a:solidFill>
                  <a:srgbClr val="0B1F3F"/>
                </a:solidFill>
                <a:latin typeface="Calibri" pitchFamily="34" charset="0"/>
                <a:ea typeface="Calibri" pitchFamily="34" charset="-122"/>
                <a:cs typeface="Calibri" pitchFamily="34" charset="-120"/>
              </a:rPr>
              <a:t>La fonction ovarienne peut être supprimée chez certaines patientes plus jeunes.</a:t>
            </a:r>
          </a:p>
          <a:p>
            <a:pPr marL="342900" indent="-342900">
              <a:lnSpc>
                <a:spcPct val="95000"/>
              </a:lnSpc>
              <a:spcAft>
                <a:spcPts val="600"/>
              </a:spcAft>
              <a:buSzPct val="100000"/>
              <a:buChar char="•"/>
            </a:pPr>
            <a:r>
              <a:rPr lang="fr-FR" sz="1431" noProof="0" dirty="0">
                <a:solidFill>
                  <a:srgbClr val="0B1F3F"/>
                </a:solidFill>
                <a:latin typeface="Calibri" pitchFamily="34" charset="0"/>
                <a:ea typeface="Calibri" pitchFamily="34" charset="-122"/>
                <a:cs typeface="Calibri" pitchFamily="34" charset="-120"/>
              </a:rPr>
              <a:t>L’hormonothérapie agit dans tout l’organisme et se prend généralement pendant plusieurs années.</a:t>
            </a:r>
          </a:p>
          <a:p>
            <a:pPr marL="342900" indent="-342900">
              <a:lnSpc>
                <a:spcPct val="95000"/>
              </a:lnSpc>
              <a:spcAft>
                <a:spcPts val="600"/>
              </a:spcAft>
              <a:buSzPct val="100000"/>
              <a:buChar char="•"/>
            </a:pPr>
            <a:r>
              <a:rPr lang="fr-FR" sz="1431" noProof="0" dirty="0">
                <a:solidFill>
                  <a:srgbClr val="0B1F3F"/>
                </a:solidFill>
                <a:latin typeface="Calibri" pitchFamily="34" charset="0"/>
                <a:ea typeface="Calibri" pitchFamily="34" charset="-122"/>
                <a:cs typeface="Calibri" pitchFamily="34" charset="-120"/>
              </a:rPr>
              <a:t>Effets fréquents : bouffées de chaleur, douleurs articulaires, sécheresse vaginale et effets sur la santé osseuse.</a:t>
            </a:r>
          </a:p>
        </p:txBody>
      </p:sp>
      <p:pic>
        <p:nvPicPr>
          <p:cNvPr id="6" name="Imagen 5">
            <a:extLst>
              <a:ext uri="{FF2B5EF4-FFF2-40B4-BE49-F238E27FC236}">
                <a16:creationId xmlns:a16="http://schemas.microsoft.com/office/drawing/2014/main" id="{758B7759-EADD-F41F-7595-A01E0DA99A23}"/>
              </a:ext>
            </a:extLst>
          </p:cNvPr>
          <p:cNvPicPr>
            <a:picLocks noChangeAspect="1"/>
          </p:cNvPicPr>
          <p:nvPr/>
        </p:nvPicPr>
        <p:blipFill>
          <a:blip r:embed="rId3"/>
          <a:stretch>
            <a:fillRect/>
          </a:stretch>
        </p:blipFill>
        <p:spPr>
          <a:xfrm>
            <a:off x="5881274" y="1640248"/>
            <a:ext cx="5587914" cy="3529209"/>
          </a:xfrm>
          <a:prstGeom prst="rect">
            <a:avLst/>
          </a:prstGeom>
        </p:spPr>
      </p:pic>
    </p:spTree>
    <p:extLst>
      <p:ext uri="{BB962C8B-B14F-4D97-AF65-F5344CB8AC3E}">
        <p14:creationId xmlns:p14="http://schemas.microsoft.com/office/powerpoint/2010/main" val="16443953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752094"/>
            <a:ext cx="11094415" cy="566928"/>
          </a:xfrm>
          <a:prstGeom prst="rect">
            <a:avLst/>
          </a:prstGeom>
          <a:noFill/>
          <a:ln/>
        </p:spPr>
        <p:txBody>
          <a:bodyPr wrap="square" lIns="0" tIns="0" rIns="0" bIns="0" rtlCol="0" anchor="t"/>
          <a:lstStyle/>
          <a:p>
            <a:r>
              <a:rPr lang="fr-FR" sz="3000" b="1" dirty="0">
                <a:solidFill>
                  <a:srgbClr val="12315B"/>
                </a:solidFill>
                <a:latin typeface="Calibri" pitchFamily="34" charset="0"/>
                <a:ea typeface="Calibri" pitchFamily="34" charset="-122"/>
                <a:cs typeface="Calibri" pitchFamily="34" charset="-120"/>
              </a:rPr>
              <a:t>Traitement : chimiothérapie</a:t>
            </a:r>
            <a:endParaRPr lang="fr-FR" sz="3000" noProof="0" dirty="0"/>
          </a:p>
        </p:txBody>
      </p:sp>
      <p:sp>
        <p:nvSpPr>
          <p:cNvPr id="5" name="Shape 3"/>
          <p:cNvSpPr/>
          <p:nvPr/>
        </p:nvSpPr>
        <p:spPr>
          <a:xfrm>
            <a:off x="548639" y="1463040"/>
            <a:ext cx="10929824" cy="4828032"/>
          </a:xfrm>
          <a:prstGeom prst="roundRect">
            <a:avLst>
              <a:gd name="adj" fmla="val 2685"/>
            </a:avLst>
          </a:prstGeom>
          <a:solidFill>
            <a:srgbClr val="F4F8FC"/>
          </a:solidFill>
          <a:ln w="12700">
            <a:solidFill>
              <a:srgbClr val="C8D8EC"/>
            </a:solidFill>
            <a:prstDash val="solid"/>
          </a:ln>
        </p:spPr>
        <p:txBody>
          <a:bodyPr/>
          <a:lstStyle/>
          <a:p>
            <a:endParaRPr lang="fr-FR" noProof="0" dirty="0"/>
          </a:p>
        </p:txBody>
      </p:sp>
      <p:sp>
        <p:nvSpPr>
          <p:cNvPr id="7" name="Text 5"/>
          <p:cNvSpPr txBox="1"/>
          <p:nvPr/>
        </p:nvSpPr>
        <p:spPr>
          <a:xfrm>
            <a:off x="713079" y="1684782"/>
            <a:ext cx="5382768" cy="1559052"/>
          </a:xfrm>
          <a:prstGeom prst="rect">
            <a:avLst/>
          </a:prstGeom>
          <a:noFill/>
          <a:ln/>
        </p:spPr>
        <p:txBody>
          <a:bodyPr wrap="square" lIns="0" tIns="0" rIns="0" bIns="0" rtlCol="0" anchor="t">
            <a:noAutofit/>
          </a:bodyPr>
          <a:lstStyle/>
          <a:p>
            <a:pPr>
              <a:lnSpc>
                <a:spcPct val="90000"/>
              </a:lnSpc>
            </a:pPr>
            <a:r>
              <a:rPr lang="fr-FR" b="1" dirty="0">
                <a:solidFill>
                  <a:srgbClr val="12315B"/>
                </a:solidFill>
                <a:latin typeface="Calibri" pitchFamily="34" charset="0"/>
                <a:ea typeface="Calibri" pitchFamily="34" charset="-122"/>
                <a:cs typeface="Calibri" pitchFamily="34" charset="-120"/>
              </a:rPr>
              <a:t>Qu'est-ce que la chimiothérapie</a:t>
            </a:r>
            <a:endParaRPr lang="fr-FR" dirty="0"/>
          </a:p>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Médicaments cytotoxiques qui perturbent la croissance et la division des cellules dans tout l’organisme. Ils touchent aussi les cellules normales qui se divisent, ce qui explique les effets indésirables.</a:t>
            </a:r>
          </a:p>
          <a:p>
            <a:pPr marL="0" indent="0">
              <a:lnSpc>
                <a:spcPct val="90000"/>
              </a:lnSpc>
              <a:buNone/>
            </a:pPr>
            <a:endParaRPr lang="fr-FR" dirty="0">
              <a:solidFill>
                <a:srgbClr val="1F3A63"/>
              </a:solidFill>
              <a:latin typeface="Calibri" pitchFamily="34" charset="0"/>
              <a:cs typeface="Calibri" pitchFamily="34" charset="-120"/>
            </a:endParaRPr>
          </a:p>
          <a:p>
            <a:pPr>
              <a:lnSpc>
                <a:spcPct val="90000"/>
              </a:lnSpc>
            </a:pPr>
            <a:r>
              <a:rPr lang="fr-FR" b="1" dirty="0">
                <a:solidFill>
                  <a:srgbClr val="12315B"/>
                </a:solidFill>
                <a:latin typeface="Calibri" pitchFamily="34" charset="0"/>
                <a:ea typeface="Calibri" pitchFamily="34" charset="-122"/>
                <a:cs typeface="Calibri" pitchFamily="34" charset="-120"/>
              </a:rPr>
              <a:t>Quand la chimiothérapie est utilisée</a:t>
            </a:r>
            <a:endParaRPr lang="fr-FR" dirty="0">
              <a:solidFill>
                <a:srgbClr val="1F3A63"/>
              </a:solidFill>
              <a:latin typeface="Calibri" pitchFamily="34" charset="0"/>
              <a:cs typeface="Calibri" pitchFamily="34" charset="-120"/>
            </a:endParaRPr>
          </a:p>
          <a:p>
            <a:pPr>
              <a:lnSpc>
                <a:spcPct val="90000"/>
              </a:lnSpc>
            </a:pPr>
            <a:r>
              <a:rPr lang="fr-FR" dirty="0">
                <a:solidFill>
                  <a:srgbClr val="1F3A63"/>
                </a:solidFill>
                <a:latin typeface="Calibri" pitchFamily="34" charset="0"/>
                <a:ea typeface="Calibri" pitchFamily="34" charset="-122"/>
                <a:cs typeface="Calibri" pitchFamily="34" charset="-120"/>
              </a:rPr>
              <a:t>Avant la chirurgie pour réduire la tumeur, après la chirurgie pour réduire le risque de récidive, ou comme traitement principal d’une maladie avancée.</a:t>
            </a:r>
          </a:p>
          <a:p>
            <a:pPr>
              <a:lnSpc>
                <a:spcPct val="90000"/>
              </a:lnSpc>
            </a:pPr>
            <a:endParaRPr lang="fr-FR" dirty="0">
              <a:solidFill>
                <a:srgbClr val="1F3A63"/>
              </a:solidFill>
              <a:latin typeface="Calibri" pitchFamily="34" charset="0"/>
              <a:cs typeface="Calibri" pitchFamily="34" charset="-120"/>
            </a:endParaRPr>
          </a:p>
          <a:p>
            <a:pPr>
              <a:lnSpc>
                <a:spcPct val="90000"/>
              </a:lnSpc>
            </a:pPr>
            <a:r>
              <a:rPr lang="fr-FR" b="1" dirty="0">
                <a:solidFill>
                  <a:srgbClr val="12315B"/>
                </a:solidFill>
                <a:latin typeface="Calibri" pitchFamily="34" charset="0"/>
                <a:ea typeface="Calibri" pitchFamily="34" charset="-122"/>
                <a:cs typeface="Calibri" pitchFamily="34" charset="-120"/>
              </a:rPr>
              <a:t>Tout le monde ne la reçoit pas</a:t>
            </a:r>
            <a:endParaRPr lang="fr-FR" dirty="0"/>
          </a:p>
          <a:p>
            <a:pPr>
              <a:lnSpc>
                <a:spcPct val="90000"/>
              </a:lnSpc>
            </a:pPr>
            <a:r>
              <a:rPr lang="fr-FR" dirty="0">
                <a:solidFill>
                  <a:srgbClr val="1F3A63"/>
                </a:solidFill>
                <a:latin typeface="Calibri" pitchFamily="34" charset="0"/>
                <a:ea typeface="Calibri" pitchFamily="34" charset="-122"/>
                <a:cs typeface="Calibri" pitchFamily="34" charset="-120"/>
              </a:rPr>
              <a:t>La décision dépend du stade, de la biologie de la tumeur, des résultats des récepteurs et de la santé de la personne. Certaines personnes sont traitées sans chimiothérapie.</a:t>
            </a:r>
            <a:endParaRPr lang="fr-FR" dirty="0"/>
          </a:p>
          <a:p>
            <a:pPr marL="0" indent="0">
              <a:lnSpc>
                <a:spcPct val="90000"/>
              </a:lnSpc>
              <a:buNone/>
            </a:pPr>
            <a:endParaRPr lang="fr-FR"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pPr marL="0" indent="0">
              <a:buNone/>
            </a:pPr>
            <a:endParaRPr lang="fr-FR" sz="1700"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pPr marL="0" indent="0">
              <a:buNone/>
            </a:pPr>
            <a:endParaRPr lang="fr-FR" sz="1700" noProof="0" dirty="0"/>
          </a:p>
        </p:txBody>
      </p:sp>
      <p:pic>
        <p:nvPicPr>
          <p:cNvPr id="25" name="Imagen 24">
            <a:extLst>
              <a:ext uri="{FF2B5EF4-FFF2-40B4-BE49-F238E27FC236}">
                <a16:creationId xmlns:a16="http://schemas.microsoft.com/office/drawing/2014/main" id="{53361178-034C-70A5-F22F-9C311D9D069A}"/>
              </a:ext>
            </a:extLst>
          </p:cNvPr>
          <p:cNvPicPr>
            <a:picLocks noChangeAspect="1"/>
          </p:cNvPicPr>
          <p:nvPr/>
        </p:nvPicPr>
        <p:blipFill>
          <a:blip r:embed="rId3"/>
          <a:stretch>
            <a:fillRect/>
          </a:stretch>
        </p:blipFill>
        <p:spPr>
          <a:xfrm>
            <a:off x="6341504" y="1980604"/>
            <a:ext cx="4891454" cy="3260969"/>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B6FA3D1-FBF2-ECAD-2EC1-3752D70C8C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D26574-5292-E00A-520A-874CF3FABBF4}"/>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a:extLst>
              <a:ext uri="{FF2B5EF4-FFF2-40B4-BE49-F238E27FC236}">
                <a16:creationId xmlns:a16="http://schemas.microsoft.com/office/drawing/2014/main" id="{F74CEF88-5F91-9F37-82C5-879461820E42}"/>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A6F9E835-51FE-FA2E-65B3-5C735AA92CC3}"/>
              </a:ext>
            </a:extLst>
          </p:cNvPr>
          <p:cNvSpPr txBox="1"/>
          <p:nvPr/>
        </p:nvSpPr>
        <p:spPr>
          <a:xfrm>
            <a:off x="548640" y="566928"/>
            <a:ext cx="11094415" cy="566928"/>
          </a:xfrm>
          <a:prstGeom prst="rect">
            <a:avLst/>
          </a:prstGeom>
          <a:noFill/>
          <a:ln/>
        </p:spPr>
        <p:txBody>
          <a:bodyPr wrap="square" lIns="0" tIns="0" rIns="0" bIns="0" rtlCol="0" anchor="t"/>
          <a:lstStyle/>
          <a:p>
            <a:r>
              <a:rPr lang="fr-FR" sz="3000" b="1" dirty="0">
                <a:solidFill>
                  <a:srgbClr val="12315B"/>
                </a:solidFill>
                <a:latin typeface="Calibri" pitchFamily="34" charset="0"/>
                <a:ea typeface="Calibri" pitchFamily="34" charset="-122"/>
                <a:cs typeface="Calibri" pitchFamily="34" charset="-120"/>
              </a:rPr>
              <a:t>Traitement : thérapie ciblée et immunothérapie</a:t>
            </a:r>
            <a:endParaRPr lang="fr-FR" sz="3000" noProof="0" dirty="0"/>
          </a:p>
        </p:txBody>
      </p:sp>
      <p:sp>
        <p:nvSpPr>
          <p:cNvPr id="14" name="Shape 12">
            <a:extLst>
              <a:ext uri="{FF2B5EF4-FFF2-40B4-BE49-F238E27FC236}">
                <a16:creationId xmlns:a16="http://schemas.microsoft.com/office/drawing/2014/main" id="{28DCCBE6-CED5-EB3F-13F3-EFFAB8131B4C}"/>
              </a:ext>
            </a:extLst>
          </p:cNvPr>
          <p:cNvSpPr/>
          <p:nvPr/>
        </p:nvSpPr>
        <p:spPr>
          <a:xfrm>
            <a:off x="548640" y="1112574"/>
            <a:ext cx="5547360" cy="4541412"/>
          </a:xfrm>
          <a:prstGeom prst="roundRect">
            <a:avLst>
              <a:gd name="adj" fmla="val 3101"/>
            </a:avLst>
          </a:prstGeom>
          <a:solidFill>
            <a:srgbClr val="F4F8FC"/>
          </a:solidFill>
          <a:ln w="12700">
            <a:solidFill>
              <a:srgbClr val="C8D8EC"/>
            </a:solidFill>
            <a:prstDash val="solid"/>
          </a:ln>
        </p:spPr>
        <p:txBody>
          <a:bodyPr/>
          <a:lstStyle/>
          <a:p>
            <a:endParaRPr lang="fr-FR" noProof="0" dirty="0"/>
          </a:p>
        </p:txBody>
      </p:sp>
      <p:sp>
        <p:nvSpPr>
          <p:cNvPr id="15" name="Text 13">
            <a:extLst>
              <a:ext uri="{FF2B5EF4-FFF2-40B4-BE49-F238E27FC236}">
                <a16:creationId xmlns:a16="http://schemas.microsoft.com/office/drawing/2014/main" id="{AF9AA8C2-3415-6B0E-97BD-DDD285912F1A}"/>
              </a:ext>
            </a:extLst>
          </p:cNvPr>
          <p:cNvSpPr txBox="1"/>
          <p:nvPr/>
        </p:nvSpPr>
        <p:spPr>
          <a:xfrm>
            <a:off x="713231" y="1204014"/>
            <a:ext cx="5029677"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Traitement anti-HER2</a:t>
            </a:r>
            <a:endParaRPr lang="fr-FR" sz="1700" noProof="0" dirty="0"/>
          </a:p>
        </p:txBody>
      </p:sp>
      <p:sp>
        <p:nvSpPr>
          <p:cNvPr id="16" name="Text 14">
            <a:extLst>
              <a:ext uri="{FF2B5EF4-FFF2-40B4-BE49-F238E27FC236}">
                <a16:creationId xmlns:a16="http://schemas.microsoft.com/office/drawing/2014/main" id="{690BC31A-B1FD-4EE2-C9F0-1B485C2C3FB3}"/>
              </a:ext>
            </a:extLst>
          </p:cNvPr>
          <p:cNvSpPr txBox="1"/>
          <p:nvPr/>
        </p:nvSpPr>
        <p:spPr>
          <a:xfrm>
            <a:off x="713231" y="1542342"/>
            <a:ext cx="5029677" cy="1284732"/>
          </a:xfrm>
          <a:prstGeom prst="rect">
            <a:avLst/>
          </a:prstGeom>
          <a:noFill/>
          <a:ln/>
        </p:spPr>
        <p:txBody>
          <a:bodyPr wrap="square" lIns="0" tIns="0" rIns="0" bIns="0" rtlCol="0" anchor="t">
            <a:noAutofit/>
          </a:bodyPr>
          <a:lstStyle/>
          <a:p>
            <a:pPr marL="0" indent="0">
              <a:lnSpc>
                <a:spcPct val="90000"/>
              </a:lnSpc>
              <a:buNone/>
            </a:pPr>
            <a:r>
              <a:rPr lang="fr-FR" sz="1710" noProof="0" dirty="0">
                <a:solidFill>
                  <a:srgbClr val="1F3A63"/>
                </a:solidFill>
                <a:latin typeface="Calibri" pitchFamily="34" charset="0"/>
                <a:ea typeface="Calibri" pitchFamily="34" charset="-122"/>
                <a:cs typeface="Calibri" pitchFamily="34" charset="-120"/>
              </a:rPr>
              <a:t>Pour les tumeurs HER2 positives, ces médicaments bloquent la signalisation de croissance liée à HER2 et sont associés à d’autres traitements.</a:t>
            </a:r>
            <a:endParaRPr lang="fr-FR" sz="1710" noProof="0" dirty="0"/>
          </a:p>
        </p:txBody>
      </p:sp>
      <p:sp>
        <p:nvSpPr>
          <p:cNvPr id="17" name="Shape 15">
            <a:extLst>
              <a:ext uri="{FF2B5EF4-FFF2-40B4-BE49-F238E27FC236}">
                <a16:creationId xmlns:a16="http://schemas.microsoft.com/office/drawing/2014/main" id="{F4EB1D9F-AE4C-FDE2-2497-9DC7EBD7BD82}"/>
              </a:ext>
            </a:extLst>
          </p:cNvPr>
          <p:cNvSpPr/>
          <p:nvPr/>
        </p:nvSpPr>
        <p:spPr>
          <a:xfrm>
            <a:off x="6432331" y="1112574"/>
            <a:ext cx="5211031" cy="4541412"/>
          </a:xfrm>
          <a:prstGeom prst="roundRect">
            <a:avLst>
              <a:gd name="adj" fmla="val 3101"/>
            </a:avLst>
          </a:prstGeom>
          <a:solidFill>
            <a:srgbClr val="F4F8FC"/>
          </a:solidFill>
          <a:ln w="12700">
            <a:solidFill>
              <a:srgbClr val="C8D8EC"/>
            </a:solidFill>
            <a:prstDash val="solid"/>
          </a:ln>
        </p:spPr>
        <p:txBody>
          <a:bodyPr/>
          <a:lstStyle/>
          <a:p>
            <a:endParaRPr lang="fr-FR" noProof="0" dirty="0"/>
          </a:p>
        </p:txBody>
      </p:sp>
      <p:sp>
        <p:nvSpPr>
          <p:cNvPr id="18" name="Text 16">
            <a:extLst>
              <a:ext uri="{FF2B5EF4-FFF2-40B4-BE49-F238E27FC236}">
                <a16:creationId xmlns:a16="http://schemas.microsoft.com/office/drawing/2014/main" id="{1756A1EE-E03A-A4DC-1784-76F1F3627AC9}"/>
              </a:ext>
            </a:extLst>
          </p:cNvPr>
          <p:cNvSpPr txBox="1"/>
          <p:nvPr/>
        </p:nvSpPr>
        <p:spPr>
          <a:xfrm>
            <a:off x="6627908" y="1204014"/>
            <a:ext cx="4724734"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Immunothérapie</a:t>
            </a:r>
            <a:endParaRPr lang="fr-FR" sz="1700" noProof="0" dirty="0"/>
          </a:p>
        </p:txBody>
      </p:sp>
      <p:sp>
        <p:nvSpPr>
          <p:cNvPr id="19" name="Text 17">
            <a:extLst>
              <a:ext uri="{FF2B5EF4-FFF2-40B4-BE49-F238E27FC236}">
                <a16:creationId xmlns:a16="http://schemas.microsoft.com/office/drawing/2014/main" id="{A2A4D5D6-E983-D0E9-60E7-F71AEC20A6FF}"/>
              </a:ext>
            </a:extLst>
          </p:cNvPr>
          <p:cNvSpPr txBox="1"/>
          <p:nvPr/>
        </p:nvSpPr>
        <p:spPr>
          <a:xfrm>
            <a:off x="6627908" y="1542342"/>
            <a:ext cx="4724734" cy="1284732"/>
          </a:xfrm>
          <a:prstGeom prst="rect">
            <a:avLst/>
          </a:prstGeom>
          <a:noFill/>
          <a:ln/>
        </p:spPr>
        <p:txBody>
          <a:bodyPr wrap="square" lIns="0" tIns="0" rIns="0" bIns="0" rtlCol="0" anchor="t">
            <a:noAutofit/>
          </a:bodyPr>
          <a:lstStyle/>
          <a:p>
            <a:pPr marL="0" indent="0">
              <a:lnSpc>
                <a:spcPct val="90000"/>
              </a:lnSpc>
              <a:buNone/>
            </a:pPr>
            <a:r>
              <a:rPr lang="fr-FR" sz="1728" noProof="0" dirty="0">
                <a:solidFill>
                  <a:srgbClr val="1F3A63"/>
                </a:solidFill>
                <a:latin typeface="Calibri" pitchFamily="34" charset="0"/>
                <a:ea typeface="Calibri" pitchFamily="34" charset="-122"/>
                <a:cs typeface="Calibri" pitchFamily="34" charset="-120"/>
              </a:rPr>
              <a:t>Elle modifie la réponse immunitaire contre le cancer. Elle convient à certaines tumeurs, notamment certains cancers triple négatifs, mais pas à la plupart.</a:t>
            </a:r>
            <a:endParaRPr lang="fr-FR" sz="1728" noProof="0" dirty="0"/>
          </a:p>
        </p:txBody>
      </p:sp>
      <p:sp>
        <p:nvSpPr>
          <p:cNvPr id="23" name="Shape 21">
            <a:extLst>
              <a:ext uri="{FF2B5EF4-FFF2-40B4-BE49-F238E27FC236}">
                <a16:creationId xmlns:a16="http://schemas.microsoft.com/office/drawing/2014/main" id="{8D4C47BA-BC13-149B-C6EF-9EA0631BA653}"/>
              </a:ext>
            </a:extLst>
          </p:cNvPr>
          <p:cNvSpPr/>
          <p:nvPr/>
        </p:nvSpPr>
        <p:spPr>
          <a:xfrm>
            <a:off x="548640" y="5837028"/>
            <a:ext cx="11094415" cy="530352"/>
          </a:xfrm>
          <a:prstGeom prst="roundRect">
            <a:avLst>
              <a:gd name="adj" fmla="val 8621"/>
            </a:avLst>
          </a:prstGeom>
          <a:solidFill>
            <a:schemeClr val="accent4">
              <a:lumMod val="20000"/>
              <a:lumOff val="80000"/>
            </a:schemeClr>
          </a:solidFill>
          <a:ln w="12700">
            <a:solidFill>
              <a:srgbClr val="E7B6B0"/>
            </a:solidFill>
            <a:prstDash val="solid"/>
          </a:ln>
        </p:spPr>
        <p:txBody>
          <a:bodyPr/>
          <a:lstStyle/>
          <a:p>
            <a:endParaRPr lang="fr-FR" noProof="0" dirty="0"/>
          </a:p>
        </p:txBody>
      </p:sp>
      <p:sp>
        <p:nvSpPr>
          <p:cNvPr id="24" name="Text 22">
            <a:extLst>
              <a:ext uri="{FF2B5EF4-FFF2-40B4-BE49-F238E27FC236}">
                <a16:creationId xmlns:a16="http://schemas.microsoft.com/office/drawing/2014/main" id="{F6BC320E-7902-F54D-C28B-015A649E55E1}"/>
              </a:ext>
            </a:extLst>
          </p:cNvPr>
          <p:cNvSpPr txBox="1"/>
          <p:nvPr/>
        </p:nvSpPr>
        <p:spPr>
          <a:xfrm>
            <a:off x="713232" y="5910180"/>
            <a:ext cx="10765231" cy="384048"/>
          </a:xfrm>
          <a:prstGeom prst="rect">
            <a:avLst/>
          </a:prstGeom>
          <a:noFill/>
          <a:ln/>
        </p:spPr>
        <p:txBody>
          <a:bodyPr wrap="square" lIns="0" tIns="0" rIns="0" bIns="0" rtlCol="0" anchor="ctr">
            <a:normAutofit lnSpcReduction="10000"/>
          </a:bodyPr>
          <a:lstStyle/>
          <a:p>
            <a:r>
              <a:rPr lang="fr-FR" sz="1400" b="1" dirty="0">
                <a:solidFill>
                  <a:schemeClr val="accent4">
                    <a:lumMod val="75000"/>
                  </a:schemeClr>
                </a:solidFill>
              </a:rPr>
              <a:t>IMPORTANT : </a:t>
            </a:r>
            <a:r>
              <a:rPr lang="fr-FR" sz="1400" dirty="0">
                <a:solidFill>
                  <a:srgbClr val="002060"/>
                </a:solidFill>
              </a:rPr>
              <a:t>Veuillez confirmer la disponibilité actuelle au Rwanda de ces traitements du cancer du sein, les établissements où ils sont proposés, ainsi que le circuit d’orientation pour chacun.</a:t>
            </a:r>
          </a:p>
        </p:txBody>
      </p:sp>
      <p:pic>
        <p:nvPicPr>
          <p:cNvPr id="27" name="Imagen 26">
            <a:extLst>
              <a:ext uri="{FF2B5EF4-FFF2-40B4-BE49-F238E27FC236}">
                <a16:creationId xmlns:a16="http://schemas.microsoft.com/office/drawing/2014/main" id="{10BA2999-F882-5058-A64A-93B94FD4C808}"/>
              </a:ext>
            </a:extLst>
          </p:cNvPr>
          <p:cNvPicPr>
            <a:picLocks noChangeAspect="1"/>
          </p:cNvPicPr>
          <p:nvPr/>
        </p:nvPicPr>
        <p:blipFill>
          <a:blip r:embed="rId3"/>
          <a:stretch>
            <a:fillRect/>
          </a:stretch>
        </p:blipFill>
        <p:spPr>
          <a:xfrm>
            <a:off x="6967486" y="2564308"/>
            <a:ext cx="4045577" cy="2697051"/>
          </a:xfrm>
          <a:prstGeom prst="rect">
            <a:avLst/>
          </a:prstGeom>
        </p:spPr>
      </p:pic>
      <p:pic>
        <p:nvPicPr>
          <p:cNvPr id="28" name="Imagen 27">
            <a:extLst>
              <a:ext uri="{FF2B5EF4-FFF2-40B4-BE49-F238E27FC236}">
                <a16:creationId xmlns:a16="http://schemas.microsoft.com/office/drawing/2014/main" id="{C4B907CB-F6B1-AB2F-EDB7-41678E881AB2}"/>
              </a:ext>
            </a:extLst>
          </p:cNvPr>
          <p:cNvPicPr>
            <a:picLocks noChangeAspect="1"/>
          </p:cNvPicPr>
          <p:nvPr/>
        </p:nvPicPr>
        <p:blipFill>
          <a:blip r:embed="rId4"/>
          <a:stretch>
            <a:fillRect/>
          </a:stretch>
        </p:blipFill>
        <p:spPr>
          <a:xfrm>
            <a:off x="1212599" y="2506353"/>
            <a:ext cx="4090758" cy="2727172"/>
          </a:xfrm>
          <a:prstGeom prst="rect">
            <a:avLst/>
          </a:prstGeom>
        </p:spPr>
      </p:pic>
    </p:spTree>
    <p:extLst>
      <p:ext uri="{BB962C8B-B14F-4D97-AF65-F5344CB8AC3E}">
        <p14:creationId xmlns:p14="http://schemas.microsoft.com/office/powerpoint/2010/main" val="116909884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Idées reçues courantes</a:t>
            </a:r>
            <a:endParaRPr lang="fr-FR" sz="3000" noProof="0" dirty="0"/>
          </a:p>
        </p:txBody>
      </p:sp>
      <p:sp>
        <p:nvSpPr>
          <p:cNvPr id="5" name="Shape 3"/>
          <p:cNvSpPr/>
          <p:nvPr/>
        </p:nvSpPr>
        <p:spPr>
          <a:xfrm>
            <a:off x="548640" y="1371600"/>
            <a:ext cx="3527450" cy="1929384"/>
          </a:xfrm>
          <a:prstGeom prst="roundRect">
            <a:avLst>
              <a:gd name="adj" fmla="val 2844"/>
            </a:avLst>
          </a:prstGeom>
          <a:solidFill>
            <a:srgbClr val="F4F8FC"/>
          </a:solidFill>
          <a:ln w="12700">
            <a:solidFill>
              <a:srgbClr val="C8D8EC"/>
            </a:solidFill>
            <a:prstDash val="solid"/>
          </a:ln>
        </p:spPr>
        <p:txBody>
          <a:bodyPr/>
          <a:lstStyle/>
          <a:p>
            <a:endParaRPr lang="fr-FR" sz="1600"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normAutofit/>
          </a:bodyPr>
          <a:lstStyle/>
          <a:p>
            <a:pPr marL="0" indent="0">
              <a:buNone/>
            </a:pPr>
            <a:r>
              <a:rPr lang="fr-FR" sz="1600" b="1" noProof="0" dirty="0">
                <a:solidFill>
                  <a:srgbClr val="12315B"/>
                </a:solidFill>
                <a:latin typeface="Calibri" pitchFamily="34" charset="0"/>
                <a:ea typeface="Calibri" pitchFamily="34" charset="-122"/>
                <a:cs typeface="Calibri" pitchFamily="34" charset="-120"/>
              </a:rPr>
              <a:t>Une boule indolore n’est pas grave</a:t>
            </a:r>
            <a:endParaRPr lang="fr-FR" sz="1600" noProof="0" dirty="0"/>
          </a:p>
        </p:txBody>
      </p:sp>
      <p:sp>
        <p:nvSpPr>
          <p:cNvPr id="7" name="Text 5"/>
          <p:cNvSpPr txBox="1"/>
          <p:nvPr/>
        </p:nvSpPr>
        <p:spPr>
          <a:xfrm>
            <a:off x="713232" y="1801368"/>
            <a:ext cx="3198266" cy="1444752"/>
          </a:xfrm>
          <a:prstGeom prst="rect">
            <a:avLst/>
          </a:prstGeom>
          <a:noFill/>
          <a:ln/>
        </p:spPr>
        <p:txBody>
          <a:bodyPr wrap="square" lIns="0" tIns="0" rIns="0" bIns="0" rtlCol="0" anchor="t"/>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Faux. La plupart des cancers du sein sont indolores. La douleur est un mauvais guide dans les deux sens.</a:t>
            </a:r>
            <a:endParaRPr lang="fr-FR" sz="1600" noProof="0" dirty="0"/>
          </a:p>
        </p:txBody>
      </p:sp>
      <p:sp>
        <p:nvSpPr>
          <p:cNvPr id="8" name="Shape 6"/>
          <p:cNvSpPr/>
          <p:nvPr/>
        </p:nvSpPr>
        <p:spPr>
          <a:xfrm>
            <a:off x="4332122" y="1371600"/>
            <a:ext cx="3527450" cy="1929384"/>
          </a:xfrm>
          <a:prstGeom prst="roundRect">
            <a:avLst>
              <a:gd name="adj" fmla="val 2844"/>
            </a:avLst>
          </a:prstGeom>
          <a:solidFill>
            <a:srgbClr val="F4F8FC"/>
          </a:solidFill>
          <a:ln w="12700">
            <a:solidFill>
              <a:srgbClr val="C8D8EC"/>
            </a:solidFill>
            <a:prstDash val="solid"/>
          </a:ln>
        </p:spPr>
        <p:txBody>
          <a:bodyPr/>
          <a:lstStyle/>
          <a:p>
            <a:endParaRPr lang="fr-FR" sz="1600"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normAutofit fontScale="85000" lnSpcReduction="10000"/>
          </a:bodyPr>
          <a:lstStyle/>
          <a:p>
            <a:pPr marL="0" indent="0">
              <a:buNone/>
            </a:pPr>
            <a:r>
              <a:rPr lang="fr-FR" sz="1600" b="1" noProof="0" dirty="0">
                <a:solidFill>
                  <a:srgbClr val="12315B"/>
                </a:solidFill>
                <a:latin typeface="Calibri" pitchFamily="34" charset="0"/>
                <a:ea typeface="Calibri" pitchFamily="34" charset="-122"/>
                <a:cs typeface="Calibri" pitchFamily="34" charset="-120"/>
              </a:rPr>
              <a:t>Pas d’antécédents familiaux, pas de risque</a:t>
            </a:r>
            <a:endParaRPr lang="fr-FR" sz="1600" noProof="0" dirty="0"/>
          </a:p>
        </p:txBody>
      </p:sp>
      <p:sp>
        <p:nvSpPr>
          <p:cNvPr id="10" name="Text 8"/>
          <p:cNvSpPr txBox="1"/>
          <p:nvPr/>
        </p:nvSpPr>
        <p:spPr>
          <a:xfrm>
            <a:off x="4496714" y="2023439"/>
            <a:ext cx="3198266" cy="798141"/>
          </a:xfrm>
          <a:prstGeom prst="rect">
            <a:avLst/>
          </a:prstGeom>
          <a:noFill/>
          <a:ln/>
        </p:spPr>
        <p:txBody>
          <a:bodyPr wrap="square" lIns="0" tIns="0" rIns="0" bIns="0" rtlCol="0" anchor="t"/>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Faux. La plupart des personnes atteintes d’un cancer du sein n’ont pas d’antécédents familiaux marqués.</a:t>
            </a:r>
            <a:endParaRPr lang="fr-FR" sz="1600" noProof="0" dirty="0"/>
          </a:p>
        </p:txBody>
      </p:sp>
      <p:sp>
        <p:nvSpPr>
          <p:cNvPr id="11" name="Shape 9"/>
          <p:cNvSpPr/>
          <p:nvPr/>
        </p:nvSpPr>
        <p:spPr>
          <a:xfrm>
            <a:off x="8115605" y="1371600"/>
            <a:ext cx="3527450" cy="1929384"/>
          </a:xfrm>
          <a:prstGeom prst="roundRect">
            <a:avLst>
              <a:gd name="adj" fmla="val 2844"/>
            </a:avLst>
          </a:prstGeom>
          <a:solidFill>
            <a:srgbClr val="F4F8FC"/>
          </a:solidFill>
          <a:ln w="12700">
            <a:solidFill>
              <a:srgbClr val="C8D8EC"/>
            </a:solidFill>
            <a:prstDash val="solid"/>
          </a:ln>
        </p:spPr>
        <p:txBody>
          <a:bodyPr/>
          <a:lstStyle/>
          <a:p>
            <a:endParaRPr lang="fr-FR" sz="1600"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normAutofit fontScale="77500" lnSpcReduction="20000"/>
          </a:bodyPr>
          <a:lstStyle/>
          <a:p>
            <a:pPr marL="0" indent="0">
              <a:buNone/>
            </a:pPr>
            <a:r>
              <a:rPr lang="fr-FR" sz="1600" b="1" noProof="0" dirty="0">
                <a:solidFill>
                  <a:srgbClr val="12315B"/>
                </a:solidFill>
                <a:latin typeface="Calibri" pitchFamily="34" charset="0"/>
                <a:ea typeface="Calibri" pitchFamily="34" charset="-122"/>
                <a:cs typeface="Calibri" pitchFamily="34" charset="-120"/>
              </a:rPr>
              <a:t>Une biopsie provoque la propagation du cancer</a:t>
            </a:r>
            <a:endParaRPr lang="fr-FR" sz="1600" noProof="0" dirty="0"/>
          </a:p>
        </p:txBody>
      </p:sp>
      <p:sp>
        <p:nvSpPr>
          <p:cNvPr id="13" name="Text 11"/>
          <p:cNvSpPr txBox="1"/>
          <p:nvPr/>
        </p:nvSpPr>
        <p:spPr>
          <a:xfrm>
            <a:off x="8280197" y="2049565"/>
            <a:ext cx="3198266" cy="1020212"/>
          </a:xfrm>
          <a:prstGeom prst="rect">
            <a:avLst/>
          </a:prstGeom>
          <a:noFill/>
          <a:ln/>
        </p:spPr>
        <p:txBody>
          <a:bodyPr wrap="square" lIns="0" tIns="0" rIns="0" bIns="0" rtlCol="0" anchor="t"/>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Faux. Une biopsie prélève un petit échantillon pour que le tissu puisse être examiné. Le refuser ne fait que retarder la réponse.</a:t>
            </a:r>
            <a:endParaRPr lang="fr-FR" sz="1600" noProof="0" dirty="0"/>
          </a:p>
        </p:txBody>
      </p:sp>
      <p:sp>
        <p:nvSpPr>
          <p:cNvPr id="14" name="Shape 12"/>
          <p:cNvSpPr/>
          <p:nvPr/>
        </p:nvSpPr>
        <p:spPr>
          <a:xfrm>
            <a:off x="548640" y="3557016"/>
            <a:ext cx="3527450" cy="1929384"/>
          </a:xfrm>
          <a:prstGeom prst="roundRect">
            <a:avLst>
              <a:gd name="adj" fmla="val 2844"/>
            </a:avLst>
          </a:prstGeom>
          <a:solidFill>
            <a:srgbClr val="F4F8FC"/>
          </a:solidFill>
          <a:ln w="12700">
            <a:solidFill>
              <a:srgbClr val="C8D8EC"/>
            </a:solidFill>
            <a:prstDash val="solid"/>
          </a:ln>
        </p:spPr>
        <p:txBody>
          <a:bodyPr/>
          <a:lstStyle/>
          <a:p>
            <a:endParaRPr lang="fr-FR" sz="1600" noProof="0" dirty="0"/>
          </a:p>
        </p:txBody>
      </p:sp>
      <p:sp>
        <p:nvSpPr>
          <p:cNvPr id="15" name="Text 13"/>
          <p:cNvSpPr txBox="1"/>
          <p:nvPr/>
        </p:nvSpPr>
        <p:spPr>
          <a:xfrm>
            <a:off x="713232" y="3648456"/>
            <a:ext cx="3198266" cy="292608"/>
          </a:xfrm>
          <a:prstGeom prst="rect">
            <a:avLst/>
          </a:prstGeom>
          <a:noFill/>
          <a:ln/>
        </p:spPr>
        <p:txBody>
          <a:bodyPr wrap="square" lIns="0" tIns="0" rIns="0" bIns="0" rtlCol="0" anchor="t">
            <a:normAutofit/>
          </a:bodyPr>
          <a:lstStyle/>
          <a:p>
            <a:pPr marL="0" indent="0">
              <a:buNone/>
            </a:pPr>
            <a:r>
              <a:rPr lang="fr-FR" sz="1600" b="1" noProof="0" dirty="0">
                <a:solidFill>
                  <a:srgbClr val="12315B"/>
                </a:solidFill>
                <a:latin typeface="Calibri" pitchFamily="34" charset="0"/>
                <a:ea typeface="Calibri" pitchFamily="34" charset="-122"/>
                <a:cs typeface="Calibri" pitchFamily="34" charset="-120"/>
              </a:rPr>
              <a:t>Toutes les patientes perdent leur sein</a:t>
            </a:r>
            <a:endParaRPr lang="fr-FR" sz="1600" noProof="0" dirty="0"/>
          </a:p>
        </p:txBody>
      </p:sp>
      <p:sp>
        <p:nvSpPr>
          <p:cNvPr id="16" name="Text 14"/>
          <p:cNvSpPr txBox="1"/>
          <p:nvPr/>
        </p:nvSpPr>
        <p:spPr>
          <a:xfrm>
            <a:off x="713232" y="3986784"/>
            <a:ext cx="3198266" cy="1444752"/>
          </a:xfrm>
          <a:prstGeom prst="rect">
            <a:avLst/>
          </a:prstGeom>
          <a:noFill/>
          <a:ln/>
        </p:spPr>
        <p:txBody>
          <a:bodyPr wrap="square" lIns="0" tIns="0" rIns="0" bIns="0" rtlCol="0" anchor="t">
            <a:normAutofit fontScale="96000"/>
          </a:bodyPr>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Faux. La chirurgie conservatrice du sein est possible pour de nombreuses patientes, et le choix dépend de la situation.</a:t>
            </a:r>
            <a:endParaRPr lang="fr-FR" sz="1600" noProof="0" dirty="0"/>
          </a:p>
        </p:txBody>
      </p:sp>
      <p:sp>
        <p:nvSpPr>
          <p:cNvPr id="17" name="Shape 15"/>
          <p:cNvSpPr/>
          <p:nvPr/>
        </p:nvSpPr>
        <p:spPr>
          <a:xfrm>
            <a:off x="4332122" y="3557016"/>
            <a:ext cx="3527450" cy="1929384"/>
          </a:xfrm>
          <a:prstGeom prst="roundRect">
            <a:avLst>
              <a:gd name="adj" fmla="val 2844"/>
            </a:avLst>
          </a:prstGeom>
          <a:solidFill>
            <a:srgbClr val="F4F8FC"/>
          </a:solidFill>
          <a:ln w="12700">
            <a:solidFill>
              <a:srgbClr val="C8D8EC"/>
            </a:solidFill>
            <a:prstDash val="solid"/>
          </a:ln>
        </p:spPr>
        <p:txBody>
          <a:bodyPr/>
          <a:lstStyle/>
          <a:p>
            <a:endParaRPr lang="fr-FR" sz="1600" noProof="0" dirty="0"/>
          </a:p>
        </p:txBody>
      </p:sp>
      <p:sp>
        <p:nvSpPr>
          <p:cNvPr id="18" name="Text 16"/>
          <p:cNvSpPr txBox="1"/>
          <p:nvPr/>
        </p:nvSpPr>
        <p:spPr>
          <a:xfrm>
            <a:off x="4496714" y="3648456"/>
            <a:ext cx="3198266" cy="292608"/>
          </a:xfrm>
          <a:prstGeom prst="rect">
            <a:avLst/>
          </a:prstGeom>
          <a:noFill/>
          <a:ln/>
        </p:spPr>
        <p:txBody>
          <a:bodyPr wrap="square" lIns="0" tIns="0" rIns="0" bIns="0" rtlCol="0" anchor="t">
            <a:normAutofit fontScale="77500" lnSpcReduction="20000"/>
          </a:bodyPr>
          <a:lstStyle/>
          <a:p>
            <a:pPr marL="0" indent="0">
              <a:buNone/>
            </a:pPr>
            <a:r>
              <a:rPr lang="fr-FR" sz="1600" b="1" noProof="0" dirty="0">
                <a:solidFill>
                  <a:srgbClr val="12315B"/>
                </a:solidFill>
                <a:latin typeface="Calibri" pitchFamily="34" charset="0"/>
                <a:ea typeface="Calibri" pitchFamily="34" charset="-122"/>
                <a:cs typeface="Calibri" pitchFamily="34" charset="-120"/>
              </a:rPr>
              <a:t>Le cancer du sein ne touche que les femmes âgées</a:t>
            </a:r>
            <a:endParaRPr lang="fr-FR" sz="1600" noProof="0" dirty="0"/>
          </a:p>
        </p:txBody>
      </p:sp>
      <p:sp>
        <p:nvSpPr>
          <p:cNvPr id="19" name="Text 17"/>
          <p:cNvSpPr txBox="1"/>
          <p:nvPr/>
        </p:nvSpPr>
        <p:spPr>
          <a:xfrm>
            <a:off x="4496714" y="4287232"/>
            <a:ext cx="3198266" cy="898725"/>
          </a:xfrm>
          <a:prstGeom prst="rect">
            <a:avLst/>
          </a:prstGeom>
          <a:noFill/>
          <a:ln/>
        </p:spPr>
        <p:txBody>
          <a:bodyPr wrap="square" lIns="0" tIns="0" rIns="0" bIns="0" rtlCol="0" anchor="t">
            <a:normAutofit fontScale="96000"/>
          </a:bodyPr>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Faux. Le risque augmente avec l’âge, mais le cancer du sein survient aussi chez des femmes plus jeunes, et plus rarement chez les hommes.</a:t>
            </a:r>
            <a:endParaRPr lang="fr-FR" sz="1600" noProof="0" dirty="0"/>
          </a:p>
        </p:txBody>
      </p:sp>
      <p:sp>
        <p:nvSpPr>
          <p:cNvPr id="20" name="Shape 18"/>
          <p:cNvSpPr/>
          <p:nvPr/>
        </p:nvSpPr>
        <p:spPr>
          <a:xfrm>
            <a:off x="8115605" y="3557016"/>
            <a:ext cx="3527450" cy="1929384"/>
          </a:xfrm>
          <a:prstGeom prst="roundRect">
            <a:avLst>
              <a:gd name="adj" fmla="val 2844"/>
            </a:avLst>
          </a:prstGeom>
          <a:solidFill>
            <a:srgbClr val="F4F8FC"/>
          </a:solidFill>
          <a:ln w="12700">
            <a:solidFill>
              <a:srgbClr val="C8D8EC"/>
            </a:solidFill>
            <a:prstDash val="solid"/>
          </a:ln>
        </p:spPr>
        <p:txBody>
          <a:bodyPr/>
          <a:lstStyle/>
          <a:p>
            <a:endParaRPr lang="fr-FR" sz="1600" noProof="0" dirty="0"/>
          </a:p>
        </p:txBody>
      </p:sp>
      <p:sp>
        <p:nvSpPr>
          <p:cNvPr id="21" name="Text 19"/>
          <p:cNvSpPr txBox="1"/>
          <p:nvPr/>
        </p:nvSpPr>
        <p:spPr>
          <a:xfrm>
            <a:off x="8280197" y="3648456"/>
            <a:ext cx="3198266" cy="292608"/>
          </a:xfrm>
          <a:prstGeom prst="rect">
            <a:avLst/>
          </a:prstGeom>
          <a:noFill/>
          <a:ln/>
        </p:spPr>
        <p:txBody>
          <a:bodyPr wrap="square" lIns="0" tIns="0" rIns="0" bIns="0" rtlCol="0" anchor="t">
            <a:normAutofit fontScale="85000" lnSpcReduction="10000"/>
          </a:bodyPr>
          <a:lstStyle/>
          <a:p>
            <a:pPr marL="0" indent="0">
              <a:buNone/>
            </a:pPr>
            <a:r>
              <a:rPr lang="fr-FR" sz="1600" b="1" noProof="0" dirty="0">
                <a:solidFill>
                  <a:srgbClr val="12315B"/>
                </a:solidFill>
                <a:latin typeface="Calibri" pitchFamily="34" charset="0"/>
                <a:ea typeface="Calibri" pitchFamily="34" charset="-122"/>
                <a:cs typeface="Calibri" pitchFamily="34" charset="-120"/>
              </a:rPr>
              <a:t>Le cancer du sein signifie toujours la mort</a:t>
            </a:r>
            <a:endParaRPr lang="fr-FR" sz="1600" noProof="0" dirty="0"/>
          </a:p>
        </p:txBody>
      </p:sp>
      <p:sp>
        <p:nvSpPr>
          <p:cNvPr id="22" name="Text 20"/>
          <p:cNvSpPr txBox="1"/>
          <p:nvPr/>
        </p:nvSpPr>
        <p:spPr>
          <a:xfrm>
            <a:off x="8280197" y="4234981"/>
            <a:ext cx="3198266" cy="1033272"/>
          </a:xfrm>
          <a:prstGeom prst="rect">
            <a:avLst/>
          </a:prstGeom>
          <a:noFill/>
          <a:ln/>
        </p:spPr>
        <p:txBody>
          <a:bodyPr wrap="square" lIns="0" tIns="0" rIns="0" bIns="0" rtlCol="0" anchor="t">
            <a:normAutofit fontScale="96000"/>
          </a:bodyPr>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Faux. Le pronostic dépend fortement du stade au diagnostic, et c’est précisément pour cela qu’une évaluation précoce compte.</a:t>
            </a:r>
            <a:endParaRPr lang="fr-FR" sz="1600" noProof="0" dirty="0"/>
          </a:p>
        </p:txBody>
      </p:sp>
      <p:sp>
        <p:nvSpPr>
          <p:cNvPr id="23" name="Shape 21"/>
          <p:cNvSpPr/>
          <p:nvPr/>
        </p:nvSpPr>
        <p:spPr>
          <a:xfrm>
            <a:off x="548640" y="5623560"/>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24" name="Text 22"/>
          <p:cNvSpPr txBox="1"/>
          <p:nvPr/>
        </p:nvSpPr>
        <p:spPr>
          <a:xfrm>
            <a:off x="713232" y="5696712"/>
            <a:ext cx="10765231" cy="420624"/>
          </a:xfrm>
          <a:prstGeom prst="rect">
            <a:avLst/>
          </a:prstGeom>
          <a:noFill/>
          <a:ln/>
        </p:spPr>
        <p:txBody>
          <a:bodyPr wrap="square" lIns="0" tIns="0" rIns="0" bIns="0" rtlCol="0" anchor="ct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Un coup ou une blessure au sein ne provoque pas de cancer du sein, même si c’est parfois à cette occasion qu’une personne remarque une boule déjà présente. Évaluez la boule au lieu de l’attribuer au choc.</a:t>
            </a:r>
            <a:endParaRPr lang="fr-FR" sz="1300" noProof="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Mise en application</a:t>
            </a:r>
            <a:endParaRPr lang="fr-FR"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fr-FR"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lstStyle/>
          <a:p>
            <a:pPr marL="0" indent="0">
              <a:lnSpc>
                <a:spcPct val="92000"/>
              </a:lnSpc>
              <a:buNone/>
            </a:pPr>
            <a:r>
              <a:rPr lang="fr-FR" sz="1600" b="1" noProof="0" dirty="0">
                <a:solidFill>
                  <a:srgbClr val="C9761A"/>
                </a:solidFill>
                <a:latin typeface="Calibri" pitchFamily="34" charset="0"/>
                <a:ea typeface="Calibri" pitchFamily="34" charset="-122"/>
                <a:cs typeface="Calibri" pitchFamily="34" charset="-120"/>
              </a:rPr>
              <a:t>Scénario </a:t>
            </a:r>
            <a:r>
              <a:rPr lang="fr-FR" sz="1600" noProof="0" dirty="0">
                <a:solidFill>
                  <a:srgbClr val="0B1F3F"/>
                </a:solidFill>
                <a:latin typeface="Calibri" pitchFamily="34" charset="0"/>
                <a:ea typeface="Calibri" pitchFamily="34" charset="-122"/>
                <a:cs typeface="Calibri" pitchFamily="34" charset="-120"/>
              </a:rPr>
              <a:t>Une femme a une boule du sein, une échographie anormale et une mammographie anormale. Sa fille demande si le diagnostic est maintenant certain.</a:t>
            </a:r>
            <a:endParaRPr lang="fr-FR" sz="1600"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fr-FR" sz="1900" b="1" noProof="0" dirty="0">
                <a:solidFill>
                  <a:srgbClr val="12315B"/>
                </a:solidFill>
                <a:latin typeface="Calibri" pitchFamily="34" charset="0"/>
                <a:ea typeface="Calibri" pitchFamily="34" charset="-122"/>
                <a:cs typeface="Calibri" pitchFamily="34" charset="-120"/>
              </a:rPr>
              <a:t>Qu'est-ce qui est exact ?</a:t>
            </a:r>
            <a:endParaRPr lang="fr-FR" sz="1900" noProof="0" dirty="0"/>
          </a:p>
        </p:txBody>
      </p:sp>
      <p:sp>
        <p:nvSpPr>
          <p:cNvPr id="8" name="Shape 6"/>
          <p:cNvSpPr/>
          <p:nvPr/>
        </p:nvSpPr>
        <p:spPr>
          <a:xfrm>
            <a:off x="548640" y="2816352"/>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9" name="Text 7"/>
          <p:cNvSpPr txBox="1"/>
          <p:nvPr/>
        </p:nvSpPr>
        <p:spPr>
          <a:xfrm>
            <a:off x="713232" y="2871216"/>
            <a:ext cx="7260336" cy="356616"/>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Le diagnostic est confirmé par l’ensemble de ces résultats</a:t>
            </a:r>
            <a:endParaRPr lang="fr-FR" sz="1800" noProof="0" dirty="0"/>
          </a:p>
        </p:txBody>
      </p:sp>
      <p:sp>
        <p:nvSpPr>
          <p:cNvPr id="10" name="Shape 8"/>
          <p:cNvSpPr/>
          <p:nvPr/>
        </p:nvSpPr>
        <p:spPr>
          <a:xfrm>
            <a:off x="548640" y="3374136"/>
            <a:ext cx="7589520" cy="713232"/>
          </a:xfrm>
          <a:prstGeom prst="roundRect">
            <a:avLst>
              <a:gd name="adj" fmla="val 6410"/>
            </a:avLst>
          </a:prstGeom>
          <a:solidFill>
            <a:srgbClr val="EAF5EF"/>
          </a:solidFill>
          <a:ln w="19050">
            <a:solidFill>
              <a:srgbClr val="8FC4A9"/>
            </a:solidFill>
            <a:prstDash val="solid"/>
          </a:ln>
        </p:spPr>
        <p:txBody>
          <a:bodyPr/>
          <a:lstStyle/>
          <a:p>
            <a:endParaRPr lang="fr-FR" noProof="0" dirty="0"/>
          </a:p>
        </p:txBody>
      </p:sp>
      <p:sp>
        <p:nvSpPr>
          <p:cNvPr id="11" name="Text 9"/>
          <p:cNvSpPr txBox="1"/>
          <p:nvPr/>
        </p:nvSpPr>
        <p:spPr>
          <a:xfrm>
            <a:off x="713232" y="3429000"/>
            <a:ext cx="7260336" cy="603504"/>
          </a:xfrm>
          <a:prstGeom prst="rect">
            <a:avLst/>
          </a:prstGeom>
          <a:noFill/>
          <a:ln/>
        </p:spPr>
        <p:txBody>
          <a:bodyPr wrap="square" lIns="0" tIns="0" rIns="0" bIns="0" rtlCol="0" anchor="ct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Le cancer du sein n’est confirmé que lorsque le tissu a été examiné en anatomopathologie ✓</a:t>
            </a:r>
            <a:endParaRPr lang="fr-FR" sz="1800" noProof="0" dirty="0"/>
          </a:p>
        </p:txBody>
      </p:sp>
      <p:sp>
        <p:nvSpPr>
          <p:cNvPr id="12" name="Shape 10"/>
          <p:cNvSpPr/>
          <p:nvPr/>
        </p:nvSpPr>
        <p:spPr>
          <a:xfrm>
            <a:off x="548640" y="4178808"/>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13" name="Text 11"/>
          <p:cNvSpPr txBox="1"/>
          <p:nvPr/>
        </p:nvSpPr>
        <p:spPr>
          <a:xfrm>
            <a:off x="713232" y="4233672"/>
            <a:ext cx="7260336" cy="356616"/>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mammographie seule le confirme</a:t>
            </a:r>
            <a:endParaRPr lang="fr-FR" sz="1800" noProof="0" dirty="0"/>
          </a:p>
        </p:txBody>
      </p:sp>
      <p:sp>
        <p:nvSpPr>
          <p:cNvPr id="14" name="Shape 12"/>
          <p:cNvSpPr/>
          <p:nvPr/>
        </p:nvSpPr>
        <p:spPr>
          <a:xfrm>
            <a:off x="548640" y="4736592"/>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15" name="Text 13"/>
          <p:cNvSpPr txBox="1"/>
          <p:nvPr/>
        </p:nvSpPr>
        <p:spPr>
          <a:xfrm>
            <a:off x="713232" y="4791456"/>
            <a:ext cx="7260336" cy="356616"/>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L'échographie seule le confirme</a:t>
            </a:r>
            <a:endParaRPr lang="fr-FR"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fr-FR"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fr-FR" sz="1800" b="1" noProof="0" dirty="0">
                <a:solidFill>
                  <a:srgbClr val="1B6E4A"/>
                </a:solidFill>
                <a:latin typeface="Calibri" pitchFamily="34" charset="0"/>
                <a:ea typeface="Calibri" pitchFamily="34" charset="-122"/>
                <a:cs typeface="Calibri" pitchFamily="34" charset="-120"/>
              </a:rPr>
              <a:t>Bonne réponse : B</a:t>
            </a:r>
            <a:endParaRPr lang="fr-FR"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normAutofit fontScale="96000"/>
          </a:bodyP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L’examen clinique et l’imagerie augmentent ou diminuent la suspicion et décrivent l’étendue d’une anomalie. Seule l’anatomopathologie confirme le cancer, précise le type et le grade, et permet la recherche des récepteurs qui guide le traitement. Dites clairement ce que l’on sait à ce stade et quelle est la prochaine étape, sans affirmer qu’un cancer a été trouvé.</a:t>
            </a:r>
            <a:endParaRPr lang="fr-FR" sz="1800" noProof="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(1 sur 3)</a:t>
            </a:r>
            <a:endParaRPr lang="fr-FR" sz="3000" noProof="0" dirty="0"/>
          </a:p>
        </p:txBody>
      </p:sp>
      <p:sp>
        <p:nvSpPr>
          <p:cNvPr id="5" name="Shape 3"/>
          <p:cNvSpPr/>
          <p:nvPr/>
        </p:nvSpPr>
        <p:spPr>
          <a:xfrm>
            <a:off x="548640" y="1738274"/>
            <a:ext cx="11094415" cy="1841602"/>
          </a:xfrm>
          <a:prstGeom prst="roundRect">
            <a:avLst>
              <a:gd name="adj" fmla="val 297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 Le cancer du sein est confirmé par :</a:t>
            </a:r>
            <a:endParaRPr lang="fr-FR" sz="1800" noProof="0" dirty="0"/>
          </a:p>
        </p:txBody>
      </p:sp>
      <p:sp>
        <p:nvSpPr>
          <p:cNvPr id="7" name="Text 5"/>
          <p:cNvSpPr txBox="1"/>
          <p:nvPr/>
        </p:nvSpPr>
        <p:spPr>
          <a:xfrm>
            <a:off x="731520" y="226862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La mammographie</a:t>
            </a:r>
            <a:endParaRPr lang="fr-FR" sz="1800" noProof="0" dirty="0"/>
          </a:p>
        </p:txBody>
      </p:sp>
      <p:sp>
        <p:nvSpPr>
          <p:cNvPr id="8" name="Text 6"/>
          <p:cNvSpPr txBox="1"/>
          <p:nvPr/>
        </p:nvSpPr>
        <p:spPr>
          <a:xfrm>
            <a:off x="6210148" y="226862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L’examen clinique du sein</a:t>
            </a:r>
            <a:endParaRPr lang="fr-FR" sz="1800" noProof="0" dirty="0"/>
          </a:p>
        </p:txBody>
      </p:sp>
      <p:sp>
        <p:nvSpPr>
          <p:cNvPr id="9" name="Text 7"/>
          <p:cNvSpPr txBox="1"/>
          <p:nvPr/>
        </p:nvSpPr>
        <p:spPr>
          <a:xfrm>
            <a:off x="731520" y="264353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La biopsie et l’histopathologie</a:t>
            </a:r>
            <a:endParaRPr lang="fr-FR" sz="1800" noProof="0" dirty="0"/>
          </a:p>
        </p:txBody>
      </p:sp>
      <p:sp>
        <p:nvSpPr>
          <p:cNvPr id="10" name="Text 8"/>
          <p:cNvSpPr txBox="1"/>
          <p:nvPr/>
        </p:nvSpPr>
        <p:spPr>
          <a:xfrm>
            <a:off x="6210148" y="2643530"/>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L’échographie mammaire</a:t>
            </a:r>
            <a:endParaRPr lang="fr-FR" sz="1800" noProof="0" dirty="0"/>
          </a:p>
        </p:txBody>
      </p:sp>
      <p:sp>
        <p:nvSpPr>
          <p:cNvPr id="11" name="Text 9"/>
          <p:cNvSpPr txBox="1"/>
          <p:nvPr/>
        </p:nvSpPr>
        <p:spPr>
          <a:xfrm>
            <a:off x="731520" y="3073298"/>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C. </a:t>
            </a:r>
            <a:r>
              <a:rPr lang="fr-FR" sz="1350" noProof="0" dirty="0">
                <a:solidFill>
                  <a:srgbClr val="0B1F3F"/>
                </a:solidFill>
                <a:latin typeface="Calibri" pitchFamily="34" charset="0"/>
                <a:ea typeface="Calibri" pitchFamily="34" charset="-122"/>
                <a:cs typeface="Calibri" pitchFamily="34" charset="-120"/>
              </a:rPr>
              <a:t>L’examen du tissu au microscope confirme le diagnostic et fournit le type, le grade et les résultats des récepteurs qui déterminent le traitement.</a:t>
            </a:r>
            <a:endParaRPr lang="fr-FR" sz="1350" noProof="0" dirty="0"/>
          </a:p>
        </p:txBody>
      </p:sp>
      <p:sp>
        <p:nvSpPr>
          <p:cNvPr id="12" name="Shape 10"/>
          <p:cNvSpPr/>
          <p:nvPr/>
        </p:nvSpPr>
        <p:spPr>
          <a:xfrm>
            <a:off x="548640" y="3781044"/>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890772"/>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Q2. Un examen mammaire normal chez une personne signalant un changement mammaire persistant signifie :</a:t>
            </a:r>
            <a:endParaRPr lang="fr-FR" sz="1800" noProof="0" dirty="0"/>
          </a:p>
        </p:txBody>
      </p:sp>
      <p:sp>
        <p:nvSpPr>
          <p:cNvPr id="14" name="Text 12"/>
          <p:cNvSpPr txBox="1"/>
          <p:nvPr/>
        </p:nvSpPr>
        <p:spPr>
          <a:xfrm>
            <a:off x="731520" y="431139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Le cancer n'est pas exclu et l'évaluation doit se poursuivre</a:t>
            </a:r>
            <a:endParaRPr lang="fr-FR" sz="1800" noProof="0" dirty="0"/>
          </a:p>
        </p:txBody>
      </p:sp>
      <p:sp>
        <p:nvSpPr>
          <p:cNvPr id="15" name="Text 13"/>
          <p:cNvSpPr txBox="1"/>
          <p:nvPr/>
        </p:nvSpPr>
        <p:spPr>
          <a:xfrm>
            <a:off x="6210148" y="431139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Le cancer est exclu</a:t>
            </a:r>
            <a:endParaRPr lang="fr-FR"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Aucune orientation n'est nécessaire</a:t>
            </a:r>
            <a:endParaRPr lang="fr-FR"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Un test de dépistage suffit désormais</a:t>
            </a:r>
            <a:endParaRPr lang="fr-FR" sz="1800" noProof="0" dirty="0"/>
          </a:p>
        </p:txBody>
      </p:sp>
      <p:sp>
        <p:nvSpPr>
          <p:cNvPr id="18" name="Text 16"/>
          <p:cNvSpPr txBox="1"/>
          <p:nvPr/>
        </p:nvSpPr>
        <p:spPr>
          <a:xfrm>
            <a:off x="731520" y="536295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Tous les cancers du sein ne sont pas palpables, surtout dans un tissu mammaire dense. Notez l’examen normal et poursuivez l’évaluation.</a:t>
            </a:r>
            <a:endParaRPr lang="fr-FR" sz="1350" noProof="0" dirty="0"/>
          </a:p>
        </p:txBody>
      </p:sp>
    </p:spTree>
    <p:extLst>
      <p:ext uri="{BB962C8B-B14F-4D97-AF65-F5344CB8AC3E}">
        <p14:creationId xmlns:p14="http://schemas.microsoft.com/office/powerpoint/2010/main" val="268648411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(2 sur 3)</a:t>
            </a:r>
            <a:endParaRPr lang="fr-FR" sz="3000" noProof="0" dirty="0"/>
          </a:p>
        </p:txBody>
      </p:sp>
      <p:sp>
        <p:nvSpPr>
          <p:cNvPr id="5" name="Shape 3"/>
          <p:cNvSpPr/>
          <p:nvPr/>
        </p:nvSpPr>
        <p:spPr>
          <a:xfrm>
            <a:off x="548640" y="1738274"/>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Q3. Une tumeur est décrite comme ER positive et HER2 négative. Cela signifie :</a:t>
            </a:r>
            <a:endParaRPr lang="fr-FR" sz="1800" noProof="0" dirty="0"/>
          </a:p>
        </p:txBody>
      </p:sp>
      <p:sp>
        <p:nvSpPr>
          <p:cNvPr id="7" name="Text 5"/>
          <p:cNvSpPr txBox="1"/>
          <p:nvPr/>
        </p:nvSpPr>
        <p:spPr>
          <a:xfrm>
            <a:off x="731520" y="2268626"/>
            <a:ext cx="5250028" cy="566928"/>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L’hormonothérapie fera probablement partie du plan de traitement</a:t>
            </a:r>
            <a:endParaRPr lang="fr-FR" sz="1800" noProof="0" dirty="0"/>
          </a:p>
        </p:txBody>
      </p:sp>
      <p:sp>
        <p:nvSpPr>
          <p:cNvPr id="8" name="Text 6"/>
          <p:cNvSpPr txBox="1"/>
          <p:nvPr/>
        </p:nvSpPr>
        <p:spPr>
          <a:xfrm>
            <a:off x="6210148" y="2268626"/>
            <a:ext cx="5250028" cy="566928"/>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Le cancer s'est propagé aux ganglions lymphatiques</a:t>
            </a:r>
            <a:endParaRPr lang="fr-FR"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Un traitement anti-HER2 sera forcément administré</a:t>
            </a:r>
            <a:endParaRPr lang="fr-FR"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 chimiothérapie n’est jamais nécessaire</a:t>
            </a:r>
            <a:endParaRPr lang="fr-FR"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normAutofit fontScale="980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La positivité ER indique que la tumeur répondra probablement à l’hormonothérapie. HER2 négatif signifie qu’un traitement anti-HER2 n’est pas indiqué. Aucun de ces résultats ne décrit le stade, et une chimiothérapie peut quand même faire partie du plan selon d’autres facteurs.</a:t>
            </a:r>
            <a:endParaRPr lang="fr-FR" sz="1350" noProof="0" dirty="0"/>
          </a:p>
        </p:txBody>
      </p:sp>
      <p:sp>
        <p:nvSpPr>
          <p:cNvPr id="12" name="Shape 10"/>
          <p:cNvSpPr/>
          <p:nvPr/>
        </p:nvSpPr>
        <p:spPr>
          <a:xfrm>
            <a:off x="548640" y="4027932"/>
            <a:ext cx="11094415" cy="1841602"/>
          </a:xfrm>
          <a:prstGeom prst="roundRect">
            <a:avLst>
              <a:gd name="adj" fmla="val 297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Q4. L’hormonothérapie diffère de la radiothérapie parce qu’elle :</a:t>
            </a:r>
            <a:endParaRPr lang="fr-FR" sz="1800" noProof="0" dirty="0"/>
          </a:p>
        </p:txBody>
      </p:sp>
      <p:sp>
        <p:nvSpPr>
          <p:cNvPr id="14" name="Text 12"/>
          <p:cNvSpPr txBox="1"/>
          <p:nvPr/>
        </p:nvSpPr>
        <p:spPr>
          <a:xfrm>
            <a:off x="731520" y="4558284"/>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N’agit que là où elle est dirigée</a:t>
            </a:r>
            <a:endParaRPr lang="fr-FR" sz="1800" noProof="0" dirty="0"/>
          </a:p>
        </p:txBody>
      </p:sp>
      <p:sp>
        <p:nvSpPr>
          <p:cNvPr id="15" name="Text 13"/>
          <p:cNvSpPr txBox="1"/>
          <p:nvPr/>
        </p:nvSpPr>
        <p:spPr>
          <a:xfrm>
            <a:off x="6210148" y="4558284"/>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Est toujours donnée en premier</a:t>
            </a:r>
            <a:endParaRPr lang="fr-FR"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Ne nécessite aucune surveillance</a:t>
            </a:r>
            <a:endParaRPr lang="fr-FR"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D. Agit dans tout l’organisme</a:t>
            </a:r>
            <a:endParaRPr lang="fr-FR" sz="1800" noProof="0" dirty="0"/>
          </a:p>
        </p:txBody>
      </p:sp>
      <p:sp>
        <p:nvSpPr>
          <p:cNvPr id="18" name="Text 16"/>
          <p:cNvSpPr txBox="1"/>
          <p:nvPr/>
        </p:nvSpPr>
        <p:spPr>
          <a:xfrm>
            <a:off x="731520" y="5362956"/>
            <a:ext cx="10728655" cy="433426"/>
          </a:xfrm>
          <a:prstGeom prst="rect">
            <a:avLst/>
          </a:prstGeom>
          <a:noFill/>
          <a:ln/>
        </p:spPr>
        <p:txBody>
          <a:bodyPr wrap="square" lIns="0" tIns="0" rIns="0" bIns="0" rtlCol="0" anchor="t">
            <a:normAutofit fontScale="980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D. </a:t>
            </a:r>
            <a:r>
              <a:rPr lang="fr-FR" sz="1350" noProof="0" dirty="0">
                <a:solidFill>
                  <a:srgbClr val="0B1F3F"/>
                </a:solidFill>
                <a:latin typeface="Calibri" pitchFamily="34" charset="0"/>
                <a:ea typeface="Calibri" pitchFamily="34" charset="-122"/>
                <a:cs typeface="Calibri" pitchFamily="34" charset="-120"/>
              </a:rPr>
              <a:t>L’hormonothérapie est un traitement systémique, généralement pris pendant plusieurs années. La radiothérapie est locale ou locorégionale et n’agit que dans la zone traitée.</a:t>
            </a:r>
            <a:endParaRPr lang="fr-FR" sz="1350" noProof="0" dirty="0"/>
          </a:p>
        </p:txBody>
      </p:sp>
    </p:spTree>
    <p:extLst>
      <p:ext uri="{BB962C8B-B14F-4D97-AF65-F5344CB8AC3E}">
        <p14:creationId xmlns:p14="http://schemas.microsoft.com/office/powerpoint/2010/main" val="108588119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(3 sur 3)</a:t>
            </a:r>
            <a:endParaRPr lang="fr-FR" sz="3000" noProof="0" dirty="0"/>
          </a:p>
        </p:txBody>
      </p:sp>
      <p:sp>
        <p:nvSpPr>
          <p:cNvPr id="5" name="Shape 3"/>
          <p:cNvSpPr/>
          <p:nvPr/>
        </p:nvSpPr>
        <p:spPr>
          <a:xfrm>
            <a:off x="548640" y="1738274"/>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Q5. Une patiente a peur que l’opération lui fasse perdre son sein. La réponse exacte est :</a:t>
            </a:r>
            <a:endParaRPr lang="fr-FR" sz="1800" noProof="0" dirty="0"/>
          </a:p>
        </p:txBody>
      </p:sp>
      <p:sp>
        <p:nvSpPr>
          <p:cNvPr id="7" name="Text 5"/>
          <p:cNvSpPr txBox="1"/>
          <p:nvPr/>
        </p:nvSpPr>
        <p:spPr>
          <a:xfrm>
            <a:off x="731520" y="2268626"/>
            <a:ext cx="5250028" cy="566928"/>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Toutes les personnes atteintes d’un cancer du sein ont une ablation du sein</a:t>
            </a:r>
            <a:endParaRPr lang="fr-FR" sz="1800" noProof="0" dirty="0"/>
          </a:p>
        </p:txBody>
      </p:sp>
      <p:sp>
        <p:nvSpPr>
          <p:cNvPr id="8" name="Text 6"/>
          <p:cNvSpPr txBox="1"/>
          <p:nvPr/>
        </p:nvSpPr>
        <p:spPr>
          <a:xfrm>
            <a:off x="6210148" y="2268626"/>
            <a:ext cx="5250028" cy="566928"/>
          </a:xfrm>
          <a:prstGeom prst="rect">
            <a:avLst/>
          </a:prstGeom>
          <a:noFill/>
          <a:ln/>
        </p:spPr>
        <p:txBody>
          <a:bodyPr wrap="square" lIns="0" tIns="0" rIns="0" bIns="0" rtlCol="0" anchor="t">
            <a:normAutofit fontScale="92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La chirurgie conservatrice du sein est possible pour de nombreuses patientes, et le choix dépend de la situation</a:t>
            </a:r>
            <a:endParaRPr lang="fr-FR"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Plus personne n’a besoin de mastectomie aujourd’hui</a:t>
            </a:r>
            <a:endParaRPr lang="fr-FR"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 chirurgien décide sans aucune discussion</a:t>
            </a:r>
            <a:endParaRPr lang="fr-FR"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C’est l’une des peurs les plus fréquentes et l’une des causes les plus fréquentes de retard. Répondez-y honnêtement et tôt, sans promettre une opération précise.</a:t>
            </a:r>
            <a:endParaRPr lang="fr-FR" sz="1350" noProof="0" dirty="0"/>
          </a:p>
        </p:txBody>
      </p:sp>
      <p:sp>
        <p:nvSpPr>
          <p:cNvPr id="12" name="Shape 10"/>
          <p:cNvSpPr/>
          <p:nvPr/>
        </p:nvSpPr>
        <p:spPr>
          <a:xfrm>
            <a:off x="548640" y="4027932"/>
            <a:ext cx="11094415" cy="2095602"/>
          </a:xfrm>
          <a:prstGeom prst="roundRect">
            <a:avLst>
              <a:gd name="adj" fmla="val 297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Q6. Le bilan d’extension du cancer du sein sert principalement à :</a:t>
            </a:r>
            <a:endParaRPr lang="fr-FR" sz="1800" noProof="0" dirty="0"/>
          </a:p>
        </p:txBody>
      </p:sp>
      <p:sp>
        <p:nvSpPr>
          <p:cNvPr id="14" name="Text 12"/>
          <p:cNvSpPr txBox="1"/>
          <p:nvPr/>
        </p:nvSpPr>
        <p:spPr>
          <a:xfrm>
            <a:off x="731520" y="4558284"/>
            <a:ext cx="5250028" cy="32004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Confirmer la présence d’un cancer</a:t>
            </a:r>
            <a:endParaRPr lang="fr-FR" sz="1800" noProof="0" dirty="0"/>
          </a:p>
        </p:txBody>
      </p:sp>
      <p:sp>
        <p:nvSpPr>
          <p:cNvPr id="15" name="Text 13"/>
          <p:cNvSpPr txBox="1"/>
          <p:nvPr/>
        </p:nvSpPr>
        <p:spPr>
          <a:xfrm>
            <a:off x="6210148" y="4558284"/>
            <a:ext cx="5250028" cy="32004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Remplacer la biopsie</a:t>
            </a:r>
            <a:endParaRPr lang="fr-FR" sz="1800" noProof="0" dirty="0"/>
          </a:p>
        </p:txBody>
      </p:sp>
      <p:sp>
        <p:nvSpPr>
          <p:cNvPr id="16" name="Text 14"/>
          <p:cNvSpPr txBox="1"/>
          <p:nvPr/>
        </p:nvSpPr>
        <p:spPr>
          <a:xfrm>
            <a:off x="731520" y="4933188"/>
            <a:ext cx="5250028" cy="571500"/>
          </a:xfrm>
          <a:prstGeom prst="rect">
            <a:avLst/>
          </a:prstGeom>
          <a:noFill/>
          <a:ln/>
        </p:spPr>
        <p:txBody>
          <a:bodyPr wrap="square" lIns="0" tIns="0" rIns="0" bIns="0" rtlCol="0" anchor="t">
            <a:normAutofit/>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Évaluer l'étendue de la maladie et planifier le traitement</a:t>
            </a:r>
            <a:endParaRPr lang="fr-FR" sz="1800" noProof="0" dirty="0"/>
          </a:p>
        </p:txBody>
      </p:sp>
      <p:sp>
        <p:nvSpPr>
          <p:cNvPr id="17" name="Text 15"/>
          <p:cNvSpPr txBox="1"/>
          <p:nvPr/>
        </p:nvSpPr>
        <p:spPr>
          <a:xfrm>
            <a:off x="6210148" y="4933188"/>
            <a:ext cx="5250028" cy="57150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Déterminer le grade de la tumeur</a:t>
            </a:r>
            <a:endParaRPr lang="fr-FR" sz="1800" noProof="0" dirty="0"/>
          </a:p>
        </p:txBody>
      </p:sp>
      <p:sp>
        <p:nvSpPr>
          <p:cNvPr id="18" name="Text 16"/>
          <p:cNvSpPr txBox="1"/>
          <p:nvPr/>
        </p:nvSpPr>
        <p:spPr>
          <a:xfrm>
            <a:off x="731520" y="561695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C. </a:t>
            </a:r>
            <a:r>
              <a:rPr lang="fr-FR" sz="1350" noProof="0" dirty="0">
                <a:solidFill>
                  <a:srgbClr val="0B1F3F"/>
                </a:solidFill>
                <a:latin typeface="Calibri" pitchFamily="34" charset="0"/>
                <a:ea typeface="Calibri" pitchFamily="34" charset="-122"/>
                <a:cs typeface="Calibri" pitchFamily="34" charset="-120"/>
              </a:rPr>
              <a:t>La stadification décrit jusqu’où la maladie s’est étendue. L’anatomopathologie confirme le diagnostic et rapporte le grade et les résultats des récepteurs.</a:t>
            </a:r>
            <a:endParaRPr lang="fr-FR" sz="1350" noProof="0" dirty="0"/>
          </a:p>
        </p:txBody>
      </p:sp>
    </p:spTree>
    <p:extLst>
      <p:ext uri="{BB962C8B-B14F-4D97-AF65-F5344CB8AC3E}">
        <p14:creationId xmlns:p14="http://schemas.microsoft.com/office/powerpoint/2010/main" val="229485473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4</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Réflexion sur la session</a:t>
            </a:r>
            <a:endParaRPr lang="fr-FR"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noAutofit/>
          </a:bodyPr>
          <a:lstStyle/>
          <a:p>
            <a:pPr marL="0" indent="0">
              <a:lnSpc>
                <a:spcPct val="95000"/>
              </a:lnSpc>
              <a:buNone/>
            </a:pPr>
            <a:r>
              <a:rPr lang="fr-FR" sz="1409" i="1" noProof="0" dirty="0">
                <a:solidFill>
                  <a:srgbClr val="5B7699"/>
                </a:solidFill>
                <a:latin typeface="Calibri" pitchFamily="34" charset="0"/>
                <a:ea typeface="Calibri" pitchFamily="34" charset="-122"/>
                <a:cs typeface="Calibri" pitchFamily="34" charset="-120"/>
              </a:rPr>
              <a:t>Saisissez votre réponse dans la zone de texte. Il n'y a pas de réponse unique correcte. Ces questions ne sont pas notées et servent à votre propre pratique et à la discussion.</a:t>
            </a:r>
            <a:endParaRPr lang="fr-FR" sz="1409"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fr-FR"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1</a:t>
            </a:r>
            <a:endParaRPr lang="fr-FR"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Comment expliqueriez-vous une </a:t>
            </a:r>
            <a:r>
              <a:rPr lang="fr-FR" sz="1800" noProof="0" dirty="0" err="1">
                <a:solidFill>
                  <a:srgbClr val="0B1F3F"/>
                </a:solidFill>
                <a:latin typeface="Calibri" pitchFamily="34" charset="0"/>
                <a:ea typeface="Calibri" pitchFamily="34" charset="-122"/>
                <a:cs typeface="Calibri" pitchFamily="34" charset="-120"/>
              </a:rPr>
              <a:t>microbiopsie</a:t>
            </a:r>
            <a:r>
              <a:rPr lang="fr-FR" sz="1800" noProof="0" dirty="0">
                <a:solidFill>
                  <a:srgbClr val="0B1F3F"/>
                </a:solidFill>
                <a:latin typeface="Calibri" pitchFamily="34" charset="0"/>
                <a:ea typeface="Calibri" pitchFamily="34" charset="-122"/>
                <a:cs typeface="Calibri" pitchFamily="34" charset="-120"/>
              </a:rPr>
              <a:t>, en termes simples, à quelqu’un qui n’en a jamais entendu parler et qui en a peur ?</a:t>
            </a:r>
            <a:endParaRPr lang="fr-FR"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fr-FR"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2</a:t>
            </a:r>
            <a:endParaRPr lang="fr-FR"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Comment décririez-vous la différence entre un traitement qui agit localement et un traitement qui agit dans tout l’organisme ?</a:t>
            </a:r>
            <a:endParaRPr lang="fr-FR"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fr-FR"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3</a:t>
            </a:r>
            <a:endParaRPr lang="fr-FR"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Quelle idée reçue sur le cancer du sein aimeriez-vous le plus corriger dans votre propre contexte, et comment y procéderiez-vous ?</a:t>
            </a:r>
            <a:endParaRPr lang="fr-FR" sz="1800" noProof="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03">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noAutofit/>
          </a:bodyPr>
          <a:lstStyle/>
          <a:p>
            <a:pPr marL="0" indent="0">
              <a:buNone/>
            </a:pPr>
            <a:r>
              <a:rPr lang="fr-FR" sz="10455" b="1" noProof="0" dirty="0">
                <a:solidFill>
                  <a:srgbClr val="2C5C99"/>
                </a:solidFill>
                <a:latin typeface="Calibri" pitchFamily="34" charset="0"/>
                <a:ea typeface="Calibri" pitchFamily="34" charset="-122"/>
                <a:cs typeface="Calibri" pitchFamily="34" charset="-120"/>
              </a:rPr>
              <a:t>5</a:t>
            </a:r>
            <a:endParaRPr lang="fr-FR" sz="10455"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fr-FR" sz="1600" b="1" noProof="0" dirty="0">
                <a:solidFill>
                  <a:srgbClr val="9FC2E8"/>
                </a:solidFill>
                <a:latin typeface="Calibri" pitchFamily="34" charset="0"/>
                <a:ea typeface="Calibri" pitchFamily="34" charset="-122"/>
                <a:cs typeface="Calibri" pitchFamily="34" charset="-120"/>
              </a:rPr>
              <a:t>S e s s i o n 5</a:t>
            </a:r>
            <a:endParaRPr lang="fr-FR"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fr-FR" sz="4000" b="1" noProof="0" dirty="0">
                <a:solidFill>
                  <a:srgbClr val="FFFFFF"/>
                </a:solidFill>
                <a:latin typeface="Calibri" pitchFamily="34" charset="0"/>
                <a:ea typeface="Calibri" pitchFamily="34" charset="-122"/>
                <a:cs typeface="Calibri" pitchFamily="34" charset="-120"/>
              </a:rPr>
              <a:t>Traitement de soutien</a:t>
            </a:r>
            <a:endParaRPr lang="fr-FR"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fr-FR" sz="1800" noProof="0" dirty="0">
                <a:solidFill>
                  <a:srgbClr val="CFE0F4"/>
                </a:solidFill>
                <a:latin typeface="Calibri" pitchFamily="34" charset="0"/>
                <a:ea typeface="Calibri" pitchFamily="34" charset="-122"/>
                <a:cs typeface="Calibri" pitchFamily="34" charset="-120"/>
              </a:rPr>
              <a:t>Accompagnez les personnes pendant et après le traitement : reconnaissez les effets, repérez les urgences, préservez le bras et l’épaule, et protégez la qualité de vie.</a:t>
            </a:r>
            <a:endParaRPr lang="fr-FR"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fr-FR" sz="1000" noProof="0" dirty="0">
                <a:solidFill>
                  <a:srgbClr val="7FA6D4"/>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Objectifs d'apprentissage</a:t>
            </a:r>
            <a:endParaRPr lang="fr-FR"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fr-FR" b="1" noProof="0" dirty="0">
                <a:solidFill>
                  <a:srgbClr val="12315B"/>
                </a:solidFill>
                <a:latin typeface="Calibri" pitchFamily="34" charset="0"/>
                <a:ea typeface="Calibri" pitchFamily="34" charset="-122"/>
                <a:cs typeface="Calibri" pitchFamily="34" charset="-120"/>
              </a:rPr>
              <a:t>Reconnaître</a:t>
            </a:r>
            <a:endParaRPr lang="fr-FR"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Reconnaître les effets courants de la chirurgie, de la radiothérapie, de l’hormonothérapie et de la chimiothérapie.</a:t>
            </a:r>
            <a:endParaRPr lang="fr-FR"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fr-FR" b="1" noProof="0" dirty="0">
                <a:solidFill>
                  <a:srgbClr val="12315B"/>
                </a:solidFill>
                <a:latin typeface="Calibri" pitchFamily="34" charset="0"/>
                <a:ea typeface="Calibri" pitchFamily="34" charset="-122"/>
                <a:cs typeface="Calibri" pitchFamily="34" charset="-120"/>
              </a:rPr>
              <a:t>Classer</a:t>
            </a:r>
            <a:endParaRPr lang="fr-FR"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Classer les effets en attendus, à évaluer et urgents.</a:t>
            </a:r>
            <a:endParaRPr lang="fr-FR"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fr-FR" b="1" noProof="0" dirty="0">
                <a:solidFill>
                  <a:srgbClr val="12315B"/>
                </a:solidFill>
                <a:latin typeface="Calibri" pitchFamily="34" charset="0"/>
                <a:ea typeface="Calibri" pitchFamily="34" charset="-122"/>
                <a:cs typeface="Calibri" pitchFamily="34" charset="-120"/>
              </a:rPr>
              <a:t>Évaluer</a:t>
            </a:r>
            <a:endParaRPr lang="fr-FR"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Évaluer un gonflement du bras et orienter, et soutenir la récupération du bras et de l’épaule.</a:t>
            </a:r>
            <a:endParaRPr lang="fr-FR"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lstStyle/>
          <a:p>
            <a:pPr marL="0" indent="0">
              <a:buNone/>
            </a:pPr>
            <a:r>
              <a:rPr lang="fr-FR" b="1" noProof="0" dirty="0">
                <a:solidFill>
                  <a:srgbClr val="12315B"/>
                </a:solidFill>
                <a:latin typeface="Calibri" pitchFamily="34" charset="0"/>
                <a:ea typeface="Calibri" pitchFamily="34" charset="-122"/>
                <a:cs typeface="Calibri" pitchFamily="34" charset="-120"/>
              </a:rPr>
              <a:t>Soutenir</a:t>
            </a:r>
            <a:endParaRPr lang="fr-FR"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Soutenir l’observance d’une hormonothérapie prise pendant plusieurs années.</a:t>
            </a:r>
            <a:endParaRPr lang="fr-FR"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lstStyle/>
          <a:p>
            <a:pPr marL="0" indent="0">
              <a:buNone/>
            </a:pPr>
            <a:r>
              <a:rPr lang="fr-FR" b="1" noProof="0" dirty="0">
                <a:solidFill>
                  <a:srgbClr val="12315B"/>
                </a:solidFill>
                <a:latin typeface="Calibri" pitchFamily="34" charset="0"/>
                <a:ea typeface="Calibri" pitchFamily="34" charset="-122"/>
                <a:cs typeface="Calibri" pitchFamily="34" charset="-120"/>
              </a:rPr>
              <a:t>Aborder</a:t>
            </a:r>
            <a:endParaRPr lang="fr-FR"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Aborder avec respect l’image corporelle, la santé sexuelle, la fertilité et la ménopause.</a:t>
            </a:r>
            <a:endParaRPr lang="fr-FR"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fr-FR"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lstStyle/>
          <a:p>
            <a:pPr marL="0" indent="0">
              <a:buNone/>
            </a:pPr>
            <a:r>
              <a:rPr lang="fr-FR" b="1" noProof="0" dirty="0">
                <a:solidFill>
                  <a:srgbClr val="12315B"/>
                </a:solidFill>
                <a:latin typeface="Calibri" pitchFamily="34" charset="0"/>
                <a:ea typeface="Calibri" pitchFamily="34" charset="-122"/>
                <a:cs typeface="Calibri" pitchFamily="34" charset="-120"/>
              </a:rPr>
              <a:t>Suivi</a:t>
            </a:r>
            <a:endParaRPr lang="fr-FR"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fr-FR" noProof="0" dirty="0">
                <a:solidFill>
                  <a:srgbClr val="1F3A63"/>
                </a:solidFill>
                <a:latin typeface="Calibri" pitchFamily="34" charset="0"/>
                <a:ea typeface="Calibri" pitchFamily="34" charset="-122"/>
                <a:cs typeface="Calibri" pitchFamily="34" charset="-120"/>
              </a:rPr>
              <a:t>Expliquer le but du suivi et encourager à signaler rapidement tout nouveau symptôme.</a:t>
            </a:r>
            <a:endParaRPr lang="fr-FR" noProof="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Effets à reconnaître, par traitement</a:t>
            </a:r>
            <a:endParaRPr lang="fr-FR" sz="3000" noProof="0" dirty="0"/>
          </a:p>
        </p:txBody>
      </p:sp>
      <p:sp>
        <p:nvSpPr>
          <p:cNvPr id="5" name="Shape 3"/>
          <p:cNvSpPr/>
          <p:nvPr/>
        </p:nvSpPr>
        <p:spPr>
          <a:xfrm>
            <a:off x="548640" y="1325880"/>
            <a:ext cx="5319913" cy="4709160"/>
          </a:xfrm>
          <a:prstGeom prst="roundRect">
            <a:avLst>
              <a:gd name="adj" fmla="val 212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804673" y="1754345"/>
            <a:ext cx="2252396" cy="331569"/>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Chirurgie</a:t>
            </a:r>
            <a:endParaRPr lang="fr-FR" sz="1800" noProof="0" dirty="0"/>
          </a:p>
        </p:txBody>
      </p:sp>
      <p:sp>
        <p:nvSpPr>
          <p:cNvPr id="7" name="Text 5"/>
          <p:cNvSpPr txBox="1"/>
          <p:nvPr/>
        </p:nvSpPr>
        <p:spPr>
          <a:xfrm>
            <a:off x="804673" y="2193257"/>
            <a:ext cx="4929700" cy="3449897"/>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500" noProof="0" dirty="0">
                <a:solidFill>
                  <a:srgbClr val="0B1F3F"/>
                </a:solidFill>
                <a:latin typeface="Calibri" pitchFamily="34" charset="0"/>
                <a:ea typeface="Calibri" pitchFamily="34" charset="-122"/>
                <a:cs typeface="Calibri" pitchFamily="34" charset="-120"/>
              </a:rPr>
              <a:t>Douleur de la cicatrice, gonflement et ecchymoses</a:t>
            </a:r>
            <a:endParaRPr lang="fr-FR" sz="1500" noProof="0" dirty="0"/>
          </a:p>
          <a:p>
            <a:pPr marL="342900" indent="-342900">
              <a:lnSpc>
                <a:spcPct val="95000"/>
              </a:lnSpc>
              <a:spcAft>
                <a:spcPts val="600"/>
              </a:spcAft>
              <a:buSzPct val="100000"/>
              <a:buChar char="•"/>
            </a:pPr>
            <a:r>
              <a:rPr lang="fr-FR" sz="1500" noProof="0" dirty="0">
                <a:solidFill>
                  <a:srgbClr val="0B1F3F"/>
                </a:solidFill>
                <a:latin typeface="Calibri" pitchFamily="34" charset="0"/>
                <a:ea typeface="Calibri" pitchFamily="34" charset="-122"/>
                <a:cs typeface="Calibri" pitchFamily="34" charset="-120"/>
              </a:rPr>
              <a:t>Infection de la plaie ou collection liquidienne (</a:t>
            </a:r>
            <a:r>
              <a:rPr lang="fr-FR" sz="1500" noProof="0" dirty="0" err="1">
                <a:solidFill>
                  <a:srgbClr val="0B1F3F"/>
                </a:solidFill>
                <a:latin typeface="Calibri" pitchFamily="34" charset="0"/>
                <a:ea typeface="Calibri" pitchFamily="34" charset="-122"/>
                <a:cs typeface="Calibri" pitchFamily="34" charset="-120"/>
              </a:rPr>
              <a:t>sérome</a:t>
            </a:r>
            <a:r>
              <a:rPr lang="fr-FR" sz="1500" noProof="0" dirty="0">
                <a:solidFill>
                  <a:srgbClr val="0B1F3F"/>
                </a:solidFill>
                <a:latin typeface="Calibri" pitchFamily="34" charset="0"/>
                <a:ea typeface="Calibri" pitchFamily="34" charset="-122"/>
                <a:cs typeface="Calibri" pitchFamily="34" charset="-120"/>
              </a:rPr>
              <a:t>)</a:t>
            </a:r>
            <a:endParaRPr lang="fr-FR" sz="1500" noProof="0" dirty="0"/>
          </a:p>
          <a:p>
            <a:pPr marL="342900" indent="-342900">
              <a:lnSpc>
                <a:spcPct val="95000"/>
              </a:lnSpc>
              <a:spcAft>
                <a:spcPts val="600"/>
              </a:spcAft>
              <a:buSzPct val="100000"/>
              <a:buChar char="•"/>
            </a:pPr>
            <a:r>
              <a:rPr lang="fr-FR" sz="1500" noProof="0" dirty="0">
                <a:solidFill>
                  <a:srgbClr val="0B1F3F"/>
                </a:solidFill>
                <a:latin typeface="Calibri" pitchFamily="34" charset="0"/>
                <a:ea typeface="Calibri" pitchFamily="34" charset="-122"/>
                <a:cs typeface="Calibri" pitchFamily="34" charset="-120"/>
              </a:rPr>
              <a:t>Engourdissement de la face interne du haut du bras</a:t>
            </a:r>
            <a:endParaRPr lang="fr-FR" sz="1500" noProof="0" dirty="0"/>
          </a:p>
          <a:p>
            <a:pPr marL="342900" indent="-342900">
              <a:lnSpc>
                <a:spcPct val="95000"/>
              </a:lnSpc>
              <a:spcAft>
                <a:spcPts val="600"/>
              </a:spcAft>
              <a:buSzPct val="100000"/>
              <a:buChar char="•"/>
            </a:pPr>
            <a:r>
              <a:rPr lang="fr-FR" sz="1500" noProof="0" dirty="0">
                <a:solidFill>
                  <a:srgbClr val="0B1F3F"/>
                </a:solidFill>
                <a:latin typeface="Calibri" pitchFamily="34" charset="0"/>
                <a:ea typeface="Calibri" pitchFamily="34" charset="-122"/>
                <a:cs typeface="Calibri" pitchFamily="34" charset="-120"/>
              </a:rPr>
              <a:t>Mobilité de l’épaule réduite</a:t>
            </a:r>
            <a:endParaRPr lang="fr-FR" sz="1500" noProof="0" dirty="0"/>
          </a:p>
          <a:p>
            <a:pPr marL="342900" indent="-342900">
              <a:lnSpc>
                <a:spcPct val="95000"/>
              </a:lnSpc>
              <a:spcAft>
                <a:spcPts val="600"/>
              </a:spcAft>
              <a:buSzPct val="100000"/>
              <a:buChar char="•"/>
            </a:pPr>
            <a:r>
              <a:rPr lang="fr-FR" sz="1500" noProof="0" dirty="0">
                <a:solidFill>
                  <a:srgbClr val="0B1F3F"/>
                </a:solidFill>
                <a:latin typeface="Calibri" pitchFamily="34" charset="0"/>
                <a:ea typeface="Calibri" pitchFamily="34" charset="-122"/>
                <a:cs typeface="Calibri" pitchFamily="34" charset="-120"/>
              </a:rPr>
              <a:t>Inconfort et tension de la cicatrice</a:t>
            </a:r>
            <a:endParaRPr lang="fr-FR" sz="1500" noProof="0" dirty="0"/>
          </a:p>
          <a:p>
            <a:pPr marL="342900" indent="-342900">
              <a:lnSpc>
                <a:spcPct val="95000"/>
              </a:lnSpc>
              <a:spcAft>
                <a:spcPts val="600"/>
              </a:spcAft>
              <a:buSzPct val="100000"/>
              <a:buChar char="•"/>
            </a:pPr>
            <a:r>
              <a:rPr lang="fr-FR" sz="1500" noProof="0" dirty="0">
                <a:solidFill>
                  <a:srgbClr val="0B1F3F"/>
                </a:solidFill>
                <a:latin typeface="Calibri" pitchFamily="34" charset="0"/>
                <a:ea typeface="Calibri" pitchFamily="34" charset="-122"/>
                <a:cs typeface="Calibri" pitchFamily="34" charset="-120"/>
              </a:rPr>
              <a:t>Changement de forme du sein ou perte du sein</a:t>
            </a:r>
            <a:endParaRPr lang="fr-FR" sz="1500" noProof="0" dirty="0"/>
          </a:p>
        </p:txBody>
      </p:sp>
      <p:sp>
        <p:nvSpPr>
          <p:cNvPr id="8" name="Shape 6"/>
          <p:cNvSpPr/>
          <p:nvPr/>
        </p:nvSpPr>
        <p:spPr>
          <a:xfrm>
            <a:off x="6323142" y="1325880"/>
            <a:ext cx="5319913" cy="4709160"/>
          </a:xfrm>
          <a:prstGeom prst="roundRect">
            <a:avLst>
              <a:gd name="adj" fmla="val 2125"/>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6534905" y="1715156"/>
            <a:ext cx="2252396"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Radiothérapie</a:t>
            </a:r>
            <a:endParaRPr lang="fr-FR" sz="1800" noProof="0" dirty="0"/>
          </a:p>
        </p:txBody>
      </p:sp>
      <p:sp>
        <p:nvSpPr>
          <p:cNvPr id="10" name="Text 8"/>
          <p:cNvSpPr txBox="1"/>
          <p:nvPr/>
        </p:nvSpPr>
        <p:spPr>
          <a:xfrm>
            <a:off x="6534904" y="2154068"/>
            <a:ext cx="4964837" cy="399592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Fatigue qui s’accentue au fil des séances</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Rougeurs, sécheresse et douleurs de la peau traitée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Gonflement ou lourdeur du sein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Induration à long terme du sein traité</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Risque accru de lymphœdème lorsque l’aisselle est irradiée</a:t>
            </a:r>
            <a:endParaRPr lang="fr-FR" sz="1600" noProof="0" dirty="0"/>
          </a:p>
        </p:txBody>
      </p:sp>
      <p:pic>
        <p:nvPicPr>
          <p:cNvPr id="11" name="Imagen 10">
            <a:extLst>
              <a:ext uri="{FF2B5EF4-FFF2-40B4-BE49-F238E27FC236}">
                <a16:creationId xmlns:a16="http://schemas.microsoft.com/office/drawing/2014/main" id="{4A6AD797-F88F-C5D4-6A97-240B867C83D3}"/>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658166" y="4196549"/>
            <a:ext cx="5054843" cy="1335571"/>
          </a:xfrm>
          <a:prstGeom prst="rect">
            <a:avLst/>
          </a:prstGeom>
        </p:spPr>
      </p:pic>
      <p:pic>
        <p:nvPicPr>
          <p:cNvPr id="12" name="Imagen 11">
            <a:extLst>
              <a:ext uri="{FF2B5EF4-FFF2-40B4-BE49-F238E27FC236}">
                <a16:creationId xmlns:a16="http://schemas.microsoft.com/office/drawing/2014/main" id="{C6DF1157-6119-8F97-E646-DEFB7BC89AA7}"/>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6432668" y="4196549"/>
            <a:ext cx="5054843" cy="1335571"/>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8F5913-4235-F931-EFE4-57C642B88F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267E4F5-CE22-D383-528D-9FC59B75C3E6}"/>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a:extLst>
              <a:ext uri="{FF2B5EF4-FFF2-40B4-BE49-F238E27FC236}">
                <a16:creationId xmlns:a16="http://schemas.microsoft.com/office/drawing/2014/main" id="{F9068C55-1593-7AFA-59FB-AB6843BDB679}"/>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1DF9E3E6-1402-DB41-95A4-7EBB696BDDE5}"/>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Effets à reconnaître, par traitement</a:t>
            </a:r>
            <a:endParaRPr lang="fr-FR" sz="3000" noProof="0" dirty="0"/>
          </a:p>
        </p:txBody>
      </p:sp>
      <p:sp>
        <p:nvSpPr>
          <p:cNvPr id="11" name="Shape 9">
            <a:extLst>
              <a:ext uri="{FF2B5EF4-FFF2-40B4-BE49-F238E27FC236}">
                <a16:creationId xmlns:a16="http://schemas.microsoft.com/office/drawing/2014/main" id="{BE5C946E-7E8B-5668-C93D-C8DEF1D82FF5}"/>
              </a:ext>
            </a:extLst>
          </p:cNvPr>
          <p:cNvSpPr/>
          <p:nvPr/>
        </p:nvSpPr>
        <p:spPr>
          <a:xfrm>
            <a:off x="548639" y="1170432"/>
            <a:ext cx="5547361" cy="4863304"/>
          </a:xfrm>
          <a:prstGeom prst="roundRect">
            <a:avLst>
              <a:gd name="adj" fmla="val 2125"/>
            </a:avLst>
          </a:prstGeom>
          <a:solidFill>
            <a:srgbClr val="F4F8FC"/>
          </a:solidFill>
          <a:ln w="12700">
            <a:solidFill>
              <a:srgbClr val="C8D8EC"/>
            </a:solidFill>
            <a:prstDash val="solid"/>
          </a:ln>
        </p:spPr>
        <p:txBody>
          <a:bodyPr/>
          <a:lstStyle/>
          <a:p>
            <a:endParaRPr lang="fr-FR" noProof="0" dirty="0"/>
          </a:p>
        </p:txBody>
      </p:sp>
      <p:sp>
        <p:nvSpPr>
          <p:cNvPr id="12" name="Text 10">
            <a:extLst>
              <a:ext uri="{FF2B5EF4-FFF2-40B4-BE49-F238E27FC236}">
                <a16:creationId xmlns:a16="http://schemas.microsoft.com/office/drawing/2014/main" id="{2E4237E4-865F-CF37-DB38-0B41FD7EF61A}"/>
              </a:ext>
            </a:extLst>
          </p:cNvPr>
          <p:cNvSpPr txBox="1"/>
          <p:nvPr/>
        </p:nvSpPr>
        <p:spPr>
          <a:xfrm>
            <a:off x="713232" y="1598896"/>
            <a:ext cx="2252396" cy="384048"/>
          </a:xfrm>
          <a:prstGeom prst="rect">
            <a:avLst/>
          </a:prstGeom>
          <a:noFill/>
          <a:ln/>
        </p:spPr>
        <p:txBody>
          <a:bodyPr wrap="square" lIns="0" tIns="0" rIns="0" bIns="0" rtlCol="0" anchor="t">
            <a:normAutofit fontScale="990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Chimiothérapie</a:t>
            </a:r>
            <a:endParaRPr lang="fr-FR" sz="1800" noProof="0" dirty="0"/>
          </a:p>
        </p:txBody>
      </p:sp>
      <p:sp>
        <p:nvSpPr>
          <p:cNvPr id="13" name="Text 11">
            <a:extLst>
              <a:ext uri="{FF2B5EF4-FFF2-40B4-BE49-F238E27FC236}">
                <a16:creationId xmlns:a16="http://schemas.microsoft.com/office/drawing/2014/main" id="{36C3AB54-1C33-DCC6-26F2-60EEFF5F5524}"/>
              </a:ext>
            </a:extLst>
          </p:cNvPr>
          <p:cNvSpPr txBox="1"/>
          <p:nvPr/>
        </p:nvSpPr>
        <p:spPr>
          <a:xfrm>
            <a:off x="713231" y="2037808"/>
            <a:ext cx="5238117" cy="399592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Fatigue, nausées et vomissements</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Perte de cheveux, généralement temporaire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Douleurs buccales (mucite)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Baisse des globules et risque d’infection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Engourdissement et picotements dans les mains ou les pieds</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Effets sur les règles et la fertilité</a:t>
            </a:r>
            <a:endParaRPr lang="fr-FR" sz="1600" noProof="0" dirty="0"/>
          </a:p>
        </p:txBody>
      </p:sp>
      <p:sp>
        <p:nvSpPr>
          <p:cNvPr id="14" name="Shape 12">
            <a:extLst>
              <a:ext uri="{FF2B5EF4-FFF2-40B4-BE49-F238E27FC236}">
                <a16:creationId xmlns:a16="http://schemas.microsoft.com/office/drawing/2014/main" id="{C94A15A2-D9BA-DE19-CCCE-3FB477D48293}"/>
              </a:ext>
            </a:extLst>
          </p:cNvPr>
          <p:cNvSpPr/>
          <p:nvPr/>
        </p:nvSpPr>
        <p:spPr>
          <a:xfrm>
            <a:off x="6409510" y="1134758"/>
            <a:ext cx="5225143" cy="4863304"/>
          </a:xfrm>
          <a:prstGeom prst="roundRect">
            <a:avLst>
              <a:gd name="adj" fmla="val 2125"/>
            </a:avLst>
          </a:prstGeom>
          <a:solidFill>
            <a:srgbClr val="F4F8FC"/>
          </a:solidFill>
          <a:ln w="12700">
            <a:solidFill>
              <a:srgbClr val="C8D8EC"/>
            </a:solidFill>
            <a:prstDash val="solid"/>
          </a:ln>
        </p:spPr>
        <p:txBody>
          <a:bodyPr/>
          <a:lstStyle/>
          <a:p>
            <a:endParaRPr lang="fr-FR" noProof="0" dirty="0"/>
          </a:p>
        </p:txBody>
      </p:sp>
      <p:sp>
        <p:nvSpPr>
          <p:cNvPr id="15" name="Text 13">
            <a:extLst>
              <a:ext uri="{FF2B5EF4-FFF2-40B4-BE49-F238E27FC236}">
                <a16:creationId xmlns:a16="http://schemas.microsoft.com/office/drawing/2014/main" id="{FE7A39C8-B107-CF21-94CB-FC382944DB40}"/>
              </a:ext>
            </a:extLst>
          </p:cNvPr>
          <p:cNvSpPr txBox="1"/>
          <p:nvPr/>
        </p:nvSpPr>
        <p:spPr>
          <a:xfrm>
            <a:off x="6574103" y="1484845"/>
            <a:ext cx="2252396" cy="384048"/>
          </a:xfrm>
          <a:prstGeom prst="rect">
            <a:avLst/>
          </a:prstGeom>
          <a:noFill/>
          <a:ln/>
        </p:spPr>
        <p:txBody>
          <a:bodyPr wrap="square" lIns="0" tIns="0" rIns="0" bIns="0" rtlCol="0" anchor="t">
            <a:normAutofit fontScale="990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Hormonothérapie</a:t>
            </a:r>
            <a:endParaRPr lang="fr-FR" sz="1800" noProof="0" dirty="0"/>
          </a:p>
        </p:txBody>
      </p:sp>
      <p:sp>
        <p:nvSpPr>
          <p:cNvPr id="16" name="Text 14">
            <a:extLst>
              <a:ext uri="{FF2B5EF4-FFF2-40B4-BE49-F238E27FC236}">
                <a16:creationId xmlns:a16="http://schemas.microsoft.com/office/drawing/2014/main" id="{DF6EA851-0A86-A259-BA48-A5E5264D35AF}"/>
              </a:ext>
            </a:extLst>
          </p:cNvPr>
          <p:cNvSpPr txBox="1"/>
          <p:nvPr/>
        </p:nvSpPr>
        <p:spPr>
          <a:xfrm>
            <a:off x="6574102" y="1923757"/>
            <a:ext cx="4904665" cy="3995928"/>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Bouffées de chaleur et sueurs nocturnes</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Douleurs articulaires et musculaires</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Sécheresse vaginale et inconfort</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Changements d'humeur et troubles du sommeil</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Effets sur la santé osseuse avec certains médicaments</a:t>
            </a:r>
            <a:endParaRPr lang="fr-FR" sz="1552" noProof="0" dirty="0"/>
          </a:p>
          <a:p>
            <a:pPr marL="342900" indent="-342900">
              <a:lnSpc>
                <a:spcPct val="95000"/>
              </a:lnSpc>
              <a:spcAft>
                <a:spcPts val="600"/>
              </a:spcAft>
              <a:buSzPct val="100000"/>
              <a:buChar char="•"/>
            </a:pPr>
            <a:r>
              <a:rPr lang="fr-FR" sz="1552" noProof="0" dirty="0">
                <a:solidFill>
                  <a:srgbClr val="0B1F3F"/>
                </a:solidFill>
                <a:latin typeface="Calibri" pitchFamily="34" charset="0"/>
                <a:ea typeface="Calibri" pitchFamily="34" charset="-122"/>
                <a:cs typeface="Calibri" pitchFamily="34" charset="-120"/>
              </a:rPr>
              <a:t>Des effets qui durent des années, ce qui nuit à l’observance</a:t>
            </a:r>
            <a:endParaRPr lang="fr-FR" sz="1552" noProof="0" dirty="0"/>
          </a:p>
        </p:txBody>
      </p:sp>
      <p:pic>
        <p:nvPicPr>
          <p:cNvPr id="5" name="Imagen 4">
            <a:extLst>
              <a:ext uri="{FF2B5EF4-FFF2-40B4-BE49-F238E27FC236}">
                <a16:creationId xmlns:a16="http://schemas.microsoft.com/office/drawing/2014/main" id="{F9BBD4EB-20BA-5039-B2B3-C16847502F89}"/>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13232" y="4250000"/>
            <a:ext cx="5218000" cy="1379000"/>
          </a:xfrm>
          <a:prstGeom prst="rect">
            <a:avLst/>
          </a:prstGeom>
        </p:spPr>
      </p:pic>
      <p:pic>
        <p:nvPicPr>
          <p:cNvPr id="6" name="Imagen 5">
            <a:extLst>
              <a:ext uri="{FF2B5EF4-FFF2-40B4-BE49-F238E27FC236}">
                <a16:creationId xmlns:a16="http://schemas.microsoft.com/office/drawing/2014/main" id="{FE56669B-6380-F7A6-C872-551FD75FF4FF}"/>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7084886" y="4250000"/>
            <a:ext cx="3874432" cy="1294000"/>
          </a:xfrm>
          <a:prstGeom prst="rect">
            <a:avLst/>
          </a:prstGeom>
        </p:spPr>
      </p:pic>
    </p:spTree>
    <p:extLst>
      <p:ext uri="{BB962C8B-B14F-4D97-AF65-F5344CB8AC3E}">
        <p14:creationId xmlns:p14="http://schemas.microsoft.com/office/powerpoint/2010/main" val="266837769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Classez le symptôme</a:t>
            </a:r>
            <a:endParaRPr lang="fr-FR" sz="3000" noProof="0" dirty="0"/>
          </a:p>
        </p:txBody>
      </p:sp>
      <p:sp>
        <p:nvSpPr>
          <p:cNvPr id="5" name="Shape 3"/>
          <p:cNvSpPr/>
          <p:nvPr/>
        </p:nvSpPr>
        <p:spPr>
          <a:xfrm>
            <a:off x="8039988" y="1325880"/>
            <a:ext cx="3527450" cy="4572000"/>
          </a:xfrm>
          <a:prstGeom prst="roundRect">
            <a:avLst>
              <a:gd name="adj" fmla="val 1555"/>
            </a:avLst>
          </a:prstGeom>
          <a:solidFill>
            <a:srgbClr val="EAF5EF"/>
          </a:solidFill>
          <a:ln w="12700">
            <a:solidFill>
              <a:srgbClr val="8FC4A9"/>
            </a:solidFill>
            <a:prstDash val="solid"/>
          </a:ln>
        </p:spPr>
        <p:txBody>
          <a:bodyPr/>
          <a:lstStyle/>
          <a:p>
            <a:endParaRPr lang="fr-FR" noProof="0" dirty="0"/>
          </a:p>
        </p:txBody>
      </p:sp>
      <p:sp>
        <p:nvSpPr>
          <p:cNvPr id="6" name="Text 4"/>
          <p:cNvSpPr txBox="1"/>
          <p:nvPr/>
        </p:nvSpPr>
        <p:spPr>
          <a:xfrm>
            <a:off x="8204580" y="1453896"/>
            <a:ext cx="3198266" cy="384048"/>
          </a:xfrm>
          <a:prstGeom prst="rect">
            <a:avLst/>
          </a:prstGeom>
          <a:noFill/>
          <a:ln/>
        </p:spPr>
        <p:txBody>
          <a:bodyPr wrap="square" lIns="0" tIns="0" rIns="0" bIns="0" rtlCol="0" anchor="t"/>
          <a:lstStyle/>
          <a:p>
            <a:r>
              <a:rPr lang="fr-FR" b="1" dirty="0">
                <a:solidFill>
                  <a:srgbClr val="1B6E4A"/>
                </a:solidFill>
                <a:latin typeface="Calibri" pitchFamily="34" charset="0"/>
                <a:ea typeface="Calibri" pitchFamily="34" charset="-122"/>
                <a:cs typeface="Calibri" pitchFamily="34" charset="-120"/>
              </a:rPr>
              <a:t>🟢 Attendu </a:t>
            </a:r>
            <a:r>
              <a:rPr lang="fr-FR" sz="1800" b="1" noProof="0" dirty="0">
                <a:solidFill>
                  <a:srgbClr val="1B6E4A"/>
                </a:solidFill>
                <a:latin typeface="Calibri" pitchFamily="34" charset="0"/>
                <a:ea typeface="Calibri" pitchFamily="34" charset="-122"/>
                <a:cs typeface="Calibri" pitchFamily="34" charset="-120"/>
              </a:rPr>
              <a:t>: gérer et revoir</a:t>
            </a:r>
            <a:endParaRPr lang="fr-FR" sz="1800" noProof="0" dirty="0"/>
          </a:p>
        </p:txBody>
      </p:sp>
      <p:sp>
        <p:nvSpPr>
          <p:cNvPr id="7" name="Text 5"/>
          <p:cNvSpPr txBox="1"/>
          <p:nvPr/>
        </p:nvSpPr>
        <p:spPr>
          <a:xfrm>
            <a:off x="8204580"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Fatigue légère pendant le traitement</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Nausées légères contrôlées par des médicaments</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Cheveux plus fins ou chute des cheveux</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Légère sécheresse de la peau dans la zone de radiothérapie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Bouffées de chaleur sous hormonothérapie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Léger inconfort </a:t>
            </a:r>
            <a:r>
              <a:rPr lang="fr-FR" sz="1600" noProof="0" dirty="0" err="1">
                <a:solidFill>
                  <a:srgbClr val="0B1F3F"/>
                </a:solidFill>
                <a:latin typeface="Calibri" pitchFamily="34" charset="0"/>
                <a:ea typeface="Calibri" pitchFamily="34" charset="-122"/>
                <a:cs typeface="Calibri" pitchFamily="34" charset="-120"/>
              </a:rPr>
              <a:t>cicatricial</a:t>
            </a:r>
            <a:r>
              <a:rPr lang="fr-FR" sz="1600" noProof="0" dirty="0">
                <a:solidFill>
                  <a:srgbClr val="0B1F3F"/>
                </a:solidFill>
                <a:latin typeface="Calibri" pitchFamily="34" charset="0"/>
                <a:ea typeface="Calibri" pitchFamily="34" charset="-122"/>
                <a:cs typeface="Calibri" pitchFamily="34" charset="-120"/>
              </a:rPr>
              <a:t> dans les semaines suivant l'opération</a:t>
            </a:r>
            <a:endParaRPr lang="fr-FR" sz="1600" noProof="0" dirty="0"/>
          </a:p>
        </p:txBody>
      </p:sp>
      <p:sp>
        <p:nvSpPr>
          <p:cNvPr id="8" name="Shape 6"/>
          <p:cNvSpPr/>
          <p:nvPr/>
        </p:nvSpPr>
        <p:spPr>
          <a:xfrm>
            <a:off x="4332122" y="1325880"/>
            <a:ext cx="3527450" cy="4572000"/>
          </a:xfrm>
          <a:prstGeom prst="roundRect">
            <a:avLst>
              <a:gd name="adj" fmla="val 1555"/>
            </a:avLst>
          </a:prstGeom>
          <a:solidFill>
            <a:srgbClr val="FDF1E0"/>
          </a:solidFill>
          <a:ln w="12700">
            <a:solidFill>
              <a:srgbClr val="EFD3AA"/>
            </a:solidFill>
            <a:prstDash val="solid"/>
          </a:ln>
        </p:spPr>
        <p:txBody>
          <a:bodyPr/>
          <a:lstStyle/>
          <a:p>
            <a:endParaRPr lang="fr-FR" noProof="0" dirty="0"/>
          </a:p>
        </p:txBody>
      </p:sp>
      <p:sp>
        <p:nvSpPr>
          <p:cNvPr id="9" name="Text 7"/>
          <p:cNvSpPr txBox="1"/>
          <p:nvPr/>
        </p:nvSpPr>
        <p:spPr>
          <a:xfrm>
            <a:off x="4496714" y="1453896"/>
            <a:ext cx="3198266" cy="384048"/>
          </a:xfrm>
          <a:prstGeom prst="rect">
            <a:avLst/>
          </a:prstGeom>
          <a:noFill/>
          <a:ln/>
        </p:spPr>
        <p:txBody>
          <a:bodyPr wrap="square" lIns="0" tIns="0" rIns="0" bIns="0" rtlCol="0" anchor="t"/>
          <a:lstStyle/>
          <a:p>
            <a:r>
              <a:rPr lang="fr-FR" b="1" dirty="0">
                <a:solidFill>
                  <a:srgbClr val="C9761A"/>
                </a:solidFill>
                <a:latin typeface="Calibri" pitchFamily="34" charset="0"/>
                <a:ea typeface="Calibri" pitchFamily="34" charset="-122"/>
                <a:cs typeface="Calibri" pitchFamily="34" charset="-120"/>
              </a:rPr>
              <a:t>🟠 Évaluer </a:t>
            </a:r>
            <a:r>
              <a:rPr lang="fr-FR" sz="1800" b="1" noProof="0" dirty="0">
                <a:solidFill>
                  <a:srgbClr val="C9761A"/>
                </a:solidFill>
                <a:latin typeface="Calibri" pitchFamily="34" charset="0"/>
                <a:ea typeface="Calibri" pitchFamily="34" charset="-122"/>
                <a:cs typeface="Calibri" pitchFamily="34" charset="-120"/>
              </a:rPr>
              <a:t>rapidement</a:t>
            </a:r>
            <a:endParaRPr lang="fr-FR" sz="1800" noProof="0" dirty="0"/>
          </a:p>
        </p:txBody>
      </p:sp>
      <p:sp>
        <p:nvSpPr>
          <p:cNvPr id="10" name="Text 8"/>
          <p:cNvSpPr txBox="1"/>
          <p:nvPr/>
        </p:nvSpPr>
        <p:spPr>
          <a:xfrm>
            <a:off x="4496714" y="1892808"/>
            <a:ext cx="3198266" cy="3858768"/>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417" noProof="0" dirty="0">
                <a:solidFill>
                  <a:srgbClr val="0B1F3F"/>
                </a:solidFill>
                <a:latin typeface="Calibri" pitchFamily="34" charset="0"/>
                <a:ea typeface="Calibri" pitchFamily="34" charset="-122"/>
                <a:cs typeface="Calibri" pitchFamily="34" charset="-120"/>
              </a:rPr>
              <a:t>Gonflement nouveau ou croissant du bras ou de la main</a:t>
            </a:r>
            <a:endParaRPr lang="fr-FR" sz="1417" noProof="0" dirty="0"/>
          </a:p>
          <a:p>
            <a:pPr marL="342900" indent="-342900">
              <a:lnSpc>
                <a:spcPct val="95000"/>
              </a:lnSpc>
              <a:spcAft>
                <a:spcPts val="600"/>
              </a:spcAft>
              <a:buSzPct val="100000"/>
              <a:buChar char="•"/>
            </a:pPr>
            <a:r>
              <a:rPr lang="fr-FR" sz="1417" noProof="0" dirty="0">
                <a:solidFill>
                  <a:srgbClr val="0B1F3F"/>
                </a:solidFill>
                <a:latin typeface="Calibri" pitchFamily="34" charset="0"/>
                <a:ea typeface="Calibri" pitchFamily="34" charset="-122"/>
                <a:cs typeface="Calibri" pitchFamily="34" charset="-120"/>
              </a:rPr>
              <a:t>Raideur de l’épaule qui limite les activités quotidiennes</a:t>
            </a:r>
            <a:endParaRPr lang="fr-FR" sz="1417" noProof="0" dirty="0"/>
          </a:p>
          <a:p>
            <a:pPr marL="342900" indent="-342900">
              <a:lnSpc>
                <a:spcPct val="95000"/>
              </a:lnSpc>
              <a:spcAft>
                <a:spcPts val="600"/>
              </a:spcAft>
              <a:buSzPct val="100000"/>
              <a:buChar char="•"/>
            </a:pPr>
            <a:r>
              <a:rPr lang="fr-FR" sz="1417" noProof="0" dirty="0">
                <a:solidFill>
                  <a:srgbClr val="0B1F3F"/>
                </a:solidFill>
                <a:latin typeface="Calibri" pitchFamily="34" charset="0"/>
                <a:ea typeface="Calibri" pitchFamily="34" charset="-122"/>
                <a:cs typeface="Calibri" pitchFamily="34" charset="-120"/>
              </a:rPr>
              <a:t>Engourdissement ou picotements nouveaux des mains ou des pieds</a:t>
            </a:r>
            <a:endParaRPr lang="fr-FR" sz="1417" noProof="0" dirty="0"/>
          </a:p>
          <a:p>
            <a:pPr marL="342900" indent="-342900">
              <a:lnSpc>
                <a:spcPct val="95000"/>
              </a:lnSpc>
              <a:spcAft>
                <a:spcPts val="600"/>
              </a:spcAft>
              <a:buSzPct val="100000"/>
              <a:buChar char="•"/>
            </a:pPr>
            <a:r>
              <a:rPr lang="fr-FR" sz="1417" noProof="0" dirty="0">
                <a:solidFill>
                  <a:srgbClr val="0B1F3F"/>
                </a:solidFill>
                <a:latin typeface="Calibri" pitchFamily="34" charset="0"/>
                <a:ea typeface="Calibri" pitchFamily="34" charset="-122"/>
                <a:cs typeface="Calibri" pitchFamily="34" charset="-120"/>
              </a:rPr>
              <a:t>Vomissements persistants ou difficulté à boire ou à manger</a:t>
            </a:r>
            <a:endParaRPr lang="fr-FR" sz="1417" noProof="0" dirty="0"/>
          </a:p>
          <a:p>
            <a:pPr marL="342900" indent="-342900">
              <a:lnSpc>
                <a:spcPct val="95000"/>
              </a:lnSpc>
              <a:spcAft>
                <a:spcPts val="600"/>
              </a:spcAft>
              <a:buSzPct val="100000"/>
              <a:buChar char="•"/>
            </a:pPr>
            <a:r>
              <a:rPr lang="fr-FR" sz="1417" noProof="0" dirty="0">
                <a:solidFill>
                  <a:srgbClr val="0B1F3F"/>
                </a:solidFill>
                <a:latin typeface="Calibri" pitchFamily="34" charset="0"/>
                <a:ea typeface="Calibri" pitchFamily="34" charset="-122"/>
                <a:cs typeface="Calibri" pitchFamily="34" charset="-120"/>
              </a:rPr>
              <a:t>Une plaie qui ne cicatrise pas, ou un écoulement qui augmente</a:t>
            </a:r>
            <a:endParaRPr lang="fr-FR" sz="1417" noProof="0" dirty="0"/>
          </a:p>
          <a:p>
            <a:pPr marL="342900" indent="-342900">
              <a:lnSpc>
                <a:spcPct val="95000"/>
              </a:lnSpc>
              <a:spcAft>
                <a:spcPts val="600"/>
              </a:spcAft>
              <a:buSzPct val="100000"/>
              <a:buChar char="•"/>
            </a:pPr>
            <a:r>
              <a:rPr lang="fr-FR" sz="1417" noProof="0" dirty="0">
                <a:solidFill>
                  <a:srgbClr val="0B1F3F"/>
                </a:solidFill>
                <a:latin typeface="Calibri" pitchFamily="34" charset="0"/>
                <a:ea typeface="Calibri" pitchFamily="34" charset="-122"/>
                <a:cs typeface="Calibri" pitchFamily="34" charset="-120"/>
              </a:rPr>
              <a:t>Douleurs articulaires ou moral bas qui font arrêter le traitement</a:t>
            </a:r>
            <a:endParaRPr lang="fr-FR" sz="1417" noProof="0" dirty="0"/>
          </a:p>
          <a:p>
            <a:pPr marL="342900" indent="-342900">
              <a:lnSpc>
                <a:spcPct val="95000"/>
              </a:lnSpc>
              <a:spcAft>
                <a:spcPts val="600"/>
              </a:spcAft>
              <a:buSzPct val="100000"/>
              <a:buChar char="•"/>
            </a:pPr>
            <a:r>
              <a:rPr lang="fr-FR" sz="1417" noProof="0" dirty="0">
                <a:solidFill>
                  <a:srgbClr val="0B1F3F"/>
                </a:solidFill>
                <a:latin typeface="Calibri" pitchFamily="34" charset="0"/>
                <a:ea typeface="Calibri" pitchFamily="34" charset="-122"/>
                <a:cs typeface="Calibri" pitchFamily="34" charset="-120"/>
              </a:rPr>
              <a:t>Nouvelle douleur osseuse persistante</a:t>
            </a:r>
            <a:endParaRPr lang="fr-FR" sz="1417" noProof="0" dirty="0"/>
          </a:p>
        </p:txBody>
      </p:sp>
      <p:sp>
        <p:nvSpPr>
          <p:cNvPr id="11" name="Shape 9"/>
          <p:cNvSpPr/>
          <p:nvPr/>
        </p:nvSpPr>
        <p:spPr>
          <a:xfrm>
            <a:off x="624562" y="1325880"/>
            <a:ext cx="3527450" cy="4572000"/>
          </a:xfrm>
          <a:prstGeom prst="roundRect">
            <a:avLst>
              <a:gd name="adj" fmla="val 1555"/>
            </a:avLst>
          </a:prstGeom>
          <a:solidFill>
            <a:srgbClr val="FBECEA"/>
          </a:solidFill>
          <a:ln w="12700">
            <a:solidFill>
              <a:srgbClr val="E7B6B0"/>
            </a:solidFill>
            <a:prstDash val="solid"/>
          </a:ln>
        </p:spPr>
        <p:txBody>
          <a:bodyPr/>
          <a:lstStyle/>
          <a:p>
            <a:endParaRPr lang="fr-FR" noProof="0" dirty="0"/>
          </a:p>
        </p:txBody>
      </p:sp>
      <p:sp>
        <p:nvSpPr>
          <p:cNvPr id="12" name="Text 10"/>
          <p:cNvSpPr txBox="1"/>
          <p:nvPr/>
        </p:nvSpPr>
        <p:spPr>
          <a:xfrm>
            <a:off x="789154" y="1453896"/>
            <a:ext cx="3198266" cy="384048"/>
          </a:xfrm>
          <a:prstGeom prst="rect">
            <a:avLst/>
          </a:prstGeom>
          <a:noFill/>
          <a:ln/>
        </p:spPr>
        <p:txBody>
          <a:bodyPr wrap="square" lIns="0" tIns="0" rIns="0" bIns="0" rtlCol="0" anchor="t"/>
          <a:lstStyle/>
          <a:p>
            <a:r>
              <a:rPr lang="fr-FR" b="1" dirty="0">
                <a:solidFill>
                  <a:srgbClr val="A32319"/>
                </a:solidFill>
                <a:latin typeface="Calibri" pitchFamily="34" charset="0"/>
                <a:ea typeface="Calibri" pitchFamily="34" charset="-122"/>
                <a:cs typeface="Calibri" pitchFamily="34" charset="-120"/>
              </a:rPr>
              <a:t>🔴 Urgent</a:t>
            </a:r>
            <a:r>
              <a:rPr lang="fr-FR" sz="1800" b="1" noProof="0" dirty="0">
                <a:solidFill>
                  <a:srgbClr val="A32319"/>
                </a:solidFill>
                <a:latin typeface="Calibri" pitchFamily="34" charset="0"/>
                <a:ea typeface="Calibri" pitchFamily="34" charset="-122"/>
                <a:cs typeface="Calibri" pitchFamily="34" charset="-120"/>
              </a:rPr>
              <a:t>, ne pas attendre</a:t>
            </a:r>
            <a:endParaRPr lang="fr-FR" sz="1800" noProof="0" dirty="0"/>
          </a:p>
        </p:txBody>
      </p:sp>
      <p:sp>
        <p:nvSpPr>
          <p:cNvPr id="13" name="Text 11"/>
          <p:cNvSpPr txBox="1"/>
          <p:nvPr/>
        </p:nvSpPr>
        <p:spPr>
          <a:xfrm>
            <a:off x="789154"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Fièvre ou frissons pendant la chimiothérapie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Un bras ou un sein chaud, rouge, douloureux avec de la fièvre, suggérant une infection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Essoufflement ou douleurs thoraciques</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Nouveaux symptômes neurologiques, dont des maux de tête sévères, une faiblesse ou une confusion</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Douleur intense et incontrôlée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Saignement abondant ou gonflement de la plaie qui augmente rapidement</a:t>
            </a:r>
            <a:endParaRPr lang="fr-FR" sz="1600" noProof="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Lymphœdème</a:t>
            </a:r>
            <a:endParaRPr lang="fr-FR" sz="3000" noProof="0" dirty="0"/>
          </a:p>
        </p:txBody>
      </p:sp>
      <p:sp>
        <p:nvSpPr>
          <p:cNvPr id="5" name="Shape 3"/>
          <p:cNvSpPr/>
          <p:nvPr/>
        </p:nvSpPr>
        <p:spPr>
          <a:xfrm>
            <a:off x="548639" y="1207008"/>
            <a:ext cx="10910907" cy="5084063"/>
          </a:xfrm>
          <a:prstGeom prst="roundRect">
            <a:avLst>
              <a:gd name="adj" fmla="val 2878"/>
            </a:avLst>
          </a:prstGeom>
          <a:solidFill>
            <a:srgbClr val="F4F8FC"/>
          </a:solidFill>
          <a:ln w="12700">
            <a:solidFill>
              <a:srgbClr val="C8D8EC"/>
            </a:solidFill>
            <a:prstDash val="solid"/>
          </a:ln>
        </p:spPr>
        <p:txBody>
          <a:bodyPr/>
          <a:lstStyle/>
          <a:p>
            <a:endParaRPr lang="fr-FR" noProof="0" dirty="0"/>
          </a:p>
        </p:txBody>
      </p:sp>
      <p:sp>
        <p:nvSpPr>
          <p:cNvPr id="7" name="Text 5"/>
          <p:cNvSpPr txBox="1"/>
          <p:nvPr/>
        </p:nvSpPr>
        <p:spPr>
          <a:xfrm>
            <a:off x="713232" y="1240778"/>
            <a:ext cx="10390197" cy="1421892"/>
          </a:xfrm>
          <a:prstGeom prst="rect">
            <a:avLst/>
          </a:prstGeom>
          <a:noFill/>
          <a:ln/>
        </p:spPr>
        <p:txBody>
          <a:bodyPr wrap="square" lIns="0" tIns="0" rIns="0" bIns="0" rtlCol="0" anchor="t">
            <a:noAutofit/>
          </a:bodyPr>
          <a:lstStyle/>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Ce que c'est : </a:t>
            </a:r>
            <a:r>
              <a:rPr lang="fr-FR" noProof="0" dirty="0">
                <a:solidFill>
                  <a:srgbClr val="1F3A63"/>
                </a:solidFill>
                <a:latin typeface="Calibri" pitchFamily="34" charset="0"/>
                <a:ea typeface="Calibri" pitchFamily="34" charset="-122"/>
                <a:cs typeface="Calibri" pitchFamily="34" charset="-120"/>
              </a:rPr>
              <a:t>Gonflement causé par une perturbation du drainage lymphatique, souvent après une chirurgie axillaire ou une radiothérapie.</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Ce n’est pas inévitable : </a:t>
            </a:r>
            <a:r>
              <a:rPr lang="fr-FR" noProof="0" dirty="0">
                <a:solidFill>
                  <a:srgbClr val="1F3A63"/>
                </a:solidFill>
                <a:latin typeface="Calibri" pitchFamily="34" charset="0"/>
                <a:ea typeface="Calibri" pitchFamily="34" charset="-122"/>
                <a:cs typeface="Calibri" pitchFamily="34" charset="-120"/>
              </a:rPr>
              <a:t>beaucoup de patientes n’en développent jamais.</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Surveiller : un nouveau gonflement de la main ou du bras, une lourdeur, une tension, des bagues ou vêtements devenus serrés, ou une mobilité réduite.</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Agir tôt : </a:t>
            </a:r>
            <a:r>
              <a:rPr lang="fr-FR" noProof="0" dirty="0">
                <a:solidFill>
                  <a:srgbClr val="1F3A63"/>
                </a:solidFill>
                <a:latin typeface="Calibri" pitchFamily="34" charset="0"/>
                <a:ea typeface="Calibri" pitchFamily="34" charset="-122"/>
                <a:cs typeface="Calibri" pitchFamily="34" charset="-120"/>
              </a:rPr>
              <a:t>un gonflement nouveau ou croissant doit être évalué rapidement.</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Exclure une infection : </a:t>
            </a:r>
            <a:r>
              <a:rPr lang="fr-FR" noProof="0" dirty="0">
                <a:solidFill>
                  <a:srgbClr val="1F3A63"/>
                </a:solidFill>
                <a:latin typeface="Calibri" pitchFamily="34" charset="0"/>
                <a:ea typeface="Calibri" pitchFamily="34" charset="-122"/>
                <a:cs typeface="Calibri" pitchFamily="34" charset="-120"/>
              </a:rPr>
              <a:t>un bras chaud, rouge, douloureux et gonflé avec de la fièvre nécessite une évaluation et un traitement urgents.</a:t>
            </a:r>
          </a:p>
          <a:p>
            <a:pPr marL="285750" indent="-285750">
              <a:lnSpc>
                <a:spcPct val="90000"/>
              </a:lnSpc>
              <a:buFont typeface="Arial" panose="020B0604020202020204" pitchFamily="34" charset="0"/>
              <a:buChar char="•"/>
            </a:pPr>
            <a:r>
              <a:rPr lang="fr-FR" b="1" noProof="0" dirty="0">
                <a:solidFill>
                  <a:srgbClr val="1F3A63"/>
                </a:solidFill>
                <a:latin typeface="Calibri" pitchFamily="34" charset="0"/>
                <a:ea typeface="Calibri" pitchFamily="34" charset="-122"/>
                <a:cs typeface="Calibri" pitchFamily="34" charset="-120"/>
              </a:rPr>
              <a:t>Prise en charge : </a:t>
            </a:r>
            <a:r>
              <a:rPr lang="fr-FR" noProof="0" dirty="0">
                <a:solidFill>
                  <a:srgbClr val="1F3A63"/>
                </a:solidFill>
                <a:latin typeface="Calibri" pitchFamily="34" charset="0"/>
                <a:ea typeface="Calibri" pitchFamily="34" charset="-122"/>
                <a:cs typeface="Calibri" pitchFamily="34" charset="-120"/>
              </a:rPr>
              <a:t>soins de la peau, mouvements réguliers des bras, traitement rapide de l'infection, et orientation vers une évaluation spécialisée et une thérapie de compression lorsque disponible.</a:t>
            </a:r>
          </a:p>
        </p:txBody>
      </p:sp>
      <p:pic>
        <p:nvPicPr>
          <p:cNvPr id="6" name="Imagen 5">
            <a:extLst>
              <a:ext uri="{FF2B5EF4-FFF2-40B4-BE49-F238E27FC236}">
                <a16:creationId xmlns:a16="http://schemas.microsoft.com/office/drawing/2014/main" id="{109BE0BA-B7BD-1426-BBD7-7EF353B32602}"/>
              </a:ext>
            </a:extLst>
          </p:cNvPr>
          <p:cNvPicPr>
            <a:picLocks noChangeAspect="1"/>
          </p:cNvPicPr>
          <p:nvPr/>
        </p:nvPicPr>
        <p:blipFill>
          <a:blip r:embed="rId3"/>
          <a:stretch>
            <a:fillRect/>
          </a:stretch>
        </p:blipFill>
        <p:spPr>
          <a:xfrm>
            <a:off x="1937680" y="3697231"/>
            <a:ext cx="7636625" cy="2545103"/>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Fonction du bras et de l’épaule, et observance</a:t>
            </a:r>
            <a:endParaRPr lang="fr-FR" sz="3000" noProof="0" dirty="0"/>
          </a:p>
        </p:txBody>
      </p:sp>
      <p:sp>
        <p:nvSpPr>
          <p:cNvPr id="5" name="Shape 3"/>
          <p:cNvSpPr/>
          <p:nvPr/>
        </p:nvSpPr>
        <p:spPr>
          <a:xfrm>
            <a:off x="548640" y="1371600"/>
            <a:ext cx="5394960" cy="4160520"/>
          </a:xfrm>
          <a:prstGeom prst="roundRect">
            <a:avLst>
              <a:gd name="adj" fmla="val 131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463040"/>
            <a:ext cx="506577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Bras et épaule après traitement</a:t>
            </a:r>
            <a:endParaRPr lang="fr-FR" sz="1700" noProof="0" dirty="0"/>
          </a:p>
        </p:txBody>
      </p:sp>
      <p:sp>
        <p:nvSpPr>
          <p:cNvPr id="7" name="Text 5"/>
          <p:cNvSpPr txBox="1"/>
          <p:nvPr/>
        </p:nvSpPr>
        <p:spPr>
          <a:xfrm>
            <a:off x="713232" y="1828800"/>
            <a:ext cx="5065776" cy="3611880"/>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La chirurgie et la radiothérapie du sein et de l’aisselle peuvent réduire la mobilité de l’épaule</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Douleur, tension de la paroi thoracique et cicatrice rétractile sont fréquentes au début</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Une mobilisation douce et précoce, et les exercices donnés après l’opération, préservent la fonction</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L’engourdissement de la face interne du bras après une chirurgie axillaire est fréquent et persiste souvent</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Demandez précisément si la personne a des difficultés à se laver, s'habiller, atteindre des objets ou les porter, car ces difficultés sont rarement signalées spontanément.</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Orientez vers la rééducation si la mobilité ne se récupère pas</a:t>
            </a:r>
            <a:endParaRPr lang="fr-FR" sz="1534" noProof="0" dirty="0"/>
          </a:p>
        </p:txBody>
      </p:sp>
      <p:sp>
        <p:nvSpPr>
          <p:cNvPr id="8" name="Shape 6"/>
          <p:cNvSpPr/>
          <p:nvPr/>
        </p:nvSpPr>
        <p:spPr>
          <a:xfrm>
            <a:off x="6217920" y="1371600"/>
            <a:ext cx="5425135" cy="4160520"/>
          </a:xfrm>
          <a:prstGeom prst="roundRect">
            <a:avLst>
              <a:gd name="adj" fmla="val 1319"/>
            </a:avLst>
          </a:prstGeom>
          <a:solidFill>
            <a:srgbClr val="F4F8FC"/>
          </a:solidFill>
          <a:ln w="12700">
            <a:solidFill>
              <a:srgbClr val="C8D8EC"/>
            </a:solidFill>
            <a:prstDash val="solid"/>
          </a:ln>
        </p:spPr>
        <p:txBody>
          <a:bodyPr/>
          <a:lstStyle/>
          <a:p>
            <a:endParaRPr lang="fr-FR" noProof="0" dirty="0"/>
          </a:p>
        </p:txBody>
      </p:sp>
      <p:sp>
        <p:nvSpPr>
          <p:cNvPr id="9" name="Text 7"/>
          <p:cNvSpPr txBox="1"/>
          <p:nvPr/>
        </p:nvSpPr>
        <p:spPr>
          <a:xfrm>
            <a:off x="6382512" y="1463040"/>
            <a:ext cx="5095951"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Poursuivre l’hormonothérapie</a:t>
            </a:r>
            <a:endParaRPr lang="fr-FR" sz="1700" noProof="0" dirty="0"/>
          </a:p>
        </p:txBody>
      </p:sp>
      <p:sp>
        <p:nvSpPr>
          <p:cNvPr id="10" name="Text 8"/>
          <p:cNvSpPr txBox="1"/>
          <p:nvPr/>
        </p:nvSpPr>
        <p:spPr>
          <a:xfrm>
            <a:off x="6382512" y="1828800"/>
            <a:ext cx="5095951" cy="3611880"/>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L’hormonothérapie se prend pendant plusieurs années, bien après que la personne se sente bien</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Bouffées de chaleur, douleurs articulaires, sécheresse vaginale et moral bas sont les raisons habituelles de l’arrêt</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Demandez directement si les comprimés sont pris, sans reproche</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Traitez l’effet indésirable plutôt que d’accepter l’abandon du traitement</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Expliquez ce que fait le médicament et pourquoi la durée est importante</a:t>
            </a:r>
            <a:endParaRPr lang="fr-FR" sz="1534" noProof="0" dirty="0"/>
          </a:p>
          <a:p>
            <a:pPr marL="342900" indent="-342900">
              <a:lnSpc>
                <a:spcPct val="95000"/>
              </a:lnSpc>
              <a:spcAft>
                <a:spcPts val="600"/>
              </a:spcAft>
              <a:buSzPct val="100000"/>
              <a:buChar char="•"/>
            </a:pPr>
            <a:r>
              <a:rPr lang="fr-FR" sz="1534" noProof="0" dirty="0">
                <a:solidFill>
                  <a:srgbClr val="0B1F3F"/>
                </a:solidFill>
                <a:latin typeface="Calibri" pitchFamily="34" charset="0"/>
                <a:ea typeface="Calibri" pitchFamily="34" charset="-122"/>
                <a:cs typeface="Calibri" pitchFamily="34" charset="-120"/>
              </a:rPr>
              <a:t>Signalez les effets persistants à l'équipe soignante, car il existe parfois des alternatives</a:t>
            </a:r>
            <a:endParaRPr lang="fr-FR" sz="1534" noProof="0" dirty="0"/>
          </a:p>
        </p:txBody>
      </p:sp>
      <p:sp>
        <p:nvSpPr>
          <p:cNvPr id="11" name="Shape 9"/>
          <p:cNvSpPr/>
          <p:nvPr/>
        </p:nvSpPr>
        <p:spPr>
          <a:xfrm>
            <a:off x="548640" y="5669280"/>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12" name="Text 10"/>
          <p:cNvSpPr txBox="1"/>
          <p:nvPr/>
        </p:nvSpPr>
        <p:spPr>
          <a:xfrm>
            <a:off x="713232" y="5742432"/>
            <a:ext cx="10765231" cy="420624"/>
          </a:xfrm>
          <a:prstGeom prst="rect">
            <a:avLst/>
          </a:prstGeom>
          <a:noFill/>
          <a:ln/>
        </p:spPr>
        <p:txBody>
          <a:bodyPr wrap="square" lIns="0" tIns="0" rIns="0" bIns="0" rtlCol="0" anchor="ctr">
            <a:normAutofit fontScale="95000"/>
          </a:bodyP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Une personne qui arrête discrètement son hormonothérapie perd une grande partie du bénéfice de tout ce qui a précédé. En parler à chaque consultation de suivi est l’un des gestes les plus utiles d’un professionnel de santé de première ligne.</a:t>
            </a:r>
            <a:endParaRPr lang="fr-FR" sz="1300" noProof="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noAutofit/>
          </a:bodyPr>
          <a:lstStyle/>
          <a:p>
            <a:pPr marL="0" indent="0">
              <a:buNone/>
            </a:pPr>
            <a:r>
              <a:rPr lang="fr-FR" sz="2640" b="1" noProof="0" dirty="0">
                <a:solidFill>
                  <a:srgbClr val="12315B"/>
                </a:solidFill>
                <a:latin typeface="Calibri" pitchFamily="34" charset="0"/>
                <a:ea typeface="Calibri" pitchFamily="34" charset="-122"/>
                <a:cs typeface="Calibri" pitchFamily="34" charset="-120"/>
              </a:rPr>
              <a:t>Image corporelle, santé sexuelle, fertilité et ménopause</a:t>
            </a:r>
            <a:endParaRPr lang="fr-FR" sz="2640" noProof="0" dirty="0"/>
          </a:p>
        </p:txBody>
      </p:sp>
      <p:pic>
        <p:nvPicPr>
          <p:cNvPr id="3" name="Imagen 2">
            <a:extLst>
              <a:ext uri="{FF2B5EF4-FFF2-40B4-BE49-F238E27FC236}">
                <a16:creationId xmlns:a16="http://schemas.microsoft.com/office/drawing/2014/main" id="{4F78D79C-21CE-D260-1D9B-BF607975BBDD}"/>
              </a:ext>
            </a:extLst>
          </p:cNvPr>
          <p:cNvPicPr>
            <a:picLocks noChangeAspect="1"/>
          </p:cNvPicPr>
          <p:nvPr/>
        </p:nvPicPr>
        <p:blipFill>
          <a:blip r:embed="rId3"/>
          <a:stretch>
            <a:fillRect/>
          </a:stretch>
        </p:blipFill>
        <p:spPr>
          <a:xfrm>
            <a:off x="1109420" y="974004"/>
            <a:ext cx="9351935" cy="5758638"/>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Soins palliatifs</a:t>
            </a:r>
            <a:endParaRPr lang="fr-FR" sz="3000" noProof="0" dirty="0"/>
          </a:p>
        </p:txBody>
      </p:sp>
      <p:sp>
        <p:nvSpPr>
          <p:cNvPr id="5" name="Shape 3"/>
          <p:cNvSpPr/>
          <p:nvPr/>
        </p:nvSpPr>
        <p:spPr>
          <a:xfrm>
            <a:off x="548640" y="1254032"/>
            <a:ext cx="11094414" cy="4342095"/>
          </a:xfrm>
          <a:prstGeom prst="roundRect">
            <a:avLst>
              <a:gd name="adj" fmla="val 131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13232" y="1345473"/>
            <a:ext cx="5065776"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Soins palliatifs</a:t>
            </a:r>
            <a:endParaRPr lang="fr-FR" sz="1700" noProof="0" dirty="0"/>
          </a:p>
        </p:txBody>
      </p:sp>
      <p:sp>
        <p:nvSpPr>
          <p:cNvPr id="7" name="Text 5"/>
          <p:cNvSpPr txBox="1"/>
          <p:nvPr/>
        </p:nvSpPr>
        <p:spPr>
          <a:xfrm>
            <a:off x="713231" y="1711233"/>
            <a:ext cx="10417467" cy="3611880"/>
          </a:xfrm>
          <a:prstGeom prst="rect">
            <a:avLst/>
          </a:prstGeom>
          <a:noFill/>
          <a:ln/>
        </p:spPr>
        <p:txBody>
          <a:bodyPr wrap="square" lIns="0" tIns="0" rIns="0" bIns="0" rtlCol="0" anchor="t">
            <a:noAutofit/>
          </a:bodyPr>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Soulagement des symptômes et soutien à la qualité de vie pour la personne et la famille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Proposés en même temps que le traitement du cancer si nécessaire, pas seulement en fin de vie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La douleur, y compris osseuse, est évaluée et correctement traitée. La morphine orale est disponible au Rwanda</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L’essoufflement, les nausées, la fatigue et les symptômes neurologiques peuvent tous être traités</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Soins d’une plaie tumorale du sein, avec une attention particulière à l’odeur et à la dignité</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Des informations claires pour la famille, un contact pour obtenir de l'aide, et des conseils sur ce qui nécessite des soins urgents</a:t>
            </a:r>
            <a:endParaRPr lang="fr-FR" sz="1600" noProof="0" dirty="0"/>
          </a:p>
        </p:txBody>
      </p:sp>
      <p:sp>
        <p:nvSpPr>
          <p:cNvPr id="11" name="Shape 9"/>
          <p:cNvSpPr/>
          <p:nvPr/>
        </p:nvSpPr>
        <p:spPr>
          <a:xfrm>
            <a:off x="548640" y="5669280"/>
            <a:ext cx="11094415" cy="566928"/>
          </a:xfrm>
          <a:prstGeom prst="roundRect">
            <a:avLst>
              <a:gd name="adj" fmla="val 8065"/>
            </a:avLst>
          </a:prstGeom>
          <a:solidFill>
            <a:srgbClr val="FDF1E0"/>
          </a:solidFill>
          <a:ln w="12700">
            <a:solidFill>
              <a:srgbClr val="EFD3AA"/>
            </a:solidFill>
            <a:prstDash val="solid"/>
          </a:ln>
        </p:spPr>
        <p:txBody>
          <a:bodyPr/>
          <a:lstStyle/>
          <a:p>
            <a:endParaRPr lang="fr-FR" noProof="0" dirty="0"/>
          </a:p>
        </p:txBody>
      </p:sp>
      <p:sp>
        <p:nvSpPr>
          <p:cNvPr id="12" name="Text 10"/>
          <p:cNvSpPr txBox="1"/>
          <p:nvPr/>
        </p:nvSpPr>
        <p:spPr>
          <a:xfrm>
            <a:off x="713232" y="5742432"/>
            <a:ext cx="10765231" cy="420624"/>
          </a:xfrm>
          <a:prstGeom prst="rect">
            <a:avLst/>
          </a:prstGeom>
          <a:noFill/>
          <a:ln/>
        </p:spPr>
        <p:txBody>
          <a:bodyPr wrap="square" lIns="0" tIns="0" rIns="0" bIns="0" rtlCol="0" anchor="ctr"/>
          <a:lstStyle/>
          <a:p>
            <a:pPr marL="0" indent="0">
              <a:lnSpc>
                <a:spcPct val="95000"/>
              </a:lnSpc>
              <a:buNone/>
            </a:pPr>
            <a:r>
              <a:rPr lang="fr-FR" sz="1300" noProof="0" dirty="0">
                <a:solidFill>
                  <a:srgbClr val="0B1F3F"/>
                </a:solidFill>
                <a:latin typeface="Calibri" pitchFamily="34" charset="0"/>
                <a:ea typeface="Calibri" pitchFamily="34" charset="-122"/>
                <a:cs typeface="Calibri" pitchFamily="34" charset="-120"/>
              </a:rPr>
              <a:t>Les soins palliatifs ne signifient pas l’arrêt du traitement. Le dire clairement, à la personne et à sa famille, fait souvent la différence entre accepter le contrôle des symptômes et le refuser.</a:t>
            </a:r>
            <a:endParaRPr lang="fr-FR" sz="1300" noProof="0" dirty="0"/>
          </a:p>
        </p:txBody>
      </p:sp>
      <p:pic>
        <p:nvPicPr>
          <p:cNvPr id="9" name="Imagen 8">
            <a:extLst>
              <a:ext uri="{FF2B5EF4-FFF2-40B4-BE49-F238E27FC236}">
                <a16:creationId xmlns:a16="http://schemas.microsoft.com/office/drawing/2014/main" id="{BA4CE56D-E002-E769-CA31-8E4C90677EF0}"/>
              </a:ext>
            </a:extLst>
          </p:cNvPr>
          <p:cNvPicPr>
            <a:picLocks noChangeAspect="1"/>
          </p:cNvPicPr>
          <p:nvPr/>
        </p:nvPicPr>
        <p:blipFill>
          <a:blip r:embed="rId3"/>
          <a:stretch>
            <a:fillRect/>
          </a:stretch>
        </p:blipFill>
        <p:spPr>
          <a:xfrm>
            <a:off x="2235708" y="3620314"/>
            <a:ext cx="7749528" cy="1902662"/>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2DDFC6-8C9E-28D2-FEBE-57CF1E11DDB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428224-1B06-A96E-8309-4CC9E53471AD}"/>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a:extLst>
              <a:ext uri="{FF2B5EF4-FFF2-40B4-BE49-F238E27FC236}">
                <a16:creationId xmlns:a16="http://schemas.microsoft.com/office/drawing/2014/main" id="{CEAD78FF-2A56-314D-20A6-4BAC7DBBEB76}"/>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a:extLst>
              <a:ext uri="{FF2B5EF4-FFF2-40B4-BE49-F238E27FC236}">
                <a16:creationId xmlns:a16="http://schemas.microsoft.com/office/drawing/2014/main" id="{DD264A3B-4C6B-5D00-7DD5-EB0B0969D78A}"/>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Soins palliatifs et qualité de vie</a:t>
            </a:r>
            <a:endParaRPr lang="fr-FR" sz="3000" noProof="0" dirty="0"/>
          </a:p>
        </p:txBody>
      </p:sp>
      <p:sp>
        <p:nvSpPr>
          <p:cNvPr id="8" name="Shape 6">
            <a:extLst>
              <a:ext uri="{FF2B5EF4-FFF2-40B4-BE49-F238E27FC236}">
                <a16:creationId xmlns:a16="http://schemas.microsoft.com/office/drawing/2014/main" id="{010BCB9E-3F9A-FB56-DAF6-E2515BFECBC4}"/>
              </a:ext>
            </a:extLst>
          </p:cNvPr>
          <p:cNvSpPr/>
          <p:nvPr/>
        </p:nvSpPr>
        <p:spPr>
          <a:xfrm>
            <a:off x="548640" y="1476104"/>
            <a:ext cx="11369557" cy="4814967"/>
          </a:xfrm>
          <a:prstGeom prst="roundRect">
            <a:avLst>
              <a:gd name="adj" fmla="val 1319"/>
            </a:avLst>
          </a:prstGeom>
          <a:solidFill>
            <a:srgbClr val="F4F8FC"/>
          </a:solidFill>
          <a:ln w="12700">
            <a:solidFill>
              <a:srgbClr val="C8D8EC"/>
            </a:solidFill>
            <a:prstDash val="solid"/>
          </a:ln>
        </p:spPr>
        <p:txBody>
          <a:bodyPr/>
          <a:lstStyle/>
          <a:p>
            <a:endParaRPr lang="fr-FR" noProof="0" dirty="0"/>
          </a:p>
        </p:txBody>
      </p:sp>
      <p:sp>
        <p:nvSpPr>
          <p:cNvPr id="9" name="Text 7">
            <a:extLst>
              <a:ext uri="{FF2B5EF4-FFF2-40B4-BE49-F238E27FC236}">
                <a16:creationId xmlns:a16="http://schemas.microsoft.com/office/drawing/2014/main" id="{DF951462-7C96-30B3-2005-3696B2D3ED21}"/>
              </a:ext>
            </a:extLst>
          </p:cNvPr>
          <p:cNvSpPr txBox="1"/>
          <p:nvPr/>
        </p:nvSpPr>
        <p:spPr>
          <a:xfrm>
            <a:off x="713232" y="1567545"/>
            <a:ext cx="5095951" cy="292608"/>
          </a:xfrm>
          <a:prstGeom prst="rect">
            <a:avLst/>
          </a:prstGeom>
          <a:noFill/>
          <a:ln/>
        </p:spPr>
        <p:txBody>
          <a:bodyPr wrap="square" lIns="0" tIns="0" rIns="0" bIns="0" rtlCol="0" anchor="t"/>
          <a:lstStyle/>
          <a:p>
            <a:pPr marL="0" indent="0">
              <a:buNone/>
            </a:pPr>
            <a:r>
              <a:rPr lang="fr-FR" sz="1700" b="1" noProof="0" dirty="0">
                <a:solidFill>
                  <a:srgbClr val="12315B"/>
                </a:solidFill>
                <a:latin typeface="Calibri" pitchFamily="34" charset="0"/>
                <a:ea typeface="Calibri" pitchFamily="34" charset="-122"/>
                <a:cs typeface="Calibri" pitchFamily="34" charset="-120"/>
              </a:rPr>
              <a:t>Qualité de vie</a:t>
            </a:r>
            <a:endParaRPr lang="fr-FR" sz="1700" noProof="0" dirty="0"/>
          </a:p>
        </p:txBody>
      </p:sp>
      <p:sp>
        <p:nvSpPr>
          <p:cNvPr id="10" name="Text 8">
            <a:extLst>
              <a:ext uri="{FF2B5EF4-FFF2-40B4-BE49-F238E27FC236}">
                <a16:creationId xmlns:a16="http://schemas.microsoft.com/office/drawing/2014/main" id="{C59C6D00-86A3-7389-65E2-8C597B871C93}"/>
              </a:ext>
            </a:extLst>
          </p:cNvPr>
          <p:cNvSpPr txBox="1"/>
          <p:nvPr/>
        </p:nvSpPr>
        <p:spPr>
          <a:xfrm>
            <a:off x="713232" y="1933305"/>
            <a:ext cx="10679680" cy="185000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Fonction du bras, douleur et fatigue, qui déterminent ce qu’une personne peut réellement faire</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Bien-être émotionnel, y compris la peur d'une récidive à chaque consultation de suivi</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Image corporelle, santé sexuelle et relations</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Travail, revenus et contraintes pratiques des déplacements pour le traitement</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Rôles familiaux, garde d'enfants et qui s'occupe de qui</a:t>
            </a:r>
            <a:endParaRPr lang="fr-FR" sz="1600" noProof="0" dirty="0"/>
          </a:p>
          <a:p>
            <a:pPr marL="342900" indent="-342900">
              <a:lnSpc>
                <a:spcPct val="95000"/>
              </a:lnSpc>
              <a:spcAft>
                <a:spcPts val="600"/>
              </a:spcAft>
              <a:buSzPct val="100000"/>
              <a:buChar char="•"/>
            </a:pPr>
            <a:r>
              <a:rPr lang="fr-FR" sz="1600" noProof="0" dirty="0">
                <a:solidFill>
                  <a:srgbClr val="0B1F3F"/>
                </a:solidFill>
                <a:latin typeface="Calibri" pitchFamily="34" charset="0"/>
                <a:ea typeface="Calibri" pitchFamily="34" charset="-122"/>
                <a:cs typeface="Calibri" pitchFamily="34" charset="-120"/>
              </a:rPr>
              <a:t>Intimité et dignité à chaque contact, sans blâme ni jugement</a:t>
            </a:r>
            <a:endParaRPr lang="fr-FR" sz="1600" noProof="0" dirty="0"/>
          </a:p>
        </p:txBody>
      </p:sp>
      <p:pic>
        <p:nvPicPr>
          <p:cNvPr id="5" name="Imagen 4">
            <a:extLst>
              <a:ext uri="{FF2B5EF4-FFF2-40B4-BE49-F238E27FC236}">
                <a16:creationId xmlns:a16="http://schemas.microsoft.com/office/drawing/2014/main" id="{59EE4252-32D1-C968-CE29-422F0D0840E9}"/>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347717" y="3956895"/>
            <a:ext cx="9496566" cy="1967952"/>
          </a:xfrm>
          <a:prstGeom prst="rect">
            <a:avLst/>
          </a:prstGeom>
        </p:spPr>
      </p:pic>
    </p:spTree>
    <p:extLst>
      <p:ext uri="{BB962C8B-B14F-4D97-AF65-F5344CB8AC3E}">
        <p14:creationId xmlns:p14="http://schemas.microsoft.com/office/powerpoint/2010/main" val="3807109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Après-cancer et suivi</a:t>
            </a:r>
            <a:endParaRPr lang="fr-FR" sz="3000" noProof="0" dirty="0"/>
          </a:p>
        </p:txBody>
      </p:sp>
      <p:sp>
        <p:nvSpPr>
          <p:cNvPr id="5" name="Shape 3"/>
          <p:cNvSpPr/>
          <p:nvPr/>
        </p:nvSpPr>
        <p:spPr>
          <a:xfrm>
            <a:off x="548640" y="1084214"/>
            <a:ext cx="3527450" cy="1767251"/>
          </a:xfrm>
          <a:prstGeom prst="roundRect">
            <a:avLst>
              <a:gd name="adj" fmla="val 3104"/>
            </a:avLst>
          </a:prstGeom>
          <a:solidFill>
            <a:srgbClr val="F4F8FC"/>
          </a:solidFill>
          <a:ln w="12700">
            <a:solidFill>
              <a:srgbClr val="C8D8EC"/>
            </a:solidFill>
            <a:prstDash val="solid"/>
          </a:ln>
        </p:spPr>
        <p:txBody>
          <a:bodyPr/>
          <a:lstStyle/>
          <a:p>
            <a:endParaRPr lang="fr-FR" sz="1700" noProof="0" dirty="0"/>
          </a:p>
        </p:txBody>
      </p:sp>
      <p:sp>
        <p:nvSpPr>
          <p:cNvPr id="6" name="Text 4"/>
          <p:cNvSpPr txBox="1"/>
          <p:nvPr/>
        </p:nvSpPr>
        <p:spPr>
          <a:xfrm>
            <a:off x="713232" y="1175654"/>
            <a:ext cx="3198266" cy="292608"/>
          </a:xfrm>
          <a:prstGeom prst="rect">
            <a:avLst/>
          </a:prstGeom>
          <a:noFill/>
          <a:ln/>
        </p:spPr>
        <p:txBody>
          <a:bodyPr wrap="square" lIns="0" tIns="0" rIns="0" bIns="0" rtlCol="0" anchor="t">
            <a:normAutofit fontScale="94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Surveiller la récupération</a:t>
            </a:r>
            <a:endParaRPr lang="fr-FR" sz="1700" noProof="0" dirty="0"/>
          </a:p>
        </p:txBody>
      </p:sp>
      <p:sp>
        <p:nvSpPr>
          <p:cNvPr id="7" name="Text 5"/>
          <p:cNvSpPr txBox="1"/>
          <p:nvPr/>
        </p:nvSpPr>
        <p:spPr>
          <a:xfrm>
            <a:off x="713232" y="1513982"/>
            <a:ext cx="3198266" cy="1282619"/>
          </a:xfrm>
          <a:prstGeom prst="rect">
            <a:avLst/>
          </a:prstGeom>
          <a:noFill/>
          <a:ln/>
        </p:spPr>
        <p:txBody>
          <a:bodyPr wrap="square" lIns="0" tIns="0" rIns="0" bIns="0" rtlCol="0" anchor="t">
            <a:normAutofit fontScale="94500"/>
          </a:bodyPr>
          <a:lstStyle/>
          <a:p>
            <a:pPr marL="0" indent="0">
              <a:lnSpc>
                <a:spcPct val="90000"/>
              </a:lnSpc>
              <a:buNone/>
            </a:pPr>
            <a:r>
              <a:rPr lang="fr-FR" sz="1700" noProof="0" dirty="0">
                <a:solidFill>
                  <a:srgbClr val="1F3A63"/>
                </a:solidFill>
                <a:latin typeface="Calibri" pitchFamily="34" charset="0"/>
                <a:ea typeface="Calibri" pitchFamily="34" charset="-122"/>
                <a:cs typeface="Calibri" pitchFamily="34" charset="-120"/>
              </a:rPr>
              <a:t>Cicatrisation de la plaie, mouvement de l'épaule, gonflement du bras, poids, fatigue et retour à une activité normale.</a:t>
            </a:r>
            <a:endParaRPr lang="fr-FR" sz="1700" noProof="0" dirty="0"/>
          </a:p>
        </p:txBody>
      </p:sp>
      <p:sp>
        <p:nvSpPr>
          <p:cNvPr id="8" name="Shape 6"/>
          <p:cNvSpPr/>
          <p:nvPr/>
        </p:nvSpPr>
        <p:spPr>
          <a:xfrm>
            <a:off x="4332122" y="1084214"/>
            <a:ext cx="3527450" cy="1767251"/>
          </a:xfrm>
          <a:prstGeom prst="roundRect">
            <a:avLst>
              <a:gd name="adj" fmla="val 3104"/>
            </a:avLst>
          </a:prstGeom>
          <a:solidFill>
            <a:srgbClr val="F4F8FC"/>
          </a:solidFill>
          <a:ln w="12700">
            <a:solidFill>
              <a:srgbClr val="C8D8EC"/>
            </a:solidFill>
            <a:prstDash val="solid"/>
          </a:ln>
        </p:spPr>
        <p:txBody>
          <a:bodyPr/>
          <a:lstStyle/>
          <a:p>
            <a:endParaRPr lang="fr-FR" sz="1700" noProof="0" dirty="0"/>
          </a:p>
        </p:txBody>
      </p:sp>
      <p:sp>
        <p:nvSpPr>
          <p:cNvPr id="9" name="Text 7"/>
          <p:cNvSpPr txBox="1"/>
          <p:nvPr/>
        </p:nvSpPr>
        <p:spPr>
          <a:xfrm>
            <a:off x="4496714" y="1175654"/>
            <a:ext cx="3198266" cy="292608"/>
          </a:xfrm>
          <a:prstGeom prst="rect">
            <a:avLst/>
          </a:prstGeom>
          <a:noFill/>
          <a:ln/>
        </p:spPr>
        <p:txBody>
          <a:bodyPr wrap="square" lIns="0" tIns="0" rIns="0" bIns="0" rtlCol="0" anchor="t">
            <a:normAutofit fontScale="94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Gérer les effets durables</a:t>
            </a:r>
            <a:endParaRPr lang="fr-FR" sz="1700" noProof="0" dirty="0"/>
          </a:p>
        </p:txBody>
      </p:sp>
      <p:sp>
        <p:nvSpPr>
          <p:cNvPr id="10" name="Text 8"/>
          <p:cNvSpPr txBox="1"/>
          <p:nvPr/>
        </p:nvSpPr>
        <p:spPr>
          <a:xfrm>
            <a:off x="4496714" y="1513982"/>
            <a:ext cx="3198266" cy="1282619"/>
          </a:xfrm>
          <a:prstGeom prst="rect">
            <a:avLst/>
          </a:prstGeom>
          <a:noFill/>
          <a:ln/>
        </p:spPr>
        <p:txBody>
          <a:bodyPr wrap="square" lIns="0" tIns="0" rIns="0" bIns="0" rtlCol="0" anchor="t">
            <a:normAutofit fontScale="94500"/>
          </a:bodyPr>
          <a:lstStyle/>
          <a:p>
            <a:pPr marL="0" indent="0">
              <a:lnSpc>
                <a:spcPct val="90000"/>
              </a:lnSpc>
              <a:buNone/>
            </a:pPr>
            <a:r>
              <a:rPr lang="fr-FR" sz="1700" noProof="0" dirty="0">
                <a:solidFill>
                  <a:srgbClr val="1F3A63"/>
                </a:solidFill>
                <a:latin typeface="Calibri" pitchFamily="34" charset="0"/>
                <a:ea typeface="Calibri" pitchFamily="34" charset="-122"/>
                <a:cs typeface="Calibri" pitchFamily="34" charset="-120"/>
              </a:rPr>
              <a:t>Continuez à évaluer et traiter la neuropathie, les symptômes de la ménopause, les douleurs articulaires, le lymphœdème et la fatigue.</a:t>
            </a:r>
            <a:endParaRPr lang="fr-FR" sz="1700" noProof="0" dirty="0"/>
          </a:p>
        </p:txBody>
      </p:sp>
      <p:sp>
        <p:nvSpPr>
          <p:cNvPr id="11" name="Shape 9"/>
          <p:cNvSpPr/>
          <p:nvPr/>
        </p:nvSpPr>
        <p:spPr>
          <a:xfrm>
            <a:off x="8115605" y="1084214"/>
            <a:ext cx="3527450" cy="1767251"/>
          </a:xfrm>
          <a:prstGeom prst="roundRect">
            <a:avLst>
              <a:gd name="adj" fmla="val 3104"/>
            </a:avLst>
          </a:prstGeom>
          <a:solidFill>
            <a:srgbClr val="F4F8FC"/>
          </a:solidFill>
          <a:ln w="12700">
            <a:solidFill>
              <a:srgbClr val="C8D8EC"/>
            </a:solidFill>
            <a:prstDash val="solid"/>
          </a:ln>
        </p:spPr>
        <p:txBody>
          <a:bodyPr/>
          <a:lstStyle/>
          <a:p>
            <a:endParaRPr lang="fr-FR" sz="1700" noProof="0" dirty="0"/>
          </a:p>
        </p:txBody>
      </p:sp>
      <p:sp>
        <p:nvSpPr>
          <p:cNvPr id="12" name="Text 10"/>
          <p:cNvSpPr txBox="1"/>
          <p:nvPr/>
        </p:nvSpPr>
        <p:spPr>
          <a:xfrm>
            <a:off x="8280197" y="1175654"/>
            <a:ext cx="3198266" cy="292608"/>
          </a:xfrm>
          <a:prstGeom prst="rect">
            <a:avLst/>
          </a:prstGeom>
          <a:noFill/>
          <a:ln/>
        </p:spPr>
        <p:txBody>
          <a:bodyPr wrap="square" lIns="0" tIns="0" rIns="0" bIns="0" rtlCol="0" anchor="t">
            <a:normAutofit fontScale="94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Soutenir un traitement continu</a:t>
            </a:r>
            <a:endParaRPr lang="fr-FR" sz="1700" noProof="0" dirty="0"/>
          </a:p>
        </p:txBody>
      </p:sp>
      <p:sp>
        <p:nvSpPr>
          <p:cNvPr id="13" name="Text 11"/>
          <p:cNvSpPr txBox="1"/>
          <p:nvPr/>
        </p:nvSpPr>
        <p:spPr>
          <a:xfrm>
            <a:off x="8280197" y="1513982"/>
            <a:ext cx="3198266" cy="1282619"/>
          </a:xfrm>
          <a:prstGeom prst="rect">
            <a:avLst/>
          </a:prstGeom>
          <a:noFill/>
          <a:ln/>
        </p:spPr>
        <p:txBody>
          <a:bodyPr wrap="square" lIns="0" tIns="0" rIns="0" bIns="0" rtlCol="0" anchor="t">
            <a:normAutofit fontScale="94500"/>
          </a:bodyPr>
          <a:lstStyle/>
          <a:p>
            <a:pPr marL="0" indent="0">
              <a:lnSpc>
                <a:spcPct val="90000"/>
              </a:lnSpc>
              <a:buNone/>
            </a:pPr>
            <a:r>
              <a:rPr lang="fr-FR" sz="1700" noProof="0" dirty="0">
                <a:solidFill>
                  <a:srgbClr val="1F3A63"/>
                </a:solidFill>
                <a:latin typeface="Calibri" pitchFamily="34" charset="0"/>
                <a:ea typeface="Calibri" pitchFamily="34" charset="-122"/>
                <a:cs typeface="Calibri" pitchFamily="34" charset="-120"/>
              </a:rPr>
              <a:t>L’hormonothérapie se poursuit pendant des années après que la personne se sente bien. Parlez-en, et traitez les effets qui la compromettent.</a:t>
            </a:r>
            <a:endParaRPr lang="fr-FR" sz="1700" noProof="0" dirty="0"/>
          </a:p>
        </p:txBody>
      </p:sp>
      <p:sp>
        <p:nvSpPr>
          <p:cNvPr id="14" name="Shape 12"/>
          <p:cNvSpPr/>
          <p:nvPr/>
        </p:nvSpPr>
        <p:spPr>
          <a:xfrm>
            <a:off x="548640" y="3107497"/>
            <a:ext cx="3527450" cy="2091517"/>
          </a:xfrm>
          <a:prstGeom prst="roundRect">
            <a:avLst>
              <a:gd name="adj" fmla="val 2623"/>
            </a:avLst>
          </a:prstGeom>
          <a:solidFill>
            <a:srgbClr val="F4F8FC"/>
          </a:solidFill>
          <a:ln w="12700">
            <a:solidFill>
              <a:srgbClr val="C8D8EC"/>
            </a:solidFill>
            <a:prstDash val="solid"/>
          </a:ln>
        </p:spPr>
        <p:txBody>
          <a:bodyPr/>
          <a:lstStyle/>
          <a:p>
            <a:endParaRPr lang="fr-FR" sz="1700" noProof="0" dirty="0"/>
          </a:p>
        </p:txBody>
      </p:sp>
      <p:sp>
        <p:nvSpPr>
          <p:cNvPr id="15" name="Text 13"/>
          <p:cNvSpPr txBox="1"/>
          <p:nvPr/>
        </p:nvSpPr>
        <p:spPr>
          <a:xfrm>
            <a:off x="713232" y="3198937"/>
            <a:ext cx="3198266" cy="292608"/>
          </a:xfrm>
          <a:prstGeom prst="rect">
            <a:avLst/>
          </a:prstGeom>
          <a:noFill/>
          <a:ln/>
        </p:spPr>
        <p:txBody>
          <a:bodyPr wrap="square" lIns="0" tIns="0" rIns="0" bIns="0" rtlCol="0" anchor="t">
            <a:normAutofit fontScale="94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Surveiller les signes de récidive</a:t>
            </a:r>
            <a:endParaRPr lang="fr-FR" sz="1700" noProof="0" dirty="0"/>
          </a:p>
        </p:txBody>
      </p:sp>
      <p:sp>
        <p:nvSpPr>
          <p:cNvPr id="16" name="Text 14"/>
          <p:cNvSpPr txBox="1"/>
          <p:nvPr/>
        </p:nvSpPr>
        <p:spPr>
          <a:xfrm>
            <a:off x="713232" y="3537265"/>
            <a:ext cx="3198266" cy="1606885"/>
          </a:xfrm>
          <a:prstGeom prst="rect">
            <a:avLst/>
          </a:prstGeom>
          <a:noFill/>
          <a:ln/>
        </p:spPr>
        <p:txBody>
          <a:bodyPr wrap="square" lIns="0" tIns="0" rIns="0" bIns="0" rtlCol="0" anchor="t">
            <a:normAutofit/>
          </a:bodyPr>
          <a:lstStyle/>
          <a:p>
            <a:pPr marL="0" indent="0">
              <a:lnSpc>
                <a:spcPct val="90000"/>
              </a:lnSpc>
              <a:buNone/>
            </a:pPr>
            <a:r>
              <a:rPr lang="fr-FR" sz="1600" noProof="0" dirty="0">
                <a:solidFill>
                  <a:srgbClr val="1F3A63"/>
                </a:solidFill>
                <a:latin typeface="Calibri" pitchFamily="34" charset="0"/>
                <a:ea typeface="Calibri" pitchFamily="34" charset="-122"/>
                <a:cs typeface="Calibri" pitchFamily="34" charset="-120"/>
              </a:rPr>
              <a:t>Une nouvelle boule du sein ou de la paroi thoracique, un nouveau gonflement axillaire, des douleurs osseuses persistantes, un essoufflement ou des symptômes neurologiques sont évalués, et non laissés à l’attente.</a:t>
            </a:r>
            <a:endParaRPr lang="fr-FR" sz="1600" noProof="0" dirty="0"/>
          </a:p>
        </p:txBody>
      </p:sp>
      <p:sp>
        <p:nvSpPr>
          <p:cNvPr id="17" name="Shape 15"/>
          <p:cNvSpPr/>
          <p:nvPr/>
        </p:nvSpPr>
        <p:spPr>
          <a:xfrm>
            <a:off x="4332122" y="3107497"/>
            <a:ext cx="3527450" cy="2091517"/>
          </a:xfrm>
          <a:prstGeom prst="roundRect">
            <a:avLst>
              <a:gd name="adj" fmla="val 2623"/>
            </a:avLst>
          </a:prstGeom>
          <a:solidFill>
            <a:srgbClr val="F4F8FC"/>
          </a:solidFill>
          <a:ln w="12700">
            <a:solidFill>
              <a:srgbClr val="C8D8EC"/>
            </a:solidFill>
            <a:prstDash val="solid"/>
          </a:ln>
        </p:spPr>
        <p:txBody>
          <a:bodyPr/>
          <a:lstStyle/>
          <a:p>
            <a:endParaRPr lang="fr-FR" sz="1700" noProof="0" dirty="0"/>
          </a:p>
        </p:txBody>
      </p:sp>
      <p:sp>
        <p:nvSpPr>
          <p:cNvPr id="18" name="Text 16"/>
          <p:cNvSpPr txBox="1"/>
          <p:nvPr/>
        </p:nvSpPr>
        <p:spPr>
          <a:xfrm>
            <a:off x="4496714" y="3198937"/>
            <a:ext cx="3198266" cy="292608"/>
          </a:xfrm>
          <a:prstGeom prst="rect">
            <a:avLst/>
          </a:prstGeom>
          <a:noFill/>
          <a:ln/>
        </p:spPr>
        <p:txBody>
          <a:bodyPr wrap="square" lIns="0" tIns="0" rIns="0" bIns="0" rtlCol="0" anchor="t">
            <a:normAutofit fontScale="945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Poursuivez les soins mammaires</a:t>
            </a:r>
            <a:endParaRPr lang="fr-FR" sz="1700" noProof="0" dirty="0"/>
          </a:p>
        </p:txBody>
      </p:sp>
      <p:sp>
        <p:nvSpPr>
          <p:cNvPr id="19" name="Text 17"/>
          <p:cNvSpPr txBox="1"/>
          <p:nvPr/>
        </p:nvSpPr>
        <p:spPr>
          <a:xfrm>
            <a:off x="4496714" y="3537265"/>
            <a:ext cx="3198266" cy="1606885"/>
          </a:xfrm>
          <a:prstGeom prst="rect">
            <a:avLst/>
          </a:prstGeom>
          <a:noFill/>
          <a:ln/>
        </p:spPr>
        <p:txBody>
          <a:bodyPr wrap="square" lIns="0" tIns="0" rIns="0" bIns="0" rtlCol="0" anchor="t">
            <a:normAutofit fontScale="94500"/>
          </a:bodyPr>
          <a:lstStyle/>
          <a:p>
            <a:pPr marL="0" indent="0">
              <a:lnSpc>
                <a:spcPct val="90000"/>
              </a:lnSpc>
              <a:buNone/>
            </a:pPr>
            <a:r>
              <a:rPr lang="fr-FR" sz="1700" noProof="0" dirty="0">
                <a:solidFill>
                  <a:srgbClr val="1F3A63"/>
                </a:solidFill>
                <a:latin typeface="Calibri" pitchFamily="34" charset="0"/>
                <a:ea typeface="Calibri" pitchFamily="34" charset="-122"/>
                <a:cs typeface="Calibri" pitchFamily="34" charset="-120"/>
              </a:rPr>
              <a:t>Le tissu mammaire restant demande toujours de l’attention. Renforcez l’attention aux changements et soutenez toute imagerie prévue.</a:t>
            </a:r>
            <a:endParaRPr lang="fr-FR" sz="1700" noProof="0" dirty="0"/>
          </a:p>
        </p:txBody>
      </p:sp>
      <p:sp>
        <p:nvSpPr>
          <p:cNvPr id="20" name="Shape 18"/>
          <p:cNvSpPr/>
          <p:nvPr/>
        </p:nvSpPr>
        <p:spPr>
          <a:xfrm>
            <a:off x="8115605" y="3107497"/>
            <a:ext cx="3527450" cy="2091517"/>
          </a:xfrm>
          <a:prstGeom prst="roundRect">
            <a:avLst>
              <a:gd name="adj" fmla="val 2623"/>
            </a:avLst>
          </a:prstGeom>
          <a:solidFill>
            <a:srgbClr val="F4F8FC"/>
          </a:solidFill>
          <a:ln w="12700">
            <a:solidFill>
              <a:srgbClr val="C8D8EC"/>
            </a:solidFill>
            <a:prstDash val="solid"/>
          </a:ln>
        </p:spPr>
        <p:txBody>
          <a:bodyPr/>
          <a:lstStyle/>
          <a:p>
            <a:endParaRPr lang="fr-FR" sz="1700" noProof="0" dirty="0"/>
          </a:p>
        </p:txBody>
      </p:sp>
      <p:sp>
        <p:nvSpPr>
          <p:cNvPr id="21" name="Text 19"/>
          <p:cNvSpPr txBox="1"/>
          <p:nvPr/>
        </p:nvSpPr>
        <p:spPr>
          <a:xfrm>
            <a:off x="8280197" y="3198937"/>
            <a:ext cx="3198266" cy="292608"/>
          </a:xfrm>
          <a:prstGeom prst="rect">
            <a:avLst/>
          </a:prstGeom>
          <a:noFill/>
          <a:ln/>
        </p:spPr>
        <p:txBody>
          <a:bodyPr wrap="square" lIns="0" tIns="0" rIns="0" bIns="0" rtlCol="0" anchor="t">
            <a:normAutofit fontScale="85000" lnSpcReduction="10000"/>
          </a:bodyPr>
          <a:lstStyle/>
          <a:p>
            <a:pPr marL="0" indent="0">
              <a:buNone/>
            </a:pPr>
            <a:r>
              <a:rPr lang="fr-FR" sz="1700" b="1" noProof="0" dirty="0">
                <a:solidFill>
                  <a:srgbClr val="12315B"/>
                </a:solidFill>
                <a:latin typeface="Calibri" pitchFamily="34" charset="0"/>
                <a:ea typeface="Calibri" pitchFamily="34" charset="-122"/>
                <a:cs typeface="Calibri" pitchFamily="34" charset="-120"/>
              </a:rPr>
              <a:t>Soutenez la personne dans son ensemble</a:t>
            </a:r>
            <a:endParaRPr lang="fr-FR" sz="1700" noProof="0" dirty="0"/>
          </a:p>
        </p:txBody>
      </p:sp>
      <p:sp>
        <p:nvSpPr>
          <p:cNvPr id="22" name="Text 20"/>
          <p:cNvSpPr txBox="1"/>
          <p:nvPr/>
        </p:nvSpPr>
        <p:spPr>
          <a:xfrm>
            <a:off x="8280197" y="3811587"/>
            <a:ext cx="3198266" cy="1126175"/>
          </a:xfrm>
          <a:prstGeom prst="rect">
            <a:avLst/>
          </a:prstGeom>
          <a:noFill/>
          <a:ln/>
        </p:spPr>
        <p:txBody>
          <a:bodyPr wrap="square" lIns="0" tIns="0" rIns="0" bIns="0" rtlCol="0" anchor="t">
            <a:normAutofit fontScale="94500"/>
          </a:bodyPr>
          <a:lstStyle/>
          <a:p>
            <a:pPr marL="0" indent="0">
              <a:lnSpc>
                <a:spcPct val="90000"/>
              </a:lnSpc>
              <a:buNone/>
            </a:pPr>
            <a:r>
              <a:rPr lang="fr-FR" sz="1700" noProof="0" dirty="0">
                <a:solidFill>
                  <a:srgbClr val="1F3A63"/>
                </a:solidFill>
                <a:latin typeface="Calibri" pitchFamily="34" charset="0"/>
                <a:ea typeface="Calibri" pitchFamily="34" charset="-122"/>
                <a:cs typeface="Calibri" pitchFamily="34" charset="-120"/>
              </a:rPr>
              <a:t>Le bien-être émotionnel, les relations familiales, le retour au travail et les difficultés financières font partie du suivi, au même titre que l’examen physique.</a:t>
            </a:r>
            <a:endParaRPr lang="fr-FR" sz="1700" noProof="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Mise en application</a:t>
            </a:r>
            <a:endParaRPr lang="fr-FR"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fr-FR"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noAutofit/>
          </a:bodyPr>
          <a:lstStyle/>
          <a:p>
            <a:pPr marL="0" indent="0">
              <a:lnSpc>
                <a:spcPct val="92000"/>
              </a:lnSpc>
              <a:buNone/>
            </a:pPr>
            <a:r>
              <a:rPr lang="fr-FR" sz="1552" b="1" noProof="0" dirty="0">
                <a:solidFill>
                  <a:srgbClr val="C9761A"/>
                </a:solidFill>
                <a:latin typeface="Calibri" pitchFamily="34" charset="0"/>
                <a:ea typeface="Calibri" pitchFamily="34" charset="-122"/>
                <a:cs typeface="Calibri" pitchFamily="34" charset="-120"/>
              </a:rPr>
              <a:t>Scénario </a:t>
            </a:r>
            <a:r>
              <a:rPr lang="fr-FR" sz="1552" noProof="0" dirty="0">
                <a:solidFill>
                  <a:srgbClr val="0B1F3F"/>
                </a:solidFill>
                <a:latin typeface="Calibri" pitchFamily="34" charset="0"/>
                <a:ea typeface="Calibri" pitchFamily="34" charset="-122"/>
                <a:cs typeface="Calibri" pitchFamily="34" charset="-120"/>
              </a:rPr>
              <a:t>Une femme, dix jours après le début d’un cycle de chimiothérapie suivant une chirurgie du sein, présente de la fièvre, des frissons et se sent brusquement beaucoup plus mal.</a:t>
            </a:r>
            <a:endParaRPr lang="fr-FR" sz="1552"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fr-FR" sz="1900" b="1" noProof="0" dirty="0">
                <a:solidFill>
                  <a:srgbClr val="12315B"/>
                </a:solidFill>
                <a:latin typeface="Calibri" pitchFamily="34" charset="0"/>
                <a:ea typeface="Calibri" pitchFamily="34" charset="-122"/>
                <a:cs typeface="Calibri" pitchFamily="34" charset="-120"/>
              </a:rPr>
              <a:t>Quelle est la priorité ?</a:t>
            </a:r>
            <a:endParaRPr lang="fr-FR" sz="1900" noProof="0" dirty="0"/>
          </a:p>
        </p:txBody>
      </p:sp>
      <p:sp>
        <p:nvSpPr>
          <p:cNvPr id="8" name="Shape 6"/>
          <p:cNvSpPr/>
          <p:nvPr/>
        </p:nvSpPr>
        <p:spPr>
          <a:xfrm>
            <a:off x="548640" y="2816352"/>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9" name="Text 7"/>
          <p:cNvSpPr txBox="1"/>
          <p:nvPr/>
        </p:nvSpPr>
        <p:spPr>
          <a:xfrm>
            <a:off x="713232" y="2871216"/>
            <a:ext cx="7260336" cy="356616"/>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Conseiller du paracétamol et revoir dans une semaine</a:t>
            </a:r>
            <a:endParaRPr lang="fr-FR" sz="1800" noProof="0" dirty="0"/>
          </a:p>
        </p:txBody>
      </p:sp>
      <p:sp>
        <p:nvSpPr>
          <p:cNvPr id="10" name="Shape 8"/>
          <p:cNvSpPr/>
          <p:nvPr/>
        </p:nvSpPr>
        <p:spPr>
          <a:xfrm>
            <a:off x="548640" y="3374136"/>
            <a:ext cx="7589520" cy="713232"/>
          </a:xfrm>
          <a:prstGeom prst="roundRect">
            <a:avLst>
              <a:gd name="adj" fmla="val 6410"/>
            </a:avLst>
          </a:prstGeom>
          <a:solidFill>
            <a:srgbClr val="EAF5EF"/>
          </a:solidFill>
          <a:ln w="19050">
            <a:solidFill>
              <a:srgbClr val="8FC4A9"/>
            </a:solidFill>
            <a:prstDash val="solid"/>
          </a:ln>
        </p:spPr>
        <p:txBody>
          <a:bodyPr/>
          <a:lstStyle/>
          <a:p>
            <a:endParaRPr lang="fr-FR" noProof="0" dirty="0"/>
          </a:p>
        </p:txBody>
      </p:sp>
      <p:sp>
        <p:nvSpPr>
          <p:cNvPr id="11" name="Text 9"/>
          <p:cNvSpPr txBox="1"/>
          <p:nvPr/>
        </p:nvSpPr>
        <p:spPr>
          <a:xfrm>
            <a:off x="713232" y="3429000"/>
            <a:ext cx="7260336" cy="603504"/>
          </a:xfrm>
          <a:prstGeom prst="rect">
            <a:avLst/>
          </a:prstGeom>
          <a:noFill/>
          <a:ln/>
        </p:spPr>
        <p:txBody>
          <a:bodyPr wrap="square" lIns="0" tIns="0" rIns="0" bIns="0" rtlCol="0" anchor="ct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Organiser une évaluation urgente pour une possible infection sur neutropénie ✓</a:t>
            </a:r>
            <a:endParaRPr lang="fr-FR" sz="1800" noProof="0" dirty="0"/>
          </a:p>
        </p:txBody>
      </p:sp>
      <p:sp>
        <p:nvSpPr>
          <p:cNvPr id="12" name="Shape 10"/>
          <p:cNvSpPr/>
          <p:nvPr/>
        </p:nvSpPr>
        <p:spPr>
          <a:xfrm>
            <a:off x="548640" y="4178808"/>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13" name="Text 11"/>
          <p:cNvSpPr txBox="1"/>
          <p:nvPr/>
        </p:nvSpPr>
        <p:spPr>
          <a:xfrm>
            <a:off x="713232" y="4233672"/>
            <a:ext cx="7260336" cy="356616"/>
          </a:xfrm>
          <a:prstGeom prst="rect">
            <a:avLst/>
          </a:prstGeom>
          <a:noFill/>
          <a:ln/>
        </p:spPr>
        <p:txBody>
          <a:bodyPr wrap="square" lIns="0" tIns="0" rIns="0" bIns="0" rtlCol="0" anchor="ctr">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Conseiller uniquement du repos et de boire davantage</a:t>
            </a:r>
            <a:endParaRPr lang="fr-FR" sz="1800" noProof="0" dirty="0"/>
          </a:p>
        </p:txBody>
      </p:sp>
      <p:sp>
        <p:nvSpPr>
          <p:cNvPr id="14" name="Shape 12"/>
          <p:cNvSpPr/>
          <p:nvPr/>
        </p:nvSpPr>
        <p:spPr>
          <a:xfrm>
            <a:off x="548640" y="4736592"/>
            <a:ext cx="7589520" cy="466344"/>
          </a:xfrm>
          <a:prstGeom prst="roundRect">
            <a:avLst>
              <a:gd name="adj" fmla="val 9804"/>
            </a:avLst>
          </a:prstGeom>
          <a:solidFill>
            <a:srgbClr val="FFFFFF"/>
          </a:solidFill>
          <a:ln w="12700">
            <a:solidFill>
              <a:srgbClr val="C8D8EC"/>
            </a:solidFill>
            <a:prstDash val="solid"/>
          </a:ln>
        </p:spPr>
        <p:txBody>
          <a:bodyPr/>
          <a:lstStyle/>
          <a:p>
            <a:endParaRPr lang="fr-FR" noProof="0" dirty="0"/>
          </a:p>
        </p:txBody>
      </p:sp>
      <p:sp>
        <p:nvSpPr>
          <p:cNvPr id="15" name="Text 13"/>
          <p:cNvSpPr txBox="1"/>
          <p:nvPr/>
        </p:nvSpPr>
        <p:spPr>
          <a:xfrm>
            <a:off x="713232" y="4791456"/>
            <a:ext cx="7260336" cy="356616"/>
          </a:xfrm>
          <a:prstGeom prst="rect">
            <a:avLst/>
          </a:prstGeom>
          <a:noFill/>
          <a:ln/>
        </p:spPr>
        <p:txBody>
          <a:bodyPr wrap="square" lIns="0" tIns="0" rIns="0" bIns="0" rtlCol="0" anchor="ct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Arrêter la chimiothérapie sans autre mesure</a:t>
            </a:r>
            <a:endParaRPr lang="fr-FR"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fr-FR"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fr-FR" sz="1800" b="1" noProof="0" dirty="0">
                <a:solidFill>
                  <a:srgbClr val="1B6E4A"/>
                </a:solidFill>
                <a:latin typeface="Calibri" pitchFamily="34" charset="0"/>
                <a:ea typeface="Calibri" pitchFamily="34" charset="-122"/>
                <a:cs typeface="Calibri" pitchFamily="34" charset="-120"/>
              </a:rPr>
              <a:t>Bonne réponse : B</a:t>
            </a:r>
            <a:endParaRPr lang="fr-FR"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Une fièvre pendant la chimiothérapie peut traduire une infection alors que les neutrophiles sont bas, et la situation peut s’aggraver très vite. Organisez une évaluation urgente et contactez l’équipe soignante le jour même. N’attendez pas de voir si la fièvre baisse, et ne traitez pas à domicile par antibiotiques oraux seuls.</a:t>
            </a:r>
            <a:endParaRPr lang="fr-FR" sz="1800" noProof="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(1 sur 3)</a:t>
            </a:r>
            <a:endParaRPr lang="fr-FR" sz="3000" noProof="0" dirty="0"/>
          </a:p>
        </p:txBody>
      </p:sp>
      <p:sp>
        <p:nvSpPr>
          <p:cNvPr id="5" name="Shape 3"/>
          <p:cNvSpPr/>
          <p:nvPr/>
        </p:nvSpPr>
        <p:spPr>
          <a:xfrm>
            <a:off x="548640" y="1738274"/>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 Les soins palliatifs sont :</a:t>
            </a:r>
            <a:endParaRPr lang="fr-FR" sz="1800" noProof="0" dirty="0"/>
          </a:p>
        </p:txBody>
      </p:sp>
      <p:sp>
        <p:nvSpPr>
          <p:cNvPr id="7" name="Text 5"/>
          <p:cNvSpPr txBox="1"/>
          <p:nvPr/>
        </p:nvSpPr>
        <p:spPr>
          <a:xfrm>
            <a:off x="731520" y="2268626"/>
            <a:ext cx="5250028" cy="566928"/>
          </a:xfrm>
          <a:prstGeom prst="rect">
            <a:avLst/>
          </a:prstGeom>
          <a:noFill/>
          <a:ln/>
        </p:spPr>
        <p:txBody>
          <a:bodyPr wrap="square" lIns="0" tIns="0" rIns="0" bIns="0" rtlCol="0" anchor="t">
            <a:normAutofit/>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Le soulagement des symptômes et la qualité de vie, en même temps que le traitement si nécessaire</a:t>
            </a:r>
            <a:endParaRPr lang="fr-FR" sz="1800" noProof="0" dirty="0"/>
          </a:p>
        </p:txBody>
      </p:sp>
      <p:sp>
        <p:nvSpPr>
          <p:cNvPr id="8" name="Text 6"/>
          <p:cNvSpPr txBox="1"/>
          <p:nvPr/>
        </p:nvSpPr>
        <p:spPr>
          <a:xfrm>
            <a:off x="6210148" y="2268626"/>
            <a:ext cx="5250028" cy="566928"/>
          </a:xfrm>
          <a:prstGeom prst="rect">
            <a:avLst/>
          </a:prstGeom>
          <a:noFill/>
          <a:ln/>
        </p:spPr>
        <p:txBody>
          <a:bodyPr wrap="square" lIns="0" tIns="0" rIns="0" bIns="0" rtlCol="0" anchor="t">
            <a:normAutofit/>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Uniquement pour les derniers jours de vie</a:t>
            </a:r>
            <a:endParaRPr lang="fr-FR"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même chose que l’arrêt du traitement</a:t>
            </a:r>
            <a:endParaRPr lang="fr-FR"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Uniquement des antalgiques</a:t>
            </a:r>
            <a:endParaRPr lang="fr-FR"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Ils portent sur les symptômes, la fonction et le soutien de la personne et de sa famille, et peuvent accompagner le traitement du cancer dès le début de la maladie.</a:t>
            </a:r>
            <a:endParaRPr lang="fr-FR" sz="1350" noProof="0" dirty="0"/>
          </a:p>
        </p:txBody>
      </p:sp>
      <p:sp>
        <p:nvSpPr>
          <p:cNvPr id="12" name="Shape 10"/>
          <p:cNvSpPr/>
          <p:nvPr/>
        </p:nvSpPr>
        <p:spPr>
          <a:xfrm>
            <a:off x="548640" y="4027932"/>
            <a:ext cx="11094415" cy="1841602"/>
          </a:xfrm>
          <a:prstGeom prst="roundRect">
            <a:avLst>
              <a:gd name="adj" fmla="val 297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Q2. Lequel de ces éléments nécessite une évaluation urgente ?</a:t>
            </a:r>
            <a:endParaRPr lang="fr-FR" sz="1800" noProof="0" dirty="0"/>
          </a:p>
        </p:txBody>
      </p:sp>
      <p:sp>
        <p:nvSpPr>
          <p:cNvPr id="14" name="Text 12"/>
          <p:cNvSpPr txBox="1"/>
          <p:nvPr/>
        </p:nvSpPr>
        <p:spPr>
          <a:xfrm>
            <a:off x="731520" y="4558284"/>
            <a:ext cx="5250028" cy="320040"/>
          </a:xfrm>
          <a:prstGeom prst="rect">
            <a:avLst/>
          </a:prstGeom>
          <a:noFill/>
          <a:ln/>
        </p:spPr>
        <p:txBody>
          <a:bodyPr wrap="square" lIns="0" tIns="0" rIns="0" bIns="0" rtlCol="0" anchor="t">
            <a:normAutofit fontScale="8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Une fatigue légère la deuxième semaine de chimiothérapie</a:t>
            </a:r>
            <a:endParaRPr lang="fr-FR" sz="1800" noProof="0" dirty="0"/>
          </a:p>
        </p:txBody>
      </p:sp>
      <p:sp>
        <p:nvSpPr>
          <p:cNvPr id="15" name="Text 13"/>
          <p:cNvSpPr txBox="1"/>
          <p:nvPr/>
        </p:nvSpPr>
        <p:spPr>
          <a:xfrm>
            <a:off x="6210148" y="4558284"/>
            <a:ext cx="5250028" cy="320040"/>
          </a:xfrm>
          <a:prstGeom prst="rect">
            <a:avLst/>
          </a:prstGeom>
          <a:noFill/>
          <a:ln/>
        </p:spPr>
        <p:txBody>
          <a:bodyPr wrap="square" lIns="0" tIns="0" rIns="0" bIns="0" rtlCol="0" anchor="t">
            <a:normAutofit fontScale="92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Une légère sécheresse de la peau dans la zone irradiée</a:t>
            </a:r>
            <a:endParaRPr lang="fr-FR"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Des cheveux légèrement plus fins</a:t>
            </a:r>
            <a:endParaRPr lang="fr-FR"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normAutofit/>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D. Une fièvre et des frissons pendant la chimiothérapie</a:t>
            </a:r>
            <a:endParaRPr lang="fr-FR" sz="1800" noProof="0" dirty="0"/>
          </a:p>
        </p:txBody>
      </p:sp>
      <p:sp>
        <p:nvSpPr>
          <p:cNvPr id="18" name="Text 16"/>
          <p:cNvSpPr txBox="1"/>
          <p:nvPr/>
        </p:nvSpPr>
        <p:spPr>
          <a:xfrm>
            <a:off x="731520" y="536295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D. </a:t>
            </a:r>
            <a:r>
              <a:rPr lang="fr-FR" sz="1350" noProof="0" dirty="0">
                <a:solidFill>
                  <a:srgbClr val="0B1F3F"/>
                </a:solidFill>
                <a:latin typeface="Calibri" pitchFamily="34" charset="0"/>
                <a:ea typeface="Calibri" pitchFamily="34" charset="-122"/>
                <a:cs typeface="Calibri" pitchFamily="34" charset="-120"/>
              </a:rPr>
              <a:t>Une fièvre pendant la chimiothérapie peut traduire une infection avec des neutrophiles bas, ce qui est une urgence. Les autres sont des effets attendus, pris en charge et revus.</a:t>
            </a:r>
            <a:endParaRPr lang="fr-FR" sz="1350" noProof="0" dirty="0"/>
          </a:p>
        </p:txBody>
      </p:sp>
    </p:spTree>
    <p:extLst>
      <p:ext uri="{BB962C8B-B14F-4D97-AF65-F5344CB8AC3E}">
        <p14:creationId xmlns:p14="http://schemas.microsoft.com/office/powerpoint/2010/main" val="124691760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(2 sur 3)</a:t>
            </a:r>
            <a:endParaRPr lang="fr-FR" sz="3000" noProof="0" dirty="0"/>
          </a:p>
        </p:txBody>
      </p:sp>
      <p:sp>
        <p:nvSpPr>
          <p:cNvPr id="5" name="Shape 3"/>
          <p:cNvSpPr/>
          <p:nvPr/>
        </p:nvSpPr>
        <p:spPr>
          <a:xfrm>
            <a:off x="548640" y="1491386"/>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Q3. Bras lourd et bague trop serrée, deux ans après une chirurgie axillaire. Vous devez :</a:t>
            </a:r>
            <a:endParaRPr lang="fr-FR" sz="1800" noProof="0" dirty="0"/>
          </a:p>
        </p:txBody>
      </p:sp>
      <p:sp>
        <p:nvSpPr>
          <p:cNvPr id="7" name="Text 5"/>
          <p:cNvSpPr txBox="1"/>
          <p:nvPr/>
        </p:nvSpPr>
        <p:spPr>
          <a:xfrm>
            <a:off x="731520" y="2021738"/>
            <a:ext cx="5250028" cy="566928"/>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La rassurer : c’est normal et attendu</a:t>
            </a:r>
            <a:endParaRPr lang="fr-FR" sz="1800" noProof="0" dirty="0"/>
          </a:p>
        </p:txBody>
      </p:sp>
      <p:sp>
        <p:nvSpPr>
          <p:cNvPr id="8" name="Text 6"/>
          <p:cNvSpPr txBox="1"/>
          <p:nvPr/>
        </p:nvSpPr>
        <p:spPr>
          <a:xfrm>
            <a:off x="6210148" y="2021738"/>
            <a:ext cx="5250028" cy="566928"/>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Rechercher un lymphœdème, exclure une infection, et l’orienter pour évaluation et prise en charge</a:t>
            </a:r>
            <a:endParaRPr lang="fr-FR" sz="1800" noProof="0" dirty="0"/>
          </a:p>
        </p:txBody>
      </p:sp>
      <p:sp>
        <p:nvSpPr>
          <p:cNvPr id="9" name="Text 7"/>
          <p:cNvSpPr txBox="1"/>
          <p:nvPr/>
        </p:nvSpPr>
        <p:spPr>
          <a:xfrm>
            <a:off x="731520" y="2643530"/>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Lui conseiller de garder le bras immobile</a:t>
            </a:r>
            <a:endParaRPr lang="fr-FR" sz="1800" noProof="0" dirty="0"/>
          </a:p>
        </p:txBody>
      </p:sp>
      <p:sp>
        <p:nvSpPr>
          <p:cNvPr id="10" name="Text 8"/>
          <p:cNvSpPr txBox="1"/>
          <p:nvPr/>
        </p:nvSpPr>
        <p:spPr>
          <a:xfrm>
            <a:off x="6210148" y="2643530"/>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Lui dire que le cancer est revenu</a:t>
            </a:r>
            <a:endParaRPr lang="fr-FR" sz="1800" noProof="0" dirty="0"/>
          </a:p>
        </p:txBody>
      </p:sp>
      <p:sp>
        <p:nvSpPr>
          <p:cNvPr id="11" name="Text 9"/>
          <p:cNvSpPr txBox="1"/>
          <p:nvPr/>
        </p:nvSpPr>
        <p:spPr>
          <a:xfrm>
            <a:off x="731520" y="3073298"/>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b="0" noProof="0" dirty="0">
                <a:solidFill>
                  <a:srgbClr val="0B1F3F"/>
                </a:solidFill>
                <a:latin typeface="Calibri" pitchFamily="34" charset="0"/>
                <a:ea typeface="Calibri" pitchFamily="34" charset="-122"/>
                <a:cs typeface="Calibri" pitchFamily="34" charset="-120"/>
              </a:rPr>
              <a:t>Cela décrit un lymphœdème précoce. Excluez d'abord l'infection, puis orientez-la. Une évaluation plus précoce offre un meilleur contrôle, et immobiliser le bras n'est pas utile.</a:t>
            </a:r>
            <a:endParaRPr lang="fr-FR" sz="1350" noProof="0" dirty="0"/>
          </a:p>
        </p:txBody>
      </p:sp>
      <p:sp>
        <p:nvSpPr>
          <p:cNvPr id="12" name="Shape 10"/>
          <p:cNvSpPr/>
          <p:nvPr/>
        </p:nvSpPr>
        <p:spPr>
          <a:xfrm>
            <a:off x="548640" y="3781044"/>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890772"/>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Q4. Hormonothérapie arrêtée à cause de bouffées de chaleur et de douleurs articulaires. Vous devez :</a:t>
            </a:r>
            <a:endParaRPr lang="fr-FR" sz="1800" noProof="0" dirty="0"/>
          </a:p>
        </p:txBody>
      </p:sp>
      <p:sp>
        <p:nvSpPr>
          <p:cNvPr id="14" name="Text 12"/>
          <p:cNvSpPr txBox="1"/>
          <p:nvPr/>
        </p:nvSpPr>
        <p:spPr>
          <a:xfrm>
            <a:off x="731520" y="4311396"/>
            <a:ext cx="5250028" cy="813816"/>
          </a:xfrm>
          <a:prstGeom prst="rect">
            <a:avLst/>
          </a:prstGeom>
          <a:noFill/>
          <a:ln/>
        </p:spPr>
        <p:txBody>
          <a:bodyPr wrap="square" lIns="0" tIns="0" rIns="0" bIns="0" rtlCol="0" anchor="t">
            <a:normAutofit/>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A. Expliquer l’action du médicament, traiter les effets, et signaler le problème à l’équipe soignante</a:t>
            </a:r>
            <a:endParaRPr lang="fr-FR" sz="1800" noProof="0" dirty="0"/>
          </a:p>
        </p:txBody>
      </p:sp>
      <p:sp>
        <p:nvSpPr>
          <p:cNvPr id="15" name="Text 13"/>
          <p:cNvSpPr txBox="1"/>
          <p:nvPr/>
        </p:nvSpPr>
        <p:spPr>
          <a:xfrm>
            <a:off x="6210148" y="4311396"/>
            <a:ext cx="5250028" cy="813816"/>
          </a:xfrm>
          <a:prstGeom prst="rect">
            <a:avLst/>
          </a:prstGeom>
          <a:noFill/>
          <a:ln/>
        </p:spPr>
        <p:txBody>
          <a:bodyPr wrap="square" lIns="0" tIns="0" rIns="0" bIns="0" rtlCol="0" anchor="t">
            <a:normAutofit/>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Accepter la décision et la noter</a:t>
            </a:r>
            <a:endParaRPr lang="fr-FR" sz="1800" noProof="0" dirty="0"/>
          </a:p>
        </p:txBody>
      </p:sp>
      <p:sp>
        <p:nvSpPr>
          <p:cNvPr id="16" name="Text 14"/>
          <p:cNvSpPr txBox="1"/>
          <p:nvPr/>
        </p:nvSpPr>
        <p:spPr>
          <a:xfrm>
            <a:off x="731520" y="5180076"/>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Lui dire qu’elle met sa vie en danger</a:t>
            </a:r>
            <a:endParaRPr lang="fr-FR" sz="1800" noProof="0" dirty="0"/>
          </a:p>
        </p:txBody>
      </p:sp>
      <p:sp>
        <p:nvSpPr>
          <p:cNvPr id="17" name="Text 15"/>
          <p:cNvSpPr txBox="1"/>
          <p:nvPr/>
        </p:nvSpPr>
        <p:spPr>
          <a:xfrm>
            <a:off x="6210148" y="5180076"/>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Lui conseiller de doubler la dose à la reprise</a:t>
            </a:r>
            <a:endParaRPr lang="fr-FR"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A. </a:t>
            </a:r>
            <a:r>
              <a:rPr lang="fr-FR" sz="1350" noProof="0" dirty="0">
                <a:solidFill>
                  <a:srgbClr val="0B1F3F"/>
                </a:solidFill>
                <a:latin typeface="Calibri" pitchFamily="34" charset="0"/>
                <a:ea typeface="Calibri" pitchFamily="34" charset="-122"/>
                <a:cs typeface="Calibri" pitchFamily="34" charset="-120"/>
              </a:rPr>
              <a:t>Les effets indésirables sont la raison habituelle de l’abandon de l’hormonothérapie, et ils sont souvent gérables. Interrogez sans reproche, traitez le symptôme et impliquez l’équipe soignante, car des alternatives existent parfois.</a:t>
            </a:r>
            <a:endParaRPr lang="fr-FR" sz="1350" noProof="0" dirty="0"/>
          </a:p>
        </p:txBody>
      </p:sp>
    </p:spTree>
    <p:extLst>
      <p:ext uri="{BB962C8B-B14F-4D97-AF65-F5344CB8AC3E}">
        <p14:creationId xmlns:p14="http://schemas.microsoft.com/office/powerpoint/2010/main" val="269900475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Test de connaissances (3 sur 3)</a:t>
            </a:r>
            <a:endParaRPr lang="fr-FR" sz="3000" noProof="0" dirty="0"/>
          </a:p>
        </p:txBody>
      </p:sp>
      <p:sp>
        <p:nvSpPr>
          <p:cNvPr id="5" name="Shape 3"/>
          <p:cNvSpPr/>
          <p:nvPr/>
        </p:nvSpPr>
        <p:spPr>
          <a:xfrm>
            <a:off x="548640" y="1491386"/>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Q5. Le suivi après le traitement du cancer du sein comprend :</a:t>
            </a:r>
            <a:endParaRPr lang="fr-FR" sz="1800" noProof="0" dirty="0"/>
          </a:p>
        </p:txBody>
      </p:sp>
      <p:sp>
        <p:nvSpPr>
          <p:cNvPr id="7" name="Text 5"/>
          <p:cNvSpPr txBox="1"/>
          <p:nvPr/>
        </p:nvSpPr>
        <p:spPr>
          <a:xfrm>
            <a:off x="731520" y="2021738"/>
            <a:ext cx="5250028" cy="813816"/>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Uniquement la surveillance de la cicatrice</a:t>
            </a:r>
            <a:endParaRPr lang="fr-FR" sz="1800" noProof="0" dirty="0"/>
          </a:p>
        </p:txBody>
      </p:sp>
      <p:sp>
        <p:nvSpPr>
          <p:cNvPr id="8" name="Text 6"/>
          <p:cNvSpPr txBox="1"/>
          <p:nvPr/>
        </p:nvSpPr>
        <p:spPr>
          <a:xfrm>
            <a:off x="6210148" y="2021738"/>
            <a:ext cx="5250028" cy="813816"/>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Surveiller la récupération, gérer les effets durables, soutenir le traitement continu et évaluer les nouveaux symptômes</a:t>
            </a:r>
            <a:endParaRPr lang="fr-FR"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Rien une fois le traitement terminé</a:t>
            </a:r>
            <a:endParaRPr lang="fr-FR"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Refaire l’opération initiale</a:t>
            </a:r>
            <a:endParaRPr lang="fr-FR"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 suivi accompagne la récupération, prend en charge les effets durables, maintient le traitement au long cours, et recherche une récidive lorsque de nouveaux symptômes apparaissent.</a:t>
            </a:r>
            <a:endParaRPr lang="fr-FR" sz="1350" noProof="0" dirty="0"/>
          </a:p>
        </p:txBody>
      </p:sp>
      <p:sp>
        <p:nvSpPr>
          <p:cNvPr id="12" name="Shape 10"/>
          <p:cNvSpPr/>
          <p:nvPr/>
        </p:nvSpPr>
        <p:spPr>
          <a:xfrm>
            <a:off x="548640" y="4027932"/>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Q6. La santé sexuelle et l'image corporelle après un traitement du cancer du sein doivent être :</a:t>
            </a:r>
            <a:endParaRPr lang="fr-FR" sz="1800" noProof="0" dirty="0"/>
          </a:p>
        </p:txBody>
      </p:sp>
      <p:sp>
        <p:nvSpPr>
          <p:cNvPr id="14" name="Text 12"/>
          <p:cNvSpPr txBox="1"/>
          <p:nvPr/>
        </p:nvSpPr>
        <p:spPr>
          <a:xfrm>
            <a:off x="731520" y="455828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Évitées car trop sensibles</a:t>
            </a:r>
            <a:endParaRPr lang="fr-FR" sz="1800" noProof="0" dirty="0"/>
          </a:p>
        </p:txBody>
      </p:sp>
      <p:sp>
        <p:nvSpPr>
          <p:cNvPr id="15" name="Text 13"/>
          <p:cNvSpPr txBox="1"/>
          <p:nvPr/>
        </p:nvSpPr>
        <p:spPr>
          <a:xfrm>
            <a:off x="6210148" y="455828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B. </a:t>
            </a:r>
            <a:r>
              <a:rPr lang="fr-FR" sz="1800" noProof="0" dirty="0">
                <a:solidFill>
                  <a:srgbClr val="1F3A63"/>
                </a:solidFill>
                <a:latin typeface="Calibri" pitchFamily="34" charset="0"/>
                <a:ea typeface="Calibri" pitchFamily="34" charset="-122"/>
                <a:cs typeface="Calibri" pitchFamily="34" charset="-120"/>
              </a:rPr>
              <a:t>Abordées seulement si la personne insiste</a:t>
            </a:r>
            <a:endParaRPr lang="fr-FR" sz="1800" noProof="0" dirty="0"/>
          </a:p>
        </p:txBody>
      </p:sp>
      <p:sp>
        <p:nvSpPr>
          <p:cNvPr id="16" name="Text 14"/>
          <p:cNvSpPr txBox="1"/>
          <p:nvPr/>
        </p:nvSpPr>
        <p:spPr>
          <a:xfrm>
            <a:off x="731520" y="518007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C. Abordées par vous, avec respect et sans a priori</a:t>
            </a:r>
            <a:endParaRPr lang="fr-FR" sz="1800" noProof="0" dirty="0"/>
          </a:p>
        </p:txBody>
      </p:sp>
      <p:sp>
        <p:nvSpPr>
          <p:cNvPr id="17" name="Text 15"/>
          <p:cNvSpPr txBox="1"/>
          <p:nvPr/>
        </p:nvSpPr>
        <p:spPr>
          <a:xfrm>
            <a:off x="6210148" y="518007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Laissées entièrement au spécialiste</a:t>
            </a:r>
            <a:endParaRPr lang="fr-FR"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C. </a:t>
            </a:r>
            <a:r>
              <a:rPr lang="fr-FR" sz="1350" b="0" noProof="0" dirty="0">
                <a:solidFill>
                  <a:srgbClr val="0B1F3F"/>
                </a:solidFill>
                <a:latin typeface="Calibri" pitchFamily="34" charset="0"/>
                <a:ea typeface="Calibri" pitchFamily="34" charset="-122"/>
                <a:cs typeface="Calibri" pitchFamily="34" charset="-120"/>
              </a:rPr>
              <a:t>Les personnes abordent rarement ces questions spontanément. Demander, en privé et sans supposer un état civil ou une activité sexuelle, est ce qui permet d'offrir de l'aide.</a:t>
            </a:r>
            <a:endParaRPr lang="fr-FR" sz="1350" noProof="0" dirty="0"/>
          </a:p>
        </p:txBody>
      </p:sp>
    </p:spTree>
    <p:extLst>
      <p:ext uri="{BB962C8B-B14F-4D97-AF65-F5344CB8AC3E}">
        <p14:creationId xmlns:p14="http://schemas.microsoft.com/office/powerpoint/2010/main" val="30592355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fr-FR" sz="1100" b="1" kern="0" spc="100" noProof="0" dirty="0">
                <a:solidFill>
                  <a:srgbClr val="5B7699"/>
                </a:solidFill>
                <a:latin typeface="Calibri" pitchFamily="34" charset="0"/>
                <a:ea typeface="Calibri" pitchFamily="34" charset="-122"/>
                <a:cs typeface="Calibri" pitchFamily="34" charset="-120"/>
              </a:rPr>
              <a:t>S E S S I O N 5</a:t>
            </a:r>
            <a:endParaRPr lang="fr-FR"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Réflexion sur la session</a:t>
            </a:r>
            <a:endParaRPr lang="fr-FR"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noAutofit/>
          </a:bodyPr>
          <a:lstStyle/>
          <a:p>
            <a:pPr marL="0" indent="0">
              <a:lnSpc>
                <a:spcPct val="95000"/>
              </a:lnSpc>
              <a:buNone/>
            </a:pPr>
            <a:r>
              <a:rPr lang="fr-FR" sz="1409" i="1" noProof="0" dirty="0">
                <a:solidFill>
                  <a:srgbClr val="5B7699"/>
                </a:solidFill>
                <a:latin typeface="Calibri" pitchFamily="34" charset="0"/>
                <a:ea typeface="Calibri" pitchFamily="34" charset="-122"/>
                <a:cs typeface="Calibri" pitchFamily="34" charset="-120"/>
              </a:rPr>
              <a:t>Saisissez votre réponse dans la zone de texte. Il n'y a pas de réponse unique correcte. Ces questions ne sont pas notées et servent à votre propre pratique et à la discussion.</a:t>
            </a:r>
            <a:endParaRPr lang="fr-FR" sz="1409"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fr-FR"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1</a:t>
            </a:r>
            <a:endParaRPr lang="fr-FR"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Comment aideriez-vous une patiente et sa famille à décider quels symptômes signaler en urgence et lesquels peuvent attendre la prochaine évaluation ?</a:t>
            </a:r>
            <a:endParaRPr lang="fr-FR"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fr-FR"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2</a:t>
            </a:r>
            <a:endParaRPr lang="fr-FR"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Comment parleriez-vous de la perte d'un sein avec quelqu'un qui a peur de la réaction de sa famille et de sa communauté ?</a:t>
            </a:r>
            <a:endParaRPr lang="fr-FR"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fr-FR"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fr-FR"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fr-FR" sz="1800" b="1" noProof="0" dirty="0">
                <a:solidFill>
                  <a:srgbClr val="FFFFFF"/>
                </a:solidFill>
                <a:latin typeface="Calibri" pitchFamily="34" charset="0"/>
                <a:ea typeface="Calibri" pitchFamily="34" charset="-122"/>
                <a:cs typeface="Calibri" pitchFamily="34" charset="-120"/>
              </a:rPr>
              <a:t>3</a:t>
            </a:r>
            <a:endParaRPr lang="fr-FR"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fr-FR" sz="1800" noProof="0" dirty="0">
                <a:solidFill>
                  <a:srgbClr val="0B1F3F"/>
                </a:solidFill>
                <a:latin typeface="Calibri" pitchFamily="34" charset="0"/>
                <a:ea typeface="Calibri" pitchFamily="34" charset="-122"/>
                <a:cs typeface="Calibri" pitchFamily="34" charset="-120"/>
              </a:rPr>
              <a:t>Quelle mesure pratique pourriez-vous changer dans votre contexte pour aider les patientes à poursuivre leur hormonothérapie pendant toute la durée prévue ?</a:t>
            </a:r>
            <a:endParaRPr lang="fr-FR" sz="1800" noProof="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2148840"/>
            <a:ext cx="11094415" cy="777240"/>
          </a:xfrm>
          <a:prstGeom prst="rect">
            <a:avLst/>
          </a:prstGeom>
          <a:noFill/>
          <a:ln/>
        </p:spPr>
        <p:txBody>
          <a:bodyPr wrap="square" lIns="0" tIns="0" rIns="0" bIns="0" rtlCol="0" anchor="ctr"/>
          <a:lstStyle/>
          <a:p>
            <a:pPr marL="0" indent="0">
              <a:buNone/>
            </a:pPr>
            <a:r>
              <a:rPr lang="fr-FR" sz="4000" b="1" noProof="0" dirty="0">
                <a:solidFill>
                  <a:srgbClr val="12315B"/>
                </a:solidFill>
                <a:latin typeface="Calibri" pitchFamily="34" charset="0"/>
                <a:ea typeface="Calibri" pitchFamily="34" charset="-122"/>
                <a:cs typeface="Calibri" pitchFamily="34" charset="-120"/>
              </a:rPr>
              <a:t>Évaluation finale</a:t>
            </a:r>
            <a:endParaRPr lang="fr-FR" sz="4000" noProof="0" dirty="0"/>
          </a:p>
        </p:txBody>
      </p:sp>
      <p:sp>
        <p:nvSpPr>
          <p:cNvPr id="5" name="Text 3"/>
          <p:cNvSpPr txBox="1"/>
          <p:nvPr/>
        </p:nvSpPr>
        <p:spPr>
          <a:xfrm>
            <a:off x="548640" y="3017520"/>
            <a:ext cx="9509760" cy="1005840"/>
          </a:xfrm>
          <a:prstGeom prst="rect">
            <a:avLst/>
          </a:prstGeom>
          <a:noFill/>
          <a:ln/>
        </p:spPr>
        <p:txBody>
          <a:bodyPr wrap="square" lIns="0" tIns="0" rIns="0" bIns="0" rtlCol="0" anchor="ctr"/>
          <a:lstStyle/>
          <a:p>
            <a:pPr marL="0" indent="0">
              <a:lnSpc>
                <a:spcPct val="100000"/>
              </a:lnSpc>
              <a:buNone/>
            </a:pPr>
            <a:r>
              <a:rPr lang="fr-FR" sz="1900" noProof="0" dirty="0">
                <a:solidFill>
                  <a:srgbClr val="1F3A63"/>
                </a:solidFill>
                <a:latin typeface="Calibri" pitchFamily="34" charset="0"/>
                <a:ea typeface="Calibri" pitchFamily="34" charset="-122"/>
                <a:cs typeface="Calibri" pitchFamily="34" charset="-120"/>
              </a:rPr>
              <a:t>Vingt questions sur l’ensemble du module. Les bonnes réponses et les explications sont affichées pour que vous puissiez suivre le raisonnement, et pas seulement voir le score.</a:t>
            </a:r>
            <a:endParaRPr lang="fr-FR" sz="1900" noProof="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(1 sur 10)</a:t>
            </a:r>
            <a:endParaRPr lang="fr-FR" sz="3000" noProof="0" dirty="0"/>
          </a:p>
        </p:txBody>
      </p:sp>
      <p:sp>
        <p:nvSpPr>
          <p:cNvPr id="5" name="Shape 3"/>
          <p:cNvSpPr/>
          <p:nvPr/>
        </p:nvSpPr>
        <p:spPr>
          <a:xfrm>
            <a:off x="548640" y="1832915"/>
            <a:ext cx="11094415" cy="1652321"/>
          </a:xfrm>
          <a:prstGeom prst="roundRect">
            <a:avLst>
              <a:gd name="adj" fmla="val 3320"/>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942643"/>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 La plupart des cancers du sein proviennent de :</a:t>
            </a:r>
            <a:endParaRPr lang="fr-FR" sz="1800" noProof="0" dirty="0"/>
          </a:p>
        </p:txBody>
      </p:sp>
      <p:sp>
        <p:nvSpPr>
          <p:cNvPr id="7" name="Text 5"/>
          <p:cNvSpPr txBox="1"/>
          <p:nvPr/>
        </p:nvSpPr>
        <p:spPr>
          <a:xfrm>
            <a:off x="731520" y="2363267"/>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Muscle de la paroi thoracique</a:t>
            </a:r>
            <a:endParaRPr lang="fr-FR" sz="1800" noProof="0" dirty="0"/>
          </a:p>
        </p:txBody>
      </p:sp>
      <p:sp>
        <p:nvSpPr>
          <p:cNvPr id="8" name="Text 6"/>
          <p:cNvSpPr txBox="1"/>
          <p:nvPr/>
        </p:nvSpPr>
        <p:spPr>
          <a:xfrm>
            <a:off x="6210148" y="2363267"/>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L’épithélium des canaux et des lobules</a:t>
            </a:r>
            <a:endParaRPr lang="fr-FR" sz="1800" noProof="0" dirty="0"/>
          </a:p>
        </p:txBody>
      </p:sp>
      <p:sp>
        <p:nvSpPr>
          <p:cNvPr id="9" name="Text 7"/>
          <p:cNvSpPr txBox="1"/>
          <p:nvPr/>
        </p:nvSpPr>
        <p:spPr>
          <a:xfrm>
            <a:off x="731520" y="2738171"/>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Tissu ganglionnaire axillaire</a:t>
            </a:r>
            <a:endParaRPr lang="fr-FR" sz="1800" noProof="0" dirty="0"/>
          </a:p>
        </p:txBody>
      </p:sp>
      <p:sp>
        <p:nvSpPr>
          <p:cNvPr id="10" name="Text 8"/>
          <p:cNvSpPr txBox="1"/>
          <p:nvPr/>
        </p:nvSpPr>
        <p:spPr>
          <a:xfrm>
            <a:off x="6210148" y="2738171"/>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Peau mammaire</a:t>
            </a:r>
            <a:endParaRPr lang="fr-FR" sz="1800" noProof="0" dirty="0"/>
          </a:p>
        </p:txBody>
      </p:sp>
      <p:sp>
        <p:nvSpPr>
          <p:cNvPr id="11" name="Text 9"/>
          <p:cNvSpPr txBox="1"/>
          <p:nvPr/>
        </p:nvSpPr>
        <p:spPr>
          <a:xfrm>
            <a:off x="731520" y="3167939"/>
            <a:ext cx="10728655" cy="244145"/>
          </a:xfrm>
          <a:prstGeom prst="rect">
            <a:avLst/>
          </a:prstGeom>
          <a:noFill/>
          <a:ln/>
        </p:spPr>
        <p:txBody>
          <a:bodyPr wrap="square" lIns="0" tIns="0" rIns="0" bIns="0" rtlCol="0" anchor="t">
            <a:normAutofit/>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Les cancers du sein sont des carcinomes nés des cellules épithéliales qui tapissent les canaux et les lobules.</a:t>
            </a:r>
            <a:endParaRPr lang="fr-FR" sz="1350" noProof="0" dirty="0"/>
          </a:p>
        </p:txBody>
      </p:sp>
      <p:sp>
        <p:nvSpPr>
          <p:cNvPr id="12" name="Shape 10"/>
          <p:cNvSpPr/>
          <p:nvPr/>
        </p:nvSpPr>
        <p:spPr>
          <a:xfrm>
            <a:off x="548640" y="3686404"/>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79613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Q2. Un carcinome in situ du sein signifie que :</a:t>
            </a:r>
            <a:endParaRPr lang="fr-FR" sz="1800" noProof="0" dirty="0"/>
          </a:p>
        </p:txBody>
      </p:sp>
      <p:sp>
        <p:nvSpPr>
          <p:cNvPr id="14" name="Text 12"/>
          <p:cNvSpPr txBox="1"/>
          <p:nvPr/>
        </p:nvSpPr>
        <p:spPr>
          <a:xfrm>
            <a:off x="731520" y="4216756"/>
            <a:ext cx="5250028" cy="566928"/>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La maladie a atteint les ganglions lymphatiques</a:t>
            </a:r>
            <a:endParaRPr lang="fr-FR" sz="1800" noProof="0" dirty="0"/>
          </a:p>
        </p:txBody>
      </p:sp>
      <p:sp>
        <p:nvSpPr>
          <p:cNvPr id="15" name="Text 13"/>
          <p:cNvSpPr txBox="1"/>
          <p:nvPr/>
        </p:nvSpPr>
        <p:spPr>
          <a:xfrm>
            <a:off x="6210148" y="4216756"/>
            <a:ext cx="5250028" cy="566928"/>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Les cellules malignes restent dans le canal ou le lobule, sans invasion</a:t>
            </a:r>
            <a:endParaRPr lang="fr-FR" sz="1800" noProof="0" dirty="0"/>
          </a:p>
        </p:txBody>
      </p:sp>
      <p:sp>
        <p:nvSpPr>
          <p:cNvPr id="16" name="Text 14"/>
          <p:cNvSpPr txBox="1"/>
          <p:nvPr/>
        </p:nvSpPr>
        <p:spPr>
          <a:xfrm>
            <a:off x="731520" y="4838548"/>
            <a:ext cx="5250028" cy="320040"/>
          </a:xfrm>
          <a:prstGeom prst="rect">
            <a:avLst/>
          </a:prstGeom>
          <a:noFill/>
          <a:ln/>
        </p:spPr>
        <p:txBody>
          <a:bodyPr wrap="square" lIns="0" tIns="0" rIns="0" bIns="0" rtlCol="0" anchor="t">
            <a:normAutofit fontScale="91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lésion est bénigne et ne nécessite aucun traitement</a:t>
            </a:r>
            <a:endParaRPr lang="fr-FR" sz="1800" noProof="0" dirty="0"/>
          </a:p>
        </p:txBody>
      </p:sp>
      <p:sp>
        <p:nvSpPr>
          <p:cNvPr id="17" name="Text 15"/>
          <p:cNvSpPr txBox="1"/>
          <p:nvPr/>
        </p:nvSpPr>
        <p:spPr>
          <a:xfrm>
            <a:off x="6210148" y="4838548"/>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Il existe une propagation à distance</a:t>
            </a:r>
            <a:endParaRPr lang="fr-FR" sz="1800" noProof="0" dirty="0"/>
          </a:p>
        </p:txBody>
      </p:sp>
      <p:sp>
        <p:nvSpPr>
          <p:cNvPr id="18" name="Text 16"/>
          <p:cNvSpPr txBox="1"/>
          <p:nvPr/>
        </p:nvSpPr>
        <p:spPr>
          <a:xfrm>
            <a:off x="731520" y="5268316"/>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La maladie in situ est contenue. Elle est quand même traitée, car une partie évoluerait vers un cancer invasif, et elle ne se propage ni aux ganglions ni à distance.</a:t>
            </a:r>
            <a:endParaRPr lang="fr-FR" sz="1350" noProof="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(2 sur 10)</a:t>
            </a:r>
            <a:endParaRPr lang="fr-FR" sz="3000" noProof="0" dirty="0"/>
          </a:p>
        </p:txBody>
      </p:sp>
      <p:sp>
        <p:nvSpPr>
          <p:cNvPr id="5" name="Shape 3"/>
          <p:cNvSpPr/>
          <p:nvPr/>
        </p:nvSpPr>
        <p:spPr>
          <a:xfrm>
            <a:off x="548640" y="1614830"/>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724558"/>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Q3. Une femme qui a une boule indolore du sein depuis quatre mois a besoin :</a:t>
            </a:r>
            <a:endParaRPr lang="fr-FR" sz="1800" noProof="0" dirty="0"/>
          </a:p>
        </p:txBody>
      </p:sp>
      <p:sp>
        <p:nvSpPr>
          <p:cNvPr id="7" name="Text 5"/>
          <p:cNvSpPr txBox="1"/>
          <p:nvPr/>
        </p:nvSpPr>
        <p:spPr>
          <a:xfrm>
            <a:off x="731520" y="2145182"/>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D’un rendez-vous de dépistage lors du prochain passage de l’équipe mobile</a:t>
            </a:r>
            <a:endParaRPr lang="fr-FR" sz="1800" noProof="0" dirty="0"/>
          </a:p>
        </p:txBody>
      </p:sp>
      <p:sp>
        <p:nvSpPr>
          <p:cNvPr id="8" name="Text 6"/>
          <p:cNvSpPr txBox="1"/>
          <p:nvPr/>
        </p:nvSpPr>
        <p:spPr>
          <a:xfrm>
            <a:off x="6210148" y="2145182"/>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D’une évaluation diagnostique du sein dès maintenant</a:t>
            </a:r>
            <a:endParaRPr lang="fr-FR" sz="1800" noProof="0" dirty="0"/>
          </a:p>
        </p:txBody>
      </p:sp>
      <p:sp>
        <p:nvSpPr>
          <p:cNvPr id="9" name="Text 7"/>
          <p:cNvSpPr txBox="1"/>
          <p:nvPr/>
        </p:nvSpPr>
        <p:spPr>
          <a:xfrm>
            <a:off x="731520" y="276697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D’être seulement rassurée</a:t>
            </a:r>
            <a:endParaRPr lang="fr-FR" sz="1800" noProof="0" dirty="0"/>
          </a:p>
        </p:txBody>
      </p:sp>
      <p:sp>
        <p:nvSpPr>
          <p:cNvPr id="10" name="Text 8"/>
          <p:cNvSpPr txBox="1"/>
          <p:nvPr/>
        </p:nvSpPr>
        <p:spPr>
          <a:xfrm>
            <a:off x="6210148" y="2766974"/>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D’un contrôle dans six mois</a:t>
            </a:r>
            <a:endParaRPr lang="fr-FR" sz="1800" noProof="0" dirty="0"/>
          </a:p>
        </p:txBody>
      </p:sp>
      <p:sp>
        <p:nvSpPr>
          <p:cNvPr id="11" name="Text 9"/>
          <p:cNvSpPr txBox="1"/>
          <p:nvPr/>
        </p:nvSpPr>
        <p:spPr>
          <a:xfrm>
            <a:off x="731520" y="3196742"/>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Une boule persistante est un symptôme : elle nécessite une évaluation diagnostique. L’absence de douleur ne la rend pas moins inquiétante.</a:t>
            </a:r>
            <a:endParaRPr lang="fr-FR" sz="1350" noProof="0" dirty="0"/>
          </a:p>
        </p:txBody>
      </p:sp>
      <p:sp>
        <p:nvSpPr>
          <p:cNvPr id="12" name="Shape 10"/>
          <p:cNvSpPr/>
          <p:nvPr/>
        </p:nvSpPr>
        <p:spPr>
          <a:xfrm>
            <a:off x="548640" y="3904488"/>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014216"/>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Q4. Trouver une cause bénigne d'un changement mammaire signifie :</a:t>
            </a:r>
            <a:endParaRPr lang="fr-FR" sz="1800" noProof="0" dirty="0"/>
          </a:p>
        </p:txBody>
      </p:sp>
      <p:sp>
        <p:nvSpPr>
          <p:cNvPr id="14" name="Text 12"/>
          <p:cNvSpPr txBox="1"/>
          <p:nvPr/>
        </p:nvSpPr>
        <p:spPr>
          <a:xfrm>
            <a:off x="731520" y="4434840"/>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Le changement est entièrement expliqué dans chaque cas</a:t>
            </a:r>
            <a:endParaRPr lang="fr-FR" sz="1800" noProof="0" dirty="0"/>
          </a:p>
        </p:txBody>
      </p:sp>
      <p:sp>
        <p:nvSpPr>
          <p:cNvPr id="15" name="Text 13"/>
          <p:cNvSpPr txBox="1"/>
          <p:nvPr/>
        </p:nvSpPr>
        <p:spPr>
          <a:xfrm>
            <a:off x="6210148" y="4434840"/>
            <a:ext cx="5250028" cy="566928"/>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Une réévaluation peut rester nécessaire si l’anomalie n’évolue pas comme prévu</a:t>
            </a:r>
            <a:endParaRPr lang="fr-FR" sz="1800" noProof="0" dirty="0"/>
          </a:p>
        </p:txBody>
      </p:sp>
      <p:sp>
        <p:nvSpPr>
          <p:cNvPr id="16" name="Text 14"/>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Aucun suivi n'est jamais requis</a:t>
            </a:r>
            <a:endParaRPr lang="fr-FR" sz="1800" noProof="0" dirty="0"/>
          </a:p>
        </p:txBody>
      </p:sp>
      <p:sp>
        <p:nvSpPr>
          <p:cNvPr id="17" name="Text 15"/>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 cancer est exclu à vie</a:t>
            </a:r>
            <a:endParaRPr lang="fr-FR" sz="1800" noProof="0" dirty="0"/>
          </a:p>
        </p:txBody>
      </p:sp>
      <p:sp>
        <p:nvSpPr>
          <p:cNvPr id="18" name="Text 16"/>
          <p:cNvSpPr txBox="1"/>
          <p:nvPr/>
        </p:nvSpPr>
        <p:spPr>
          <a:xfrm>
            <a:off x="731520" y="5486400"/>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Les affections bénignes sont fréquentes et peuvent coexister avec un cancer. Une anomalie qui persiste, grossit ou évolue de façon atypique est réévaluée, et non simplement renommée.</a:t>
            </a:r>
            <a:endParaRPr lang="fr-FR" sz="1350" noProof="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(3 sur 10)</a:t>
            </a:r>
            <a:endParaRPr lang="fr-FR" sz="3000" noProof="0" dirty="0"/>
          </a:p>
        </p:txBody>
      </p:sp>
      <p:sp>
        <p:nvSpPr>
          <p:cNvPr id="5" name="Shape 3"/>
          <p:cNvSpPr/>
          <p:nvPr/>
        </p:nvSpPr>
        <p:spPr>
          <a:xfrm>
            <a:off x="548640" y="1491386"/>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Q5. La mammographie :</a:t>
            </a:r>
            <a:endParaRPr lang="fr-FR" sz="1800" noProof="0" dirty="0"/>
          </a:p>
        </p:txBody>
      </p:sp>
      <p:sp>
        <p:nvSpPr>
          <p:cNvPr id="7" name="Text 5"/>
          <p:cNvSpPr txBox="1"/>
          <p:nvPr/>
        </p:nvSpPr>
        <p:spPr>
          <a:xfrm>
            <a:off x="731520" y="2021738"/>
            <a:ext cx="5250028" cy="566928"/>
          </a:xfrm>
          <a:prstGeom prst="rect">
            <a:avLst/>
          </a:prstGeom>
          <a:noFill/>
          <a:ln/>
        </p:spPr>
        <p:txBody>
          <a:bodyPr wrap="square" lIns="0" tIns="0" rIns="0" bIns="0" rtlCol="0" anchor="t">
            <a:normAutofit fontScale="97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Confirme à elle seule le cancer du sein</a:t>
            </a:r>
            <a:endParaRPr lang="fr-FR" sz="1800" noProof="0" dirty="0"/>
          </a:p>
        </p:txBody>
      </p:sp>
      <p:sp>
        <p:nvSpPr>
          <p:cNvPr id="8" name="Text 6"/>
          <p:cNvSpPr txBox="1"/>
          <p:nvPr/>
        </p:nvSpPr>
        <p:spPr>
          <a:xfrm>
            <a:off x="6210148" y="2021738"/>
            <a:ext cx="5250028" cy="566928"/>
          </a:xfrm>
          <a:prstGeom prst="rect">
            <a:avLst/>
          </a:prstGeom>
          <a:noFill/>
          <a:ln/>
        </p:spPr>
        <p:txBody>
          <a:bodyPr wrap="square" lIns="0" tIns="0" rIns="0" bIns="0" rtlCol="0" anchor="t">
            <a:normAutofit fontScale="97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Utilise des rayons X à faible dose et peut détecter des cancers avant qu’ils ne soient palpables</a:t>
            </a:r>
            <a:endParaRPr lang="fr-FR" sz="1800" noProof="0" dirty="0"/>
          </a:p>
        </p:txBody>
      </p:sp>
      <p:sp>
        <p:nvSpPr>
          <p:cNvPr id="9" name="Text 7"/>
          <p:cNvSpPr txBox="1"/>
          <p:nvPr/>
        </p:nvSpPr>
        <p:spPr>
          <a:xfrm>
            <a:off x="731520" y="2643530"/>
            <a:ext cx="5250028" cy="566928"/>
          </a:xfrm>
          <a:prstGeom prst="rect">
            <a:avLst/>
          </a:prstGeom>
          <a:noFill/>
          <a:ln/>
        </p:spPr>
        <p:txBody>
          <a:bodyPr wrap="square" lIns="0" tIns="0" rIns="0" bIns="0" rtlCol="0" anchor="t">
            <a:normAutofit fontScale="97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Est le premier examen d’imagerie chez toute patiente jeune ou enceinte</a:t>
            </a:r>
            <a:endParaRPr lang="fr-FR" sz="1800" noProof="0" dirty="0"/>
          </a:p>
        </p:txBody>
      </p:sp>
      <p:sp>
        <p:nvSpPr>
          <p:cNvPr id="10" name="Text 8"/>
          <p:cNvSpPr txBox="1"/>
          <p:nvPr/>
        </p:nvSpPr>
        <p:spPr>
          <a:xfrm>
            <a:off x="6210148" y="2643530"/>
            <a:ext cx="5250028" cy="566928"/>
          </a:xfrm>
          <a:prstGeom prst="rect">
            <a:avLst/>
          </a:prstGeom>
          <a:noFill/>
          <a:ln/>
        </p:spPr>
        <p:txBody>
          <a:bodyPr wrap="square" lIns="0" tIns="0" rIns="0" bIns="0" rtlCol="0" anchor="t">
            <a:normAutofit fontScale="97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Ne produit jamais de faux résultats</a:t>
            </a:r>
            <a:endParaRPr lang="fr-FR"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normAutofit fontScale="950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b="0" noProof="0" dirty="0">
                <a:solidFill>
                  <a:srgbClr val="0B1F3F"/>
                </a:solidFill>
                <a:latin typeface="Calibri" pitchFamily="34" charset="0"/>
                <a:ea typeface="Calibri" pitchFamily="34" charset="-122"/>
                <a:cs typeface="Calibri" pitchFamily="34" charset="-120"/>
              </a:rPr>
              <a:t>La mammographie donne une image du sein et peut détecter des masses, des distorsions et des microcalcifications avant qu’elles ne soient palpables. Elle ne confirme pas le diagnostic, et elle donne des faux positifs comme des faux négatifs.</a:t>
            </a:r>
            <a:endParaRPr lang="fr-FR" sz="1350" noProof="0" dirty="0"/>
          </a:p>
        </p:txBody>
      </p:sp>
      <p:sp>
        <p:nvSpPr>
          <p:cNvPr id="12" name="Shape 10"/>
          <p:cNvSpPr/>
          <p:nvPr/>
        </p:nvSpPr>
        <p:spPr>
          <a:xfrm>
            <a:off x="548640" y="4027932"/>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Q6. La bonne étape suivante après une mammographie de dépistage anormale est :</a:t>
            </a:r>
            <a:endParaRPr lang="fr-FR" sz="1800" noProof="0" dirty="0"/>
          </a:p>
        </p:txBody>
      </p:sp>
      <p:sp>
        <p:nvSpPr>
          <p:cNvPr id="14" name="Text 12"/>
          <p:cNvSpPr txBox="1"/>
          <p:nvPr/>
        </p:nvSpPr>
        <p:spPr>
          <a:xfrm>
            <a:off x="731520" y="4558284"/>
            <a:ext cx="5250028" cy="566928"/>
          </a:xfrm>
          <a:prstGeom prst="rect">
            <a:avLst/>
          </a:prstGeom>
          <a:noFill/>
          <a:ln/>
        </p:spPr>
        <p:txBody>
          <a:bodyPr wrap="square" lIns="0" tIns="0" rIns="0" bIns="0" rtlCol="0" anchor="t">
            <a:normAutofit fontScale="97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Dire à la personne qu’elle a un cancer</a:t>
            </a:r>
            <a:endParaRPr lang="fr-FR" sz="1800" noProof="0" dirty="0"/>
          </a:p>
        </p:txBody>
      </p:sp>
      <p:sp>
        <p:nvSpPr>
          <p:cNvPr id="15" name="Text 13"/>
          <p:cNvSpPr txBox="1"/>
          <p:nvPr/>
        </p:nvSpPr>
        <p:spPr>
          <a:xfrm>
            <a:off x="6210148" y="4558284"/>
            <a:ext cx="5250028" cy="566928"/>
          </a:xfrm>
          <a:prstGeom prst="rect">
            <a:avLst/>
          </a:prstGeom>
          <a:noFill/>
          <a:ln/>
        </p:spPr>
        <p:txBody>
          <a:bodyPr wrap="square" lIns="0" tIns="0" rIns="0" bIns="0" rtlCol="0" anchor="t">
            <a:normAutofit fontScale="97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Organiser une évaluation mammaire supplémentaire selon le parcours convenu</a:t>
            </a:r>
            <a:endParaRPr lang="fr-FR" sz="1800" noProof="0" dirty="0"/>
          </a:p>
        </p:txBody>
      </p:sp>
      <p:sp>
        <p:nvSpPr>
          <p:cNvPr id="16" name="Text 14"/>
          <p:cNvSpPr txBox="1"/>
          <p:nvPr/>
        </p:nvSpPr>
        <p:spPr>
          <a:xfrm>
            <a:off x="731520" y="5180076"/>
            <a:ext cx="5250028" cy="320040"/>
          </a:xfrm>
          <a:prstGeom prst="rect">
            <a:avLst/>
          </a:prstGeom>
          <a:noFill/>
          <a:ln/>
        </p:spPr>
        <p:txBody>
          <a:bodyPr wrap="square" lIns="0" tIns="0" rIns="0" bIns="0" rtlCol="0" anchor="t">
            <a:normAutofit fontScale="97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Refaire la mammographie dans cinq ans</a:t>
            </a:r>
            <a:endParaRPr lang="fr-FR" sz="1800" noProof="0" dirty="0"/>
          </a:p>
        </p:txBody>
      </p:sp>
      <p:sp>
        <p:nvSpPr>
          <p:cNvPr id="17" name="Text 15"/>
          <p:cNvSpPr txBox="1"/>
          <p:nvPr/>
        </p:nvSpPr>
        <p:spPr>
          <a:xfrm>
            <a:off x="6210148" y="5180076"/>
            <a:ext cx="5250028" cy="320040"/>
          </a:xfrm>
          <a:prstGeom prst="rect">
            <a:avLst/>
          </a:prstGeom>
          <a:noFill/>
          <a:ln/>
        </p:spPr>
        <p:txBody>
          <a:bodyPr wrap="square" lIns="0" tIns="0" rIns="0" bIns="0" rtlCol="0" anchor="t">
            <a:normAutofit fontScale="97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Commencer le traitement</a:t>
            </a:r>
            <a:endParaRPr lang="fr-FR"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Un résultat de dépistage anormal entraîne une évaluation complémentaire, qui peut comprendre une imagerie supplémentaire et un prélèvement de tissu. Ce n’est pas un diagnostic.</a:t>
            </a:r>
            <a:endParaRPr lang="fr-FR" sz="1350" noProof="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(4 sur 10)</a:t>
            </a:r>
            <a:endParaRPr lang="fr-FR" sz="3000" noProof="0" dirty="0"/>
          </a:p>
        </p:txBody>
      </p:sp>
      <p:sp>
        <p:nvSpPr>
          <p:cNvPr id="5" name="Shape 3"/>
          <p:cNvSpPr/>
          <p:nvPr/>
        </p:nvSpPr>
        <p:spPr>
          <a:xfrm>
            <a:off x="548640" y="1709471"/>
            <a:ext cx="11094415" cy="1899209"/>
          </a:xfrm>
          <a:prstGeom prst="roundRect">
            <a:avLst>
              <a:gd name="adj" fmla="val 288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819199"/>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Q7. Quelle femme présente un risque accru, plutôt qu’un risque moyen ?</a:t>
            </a:r>
            <a:endParaRPr lang="fr-FR" sz="1800" noProof="0" dirty="0"/>
          </a:p>
        </p:txBody>
      </p:sp>
      <p:sp>
        <p:nvSpPr>
          <p:cNvPr id="7" name="Text 5"/>
          <p:cNvSpPr txBox="1"/>
          <p:nvPr/>
        </p:nvSpPr>
        <p:spPr>
          <a:xfrm>
            <a:off x="731520" y="2239823"/>
            <a:ext cx="5250028" cy="566928"/>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Une femme de 50 ans sans antécédents personnels ni familiaux</a:t>
            </a:r>
            <a:endParaRPr lang="fr-FR" sz="1800" noProof="0" dirty="0"/>
          </a:p>
        </p:txBody>
      </p:sp>
      <p:sp>
        <p:nvSpPr>
          <p:cNvPr id="8" name="Text 6"/>
          <p:cNvSpPr txBox="1"/>
          <p:nvPr/>
        </p:nvSpPr>
        <p:spPr>
          <a:xfrm>
            <a:off x="6210148" y="2239823"/>
            <a:ext cx="5250028" cy="566928"/>
          </a:xfrm>
          <a:prstGeom prst="rect">
            <a:avLst/>
          </a:prstGeom>
          <a:noFill/>
          <a:ln/>
        </p:spPr>
        <p:txBody>
          <a:bodyPr wrap="square" lIns="0" tIns="0" rIns="0" bIns="0" rtlCol="0" anchor="t">
            <a:normAutofit fontScale="86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Une femme de 42 ans dont la mère et la sœur ont toutes deux eu un cancer du sein, dont une avant l'âge de 40 ans</a:t>
            </a:r>
            <a:endParaRPr lang="fr-FR" sz="1800" noProof="0" dirty="0"/>
          </a:p>
        </p:txBody>
      </p:sp>
      <p:sp>
        <p:nvSpPr>
          <p:cNvPr id="9" name="Text 7"/>
          <p:cNvSpPr txBox="1"/>
          <p:nvPr/>
        </p:nvSpPr>
        <p:spPr>
          <a:xfrm>
            <a:off x="731520" y="2861615"/>
            <a:ext cx="5250028" cy="320040"/>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Une femme de 55 ans qui fait régulièrement de l’exercice</a:t>
            </a:r>
            <a:endParaRPr lang="fr-FR" sz="1800" noProof="0" dirty="0"/>
          </a:p>
        </p:txBody>
      </p:sp>
      <p:sp>
        <p:nvSpPr>
          <p:cNvPr id="10" name="Text 8"/>
          <p:cNvSpPr txBox="1"/>
          <p:nvPr/>
        </p:nvSpPr>
        <p:spPr>
          <a:xfrm>
            <a:off x="6210148" y="2861615"/>
            <a:ext cx="5250028" cy="320040"/>
          </a:xfrm>
          <a:prstGeom prst="rect">
            <a:avLst/>
          </a:prstGeom>
          <a:noFill/>
          <a:ln/>
        </p:spPr>
        <p:txBody>
          <a:bodyPr wrap="square" lIns="0" tIns="0" rIns="0" bIns="0" rtlCol="0" anchor="t">
            <a:normAutofit fontScale="86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Une femme de 46 ans avec une sensibilité cyclique des seins</a:t>
            </a:r>
            <a:endParaRPr lang="fr-FR" sz="1800" noProof="0" dirty="0"/>
          </a:p>
        </p:txBody>
      </p:sp>
      <p:sp>
        <p:nvSpPr>
          <p:cNvPr id="11" name="Text 9"/>
          <p:cNvSpPr txBox="1"/>
          <p:nvPr/>
        </p:nvSpPr>
        <p:spPr>
          <a:xfrm>
            <a:off x="731520" y="3291383"/>
            <a:ext cx="10728655" cy="244145"/>
          </a:xfrm>
          <a:prstGeom prst="rect">
            <a:avLst/>
          </a:prstGeom>
          <a:noFill/>
          <a:ln/>
        </p:spPr>
        <p:txBody>
          <a:bodyPr wrap="square" lIns="0" tIns="0" rIns="0" bIns="0" rtlCol="0" anchor="t">
            <a:normAutofit fontScale="995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Plusieurs proches atteintes, et une maladie survenue jeune, augmentent le risque et peuvent justifier une évaluation plus précoce ou spécialisée.</a:t>
            </a:r>
            <a:endParaRPr lang="fr-FR" sz="1350" noProof="0" dirty="0"/>
          </a:p>
        </p:txBody>
      </p:sp>
      <p:sp>
        <p:nvSpPr>
          <p:cNvPr id="12" name="Shape 10"/>
          <p:cNvSpPr/>
          <p:nvPr/>
        </p:nvSpPr>
        <p:spPr>
          <a:xfrm>
            <a:off x="548640" y="3809848"/>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919576"/>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Q8. La sensibilisation mammaire signifie :</a:t>
            </a:r>
            <a:endParaRPr lang="fr-FR" sz="1800" noProof="0" dirty="0"/>
          </a:p>
        </p:txBody>
      </p:sp>
      <p:sp>
        <p:nvSpPr>
          <p:cNvPr id="14" name="Text 12"/>
          <p:cNvSpPr txBox="1"/>
          <p:nvPr/>
        </p:nvSpPr>
        <p:spPr>
          <a:xfrm>
            <a:off x="731520" y="4340200"/>
            <a:ext cx="5250028" cy="566928"/>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Une technique d’auto-examen mensuelle fixe qui remplace le dépistage</a:t>
            </a:r>
            <a:endParaRPr lang="fr-FR" sz="1800" noProof="0" dirty="0"/>
          </a:p>
        </p:txBody>
      </p:sp>
      <p:sp>
        <p:nvSpPr>
          <p:cNvPr id="15" name="Text 13"/>
          <p:cNvSpPr txBox="1"/>
          <p:nvPr/>
        </p:nvSpPr>
        <p:spPr>
          <a:xfrm>
            <a:off x="6210148" y="4340200"/>
            <a:ext cx="5250028" cy="566928"/>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Savoir ce qui est habituel pour ses propres seins et demander une évaluation quand quelque chose change</a:t>
            </a:r>
            <a:endParaRPr lang="fr-FR" sz="1800" noProof="0" dirty="0"/>
          </a:p>
        </p:txBody>
      </p:sp>
      <p:sp>
        <p:nvSpPr>
          <p:cNvPr id="16" name="Text 14"/>
          <p:cNvSpPr txBox="1"/>
          <p:nvPr/>
        </p:nvSpPr>
        <p:spPr>
          <a:xfrm>
            <a:off x="731520" y="4961992"/>
            <a:ext cx="5250028" cy="320040"/>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S’examiner uniquement en cas d’antécédents familiaux</a:t>
            </a:r>
            <a:endParaRPr lang="fr-FR" sz="1800" noProof="0" dirty="0"/>
          </a:p>
        </p:txBody>
      </p:sp>
      <p:sp>
        <p:nvSpPr>
          <p:cNvPr id="17" name="Text 15"/>
          <p:cNvSpPr txBox="1"/>
          <p:nvPr/>
        </p:nvSpPr>
        <p:spPr>
          <a:xfrm>
            <a:off x="6210148" y="4961992"/>
            <a:ext cx="5250028" cy="320040"/>
          </a:xfrm>
          <a:prstGeom prst="rect">
            <a:avLst/>
          </a:prstGeom>
          <a:noFill/>
          <a:ln/>
        </p:spPr>
        <p:txBody>
          <a:bodyPr wrap="square" lIns="0" tIns="0" rIns="0" bIns="0" rtlCol="0" anchor="t">
            <a:normAutofit fontScale="93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Attendre qu’une boule devienne douloureuse</a:t>
            </a:r>
            <a:endParaRPr lang="fr-FR" sz="1800" noProof="0" dirty="0"/>
          </a:p>
        </p:txBody>
      </p:sp>
      <p:sp>
        <p:nvSpPr>
          <p:cNvPr id="18" name="Text 16"/>
          <p:cNvSpPr txBox="1"/>
          <p:nvPr/>
        </p:nvSpPr>
        <p:spPr>
          <a:xfrm>
            <a:off x="731520" y="5391760"/>
            <a:ext cx="10728655" cy="433426"/>
          </a:xfrm>
          <a:prstGeom prst="rect">
            <a:avLst/>
          </a:prstGeom>
          <a:noFill/>
          <a:ln/>
        </p:spPr>
        <p:txBody>
          <a:bodyPr wrap="square" lIns="0" tIns="0" rIns="0" bIns="0" rtlCol="0" anchor="t">
            <a:normAutofit fontScale="995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La sensibilisation mammaire est l’habitude de remarquer un changement et d’agir. Au Rwanda, l’auto-examen mensuel est enseigné dès 25 ans ; il complète l’examen clinique du sein, sans jamais le remplacer.</a:t>
            </a:r>
            <a:endParaRPr lang="fr-FR" sz="1350" noProof="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(5 sur 10)</a:t>
            </a:r>
            <a:endParaRPr lang="fr-FR" sz="3000" noProof="0" dirty="0"/>
          </a:p>
        </p:txBody>
      </p:sp>
      <p:sp>
        <p:nvSpPr>
          <p:cNvPr id="5" name="Shape 3"/>
          <p:cNvSpPr/>
          <p:nvPr/>
        </p:nvSpPr>
        <p:spPr>
          <a:xfrm>
            <a:off x="548640" y="1927555"/>
            <a:ext cx="11094415" cy="1652321"/>
          </a:xfrm>
          <a:prstGeom prst="roundRect">
            <a:avLst>
              <a:gd name="adj" fmla="val 3320"/>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2037283"/>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Q9. Dans la classification TNM, la lettre N décrit :</a:t>
            </a:r>
            <a:endParaRPr lang="fr-FR" sz="1800" noProof="0" dirty="0"/>
          </a:p>
        </p:txBody>
      </p:sp>
      <p:sp>
        <p:nvSpPr>
          <p:cNvPr id="7" name="Text 5"/>
          <p:cNvSpPr txBox="1"/>
          <p:nvPr/>
        </p:nvSpPr>
        <p:spPr>
          <a:xfrm>
            <a:off x="731520" y="2457907"/>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La taille de la tumeur</a:t>
            </a:r>
            <a:endParaRPr lang="fr-FR" sz="1800" noProof="0" dirty="0"/>
          </a:p>
        </p:txBody>
      </p:sp>
      <p:sp>
        <p:nvSpPr>
          <p:cNvPr id="8" name="Text 6"/>
          <p:cNvSpPr txBox="1"/>
          <p:nvPr/>
        </p:nvSpPr>
        <p:spPr>
          <a:xfrm>
            <a:off x="6210148" y="2457907"/>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L’atteinte des ganglions lymphatiques régionaux</a:t>
            </a:r>
            <a:endParaRPr lang="fr-FR" sz="1800" noProof="0" dirty="0"/>
          </a:p>
        </p:txBody>
      </p:sp>
      <p:sp>
        <p:nvSpPr>
          <p:cNvPr id="9" name="Text 7"/>
          <p:cNvSpPr txBox="1"/>
          <p:nvPr/>
        </p:nvSpPr>
        <p:spPr>
          <a:xfrm>
            <a:off x="731520" y="2832811"/>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propagation à distance</a:t>
            </a:r>
            <a:endParaRPr lang="fr-FR" sz="1800" noProof="0" dirty="0"/>
          </a:p>
        </p:txBody>
      </p:sp>
      <p:sp>
        <p:nvSpPr>
          <p:cNvPr id="10" name="Text 8"/>
          <p:cNvSpPr txBox="1"/>
          <p:nvPr/>
        </p:nvSpPr>
        <p:spPr>
          <a:xfrm>
            <a:off x="6210148" y="2832811"/>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 grade de la tumeur</a:t>
            </a:r>
            <a:endParaRPr lang="fr-FR" sz="1800" noProof="0" dirty="0"/>
          </a:p>
        </p:txBody>
      </p:sp>
      <p:sp>
        <p:nvSpPr>
          <p:cNvPr id="11" name="Text 9"/>
          <p:cNvSpPr txBox="1"/>
          <p:nvPr/>
        </p:nvSpPr>
        <p:spPr>
          <a:xfrm>
            <a:off x="731520" y="3262579"/>
            <a:ext cx="10728655" cy="244145"/>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err="1">
                <a:solidFill>
                  <a:srgbClr val="0B1F3F"/>
                </a:solidFill>
                <a:latin typeface="Calibri" pitchFamily="34" charset="0"/>
                <a:ea typeface="Calibri" pitchFamily="34" charset="-122"/>
                <a:cs typeface="Calibri" pitchFamily="34" charset="-120"/>
              </a:rPr>
              <a:t>T</a:t>
            </a:r>
            <a:r>
              <a:rPr lang="fr-FR" sz="1350" noProof="0" dirty="0">
                <a:solidFill>
                  <a:srgbClr val="0B1F3F"/>
                </a:solidFill>
                <a:latin typeface="Calibri" pitchFamily="34" charset="0"/>
                <a:ea typeface="Calibri" pitchFamily="34" charset="-122"/>
                <a:cs typeface="Calibri" pitchFamily="34" charset="-120"/>
              </a:rPr>
              <a:t> désigne la tumeur primitive, N les ganglions lymphatiques régionaux, M les métastases à distance.</a:t>
            </a:r>
            <a:endParaRPr lang="fr-FR" sz="1350" noProof="0" dirty="0"/>
          </a:p>
        </p:txBody>
      </p:sp>
      <p:sp>
        <p:nvSpPr>
          <p:cNvPr id="12" name="Shape 10"/>
          <p:cNvSpPr/>
          <p:nvPr/>
        </p:nvSpPr>
        <p:spPr>
          <a:xfrm>
            <a:off x="548640" y="3781044"/>
            <a:ext cx="11094415" cy="1899209"/>
          </a:xfrm>
          <a:prstGeom prst="roundRect">
            <a:avLst>
              <a:gd name="adj" fmla="val 288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890772"/>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Q10. Le grade indique :</a:t>
            </a:r>
            <a:endParaRPr lang="fr-FR" sz="1800" noProof="0" dirty="0"/>
          </a:p>
        </p:txBody>
      </p:sp>
      <p:sp>
        <p:nvSpPr>
          <p:cNvPr id="14" name="Text 12"/>
          <p:cNvSpPr txBox="1"/>
          <p:nvPr/>
        </p:nvSpPr>
        <p:spPr>
          <a:xfrm>
            <a:off x="731520" y="431139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L’étendue de la propagation du cancer</a:t>
            </a:r>
            <a:endParaRPr lang="fr-FR" sz="1800" noProof="0" dirty="0"/>
          </a:p>
        </p:txBody>
      </p:sp>
      <p:sp>
        <p:nvSpPr>
          <p:cNvPr id="15" name="Text 13"/>
          <p:cNvSpPr txBox="1"/>
          <p:nvPr/>
        </p:nvSpPr>
        <p:spPr>
          <a:xfrm>
            <a:off x="6210148" y="4311396"/>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À quel point les cellules paraissent anormales au microscope</a:t>
            </a:r>
            <a:endParaRPr lang="fr-FR"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Le score d'imagerie</a:t>
            </a:r>
            <a:endParaRPr lang="fr-FR"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 type d’opération</a:t>
            </a:r>
            <a:endParaRPr lang="fr-FR" sz="1800" noProof="0" dirty="0"/>
          </a:p>
        </p:txBody>
      </p:sp>
      <p:sp>
        <p:nvSpPr>
          <p:cNvPr id="18" name="Text 16"/>
          <p:cNvSpPr txBox="1"/>
          <p:nvPr/>
        </p:nvSpPr>
        <p:spPr>
          <a:xfrm>
            <a:off x="731520" y="5362956"/>
            <a:ext cx="10728655" cy="244145"/>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 grade décrit l’aspect des cellules tumorales au microscope. Le stade décrit l’étendue de la propagation.</a:t>
            </a:r>
            <a:endParaRPr lang="fr-FR" sz="1350" noProof="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(6 sur 10)</a:t>
            </a:r>
            <a:endParaRPr lang="fr-FR" sz="3000" noProof="0" dirty="0"/>
          </a:p>
        </p:txBody>
      </p:sp>
      <p:sp>
        <p:nvSpPr>
          <p:cNvPr id="5" name="Shape 3"/>
          <p:cNvSpPr/>
          <p:nvPr/>
        </p:nvSpPr>
        <p:spPr>
          <a:xfrm>
            <a:off x="548640" y="1586027"/>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695755"/>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Q11. Quelle situation nécessite une orientation urgente ?</a:t>
            </a:r>
            <a:endParaRPr lang="fr-FR" sz="1800" noProof="0" dirty="0"/>
          </a:p>
        </p:txBody>
      </p:sp>
      <p:sp>
        <p:nvSpPr>
          <p:cNvPr id="7" name="Text 5"/>
          <p:cNvSpPr txBox="1"/>
          <p:nvPr/>
        </p:nvSpPr>
        <p:spPr>
          <a:xfrm>
            <a:off x="731520" y="2116379"/>
            <a:ext cx="5250028" cy="813816"/>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Une sensibilité cyclique des deux seins avec examen normal</a:t>
            </a:r>
            <a:endParaRPr lang="fr-FR" sz="1800" noProof="0" dirty="0"/>
          </a:p>
        </p:txBody>
      </p:sp>
      <p:sp>
        <p:nvSpPr>
          <p:cNvPr id="8" name="Text 6"/>
          <p:cNvSpPr txBox="1"/>
          <p:nvPr/>
        </p:nvSpPr>
        <p:spPr>
          <a:xfrm>
            <a:off x="6210148" y="2116379"/>
            <a:ext cx="5250028" cy="813816"/>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Un sein devenu rouge, gonflé et épaissi en trois semaines, qui ne s’est pas amélioré sous traitement</a:t>
            </a:r>
            <a:endParaRPr lang="fr-FR" sz="1800" noProof="0" dirty="0"/>
          </a:p>
        </p:txBody>
      </p:sp>
      <p:sp>
        <p:nvSpPr>
          <p:cNvPr id="9" name="Text 7"/>
          <p:cNvSpPr txBox="1"/>
          <p:nvPr/>
        </p:nvSpPr>
        <p:spPr>
          <a:xfrm>
            <a:off x="731520" y="2985059"/>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Une </a:t>
            </a:r>
            <a:r>
              <a:rPr lang="fr-FR" sz="1800" noProof="0" dirty="0" err="1">
                <a:solidFill>
                  <a:srgbClr val="1F3A63"/>
                </a:solidFill>
                <a:latin typeface="Calibri" pitchFamily="34" charset="0"/>
                <a:ea typeface="Calibri" pitchFamily="34" charset="-122"/>
                <a:cs typeface="Calibri" pitchFamily="34" charset="-120"/>
              </a:rPr>
              <a:t>nodularité</a:t>
            </a:r>
            <a:r>
              <a:rPr lang="fr-FR" sz="1800" noProof="0" dirty="0">
                <a:solidFill>
                  <a:srgbClr val="1F3A63"/>
                </a:solidFill>
                <a:latin typeface="Calibri" pitchFamily="34" charset="0"/>
                <a:ea typeface="Calibri" pitchFamily="34" charset="-122"/>
                <a:cs typeface="Calibri" pitchFamily="34" charset="-120"/>
              </a:rPr>
              <a:t> ancienne et inchangée</a:t>
            </a:r>
            <a:endParaRPr lang="fr-FR" sz="1800" noProof="0" dirty="0"/>
          </a:p>
        </p:txBody>
      </p:sp>
      <p:sp>
        <p:nvSpPr>
          <p:cNvPr id="10" name="Text 8"/>
          <p:cNvSpPr txBox="1"/>
          <p:nvPr/>
        </p:nvSpPr>
        <p:spPr>
          <a:xfrm>
            <a:off x="6210148" y="2985059"/>
            <a:ext cx="5250028" cy="320040"/>
          </a:xfrm>
          <a:prstGeom prst="rect">
            <a:avLst/>
          </a:prstGeom>
          <a:noFill/>
          <a:ln/>
        </p:spPr>
        <p:txBody>
          <a:bodyPr wrap="square" lIns="0" tIns="0" rIns="0" bIns="0" rtlCol="0" anchor="t">
            <a:normAutofit fontScale="87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Des antécédents familiaux chez une femme sans symptôme</a:t>
            </a:r>
            <a:endParaRPr lang="fr-FR" sz="1800" noProof="0" dirty="0"/>
          </a:p>
        </p:txBody>
      </p:sp>
      <p:sp>
        <p:nvSpPr>
          <p:cNvPr id="11" name="Text 9"/>
          <p:cNvSpPr txBox="1"/>
          <p:nvPr/>
        </p:nvSpPr>
        <p:spPr>
          <a:xfrm>
            <a:off x="731520" y="3414827"/>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Cela évoque un cancer inflammatoire du sein, qui impose une orientation urgente, sous 24 heures. Il se présente souvent sans masse distincte.</a:t>
            </a:r>
            <a:endParaRPr lang="fr-FR" sz="1350" noProof="0" dirty="0"/>
          </a:p>
        </p:txBody>
      </p:sp>
      <p:sp>
        <p:nvSpPr>
          <p:cNvPr id="12" name="Shape 10"/>
          <p:cNvSpPr/>
          <p:nvPr/>
        </p:nvSpPr>
        <p:spPr>
          <a:xfrm>
            <a:off x="548640" y="4122572"/>
            <a:ext cx="11094415" cy="1899209"/>
          </a:xfrm>
          <a:prstGeom prst="roundRect">
            <a:avLst>
              <a:gd name="adj" fmla="val 288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23230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Q12. L’accompagnement avant l’orientation doit :</a:t>
            </a:r>
            <a:endParaRPr lang="fr-FR" sz="1800" noProof="0" dirty="0"/>
          </a:p>
        </p:txBody>
      </p:sp>
      <p:sp>
        <p:nvSpPr>
          <p:cNvPr id="14" name="Text 12"/>
          <p:cNvSpPr txBox="1"/>
          <p:nvPr/>
        </p:nvSpPr>
        <p:spPr>
          <a:xfrm>
            <a:off x="731520" y="4652924"/>
            <a:ext cx="5250028" cy="566928"/>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Promettre que ce n’est pas un cancer</a:t>
            </a:r>
            <a:endParaRPr lang="fr-FR" sz="1800" noProof="0" dirty="0"/>
          </a:p>
        </p:txBody>
      </p:sp>
      <p:sp>
        <p:nvSpPr>
          <p:cNvPr id="15" name="Text 13"/>
          <p:cNvSpPr txBox="1"/>
          <p:nvPr/>
        </p:nvSpPr>
        <p:spPr>
          <a:xfrm>
            <a:off x="6210148" y="4652924"/>
            <a:ext cx="5250028" cy="566928"/>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Expliquer qu'une évaluation est nécessaire et répondre honnêtement aux questions sans créer de peur</a:t>
            </a:r>
            <a:endParaRPr lang="fr-FR" sz="1800" noProof="0" dirty="0"/>
          </a:p>
        </p:txBody>
      </p:sp>
      <p:sp>
        <p:nvSpPr>
          <p:cNvPr id="16" name="Text 14"/>
          <p:cNvSpPr txBox="1"/>
          <p:nvPr/>
        </p:nvSpPr>
        <p:spPr>
          <a:xfrm>
            <a:off x="731520" y="5274716"/>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Taire la raison de l’orientation</a:t>
            </a:r>
            <a:endParaRPr lang="fr-FR" sz="1800" noProof="0" dirty="0"/>
          </a:p>
        </p:txBody>
      </p:sp>
      <p:sp>
        <p:nvSpPr>
          <p:cNvPr id="17" name="Text 15"/>
          <p:cNvSpPr txBox="1"/>
          <p:nvPr/>
        </p:nvSpPr>
        <p:spPr>
          <a:xfrm>
            <a:off x="6210148" y="5274716"/>
            <a:ext cx="5250028" cy="320040"/>
          </a:xfrm>
          <a:prstGeom prst="rect">
            <a:avLst/>
          </a:prstGeom>
          <a:noFill/>
          <a:ln/>
        </p:spPr>
        <p:txBody>
          <a:bodyPr wrap="square" lIns="0" tIns="0" rIns="0" bIns="0" rtlCol="0" anchor="t">
            <a:normAutofit fontScale="95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Laisser la personne organiser le rendez-vous</a:t>
            </a:r>
            <a:endParaRPr lang="fr-FR" sz="1800" noProof="0" dirty="0"/>
          </a:p>
        </p:txBody>
      </p:sp>
      <p:sp>
        <p:nvSpPr>
          <p:cNvPr id="18" name="Text 16"/>
          <p:cNvSpPr txBox="1"/>
          <p:nvPr/>
        </p:nvSpPr>
        <p:spPr>
          <a:xfrm>
            <a:off x="731520" y="5704484"/>
            <a:ext cx="10728655" cy="244145"/>
          </a:xfrm>
          <a:prstGeom prst="rect">
            <a:avLst/>
          </a:prstGeom>
          <a:noFill/>
          <a:ln/>
        </p:spPr>
        <p:txBody>
          <a:bodyPr wrap="square" lIns="0" tIns="0" rIns="0" bIns="0" rtlCol="0" anchor="t">
            <a:normAutofit/>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Expliquez honnêtement l’étape suivante, reconnaissez l’incertitude, corrigez les idées reçues et organisez vous-même l’orientation.</a:t>
            </a:r>
            <a:endParaRPr lang="fr-FR" sz="1350" noProof="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(7 sur 10)</a:t>
            </a:r>
            <a:endParaRPr lang="fr-FR" sz="3000" noProof="0" dirty="0"/>
          </a:p>
        </p:txBody>
      </p:sp>
      <p:sp>
        <p:nvSpPr>
          <p:cNvPr id="5" name="Shape 3"/>
          <p:cNvSpPr/>
          <p:nvPr/>
        </p:nvSpPr>
        <p:spPr>
          <a:xfrm>
            <a:off x="548640" y="1586027"/>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695755"/>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Q13. Que faut-il consigner au premier contact pour le registre du cancer ?</a:t>
            </a:r>
            <a:endParaRPr lang="fr-FR" sz="1800" noProof="0" dirty="0"/>
          </a:p>
        </p:txBody>
      </p:sp>
      <p:sp>
        <p:nvSpPr>
          <p:cNvPr id="7" name="Text 5"/>
          <p:cNvSpPr txBox="1"/>
          <p:nvPr/>
        </p:nvSpPr>
        <p:spPr>
          <a:xfrm>
            <a:off x="731520" y="2116379"/>
            <a:ext cx="5250028" cy="813816"/>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Uniquement les diagnostics confirmés</a:t>
            </a:r>
            <a:endParaRPr lang="fr-FR" sz="1800" noProof="0" dirty="0"/>
          </a:p>
        </p:txBody>
      </p:sp>
      <p:sp>
        <p:nvSpPr>
          <p:cNvPr id="8" name="Text 6"/>
          <p:cNvSpPr txBox="1"/>
          <p:nvPr/>
        </p:nvSpPr>
        <p:spPr>
          <a:xfrm>
            <a:off x="6210148" y="2116379"/>
            <a:ext cx="5250028" cy="813816"/>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L’anomalie, la date à laquelle elle a été remarquée, la date de la consultation, vos constatations d’examen et l’établissement d’orientation</a:t>
            </a:r>
            <a:endParaRPr lang="fr-FR" sz="1800" noProof="0" dirty="0"/>
          </a:p>
        </p:txBody>
      </p:sp>
      <p:sp>
        <p:nvSpPr>
          <p:cNvPr id="9" name="Text 7"/>
          <p:cNvSpPr txBox="1"/>
          <p:nvPr/>
        </p:nvSpPr>
        <p:spPr>
          <a:xfrm>
            <a:off x="731520" y="2985059"/>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Rien jusqu'à l'arrivée des résultats de la biopsie</a:t>
            </a:r>
            <a:endParaRPr lang="fr-FR" sz="1800" noProof="0" dirty="0"/>
          </a:p>
        </p:txBody>
      </p:sp>
      <p:sp>
        <p:nvSpPr>
          <p:cNvPr id="10" name="Text 8"/>
          <p:cNvSpPr txBox="1"/>
          <p:nvPr/>
        </p:nvSpPr>
        <p:spPr>
          <a:xfrm>
            <a:off x="6210148" y="2985059"/>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Uniquement le nom de la personne</a:t>
            </a:r>
            <a:endParaRPr lang="fr-FR" sz="1800" noProof="0" dirty="0"/>
          </a:p>
        </p:txBody>
      </p:sp>
      <p:sp>
        <p:nvSpPr>
          <p:cNvPr id="11" name="Text 9"/>
          <p:cNvSpPr txBox="1"/>
          <p:nvPr/>
        </p:nvSpPr>
        <p:spPr>
          <a:xfrm>
            <a:off x="731520" y="3414827"/>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Un cas cliniquement suspecté, non encore confirmé mais bien consigné, est une donnée précieuse pour le registre. Transmettez dès la première suspicion et mettez à jour la fiche ensuite.</a:t>
            </a:r>
            <a:endParaRPr lang="fr-FR" sz="1350" noProof="0" dirty="0"/>
          </a:p>
        </p:txBody>
      </p:sp>
      <p:sp>
        <p:nvSpPr>
          <p:cNvPr id="12" name="Shape 10"/>
          <p:cNvSpPr/>
          <p:nvPr/>
        </p:nvSpPr>
        <p:spPr>
          <a:xfrm>
            <a:off x="548640" y="4122572"/>
            <a:ext cx="11094415" cy="1899209"/>
          </a:xfrm>
          <a:prstGeom prst="roundRect">
            <a:avLst>
              <a:gd name="adj" fmla="val 288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23230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Q14. L'histopathologie est nécessaire car elle :</a:t>
            </a:r>
            <a:endParaRPr lang="fr-FR" sz="1800" noProof="0" dirty="0"/>
          </a:p>
        </p:txBody>
      </p:sp>
      <p:sp>
        <p:nvSpPr>
          <p:cNvPr id="14" name="Text 12"/>
          <p:cNvSpPr txBox="1"/>
          <p:nvPr/>
        </p:nvSpPr>
        <p:spPr>
          <a:xfrm>
            <a:off x="731520" y="465292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Mesure la taille de la tumeur à l'imagerie</a:t>
            </a:r>
            <a:endParaRPr lang="fr-FR" sz="1800" noProof="0" dirty="0"/>
          </a:p>
        </p:txBody>
      </p:sp>
      <p:sp>
        <p:nvSpPr>
          <p:cNvPr id="15" name="Text 13"/>
          <p:cNvSpPr txBox="1"/>
          <p:nvPr/>
        </p:nvSpPr>
        <p:spPr>
          <a:xfrm>
            <a:off x="6210148" y="4652924"/>
            <a:ext cx="5250028" cy="566928"/>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Confirme le cancer et décrit le type, le grade et l'état des récepteurs</a:t>
            </a:r>
            <a:endParaRPr lang="fr-FR" sz="1800" noProof="0" dirty="0"/>
          </a:p>
        </p:txBody>
      </p:sp>
      <p:sp>
        <p:nvSpPr>
          <p:cNvPr id="16" name="Text 14"/>
          <p:cNvSpPr txBox="1"/>
          <p:nvPr/>
        </p:nvSpPr>
        <p:spPr>
          <a:xfrm>
            <a:off x="731520" y="527471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Remplace l’imagerie de stadification</a:t>
            </a:r>
            <a:endParaRPr lang="fr-FR" sz="1800" noProof="0" dirty="0"/>
          </a:p>
        </p:txBody>
      </p:sp>
      <p:sp>
        <p:nvSpPr>
          <p:cNvPr id="17" name="Text 15"/>
          <p:cNvSpPr txBox="1"/>
          <p:nvPr/>
        </p:nvSpPr>
        <p:spPr>
          <a:xfrm>
            <a:off x="6210148" y="5274716"/>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Détecte les antécédents familiaux</a:t>
            </a:r>
            <a:endParaRPr lang="fr-FR" sz="1800" noProof="0" dirty="0"/>
          </a:p>
        </p:txBody>
      </p:sp>
      <p:sp>
        <p:nvSpPr>
          <p:cNvPr id="18" name="Text 16"/>
          <p:cNvSpPr txBox="1"/>
          <p:nvPr/>
        </p:nvSpPr>
        <p:spPr>
          <a:xfrm>
            <a:off x="731520" y="5704484"/>
            <a:ext cx="10728655" cy="244145"/>
          </a:xfrm>
          <a:prstGeom prst="rect">
            <a:avLst/>
          </a:prstGeom>
          <a:noFill/>
          <a:ln/>
        </p:spPr>
        <p:txBody>
          <a:bodyPr wrap="square" lIns="0" tIns="0" rIns="0" bIns="0" rtlCol="0" anchor="t">
            <a:normAutofit/>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 diagnostic sur tissu confirme le cancer, précise le type et le grade, et permet la recherche des ER, PR et HER2 qui oriente le traitement.</a:t>
            </a:r>
            <a:endParaRPr lang="fr-FR" sz="1350" noProof="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(8 sur 10)</a:t>
            </a:r>
            <a:endParaRPr lang="fr-FR" sz="3000" noProof="0" dirty="0"/>
          </a:p>
        </p:txBody>
      </p:sp>
      <p:sp>
        <p:nvSpPr>
          <p:cNvPr id="5" name="Shape 3"/>
          <p:cNvSpPr/>
          <p:nvPr/>
        </p:nvSpPr>
        <p:spPr>
          <a:xfrm>
            <a:off x="548640" y="1614830"/>
            <a:ext cx="11094415" cy="2335378"/>
          </a:xfrm>
          <a:prstGeom prst="roundRect">
            <a:avLst>
              <a:gd name="adj" fmla="val 2349"/>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724558"/>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Q15. Une tumeur décrite comme triple négative :</a:t>
            </a:r>
            <a:endParaRPr lang="fr-FR" sz="1800" noProof="0" dirty="0"/>
          </a:p>
        </p:txBody>
      </p:sp>
      <p:sp>
        <p:nvSpPr>
          <p:cNvPr id="7" name="Text 5"/>
          <p:cNvSpPr txBox="1"/>
          <p:nvPr/>
        </p:nvSpPr>
        <p:spPr>
          <a:xfrm>
            <a:off x="731520" y="2145182"/>
            <a:ext cx="5250028" cy="813816"/>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Ne peut pas être traitée</a:t>
            </a:r>
            <a:endParaRPr lang="fr-FR" sz="1800" noProof="0" dirty="0"/>
          </a:p>
        </p:txBody>
      </p:sp>
      <p:sp>
        <p:nvSpPr>
          <p:cNvPr id="8" name="Text 6"/>
          <p:cNvSpPr txBox="1"/>
          <p:nvPr/>
        </p:nvSpPr>
        <p:spPr>
          <a:xfrm>
            <a:off x="6210148" y="2145182"/>
            <a:ext cx="5250028" cy="813816"/>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N’exprime ni ER ni PR et n’est pas HER2 positive, donc l’hormonothérapie et les traitements anti-HER2 ne sont pas indiqués</a:t>
            </a:r>
            <a:endParaRPr lang="fr-FR" sz="1800" noProof="0" dirty="0"/>
          </a:p>
        </p:txBody>
      </p:sp>
      <p:sp>
        <p:nvSpPr>
          <p:cNvPr id="9" name="Text 7"/>
          <p:cNvSpPr txBox="1"/>
          <p:nvPr/>
        </p:nvSpPr>
        <p:spPr>
          <a:xfrm>
            <a:off x="731520" y="301386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Est toujours in situ</a:t>
            </a:r>
            <a:endParaRPr lang="fr-FR" sz="1800" noProof="0" dirty="0"/>
          </a:p>
        </p:txBody>
      </p:sp>
      <p:sp>
        <p:nvSpPr>
          <p:cNvPr id="10" name="Text 8"/>
          <p:cNvSpPr txBox="1"/>
          <p:nvPr/>
        </p:nvSpPr>
        <p:spPr>
          <a:xfrm>
            <a:off x="6210148" y="3013862"/>
            <a:ext cx="5250028" cy="320040"/>
          </a:xfrm>
          <a:prstGeom prst="rect">
            <a:avLst/>
          </a:prstGeom>
          <a:noFill/>
          <a:ln/>
        </p:spPr>
        <p:txBody>
          <a:bodyPr wrap="square" lIns="0" tIns="0" rIns="0" bIns="0" rtlCol="0" anchor="t">
            <a:normAutofit fontScale="98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S’est toujours propagée à des organes à distance</a:t>
            </a:r>
            <a:endParaRPr lang="fr-FR" sz="1800" noProof="0" dirty="0"/>
          </a:p>
        </p:txBody>
      </p:sp>
      <p:sp>
        <p:nvSpPr>
          <p:cNvPr id="11" name="Text 9"/>
          <p:cNvSpPr txBox="1"/>
          <p:nvPr/>
        </p:nvSpPr>
        <p:spPr>
          <a:xfrm>
            <a:off x="731520" y="3443630"/>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Triple négatif signifie l’absence des trois marqueurs. Le traitement repose sur d’autres approches systémiques, associées à la chirurgie et à la radiothérapie selon les indications.</a:t>
            </a:r>
            <a:endParaRPr lang="fr-FR" sz="1350" noProof="0" dirty="0"/>
          </a:p>
        </p:txBody>
      </p:sp>
      <p:sp>
        <p:nvSpPr>
          <p:cNvPr id="12" name="Shape 10"/>
          <p:cNvSpPr/>
          <p:nvPr/>
        </p:nvSpPr>
        <p:spPr>
          <a:xfrm>
            <a:off x="548640" y="4151376"/>
            <a:ext cx="11094415" cy="1841602"/>
          </a:xfrm>
          <a:prstGeom prst="roundRect">
            <a:avLst>
              <a:gd name="adj" fmla="val 2979"/>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261104"/>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Q16. La chimiothérapie diffère de la chirurgie parce qu'elle :</a:t>
            </a:r>
            <a:endParaRPr lang="fr-FR" sz="1800" noProof="0" dirty="0"/>
          </a:p>
        </p:txBody>
      </p:sp>
      <p:sp>
        <p:nvSpPr>
          <p:cNvPr id="14" name="Text 12"/>
          <p:cNvSpPr txBox="1"/>
          <p:nvPr/>
        </p:nvSpPr>
        <p:spPr>
          <a:xfrm>
            <a:off x="731520" y="468172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Agit uniquement au site tumoral</a:t>
            </a:r>
            <a:endParaRPr lang="fr-FR" sz="1800" noProof="0" dirty="0"/>
          </a:p>
        </p:txBody>
      </p:sp>
      <p:sp>
        <p:nvSpPr>
          <p:cNvPr id="15" name="Text 13"/>
          <p:cNvSpPr txBox="1"/>
          <p:nvPr/>
        </p:nvSpPr>
        <p:spPr>
          <a:xfrm>
            <a:off x="6210148" y="4681728"/>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Agit dans tout l’organisme</a:t>
            </a:r>
            <a:endParaRPr lang="fr-FR" sz="1800" noProof="0" dirty="0"/>
          </a:p>
        </p:txBody>
      </p:sp>
      <p:sp>
        <p:nvSpPr>
          <p:cNvPr id="16" name="Text 14"/>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Utilise des rayonnements</a:t>
            </a:r>
            <a:endParaRPr lang="fr-FR" sz="1800" noProof="0" dirty="0"/>
          </a:p>
        </p:txBody>
      </p:sp>
      <p:sp>
        <p:nvSpPr>
          <p:cNvPr id="17" name="Text 15"/>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Retire les ganglions lymphatiques</a:t>
            </a:r>
            <a:endParaRPr lang="fr-FR" sz="1800" noProof="0" dirty="0"/>
          </a:p>
        </p:txBody>
      </p:sp>
      <p:sp>
        <p:nvSpPr>
          <p:cNvPr id="18" name="Text 16"/>
          <p:cNvSpPr txBox="1"/>
          <p:nvPr/>
        </p:nvSpPr>
        <p:spPr>
          <a:xfrm>
            <a:off x="731520" y="5486400"/>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La chimiothérapie est systémique, c’est pourquoi ses effets se font sentir dans tout l’organisme. La chirurgie et la radiothérapie agissent localement ou </a:t>
            </a:r>
            <a:r>
              <a:rPr lang="fr-FR" sz="1350" noProof="0" dirty="0" err="1">
                <a:solidFill>
                  <a:srgbClr val="0B1F3F"/>
                </a:solidFill>
                <a:latin typeface="Calibri" pitchFamily="34" charset="0"/>
                <a:ea typeface="Calibri" pitchFamily="34" charset="-122"/>
                <a:cs typeface="Calibri" pitchFamily="34" charset="-120"/>
              </a:rPr>
              <a:t>locorégionalement</a:t>
            </a:r>
            <a:r>
              <a:rPr lang="fr-FR" sz="1350" noProof="0" dirty="0">
                <a:solidFill>
                  <a:srgbClr val="0B1F3F"/>
                </a:solidFill>
                <a:latin typeface="Calibri" pitchFamily="34" charset="0"/>
                <a:ea typeface="Calibri" pitchFamily="34" charset="-122"/>
                <a:cs typeface="Calibri" pitchFamily="34" charset="-120"/>
              </a:rPr>
              <a:t>.</a:t>
            </a:r>
            <a:endParaRPr lang="fr-FR" sz="1350" noProof="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(9 sur 10)</a:t>
            </a:r>
            <a:endParaRPr lang="fr-FR" sz="3000" noProof="0" dirty="0"/>
          </a:p>
        </p:txBody>
      </p:sp>
      <p:sp>
        <p:nvSpPr>
          <p:cNvPr id="5" name="Shape 3"/>
          <p:cNvSpPr/>
          <p:nvPr/>
        </p:nvSpPr>
        <p:spPr>
          <a:xfrm>
            <a:off x="548640" y="1367942"/>
            <a:ext cx="11094415" cy="2582266"/>
          </a:xfrm>
          <a:prstGeom prst="roundRect">
            <a:avLst>
              <a:gd name="adj" fmla="val 2125"/>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47767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Q17. Quelle affirmation sur la chirurgie mammaire est exacte ?</a:t>
            </a:r>
            <a:endParaRPr lang="fr-FR" sz="1800" noProof="0" dirty="0"/>
          </a:p>
        </p:txBody>
      </p:sp>
      <p:sp>
        <p:nvSpPr>
          <p:cNvPr id="7" name="Text 5"/>
          <p:cNvSpPr txBox="1"/>
          <p:nvPr/>
        </p:nvSpPr>
        <p:spPr>
          <a:xfrm>
            <a:off x="731520" y="1898294"/>
            <a:ext cx="5250028" cy="1060704"/>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Toutes les patientes ont besoin d’une mastectomie</a:t>
            </a:r>
            <a:endParaRPr lang="fr-FR" sz="1800" noProof="0" dirty="0"/>
          </a:p>
        </p:txBody>
      </p:sp>
      <p:sp>
        <p:nvSpPr>
          <p:cNvPr id="8" name="Text 6"/>
          <p:cNvSpPr txBox="1"/>
          <p:nvPr/>
        </p:nvSpPr>
        <p:spPr>
          <a:xfrm>
            <a:off x="6210148" y="1898294"/>
            <a:ext cx="5250028" cy="1060704"/>
          </a:xfrm>
          <a:prstGeom prst="rect">
            <a:avLst/>
          </a:prstGeom>
          <a:noFill/>
          <a:ln/>
        </p:spPr>
        <p:txBody>
          <a:bodyPr wrap="square" lIns="0" tIns="0" rIns="0" bIns="0" rtlCol="0" anchor="t">
            <a:normAutofit/>
          </a:bodyPr>
          <a:lstStyle/>
          <a:p>
            <a:pPr marL="0" indent="0">
              <a:lnSpc>
                <a:spcPct val="90000"/>
              </a:lnSpc>
              <a:buNone/>
            </a:pPr>
            <a:r>
              <a:rPr lang="fr-FR" sz="1746" b="1" noProof="0" dirty="0">
                <a:solidFill>
                  <a:srgbClr val="1B6E4A"/>
                </a:solidFill>
                <a:latin typeface="Calibri" pitchFamily="34" charset="0"/>
                <a:ea typeface="Calibri" pitchFamily="34" charset="-122"/>
                <a:cs typeface="Calibri" pitchFamily="34" charset="-120"/>
              </a:rPr>
              <a:t>B. La chirurgie conservatrice du sein est possible pour de nombreuses patientes, et le choix dépend de la tumeur, du sein, de l’accès à la radiothérapie et des préférences de la personne</a:t>
            </a:r>
            <a:endParaRPr lang="fr-FR" sz="1746" noProof="0" dirty="0"/>
          </a:p>
        </p:txBody>
      </p:sp>
      <p:sp>
        <p:nvSpPr>
          <p:cNvPr id="9" name="Text 7"/>
          <p:cNvSpPr txBox="1"/>
          <p:nvPr/>
        </p:nvSpPr>
        <p:spPr>
          <a:xfrm>
            <a:off x="731520" y="3013862"/>
            <a:ext cx="5250028" cy="320040"/>
          </a:xfrm>
          <a:prstGeom prst="rect">
            <a:avLst/>
          </a:prstGeom>
          <a:noFill/>
          <a:ln/>
        </p:spPr>
        <p:txBody>
          <a:bodyPr wrap="square" lIns="0" tIns="0" rIns="0" bIns="0" rtlCol="0" anchor="t">
            <a:normAutofit fontScale="91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La mastectomie signifie toujours une maladie avancée</a:t>
            </a:r>
            <a:endParaRPr lang="fr-FR" sz="1800" noProof="0" dirty="0"/>
          </a:p>
        </p:txBody>
      </p:sp>
      <p:sp>
        <p:nvSpPr>
          <p:cNvPr id="10" name="Text 8"/>
          <p:cNvSpPr txBox="1"/>
          <p:nvPr/>
        </p:nvSpPr>
        <p:spPr>
          <a:xfrm>
            <a:off x="6210148" y="3013862"/>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Les ganglions lymphatiques ne sont jamais évalués</a:t>
            </a:r>
            <a:endParaRPr lang="fr-FR" sz="1800" noProof="0" dirty="0"/>
          </a:p>
        </p:txBody>
      </p:sp>
      <p:sp>
        <p:nvSpPr>
          <p:cNvPr id="11" name="Text 9"/>
          <p:cNvSpPr txBox="1"/>
          <p:nvPr/>
        </p:nvSpPr>
        <p:spPr>
          <a:xfrm>
            <a:off x="731520" y="3443630"/>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Les deux opérations ont leur place. Dire tôt que la mastectomie n’est pas inévitable lève l’un des plus grands obstacles à la venue en évaluation.</a:t>
            </a:r>
            <a:endParaRPr lang="fr-FR" sz="1350" noProof="0" dirty="0"/>
          </a:p>
        </p:txBody>
      </p:sp>
      <p:sp>
        <p:nvSpPr>
          <p:cNvPr id="12" name="Shape 10"/>
          <p:cNvSpPr/>
          <p:nvPr/>
        </p:nvSpPr>
        <p:spPr>
          <a:xfrm>
            <a:off x="548640" y="4151376"/>
            <a:ext cx="11094415" cy="2088490"/>
          </a:xfrm>
          <a:prstGeom prst="roundRect">
            <a:avLst>
              <a:gd name="adj" fmla="val 2627"/>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4261104"/>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Q18. Un nouveau gonflement du bras deux ans après l'opération axillaire devrait être :</a:t>
            </a:r>
            <a:endParaRPr lang="fr-FR" sz="1800" noProof="0" dirty="0"/>
          </a:p>
        </p:txBody>
      </p:sp>
      <p:sp>
        <p:nvSpPr>
          <p:cNvPr id="14" name="Text 12"/>
          <p:cNvSpPr txBox="1"/>
          <p:nvPr/>
        </p:nvSpPr>
        <p:spPr>
          <a:xfrm>
            <a:off x="731520" y="4681728"/>
            <a:ext cx="5250028" cy="566928"/>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Ignoré, car normal</a:t>
            </a:r>
            <a:endParaRPr lang="fr-FR" sz="1800" noProof="0" dirty="0"/>
          </a:p>
        </p:txBody>
      </p:sp>
      <p:sp>
        <p:nvSpPr>
          <p:cNvPr id="15" name="Text 13"/>
          <p:cNvSpPr txBox="1"/>
          <p:nvPr/>
        </p:nvSpPr>
        <p:spPr>
          <a:xfrm>
            <a:off x="6210148" y="4681728"/>
            <a:ext cx="5250028" cy="566928"/>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Évalué, après exclusion d’une infection, et orienté pour la prise en charge d’un lymphœdème</a:t>
            </a:r>
            <a:endParaRPr lang="fr-FR" sz="1800" noProof="0" dirty="0"/>
          </a:p>
        </p:txBody>
      </p:sp>
      <p:sp>
        <p:nvSpPr>
          <p:cNvPr id="16" name="Text 14"/>
          <p:cNvSpPr txBox="1"/>
          <p:nvPr/>
        </p:nvSpPr>
        <p:spPr>
          <a:xfrm>
            <a:off x="731520" y="5303520"/>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Traité en gardant le bras immobile</a:t>
            </a:r>
            <a:endParaRPr lang="fr-FR" sz="1800" noProof="0" dirty="0"/>
          </a:p>
        </p:txBody>
      </p:sp>
      <p:sp>
        <p:nvSpPr>
          <p:cNvPr id="17" name="Text 15"/>
          <p:cNvSpPr txBox="1"/>
          <p:nvPr/>
        </p:nvSpPr>
        <p:spPr>
          <a:xfrm>
            <a:off x="6210148" y="5303520"/>
            <a:ext cx="5250028" cy="320040"/>
          </a:xfrm>
          <a:prstGeom prst="rect">
            <a:avLst/>
          </a:prstGeom>
          <a:noFill/>
          <a:ln/>
        </p:spPr>
        <p:txBody>
          <a:bodyPr wrap="square" lIns="0" tIns="0" rIns="0" bIns="0" rtlCol="0" anchor="t">
            <a:normAutofit fontScale="990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Considéré comme une récidive</a:t>
            </a:r>
            <a:endParaRPr lang="fr-FR" sz="1800" noProof="0" dirty="0"/>
          </a:p>
        </p:txBody>
      </p:sp>
      <p:sp>
        <p:nvSpPr>
          <p:cNvPr id="18" name="Text 16"/>
          <p:cNvSpPr txBox="1"/>
          <p:nvPr/>
        </p:nvSpPr>
        <p:spPr>
          <a:xfrm>
            <a:off x="731520" y="5733288"/>
            <a:ext cx="10728655" cy="433426"/>
          </a:xfrm>
          <a:prstGeom prst="rect">
            <a:avLst/>
          </a:prstGeom>
          <a:noFill/>
          <a:ln/>
        </p:spPr>
        <p:txBody>
          <a:bodyPr wrap="square" lIns="0" tIns="0" rIns="0" bIns="0" rtlCol="0" anchor="t"/>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b="0" noProof="0" dirty="0">
                <a:solidFill>
                  <a:srgbClr val="0B1F3F"/>
                </a:solidFill>
                <a:latin typeface="Calibri" pitchFamily="34" charset="0"/>
                <a:ea typeface="Calibri" pitchFamily="34" charset="-122"/>
                <a:cs typeface="Calibri" pitchFamily="34" charset="-120"/>
              </a:rPr>
              <a:t>Cela décrit un lymphœdème. Excluez l'infection, puis orientez la personne. Une évaluation plus précoce offre un meilleur contrôle, et immobiliser le bras n'aide pas.</a:t>
            </a:r>
            <a:endParaRPr lang="fr-FR" sz="1350" noProof="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ÉVALUATION FINALE</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Évaluation finale (10 sur 10)</a:t>
            </a:r>
            <a:endParaRPr lang="fr-FR" sz="3000" noProof="0" dirty="0"/>
          </a:p>
        </p:txBody>
      </p:sp>
      <p:sp>
        <p:nvSpPr>
          <p:cNvPr id="5" name="Shape 3"/>
          <p:cNvSpPr/>
          <p:nvPr/>
        </p:nvSpPr>
        <p:spPr>
          <a:xfrm>
            <a:off x="548640" y="1367942"/>
            <a:ext cx="11094415" cy="2146097"/>
          </a:xfrm>
          <a:prstGeom prst="roundRect">
            <a:avLst>
              <a:gd name="adj" fmla="val 2556"/>
            </a:avLst>
          </a:prstGeom>
          <a:solidFill>
            <a:srgbClr val="F4F8FC"/>
          </a:solidFill>
          <a:ln w="12700">
            <a:solidFill>
              <a:srgbClr val="C8D8EC"/>
            </a:solidFill>
            <a:prstDash val="solid"/>
          </a:ln>
        </p:spPr>
        <p:txBody>
          <a:bodyPr/>
          <a:lstStyle/>
          <a:p>
            <a:endParaRPr lang="fr-FR" noProof="0" dirty="0"/>
          </a:p>
        </p:txBody>
      </p:sp>
      <p:sp>
        <p:nvSpPr>
          <p:cNvPr id="6" name="Text 4"/>
          <p:cNvSpPr txBox="1"/>
          <p:nvPr/>
        </p:nvSpPr>
        <p:spPr>
          <a:xfrm>
            <a:off x="731520" y="1477670"/>
            <a:ext cx="10728655" cy="384048"/>
          </a:xfrm>
          <a:prstGeom prst="rect">
            <a:avLst/>
          </a:prstGeom>
          <a:noFill/>
          <a:ln/>
        </p:spPr>
        <p:txBody>
          <a:bodyPr wrap="square" lIns="0" tIns="0" rIns="0" bIns="0" rtlCol="0" anchor="t"/>
          <a:lstStyle/>
          <a:p>
            <a:pPr marL="0" indent="0">
              <a:buNone/>
            </a:pPr>
            <a:r>
              <a:rPr lang="fr-FR" sz="1800" b="1" noProof="0" dirty="0">
                <a:solidFill>
                  <a:srgbClr val="12315B"/>
                </a:solidFill>
                <a:latin typeface="Calibri" pitchFamily="34" charset="0"/>
                <a:ea typeface="Calibri" pitchFamily="34" charset="-122"/>
                <a:cs typeface="Calibri" pitchFamily="34" charset="-120"/>
              </a:rPr>
              <a:t>Q19. Le suivi après un traitement du cancer du sein vise à :</a:t>
            </a:r>
            <a:endParaRPr lang="fr-FR" sz="1800" noProof="0" dirty="0"/>
          </a:p>
        </p:txBody>
      </p:sp>
      <p:sp>
        <p:nvSpPr>
          <p:cNvPr id="7" name="Text 5"/>
          <p:cNvSpPr txBox="1"/>
          <p:nvPr/>
        </p:nvSpPr>
        <p:spPr>
          <a:xfrm>
            <a:off x="731520" y="1898294"/>
            <a:ext cx="5250028" cy="813816"/>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Prouver que le cancer ne reviendra jamais</a:t>
            </a:r>
            <a:endParaRPr lang="fr-FR" sz="1800" noProof="0" dirty="0"/>
          </a:p>
        </p:txBody>
      </p:sp>
      <p:sp>
        <p:nvSpPr>
          <p:cNvPr id="8" name="Text 6"/>
          <p:cNvSpPr txBox="1"/>
          <p:nvPr/>
        </p:nvSpPr>
        <p:spPr>
          <a:xfrm>
            <a:off x="6210148" y="1898294"/>
            <a:ext cx="5250028" cy="813816"/>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Surveiller la récupération, prendre en charge les effets durables, soutenir la poursuite de l’hormonothérapie et évaluer tout nouveau symptôme</a:t>
            </a:r>
            <a:endParaRPr lang="fr-FR" sz="1800" noProof="0" dirty="0"/>
          </a:p>
        </p:txBody>
      </p:sp>
      <p:sp>
        <p:nvSpPr>
          <p:cNvPr id="9" name="Text 7"/>
          <p:cNvSpPr txBox="1"/>
          <p:nvPr/>
        </p:nvSpPr>
        <p:spPr>
          <a:xfrm>
            <a:off x="731520" y="2766974"/>
            <a:ext cx="5250028" cy="32004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Remplacer les soins palliatifs</a:t>
            </a:r>
            <a:endParaRPr lang="fr-FR" sz="1800" noProof="0" dirty="0"/>
          </a:p>
        </p:txBody>
      </p:sp>
      <p:sp>
        <p:nvSpPr>
          <p:cNvPr id="10" name="Text 8"/>
          <p:cNvSpPr txBox="1"/>
          <p:nvPr/>
        </p:nvSpPr>
        <p:spPr>
          <a:xfrm>
            <a:off x="6210148" y="2766974"/>
            <a:ext cx="5250028" cy="32004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Mettre fin à tout contact avec les services</a:t>
            </a:r>
            <a:endParaRPr lang="fr-FR" sz="1800" noProof="0" dirty="0"/>
          </a:p>
        </p:txBody>
      </p:sp>
      <p:sp>
        <p:nvSpPr>
          <p:cNvPr id="11" name="Text 9"/>
          <p:cNvSpPr txBox="1"/>
          <p:nvPr/>
        </p:nvSpPr>
        <p:spPr>
          <a:xfrm>
            <a:off x="731520" y="3196742"/>
            <a:ext cx="10728655" cy="244145"/>
          </a:xfrm>
          <a:prstGeom prst="rect">
            <a:avLst/>
          </a:prstGeom>
          <a:noFill/>
          <a:ln/>
        </p:spPr>
        <p:txBody>
          <a:bodyPr wrap="square" lIns="0" tIns="0" rIns="0" bIns="0" rtlCol="0" anchor="t">
            <a:normAutofit fontScale="995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Le suivi accompagne la récupération, maintient le traitement au long cours et évalue les nouveaux symptômes qui pourraient signaler une récidive.</a:t>
            </a:r>
            <a:endParaRPr lang="fr-FR" sz="1350" noProof="0" dirty="0"/>
          </a:p>
        </p:txBody>
      </p:sp>
      <p:sp>
        <p:nvSpPr>
          <p:cNvPr id="12" name="Shape 10"/>
          <p:cNvSpPr/>
          <p:nvPr/>
        </p:nvSpPr>
        <p:spPr>
          <a:xfrm>
            <a:off x="548640" y="3715207"/>
            <a:ext cx="11094415" cy="2524658"/>
          </a:xfrm>
          <a:prstGeom prst="roundRect">
            <a:avLst>
              <a:gd name="adj" fmla="val 2173"/>
            </a:avLst>
          </a:prstGeom>
          <a:solidFill>
            <a:srgbClr val="F4F8FC"/>
          </a:solidFill>
          <a:ln w="12700">
            <a:solidFill>
              <a:srgbClr val="C8D8EC"/>
            </a:solidFill>
            <a:prstDash val="solid"/>
          </a:ln>
        </p:spPr>
        <p:txBody>
          <a:bodyPr/>
          <a:lstStyle/>
          <a:p>
            <a:endParaRPr lang="fr-FR" noProof="0" dirty="0"/>
          </a:p>
        </p:txBody>
      </p:sp>
      <p:sp>
        <p:nvSpPr>
          <p:cNvPr id="13" name="Text 11"/>
          <p:cNvSpPr txBox="1"/>
          <p:nvPr/>
        </p:nvSpPr>
        <p:spPr>
          <a:xfrm>
            <a:off x="731520" y="3824935"/>
            <a:ext cx="10728655" cy="384048"/>
          </a:xfrm>
          <a:prstGeom prst="rect">
            <a:avLst/>
          </a:prstGeom>
          <a:noFill/>
          <a:ln/>
        </p:spPr>
        <p:txBody>
          <a:bodyPr wrap="square" lIns="0" tIns="0" rIns="0" bIns="0" rtlCol="0" anchor="t">
            <a:normAutofit fontScale="98500"/>
          </a:bodyPr>
          <a:lstStyle/>
          <a:p>
            <a:pPr marL="0" indent="0">
              <a:buNone/>
            </a:pPr>
            <a:r>
              <a:rPr lang="fr-FR" sz="1800" b="1" noProof="0" dirty="0">
                <a:solidFill>
                  <a:srgbClr val="12315B"/>
                </a:solidFill>
                <a:latin typeface="Calibri" pitchFamily="34" charset="0"/>
                <a:ea typeface="Calibri" pitchFamily="34" charset="-122"/>
                <a:cs typeface="Calibri" pitchFamily="34" charset="-120"/>
              </a:rPr>
              <a:t>Q20. Au Rwanda, la détection précoce du cancer du sein repose actuellement principalement sur :</a:t>
            </a:r>
            <a:endParaRPr lang="fr-FR" sz="1800" noProof="0" dirty="0"/>
          </a:p>
        </p:txBody>
      </p:sp>
      <p:sp>
        <p:nvSpPr>
          <p:cNvPr id="14" name="Text 12"/>
          <p:cNvSpPr txBox="1"/>
          <p:nvPr/>
        </p:nvSpPr>
        <p:spPr>
          <a:xfrm>
            <a:off x="731520" y="4245559"/>
            <a:ext cx="5250028" cy="813816"/>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A. </a:t>
            </a:r>
            <a:r>
              <a:rPr lang="fr-FR" sz="1800" noProof="0" dirty="0">
                <a:solidFill>
                  <a:srgbClr val="1F3A63"/>
                </a:solidFill>
                <a:latin typeface="Calibri" pitchFamily="34" charset="0"/>
                <a:ea typeface="Calibri" pitchFamily="34" charset="-122"/>
                <a:cs typeface="Calibri" pitchFamily="34" charset="-120"/>
              </a:rPr>
              <a:t>Un programme national organisé de dépistage par mammographie</a:t>
            </a:r>
            <a:endParaRPr lang="fr-FR" sz="1800" noProof="0" dirty="0"/>
          </a:p>
        </p:txBody>
      </p:sp>
      <p:sp>
        <p:nvSpPr>
          <p:cNvPr id="15" name="Text 13"/>
          <p:cNvSpPr txBox="1"/>
          <p:nvPr/>
        </p:nvSpPr>
        <p:spPr>
          <a:xfrm>
            <a:off x="6210148" y="4245559"/>
            <a:ext cx="5250028" cy="813816"/>
          </a:xfrm>
          <a:prstGeom prst="rect">
            <a:avLst/>
          </a:prstGeom>
          <a:noFill/>
          <a:ln/>
        </p:spPr>
        <p:txBody>
          <a:bodyPr wrap="square" lIns="0" tIns="0" rIns="0" bIns="0" rtlCol="0" anchor="t">
            <a:normAutofit fontScale="92000" lnSpcReduction="20000"/>
          </a:bodyPr>
          <a:lstStyle/>
          <a:p>
            <a:pPr marL="0" indent="0">
              <a:lnSpc>
                <a:spcPct val="90000"/>
              </a:lnSpc>
              <a:buNone/>
            </a:pPr>
            <a:r>
              <a:rPr lang="fr-FR" sz="1800" b="1" noProof="0" dirty="0">
                <a:solidFill>
                  <a:srgbClr val="1B6E4A"/>
                </a:solidFill>
                <a:latin typeface="Calibri" pitchFamily="34" charset="0"/>
                <a:ea typeface="Calibri" pitchFamily="34" charset="-122"/>
                <a:cs typeface="Calibri" pitchFamily="34" charset="-120"/>
              </a:rPr>
              <a:t>B. L’examen clinique du sein annuel dès 30 ans, la mammographie dès 40 ans là où elle est disponible, et la reconnaissance des changements mammaires au premier contact</a:t>
            </a:r>
            <a:endParaRPr lang="fr-FR" sz="1800" noProof="0" dirty="0"/>
          </a:p>
        </p:txBody>
      </p:sp>
      <p:sp>
        <p:nvSpPr>
          <p:cNvPr id="16" name="Text 14"/>
          <p:cNvSpPr txBox="1"/>
          <p:nvPr/>
        </p:nvSpPr>
        <p:spPr>
          <a:xfrm>
            <a:off x="731520" y="5114239"/>
            <a:ext cx="5250028" cy="32004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C. </a:t>
            </a:r>
            <a:r>
              <a:rPr lang="fr-FR" sz="1800" noProof="0" dirty="0">
                <a:solidFill>
                  <a:srgbClr val="1F3A63"/>
                </a:solidFill>
                <a:latin typeface="Calibri" pitchFamily="34" charset="0"/>
                <a:ea typeface="Calibri" pitchFamily="34" charset="-122"/>
                <a:cs typeface="Calibri" pitchFamily="34" charset="-120"/>
              </a:rPr>
              <a:t>Auto-examen seul, sans rôle clinique</a:t>
            </a:r>
            <a:endParaRPr lang="fr-FR" sz="1800" noProof="0" dirty="0"/>
          </a:p>
        </p:txBody>
      </p:sp>
      <p:sp>
        <p:nvSpPr>
          <p:cNvPr id="17" name="Text 15"/>
          <p:cNvSpPr txBox="1"/>
          <p:nvPr/>
        </p:nvSpPr>
        <p:spPr>
          <a:xfrm>
            <a:off x="6210148" y="5114239"/>
            <a:ext cx="5250028" cy="320040"/>
          </a:xfrm>
          <a:prstGeom prst="rect">
            <a:avLst/>
          </a:prstGeom>
          <a:noFill/>
          <a:ln/>
        </p:spPr>
        <p:txBody>
          <a:bodyPr wrap="square" lIns="0" tIns="0" rIns="0" bIns="0" rtlCol="0" anchor="t">
            <a:normAutofit fontScale="99500"/>
          </a:bodyPr>
          <a:lstStyle/>
          <a:p>
            <a:pPr marL="0" indent="0">
              <a:lnSpc>
                <a:spcPct val="90000"/>
              </a:lnSpc>
              <a:buNone/>
            </a:pPr>
            <a:r>
              <a:rPr lang="fr-FR" sz="1800" b="1" noProof="0" dirty="0">
                <a:solidFill>
                  <a:srgbClr val="5B7699"/>
                </a:solidFill>
                <a:latin typeface="Calibri" pitchFamily="34" charset="0"/>
                <a:ea typeface="Calibri" pitchFamily="34" charset="-122"/>
                <a:cs typeface="Calibri" pitchFamily="34" charset="-120"/>
              </a:rPr>
              <a:t>D. </a:t>
            </a:r>
            <a:r>
              <a:rPr lang="fr-FR" sz="1800" noProof="0" dirty="0">
                <a:solidFill>
                  <a:srgbClr val="1F3A63"/>
                </a:solidFill>
                <a:latin typeface="Calibri" pitchFamily="34" charset="0"/>
                <a:ea typeface="Calibri" pitchFamily="34" charset="-122"/>
                <a:cs typeface="Calibri" pitchFamily="34" charset="-120"/>
              </a:rPr>
              <a:t>Évaluation à l'étranger</a:t>
            </a:r>
            <a:endParaRPr lang="fr-FR" sz="1800" noProof="0" dirty="0"/>
          </a:p>
        </p:txBody>
      </p:sp>
      <p:sp>
        <p:nvSpPr>
          <p:cNvPr id="18" name="Text 16"/>
          <p:cNvSpPr txBox="1"/>
          <p:nvPr/>
        </p:nvSpPr>
        <p:spPr>
          <a:xfrm>
            <a:off x="731520" y="5544007"/>
            <a:ext cx="10728655" cy="622706"/>
          </a:xfrm>
          <a:prstGeom prst="rect">
            <a:avLst/>
          </a:prstGeom>
          <a:noFill/>
          <a:ln/>
        </p:spPr>
        <p:txBody>
          <a:bodyPr wrap="square" lIns="0" tIns="0" rIns="0" bIns="0" rtlCol="0" anchor="t">
            <a:normAutofit fontScale="99500"/>
          </a:bodyPr>
          <a:lstStyle/>
          <a:p>
            <a:pPr marL="0" indent="0">
              <a:lnSpc>
                <a:spcPct val="92000"/>
              </a:lnSpc>
              <a:buNone/>
            </a:pPr>
            <a:r>
              <a:rPr lang="fr-FR" sz="1350" b="1" noProof="0" dirty="0">
                <a:solidFill>
                  <a:srgbClr val="1B6E4A"/>
                </a:solidFill>
                <a:latin typeface="Calibri" pitchFamily="34" charset="0"/>
                <a:ea typeface="Calibri" pitchFamily="34" charset="-122"/>
                <a:cs typeface="Calibri" pitchFamily="34" charset="-120"/>
              </a:rPr>
              <a:t>Correct : B. </a:t>
            </a:r>
            <a:r>
              <a:rPr lang="fr-FR" sz="1350" noProof="0" dirty="0">
                <a:solidFill>
                  <a:srgbClr val="0B1F3F"/>
                </a:solidFill>
                <a:latin typeface="Calibri" pitchFamily="34" charset="0"/>
                <a:ea typeface="Calibri" pitchFamily="34" charset="-122"/>
                <a:cs typeface="Calibri" pitchFamily="34" charset="-120"/>
              </a:rPr>
              <a:t>Il n’existe pas de programme organisé de mammographie. Le Rwanda propose l’examen clinique du sein annuel dès 30 ans, ajoute la mammographie dès 40 ans là où elle est disponible, et s’appuie sur la reconnaissance des changements mammaires au premier contact.</a:t>
            </a:r>
            <a:endParaRPr lang="fr-FR" sz="1350" noProof="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ATTRIBUTION ET SOURCES</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Références</a:t>
            </a:r>
            <a:endParaRPr lang="fr-FR" sz="3000" noProof="0" dirty="0"/>
          </a:p>
        </p:txBody>
      </p:sp>
      <p:sp>
        <p:nvSpPr>
          <p:cNvPr id="5" name="Text 3"/>
          <p:cNvSpPr txBox="1"/>
          <p:nvPr/>
        </p:nvSpPr>
        <p:spPr>
          <a:xfrm>
            <a:off x="548640" y="1325880"/>
            <a:ext cx="5410048" cy="4754880"/>
          </a:xfrm>
          <a:prstGeom prst="rect">
            <a:avLst/>
          </a:prstGeom>
          <a:noFill/>
          <a:ln/>
        </p:spPr>
        <p:txBody>
          <a:bodyPr wrap="square" lIns="0" tIns="0" rIns="0" bIns="0" rtlCol="0" anchor="t"/>
          <a:lstStyle/>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 International Agency for </a:t>
            </a:r>
            <a:r>
              <a:rPr lang="fr-FR" sz="1150" noProof="0" dirty="0" err="1">
                <a:solidFill>
                  <a:srgbClr val="0B1F3F"/>
                </a:solidFill>
                <a:latin typeface="Calibri" pitchFamily="34" charset="0"/>
                <a:ea typeface="Calibri" pitchFamily="34" charset="-122"/>
                <a:cs typeface="Calibri" pitchFamily="34" charset="-120"/>
              </a:rPr>
              <a:t>Research</a:t>
            </a:r>
            <a:r>
              <a:rPr lang="fr-FR" sz="1150" noProof="0" dirty="0">
                <a:solidFill>
                  <a:srgbClr val="0B1F3F"/>
                </a:solidFill>
                <a:latin typeface="Calibri" pitchFamily="34" charset="0"/>
                <a:ea typeface="Calibri" pitchFamily="34" charset="-122"/>
                <a:cs typeface="Calibri" pitchFamily="34" charset="-120"/>
              </a:rPr>
              <a:t> on Cancer. Global Cancer </a:t>
            </a:r>
            <a:r>
              <a:rPr lang="fr-FR" sz="1150" noProof="0" dirty="0" err="1">
                <a:solidFill>
                  <a:srgbClr val="0B1F3F"/>
                </a:solidFill>
                <a:latin typeface="Calibri" pitchFamily="34" charset="0"/>
                <a:ea typeface="Calibri" pitchFamily="34" charset="-122"/>
                <a:cs typeface="Calibri" pitchFamily="34" charset="-120"/>
              </a:rPr>
              <a:t>Observatory</a:t>
            </a:r>
            <a:r>
              <a:rPr lang="fr-FR" sz="1150" noProof="0" dirty="0">
                <a:solidFill>
                  <a:srgbClr val="0B1F3F"/>
                </a:solidFill>
                <a:latin typeface="Calibri" pitchFamily="34" charset="0"/>
                <a:ea typeface="Calibri" pitchFamily="34" charset="-122"/>
                <a:cs typeface="Calibri" pitchFamily="34" charset="-120"/>
              </a:rPr>
              <a:t>: Cancer Today.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fact</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sheet</a:t>
            </a:r>
            <a:r>
              <a:rPr lang="fr-FR" sz="1150" noProof="0" dirty="0">
                <a:solidFill>
                  <a:srgbClr val="0B1F3F"/>
                </a:solidFill>
                <a:latin typeface="Calibri" pitchFamily="34" charset="0"/>
                <a:ea typeface="Calibri" pitchFamily="34" charset="-122"/>
                <a:cs typeface="Calibri" pitchFamily="34" charset="-120"/>
              </a:rPr>
              <a:t>, GLOBOCAN 2024 </a:t>
            </a:r>
            <a:r>
              <a:rPr lang="fr-FR" sz="1150" noProof="0" dirty="0" err="1">
                <a:solidFill>
                  <a:srgbClr val="0B1F3F"/>
                </a:solidFill>
                <a:latin typeface="Calibri" pitchFamily="34" charset="0"/>
                <a:ea typeface="Calibri" pitchFamily="34" charset="-122"/>
                <a:cs typeface="Calibri" pitchFamily="34" charset="-120"/>
              </a:rPr>
              <a:t>estimates</a:t>
            </a:r>
            <a:r>
              <a:rPr lang="fr-FR" sz="1150" noProof="0" dirty="0">
                <a:solidFill>
                  <a:srgbClr val="0B1F3F"/>
                </a:solidFill>
                <a:latin typeface="Calibri" pitchFamily="34" charset="0"/>
                <a:ea typeface="Calibri" pitchFamily="34" charset="-122"/>
                <a:cs typeface="Calibri" pitchFamily="34" charset="-120"/>
              </a:rPr>
              <a:t> (2,434,087 cases; 693,660 </a:t>
            </a:r>
            <a:r>
              <a:rPr lang="fr-FR" sz="1150" noProof="0" dirty="0" err="1">
                <a:solidFill>
                  <a:srgbClr val="0B1F3F"/>
                </a:solidFill>
                <a:latin typeface="Calibri" pitchFamily="34" charset="0"/>
                <a:ea typeface="Calibri" pitchFamily="34" charset="-122"/>
                <a:cs typeface="Calibri" pitchFamily="34" charset="-120"/>
              </a:rPr>
              <a:t>deaths</a:t>
            </a:r>
            <a:r>
              <a:rPr lang="fr-FR" sz="1150" noProof="0" dirty="0">
                <a:solidFill>
                  <a:srgbClr val="0B1F3F"/>
                </a:solidFill>
                <a:latin typeface="Calibri" pitchFamily="34" charset="0"/>
                <a:ea typeface="Calibri" pitchFamily="34" charset="-122"/>
                <a:cs typeface="Calibri" pitchFamily="34" charset="-120"/>
              </a:rPr>
              <a:t>). Lyon: IARC / WHO. https://</a:t>
            </a:r>
            <a:r>
              <a:rPr lang="fr-FR" sz="1150" noProof="0" dirty="0" err="1">
                <a:solidFill>
                  <a:srgbClr val="0B1F3F"/>
                </a:solidFill>
                <a:latin typeface="Calibri" pitchFamily="34" charset="0"/>
                <a:ea typeface="Calibri" pitchFamily="34" charset="-122"/>
                <a:cs typeface="Calibri" pitchFamily="34" charset="-120"/>
              </a:rPr>
              <a:t>gco.iarc.who.int</a:t>
            </a:r>
            <a:r>
              <a:rPr lang="fr-FR" sz="1150" noProof="0" dirty="0">
                <a:solidFill>
                  <a:srgbClr val="0B1F3F"/>
                </a:solidFill>
                <a:latin typeface="Calibri" pitchFamily="34" charset="0"/>
                <a:ea typeface="Calibri" pitchFamily="34" charset="-122"/>
                <a:cs typeface="Calibri" pitchFamily="34" charset="-120"/>
              </a:rPr>
              <a:t>/</a:t>
            </a:r>
            <a:r>
              <a:rPr lang="fr-FR" sz="1150" noProof="0" dirty="0" err="1">
                <a:solidFill>
                  <a:srgbClr val="0B1F3F"/>
                </a:solidFill>
                <a:latin typeface="Calibri" pitchFamily="34" charset="0"/>
                <a:ea typeface="Calibri" pitchFamily="34" charset="-122"/>
                <a:cs typeface="Calibri" pitchFamily="34" charset="-120"/>
              </a:rPr>
              <a:t>today</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2. International Agency for </a:t>
            </a:r>
            <a:r>
              <a:rPr lang="fr-FR" sz="1150" noProof="0" dirty="0" err="1">
                <a:solidFill>
                  <a:srgbClr val="0B1F3F"/>
                </a:solidFill>
                <a:latin typeface="Calibri" pitchFamily="34" charset="0"/>
                <a:ea typeface="Calibri" pitchFamily="34" charset="-122"/>
                <a:cs typeface="Calibri" pitchFamily="34" charset="-120"/>
              </a:rPr>
              <a:t>Research</a:t>
            </a:r>
            <a:r>
              <a:rPr lang="fr-FR" sz="1150" noProof="0" dirty="0">
                <a:solidFill>
                  <a:srgbClr val="0B1F3F"/>
                </a:solidFill>
                <a:latin typeface="Calibri" pitchFamily="34" charset="0"/>
                <a:ea typeface="Calibri" pitchFamily="34" charset="-122"/>
                <a:cs typeface="Calibri" pitchFamily="34" charset="-120"/>
              </a:rPr>
              <a:t> on Cancer. Global Cancer </a:t>
            </a:r>
            <a:r>
              <a:rPr lang="fr-FR" sz="1150" noProof="0" dirty="0" err="1">
                <a:solidFill>
                  <a:srgbClr val="0B1F3F"/>
                </a:solidFill>
                <a:latin typeface="Calibri" pitchFamily="34" charset="0"/>
                <a:ea typeface="Calibri" pitchFamily="34" charset="-122"/>
                <a:cs typeface="Calibri" pitchFamily="34" charset="-120"/>
              </a:rPr>
              <a:t>Observatory</a:t>
            </a:r>
            <a:r>
              <a:rPr lang="fr-FR" sz="1150" noProof="0" dirty="0">
                <a:solidFill>
                  <a:srgbClr val="0B1F3F"/>
                </a:solidFill>
                <a:latin typeface="Calibri" pitchFamily="34" charset="0"/>
                <a:ea typeface="Calibri" pitchFamily="34" charset="-122"/>
                <a:cs typeface="Calibri" pitchFamily="34" charset="-120"/>
              </a:rPr>
              <a:t>: Cancer Today. Rwanda </a:t>
            </a:r>
            <a:r>
              <a:rPr lang="fr-FR" sz="1150" noProof="0" dirty="0" err="1">
                <a:solidFill>
                  <a:srgbClr val="0B1F3F"/>
                </a:solidFill>
                <a:latin typeface="Calibri" pitchFamily="34" charset="0"/>
                <a:ea typeface="Calibri" pitchFamily="34" charset="-122"/>
                <a:cs typeface="Calibri" pitchFamily="34" charset="-120"/>
              </a:rPr>
              <a:t>fact</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sheet</a:t>
            </a:r>
            <a:r>
              <a:rPr lang="fr-FR" sz="1150" noProof="0" dirty="0">
                <a:solidFill>
                  <a:srgbClr val="0B1F3F"/>
                </a:solidFill>
                <a:latin typeface="Calibri" pitchFamily="34" charset="0"/>
                <a:ea typeface="Calibri" pitchFamily="34" charset="-122"/>
                <a:cs typeface="Calibri" pitchFamily="34" charset="-120"/>
              </a:rPr>
              <a:t>, GLOBOCAN 2024 </a:t>
            </a:r>
            <a:r>
              <a:rPr lang="fr-FR" sz="1150" noProof="0" dirty="0" err="1">
                <a:solidFill>
                  <a:srgbClr val="0B1F3F"/>
                </a:solidFill>
                <a:latin typeface="Calibri" pitchFamily="34" charset="0"/>
                <a:ea typeface="Calibri" pitchFamily="34" charset="-122"/>
                <a:cs typeface="Calibri" pitchFamily="34" charset="-120"/>
              </a:rPr>
              <a:t>estimates</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1,684 cases; 813 </a:t>
            </a:r>
            <a:r>
              <a:rPr lang="fr-FR" sz="1150" noProof="0" dirty="0" err="1">
                <a:solidFill>
                  <a:srgbClr val="0B1F3F"/>
                </a:solidFill>
                <a:latin typeface="Calibri" pitchFamily="34" charset="0"/>
                <a:ea typeface="Calibri" pitchFamily="34" charset="-122"/>
                <a:cs typeface="Calibri" pitchFamily="34" charset="-120"/>
              </a:rPr>
              <a:t>deaths</a:t>
            </a:r>
            <a:r>
              <a:rPr lang="fr-FR" sz="1150" noProof="0" dirty="0">
                <a:solidFill>
                  <a:srgbClr val="0B1F3F"/>
                </a:solidFill>
                <a:latin typeface="Calibri" pitchFamily="34" charset="0"/>
                <a:ea typeface="Calibri" pitchFamily="34" charset="-122"/>
                <a:cs typeface="Calibri" pitchFamily="34" charset="-120"/>
              </a:rPr>
              <a:t>). Lyon: IARC / WHO. https://</a:t>
            </a:r>
            <a:r>
              <a:rPr lang="fr-FR" sz="1150" noProof="0" dirty="0" err="1">
                <a:solidFill>
                  <a:srgbClr val="0B1F3F"/>
                </a:solidFill>
                <a:latin typeface="Calibri" pitchFamily="34" charset="0"/>
                <a:ea typeface="Calibri" pitchFamily="34" charset="-122"/>
                <a:cs typeface="Calibri" pitchFamily="34" charset="-120"/>
              </a:rPr>
              <a:t>gco.iarc.who.int</a:t>
            </a:r>
            <a:r>
              <a:rPr lang="fr-FR" sz="1150" noProof="0" dirty="0">
                <a:solidFill>
                  <a:srgbClr val="0B1F3F"/>
                </a:solidFill>
                <a:latin typeface="Calibri" pitchFamily="34" charset="0"/>
                <a:ea typeface="Calibri" pitchFamily="34" charset="-122"/>
                <a:cs typeface="Calibri" pitchFamily="34" charset="-120"/>
              </a:rPr>
              <a:t>/</a:t>
            </a:r>
            <a:r>
              <a:rPr lang="fr-FR" sz="1150" noProof="0" dirty="0" err="1">
                <a:solidFill>
                  <a:srgbClr val="0B1F3F"/>
                </a:solidFill>
                <a:latin typeface="Calibri" pitchFamily="34" charset="0"/>
                <a:ea typeface="Calibri" pitchFamily="34" charset="-122"/>
                <a:cs typeface="Calibri" pitchFamily="34" charset="-120"/>
              </a:rPr>
              <a:t>today</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3. International Agency for </a:t>
            </a:r>
            <a:r>
              <a:rPr lang="fr-FR" sz="1150" noProof="0" dirty="0" err="1">
                <a:solidFill>
                  <a:srgbClr val="0B1F3F"/>
                </a:solidFill>
                <a:latin typeface="Calibri" pitchFamily="34" charset="0"/>
                <a:ea typeface="Calibri" pitchFamily="34" charset="-122"/>
                <a:cs typeface="Calibri" pitchFamily="34" charset="-120"/>
              </a:rPr>
              <a:t>Research</a:t>
            </a:r>
            <a:r>
              <a:rPr lang="fr-FR" sz="1150" noProof="0" dirty="0">
                <a:solidFill>
                  <a:srgbClr val="0B1F3F"/>
                </a:solidFill>
                <a:latin typeface="Calibri" pitchFamily="34" charset="0"/>
                <a:ea typeface="Calibri" pitchFamily="34" charset="-122"/>
                <a:cs typeface="Calibri" pitchFamily="34" charset="-120"/>
              </a:rPr>
              <a:t> on Cancer. Global Cancer </a:t>
            </a:r>
            <a:r>
              <a:rPr lang="fr-FR" sz="1150" noProof="0" dirty="0" err="1">
                <a:solidFill>
                  <a:srgbClr val="0B1F3F"/>
                </a:solidFill>
                <a:latin typeface="Calibri" pitchFamily="34" charset="0"/>
                <a:ea typeface="Calibri" pitchFamily="34" charset="-122"/>
                <a:cs typeface="Calibri" pitchFamily="34" charset="-120"/>
              </a:rPr>
              <a:t>Observatory</a:t>
            </a:r>
            <a:r>
              <a:rPr lang="fr-FR" sz="1150" noProof="0" dirty="0">
                <a:solidFill>
                  <a:srgbClr val="0B1F3F"/>
                </a:solidFill>
                <a:latin typeface="Calibri" pitchFamily="34" charset="0"/>
                <a:ea typeface="Calibri" pitchFamily="34" charset="-122"/>
                <a:cs typeface="Calibri" pitchFamily="34" charset="-120"/>
              </a:rPr>
              <a:t>: Cancer Today. </a:t>
            </a:r>
            <a:r>
              <a:rPr lang="fr-FR" sz="1150" noProof="0" dirty="0" err="1">
                <a:solidFill>
                  <a:srgbClr val="0B1F3F"/>
                </a:solidFill>
                <a:latin typeface="Calibri" pitchFamily="34" charset="0"/>
                <a:ea typeface="Calibri" pitchFamily="34" charset="-122"/>
                <a:cs typeface="Calibri" pitchFamily="34" charset="-120"/>
              </a:rPr>
              <a:t>Africa</a:t>
            </a:r>
            <a:r>
              <a:rPr lang="fr-FR" sz="1150" noProof="0" dirty="0">
                <a:solidFill>
                  <a:srgbClr val="0B1F3F"/>
                </a:solidFill>
                <a:latin typeface="Calibri" pitchFamily="34" charset="0"/>
                <a:ea typeface="Calibri" pitchFamily="34" charset="-122"/>
                <a:cs typeface="Calibri" pitchFamily="34" charset="-120"/>
              </a:rPr>
              <a:t> and Eastern </a:t>
            </a:r>
            <a:r>
              <a:rPr lang="fr-FR" sz="1150" noProof="0" dirty="0" err="1">
                <a:solidFill>
                  <a:srgbClr val="0B1F3F"/>
                </a:solidFill>
                <a:latin typeface="Calibri" pitchFamily="34" charset="0"/>
                <a:ea typeface="Calibri" pitchFamily="34" charset="-122"/>
                <a:cs typeface="Calibri" pitchFamily="34" charset="-120"/>
              </a:rPr>
              <a:t>Africa</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fact</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sheets</a:t>
            </a:r>
            <a:r>
              <a:rPr lang="fr-FR" sz="1150" noProof="0" dirty="0">
                <a:solidFill>
                  <a:srgbClr val="0B1F3F"/>
                </a:solidFill>
                <a:latin typeface="Calibri" pitchFamily="34" charset="0"/>
                <a:ea typeface="Calibri" pitchFamily="34" charset="-122"/>
                <a:cs typeface="Calibri" pitchFamily="34" charset="-120"/>
              </a:rPr>
              <a:t>, GLOBOCAN 2024 </a:t>
            </a:r>
            <a:r>
              <a:rPr lang="fr-FR" sz="1150" noProof="0" dirty="0" err="1">
                <a:solidFill>
                  <a:srgbClr val="0B1F3F"/>
                </a:solidFill>
                <a:latin typeface="Calibri" pitchFamily="34" charset="0"/>
                <a:ea typeface="Calibri" pitchFamily="34" charset="-122"/>
                <a:cs typeface="Calibri" pitchFamily="34" charset="-120"/>
              </a:rPr>
              <a:t>estimates</a:t>
            </a:r>
            <a:r>
              <a:rPr lang="fr-FR" sz="1150" noProof="0" dirty="0">
                <a:solidFill>
                  <a:srgbClr val="0B1F3F"/>
                </a:solidFill>
                <a:latin typeface="Calibri" pitchFamily="34" charset="0"/>
                <a:ea typeface="Calibri" pitchFamily="34" charset="-122"/>
                <a:cs typeface="Calibri" pitchFamily="34" charset="-120"/>
              </a:rPr>
              <a:t>. Lyon: IARC / WHO.</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4. Sung H, Filho AM, </a:t>
            </a:r>
            <a:r>
              <a:rPr lang="fr-FR" sz="1150" noProof="0" dirty="0" err="1">
                <a:solidFill>
                  <a:srgbClr val="0B1F3F"/>
                </a:solidFill>
                <a:latin typeface="Calibri" pitchFamily="34" charset="0"/>
                <a:ea typeface="Calibri" pitchFamily="34" charset="-122"/>
                <a:cs typeface="Calibri" pitchFamily="34" charset="-120"/>
              </a:rPr>
              <a:t>Laversanne</a:t>
            </a:r>
            <a:r>
              <a:rPr lang="fr-FR" sz="1150" noProof="0" dirty="0">
                <a:solidFill>
                  <a:srgbClr val="0B1F3F"/>
                </a:solidFill>
                <a:latin typeface="Calibri" pitchFamily="34" charset="0"/>
                <a:ea typeface="Calibri" pitchFamily="34" charset="-122"/>
                <a:cs typeface="Calibri" pitchFamily="34" charset="-120"/>
              </a:rPr>
              <a:t> M, et al. Global cancer </a:t>
            </a:r>
            <a:r>
              <a:rPr lang="fr-FR" sz="1150" noProof="0" dirty="0" err="1">
                <a:solidFill>
                  <a:srgbClr val="0B1F3F"/>
                </a:solidFill>
                <a:latin typeface="Calibri" pitchFamily="34" charset="0"/>
                <a:ea typeface="Calibri" pitchFamily="34" charset="-122"/>
                <a:cs typeface="Calibri" pitchFamily="34" charset="-120"/>
              </a:rPr>
              <a:t>statistics</a:t>
            </a:r>
            <a:r>
              <a:rPr lang="fr-FR" sz="1150" noProof="0" dirty="0">
                <a:solidFill>
                  <a:srgbClr val="0B1F3F"/>
                </a:solidFill>
                <a:latin typeface="Calibri" pitchFamily="34" charset="0"/>
                <a:ea typeface="Calibri" pitchFamily="34" charset="-122"/>
                <a:cs typeface="Calibri" pitchFamily="34" charset="-120"/>
              </a:rPr>
              <a:t> 2024: GLOBOCAN </a:t>
            </a:r>
            <a:r>
              <a:rPr lang="fr-FR" sz="1150" noProof="0" dirty="0" err="1">
                <a:solidFill>
                  <a:srgbClr val="0B1F3F"/>
                </a:solidFill>
                <a:latin typeface="Calibri" pitchFamily="34" charset="0"/>
                <a:ea typeface="Calibri" pitchFamily="34" charset="-122"/>
                <a:cs typeface="Calibri" pitchFamily="34" charset="-120"/>
              </a:rPr>
              <a:t>estimates</a:t>
            </a:r>
            <a:r>
              <a:rPr lang="fr-FR" sz="1150" noProof="0" dirty="0">
                <a:solidFill>
                  <a:srgbClr val="0B1F3F"/>
                </a:solidFill>
                <a:latin typeface="Calibri" pitchFamily="34" charset="0"/>
                <a:ea typeface="Calibri" pitchFamily="34" charset="-122"/>
                <a:cs typeface="Calibri" pitchFamily="34" charset="-120"/>
              </a:rPr>
              <a:t> of incidence and </a:t>
            </a:r>
            <a:r>
              <a:rPr lang="fr-FR" sz="1150" noProof="0" dirty="0" err="1">
                <a:solidFill>
                  <a:srgbClr val="0B1F3F"/>
                </a:solidFill>
                <a:latin typeface="Calibri" pitchFamily="34" charset="0"/>
                <a:ea typeface="Calibri" pitchFamily="34" charset="-122"/>
                <a:cs typeface="Calibri" pitchFamily="34" charset="-120"/>
              </a:rPr>
              <a:t>mortality</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worldwide</a:t>
            </a:r>
            <a:r>
              <a:rPr lang="fr-FR" sz="1150" noProof="0" dirty="0">
                <a:solidFill>
                  <a:srgbClr val="0B1F3F"/>
                </a:solidFill>
                <a:latin typeface="Calibri" pitchFamily="34" charset="0"/>
                <a:ea typeface="Calibri" pitchFamily="34" charset="-122"/>
                <a:cs typeface="Calibri" pitchFamily="34" charset="-120"/>
              </a:rPr>
              <a:t> for 34 cancers in 186 countries. CA Cancer J Clin. 2026. doi:10.3322/caac.70090</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5. International Agency for </a:t>
            </a:r>
            <a:r>
              <a:rPr lang="fr-FR" sz="1150" noProof="0" dirty="0" err="1">
                <a:solidFill>
                  <a:srgbClr val="0B1F3F"/>
                </a:solidFill>
                <a:latin typeface="Calibri" pitchFamily="34" charset="0"/>
                <a:ea typeface="Calibri" pitchFamily="34" charset="-122"/>
                <a:cs typeface="Calibri" pitchFamily="34" charset="-120"/>
              </a:rPr>
              <a:t>Research</a:t>
            </a:r>
            <a:r>
              <a:rPr lang="fr-FR" sz="1150" noProof="0" dirty="0">
                <a:solidFill>
                  <a:srgbClr val="0B1F3F"/>
                </a:solidFill>
                <a:latin typeface="Calibri" pitchFamily="34" charset="0"/>
                <a:ea typeface="Calibri" pitchFamily="34" charset="-122"/>
                <a:cs typeface="Calibri" pitchFamily="34" charset="-120"/>
              </a:rPr>
              <a:t> on Cancer. Global Cancer </a:t>
            </a:r>
            <a:r>
              <a:rPr lang="fr-FR" sz="1150" noProof="0" dirty="0" err="1">
                <a:solidFill>
                  <a:srgbClr val="0B1F3F"/>
                </a:solidFill>
                <a:latin typeface="Calibri" pitchFamily="34" charset="0"/>
                <a:ea typeface="Calibri" pitchFamily="34" charset="-122"/>
                <a:cs typeface="Calibri" pitchFamily="34" charset="-120"/>
              </a:rPr>
              <a:t>Observatory</a:t>
            </a:r>
            <a:r>
              <a:rPr lang="fr-FR" sz="1150" noProof="0" dirty="0">
                <a:solidFill>
                  <a:srgbClr val="0B1F3F"/>
                </a:solidFill>
                <a:latin typeface="Calibri" pitchFamily="34" charset="0"/>
                <a:ea typeface="Calibri" pitchFamily="34" charset="-122"/>
                <a:cs typeface="Calibri" pitchFamily="34" charset="-120"/>
              </a:rPr>
              <a:t>: Cancer Tomorrow. </a:t>
            </a:r>
            <a:r>
              <a:rPr lang="fr-FR" sz="1150" noProof="0" dirty="0" err="1">
                <a:solidFill>
                  <a:srgbClr val="0B1F3F"/>
                </a:solidFill>
                <a:latin typeface="Calibri" pitchFamily="34" charset="0"/>
                <a:ea typeface="Calibri" pitchFamily="34" charset="-122"/>
                <a:cs typeface="Calibri" pitchFamily="34" charset="-120"/>
              </a:rPr>
              <a:t>Projected</a:t>
            </a:r>
            <a:r>
              <a:rPr lang="fr-FR" sz="1150" noProof="0" dirty="0">
                <a:solidFill>
                  <a:srgbClr val="0B1F3F"/>
                </a:solidFill>
                <a:latin typeface="Calibri" pitchFamily="34" charset="0"/>
                <a:ea typeface="Calibri" pitchFamily="34" charset="-122"/>
                <a:cs typeface="Calibri" pitchFamily="34" charset="-120"/>
              </a:rPr>
              <a:t> cancer </a:t>
            </a:r>
            <a:r>
              <a:rPr lang="fr-FR" sz="1150" noProof="0" dirty="0" err="1">
                <a:solidFill>
                  <a:srgbClr val="0B1F3F"/>
                </a:solidFill>
                <a:latin typeface="Calibri" pitchFamily="34" charset="0"/>
                <a:ea typeface="Calibri" pitchFamily="34" charset="-122"/>
                <a:cs typeface="Calibri" pitchFamily="34" charset="-120"/>
              </a:rPr>
              <a:t>burden</a:t>
            </a:r>
            <a:r>
              <a:rPr lang="fr-FR" sz="1150" noProof="0" dirty="0">
                <a:solidFill>
                  <a:srgbClr val="0B1F3F"/>
                </a:solidFill>
                <a:latin typeface="Calibri" pitchFamily="34" charset="0"/>
                <a:ea typeface="Calibri" pitchFamily="34" charset="-122"/>
                <a:cs typeface="Calibri" pitchFamily="34" charset="-120"/>
              </a:rPr>
              <a:t>. Lyon: IARC / WHO. https://</a:t>
            </a:r>
            <a:r>
              <a:rPr lang="fr-FR" sz="1150" noProof="0" dirty="0" err="1">
                <a:solidFill>
                  <a:srgbClr val="0B1F3F"/>
                </a:solidFill>
                <a:latin typeface="Calibri" pitchFamily="34" charset="0"/>
                <a:ea typeface="Calibri" pitchFamily="34" charset="-122"/>
                <a:cs typeface="Calibri" pitchFamily="34" charset="-120"/>
              </a:rPr>
              <a:t>gco.iarc.fr</a:t>
            </a:r>
            <a:r>
              <a:rPr lang="fr-FR" sz="1150" noProof="0" dirty="0">
                <a:solidFill>
                  <a:srgbClr val="0B1F3F"/>
                </a:solidFill>
                <a:latin typeface="Calibri" pitchFamily="34" charset="0"/>
                <a:ea typeface="Calibri" pitchFamily="34" charset="-122"/>
                <a:cs typeface="Calibri" pitchFamily="34" charset="-120"/>
              </a:rPr>
              <a:t>/</a:t>
            </a:r>
            <a:r>
              <a:rPr lang="fr-FR" sz="1150" noProof="0" dirty="0" err="1">
                <a:solidFill>
                  <a:srgbClr val="0B1F3F"/>
                </a:solidFill>
                <a:latin typeface="Calibri" pitchFamily="34" charset="0"/>
                <a:ea typeface="Calibri" pitchFamily="34" charset="-122"/>
                <a:cs typeface="Calibri" pitchFamily="34" charset="-120"/>
              </a:rPr>
              <a:t>tomorrow</a:t>
            </a:r>
            <a:endParaRPr lang="fr-FR" sz="1150" noProof="0" dirty="0"/>
          </a:p>
        </p:txBody>
      </p:sp>
      <p:sp>
        <p:nvSpPr>
          <p:cNvPr id="6" name="Text 4"/>
          <p:cNvSpPr txBox="1"/>
          <p:nvPr/>
        </p:nvSpPr>
        <p:spPr>
          <a:xfrm>
            <a:off x="6233008" y="1325880"/>
            <a:ext cx="5410048" cy="4754880"/>
          </a:xfrm>
          <a:prstGeom prst="rect">
            <a:avLst/>
          </a:prstGeom>
          <a:noFill/>
          <a:ln/>
        </p:spPr>
        <p:txBody>
          <a:bodyPr wrap="square" lIns="0" tIns="0" rIns="0" bIns="0" rtlCol="0" anchor="t"/>
          <a:lstStyle/>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6. Republic of Rwanda, Ministry of Health. National Cancer Control Plan 2025 to 2029. Kigali: Ministry of Health / Rwanda </a:t>
            </a:r>
            <a:r>
              <a:rPr lang="fr-FR" sz="1150" noProof="0" dirty="0" err="1">
                <a:solidFill>
                  <a:srgbClr val="0B1F3F"/>
                </a:solidFill>
                <a:latin typeface="Calibri" pitchFamily="34" charset="0"/>
                <a:ea typeface="Calibri" pitchFamily="34" charset="-122"/>
                <a:cs typeface="Calibri" pitchFamily="34" charset="-120"/>
              </a:rPr>
              <a:t>Biomedical</a:t>
            </a:r>
            <a:r>
              <a:rPr lang="fr-FR" sz="1150" noProof="0" dirty="0">
                <a:solidFill>
                  <a:srgbClr val="0B1F3F"/>
                </a:solidFill>
                <a:latin typeface="Calibri" pitchFamily="34" charset="0"/>
                <a:ea typeface="Calibri" pitchFamily="34" charset="-122"/>
                <a:cs typeface="Calibri" pitchFamily="34" charset="-120"/>
              </a:rPr>
              <a:t> Centre.</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7. Frontiers in Public Health. Global </a:t>
            </a:r>
            <a:r>
              <a:rPr lang="fr-FR" sz="1150" noProof="0" dirty="0" err="1">
                <a:solidFill>
                  <a:srgbClr val="0B1F3F"/>
                </a:solidFill>
                <a:latin typeface="Calibri" pitchFamily="34" charset="0"/>
                <a:ea typeface="Calibri" pitchFamily="34" charset="-122"/>
                <a:cs typeface="Calibri" pitchFamily="34" charset="-120"/>
              </a:rPr>
              <a:t>burden</a:t>
            </a:r>
            <a:r>
              <a:rPr lang="fr-FR" sz="1150" noProof="0" dirty="0">
                <a:solidFill>
                  <a:srgbClr val="0B1F3F"/>
                </a:solidFill>
                <a:latin typeface="Calibri" pitchFamily="34" charset="0"/>
                <a:ea typeface="Calibri" pitchFamily="34" charset="-122"/>
                <a:cs typeface="Calibri" pitchFamily="34" charset="-120"/>
              </a:rPr>
              <a:t> and projections of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incidence and </a:t>
            </a:r>
            <a:r>
              <a:rPr lang="fr-FR" sz="1150" noProof="0" dirty="0" err="1">
                <a:solidFill>
                  <a:srgbClr val="0B1F3F"/>
                </a:solidFill>
                <a:latin typeface="Calibri" pitchFamily="34" charset="0"/>
                <a:ea typeface="Calibri" pitchFamily="34" charset="-122"/>
                <a:cs typeface="Calibri" pitchFamily="34" charset="-120"/>
              </a:rPr>
              <a:t>mortality</a:t>
            </a:r>
            <a:r>
              <a:rPr lang="fr-FR" sz="1150" noProof="0" dirty="0">
                <a:solidFill>
                  <a:srgbClr val="0B1F3F"/>
                </a:solidFill>
                <a:latin typeface="Calibri" pitchFamily="34" charset="0"/>
                <a:ea typeface="Calibri" pitchFamily="34" charset="-122"/>
                <a:cs typeface="Calibri" pitchFamily="34" charset="-120"/>
              </a:rPr>
              <a:t> to 2050: a </a:t>
            </a:r>
            <a:r>
              <a:rPr lang="fr-FR" sz="1150" noProof="0" dirty="0" err="1">
                <a:solidFill>
                  <a:srgbClr val="0B1F3F"/>
                </a:solidFill>
                <a:latin typeface="Calibri" pitchFamily="34" charset="0"/>
                <a:ea typeface="Calibri" pitchFamily="34" charset="-122"/>
                <a:cs typeface="Calibri" pitchFamily="34" charset="-120"/>
              </a:rPr>
              <a:t>comprehensive</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analysis</a:t>
            </a:r>
            <a:r>
              <a:rPr lang="fr-FR" sz="1150" noProof="0" dirty="0">
                <a:solidFill>
                  <a:srgbClr val="0B1F3F"/>
                </a:solidFill>
                <a:latin typeface="Calibri" pitchFamily="34" charset="0"/>
                <a:ea typeface="Calibri" pitchFamily="34" charset="-122"/>
                <a:cs typeface="Calibri" pitchFamily="34" charset="-120"/>
              </a:rPr>
              <a:t> of GLOBOCAN data. 2025. doi:10.3389/fpubh.2025.1622954</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8. World Health </a:t>
            </a:r>
            <a:r>
              <a:rPr lang="fr-FR" sz="1150" noProof="0" dirty="0" err="1">
                <a:solidFill>
                  <a:srgbClr val="0B1F3F"/>
                </a:solidFill>
                <a:latin typeface="Calibri" pitchFamily="34" charset="0"/>
                <a:ea typeface="Calibri" pitchFamily="34" charset="-122"/>
                <a:cs typeface="Calibri" pitchFamily="34" charset="-120"/>
              </a:rPr>
              <a:t>Organization</a:t>
            </a:r>
            <a:r>
              <a:rPr lang="fr-FR" sz="1150" noProof="0" dirty="0">
                <a:solidFill>
                  <a:srgbClr val="0B1F3F"/>
                </a:solidFill>
                <a:latin typeface="Calibri" pitchFamily="34" charset="0"/>
                <a:ea typeface="Calibri" pitchFamily="34" charset="-122"/>
                <a:cs typeface="Calibri" pitchFamily="34" charset="-120"/>
              </a:rPr>
              <a:t>. Guide to Cancer Early </a:t>
            </a:r>
            <a:r>
              <a:rPr lang="fr-FR" sz="1150" noProof="0" dirty="0" err="1">
                <a:solidFill>
                  <a:srgbClr val="0B1F3F"/>
                </a:solidFill>
                <a:latin typeface="Calibri" pitchFamily="34" charset="0"/>
                <a:ea typeface="Calibri" pitchFamily="34" charset="-122"/>
                <a:cs typeface="Calibri" pitchFamily="34" charset="-120"/>
              </a:rPr>
              <a:t>Diagnosis</a:t>
            </a:r>
            <a:r>
              <a:rPr lang="fr-FR" sz="1150" noProof="0" dirty="0">
                <a:solidFill>
                  <a:srgbClr val="0B1F3F"/>
                </a:solidFill>
                <a:latin typeface="Calibri" pitchFamily="34" charset="0"/>
                <a:ea typeface="Calibri" pitchFamily="34" charset="-122"/>
                <a:cs typeface="Calibri" pitchFamily="34" charset="-120"/>
              </a:rPr>
              <a:t>. Geneva: WHO, 2017.</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9. World Health </a:t>
            </a:r>
            <a:r>
              <a:rPr lang="fr-FR" sz="1150" noProof="0" dirty="0" err="1">
                <a:solidFill>
                  <a:srgbClr val="0B1F3F"/>
                </a:solidFill>
                <a:latin typeface="Calibri" pitchFamily="34" charset="0"/>
                <a:ea typeface="Calibri" pitchFamily="34" charset="-122"/>
                <a:cs typeface="Calibri" pitchFamily="34" charset="-120"/>
              </a:rPr>
              <a:t>Organization</a:t>
            </a:r>
            <a:r>
              <a:rPr lang="fr-FR" sz="1150" noProof="0" dirty="0">
                <a:solidFill>
                  <a:srgbClr val="0B1F3F"/>
                </a:solidFill>
                <a:latin typeface="Calibri" pitchFamily="34" charset="0"/>
                <a:ea typeface="Calibri" pitchFamily="34" charset="-122"/>
                <a:cs typeface="Calibri" pitchFamily="34" charset="-120"/>
              </a:rPr>
              <a:t>. Global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Initiative </a:t>
            </a:r>
            <a:r>
              <a:rPr lang="fr-FR" sz="1150" noProof="0" dirty="0" err="1">
                <a:solidFill>
                  <a:srgbClr val="0B1F3F"/>
                </a:solidFill>
                <a:latin typeface="Calibri" pitchFamily="34" charset="0"/>
                <a:ea typeface="Calibri" pitchFamily="34" charset="-122"/>
                <a:cs typeface="Calibri" pitchFamily="34" charset="-120"/>
              </a:rPr>
              <a:t>Implementation</a:t>
            </a:r>
            <a:r>
              <a:rPr lang="fr-FR" sz="1150" noProof="0" dirty="0">
                <a:solidFill>
                  <a:srgbClr val="0B1F3F"/>
                </a:solidFill>
                <a:latin typeface="Calibri" pitchFamily="34" charset="0"/>
                <a:ea typeface="Calibri" pitchFamily="34" charset="-122"/>
                <a:cs typeface="Calibri" pitchFamily="34" charset="-120"/>
              </a:rPr>
              <a:t> Framework: </a:t>
            </a:r>
            <a:r>
              <a:rPr lang="fr-FR" sz="1150" noProof="0" dirty="0" err="1">
                <a:solidFill>
                  <a:srgbClr val="0B1F3F"/>
                </a:solidFill>
                <a:latin typeface="Calibri" pitchFamily="34" charset="0"/>
                <a:ea typeface="Calibri" pitchFamily="34" charset="-122"/>
                <a:cs typeface="Calibri" pitchFamily="34" charset="-120"/>
              </a:rPr>
              <a:t>assessing</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strengthening</a:t>
            </a:r>
            <a:r>
              <a:rPr lang="fr-FR" sz="1150" noProof="0" dirty="0">
                <a:solidFill>
                  <a:srgbClr val="0B1F3F"/>
                </a:solidFill>
                <a:latin typeface="Calibri" pitchFamily="34" charset="0"/>
                <a:ea typeface="Calibri" pitchFamily="34" charset="-122"/>
                <a:cs typeface="Calibri" pitchFamily="34" charset="-120"/>
              </a:rPr>
              <a:t> and </a:t>
            </a:r>
            <a:r>
              <a:rPr lang="fr-FR" sz="1150" noProof="0" dirty="0" err="1">
                <a:solidFill>
                  <a:srgbClr val="0B1F3F"/>
                </a:solidFill>
                <a:latin typeface="Calibri" pitchFamily="34" charset="0"/>
                <a:ea typeface="Calibri" pitchFamily="34" charset="-122"/>
                <a:cs typeface="Calibri" pitchFamily="34" charset="-120"/>
              </a:rPr>
              <a:t>scaling</a:t>
            </a:r>
            <a:r>
              <a:rPr lang="fr-FR" sz="1150" noProof="0" dirty="0">
                <a:solidFill>
                  <a:srgbClr val="0B1F3F"/>
                </a:solidFill>
                <a:latin typeface="Calibri" pitchFamily="34" charset="0"/>
                <a:ea typeface="Calibri" pitchFamily="34" charset="-122"/>
                <a:cs typeface="Calibri" pitchFamily="34" charset="-120"/>
              </a:rPr>
              <a:t> up services for the </a:t>
            </a:r>
            <a:r>
              <a:rPr lang="fr-FR" sz="1150" noProof="0" dirty="0" err="1">
                <a:solidFill>
                  <a:srgbClr val="0B1F3F"/>
                </a:solidFill>
                <a:latin typeface="Calibri" pitchFamily="34" charset="0"/>
                <a:ea typeface="Calibri" pitchFamily="34" charset="-122"/>
                <a:cs typeface="Calibri" pitchFamily="34" charset="-120"/>
              </a:rPr>
              <a:t>early</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detection</a:t>
            </a:r>
            <a:r>
              <a:rPr lang="fr-FR" sz="1150" noProof="0" dirty="0">
                <a:solidFill>
                  <a:srgbClr val="0B1F3F"/>
                </a:solidFill>
                <a:latin typeface="Calibri" pitchFamily="34" charset="0"/>
                <a:ea typeface="Calibri" pitchFamily="34" charset="-122"/>
                <a:cs typeface="Calibri" pitchFamily="34" charset="-120"/>
              </a:rPr>
              <a:t> and management of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Geneva: WHO, 2023.</a:t>
            </a:r>
            <a:endParaRPr lang="fr-FR" sz="1150" noProof="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r>
              <a:rPr lang="fr-FR" sz="1100" b="1" kern="0" spc="100" dirty="0">
                <a:solidFill>
                  <a:srgbClr val="5B7699"/>
                </a:solidFill>
                <a:latin typeface="Calibri" pitchFamily="34" charset="0"/>
                <a:ea typeface="Calibri" pitchFamily="34" charset="-122"/>
                <a:cs typeface="Calibri" pitchFamily="34" charset="-120"/>
              </a:rPr>
              <a:t>ATTRIBUTION ET SOURCES</a:t>
            </a:r>
            <a:endParaRPr lang="fr-FR" sz="1100" noProof="0" dirty="0">
              <a:solidFill>
                <a:srgbClr val="FF0000"/>
              </a:solidFill>
            </a:endParaRPr>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fr-FR" sz="1000" noProof="0" dirty="0">
                <a:solidFill>
                  <a:srgbClr val="5B7699"/>
                </a:solidFill>
                <a:latin typeface="Calibri" pitchFamily="34" charset="0"/>
                <a:ea typeface="Calibri" pitchFamily="34" charset="-122"/>
                <a:cs typeface="Calibri" pitchFamily="34" charset="-120"/>
              </a:rPr>
              <a:t>Cancer du sein | Première ligne de soins de santé | Centre biomédical du Rwanda</a:t>
            </a:r>
            <a:endParaRPr lang="fr-FR"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fr-FR" sz="3000" b="1" noProof="0" dirty="0">
                <a:solidFill>
                  <a:srgbClr val="12315B"/>
                </a:solidFill>
                <a:latin typeface="Calibri" pitchFamily="34" charset="0"/>
                <a:ea typeface="Calibri" pitchFamily="34" charset="-122"/>
                <a:cs typeface="Calibri" pitchFamily="34" charset="-120"/>
              </a:rPr>
              <a:t>Références (suite)</a:t>
            </a:r>
            <a:endParaRPr lang="fr-FR" sz="3000" noProof="0" dirty="0"/>
          </a:p>
        </p:txBody>
      </p:sp>
      <p:sp>
        <p:nvSpPr>
          <p:cNvPr id="5" name="Text 3"/>
          <p:cNvSpPr txBox="1"/>
          <p:nvPr/>
        </p:nvSpPr>
        <p:spPr>
          <a:xfrm>
            <a:off x="548640" y="1325880"/>
            <a:ext cx="5410048" cy="4754880"/>
          </a:xfrm>
          <a:prstGeom prst="rect">
            <a:avLst/>
          </a:prstGeom>
          <a:noFill/>
          <a:ln/>
        </p:spPr>
        <p:txBody>
          <a:bodyPr wrap="square" lIns="0" tIns="0" rIns="0" bIns="0" rtlCol="0" anchor="t"/>
          <a:lstStyle/>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10. World Health </a:t>
            </a:r>
            <a:r>
              <a:rPr lang="fr-FR" sz="1150" noProof="0" dirty="0" err="1">
                <a:solidFill>
                  <a:srgbClr val="0B1F3F"/>
                </a:solidFill>
                <a:latin typeface="Calibri" pitchFamily="34" charset="0"/>
                <a:ea typeface="Calibri" pitchFamily="34" charset="-122"/>
                <a:cs typeface="Calibri" pitchFamily="34" charset="-120"/>
              </a:rPr>
              <a:t>Organization</a:t>
            </a:r>
            <a:r>
              <a:rPr lang="fr-FR" sz="1150" noProof="0" dirty="0">
                <a:solidFill>
                  <a:srgbClr val="0B1F3F"/>
                </a:solidFill>
                <a:latin typeface="Calibri" pitchFamily="34" charset="0"/>
                <a:ea typeface="Calibri" pitchFamily="34" charset="-122"/>
                <a:cs typeface="Calibri" pitchFamily="34" charset="-120"/>
              </a:rPr>
              <a:t>. WHO Position Paper on </a:t>
            </a:r>
            <a:r>
              <a:rPr lang="fr-FR" sz="1150" noProof="0" dirty="0" err="1">
                <a:solidFill>
                  <a:srgbClr val="0B1F3F"/>
                </a:solidFill>
                <a:latin typeface="Calibri" pitchFamily="34" charset="0"/>
                <a:ea typeface="Calibri" pitchFamily="34" charset="-122"/>
                <a:cs typeface="Calibri" pitchFamily="34" charset="-120"/>
              </a:rPr>
              <a:t>Mammography</a:t>
            </a:r>
            <a:r>
              <a:rPr lang="fr-FR" sz="1150" noProof="0" dirty="0">
                <a:solidFill>
                  <a:srgbClr val="0B1F3F"/>
                </a:solidFill>
                <a:latin typeface="Calibri" pitchFamily="34" charset="0"/>
                <a:ea typeface="Calibri" pitchFamily="34" charset="-122"/>
                <a:cs typeface="Calibri" pitchFamily="34" charset="-120"/>
              </a:rPr>
              <a:t> Screening. Geneva: WHO, 2014.</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11. International Agency for </a:t>
            </a:r>
            <a:r>
              <a:rPr lang="fr-FR" sz="1150" noProof="0" dirty="0" err="1">
                <a:solidFill>
                  <a:srgbClr val="0B1F3F"/>
                </a:solidFill>
                <a:latin typeface="Calibri" pitchFamily="34" charset="0"/>
                <a:ea typeface="Calibri" pitchFamily="34" charset="-122"/>
                <a:cs typeface="Calibri" pitchFamily="34" charset="-120"/>
              </a:rPr>
              <a:t>Research</a:t>
            </a:r>
            <a:r>
              <a:rPr lang="fr-FR" sz="1150" noProof="0" dirty="0">
                <a:solidFill>
                  <a:srgbClr val="0B1F3F"/>
                </a:solidFill>
                <a:latin typeface="Calibri" pitchFamily="34" charset="0"/>
                <a:ea typeface="Calibri" pitchFamily="34" charset="-122"/>
                <a:cs typeface="Calibri" pitchFamily="34" charset="-120"/>
              </a:rPr>
              <a:t> on Cancer.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Screening. IARC </a:t>
            </a:r>
            <a:r>
              <a:rPr lang="fr-FR" sz="1150" noProof="0" dirty="0" err="1">
                <a:solidFill>
                  <a:srgbClr val="0B1F3F"/>
                </a:solidFill>
                <a:latin typeface="Calibri" pitchFamily="34" charset="0"/>
                <a:ea typeface="Calibri" pitchFamily="34" charset="-122"/>
                <a:cs typeface="Calibri" pitchFamily="34" charset="-120"/>
              </a:rPr>
              <a:t>Handbooks</a:t>
            </a:r>
            <a:r>
              <a:rPr lang="fr-FR" sz="1150" noProof="0" dirty="0">
                <a:solidFill>
                  <a:srgbClr val="0B1F3F"/>
                </a:solidFill>
                <a:latin typeface="Calibri" pitchFamily="34" charset="0"/>
                <a:ea typeface="Calibri" pitchFamily="34" charset="-122"/>
                <a:cs typeface="Calibri" pitchFamily="34" charset="-120"/>
              </a:rPr>
              <a:t> of Cancer Prevention, Volume 15. Lyon: IARC, 2016.</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12. Loibl S, André F, Bachelot </a:t>
            </a:r>
            <a:r>
              <a:rPr lang="fr-FR" sz="1150" noProof="0" dirty="0" err="1">
                <a:solidFill>
                  <a:srgbClr val="0B1F3F"/>
                </a:solidFill>
                <a:latin typeface="Calibri" pitchFamily="34" charset="0"/>
                <a:ea typeface="Calibri" pitchFamily="34" charset="-122"/>
                <a:cs typeface="Calibri" pitchFamily="34" charset="-120"/>
              </a:rPr>
              <a:t>T</a:t>
            </a:r>
            <a:r>
              <a:rPr lang="fr-FR" sz="1150" noProof="0" dirty="0">
                <a:solidFill>
                  <a:srgbClr val="0B1F3F"/>
                </a:solidFill>
                <a:latin typeface="Calibri" pitchFamily="34" charset="0"/>
                <a:ea typeface="Calibri" pitchFamily="34" charset="-122"/>
                <a:cs typeface="Calibri" pitchFamily="34" charset="-120"/>
              </a:rPr>
              <a:t>, et al. Early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ESMO </a:t>
            </a:r>
            <a:r>
              <a:rPr lang="fr-FR" sz="1150" noProof="0" dirty="0" err="1">
                <a:solidFill>
                  <a:srgbClr val="0B1F3F"/>
                </a:solidFill>
                <a:latin typeface="Calibri" pitchFamily="34" charset="0"/>
                <a:ea typeface="Calibri" pitchFamily="34" charset="-122"/>
                <a:cs typeface="Calibri" pitchFamily="34" charset="-120"/>
              </a:rPr>
              <a:t>Clinical</a:t>
            </a:r>
            <a:r>
              <a:rPr lang="fr-FR" sz="1150" noProof="0" dirty="0">
                <a:solidFill>
                  <a:srgbClr val="0B1F3F"/>
                </a:solidFill>
                <a:latin typeface="Calibri" pitchFamily="34" charset="0"/>
                <a:ea typeface="Calibri" pitchFamily="34" charset="-122"/>
                <a:cs typeface="Calibri" pitchFamily="34" charset="-120"/>
              </a:rPr>
              <a:t> Practice Guideline for </a:t>
            </a:r>
            <a:r>
              <a:rPr lang="fr-FR" sz="1150" noProof="0" dirty="0" err="1">
                <a:solidFill>
                  <a:srgbClr val="0B1F3F"/>
                </a:solidFill>
                <a:latin typeface="Calibri" pitchFamily="34" charset="0"/>
                <a:ea typeface="Calibri" pitchFamily="34" charset="-122"/>
                <a:cs typeface="Calibri" pitchFamily="34" charset="-120"/>
              </a:rPr>
              <a:t>diagnosis</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treatment</a:t>
            </a:r>
            <a:r>
              <a:rPr lang="fr-FR" sz="1150" noProof="0" dirty="0">
                <a:solidFill>
                  <a:srgbClr val="0B1F3F"/>
                </a:solidFill>
                <a:latin typeface="Calibri" pitchFamily="34" charset="0"/>
                <a:ea typeface="Calibri" pitchFamily="34" charset="-122"/>
                <a:cs typeface="Calibri" pitchFamily="34" charset="-120"/>
              </a:rPr>
              <a:t> and follow-up. Ann </a:t>
            </a:r>
            <a:r>
              <a:rPr lang="fr-FR" sz="1150" noProof="0" dirty="0" err="1">
                <a:solidFill>
                  <a:srgbClr val="0B1F3F"/>
                </a:solidFill>
                <a:latin typeface="Calibri" pitchFamily="34" charset="0"/>
                <a:ea typeface="Calibri" pitchFamily="34" charset="-122"/>
                <a:cs typeface="Calibri" pitchFamily="34" charset="-120"/>
              </a:rPr>
              <a:t>Oncol</a:t>
            </a:r>
            <a:r>
              <a:rPr lang="fr-FR" sz="1150" noProof="0" dirty="0">
                <a:solidFill>
                  <a:srgbClr val="0B1F3F"/>
                </a:solidFill>
                <a:latin typeface="Calibri" pitchFamily="34" charset="0"/>
                <a:ea typeface="Calibri" pitchFamily="34" charset="-122"/>
                <a:cs typeface="Calibri" pitchFamily="34" charset="-120"/>
              </a:rPr>
              <a:t>. https://</a:t>
            </a:r>
            <a:r>
              <a:rPr lang="fr-FR" sz="1150" noProof="0" dirty="0" err="1">
                <a:solidFill>
                  <a:srgbClr val="0B1F3F"/>
                </a:solidFill>
                <a:latin typeface="Calibri" pitchFamily="34" charset="0"/>
                <a:ea typeface="Calibri" pitchFamily="34" charset="-122"/>
                <a:cs typeface="Calibri" pitchFamily="34" charset="-120"/>
              </a:rPr>
              <a:t>www.esmo.org</a:t>
            </a:r>
            <a:r>
              <a:rPr lang="fr-FR" sz="1150" noProof="0" dirty="0">
                <a:solidFill>
                  <a:srgbClr val="0B1F3F"/>
                </a:solidFill>
                <a:latin typeface="Calibri" pitchFamily="34" charset="0"/>
                <a:ea typeface="Calibri" pitchFamily="34" charset="-122"/>
                <a:cs typeface="Calibri" pitchFamily="34" charset="-120"/>
              </a:rPr>
              <a:t>/guidelines/</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-cancer</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13. </a:t>
            </a:r>
            <a:r>
              <a:rPr lang="fr-FR" sz="1150" noProof="0" dirty="0" err="1">
                <a:solidFill>
                  <a:srgbClr val="0B1F3F"/>
                </a:solidFill>
                <a:latin typeface="Calibri" pitchFamily="34" charset="0"/>
                <a:ea typeface="Calibri" pitchFamily="34" charset="-122"/>
                <a:cs typeface="Calibri" pitchFamily="34" charset="-120"/>
              </a:rPr>
              <a:t>European</a:t>
            </a:r>
            <a:r>
              <a:rPr lang="fr-FR" sz="1150" noProof="0" dirty="0">
                <a:solidFill>
                  <a:srgbClr val="0B1F3F"/>
                </a:solidFill>
                <a:latin typeface="Calibri" pitchFamily="34" charset="0"/>
                <a:ea typeface="Calibri" pitchFamily="34" charset="-122"/>
                <a:cs typeface="Calibri" pitchFamily="34" charset="-120"/>
              </a:rPr>
              <a:t> Society for </a:t>
            </a:r>
            <a:r>
              <a:rPr lang="fr-FR" sz="1150" noProof="0" dirty="0" err="1">
                <a:solidFill>
                  <a:srgbClr val="0B1F3F"/>
                </a:solidFill>
                <a:latin typeface="Calibri" pitchFamily="34" charset="0"/>
                <a:ea typeface="Calibri" pitchFamily="34" charset="-122"/>
                <a:cs typeface="Calibri" pitchFamily="34" charset="-120"/>
              </a:rPr>
              <a:t>Medical</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Oncology</a:t>
            </a:r>
            <a:r>
              <a:rPr lang="fr-FR" sz="1150" noProof="0" dirty="0">
                <a:solidFill>
                  <a:srgbClr val="0B1F3F"/>
                </a:solidFill>
                <a:latin typeface="Calibri" pitchFamily="34" charset="0"/>
                <a:ea typeface="Calibri" pitchFamily="34" charset="-122"/>
                <a:cs typeface="Calibri" pitchFamily="34" charset="-120"/>
              </a:rPr>
              <a:t>. ESMO </a:t>
            </a:r>
            <a:r>
              <a:rPr lang="fr-FR" sz="1150" noProof="0" dirty="0" err="1">
                <a:solidFill>
                  <a:srgbClr val="0B1F3F"/>
                </a:solidFill>
                <a:latin typeface="Calibri" pitchFamily="34" charset="0"/>
                <a:ea typeface="Calibri" pitchFamily="34" charset="-122"/>
                <a:cs typeface="Calibri" pitchFamily="34" charset="-120"/>
              </a:rPr>
              <a:t>Clinical</a:t>
            </a:r>
            <a:r>
              <a:rPr lang="fr-FR" sz="1150" noProof="0" dirty="0">
                <a:solidFill>
                  <a:srgbClr val="0B1F3F"/>
                </a:solidFill>
                <a:latin typeface="Calibri" pitchFamily="34" charset="0"/>
                <a:ea typeface="Calibri" pitchFamily="34" charset="-122"/>
                <a:cs typeface="Calibri" pitchFamily="34" charset="-120"/>
              </a:rPr>
              <a:t> Practice Guideline: </a:t>
            </a:r>
            <a:r>
              <a:rPr lang="fr-FR" sz="1150" noProof="0" dirty="0" err="1">
                <a:solidFill>
                  <a:srgbClr val="0B1F3F"/>
                </a:solidFill>
                <a:latin typeface="Calibri" pitchFamily="34" charset="0"/>
                <a:ea typeface="Calibri" pitchFamily="34" charset="-122"/>
                <a:cs typeface="Calibri" pitchFamily="34" charset="-120"/>
              </a:rPr>
              <a:t>metastatic</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https://</a:t>
            </a:r>
            <a:r>
              <a:rPr lang="fr-FR" sz="1150" noProof="0" dirty="0" err="1">
                <a:solidFill>
                  <a:srgbClr val="0B1F3F"/>
                </a:solidFill>
                <a:latin typeface="Calibri" pitchFamily="34" charset="0"/>
                <a:ea typeface="Calibri" pitchFamily="34" charset="-122"/>
                <a:cs typeface="Calibri" pitchFamily="34" charset="-120"/>
              </a:rPr>
              <a:t>www.esmo.org</a:t>
            </a:r>
            <a:r>
              <a:rPr lang="fr-FR" sz="1150" noProof="0" dirty="0">
                <a:solidFill>
                  <a:srgbClr val="0B1F3F"/>
                </a:solidFill>
                <a:latin typeface="Calibri" pitchFamily="34" charset="0"/>
                <a:ea typeface="Calibri" pitchFamily="34" charset="-122"/>
                <a:cs typeface="Calibri" pitchFamily="34" charset="-120"/>
              </a:rPr>
              <a:t>/guidelines/</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-cancer</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14. National </a:t>
            </a:r>
            <a:r>
              <a:rPr lang="fr-FR" sz="1150" noProof="0" dirty="0" err="1">
                <a:solidFill>
                  <a:srgbClr val="0B1F3F"/>
                </a:solidFill>
                <a:latin typeface="Calibri" pitchFamily="34" charset="0"/>
                <a:ea typeface="Calibri" pitchFamily="34" charset="-122"/>
                <a:cs typeface="Calibri" pitchFamily="34" charset="-120"/>
              </a:rPr>
              <a:t>Comprehensive</a:t>
            </a:r>
            <a:r>
              <a:rPr lang="fr-FR" sz="1150" noProof="0" dirty="0">
                <a:solidFill>
                  <a:srgbClr val="0B1F3F"/>
                </a:solidFill>
                <a:latin typeface="Calibri" pitchFamily="34" charset="0"/>
                <a:ea typeface="Calibri" pitchFamily="34" charset="-122"/>
                <a:cs typeface="Calibri" pitchFamily="34" charset="-120"/>
              </a:rPr>
              <a:t> Cancer Network. NCCN </a:t>
            </a:r>
            <a:r>
              <a:rPr lang="fr-FR" sz="1150" noProof="0" dirty="0" err="1">
                <a:solidFill>
                  <a:srgbClr val="0B1F3F"/>
                </a:solidFill>
                <a:latin typeface="Calibri" pitchFamily="34" charset="0"/>
                <a:ea typeface="Calibri" pitchFamily="34" charset="-122"/>
                <a:cs typeface="Calibri" pitchFamily="34" charset="-120"/>
              </a:rPr>
              <a:t>Clinical</a:t>
            </a:r>
            <a:r>
              <a:rPr lang="fr-FR" sz="1150" noProof="0" dirty="0">
                <a:solidFill>
                  <a:srgbClr val="0B1F3F"/>
                </a:solidFill>
                <a:latin typeface="Calibri" pitchFamily="34" charset="0"/>
                <a:ea typeface="Calibri" pitchFamily="34" charset="-122"/>
                <a:cs typeface="Calibri" pitchFamily="34" charset="-120"/>
              </a:rPr>
              <a:t> Practice Guidelines in </a:t>
            </a:r>
            <a:r>
              <a:rPr lang="fr-FR" sz="1150" noProof="0" dirty="0" err="1">
                <a:solidFill>
                  <a:srgbClr val="0B1F3F"/>
                </a:solidFill>
                <a:latin typeface="Calibri" pitchFamily="34" charset="0"/>
                <a:ea typeface="Calibri" pitchFamily="34" charset="-122"/>
                <a:cs typeface="Calibri" pitchFamily="34" charset="-120"/>
              </a:rPr>
              <a:t>Oncology</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Screening and </a:t>
            </a:r>
            <a:r>
              <a:rPr lang="fr-FR" sz="1150" noProof="0" dirty="0" err="1">
                <a:solidFill>
                  <a:srgbClr val="0B1F3F"/>
                </a:solidFill>
                <a:latin typeface="Calibri" pitchFamily="34" charset="0"/>
                <a:ea typeface="Calibri" pitchFamily="34" charset="-122"/>
                <a:cs typeface="Calibri" pitchFamily="34" charset="-120"/>
              </a:rPr>
              <a:t>Diagnosis</a:t>
            </a:r>
            <a:r>
              <a:rPr lang="fr-FR" sz="1150" noProof="0" dirty="0">
                <a:solidFill>
                  <a:srgbClr val="0B1F3F"/>
                </a:solidFill>
                <a:latin typeface="Calibri" pitchFamily="34" charset="0"/>
                <a:ea typeface="Calibri" pitchFamily="34" charset="-122"/>
                <a:cs typeface="Calibri" pitchFamily="34" charset="-120"/>
              </a:rPr>
              <a:t>; and </a:t>
            </a:r>
            <a:r>
              <a:rPr lang="fr-FR" sz="1150" noProof="0" dirty="0" err="1">
                <a:solidFill>
                  <a:srgbClr val="0B1F3F"/>
                </a:solidFill>
                <a:latin typeface="Calibri" pitchFamily="34" charset="0"/>
                <a:ea typeface="Calibri" pitchFamily="34" charset="-122"/>
                <a:cs typeface="Calibri" pitchFamily="34" charset="-120"/>
              </a:rPr>
              <a:t>Genetic</a:t>
            </a:r>
            <a:r>
              <a:rPr lang="fr-FR" sz="1150" noProof="0" dirty="0">
                <a:solidFill>
                  <a:srgbClr val="0B1F3F"/>
                </a:solidFill>
                <a:latin typeface="Calibri" pitchFamily="34" charset="0"/>
                <a:ea typeface="Calibri" pitchFamily="34" charset="-122"/>
                <a:cs typeface="Calibri" pitchFamily="34" charset="-120"/>
              </a:rPr>
              <a:t> / Familial High-Risk </a:t>
            </a:r>
            <a:r>
              <a:rPr lang="fr-FR" sz="1150" noProof="0" dirty="0" err="1">
                <a:solidFill>
                  <a:srgbClr val="0B1F3F"/>
                </a:solidFill>
                <a:latin typeface="Calibri" pitchFamily="34" charset="0"/>
                <a:ea typeface="Calibri" pitchFamily="34" charset="-122"/>
                <a:cs typeface="Calibri" pitchFamily="34" charset="-120"/>
              </a:rPr>
              <a:t>Assessment</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Ovarian</a:t>
            </a:r>
            <a:r>
              <a:rPr lang="fr-FR" sz="1150" noProof="0" dirty="0">
                <a:solidFill>
                  <a:srgbClr val="0B1F3F"/>
                </a:solidFill>
                <a:latin typeface="Calibri" pitchFamily="34" charset="0"/>
                <a:ea typeface="Calibri" pitchFamily="34" charset="-122"/>
                <a:cs typeface="Calibri" pitchFamily="34" charset="-120"/>
              </a:rPr>
              <a:t> and </a:t>
            </a:r>
            <a:r>
              <a:rPr lang="fr-FR" sz="1150" noProof="0" dirty="0" err="1">
                <a:solidFill>
                  <a:srgbClr val="0B1F3F"/>
                </a:solidFill>
                <a:latin typeface="Calibri" pitchFamily="34" charset="0"/>
                <a:ea typeface="Calibri" pitchFamily="34" charset="-122"/>
                <a:cs typeface="Calibri" pitchFamily="34" charset="-120"/>
              </a:rPr>
              <a:t>Pancreatic</a:t>
            </a:r>
            <a:r>
              <a:rPr lang="fr-FR" sz="1150" noProof="0" dirty="0">
                <a:solidFill>
                  <a:srgbClr val="0B1F3F"/>
                </a:solidFill>
                <a:latin typeface="Calibri" pitchFamily="34" charset="0"/>
                <a:ea typeface="Calibri" pitchFamily="34" charset="-122"/>
                <a:cs typeface="Calibri" pitchFamily="34" charset="-120"/>
              </a:rPr>
              <a:t>. https://</a:t>
            </a:r>
            <a:r>
              <a:rPr lang="fr-FR" sz="1150" noProof="0" dirty="0" err="1">
                <a:solidFill>
                  <a:srgbClr val="0B1F3F"/>
                </a:solidFill>
                <a:latin typeface="Calibri" pitchFamily="34" charset="0"/>
                <a:ea typeface="Calibri" pitchFamily="34" charset="-122"/>
                <a:cs typeface="Calibri" pitchFamily="34" charset="-120"/>
              </a:rPr>
              <a:t>www.nccn.org</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15. American Cancer Society.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a:t>
            </a:r>
            <a:r>
              <a:rPr lang="fr-FR" sz="1150" noProof="0" dirty="0" err="1">
                <a:solidFill>
                  <a:srgbClr val="0B1F3F"/>
                </a:solidFill>
                <a:latin typeface="Calibri" pitchFamily="34" charset="0"/>
                <a:ea typeface="Calibri" pitchFamily="34" charset="-122"/>
                <a:cs typeface="Calibri" pitchFamily="34" charset="-120"/>
              </a:rPr>
              <a:t>risk</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factors</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signs</a:t>
            </a:r>
            <a:r>
              <a:rPr lang="fr-FR" sz="1150" noProof="0" dirty="0">
                <a:solidFill>
                  <a:srgbClr val="0B1F3F"/>
                </a:solidFill>
                <a:latin typeface="Calibri" pitchFamily="34" charset="0"/>
                <a:ea typeface="Calibri" pitchFamily="34" charset="-122"/>
                <a:cs typeface="Calibri" pitchFamily="34" charset="-120"/>
              </a:rPr>
              <a:t> and </a:t>
            </a:r>
            <a:r>
              <a:rPr lang="fr-FR" sz="1150" noProof="0" dirty="0" err="1">
                <a:solidFill>
                  <a:srgbClr val="0B1F3F"/>
                </a:solidFill>
                <a:latin typeface="Calibri" pitchFamily="34" charset="0"/>
                <a:ea typeface="Calibri" pitchFamily="34" charset="-122"/>
                <a:cs typeface="Calibri" pitchFamily="34" charset="-120"/>
              </a:rPr>
              <a:t>symptoms</a:t>
            </a:r>
            <a:r>
              <a:rPr lang="fr-FR" sz="1150" noProof="0" dirty="0">
                <a:solidFill>
                  <a:srgbClr val="0B1F3F"/>
                </a:solidFill>
                <a:latin typeface="Calibri" pitchFamily="34" charset="0"/>
                <a:ea typeface="Calibri" pitchFamily="34" charset="-122"/>
                <a:cs typeface="Calibri" pitchFamily="34" charset="-120"/>
              </a:rPr>
              <a:t>, screening, </a:t>
            </a:r>
            <a:r>
              <a:rPr lang="fr-FR" sz="1150" noProof="0" dirty="0" err="1">
                <a:solidFill>
                  <a:srgbClr val="0B1F3F"/>
                </a:solidFill>
                <a:latin typeface="Calibri" pitchFamily="34" charset="0"/>
                <a:ea typeface="Calibri" pitchFamily="34" charset="-122"/>
                <a:cs typeface="Calibri" pitchFamily="34" charset="-120"/>
              </a:rPr>
              <a:t>diagnosis</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staging</a:t>
            </a:r>
            <a:r>
              <a:rPr lang="fr-FR" sz="1150" noProof="0" dirty="0">
                <a:solidFill>
                  <a:srgbClr val="0B1F3F"/>
                </a:solidFill>
                <a:latin typeface="Calibri" pitchFamily="34" charset="0"/>
                <a:ea typeface="Calibri" pitchFamily="34" charset="-122"/>
                <a:cs typeface="Calibri" pitchFamily="34" charset="-120"/>
              </a:rPr>
              <a:t> and </a:t>
            </a:r>
            <a:r>
              <a:rPr lang="fr-FR" sz="1150" noProof="0" dirty="0" err="1">
                <a:solidFill>
                  <a:srgbClr val="0B1F3F"/>
                </a:solidFill>
                <a:latin typeface="Calibri" pitchFamily="34" charset="0"/>
                <a:ea typeface="Calibri" pitchFamily="34" charset="-122"/>
                <a:cs typeface="Calibri" pitchFamily="34" charset="-120"/>
              </a:rPr>
              <a:t>treatment</a:t>
            </a:r>
            <a:r>
              <a:rPr lang="fr-FR" sz="1150" noProof="0" dirty="0">
                <a:solidFill>
                  <a:srgbClr val="0B1F3F"/>
                </a:solidFill>
                <a:latin typeface="Calibri" pitchFamily="34" charset="0"/>
                <a:ea typeface="Calibri" pitchFamily="34" charset="-122"/>
                <a:cs typeface="Calibri" pitchFamily="34" charset="-120"/>
              </a:rPr>
              <a:t>; and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in men. https://</a:t>
            </a:r>
            <a:r>
              <a:rPr lang="fr-FR" sz="1150" noProof="0" dirty="0" err="1">
                <a:solidFill>
                  <a:srgbClr val="0B1F3F"/>
                </a:solidFill>
                <a:latin typeface="Calibri" pitchFamily="34" charset="0"/>
                <a:ea typeface="Calibri" pitchFamily="34" charset="-122"/>
                <a:cs typeface="Calibri" pitchFamily="34" charset="-120"/>
              </a:rPr>
              <a:t>www.cancer.org</a:t>
            </a:r>
            <a:endParaRPr lang="fr-FR" sz="1150" noProof="0" dirty="0"/>
          </a:p>
        </p:txBody>
      </p:sp>
      <p:sp>
        <p:nvSpPr>
          <p:cNvPr id="6" name="Text 4"/>
          <p:cNvSpPr txBox="1"/>
          <p:nvPr/>
        </p:nvSpPr>
        <p:spPr>
          <a:xfrm>
            <a:off x="6233008" y="1325880"/>
            <a:ext cx="5410048" cy="4754880"/>
          </a:xfrm>
          <a:prstGeom prst="rect">
            <a:avLst/>
          </a:prstGeom>
          <a:noFill/>
          <a:ln/>
        </p:spPr>
        <p:txBody>
          <a:bodyPr wrap="square" lIns="0" tIns="0" rIns="0" bIns="0" rtlCol="0" anchor="t"/>
          <a:lstStyle/>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16. WHO Classification of </a:t>
            </a:r>
            <a:r>
              <a:rPr lang="fr-FR" sz="1150" noProof="0" dirty="0" err="1">
                <a:solidFill>
                  <a:srgbClr val="0B1F3F"/>
                </a:solidFill>
                <a:latin typeface="Calibri" pitchFamily="34" charset="0"/>
                <a:ea typeface="Calibri" pitchFamily="34" charset="-122"/>
                <a:cs typeface="Calibri" pitchFamily="34" charset="-120"/>
              </a:rPr>
              <a:t>Tumours</a:t>
            </a:r>
            <a:r>
              <a:rPr lang="fr-FR" sz="1150" noProof="0" dirty="0">
                <a:solidFill>
                  <a:srgbClr val="0B1F3F"/>
                </a:solidFill>
                <a:latin typeface="Calibri" pitchFamily="34" charset="0"/>
                <a:ea typeface="Calibri" pitchFamily="34" charset="-122"/>
                <a:cs typeface="Calibri" pitchFamily="34" charset="-120"/>
              </a:rPr>
              <a:t> Editorial </a:t>
            </a:r>
            <a:r>
              <a:rPr lang="fr-FR" sz="1150" noProof="0" dirty="0" err="1">
                <a:solidFill>
                  <a:srgbClr val="0B1F3F"/>
                </a:solidFill>
                <a:latin typeface="Calibri" pitchFamily="34" charset="0"/>
                <a:ea typeface="Calibri" pitchFamily="34" charset="-122"/>
                <a:cs typeface="Calibri" pitchFamily="34" charset="-120"/>
              </a:rPr>
              <a:t>Board</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Tumours</a:t>
            </a:r>
            <a:r>
              <a:rPr lang="fr-FR" sz="1150" noProof="0" dirty="0">
                <a:solidFill>
                  <a:srgbClr val="0B1F3F"/>
                </a:solidFill>
                <a:latin typeface="Calibri" pitchFamily="34" charset="0"/>
                <a:ea typeface="Calibri" pitchFamily="34" charset="-122"/>
                <a:cs typeface="Calibri" pitchFamily="34" charset="-120"/>
              </a:rPr>
              <a:t>. WHO Classification of </a:t>
            </a:r>
            <a:r>
              <a:rPr lang="fr-FR" sz="1150" noProof="0" dirty="0" err="1">
                <a:solidFill>
                  <a:srgbClr val="0B1F3F"/>
                </a:solidFill>
                <a:latin typeface="Calibri" pitchFamily="34" charset="0"/>
                <a:ea typeface="Calibri" pitchFamily="34" charset="-122"/>
                <a:cs typeface="Calibri" pitchFamily="34" charset="-120"/>
              </a:rPr>
              <a:t>Tumours</a:t>
            </a:r>
            <a:r>
              <a:rPr lang="fr-FR" sz="1150" noProof="0" dirty="0">
                <a:solidFill>
                  <a:srgbClr val="0B1F3F"/>
                </a:solidFill>
                <a:latin typeface="Calibri" pitchFamily="34" charset="0"/>
                <a:ea typeface="Calibri" pitchFamily="34" charset="-122"/>
                <a:cs typeface="Calibri" pitchFamily="34" charset="-120"/>
              </a:rPr>
              <a:t>, 5th </a:t>
            </a:r>
            <a:r>
              <a:rPr lang="fr-FR" sz="1150" noProof="0" dirty="0" err="1">
                <a:solidFill>
                  <a:srgbClr val="0B1F3F"/>
                </a:solidFill>
                <a:latin typeface="Calibri" pitchFamily="34" charset="0"/>
                <a:ea typeface="Calibri" pitchFamily="34" charset="-122"/>
                <a:cs typeface="Calibri" pitchFamily="34" charset="-120"/>
              </a:rPr>
              <a:t>edition</a:t>
            </a:r>
            <a:r>
              <a:rPr lang="fr-FR" sz="1150" noProof="0" dirty="0">
                <a:solidFill>
                  <a:srgbClr val="0B1F3F"/>
                </a:solidFill>
                <a:latin typeface="Calibri" pitchFamily="34" charset="0"/>
                <a:ea typeface="Calibri" pitchFamily="34" charset="-122"/>
                <a:cs typeface="Calibri" pitchFamily="34" charset="-120"/>
              </a:rPr>
              <a:t>, Volume 2. Lyon: IARC, 2019.</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17. Amin MB, Edge SB, Greene FL, et al. AJCC Cancer </a:t>
            </a:r>
            <a:r>
              <a:rPr lang="fr-FR" sz="1150" noProof="0" dirty="0" err="1">
                <a:solidFill>
                  <a:srgbClr val="0B1F3F"/>
                </a:solidFill>
                <a:latin typeface="Calibri" pitchFamily="34" charset="0"/>
                <a:ea typeface="Calibri" pitchFamily="34" charset="-122"/>
                <a:cs typeface="Calibri" pitchFamily="34" charset="-120"/>
              </a:rPr>
              <a:t>Staging</a:t>
            </a:r>
            <a:r>
              <a:rPr lang="fr-FR" sz="1150" noProof="0" dirty="0">
                <a:solidFill>
                  <a:srgbClr val="0B1F3F"/>
                </a:solidFill>
                <a:latin typeface="Calibri" pitchFamily="34" charset="0"/>
                <a:ea typeface="Calibri" pitchFamily="34" charset="-122"/>
                <a:cs typeface="Calibri" pitchFamily="34" charset="-120"/>
              </a:rPr>
              <a:t> Manual, 8th </a:t>
            </a:r>
            <a:r>
              <a:rPr lang="fr-FR" sz="1150" noProof="0" dirty="0" err="1">
                <a:solidFill>
                  <a:srgbClr val="0B1F3F"/>
                </a:solidFill>
                <a:latin typeface="Calibri" pitchFamily="34" charset="0"/>
                <a:ea typeface="Calibri" pitchFamily="34" charset="-122"/>
                <a:cs typeface="Calibri" pitchFamily="34" charset="-120"/>
              </a:rPr>
              <a:t>edition</a:t>
            </a:r>
            <a:r>
              <a:rPr lang="fr-FR" sz="1150" noProof="0" dirty="0">
                <a:solidFill>
                  <a:srgbClr val="0B1F3F"/>
                </a:solidFill>
                <a:latin typeface="Calibri" pitchFamily="34" charset="0"/>
                <a:ea typeface="Calibri" pitchFamily="34" charset="-122"/>
                <a:cs typeface="Calibri" pitchFamily="34" charset="-120"/>
              </a:rPr>
              <a:t>. American </a:t>
            </a:r>
            <a:r>
              <a:rPr lang="fr-FR" sz="1150" noProof="0" dirty="0" err="1">
                <a:solidFill>
                  <a:srgbClr val="0B1F3F"/>
                </a:solidFill>
                <a:latin typeface="Calibri" pitchFamily="34" charset="0"/>
                <a:ea typeface="Calibri" pitchFamily="34" charset="-122"/>
                <a:cs typeface="Calibri" pitchFamily="34" charset="-120"/>
              </a:rPr>
              <a:t>College</a:t>
            </a:r>
            <a:r>
              <a:rPr lang="fr-FR" sz="1150" noProof="0" dirty="0">
                <a:solidFill>
                  <a:srgbClr val="0B1F3F"/>
                </a:solidFill>
                <a:latin typeface="Calibri" pitchFamily="34" charset="0"/>
                <a:ea typeface="Calibri" pitchFamily="34" charset="-122"/>
                <a:cs typeface="Calibri" pitchFamily="34" charset="-120"/>
              </a:rPr>
              <a:t> of Surgeons; and Union for International Cancer Control, TNM Classification of </a:t>
            </a:r>
            <a:r>
              <a:rPr lang="fr-FR" sz="1150" noProof="0" dirty="0" err="1">
                <a:solidFill>
                  <a:srgbClr val="0B1F3F"/>
                </a:solidFill>
                <a:latin typeface="Calibri" pitchFamily="34" charset="0"/>
                <a:ea typeface="Calibri" pitchFamily="34" charset="-122"/>
                <a:cs typeface="Calibri" pitchFamily="34" charset="-120"/>
              </a:rPr>
              <a:t>Malignant</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Tumours</a:t>
            </a:r>
            <a:r>
              <a:rPr lang="fr-FR" sz="1150" noProof="0" dirty="0">
                <a:solidFill>
                  <a:srgbClr val="0B1F3F"/>
                </a:solidFill>
                <a:latin typeface="Calibri" pitchFamily="34" charset="0"/>
                <a:ea typeface="Calibri" pitchFamily="34" charset="-122"/>
                <a:cs typeface="Calibri" pitchFamily="34" charset="-120"/>
              </a:rPr>
              <a:t>.</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18. Allison KH, Hammond MEH, Dowsett M, et al. </a:t>
            </a:r>
            <a:r>
              <a:rPr lang="fr-FR" sz="1150" noProof="0" dirty="0" err="1">
                <a:solidFill>
                  <a:srgbClr val="0B1F3F"/>
                </a:solidFill>
                <a:latin typeface="Calibri" pitchFamily="34" charset="0"/>
                <a:ea typeface="Calibri" pitchFamily="34" charset="-122"/>
                <a:cs typeface="Calibri" pitchFamily="34" charset="-120"/>
              </a:rPr>
              <a:t>Estrogen</a:t>
            </a:r>
            <a:r>
              <a:rPr lang="fr-FR" sz="1150" noProof="0" dirty="0">
                <a:solidFill>
                  <a:srgbClr val="0B1F3F"/>
                </a:solidFill>
                <a:latin typeface="Calibri" pitchFamily="34" charset="0"/>
                <a:ea typeface="Calibri" pitchFamily="34" charset="-122"/>
                <a:cs typeface="Calibri" pitchFamily="34" charset="-120"/>
              </a:rPr>
              <a:t> and </a:t>
            </a:r>
            <a:r>
              <a:rPr lang="fr-FR" sz="1150" noProof="0" dirty="0" err="1">
                <a:solidFill>
                  <a:srgbClr val="0B1F3F"/>
                </a:solidFill>
                <a:latin typeface="Calibri" pitchFamily="34" charset="0"/>
                <a:ea typeface="Calibri" pitchFamily="34" charset="-122"/>
                <a:cs typeface="Calibri" pitchFamily="34" charset="-120"/>
              </a:rPr>
              <a:t>progesterone</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receptor</a:t>
            </a:r>
            <a:r>
              <a:rPr lang="fr-FR" sz="1150" noProof="0" dirty="0">
                <a:solidFill>
                  <a:srgbClr val="0B1F3F"/>
                </a:solidFill>
                <a:latin typeface="Calibri" pitchFamily="34" charset="0"/>
                <a:ea typeface="Calibri" pitchFamily="34" charset="-122"/>
                <a:cs typeface="Calibri" pitchFamily="34" charset="-120"/>
              </a:rPr>
              <a:t> testing in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ASCO / CAP guideline update. J Clin </a:t>
            </a:r>
            <a:r>
              <a:rPr lang="fr-FR" sz="1150" noProof="0" dirty="0" err="1">
                <a:solidFill>
                  <a:srgbClr val="0B1F3F"/>
                </a:solidFill>
                <a:latin typeface="Calibri" pitchFamily="34" charset="0"/>
                <a:ea typeface="Calibri" pitchFamily="34" charset="-122"/>
                <a:cs typeface="Calibri" pitchFamily="34" charset="-120"/>
              </a:rPr>
              <a:t>Oncol</a:t>
            </a:r>
            <a:r>
              <a:rPr lang="fr-FR" sz="1150" noProof="0" dirty="0">
                <a:solidFill>
                  <a:srgbClr val="0B1F3F"/>
                </a:solidFill>
                <a:latin typeface="Calibri" pitchFamily="34" charset="0"/>
                <a:ea typeface="Calibri" pitchFamily="34" charset="-122"/>
                <a:cs typeface="Calibri" pitchFamily="34" charset="-120"/>
              </a:rPr>
              <a:t>. 2020;38(12):1346 to 1366.</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19. Wolff AC, Somerfield MR, Dowsett M, et al. Human </a:t>
            </a:r>
            <a:r>
              <a:rPr lang="fr-FR" sz="1150" noProof="0" dirty="0" err="1">
                <a:solidFill>
                  <a:srgbClr val="0B1F3F"/>
                </a:solidFill>
                <a:latin typeface="Calibri" pitchFamily="34" charset="0"/>
                <a:ea typeface="Calibri" pitchFamily="34" charset="-122"/>
                <a:cs typeface="Calibri" pitchFamily="34" charset="-120"/>
              </a:rPr>
              <a:t>epidermal</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growth</a:t>
            </a:r>
            <a:r>
              <a:rPr lang="fr-FR" sz="1150" noProof="0" dirty="0">
                <a:solidFill>
                  <a:srgbClr val="0B1F3F"/>
                </a:solidFill>
                <a:latin typeface="Calibri" pitchFamily="34" charset="0"/>
                <a:ea typeface="Calibri" pitchFamily="34" charset="-122"/>
                <a:cs typeface="Calibri" pitchFamily="34" charset="-120"/>
              </a:rPr>
              <a:t> factor </a:t>
            </a:r>
            <a:r>
              <a:rPr lang="fr-FR" sz="1150" noProof="0" dirty="0" err="1">
                <a:solidFill>
                  <a:srgbClr val="0B1F3F"/>
                </a:solidFill>
                <a:latin typeface="Calibri" pitchFamily="34" charset="0"/>
                <a:ea typeface="Calibri" pitchFamily="34" charset="-122"/>
                <a:cs typeface="Calibri" pitchFamily="34" charset="-120"/>
              </a:rPr>
              <a:t>receptor</a:t>
            </a:r>
            <a:r>
              <a:rPr lang="fr-FR" sz="1150" noProof="0" dirty="0">
                <a:solidFill>
                  <a:srgbClr val="0B1F3F"/>
                </a:solidFill>
                <a:latin typeface="Calibri" pitchFamily="34" charset="0"/>
                <a:ea typeface="Calibri" pitchFamily="34" charset="-122"/>
                <a:cs typeface="Calibri" pitchFamily="34" charset="-120"/>
              </a:rPr>
              <a:t> 2 testing in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ASCO / CAP guideline update. J Clin </a:t>
            </a:r>
            <a:r>
              <a:rPr lang="fr-FR" sz="1150" noProof="0" dirty="0" err="1">
                <a:solidFill>
                  <a:srgbClr val="0B1F3F"/>
                </a:solidFill>
                <a:latin typeface="Calibri" pitchFamily="34" charset="0"/>
                <a:ea typeface="Calibri" pitchFamily="34" charset="-122"/>
                <a:cs typeface="Calibri" pitchFamily="34" charset="-120"/>
              </a:rPr>
              <a:t>Oncol</a:t>
            </a:r>
            <a:r>
              <a:rPr lang="fr-FR" sz="1150" noProof="0" dirty="0">
                <a:solidFill>
                  <a:srgbClr val="0B1F3F"/>
                </a:solidFill>
                <a:latin typeface="Calibri" pitchFamily="34" charset="0"/>
                <a:ea typeface="Calibri" pitchFamily="34" charset="-122"/>
                <a:cs typeface="Calibri" pitchFamily="34" charset="-120"/>
              </a:rPr>
              <a:t>. 2023;41(22):3867 to 3872.</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20. International Agency for </a:t>
            </a:r>
            <a:r>
              <a:rPr lang="fr-FR" sz="1150" noProof="0" dirty="0" err="1">
                <a:solidFill>
                  <a:srgbClr val="0B1F3F"/>
                </a:solidFill>
                <a:latin typeface="Calibri" pitchFamily="34" charset="0"/>
                <a:ea typeface="Calibri" pitchFamily="34" charset="-122"/>
                <a:cs typeface="Calibri" pitchFamily="34" charset="-120"/>
              </a:rPr>
              <a:t>Research</a:t>
            </a:r>
            <a:r>
              <a:rPr lang="fr-FR" sz="1150" noProof="0" dirty="0">
                <a:solidFill>
                  <a:srgbClr val="0B1F3F"/>
                </a:solidFill>
                <a:latin typeface="Calibri" pitchFamily="34" charset="0"/>
                <a:ea typeface="Calibri" pitchFamily="34" charset="-122"/>
                <a:cs typeface="Calibri" pitchFamily="34" charset="-120"/>
              </a:rPr>
              <a:t> on Cancer. Planning and </a:t>
            </a:r>
            <a:r>
              <a:rPr lang="fr-FR" sz="1150" noProof="0" dirty="0" err="1">
                <a:solidFill>
                  <a:srgbClr val="0B1F3F"/>
                </a:solidFill>
                <a:latin typeface="Calibri" pitchFamily="34" charset="0"/>
                <a:ea typeface="Calibri" pitchFamily="34" charset="-122"/>
                <a:cs typeface="Calibri" pitchFamily="34" charset="-120"/>
              </a:rPr>
              <a:t>Developing</a:t>
            </a:r>
            <a:r>
              <a:rPr lang="fr-FR" sz="1150" noProof="0" dirty="0">
                <a:solidFill>
                  <a:srgbClr val="0B1F3F"/>
                </a:solidFill>
                <a:latin typeface="Calibri" pitchFamily="34" charset="0"/>
                <a:ea typeface="Calibri" pitchFamily="34" charset="-122"/>
                <a:cs typeface="Calibri" pitchFamily="34" charset="-120"/>
              </a:rPr>
              <a:t> Population-Based Cancer Registration in Low- and Middle-</a:t>
            </a:r>
            <a:r>
              <a:rPr lang="fr-FR" sz="1150" noProof="0" dirty="0" err="1">
                <a:solidFill>
                  <a:srgbClr val="0B1F3F"/>
                </a:solidFill>
                <a:latin typeface="Calibri" pitchFamily="34" charset="0"/>
                <a:ea typeface="Calibri" pitchFamily="34" charset="-122"/>
                <a:cs typeface="Calibri" pitchFamily="34" charset="-120"/>
              </a:rPr>
              <a:t>Income</a:t>
            </a:r>
            <a:r>
              <a:rPr lang="fr-FR" sz="1150" noProof="0" dirty="0">
                <a:solidFill>
                  <a:srgbClr val="0B1F3F"/>
                </a:solidFill>
                <a:latin typeface="Calibri" pitchFamily="34" charset="0"/>
                <a:ea typeface="Calibri" pitchFamily="34" charset="-122"/>
                <a:cs typeface="Calibri" pitchFamily="34" charset="-120"/>
              </a:rPr>
              <a:t> Settings. IARC </a:t>
            </a:r>
            <a:r>
              <a:rPr lang="fr-FR" sz="1150" noProof="0" dirty="0" err="1">
                <a:solidFill>
                  <a:srgbClr val="0B1F3F"/>
                </a:solidFill>
                <a:latin typeface="Calibri" pitchFamily="34" charset="0"/>
                <a:ea typeface="Calibri" pitchFamily="34" charset="-122"/>
                <a:cs typeface="Calibri" pitchFamily="34" charset="-120"/>
              </a:rPr>
              <a:t>Technical</a:t>
            </a:r>
            <a:r>
              <a:rPr lang="fr-FR" sz="1150" noProof="0" dirty="0">
                <a:solidFill>
                  <a:srgbClr val="0B1F3F"/>
                </a:solidFill>
                <a:latin typeface="Calibri" pitchFamily="34" charset="0"/>
                <a:ea typeface="Calibri" pitchFamily="34" charset="-122"/>
                <a:cs typeface="Calibri" pitchFamily="34" charset="-120"/>
              </a:rPr>
              <a:t> Publication No. 43, 2014; and Manual for Cancer </a:t>
            </a:r>
            <a:r>
              <a:rPr lang="fr-FR" sz="1150" noProof="0" dirty="0" err="1">
                <a:solidFill>
                  <a:srgbClr val="0B1F3F"/>
                </a:solidFill>
                <a:latin typeface="Calibri" pitchFamily="34" charset="0"/>
                <a:ea typeface="Calibri" pitchFamily="34" charset="-122"/>
                <a:cs typeface="Calibri" pitchFamily="34" charset="-120"/>
              </a:rPr>
              <a:t>Registry</a:t>
            </a:r>
            <a:r>
              <a:rPr lang="fr-FR" sz="1150" noProof="0" dirty="0">
                <a:solidFill>
                  <a:srgbClr val="0B1F3F"/>
                </a:solidFill>
                <a:latin typeface="Calibri" pitchFamily="34" charset="0"/>
                <a:ea typeface="Calibri" pitchFamily="34" charset="-122"/>
                <a:cs typeface="Calibri" pitchFamily="34" charset="-120"/>
              </a:rPr>
              <a:t> Personnel, </a:t>
            </a:r>
            <a:r>
              <a:rPr lang="fr-FR" sz="1150" noProof="0" dirty="0" err="1">
                <a:solidFill>
                  <a:srgbClr val="0B1F3F"/>
                </a:solidFill>
                <a:latin typeface="Calibri" pitchFamily="34" charset="0"/>
                <a:ea typeface="Calibri" pitchFamily="34" charset="-122"/>
                <a:cs typeface="Calibri" pitchFamily="34" charset="-120"/>
              </a:rPr>
              <a:t>Technical</a:t>
            </a:r>
            <a:r>
              <a:rPr lang="fr-FR" sz="1150" noProof="0" dirty="0">
                <a:solidFill>
                  <a:srgbClr val="0B1F3F"/>
                </a:solidFill>
                <a:latin typeface="Calibri" pitchFamily="34" charset="0"/>
                <a:ea typeface="Calibri" pitchFamily="34" charset="-122"/>
                <a:cs typeface="Calibri" pitchFamily="34" charset="-120"/>
              </a:rPr>
              <a:t> Report No. 10, 1995.</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21. Rwanda </a:t>
            </a:r>
            <a:r>
              <a:rPr lang="fr-FR" sz="1150" noProof="0" dirty="0" err="1">
                <a:solidFill>
                  <a:srgbClr val="0B1F3F"/>
                </a:solidFill>
                <a:latin typeface="Calibri" pitchFamily="34" charset="0"/>
                <a:ea typeface="Calibri" pitchFamily="34" charset="-122"/>
                <a:cs typeface="Calibri" pitchFamily="34" charset="-120"/>
              </a:rPr>
              <a:t>Biomedical</a:t>
            </a:r>
            <a:r>
              <a:rPr lang="fr-FR" sz="1150" noProof="0" dirty="0">
                <a:solidFill>
                  <a:srgbClr val="0B1F3F"/>
                </a:solidFill>
                <a:latin typeface="Calibri" pitchFamily="34" charset="0"/>
                <a:ea typeface="Calibri" pitchFamily="34" charset="-122"/>
                <a:cs typeface="Calibri" pitchFamily="34" charset="-120"/>
              </a:rPr>
              <a:t> Centre. Curriculum in </a:t>
            </a:r>
            <a:r>
              <a:rPr lang="fr-FR" sz="1150" noProof="0" dirty="0" err="1">
                <a:solidFill>
                  <a:srgbClr val="0B1F3F"/>
                </a:solidFill>
                <a:latin typeface="Calibri" pitchFamily="34" charset="0"/>
                <a:ea typeface="Calibri" pitchFamily="34" charset="-122"/>
                <a:cs typeface="Calibri" pitchFamily="34" charset="-120"/>
              </a:rPr>
              <a:t>Clinical</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Exam for Health Center Nurses: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a:t>
            </a:r>
            <a:r>
              <a:rPr lang="fr-FR" sz="1150" noProof="0" dirty="0" err="1">
                <a:solidFill>
                  <a:srgbClr val="0B1F3F"/>
                </a:solidFill>
                <a:latin typeface="Calibri" pitchFamily="34" charset="0"/>
                <a:ea typeface="Calibri" pitchFamily="34" charset="-122"/>
                <a:cs typeface="Calibri" pitchFamily="34" charset="-120"/>
              </a:rPr>
              <a:t>early</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detection</a:t>
            </a:r>
            <a:r>
              <a:rPr lang="fr-FR" sz="1150" noProof="0" dirty="0">
                <a:solidFill>
                  <a:srgbClr val="0B1F3F"/>
                </a:solidFill>
                <a:latin typeface="Calibri" pitchFamily="34" charset="0"/>
                <a:ea typeface="Calibri" pitchFamily="34" charset="-122"/>
                <a:cs typeface="Calibri" pitchFamily="34" charset="-120"/>
              </a:rPr>
              <a:t> training </a:t>
            </a:r>
            <a:r>
              <a:rPr lang="fr-FR" sz="1150" noProof="0" dirty="0" err="1">
                <a:solidFill>
                  <a:srgbClr val="0B1F3F"/>
                </a:solidFill>
                <a:latin typeface="Calibri" pitchFamily="34" charset="0"/>
                <a:ea typeface="Calibri" pitchFamily="34" charset="-122"/>
                <a:cs typeface="Calibri" pitchFamily="34" charset="-120"/>
              </a:rPr>
              <a:t>materials</a:t>
            </a:r>
            <a:r>
              <a:rPr lang="fr-FR" sz="1150" noProof="0" dirty="0">
                <a:solidFill>
                  <a:srgbClr val="0B1F3F"/>
                </a:solidFill>
                <a:latin typeface="Calibri" pitchFamily="34" charset="0"/>
                <a:ea typeface="Calibri" pitchFamily="34" charset="-122"/>
                <a:cs typeface="Calibri" pitchFamily="34" charset="-120"/>
              </a:rPr>
              <a:t>. Kigali: RBC.</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22. Rwanda </a:t>
            </a:r>
            <a:r>
              <a:rPr lang="fr-FR" sz="1150" noProof="0" dirty="0" err="1">
                <a:solidFill>
                  <a:srgbClr val="0B1F3F"/>
                </a:solidFill>
                <a:latin typeface="Calibri" pitchFamily="34" charset="0"/>
                <a:ea typeface="Calibri" pitchFamily="34" charset="-122"/>
                <a:cs typeface="Calibri" pitchFamily="34" charset="-120"/>
              </a:rPr>
              <a:t>Biomedical</a:t>
            </a:r>
            <a:r>
              <a:rPr lang="fr-FR" sz="1150" noProof="0" dirty="0">
                <a:solidFill>
                  <a:srgbClr val="0B1F3F"/>
                </a:solidFill>
                <a:latin typeface="Calibri" pitchFamily="34" charset="0"/>
                <a:ea typeface="Calibri" pitchFamily="34" charset="-122"/>
                <a:cs typeface="Calibri" pitchFamily="34" charset="-120"/>
              </a:rPr>
              <a:t> Centre. </a:t>
            </a:r>
            <a:r>
              <a:rPr lang="fr-FR" sz="1150" noProof="0" dirty="0" err="1">
                <a:solidFill>
                  <a:srgbClr val="0B1F3F"/>
                </a:solidFill>
                <a:latin typeface="Calibri" pitchFamily="34" charset="0"/>
                <a:ea typeface="Calibri" pitchFamily="34" charset="-122"/>
                <a:cs typeface="Calibri" pitchFamily="34" charset="-120"/>
              </a:rPr>
              <a:t>Monthly</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Self-</a:t>
            </a:r>
            <a:r>
              <a:rPr lang="fr-FR" sz="1150" noProof="0" dirty="0" err="1">
                <a:solidFill>
                  <a:srgbClr val="0B1F3F"/>
                </a:solidFill>
                <a:latin typeface="Calibri" pitchFamily="34" charset="0"/>
                <a:ea typeface="Calibri" pitchFamily="34" charset="-122"/>
                <a:cs typeface="Calibri" pitchFamily="34" charset="-120"/>
              </a:rPr>
              <a:t>Examination</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leaflet</a:t>
            </a:r>
            <a:r>
              <a:rPr lang="fr-FR" sz="1150" noProof="0" dirty="0">
                <a:solidFill>
                  <a:srgbClr val="0B1F3F"/>
                </a:solidFill>
                <a:latin typeface="Calibri" pitchFamily="34" charset="0"/>
                <a:ea typeface="Calibri" pitchFamily="34" charset="-122"/>
                <a:cs typeface="Calibri" pitchFamily="34" charset="-120"/>
              </a:rPr>
              <a:t> (English and Kinyarwanda). Kigali: RBC.</a:t>
            </a:r>
            <a:endParaRPr lang="fr-FR" sz="1150" noProof="0" dirty="0"/>
          </a:p>
          <a:p>
            <a:pPr marL="0" indent="0">
              <a:lnSpc>
                <a:spcPct val="95000"/>
              </a:lnSpc>
              <a:spcAft>
                <a:spcPts val="800"/>
              </a:spcAft>
              <a:buNone/>
            </a:pPr>
            <a:r>
              <a:rPr lang="fr-FR" sz="1150" noProof="0" dirty="0">
                <a:solidFill>
                  <a:srgbClr val="0B1F3F"/>
                </a:solidFill>
                <a:latin typeface="Calibri" pitchFamily="34" charset="0"/>
                <a:ea typeface="Calibri" pitchFamily="34" charset="-122"/>
                <a:cs typeface="Calibri" pitchFamily="34" charset="-120"/>
              </a:rPr>
              <a:t>23. Rwanda </a:t>
            </a:r>
            <a:r>
              <a:rPr lang="fr-FR" sz="1150" noProof="0" dirty="0" err="1">
                <a:solidFill>
                  <a:srgbClr val="0B1F3F"/>
                </a:solidFill>
                <a:latin typeface="Calibri" pitchFamily="34" charset="0"/>
                <a:ea typeface="Calibri" pitchFamily="34" charset="-122"/>
                <a:cs typeface="Calibri" pitchFamily="34" charset="-120"/>
              </a:rPr>
              <a:t>Biomedical</a:t>
            </a:r>
            <a:r>
              <a:rPr lang="fr-FR" sz="1150" noProof="0" dirty="0">
                <a:solidFill>
                  <a:srgbClr val="0B1F3F"/>
                </a:solidFill>
                <a:latin typeface="Calibri" pitchFamily="34" charset="0"/>
                <a:ea typeface="Calibri" pitchFamily="34" charset="-122"/>
                <a:cs typeface="Calibri" pitchFamily="34" charset="-120"/>
              </a:rPr>
              <a:t> Centre. National </a:t>
            </a:r>
            <a:r>
              <a:rPr lang="fr-FR" sz="1150" noProof="0" dirty="0" err="1">
                <a:solidFill>
                  <a:srgbClr val="0B1F3F"/>
                </a:solidFill>
                <a:latin typeface="Calibri" pitchFamily="34" charset="0"/>
                <a:ea typeface="Calibri" pitchFamily="34" charset="-122"/>
                <a:cs typeface="Calibri" pitchFamily="34" charset="-120"/>
              </a:rPr>
              <a:t>breast</a:t>
            </a:r>
            <a:r>
              <a:rPr lang="fr-FR" sz="1150" noProof="0" dirty="0">
                <a:solidFill>
                  <a:srgbClr val="0B1F3F"/>
                </a:solidFill>
                <a:latin typeface="Calibri" pitchFamily="34" charset="0"/>
                <a:ea typeface="Calibri" pitchFamily="34" charset="-122"/>
                <a:cs typeface="Calibri" pitchFamily="34" charset="-120"/>
              </a:rPr>
              <a:t> cancer </a:t>
            </a:r>
            <a:r>
              <a:rPr lang="fr-FR" sz="1150" noProof="0" dirty="0" err="1">
                <a:solidFill>
                  <a:srgbClr val="0B1F3F"/>
                </a:solidFill>
                <a:latin typeface="Calibri" pitchFamily="34" charset="0"/>
                <a:ea typeface="Calibri" pitchFamily="34" charset="-122"/>
                <a:cs typeface="Calibri" pitchFamily="34" charset="-120"/>
              </a:rPr>
              <a:t>early-detection</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approach</a:t>
            </a:r>
            <a:r>
              <a:rPr lang="fr-FR" sz="1150" noProof="0" dirty="0">
                <a:solidFill>
                  <a:srgbClr val="0B1F3F"/>
                </a:solidFill>
                <a:latin typeface="Calibri" pitchFamily="34" charset="0"/>
                <a:ea typeface="Calibri" pitchFamily="34" charset="-122"/>
                <a:cs typeface="Calibri" pitchFamily="34" charset="-120"/>
              </a:rPr>
              <a:t>: </a:t>
            </a:r>
            <a:r>
              <a:rPr lang="fr-FR" sz="1150" noProof="0" dirty="0" err="1">
                <a:solidFill>
                  <a:srgbClr val="0B1F3F"/>
                </a:solidFill>
                <a:latin typeface="Calibri" pitchFamily="34" charset="0"/>
                <a:ea typeface="Calibri" pitchFamily="34" charset="-122"/>
                <a:cs typeface="Calibri" pitchFamily="34" charset="-120"/>
              </a:rPr>
              <a:t>clinical</a:t>
            </a:r>
            <a:r>
              <a:rPr lang="fr-FR" sz="1150" noProof="0" dirty="0">
                <a:solidFill>
                  <a:srgbClr val="0B1F3F"/>
                </a:solidFill>
                <a:latin typeface="Calibri" pitchFamily="34" charset="0"/>
                <a:ea typeface="Calibri" pitchFamily="34" charset="-122"/>
                <a:cs typeface="Calibri" pitchFamily="34" charset="-120"/>
              </a:rPr>
              <a:t> expert </a:t>
            </a:r>
            <a:r>
              <a:rPr lang="fr-FR" sz="1150" noProof="0" dirty="0" err="1">
                <a:solidFill>
                  <a:srgbClr val="0B1F3F"/>
                </a:solidFill>
                <a:latin typeface="Calibri" pitchFamily="34" charset="0"/>
                <a:ea typeface="Calibri" pitchFamily="34" charset="-122"/>
                <a:cs typeface="Calibri" pitchFamily="34" charset="-120"/>
              </a:rPr>
              <a:t>review</a:t>
            </a:r>
            <a:r>
              <a:rPr lang="fr-FR" sz="1150" noProof="0" dirty="0">
                <a:solidFill>
                  <a:srgbClr val="0B1F3F"/>
                </a:solidFill>
                <a:latin typeface="Calibri" pitchFamily="34" charset="0"/>
                <a:ea typeface="Calibri" pitchFamily="34" charset="-122"/>
                <a:cs typeface="Calibri" pitchFamily="34" charset="-120"/>
              </a:rPr>
              <a:t> of </a:t>
            </a:r>
            <a:r>
              <a:rPr lang="fr-FR" sz="1150" noProof="0" dirty="0" err="1">
                <a:solidFill>
                  <a:srgbClr val="0B1F3F"/>
                </a:solidFill>
                <a:latin typeface="Calibri" pitchFamily="34" charset="0"/>
                <a:ea typeface="Calibri" pitchFamily="34" charset="-122"/>
                <a:cs typeface="Calibri" pitchFamily="34" charset="-120"/>
              </a:rPr>
              <a:t>this</a:t>
            </a:r>
            <a:r>
              <a:rPr lang="fr-FR" sz="1150" noProof="0" dirty="0">
                <a:solidFill>
                  <a:srgbClr val="0B1F3F"/>
                </a:solidFill>
                <a:latin typeface="Calibri" pitchFamily="34" charset="0"/>
                <a:ea typeface="Calibri" pitchFamily="34" charset="-122"/>
                <a:cs typeface="Calibri" pitchFamily="34" charset="-120"/>
              </a:rPr>
              <a:t> module, September 2026.</a:t>
            </a:r>
            <a:endParaRPr lang="fr-FR" sz="11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18B0553-69BB-4340-9844-2D2C3CB4F7E7}">
  <we:reference id="wa200010001" version="1.0.0.1" store="en-US" storeType="OMEX"/>
  <we:alternateReferences>
    <we:reference id="WA200010001" version="1.0.0.1" store="" storeType="OMEX"/>
  </we:alternateReferences>
  <we:properties>
    <we:property name="claude.fileId" value="&quot;0705c1de-5dcd-4c5a-a02d-2de175a59ef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068C916-60DF-4005-875B-14A24F247F8F}"/>
</file>

<file path=customXml/itemProps2.xml><?xml version="1.0" encoding="utf-8"?>
<ds:datastoreItem xmlns:ds="http://schemas.openxmlformats.org/officeDocument/2006/customXml" ds:itemID="{99FA6F86-98DC-49E3-8BEB-03D497BCD232}"/>
</file>

<file path=customXml/itemProps3.xml><?xml version="1.0" encoding="utf-8"?>
<ds:datastoreItem xmlns:ds="http://schemas.openxmlformats.org/officeDocument/2006/customXml" ds:itemID="{5B92B0A0-9606-43CF-BCC9-7A56B8941265}"/>
</file>

<file path=docProps/app.xml><?xml version="1.0" encoding="utf-8"?>
<Properties xmlns="http://schemas.openxmlformats.org/officeDocument/2006/extended-properties" xmlns:vt="http://schemas.openxmlformats.org/officeDocument/2006/docPropsVTypes">
  <TotalTime>3797</TotalTime>
  <Words>22149</Words>
  <Application>Microsoft Macintosh PowerPoint</Application>
  <PresentationFormat>Panorámica</PresentationFormat>
  <Paragraphs>1870</Paragraphs>
  <Slides>160</Slides>
  <Notes>142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160</vt:i4>
      </vt:variant>
    </vt:vector>
  </HeadingPairs>
  <TitlesOfParts>
    <vt:vector size="164"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Breast Cancer, Frontline HCP Module</dc:title>
  <dc:subject>Breast cancer e-learning module for frontline HCPs, Rwanda</dc:subject>
  <dc:creator>Rwanda Biomedical Centre</dc:creator>
  <cp:lastModifiedBy>Diana Alejandra Guarin Castaño</cp:lastModifiedBy>
  <cp:revision>223</cp:revision>
  <dcterms:created xsi:type="dcterms:W3CDTF">2026-09-06T17:52:52Z</dcterms:created>
  <dcterms:modified xsi:type="dcterms:W3CDTF">2026-10-05T20:33:48Z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0x0101007D61ECC46547A045896A1B75675AB43C</vt:lpwstr>
  </property>
</Properties>
</file>